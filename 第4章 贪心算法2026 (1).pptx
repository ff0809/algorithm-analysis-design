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56" r:id="rId2"/>
    <p:sldId id="509" r:id="rId3"/>
    <p:sldId id="328" r:id="rId4"/>
    <p:sldId id="415" r:id="rId5"/>
    <p:sldId id="505" r:id="rId6"/>
    <p:sldId id="507" r:id="rId7"/>
    <p:sldId id="506" r:id="rId8"/>
    <p:sldId id="331" r:id="rId9"/>
    <p:sldId id="333" r:id="rId10"/>
    <p:sldId id="332" r:id="rId11"/>
    <p:sldId id="418" r:id="rId12"/>
    <p:sldId id="494" r:id="rId13"/>
    <p:sldId id="496" r:id="rId14"/>
    <p:sldId id="334" r:id="rId15"/>
    <p:sldId id="495" r:id="rId16"/>
    <p:sldId id="335" r:id="rId17"/>
    <p:sldId id="421" r:id="rId18"/>
    <p:sldId id="486" r:id="rId19"/>
    <p:sldId id="339" r:id="rId20"/>
    <p:sldId id="340" r:id="rId21"/>
    <p:sldId id="341" r:id="rId22"/>
    <p:sldId id="342" r:id="rId23"/>
    <p:sldId id="343" r:id="rId24"/>
    <p:sldId id="426" r:id="rId25"/>
    <p:sldId id="427" r:id="rId26"/>
    <p:sldId id="428" r:id="rId27"/>
    <p:sldId id="429" r:id="rId28"/>
    <p:sldId id="430" r:id="rId29"/>
    <p:sldId id="431" r:id="rId30"/>
    <p:sldId id="432" r:id="rId31"/>
    <p:sldId id="433" r:id="rId32"/>
    <p:sldId id="434" r:id="rId33"/>
    <p:sldId id="435" r:id="rId34"/>
    <p:sldId id="436" r:id="rId35"/>
    <p:sldId id="437" r:id="rId36"/>
    <p:sldId id="438" r:id="rId37"/>
    <p:sldId id="439" r:id="rId38"/>
    <p:sldId id="510" r:id="rId39"/>
    <p:sldId id="511" r:id="rId40"/>
    <p:sldId id="512" r:id="rId41"/>
    <p:sldId id="442" r:id="rId42"/>
    <p:sldId id="443" r:id="rId43"/>
    <p:sldId id="444" r:id="rId44"/>
    <p:sldId id="445" r:id="rId45"/>
    <p:sldId id="446" r:id="rId46"/>
    <p:sldId id="447" r:id="rId47"/>
    <p:sldId id="448" r:id="rId48"/>
    <p:sldId id="449" r:id="rId49"/>
    <p:sldId id="450" r:id="rId50"/>
    <p:sldId id="451" r:id="rId51"/>
    <p:sldId id="453" r:id="rId52"/>
    <p:sldId id="455" r:id="rId53"/>
    <p:sldId id="497" r:id="rId54"/>
    <p:sldId id="456" r:id="rId55"/>
    <p:sldId id="457" r:id="rId56"/>
    <p:sldId id="488" r:id="rId57"/>
    <p:sldId id="462" r:id="rId58"/>
    <p:sldId id="463" r:id="rId59"/>
    <p:sldId id="464" r:id="rId60"/>
    <p:sldId id="466" r:id="rId61"/>
    <p:sldId id="467" r:id="rId62"/>
    <p:sldId id="468" r:id="rId63"/>
    <p:sldId id="469" r:id="rId64"/>
    <p:sldId id="472" r:id="rId65"/>
    <p:sldId id="473" r:id="rId66"/>
    <p:sldId id="474" r:id="rId67"/>
    <p:sldId id="475" r:id="rId68"/>
    <p:sldId id="476" r:id="rId69"/>
    <p:sldId id="477" r:id="rId70"/>
    <p:sldId id="492" r:id="rId71"/>
    <p:sldId id="478" r:id="rId72"/>
    <p:sldId id="479" r:id="rId73"/>
    <p:sldId id="480" r:id="rId74"/>
    <p:sldId id="481" r:id="rId75"/>
    <p:sldId id="502" r:id="rId76"/>
    <p:sldId id="503" r:id="rId77"/>
    <p:sldId id="485" r:id="rId78"/>
  </p:sldIdLst>
  <p:sldSz cx="9144000" cy="6858000" type="screen4x3"/>
  <p:notesSz cx="6858000" cy="9144000"/>
  <p:custDataLst>
    <p:tags r:id="rId81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000" b="0" i="0" u="none" kern="1200" baseline="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000" b="0" i="0" u="none" kern="1200" baseline="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000" b="0" i="0" u="none" kern="1200" baseline="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000" b="0" i="0" u="none" kern="1200" baseline="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000" b="0" i="0" u="none" kern="1200" baseline="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000" b="0" i="0" u="none" kern="1200" baseline="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000" b="0" i="0" u="none" kern="1200" baseline="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000" b="0" i="0" u="none" kern="1200" baseline="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000" b="0" i="0" u="none" kern="1200" baseline="0">
        <a:solidFill>
          <a:srgbClr val="000066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00066"/>
    <a:srgbClr val="9900FF"/>
    <a:srgbClr val="DDDDDD"/>
    <a:srgbClr val="663300"/>
    <a:srgbClr val="CC0000"/>
    <a:srgbClr val="A50021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970" autoAdjust="0"/>
    <p:restoredTop sz="96751" autoAdjust="0"/>
  </p:normalViewPr>
  <p:slideViewPr>
    <p:cSldViewPr showGuides="1">
      <p:cViewPr varScale="1">
        <p:scale>
          <a:sx n="128" d="100"/>
          <a:sy n="128" d="100"/>
        </p:scale>
        <p:origin x="750" y="120"/>
      </p:cViewPr>
      <p:guideLst>
        <p:guide orient="horz" pos="21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3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18E688-0269-435B-9EBE-057833F419DE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C96A3-7EB0-416B-83CB-A116915BC676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cs typeface="Times New Roman" panose="02020603050405020304" pitchFamily="18" charset="0"/>
              </a:rPr>
              <a:t>1</a:t>
            </a:fld>
            <a:endParaRPr lang="zh-CN" altLang="en-US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搜索树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递归树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3976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一个硬币：</a:t>
            </a:r>
            <a:r>
              <a:rPr lang="en-US" altLang="zh-CN" sz="1200" dirty="0" smtClean="0">
                <a:solidFill>
                  <a:srgbClr val="333333"/>
                </a:solidFill>
                <a:latin typeface="pingfang SC"/>
              </a:rPr>
              <a:t>1</a:t>
            </a:r>
            <a:r>
              <a:rPr lang="zh-CN" altLang="en-US" sz="1200" dirty="0" smtClean="0">
                <a:solidFill>
                  <a:srgbClr val="333333"/>
                </a:solidFill>
                <a:latin typeface="pingfang SC"/>
              </a:rPr>
              <a:t>、</a:t>
            </a:r>
            <a:r>
              <a:rPr lang="en-US" altLang="zh-CN" sz="1200" dirty="0" smtClean="0">
                <a:solidFill>
                  <a:srgbClr val="333333"/>
                </a:solidFill>
                <a:latin typeface="pingfang SC"/>
              </a:rPr>
              <a:t>2</a:t>
            </a:r>
            <a:r>
              <a:rPr lang="zh-CN" altLang="en-US" sz="1200" dirty="0" smtClean="0">
                <a:solidFill>
                  <a:srgbClr val="333333"/>
                </a:solidFill>
                <a:latin typeface="pingfang SC"/>
              </a:rPr>
              <a:t>、</a:t>
            </a:r>
            <a:r>
              <a:rPr lang="en-US" altLang="zh-CN" sz="1200" dirty="0" smtClean="0">
                <a:solidFill>
                  <a:srgbClr val="333333"/>
                </a:solidFill>
                <a:latin typeface="pingfang SC"/>
              </a:rPr>
              <a:t>7</a:t>
            </a:r>
            <a:r>
              <a:rPr lang="zh-CN" altLang="en-US" sz="1200" dirty="0" smtClean="0">
                <a:solidFill>
                  <a:srgbClr val="333333"/>
                </a:solidFill>
                <a:latin typeface="pingfang SC"/>
              </a:rPr>
              <a:t>、</a:t>
            </a:r>
            <a:r>
              <a:rPr lang="en-US" altLang="zh-CN" sz="1200" dirty="0" smtClean="0">
                <a:solidFill>
                  <a:srgbClr val="333333"/>
                </a:solidFill>
                <a:latin typeface="pingfang SC"/>
              </a:rPr>
              <a:t>8</a:t>
            </a:r>
            <a:r>
              <a:rPr lang="zh-CN" altLang="en-US" sz="1200" dirty="0" smtClean="0">
                <a:solidFill>
                  <a:srgbClr val="333333"/>
                </a:solidFill>
                <a:latin typeface="pingfang SC"/>
              </a:rPr>
              <a:t>、</a:t>
            </a:r>
            <a:r>
              <a:rPr lang="en-US" altLang="zh-CN" sz="1200" dirty="0" smtClean="0">
                <a:solidFill>
                  <a:srgbClr val="333333"/>
                </a:solidFill>
                <a:latin typeface="pingfang SC"/>
              </a:rPr>
              <a:t>12</a:t>
            </a:r>
            <a:r>
              <a:rPr lang="zh-CN" altLang="en-US" sz="1200" dirty="0" smtClean="0">
                <a:solidFill>
                  <a:srgbClr val="333333"/>
                </a:solidFill>
                <a:latin typeface="pingfang SC"/>
              </a:rPr>
              <a:t>、</a:t>
            </a:r>
            <a:r>
              <a:rPr lang="en-US" altLang="zh-CN" sz="1200" dirty="0" smtClean="0">
                <a:solidFill>
                  <a:srgbClr val="333333"/>
                </a:solidFill>
                <a:latin typeface="pingfang SC"/>
              </a:rPr>
              <a:t>50</a:t>
            </a:r>
            <a:r>
              <a:rPr lang="zh-CN" altLang="en-US" sz="1200" dirty="0" smtClean="0">
                <a:solidFill>
                  <a:srgbClr val="333333"/>
                </a:solidFill>
                <a:latin typeface="pingfang SC"/>
              </a:rPr>
              <a:t>；两个硬币：</a:t>
            </a:r>
            <a:r>
              <a:rPr lang="en-US" altLang="zh-CN" sz="1200" dirty="0" smtClean="0">
                <a:solidFill>
                  <a:srgbClr val="333333"/>
                </a:solidFill>
                <a:latin typeface="pingfang SC"/>
              </a:rPr>
              <a:t>3,8,9,15,20,62……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2270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贪心策略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“每次消去最大的中间维度”   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效率高，但不能保证最优解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8915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贪心策略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“每次消去最大的中间维度”   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效率高，但不能保证最优解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5588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贪心策略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“每次消去最大的中间维度”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6E6C-8DAC-47F8-AFF8-4EF8BA149B46}" type="slidenum">
              <a:rPr lang="zh-CN" altLang="en-US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4855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给定活动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，与它相容的活动有</a:t>
            </a:r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7</a:t>
            </a:r>
            <a:r>
              <a:rPr lang="zh-CN" altLang="en-US" dirty="0" smtClean="0"/>
              <a:t>、</a:t>
            </a:r>
            <a:r>
              <a:rPr lang="en-US" altLang="zh-CN" dirty="0" smtClean="0"/>
              <a:t>8</a:t>
            </a:r>
            <a:r>
              <a:rPr lang="zh-CN" altLang="en-US" dirty="0" smtClean="0"/>
              <a:t>、</a:t>
            </a:r>
            <a:r>
              <a:rPr lang="en-US" altLang="zh-CN" dirty="0" smtClean="0"/>
              <a:t>9</a:t>
            </a:r>
            <a:r>
              <a:rPr lang="zh-CN" altLang="en-US" dirty="0" smtClean="0"/>
              <a:t>、</a:t>
            </a:r>
            <a:r>
              <a:rPr lang="en-US" altLang="zh-CN" dirty="0" smtClean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1858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sz="1200" spc="-10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lang="zh-CN" altLang="en-US" sz="1200" spc="-20" dirty="0" smtClean="0">
                <a:solidFill>
                  <a:srgbClr val="000066"/>
                </a:solidFill>
                <a:latin typeface="新宋体"/>
                <a:cs typeface="新宋体"/>
              </a:rPr>
              <a:t>与</a:t>
            </a:r>
            <a:r>
              <a:rPr lang="en-US" altLang="zh-CN" sz="1200" spc="-10" dirty="0" smtClean="0">
                <a:solidFill>
                  <a:srgbClr val="000066"/>
                </a:solidFill>
                <a:latin typeface="Arial"/>
                <a:cs typeface="Arial"/>
              </a:rPr>
              <a:t>b</a:t>
            </a:r>
            <a:r>
              <a:rPr lang="zh-CN" altLang="en-US" sz="1200" spc="-20" dirty="0" smtClean="0">
                <a:solidFill>
                  <a:srgbClr val="000066"/>
                </a:solidFill>
                <a:latin typeface="新宋体"/>
                <a:cs typeface="新宋体"/>
              </a:rPr>
              <a:t>不重叠的情况，不存在，因为</a:t>
            </a:r>
            <a:r>
              <a:rPr lang="en-US" altLang="zh-CN" sz="1200" spc="-20" dirty="0" smtClean="0">
                <a:solidFill>
                  <a:srgbClr val="000066"/>
                </a:solidFill>
                <a:latin typeface="Arial"/>
                <a:cs typeface="Arial"/>
              </a:rPr>
              <a:t>B</a:t>
            </a:r>
            <a:r>
              <a:rPr lang="zh-CN" altLang="en-US" sz="1200" spc="-20" dirty="0" smtClean="0">
                <a:solidFill>
                  <a:srgbClr val="000066"/>
                </a:solidFill>
                <a:latin typeface="新宋体"/>
                <a:cs typeface="新宋体"/>
              </a:rPr>
              <a:t>答案已经是最优解了，如果</a:t>
            </a:r>
            <a:r>
              <a:rPr lang="en-US" altLang="zh-CN" sz="1200" spc="-10" dirty="0" smtClean="0">
                <a:solidFill>
                  <a:srgbClr val="000066"/>
                </a:solidFill>
                <a:latin typeface="Arial"/>
                <a:cs typeface="Arial"/>
              </a:rPr>
              <a:t>ab</a:t>
            </a:r>
            <a:r>
              <a:rPr lang="zh-CN" altLang="en-US" sz="1200" spc="-25" dirty="0" smtClean="0">
                <a:solidFill>
                  <a:srgbClr val="000066"/>
                </a:solidFill>
                <a:latin typeface="新宋体"/>
                <a:cs typeface="新宋体"/>
              </a:rPr>
              <a:t>不重叠，那么</a:t>
            </a:r>
            <a:r>
              <a:rPr lang="zh-CN" altLang="en-US" sz="1200" spc="-50" dirty="0" smtClean="0">
                <a:solidFill>
                  <a:srgbClr val="000066"/>
                </a:solidFill>
                <a:latin typeface="新宋体"/>
                <a:cs typeface="新宋体"/>
              </a:rPr>
              <a:t> </a:t>
            </a:r>
            <a:r>
              <a:rPr lang="en-US" altLang="zh-CN" sz="1200" spc="-50" dirty="0" smtClean="0">
                <a:solidFill>
                  <a:srgbClr val="000066"/>
                </a:solidFill>
                <a:latin typeface="新宋体"/>
                <a:cs typeface="新宋体"/>
              </a:rPr>
              <a:t>B</a:t>
            </a:r>
            <a:r>
              <a:rPr lang="zh-CN" altLang="en-US" sz="1200" spc="-20" dirty="0" smtClean="0">
                <a:solidFill>
                  <a:srgbClr val="000066"/>
                </a:solidFill>
                <a:latin typeface="新宋体"/>
                <a:cs typeface="新宋体"/>
              </a:rPr>
              <a:t>答案仍然可以加入</a:t>
            </a:r>
            <a:r>
              <a:rPr lang="en-US" altLang="zh-CN" sz="1200" spc="-10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lang="zh-CN" altLang="en-US" sz="1200" spc="-20" dirty="0" smtClean="0">
                <a:solidFill>
                  <a:srgbClr val="000066"/>
                </a:solidFill>
                <a:latin typeface="新宋体"/>
                <a:cs typeface="新宋体"/>
              </a:rPr>
              <a:t>活动，</a:t>
            </a:r>
            <a:r>
              <a:rPr lang="en-US" altLang="zh-CN" sz="1200" spc="-20" dirty="0" smtClean="0">
                <a:solidFill>
                  <a:srgbClr val="000066"/>
                </a:solidFill>
                <a:latin typeface="Arial"/>
                <a:cs typeface="Arial"/>
              </a:rPr>
              <a:t>B</a:t>
            </a:r>
            <a:r>
              <a:rPr lang="zh-CN" altLang="en-US" sz="1200" spc="-25" dirty="0" smtClean="0">
                <a:solidFill>
                  <a:srgbClr val="000066"/>
                </a:solidFill>
                <a:latin typeface="新宋体"/>
                <a:cs typeface="新宋体"/>
              </a:rPr>
              <a:t>答案不是最优解</a:t>
            </a:r>
            <a:endParaRPr lang="en-US" altLang="zh-CN" sz="1200" spc="-25" dirty="0" smtClean="0">
              <a:solidFill>
                <a:srgbClr val="000066"/>
              </a:solidFill>
              <a:latin typeface="新宋体"/>
              <a:cs typeface="新宋体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spc="-20" dirty="0" smtClean="0">
                <a:latin typeface="新宋体"/>
                <a:cs typeface="新宋体"/>
              </a:rPr>
              <a:t>2</a:t>
            </a:r>
            <a:r>
              <a:rPr lang="zh-CN" altLang="en-US" sz="1200" b="1" spc="-20" dirty="0" smtClean="0">
                <a:latin typeface="新宋体"/>
                <a:cs typeface="新宋体"/>
              </a:rPr>
              <a:t>和</a:t>
            </a:r>
            <a:r>
              <a:rPr lang="en-US" altLang="zh-CN" sz="1200" b="1" spc="-20" dirty="0" smtClean="0">
                <a:latin typeface="新宋体"/>
                <a:cs typeface="新宋体"/>
              </a:rPr>
              <a:t>3. </a:t>
            </a:r>
            <a:r>
              <a:rPr lang="zh-CN" altLang="en-US" sz="1200" b="1" spc="-20" dirty="0" smtClean="0">
                <a:latin typeface="新宋体"/>
                <a:cs typeface="新宋体"/>
              </a:rPr>
              <a:t>可以把</a:t>
            </a:r>
            <a:r>
              <a:rPr lang="en-US" altLang="zh-CN" sz="1200" b="1" dirty="0" smtClean="0">
                <a:latin typeface="Times New Roman"/>
                <a:cs typeface="Times New Roman"/>
              </a:rPr>
              <a:t>b</a:t>
            </a:r>
            <a:r>
              <a:rPr lang="zh-CN" altLang="en-US" sz="1200" b="1" spc="-20" dirty="0" smtClean="0">
                <a:latin typeface="新宋体"/>
                <a:cs typeface="新宋体"/>
              </a:rPr>
              <a:t>替换成</a:t>
            </a:r>
            <a:r>
              <a:rPr lang="en-US" altLang="zh-CN" sz="1200" b="1" spc="-10" dirty="0" smtClean="0">
                <a:latin typeface="Times New Roman"/>
                <a:cs typeface="Times New Roman"/>
              </a:rPr>
              <a:t>a</a:t>
            </a:r>
            <a:r>
              <a:rPr lang="zh-CN" altLang="en-US" sz="1200" b="1" spc="-25" dirty="0" smtClean="0">
                <a:latin typeface="新宋体"/>
                <a:cs typeface="新宋体"/>
              </a:rPr>
              <a:t>，对结果没有影响的，所以最</a:t>
            </a:r>
            <a:r>
              <a:rPr lang="zh-CN" altLang="en-US" sz="1200" b="1" spc="-20" dirty="0" smtClean="0">
                <a:latin typeface="新宋体"/>
                <a:cs typeface="新宋体"/>
              </a:rPr>
              <a:t>优解一定有</a:t>
            </a:r>
            <a:r>
              <a:rPr lang="en-US" altLang="zh-CN" sz="1200" b="1" spc="-10" dirty="0" smtClean="0">
                <a:latin typeface="Times New Roman"/>
                <a:cs typeface="Times New Roman"/>
              </a:rPr>
              <a:t>a</a:t>
            </a:r>
            <a:r>
              <a:rPr lang="zh-CN" altLang="en-US" sz="1200" b="1" spc="-20" dirty="0" smtClean="0">
                <a:latin typeface="新宋体"/>
                <a:cs typeface="新宋体"/>
              </a:rPr>
              <a:t>，即</a:t>
            </a:r>
            <a:r>
              <a:rPr lang="zh-CN" altLang="en-US" sz="1200" b="1" spc="-25" dirty="0" smtClean="0">
                <a:solidFill>
                  <a:srgbClr val="C00000"/>
                </a:solidFill>
                <a:latin typeface="新宋体"/>
                <a:cs typeface="新宋体"/>
              </a:rPr>
              <a:t>最优解一定含结束最早的活动</a:t>
            </a:r>
            <a:endParaRPr lang="en-US" altLang="zh-CN" sz="1200" b="1" spc="-25" dirty="0" smtClean="0">
              <a:solidFill>
                <a:srgbClr val="C00000"/>
              </a:solidFill>
              <a:latin typeface="新宋体"/>
              <a:cs typeface="新宋体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spc="-25" dirty="0" smtClean="0">
              <a:solidFill>
                <a:srgbClr val="C00000"/>
              </a:solidFill>
              <a:latin typeface="新宋体"/>
              <a:cs typeface="新宋体"/>
            </a:endParaRPr>
          </a:p>
          <a:p>
            <a:pPr marL="312420" indent="-299720">
              <a:lnSpc>
                <a:spcPct val="100000"/>
              </a:lnSpc>
              <a:spcBef>
                <a:spcPts val="960"/>
              </a:spcBef>
              <a:buClr>
                <a:srgbClr val="CC9900"/>
              </a:buClr>
              <a:buSzPct val="64583"/>
              <a:buFont typeface="Wingdings"/>
              <a:buChar char=""/>
              <a:tabLst>
                <a:tab pos="312420" algn="l"/>
              </a:tabLst>
            </a:pPr>
            <a:r>
              <a:rPr lang="en-US" altLang="zh-CN" sz="1200" b="1" dirty="0" smtClean="0">
                <a:latin typeface="Times New Roman"/>
                <a:cs typeface="Times New Roman"/>
              </a:rPr>
              <a:t>a</a:t>
            </a:r>
            <a:r>
              <a:rPr lang="zh-CN" altLang="en-US" sz="1200" b="1" spc="-20" dirty="0" smtClean="0">
                <a:latin typeface="新宋体"/>
                <a:cs typeface="新宋体"/>
              </a:rPr>
              <a:t>活动比</a:t>
            </a:r>
            <a:r>
              <a:rPr lang="en-US" altLang="zh-CN" sz="1200" b="1" dirty="0" smtClean="0">
                <a:latin typeface="Times New Roman"/>
                <a:cs typeface="Times New Roman"/>
              </a:rPr>
              <a:t>b</a:t>
            </a:r>
            <a:r>
              <a:rPr lang="zh-CN" altLang="en-US" sz="1200" b="1" spc="-20" dirty="0" smtClean="0">
                <a:latin typeface="新宋体"/>
                <a:cs typeface="新宋体"/>
              </a:rPr>
              <a:t>结束早，而答案</a:t>
            </a:r>
            <a:r>
              <a:rPr lang="en-US" altLang="zh-CN" sz="1200" b="1" dirty="0" smtClean="0">
                <a:latin typeface="Times New Roman"/>
                <a:cs typeface="Times New Roman"/>
              </a:rPr>
              <a:t>B</a:t>
            </a:r>
            <a:r>
              <a:rPr lang="zh-CN" altLang="en-US" sz="1200" b="1" spc="-35" dirty="0" smtClean="0">
                <a:latin typeface="新宋体"/>
                <a:cs typeface="新宋体"/>
              </a:rPr>
              <a:t>中，</a:t>
            </a:r>
            <a:r>
              <a:rPr lang="en-US" altLang="zh-CN" sz="1200" b="1" dirty="0" smtClean="0">
                <a:latin typeface="Times New Roman"/>
                <a:cs typeface="Times New Roman"/>
              </a:rPr>
              <a:t>b</a:t>
            </a:r>
            <a:r>
              <a:rPr lang="zh-CN" altLang="en-US" sz="1200" b="1" spc="-25" dirty="0" smtClean="0">
                <a:latin typeface="新宋体"/>
                <a:cs typeface="新宋体"/>
              </a:rPr>
              <a:t>和下一个活动必定不冲突。</a:t>
            </a:r>
            <a:r>
              <a:rPr lang="zh-CN" altLang="en-US" sz="1200" b="1" spc="-20" dirty="0" smtClean="0">
                <a:latin typeface="新宋体"/>
                <a:cs typeface="新宋体"/>
              </a:rPr>
              <a:t>而</a:t>
            </a:r>
            <a:r>
              <a:rPr lang="en-US" altLang="zh-CN" sz="1200" b="1" dirty="0" smtClean="0">
                <a:latin typeface="Times New Roman"/>
                <a:cs typeface="Times New Roman"/>
              </a:rPr>
              <a:t>a</a:t>
            </a:r>
            <a:r>
              <a:rPr lang="zh-CN" altLang="en-US" sz="1200" b="1" spc="-20" dirty="0" smtClean="0">
                <a:latin typeface="新宋体"/>
                <a:cs typeface="新宋体"/>
              </a:rPr>
              <a:t>早于</a:t>
            </a:r>
            <a:r>
              <a:rPr lang="en-US" altLang="zh-CN" sz="1200" b="1" dirty="0" smtClean="0">
                <a:latin typeface="Times New Roman"/>
                <a:cs typeface="Times New Roman"/>
              </a:rPr>
              <a:t>b</a:t>
            </a:r>
            <a:r>
              <a:rPr lang="zh-CN" altLang="en-US" sz="1200" b="1" spc="-20" dirty="0" smtClean="0">
                <a:latin typeface="新宋体"/>
                <a:cs typeface="新宋体"/>
              </a:rPr>
              <a:t>结束，可以想到，</a:t>
            </a:r>
            <a:r>
              <a:rPr lang="en-US" altLang="zh-CN" sz="1200" b="1" spc="-10" dirty="0" smtClean="0">
                <a:latin typeface="Times New Roman"/>
                <a:cs typeface="Times New Roman"/>
              </a:rPr>
              <a:t>a</a:t>
            </a:r>
            <a:r>
              <a:rPr lang="zh-CN" altLang="en-US" sz="1200" b="1" spc="-20" dirty="0" smtClean="0">
                <a:latin typeface="新宋体"/>
                <a:cs typeface="新宋体"/>
              </a:rPr>
              <a:t>与答案</a:t>
            </a:r>
            <a:r>
              <a:rPr lang="en-US" altLang="zh-CN" sz="1200" b="1" dirty="0" smtClean="0">
                <a:latin typeface="Times New Roman"/>
                <a:cs typeface="Times New Roman"/>
              </a:rPr>
              <a:t>B</a:t>
            </a:r>
            <a:r>
              <a:rPr lang="zh-CN" altLang="en-US" sz="1200" b="1" spc="-30" dirty="0" smtClean="0">
                <a:latin typeface="新宋体"/>
                <a:cs typeface="新宋体"/>
              </a:rPr>
              <a:t>中的活动也不冲突</a:t>
            </a:r>
            <a:endParaRPr lang="zh-CN" altLang="en-US" sz="1200" dirty="0" smtClean="0">
              <a:latin typeface="新宋体"/>
              <a:cs typeface="新宋体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 smtClean="0">
              <a:latin typeface="新宋体"/>
              <a:cs typeface="新宋体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endParaRPr lang="zh-CN" altLang="en-US" sz="1200" dirty="0" smtClean="0">
              <a:latin typeface="新宋体"/>
              <a:cs typeface="新宋体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0367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关于局部最优解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b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b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每一步贪心选择出来的局部最优解，至少存在于一个全局最优解中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（而非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属于所有全局最优解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关于子问题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b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b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在做出贪心选择后，剩余子问题的最优解与当前选择组合后，能构成原问题的一个最优解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"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3778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所有可以用贪心算法正确求解的问题，都可以用动态规划求解，但反之不成立。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2786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贪心策略？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8260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如果问题的最优解包含两个以上子问题的最优解，且子问题多有重叠，考虑用动态规划算法。</a:t>
            </a:r>
            <a:endParaRPr lang="en-US" altLang="zh-CN" dirty="0" smtClean="0"/>
          </a:p>
          <a:p>
            <a:r>
              <a:rPr lang="zh-CN" altLang="en-US" dirty="0" smtClean="0"/>
              <a:t>如果问题经过贪心选择后，只剩下一个子问题，且具有优化子结构，可以用贪心算法。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55583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如果问题的最优解包含两个以上子问题的最优解，且子问题多有重叠，考虑用动态规划算法。</a:t>
            </a:r>
            <a:endParaRPr lang="en-US" altLang="zh-CN" dirty="0" smtClean="0"/>
          </a:p>
          <a:p>
            <a:r>
              <a:rPr lang="zh-CN" altLang="en-US" dirty="0" smtClean="0"/>
              <a:t>如果问题经过贪心选择后，只剩下一个子问题，且具有优化子结构，可以用贪心算法。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1357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最优装载：单价相同的</a:t>
            </a:r>
            <a:r>
              <a:rPr lang="en-US" altLang="zh-CN" sz="1200" b="1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0-1</a:t>
            </a:r>
            <a:r>
              <a:rPr lang="zh-CN" altLang="en-US" sz="1200" b="1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背包问题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15355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X[]</a:t>
            </a:r>
            <a:r>
              <a:rPr lang="zh-CN" altLang="en-US" dirty="0" smtClean="0"/>
              <a:t>解向量，</a:t>
            </a:r>
            <a:r>
              <a:rPr lang="en-US" altLang="zh-CN" dirty="0" smtClean="0"/>
              <a:t>=1</a:t>
            </a:r>
            <a:r>
              <a:rPr lang="zh-CN" altLang="en-US" dirty="0" smtClean="0"/>
              <a:t>表示该集装箱被装载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3411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贪心选择性质的证明：反证法。假设最优解中不包含重量最小的集装箱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，假设问题的最优解中包含第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个集装箱，</a:t>
            </a:r>
            <a:r>
              <a:rPr lang="en-US" altLang="zh-CN" dirty="0" err="1" smtClean="0"/>
              <a:t>wi</a:t>
            </a:r>
            <a:r>
              <a:rPr lang="en-US" altLang="zh-CN" dirty="0" smtClean="0"/>
              <a:t>&gt;=w1</a:t>
            </a:r>
            <a:r>
              <a:rPr lang="zh-CN" altLang="en-US" dirty="0" smtClean="0"/>
              <a:t>，用</a:t>
            </a:r>
            <a:r>
              <a:rPr lang="en-US" altLang="zh-CN" dirty="0" smtClean="0"/>
              <a:t>1</a:t>
            </a:r>
            <a:r>
              <a:rPr lang="zh-CN" altLang="en-US" dirty="0" smtClean="0"/>
              <a:t>替换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，也是问题的最优解。矛盾。固最优解中一定包含重量最小的集装箱。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9600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57778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Onehot</a:t>
            </a:r>
            <a:r>
              <a:rPr lang="zh-CN" altLang="en-US" dirty="0" smtClean="0"/>
              <a:t>编码</a:t>
            </a:r>
            <a:endParaRPr lang="en-US" altLang="zh-CN" dirty="0" smtClean="0"/>
          </a:p>
          <a:p>
            <a:r>
              <a:rPr lang="zh-CN" altLang="en-US" dirty="0" smtClean="0"/>
              <a:t>通过前缀码将文件中的所有字符进行合并的同时，我们在解码的过程中，不会存在任何的歧义。 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74327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Onehot</a:t>
            </a:r>
            <a:r>
              <a:rPr lang="zh-CN" altLang="en-US" dirty="0" smtClean="0"/>
              <a:t>编码</a:t>
            </a:r>
            <a:endParaRPr lang="en-US" altLang="zh-CN" dirty="0" smtClean="0"/>
          </a:p>
          <a:p>
            <a:r>
              <a:rPr lang="zh-CN" altLang="en-US" dirty="0" smtClean="0"/>
              <a:t>通过前缀码将文件中的所有字符进行合并的同时，我们在解码的过程中，不会存在任何的歧义。 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5456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0100111001010-&gt;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acdaaba</a:t>
            </a:r>
            <a:r>
              <a:rPr lang="zh-CN" altLang="en-US" baseline="0" dirty="0" smtClean="0"/>
              <a:t>；</a:t>
            </a:r>
            <a:endParaRPr lang="en-US" altLang="zh-CN" baseline="0" dirty="0" smtClean="0"/>
          </a:p>
          <a:p>
            <a:endParaRPr lang="en-US" altLang="zh-CN" sz="1200" b="1" i="0" kern="1200" baseline="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不是前缀码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{0, 01, 011, 111} 0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的前缀，解码时可能产生歧义。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32138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0100111001010-&gt;</a:t>
            </a:r>
            <a:r>
              <a:rPr lang="en-US" altLang="zh-CN" baseline="0" dirty="0" smtClean="0"/>
              <a:t> </a:t>
            </a:r>
            <a:r>
              <a:rPr lang="en-US" altLang="zh-CN" baseline="0" dirty="0" err="1" smtClean="0"/>
              <a:t>acdaaba</a:t>
            </a:r>
            <a:r>
              <a:rPr lang="zh-CN" altLang="en-US" baseline="0" dirty="0" smtClean="0"/>
              <a:t>；</a:t>
            </a:r>
            <a:endParaRPr lang="en-US" altLang="zh-CN" baseline="0" dirty="0" smtClean="0"/>
          </a:p>
          <a:p>
            <a:endParaRPr lang="en-US" altLang="zh-CN" sz="1200" b="1" i="0" kern="1200" baseline="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不是前缀码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{0, 01, 011, 111} 0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的前缀，解码时可能产生歧义。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70255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spc="-20" dirty="0" smtClean="0">
                <a:latin typeface="新宋体"/>
                <a:cs typeface="新宋体"/>
              </a:rPr>
              <a:t>表示</a:t>
            </a:r>
            <a:r>
              <a:rPr lang="zh-CN" altLang="en-US" sz="1200" b="1" spc="-20" dirty="0" smtClean="0">
                <a:solidFill>
                  <a:srgbClr val="996600"/>
                </a:solidFill>
                <a:latin typeface="新宋体"/>
                <a:cs typeface="新宋体"/>
              </a:rPr>
              <a:t>最优前缀码</a:t>
            </a:r>
            <a:r>
              <a:rPr lang="zh-CN" altLang="en-US" sz="1200" b="1" spc="-20" dirty="0" smtClean="0">
                <a:latin typeface="新宋体"/>
                <a:cs typeface="新宋体"/>
              </a:rPr>
              <a:t>的二叉树总是一棵</a:t>
            </a:r>
            <a:r>
              <a:rPr lang="zh-CN" altLang="en-US" sz="1200" b="1" spc="-20" dirty="0" smtClean="0">
                <a:solidFill>
                  <a:srgbClr val="996600"/>
                </a:solidFill>
                <a:latin typeface="新宋体"/>
                <a:cs typeface="新宋体"/>
              </a:rPr>
              <a:t>二叉树</a:t>
            </a:r>
            <a:r>
              <a:rPr lang="zh-CN" altLang="en-US" sz="1200" b="1" spc="-30" dirty="0" smtClean="0">
                <a:latin typeface="新宋体"/>
                <a:cs typeface="新宋体"/>
              </a:rPr>
              <a:t>，即树中任一非叶子</a:t>
            </a:r>
            <a:r>
              <a:rPr lang="zh-CN" altLang="en-US" sz="1200" b="1" spc="-20" dirty="0" smtClean="0">
                <a:latin typeface="新宋体"/>
                <a:cs typeface="新宋体"/>
              </a:rPr>
              <a:t>结点都有</a:t>
            </a:r>
            <a:r>
              <a:rPr lang="en-US" altLang="zh-CN" sz="1200" b="1" dirty="0" smtClean="0">
                <a:latin typeface="Times New Roman"/>
                <a:cs typeface="Times New Roman"/>
              </a:rPr>
              <a:t>2</a:t>
            </a:r>
            <a:r>
              <a:rPr lang="zh-CN" altLang="en-US" sz="1200" b="1" spc="-25" dirty="0" smtClean="0">
                <a:latin typeface="新宋体"/>
                <a:cs typeface="新宋体"/>
              </a:rPr>
              <a:t>个子结点。</a:t>
            </a:r>
            <a:endParaRPr lang="zh-CN" altLang="en-US" sz="1200" dirty="0" smtClean="0">
              <a:latin typeface="新宋体"/>
              <a:cs typeface="新宋体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92618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假设左侧的是最优前缀码，设</a:t>
            </a:r>
            <a:r>
              <a:rPr lang="en-US" altLang="zh-CN" dirty="0" smtClean="0"/>
              <a:t>x</a:t>
            </a:r>
            <a:r>
              <a:rPr lang="zh-CN" altLang="en-US" dirty="0" smtClean="0"/>
              <a:t>和</a:t>
            </a:r>
            <a:r>
              <a:rPr lang="en-US" altLang="zh-CN" dirty="0" smtClean="0"/>
              <a:t>y</a:t>
            </a:r>
            <a:r>
              <a:rPr lang="zh-CN" altLang="en-US" dirty="0" smtClean="0"/>
              <a:t>不在叶子结点，</a:t>
            </a:r>
            <a:r>
              <a:rPr lang="en-US" altLang="zh-CN" dirty="0" smtClean="0"/>
              <a:t>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r>
              <a:rPr lang="zh-CN" altLang="en-US" dirty="0" smtClean="0"/>
              <a:t>在叶子结点，</a:t>
            </a:r>
            <a:endParaRPr lang="en-US" altLang="zh-CN" dirty="0" smtClean="0"/>
          </a:p>
          <a:p>
            <a:r>
              <a:rPr lang="en-US" altLang="zh-CN" dirty="0" smtClean="0"/>
              <a:t>3f(a)+f(x)-f(a)-3f(x)=2f(a)-2f(x)&gt;=0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9966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B(T)-B(T’)=3f(x)+3f(y) - 2f(z)=f(x)+f(y)</a:t>
            </a:r>
          </a:p>
          <a:p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若存在比 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′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更优的子树 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′′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，则可通过还原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得到比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更优的树，矛盾。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99572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给定</a:t>
            </a:r>
            <a:r>
              <a:rPr lang="en-US" altLang="zh-CN" dirty="0" smtClean="0"/>
              <a:t>k+1</a:t>
            </a:r>
            <a:r>
              <a:rPr lang="zh-CN" altLang="en-US" dirty="0" smtClean="0"/>
              <a:t>字符集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，根据贪心选择策略，构造出</a:t>
            </a:r>
            <a:r>
              <a:rPr lang="en-US" altLang="zh-CN" dirty="0" smtClean="0"/>
              <a:t>k</a:t>
            </a:r>
            <a:r>
              <a:rPr lang="zh-CN" altLang="en-US" dirty="0" smtClean="0"/>
              <a:t>个字符的问题</a:t>
            </a:r>
            <a:r>
              <a:rPr lang="en-US" altLang="zh-CN" dirty="0" smtClean="0"/>
              <a:t>C</a:t>
            </a:r>
            <a:r>
              <a:rPr lang="zh-CN" altLang="en-US" dirty="0" smtClean="0"/>
              <a:t>‘，根据归纳假设，</a:t>
            </a:r>
            <a:r>
              <a:rPr lang="en-US" altLang="zh-CN" dirty="0" smtClean="0"/>
              <a:t>Huffman</a:t>
            </a:r>
            <a:r>
              <a:rPr lang="zh-CN" altLang="en-US" dirty="0" smtClean="0"/>
              <a:t>算法可以得到</a:t>
            </a:r>
            <a:r>
              <a:rPr lang="en-US" altLang="zh-CN" dirty="0" smtClean="0"/>
              <a:t>C</a:t>
            </a:r>
            <a:r>
              <a:rPr lang="zh-CN" altLang="en-US" dirty="0" smtClean="0"/>
              <a:t>’的最优前缀码二叉树</a:t>
            </a:r>
            <a:r>
              <a:rPr lang="en-US" altLang="zh-CN" dirty="0" smtClean="0"/>
              <a:t>T</a:t>
            </a:r>
            <a:r>
              <a:rPr lang="zh-CN" altLang="en-US" dirty="0" smtClean="0"/>
              <a:t>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34649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Minimum spanning tree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44602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Prim1957</a:t>
            </a:r>
            <a:r>
              <a:rPr lang="zh-CN" altLang="en-US" dirty="0" smtClean="0"/>
              <a:t>年在贝尔实验室工作时，为了解决网络布线优化问题提出的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26137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由易到难：</a:t>
            </a:r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kruskal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prim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dijkstra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48370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NP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完全问题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(NP-complete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问题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是指一类计算问题，它们具有一个重要的性质，即可以在多项式时间内验证问题的一个可能解，但要找到问题的解通常需要指数时间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穷举的话，有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m^n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个调度方案，选择其中最短时间的一个。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6627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2 5 16</a:t>
            </a:r>
          </a:p>
          <a:p>
            <a:r>
              <a:rPr lang="en-US" altLang="zh-CN" dirty="0" smtClean="0"/>
              <a:t>3 6</a:t>
            </a:r>
          </a:p>
          <a:p>
            <a:r>
              <a:rPr lang="en-US" altLang="zh-CN" dirty="0" smtClean="0"/>
              <a:t>4 14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9405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7"/>
          <p:cNvSpPr/>
          <p:nvPr/>
        </p:nvSpPr>
        <p:spPr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" name="Line 8"/>
          <p:cNvSpPr/>
          <p:nvPr/>
        </p:nvSpPr>
        <p:spPr>
          <a:xfrm>
            <a:off x="1981200" y="3962400"/>
            <a:ext cx="6511925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zh-CN"/>
              <a:t>单击此处编辑母版标题样式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 altLang="zh-CN"/>
              <a:t>单击此处编辑母版副标题样式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95343A-BAB6-4691-8CFE-1533166FF3D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0377C8-CC62-468B-ACDB-9059DCFF77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0377C8-CC62-468B-ACDB-9059DCFF77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0377C8-CC62-468B-ACDB-9059DCFF77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0377C8-CC62-468B-ACDB-9059DCFF77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0377C8-CC62-468B-ACDB-9059DCFF77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0377C8-CC62-468B-ACDB-9059DCFF77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0377C8-CC62-468B-ACDB-9059DCFF77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0377C8-CC62-468B-ACDB-9059DCFF77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0377C8-CC62-468B-ACDB-9059DCFF77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0377C8-CC62-468B-ACDB-9059DCFF77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0377C8-CC62-468B-ACDB-9059DCFF77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标题，文本与图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5145088" y="2017713"/>
            <a:ext cx="38100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zh-CN" altLang="en-US" sz="30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CB98B0-9082-4A4D-9334-1C2126B017D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单击此处编辑母版文本样式</a:t>
            </a:r>
          </a:p>
          <a:p>
            <a:pPr lvl="1"/>
            <a:r>
              <a:rPr lang="en-US" altLang="zh-CN" dirty="0"/>
              <a:t>第二级</a:t>
            </a:r>
          </a:p>
          <a:p>
            <a:pPr lvl="2"/>
            <a:r>
              <a:rPr lang="en-US" altLang="zh-CN" dirty="0"/>
              <a:t>第三级</a:t>
            </a:r>
          </a:p>
          <a:p>
            <a:pPr lvl="3"/>
            <a:r>
              <a:rPr lang="en-US" altLang="zh-CN" dirty="0"/>
              <a:t>第四级</a:t>
            </a:r>
          </a:p>
          <a:p>
            <a:pPr lvl="4"/>
            <a:r>
              <a:rPr lang="en-US" altLang="zh-CN" dirty="0"/>
              <a:t>第五级</a:t>
            </a:r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45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0377C8-CC62-468B-ACDB-9059DCFF77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1" name="Freeform 7"/>
          <p:cNvSpPr/>
          <p:nvPr/>
        </p:nvSpPr>
        <p:spPr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/>
          <p:nvPr/>
        </p:nvSpPr>
        <p:spPr>
          <a:xfrm>
            <a:off x="457200" y="6172200"/>
            <a:ext cx="8229600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  <a:ea typeface="+mn-ea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+mn-ea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  <a:ea typeface="+mn-ea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1386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8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30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102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9.wmf"/><Relationship Id="rId9" Type="http://schemas.openxmlformats.org/officeDocument/2006/relationships/image" Target="../media/image27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0.w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6.bin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41.w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Garamond" pitchFamily="18" charset="0"/>
                <a:ea typeface="+mn-ea"/>
                <a:cs typeface="Times New Roman" panose="02020603050405020304" pitchFamily="18" charset="0"/>
              </a:rPr>
              <a:t>1</a:t>
            </a:fld>
            <a:endParaRPr lang="en-US" altLang="zh-CN" sz="1200" dirty="0">
              <a:latin typeface="Garamond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916113"/>
            <a:ext cx="6408738" cy="1081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第</a:t>
            </a: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4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章  贪心算法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404664"/>
            <a:ext cx="8229600" cy="5438229"/>
          </a:xfrm>
        </p:spPr>
        <p:txBody>
          <a:bodyPr/>
          <a:lstStyle/>
          <a:p>
            <a:r>
              <a:rPr lang="zh-CN" altLang="en-US" dirty="0" smtClean="0"/>
              <a:t>穷举法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分治法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动态规划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b="1" dirty="0"/>
              <a:t>贪心法</a:t>
            </a:r>
          </a:p>
        </p:txBody>
      </p:sp>
    </p:spTree>
    <p:extLst>
      <p:ext uri="{BB962C8B-B14F-4D97-AF65-F5344CB8AC3E}">
        <p14:creationId xmlns:p14="http://schemas.microsoft.com/office/powerpoint/2010/main" val="670349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747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学习要点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981075"/>
            <a:ext cx="8229600" cy="5184775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理解贪心算法的概念。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掌握贪心算法的基本要素 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）最优子结构性质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）贪心选择性质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理解贪心算法与动态规划算法的差异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理解贪心算法的一般理论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通过应用范例学习贪心设计策略。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）活动安排问题；（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）最优装载问题；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）哈夫曼编码；（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）单源最短路径；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）最小生成树；（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）多机调度问题。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pics4.baidu.com/feed/0df431adcbef760944ed6f92516580ca7dd99e13.jpeg?token=18e66800e31db1b762772eddc7ca911b&amp;s=ED20147247F85F8C3652BCC90200E0B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401" y="351657"/>
            <a:ext cx="3798858" cy="2766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747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示例：找零问题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8563" y="1256482"/>
            <a:ext cx="4661837" cy="1689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贪心策略：从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最大面额的硬币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开始，尽可能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多地使用当前最大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面额，对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剩余金额重复这一过程</a:t>
            </a:r>
          </a:p>
        </p:txBody>
      </p:sp>
      <p:sp>
        <p:nvSpPr>
          <p:cNvPr id="7" name="矩形 6"/>
          <p:cNvSpPr/>
          <p:nvPr/>
        </p:nvSpPr>
        <p:spPr>
          <a:xfrm>
            <a:off x="477019" y="4960986"/>
            <a:ext cx="811923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贪心</a:t>
            </a:r>
            <a:r>
              <a:rPr lang="zh-CN" altLang="en-US" sz="2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算法只关注当前的最优解，所得结果不一定是全局最优解。</a:t>
            </a: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7569" y="3698674"/>
            <a:ext cx="78313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示例：当</a:t>
            </a: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面值为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4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时，需要</a:t>
            </a: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支付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4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00392" y="1637558"/>
            <a:ext cx="39466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050" dirty="0" smtClean="0"/>
              <a:t>1</a:t>
            </a:r>
            <a:r>
              <a:rPr lang="zh-CN" altLang="en-US" sz="1050" dirty="0" smtClean="0"/>
              <a:t>元</a:t>
            </a:r>
            <a:endParaRPr lang="zh-CN" altLang="en-US" sz="1050" dirty="0"/>
          </a:p>
        </p:txBody>
      </p:sp>
      <p:sp>
        <p:nvSpPr>
          <p:cNvPr id="11" name="矩形 10"/>
          <p:cNvSpPr/>
          <p:nvPr/>
        </p:nvSpPr>
        <p:spPr bwMode="auto">
          <a:xfrm>
            <a:off x="737569" y="3688829"/>
            <a:ext cx="7350344" cy="594133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panose="020B060402020202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51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EECCE5-9117-43C2-A947-E276A873C0A8}" type="slidenum">
              <a:rPr lang="en-US" altLang="zh-CN" smtClean="0"/>
              <a:t>5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2204864"/>
            <a:ext cx="3714499" cy="3831654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4213" y="260350"/>
            <a:ext cx="7772400" cy="882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zh-CN" altLang="en-US" sz="3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连乘问题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67544" y="1628800"/>
            <a:ext cx="8351838" cy="193899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strike="sngStrike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穷举法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endParaRPr lang="en-US" altLang="zh-CN" sz="2400" b="1" dirty="0" smtClean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贪心法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动态规划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22298" y="1358478"/>
            <a:ext cx="402170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zh-CN" altLang="en-US" sz="2500" dirty="0" smtClean="0">
                <a:solidFill>
                  <a:schemeClr val="tx1"/>
                </a:solidFill>
                <a:latin typeface="+mn-ea"/>
                <a:ea typeface="+mn-ea"/>
              </a:rPr>
              <a:t>贪心策略</a:t>
            </a:r>
            <a:r>
              <a:rPr kumimoji="1" lang="en-US" altLang="zh-CN" sz="2500" dirty="0" smtClean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1" lang="zh-CN" altLang="en-US" sz="2500" dirty="0" smtClean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endParaRPr kumimoji="1" lang="en-US" altLang="zh-CN" sz="25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buNone/>
            </a:pPr>
            <a:r>
              <a:rPr lang="zh-CN" altLang="en-US" sz="2000" dirty="0">
                <a:latin typeface="+mn-ea"/>
                <a:ea typeface="+mn-ea"/>
              </a:rPr>
              <a:t>每次选择乘法代价最小的分割点</a:t>
            </a:r>
          </a:p>
        </p:txBody>
      </p:sp>
      <p:sp>
        <p:nvSpPr>
          <p:cNvPr id="9" name="矩形 8"/>
          <p:cNvSpPr/>
          <p:nvPr/>
        </p:nvSpPr>
        <p:spPr>
          <a:xfrm>
            <a:off x="3744164" y="6269951"/>
            <a:ext cx="447615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最小化某种代价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的分割</a:t>
            </a:r>
            <a:r>
              <a:rPr lang="zh-CN" altLang="en-US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 </a:t>
            </a:r>
            <a:endParaRPr lang="zh-CN" altLang="en-US" sz="2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2411760" y="1769412"/>
            <a:ext cx="6696744" cy="21636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panose="020B060402020202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763688" y="4343989"/>
            <a:ext cx="4362571" cy="171884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kumimoji="0" lang="zh-CN" altLang="en-US" sz="3000" b="0" i="0" u="none" strike="noStrike" cap="none" normalizeH="0" baseline="0" smtClean="0">
              <a:ln>
                <a:noFill/>
              </a:ln>
              <a:solidFill>
                <a:srgbClr val="000066"/>
              </a:solidFill>
              <a:effectLst/>
              <a:latin typeface="Arial" panose="020B060402020202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702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EECCE5-9117-43C2-A947-E276A873C0A8}" type="slidenum">
              <a:rPr lang="en-US" altLang="zh-CN" smtClean="0"/>
              <a:t>6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2204864"/>
            <a:ext cx="3714499" cy="3831654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4213" y="260350"/>
            <a:ext cx="7772400" cy="882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zh-CN" altLang="en-US" sz="3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连乘问题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67544" y="1628800"/>
            <a:ext cx="8351838" cy="193899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strike="sngStrike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穷举法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endParaRPr lang="en-US" altLang="zh-CN" sz="2400" b="1" dirty="0" smtClean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贪心法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动态规划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22298" y="1358478"/>
            <a:ext cx="402170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zh-CN" altLang="en-US" sz="2500" dirty="0" smtClean="0">
                <a:solidFill>
                  <a:schemeClr val="tx1"/>
                </a:solidFill>
                <a:latin typeface="+mn-ea"/>
                <a:ea typeface="+mn-ea"/>
              </a:rPr>
              <a:t>贪心策略</a:t>
            </a:r>
            <a:r>
              <a:rPr kumimoji="1" lang="en-US" altLang="zh-CN" sz="2500" dirty="0" smtClean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1" lang="zh-CN" altLang="en-US" sz="2500" dirty="0" smtClean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endParaRPr kumimoji="1" lang="en-US" altLang="zh-CN" sz="25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buNone/>
            </a:pPr>
            <a:r>
              <a:rPr lang="zh-CN" altLang="en-US" sz="2000" dirty="0">
                <a:latin typeface="+mn-ea"/>
                <a:ea typeface="+mn-ea"/>
              </a:rPr>
              <a:t>每次选择乘法代价最小的分割点</a:t>
            </a:r>
          </a:p>
        </p:txBody>
      </p:sp>
      <p:sp>
        <p:nvSpPr>
          <p:cNvPr id="9" name="矩形 8"/>
          <p:cNvSpPr/>
          <p:nvPr/>
        </p:nvSpPr>
        <p:spPr>
          <a:xfrm>
            <a:off x="3744164" y="6269951"/>
            <a:ext cx="447615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最小化某种代价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的分割</a:t>
            </a:r>
            <a:r>
              <a:rPr lang="zh-CN" altLang="en-US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 </a:t>
            </a:r>
            <a:endParaRPr lang="zh-CN" altLang="en-US" sz="2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459396" y="4797152"/>
            <a:ext cx="2433083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zh-CN" altLang="en-US" sz="2500" dirty="0" smtClean="0">
                <a:solidFill>
                  <a:schemeClr val="tx1"/>
                </a:solidFill>
                <a:latin typeface="+mn-ea"/>
                <a:ea typeface="+mn-ea"/>
              </a:rPr>
              <a:t>贪心策略</a:t>
            </a:r>
            <a:r>
              <a:rPr kumimoji="1" lang="en-US" altLang="zh-CN" sz="2500" dirty="0" smtClean="0">
                <a:solidFill>
                  <a:schemeClr val="tx1"/>
                </a:solidFill>
                <a:latin typeface="+mn-ea"/>
                <a:ea typeface="+mn-ea"/>
              </a:rPr>
              <a:t>2 :</a:t>
            </a:r>
          </a:p>
          <a:p>
            <a:r>
              <a:rPr lang="zh-CN" altLang="en-US" sz="2000" dirty="0">
                <a:latin typeface="+mn-ea"/>
                <a:ea typeface="+mn-ea"/>
              </a:rPr>
              <a:t>每次消去最大的中间维度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800" dirty="0">
                <a:latin typeface="+mn-ea"/>
              </a:rPr>
              <a:t> </a:t>
            </a:r>
          </a:p>
          <a:p>
            <a:pPr>
              <a:buNone/>
            </a:pPr>
            <a:r>
              <a:rPr kumimoji="1" lang="zh-CN" altLang="en-US" sz="250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kumimoji="1" lang="en-US" altLang="zh-CN" sz="25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buNone/>
            </a:pPr>
            <a:r>
              <a:rPr lang="zh-CN" altLang="en-US" sz="2000" dirty="0" smtClean="0">
                <a:latin typeface="+mn-ea"/>
                <a:ea typeface="+mn-ea"/>
              </a:rPr>
              <a:t> </a:t>
            </a:r>
            <a:endParaRPr lang="zh-CN" altLang="en-US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1500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EECCE5-9117-43C2-A947-E276A873C0A8}" type="slidenum">
              <a:rPr lang="en-US" altLang="zh-CN" smtClean="0"/>
              <a:t>7</a:t>
            </a:fld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2204864"/>
            <a:ext cx="3714499" cy="3831654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4213" y="260350"/>
            <a:ext cx="7772400" cy="882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zh-CN" altLang="en-US" sz="3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3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连乘问题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67544" y="1628800"/>
            <a:ext cx="8351838" cy="1938992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strike="sngStrike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穷举法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endParaRPr lang="en-US" altLang="zh-CN" sz="2400" b="1" dirty="0" smtClean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贪心法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动态规划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22298" y="1358478"/>
            <a:ext cx="402170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zh-CN" altLang="en-US" sz="2500" dirty="0" smtClean="0">
                <a:solidFill>
                  <a:schemeClr val="tx1"/>
                </a:solidFill>
                <a:latin typeface="+mn-ea"/>
                <a:ea typeface="+mn-ea"/>
              </a:rPr>
              <a:t>贪心策略</a:t>
            </a:r>
            <a:r>
              <a:rPr kumimoji="1" lang="en-US" altLang="zh-CN" sz="2500" dirty="0" smtClean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1" lang="zh-CN" altLang="en-US" sz="2500" dirty="0" smtClean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endParaRPr kumimoji="1" lang="en-US" altLang="zh-CN" sz="25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buNone/>
            </a:pPr>
            <a:r>
              <a:rPr lang="zh-CN" altLang="en-US" sz="2000" dirty="0">
                <a:latin typeface="+mn-ea"/>
                <a:ea typeface="+mn-ea"/>
              </a:rPr>
              <a:t>每次选择乘法代价最小的分割点</a:t>
            </a:r>
          </a:p>
        </p:txBody>
      </p:sp>
      <p:sp>
        <p:nvSpPr>
          <p:cNvPr id="8" name="矩形 7"/>
          <p:cNvSpPr/>
          <p:nvPr/>
        </p:nvSpPr>
        <p:spPr>
          <a:xfrm>
            <a:off x="6459396" y="4797152"/>
            <a:ext cx="2359985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kumimoji="1" lang="zh-CN" altLang="en-US" sz="2500" dirty="0" smtClean="0">
                <a:solidFill>
                  <a:schemeClr val="tx1"/>
                </a:solidFill>
                <a:latin typeface="+mn-ea"/>
                <a:ea typeface="+mn-ea"/>
              </a:rPr>
              <a:t>贪心策略</a:t>
            </a:r>
            <a:r>
              <a:rPr kumimoji="1" lang="en-US" altLang="zh-CN" sz="2500" dirty="0" smtClean="0">
                <a:solidFill>
                  <a:schemeClr val="tx1"/>
                </a:solidFill>
                <a:latin typeface="+mn-ea"/>
                <a:ea typeface="+mn-ea"/>
              </a:rPr>
              <a:t>2 </a:t>
            </a:r>
            <a:r>
              <a:rPr kumimoji="1" lang="en-US" altLang="zh-CN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0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每次消去最大的中间维度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11760" y="3866857"/>
            <a:ext cx="3168352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dirty="0" smtClean="0"/>
              <a:t>2*3   3*5   5*4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851920" y="4715368"/>
            <a:ext cx="555813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500" dirty="0" smtClean="0"/>
              <a:t>60</a:t>
            </a:r>
            <a:endParaRPr lang="zh-CN" altLang="en-US" sz="2500" dirty="0"/>
          </a:p>
        </p:txBody>
      </p:sp>
      <p:sp>
        <p:nvSpPr>
          <p:cNvPr id="10" name="文本框 9"/>
          <p:cNvSpPr txBox="1"/>
          <p:nvPr/>
        </p:nvSpPr>
        <p:spPr>
          <a:xfrm>
            <a:off x="3347864" y="5468194"/>
            <a:ext cx="576064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500" dirty="0" smtClean="0"/>
              <a:t>84</a:t>
            </a:r>
            <a:endParaRPr lang="zh-CN" altLang="en-US" sz="2500" dirty="0"/>
          </a:p>
        </p:txBody>
      </p:sp>
      <p:sp>
        <p:nvSpPr>
          <p:cNvPr id="11" name="文本框 10"/>
          <p:cNvSpPr txBox="1"/>
          <p:nvPr/>
        </p:nvSpPr>
        <p:spPr>
          <a:xfrm>
            <a:off x="2987824" y="2999468"/>
            <a:ext cx="555813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500" dirty="0" smtClean="0"/>
              <a:t>30</a:t>
            </a:r>
            <a:endParaRPr lang="zh-CN" altLang="en-US" sz="2500" dirty="0"/>
          </a:p>
        </p:txBody>
      </p:sp>
      <p:sp>
        <p:nvSpPr>
          <p:cNvPr id="12" name="文本框 11"/>
          <p:cNvSpPr txBox="1"/>
          <p:nvPr/>
        </p:nvSpPr>
        <p:spPr>
          <a:xfrm>
            <a:off x="3440123" y="2251194"/>
            <a:ext cx="555813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500" dirty="0" smtClean="0"/>
              <a:t>70</a:t>
            </a:r>
            <a:endParaRPr lang="zh-CN" altLang="en-US" sz="25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302205" y="2774168"/>
            <a:ext cx="555813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500" dirty="0" smtClean="0"/>
              <a:t>70</a:t>
            </a:r>
            <a:endParaRPr lang="zh-CN" altLang="en-US" sz="2500" dirty="0"/>
          </a:p>
        </p:txBody>
      </p:sp>
      <p:sp>
        <p:nvSpPr>
          <p:cNvPr id="14" name="文本框 13"/>
          <p:cNvSpPr txBox="1"/>
          <p:nvPr/>
        </p:nvSpPr>
        <p:spPr>
          <a:xfrm>
            <a:off x="5354401" y="4864644"/>
            <a:ext cx="576064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500" dirty="0" smtClean="0"/>
              <a:t>84</a:t>
            </a:r>
            <a:endParaRPr lang="zh-CN" altLang="en-US" sz="2500" dirty="0"/>
          </a:p>
        </p:txBody>
      </p:sp>
    </p:spTree>
    <p:extLst>
      <p:ext uri="{BB962C8B-B14F-4D97-AF65-F5344CB8AC3E}">
        <p14:creationId xmlns:p14="http://schemas.microsoft.com/office/powerpoint/2010/main" val="2774874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Garamond" pitchFamily="18" charset="0"/>
                <a:cs typeface="Times New Roman" panose="02020603050405020304" pitchFamily="18" charset="0"/>
              </a:rPr>
              <a:t>8</a:t>
            </a:fld>
            <a:endParaRPr lang="zh-CN" altLang="en-US" sz="1200" dirty="0">
              <a:latin typeface="Garamond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0931" name="Rectangle 3"/>
          <p:cNvSpPr>
            <a:spLocks noGrp="1" noChangeArrowheads="1"/>
          </p:cNvSpPr>
          <p:nvPr>
            <p:ph idx="1"/>
          </p:nvPr>
        </p:nvSpPr>
        <p:spPr>
          <a:xfrm>
            <a:off x="642938" y="1500188"/>
            <a:ext cx="8105775" cy="4743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贪心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算法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总是作出在当前看来最好的选择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。并不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从整体最优考虑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，所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作出的选择只是在某种意义上的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局部最优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选择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虽然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贪心算法不能对所有问题都得到整体最优解，但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对许多问题它能产生整体最优解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。如单源最短路经问题，最小生成树问题等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一些情况下，即使贪心算法不能得到整体最优解，其最终结果却是最优解的很好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近似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</a:p>
        </p:txBody>
      </p:sp>
      <p:sp>
        <p:nvSpPr>
          <p:cNvPr id="10244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747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贪心算法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6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Garamond" pitchFamily="18" charset="0"/>
                <a:cs typeface="Times New Roman" panose="02020603050405020304" pitchFamily="18" charset="0"/>
              </a:rPr>
              <a:t>9</a:t>
            </a:fld>
            <a:endParaRPr lang="zh-CN" altLang="en-US" sz="1200" dirty="0">
              <a:latin typeface="Garamond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7" name="Rectangle 37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活动安排问题</a:t>
            </a:r>
          </a:p>
        </p:txBody>
      </p:sp>
      <p:graphicFrame>
        <p:nvGraphicFramePr>
          <p:cNvPr id="11268" name="Object 52"/>
          <p:cNvGraphicFramePr>
            <a:graphicFrameLocks noGrp="1" noChangeAspect="1"/>
          </p:cNvGraphicFramePr>
          <p:nvPr>
            <p:ph sz="half" idx="2"/>
          </p:nvPr>
        </p:nvGraphicFramePr>
        <p:xfrm>
          <a:off x="5489575" y="3133725"/>
          <a:ext cx="3122613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r:id="rId4" imgW="4178300" imgH="2527300" progId="MSGraph.Chart.8">
                  <p:embed/>
                </p:oleObj>
              </mc:Choice>
              <mc:Fallback>
                <p:oleObj r:id="rId4" imgW="4178300" imgH="2527300" progId="MSGraph.Char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>
                      <a:xfrm>
                        <a:off x="5489575" y="3133725"/>
                        <a:ext cx="3122613" cy="18827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 Box 57"/>
          <p:cNvSpPr txBox="1"/>
          <p:nvPr/>
        </p:nvSpPr>
        <p:spPr>
          <a:xfrm>
            <a:off x="549275" y="991665"/>
            <a:ext cx="8137525" cy="3822585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设有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个活动的集合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E={1, 2, …, n}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，每个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活动都要求</a:t>
            </a:r>
            <a:r>
              <a:rPr lang="zh-CN" altLang="en-US" sz="2400" b="1" u="sng" dirty="0">
                <a:latin typeface="Times New Roman" panose="02020603050405020304" pitchFamily="18" charset="0"/>
                <a:ea typeface="楷体_GB2312" pitchFamily="49" charset="-122"/>
              </a:rPr>
              <a:t>使用同一</a:t>
            </a:r>
            <a:r>
              <a:rPr lang="zh-CN" altLang="en-US" sz="2400" b="1" u="sng" dirty="0" smtClean="0">
                <a:latin typeface="Times New Roman" panose="02020603050405020304" pitchFamily="18" charset="0"/>
                <a:ea typeface="楷体_GB2312" pitchFamily="49" charset="-122"/>
              </a:rPr>
              <a:t>资源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，在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同一时间内只有一个活动能使用这一资源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en-US" altLang="zh-CN" sz="2400" b="1" dirty="0" smtClean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每个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活动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都有一个要求使用该资源的起始时间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和一个结束时间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&lt; f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。如果选择了活动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，则它在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半开时间区间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[s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, f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内占用资源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。若区间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[s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, f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与区间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[s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, f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不相交，则称活动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与活动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相容的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en-US" altLang="zh-CN" sz="2400" b="1" dirty="0" smtClean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例：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设待安排的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个活动的开始时间和结束</a:t>
            </a:r>
            <a:r>
              <a:rPr lang="zh-CN" altLang="en-US" sz="2400" b="1" dirty="0" smtClean="0">
                <a:latin typeface="楷体_GB2312" pitchFamily="49" charset="-122"/>
                <a:ea typeface="楷体_GB2312" pitchFamily="49" charset="-122"/>
              </a:rPr>
              <a:t>时间，如下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Group 69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84531"/>
              </p:ext>
            </p:extLst>
          </p:nvPr>
        </p:nvGraphicFramePr>
        <p:xfrm>
          <a:off x="1197868" y="4854894"/>
          <a:ext cx="6840338" cy="1188720"/>
        </p:xfrm>
        <a:graphic>
          <a:graphicData uri="http://schemas.openxmlformats.org/drawingml/2006/table">
            <a:tbl>
              <a:tblPr/>
              <a:tblGrid>
                <a:gridCol w="789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5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940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5939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35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s[</a:t>
                      </a: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39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f[</a:t>
                      </a: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Garamond" pitchFamily="18" charset="0"/>
                <a:cs typeface="Times New Roman" panose="02020603050405020304" pitchFamily="18" charset="0"/>
              </a:rPr>
              <a:t>10</a:t>
            </a:fld>
            <a:endParaRPr lang="zh-CN" altLang="en-US" sz="1200" dirty="0">
              <a:latin typeface="Garamond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395288" y="260350"/>
            <a:ext cx="7772400" cy="11430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活动安排问题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403350"/>
            <a:ext cx="8281988" cy="3600450"/>
          </a:xfrm>
        </p:spPr>
        <p:txBody>
          <a:bodyPr vert="horz" wrap="square" lIns="91440" tIns="45720" rIns="91440" bIns="45720" numCol="1" anchor="t" anchorCtr="0" compatLnSpc="1"/>
          <a:lstStyle/>
          <a:p>
            <a:pPr lvl="0">
              <a:lnSpc>
                <a:spcPct val="130000"/>
              </a:lnSpc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活动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安排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问题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要求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高效地安排一系列争用某一公共资源的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活动</a:t>
            </a:r>
            <a:r>
              <a:rPr lang="zh-CN" altLang="en-US" sz="2400" b="1" kern="12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，在</a:t>
            </a:r>
            <a:r>
              <a:rPr lang="zh-CN" altLang="en-US" sz="2400" b="1" kern="1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所给的活动集合中</a:t>
            </a:r>
            <a:r>
              <a:rPr lang="zh-CN" altLang="en-US" sz="24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选出最大的相容活动子集合</a:t>
            </a:r>
            <a:r>
              <a:rPr lang="zh-CN" altLang="en-US" sz="2400" b="1" kern="12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，是可以用贪心算法有效求解的很好例子</a:t>
            </a:r>
            <a:r>
              <a:rPr lang="zh-CN" altLang="en-US" sz="2400" b="1" kern="12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b="1" kern="1200" dirty="0" smtClean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0">
              <a:lnSpc>
                <a:spcPct val="13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400" b="1" kern="1200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贪心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算法提供了一个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简单的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方法使得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尽可能多的活动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能兼容地使用公共资源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Group 6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5212628"/>
              </p:ext>
            </p:extLst>
          </p:nvPr>
        </p:nvGraphicFramePr>
        <p:xfrm>
          <a:off x="1187624" y="4581128"/>
          <a:ext cx="6840338" cy="1188720"/>
        </p:xfrm>
        <a:graphic>
          <a:graphicData uri="http://schemas.openxmlformats.org/drawingml/2006/table">
            <a:tbl>
              <a:tblPr/>
              <a:tblGrid>
                <a:gridCol w="789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5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940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5939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35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S[i]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39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f[</a:t>
                      </a: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5885822" y="375562"/>
            <a:ext cx="250260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404040"/>
                </a:solidFill>
                <a:latin typeface="DeepSeek-CJK-patch"/>
              </a:rPr>
              <a:t>组合优化问题</a:t>
            </a:r>
            <a:endParaRPr lang="zh-CN" altLang="en-US" b="1" dirty="0">
              <a:solidFill>
                <a:srgbClr val="404040"/>
              </a:solidFill>
              <a:latin typeface="DeepSeek-CJK-patch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9552" y="1628800"/>
            <a:ext cx="2586990" cy="206883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  <a:buClr>
                <a:srgbClr val="CC9900"/>
              </a:buClr>
              <a:buSzPct val="64583"/>
              <a:tabLst>
                <a:tab pos="354965" algn="l"/>
              </a:tabLst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三</a:t>
            </a:r>
            <a:r>
              <a:rPr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种贪心策略</a:t>
            </a:r>
            <a:r>
              <a:rPr sz="2400" spc="-5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: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354965" lvl="6" indent="-342265">
              <a:spcBef>
                <a:spcPts val="1135"/>
              </a:spcBef>
              <a:buClr>
                <a:srgbClr val="CC9900"/>
              </a:buClr>
              <a:buSzPct val="64583"/>
              <a:buFont typeface="Wingdings"/>
              <a:buChar char=""/>
              <a:tabLst>
                <a:tab pos="354965" algn="l"/>
              </a:tabLst>
            </a:pPr>
            <a:r>
              <a:rPr lang="en-US"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   </a:t>
            </a:r>
            <a:r>
              <a:rPr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贪</a:t>
            </a:r>
            <a:r>
              <a:rPr lang="en-US"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 </a:t>
            </a:r>
            <a:r>
              <a:rPr sz="2400" spc="-1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开始最早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 marL="354965" lvl="3" indent="-342265">
              <a:spcBef>
                <a:spcPts val="1140"/>
              </a:spcBef>
              <a:buClr>
                <a:srgbClr val="CC9900"/>
              </a:buClr>
              <a:buSzPct val="64583"/>
              <a:buFont typeface="Wingdings"/>
              <a:buChar char=""/>
              <a:tabLst>
                <a:tab pos="354965" algn="l"/>
              </a:tabLst>
            </a:pPr>
            <a:r>
              <a:rPr lang="en-US"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   </a:t>
            </a:r>
            <a:r>
              <a:rPr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贪</a:t>
            </a:r>
            <a:r>
              <a:rPr lang="en-US"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 </a:t>
            </a:r>
            <a:r>
              <a:rPr sz="2400" spc="-1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持续最短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 marL="354965" lvl="3" indent="-342265">
              <a:spcBef>
                <a:spcPts val="1160"/>
              </a:spcBef>
              <a:buClr>
                <a:srgbClr val="CC9900"/>
              </a:buClr>
              <a:buSzPct val="64583"/>
              <a:buFont typeface="Wingdings"/>
              <a:buChar char=""/>
              <a:tabLst>
                <a:tab pos="354965" algn="l"/>
              </a:tabLst>
            </a:pPr>
            <a:r>
              <a:rPr lang="en-US"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   </a:t>
            </a:r>
            <a:r>
              <a:rPr sz="2400" spc="-1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贪</a:t>
            </a:r>
            <a:r>
              <a:rPr lang="en-US" sz="2400" spc="-1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 </a:t>
            </a:r>
            <a:r>
              <a:rPr sz="2400" spc="-1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结束最早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4721" y="1127774"/>
            <a:ext cx="3925057" cy="141054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126542" y="2046580"/>
            <a:ext cx="1367002" cy="466090"/>
          </a:xfrm>
          <a:custGeom>
            <a:avLst/>
            <a:gdLst/>
            <a:ahLst/>
            <a:cxnLst/>
            <a:rect l="l" t="t" r="r" b="b"/>
            <a:pathLst>
              <a:path w="1914525" h="466089">
                <a:moveTo>
                  <a:pt x="1831975" y="42192"/>
                </a:moveTo>
                <a:lnTo>
                  <a:pt x="1787867" y="27800"/>
                </a:lnTo>
                <a:lnTo>
                  <a:pt x="1778012" y="14198"/>
                </a:lnTo>
                <a:lnTo>
                  <a:pt x="1778317" y="11226"/>
                </a:lnTo>
                <a:lnTo>
                  <a:pt x="1790814" y="0"/>
                </a:lnTo>
                <a:lnTo>
                  <a:pt x="1793811" y="12"/>
                </a:lnTo>
                <a:lnTo>
                  <a:pt x="1796732" y="634"/>
                </a:lnTo>
                <a:lnTo>
                  <a:pt x="1889915" y="31038"/>
                </a:lnTo>
                <a:lnTo>
                  <a:pt x="1883625" y="31038"/>
                </a:lnTo>
                <a:lnTo>
                  <a:pt x="1831975" y="42192"/>
                </a:lnTo>
                <a:close/>
              </a:path>
              <a:path w="1914525" h="466089">
                <a:moveTo>
                  <a:pt x="1858924" y="50985"/>
                </a:moveTo>
                <a:lnTo>
                  <a:pt x="1831975" y="42192"/>
                </a:lnTo>
                <a:lnTo>
                  <a:pt x="1883625" y="31038"/>
                </a:lnTo>
                <a:lnTo>
                  <a:pt x="1884363" y="34455"/>
                </a:lnTo>
                <a:lnTo>
                  <a:pt x="1876996" y="34455"/>
                </a:lnTo>
                <a:lnTo>
                  <a:pt x="1858924" y="50985"/>
                </a:lnTo>
                <a:close/>
              </a:path>
              <a:path w="1914525" h="466089">
                <a:moveTo>
                  <a:pt x="1812023" y="126199"/>
                </a:moveTo>
                <a:lnTo>
                  <a:pt x="1799120" y="112090"/>
                </a:lnTo>
                <a:lnTo>
                  <a:pt x="1799412" y="109105"/>
                </a:lnTo>
                <a:lnTo>
                  <a:pt x="1838003" y="70120"/>
                </a:lnTo>
                <a:lnTo>
                  <a:pt x="1889658" y="58966"/>
                </a:lnTo>
                <a:lnTo>
                  <a:pt x="1883625" y="31038"/>
                </a:lnTo>
                <a:lnTo>
                  <a:pt x="1889915" y="31038"/>
                </a:lnTo>
                <a:lnTo>
                  <a:pt x="1914359" y="39014"/>
                </a:lnTo>
                <a:lnTo>
                  <a:pt x="1823046" y="122516"/>
                </a:lnTo>
                <a:lnTo>
                  <a:pt x="1820646" y="124294"/>
                </a:lnTo>
                <a:lnTo>
                  <a:pt x="1817928" y="125526"/>
                </a:lnTo>
                <a:lnTo>
                  <a:pt x="1815007" y="126174"/>
                </a:lnTo>
                <a:lnTo>
                  <a:pt x="1812023" y="126199"/>
                </a:lnTo>
                <a:close/>
              </a:path>
              <a:path w="1914525" h="466089">
                <a:moveTo>
                  <a:pt x="1882216" y="58585"/>
                </a:moveTo>
                <a:lnTo>
                  <a:pt x="1858924" y="50985"/>
                </a:lnTo>
                <a:lnTo>
                  <a:pt x="1876996" y="34455"/>
                </a:lnTo>
                <a:lnTo>
                  <a:pt x="1882216" y="58585"/>
                </a:lnTo>
                <a:close/>
              </a:path>
              <a:path w="1914525" h="466089">
                <a:moveTo>
                  <a:pt x="1889576" y="58585"/>
                </a:moveTo>
                <a:lnTo>
                  <a:pt x="1882216" y="58585"/>
                </a:lnTo>
                <a:lnTo>
                  <a:pt x="1876996" y="34455"/>
                </a:lnTo>
                <a:lnTo>
                  <a:pt x="1884363" y="34455"/>
                </a:lnTo>
                <a:lnTo>
                  <a:pt x="1889576" y="58585"/>
                </a:lnTo>
                <a:close/>
              </a:path>
              <a:path w="1914525" h="466089">
                <a:moveTo>
                  <a:pt x="6019" y="465734"/>
                </a:moveTo>
                <a:lnTo>
                  <a:pt x="0" y="437794"/>
                </a:lnTo>
                <a:lnTo>
                  <a:pt x="1831975" y="42192"/>
                </a:lnTo>
                <a:lnTo>
                  <a:pt x="1858924" y="50985"/>
                </a:lnTo>
                <a:lnTo>
                  <a:pt x="1838003" y="70120"/>
                </a:lnTo>
                <a:lnTo>
                  <a:pt x="6019" y="465734"/>
                </a:lnTo>
                <a:close/>
              </a:path>
              <a:path w="1914525" h="466089">
                <a:moveTo>
                  <a:pt x="1838003" y="70120"/>
                </a:moveTo>
                <a:lnTo>
                  <a:pt x="1858924" y="50985"/>
                </a:lnTo>
                <a:lnTo>
                  <a:pt x="1882216" y="58585"/>
                </a:lnTo>
                <a:lnTo>
                  <a:pt x="1889576" y="58585"/>
                </a:lnTo>
                <a:lnTo>
                  <a:pt x="1889658" y="58966"/>
                </a:lnTo>
                <a:lnTo>
                  <a:pt x="1838003" y="70120"/>
                </a:lnTo>
                <a:close/>
              </a:path>
            </a:pathLst>
          </a:custGeom>
          <a:solidFill>
            <a:srgbClr val="946E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6622" y="3781402"/>
            <a:ext cx="3918298" cy="125323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942121" y="3103724"/>
            <a:ext cx="1529257" cy="1165479"/>
          </a:xfrm>
          <a:custGeom>
            <a:avLst/>
            <a:gdLst/>
            <a:ahLst/>
            <a:cxnLst/>
            <a:rect l="l" t="t" r="r" b="b"/>
            <a:pathLst>
              <a:path w="1769745" h="1838960">
                <a:moveTo>
                  <a:pt x="1729939" y="1797834"/>
                </a:moveTo>
                <a:lnTo>
                  <a:pt x="1702647" y="1790079"/>
                </a:lnTo>
                <a:lnTo>
                  <a:pt x="0" y="19811"/>
                </a:lnTo>
                <a:lnTo>
                  <a:pt x="20599" y="0"/>
                </a:lnTo>
                <a:lnTo>
                  <a:pt x="1723260" y="1770281"/>
                </a:lnTo>
                <a:lnTo>
                  <a:pt x="1729939" y="1797834"/>
                </a:lnTo>
                <a:close/>
              </a:path>
              <a:path w="1769745" h="1838960">
                <a:moveTo>
                  <a:pt x="1766696" y="1828177"/>
                </a:moveTo>
                <a:lnTo>
                  <a:pt x="1739290" y="1828177"/>
                </a:lnTo>
                <a:lnTo>
                  <a:pt x="1759889" y="1808365"/>
                </a:lnTo>
                <a:lnTo>
                  <a:pt x="1723260" y="1770281"/>
                </a:lnTo>
                <a:lnTo>
                  <a:pt x="1712328" y="1725180"/>
                </a:lnTo>
                <a:lnTo>
                  <a:pt x="1711921" y="1722221"/>
                </a:lnTo>
                <a:lnTo>
                  <a:pt x="1712150" y="1719249"/>
                </a:lnTo>
                <a:lnTo>
                  <a:pt x="1727301" y="1707578"/>
                </a:lnTo>
                <a:lnTo>
                  <a:pt x="1730235" y="1708111"/>
                </a:lnTo>
                <a:lnTo>
                  <a:pt x="1740090" y="1718449"/>
                </a:lnTo>
                <a:lnTo>
                  <a:pt x="1766696" y="1828177"/>
                </a:lnTo>
                <a:close/>
              </a:path>
              <a:path w="1769745" h="1838960">
                <a:moveTo>
                  <a:pt x="1746090" y="1821637"/>
                </a:moveTo>
                <a:lnTo>
                  <a:pt x="1735708" y="1821637"/>
                </a:lnTo>
                <a:lnTo>
                  <a:pt x="1753501" y="1804530"/>
                </a:lnTo>
                <a:lnTo>
                  <a:pt x="1729939" y="1797834"/>
                </a:lnTo>
                <a:lnTo>
                  <a:pt x="1723260" y="1770281"/>
                </a:lnTo>
                <a:lnTo>
                  <a:pt x="1759889" y="1808365"/>
                </a:lnTo>
                <a:lnTo>
                  <a:pt x="1746090" y="1821637"/>
                </a:lnTo>
                <a:close/>
              </a:path>
              <a:path w="1769745" h="1838960">
                <a:moveTo>
                  <a:pt x="1769249" y="1838705"/>
                </a:moveTo>
                <a:lnTo>
                  <a:pt x="1650225" y="1804885"/>
                </a:lnTo>
                <a:lnTo>
                  <a:pt x="1639849" y="1791677"/>
                </a:lnTo>
                <a:lnTo>
                  <a:pt x="1640052" y="1788706"/>
                </a:lnTo>
                <a:lnTo>
                  <a:pt x="1655089" y="1776895"/>
                </a:lnTo>
                <a:lnTo>
                  <a:pt x="1658035" y="1777403"/>
                </a:lnTo>
                <a:lnTo>
                  <a:pt x="1702647" y="1790079"/>
                </a:lnTo>
                <a:lnTo>
                  <a:pt x="1739290" y="1828177"/>
                </a:lnTo>
                <a:lnTo>
                  <a:pt x="1766696" y="1828177"/>
                </a:lnTo>
                <a:lnTo>
                  <a:pt x="1769249" y="1838705"/>
                </a:lnTo>
                <a:close/>
              </a:path>
              <a:path w="1769745" h="1838960">
                <a:moveTo>
                  <a:pt x="1739290" y="1828177"/>
                </a:moveTo>
                <a:lnTo>
                  <a:pt x="1702647" y="1790079"/>
                </a:lnTo>
                <a:lnTo>
                  <a:pt x="1729939" y="1797834"/>
                </a:lnTo>
                <a:lnTo>
                  <a:pt x="1735708" y="1821637"/>
                </a:lnTo>
                <a:lnTo>
                  <a:pt x="1746090" y="1821637"/>
                </a:lnTo>
                <a:lnTo>
                  <a:pt x="1739290" y="1828177"/>
                </a:lnTo>
                <a:close/>
              </a:path>
              <a:path w="1769745" h="1838960">
                <a:moveTo>
                  <a:pt x="1735708" y="1821637"/>
                </a:moveTo>
                <a:lnTo>
                  <a:pt x="1729939" y="1797834"/>
                </a:lnTo>
                <a:lnTo>
                  <a:pt x="1753501" y="1804530"/>
                </a:lnTo>
                <a:lnTo>
                  <a:pt x="1735708" y="1821637"/>
                </a:lnTo>
                <a:close/>
              </a:path>
            </a:pathLst>
          </a:custGeom>
          <a:solidFill>
            <a:srgbClr val="946E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pc="-25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spc="-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活动安排问题</a:t>
            </a:r>
          </a:p>
        </p:txBody>
      </p:sp>
      <p:graphicFrame>
        <p:nvGraphicFramePr>
          <p:cNvPr id="8" name="Group 6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9434963"/>
              </p:ext>
            </p:extLst>
          </p:nvPr>
        </p:nvGraphicFramePr>
        <p:xfrm>
          <a:off x="755576" y="5396369"/>
          <a:ext cx="6840338" cy="1188720"/>
        </p:xfrm>
        <a:graphic>
          <a:graphicData uri="http://schemas.openxmlformats.org/drawingml/2006/table">
            <a:tbl>
              <a:tblPr/>
              <a:tblGrid>
                <a:gridCol w="789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5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940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5939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35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s[</a:t>
                      </a: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39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f[</a:t>
                      </a: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07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9231" y="1725475"/>
            <a:ext cx="2586990" cy="206883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35"/>
              </a:spcBef>
              <a:buClr>
                <a:srgbClr val="CC9900"/>
              </a:buClr>
              <a:buSzPct val="64583"/>
              <a:buFont typeface="Wingdings"/>
              <a:buChar char=""/>
              <a:tabLst>
                <a:tab pos="354965" algn="l"/>
              </a:tabLst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三</a:t>
            </a:r>
            <a:r>
              <a:rPr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种贪心策略</a:t>
            </a:r>
            <a:r>
              <a:rPr sz="2400" spc="-5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: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354965" lvl="6" indent="-342265">
              <a:spcBef>
                <a:spcPts val="1135"/>
              </a:spcBef>
              <a:buClr>
                <a:srgbClr val="CC9900"/>
              </a:buClr>
              <a:buSzPct val="64583"/>
              <a:buFont typeface="Wingdings"/>
              <a:buChar char=""/>
              <a:tabLst>
                <a:tab pos="354965" algn="l"/>
              </a:tabLst>
            </a:pPr>
            <a:r>
              <a:rPr lang="en-US"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   </a:t>
            </a:r>
            <a:r>
              <a:rPr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贪</a:t>
            </a:r>
            <a:r>
              <a:rPr lang="en-US"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 </a:t>
            </a:r>
            <a:r>
              <a:rPr sz="2400" spc="-1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开始最早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 marL="354965" lvl="3" indent="-342265">
              <a:spcBef>
                <a:spcPts val="1140"/>
              </a:spcBef>
              <a:buClr>
                <a:srgbClr val="CC9900"/>
              </a:buClr>
              <a:buSzPct val="64583"/>
              <a:buFont typeface="Wingdings"/>
              <a:buChar char=""/>
              <a:tabLst>
                <a:tab pos="354965" algn="l"/>
              </a:tabLst>
            </a:pPr>
            <a:r>
              <a:rPr lang="en-US"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   </a:t>
            </a:r>
            <a:r>
              <a:rPr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贪</a:t>
            </a:r>
            <a:r>
              <a:rPr lang="en-US"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 </a:t>
            </a:r>
            <a:r>
              <a:rPr sz="2400" spc="-1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持续最短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 marL="354965" lvl="3" indent="-342265">
              <a:spcBef>
                <a:spcPts val="1160"/>
              </a:spcBef>
              <a:buClr>
                <a:srgbClr val="CC9900"/>
              </a:buClr>
              <a:buSzPct val="64583"/>
              <a:buFont typeface="Wingdings"/>
              <a:buChar char=""/>
              <a:tabLst>
                <a:tab pos="354965" algn="l"/>
              </a:tabLst>
            </a:pPr>
            <a:r>
              <a:rPr lang="en-US" sz="2400" spc="-1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   </a:t>
            </a:r>
            <a:r>
              <a:rPr sz="2400" spc="-1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贪</a:t>
            </a:r>
            <a:r>
              <a:rPr lang="en-US" sz="2400" spc="-1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 </a:t>
            </a:r>
            <a:r>
              <a:rPr sz="2400" spc="-1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结束最早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5541" y="965381"/>
            <a:ext cx="3925057" cy="141054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156221" y="2143255"/>
            <a:ext cx="1367002" cy="466090"/>
          </a:xfrm>
          <a:custGeom>
            <a:avLst/>
            <a:gdLst/>
            <a:ahLst/>
            <a:cxnLst/>
            <a:rect l="l" t="t" r="r" b="b"/>
            <a:pathLst>
              <a:path w="1914525" h="466089">
                <a:moveTo>
                  <a:pt x="1831975" y="42192"/>
                </a:moveTo>
                <a:lnTo>
                  <a:pt x="1787867" y="27800"/>
                </a:lnTo>
                <a:lnTo>
                  <a:pt x="1778012" y="14198"/>
                </a:lnTo>
                <a:lnTo>
                  <a:pt x="1778317" y="11226"/>
                </a:lnTo>
                <a:lnTo>
                  <a:pt x="1790814" y="0"/>
                </a:lnTo>
                <a:lnTo>
                  <a:pt x="1793811" y="12"/>
                </a:lnTo>
                <a:lnTo>
                  <a:pt x="1796732" y="634"/>
                </a:lnTo>
                <a:lnTo>
                  <a:pt x="1889915" y="31038"/>
                </a:lnTo>
                <a:lnTo>
                  <a:pt x="1883625" y="31038"/>
                </a:lnTo>
                <a:lnTo>
                  <a:pt x="1831975" y="42192"/>
                </a:lnTo>
                <a:close/>
              </a:path>
              <a:path w="1914525" h="466089">
                <a:moveTo>
                  <a:pt x="1858924" y="50985"/>
                </a:moveTo>
                <a:lnTo>
                  <a:pt x="1831975" y="42192"/>
                </a:lnTo>
                <a:lnTo>
                  <a:pt x="1883625" y="31038"/>
                </a:lnTo>
                <a:lnTo>
                  <a:pt x="1884363" y="34455"/>
                </a:lnTo>
                <a:lnTo>
                  <a:pt x="1876996" y="34455"/>
                </a:lnTo>
                <a:lnTo>
                  <a:pt x="1858924" y="50985"/>
                </a:lnTo>
                <a:close/>
              </a:path>
              <a:path w="1914525" h="466089">
                <a:moveTo>
                  <a:pt x="1812023" y="126199"/>
                </a:moveTo>
                <a:lnTo>
                  <a:pt x="1799120" y="112090"/>
                </a:lnTo>
                <a:lnTo>
                  <a:pt x="1799412" y="109105"/>
                </a:lnTo>
                <a:lnTo>
                  <a:pt x="1838003" y="70120"/>
                </a:lnTo>
                <a:lnTo>
                  <a:pt x="1889658" y="58966"/>
                </a:lnTo>
                <a:lnTo>
                  <a:pt x="1883625" y="31038"/>
                </a:lnTo>
                <a:lnTo>
                  <a:pt x="1889915" y="31038"/>
                </a:lnTo>
                <a:lnTo>
                  <a:pt x="1914359" y="39014"/>
                </a:lnTo>
                <a:lnTo>
                  <a:pt x="1823046" y="122516"/>
                </a:lnTo>
                <a:lnTo>
                  <a:pt x="1820646" y="124294"/>
                </a:lnTo>
                <a:lnTo>
                  <a:pt x="1817928" y="125526"/>
                </a:lnTo>
                <a:lnTo>
                  <a:pt x="1815007" y="126174"/>
                </a:lnTo>
                <a:lnTo>
                  <a:pt x="1812023" y="126199"/>
                </a:lnTo>
                <a:close/>
              </a:path>
              <a:path w="1914525" h="466089">
                <a:moveTo>
                  <a:pt x="1882216" y="58585"/>
                </a:moveTo>
                <a:lnTo>
                  <a:pt x="1858924" y="50985"/>
                </a:lnTo>
                <a:lnTo>
                  <a:pt x="1876996" y="34455"/>
                </a:lnTo>
                <a:lnTo>
                  <a:pt x="1882216" y="58585"/>
                </a:lnTo>
                <a:close/>
              </a:path>
              <a:path w="1914525" h="466089">
                <a:moveTo>
                  <a:pt x="1889576" y="58585"/>
                </a:moveTo>
                <a:lnTo>
                  <a:pt x="1882216" y="58585"/>
                </a:lnTo>
                <a:lnTo>
                  <a:pt x="1876996" y="34455"/>
                </a:lnTo>
                <a:lnTo>
                  <a:pt x="1884363" y="34455"/>
                </a:lnTo>
                <a:lnTo>
                  <a:pt x="1889576" y="58585"/>
                </a:lnTo>
                <a:close/>
              </a:path>
              <a:path w="1914525" h="466089">
                <a:moveTo>
                  <a:pt x="6019" y="465734"/>
                </a:moveTo>
                <a:lnTo>
                  <a:pt x="0" y="437794"/>
                </a:lnTo>
                <a:lnTo>
                  <a:pt x="1831975" y="42192"/>
                </a:lnTo>
                <a:lnTo>
                  <a:pt x="1858924" y="50985"/>
                </a:lnTo>
                <a:lnTo>
                  <a:pt x="1838003" y="70120"/>
                </a:lnTo>
                <a:lnTo>
                  <a:pt x="6019" y="465734"/>
                </a:lnTo>
                <a:close/>
              </a:path>
              <a:path w="1914525" h="466089">
                <a:moveTo>
                  <a:pt x="1838003" y="70120"/>
                </a:moveTo>
                <a:lnTo>
                  <a:pt x="1858924" y="50985"/>
                </a:lnTo>
                <a:lnTo>
                  <a:pt x="1882216" y="58585"/>
                </a:lnTo>
                <a:lnTo>
                  <a:pt x="1889576" y="58585"/>
                </a:lnTo>
                <a:lnTo>
                  <a:pt x="1889658" y="58966"/>
                </a:lnTo>
                <a:lnTo>
                  <a:pt x="1838003" y="70120"/>
                </a:lnTo>
                <a:close/>
              </a:path>
            </a:pathLst>
          </a:custGeom>
          <a:solidFill>
            <a:srgbClr val="946E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2300" y="2768812"/>
            <a:ext cx="3918298" cy="1253230"/>
          </a:xfrm>
          <a:prstGeom prst="rect">
            <a:avLst/>
          </a:prstGeom>
        </p:spPr>
      </p:pic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457200" y="277813"/>
            <a:ext cx="822960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pc="-25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spc="-1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活动安排问题</a:t>
            </a:r>
          </a:p>
        </p:txBody>
      </p:sp>
      <p:sp>
        <p:nvSpPr>
          <p:cNvPr id="8" name="灯片编号占位符 6"/>
          <p:cNvSpPr txBox="1">
            <a:spLocks noGrp="1"/>
          </p:cNvSpPr>
          <p:nvPr>
            <p:ph type="sldNum" sz="quarter" idx="4294967295"/>
          </p:nvPr>
        </p:nvSpPr>
        <p:spPr>
          <a:xfrm>
            <a:off x="5591646" y="6243638"/>
            <a:ext cx="1905000" cy="457200"/>
          </a:xfrm>
          <a:prstGeom prst="rect">
            <a:avLst/>
          </a:prstGeom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fld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Group 6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0753539"/>
              </p:ext>
            </p:extLst>
          </p:nvPr>
        </p:nvGraphicFramePr>
        <p:xfrm>
          <a:off x="457200" y="5373216"/>
          <a:ext cx="6840338" cy="1188720"/>
        </p:xfrm>
        <a:graphic>
          <a:graphicData uri="http://schemas.openxmlformats.org/drawingml/2006/table">
            <a:tbl>
              <a:tblPr/>
              <a:tblGrid>
                <a:gridCol w="789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5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940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5939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35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S[i]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39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f[</a:t>
                      </a: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5"/>
          <p:cNvSpPr/>
          <p:nvPr/>
        </p:nvSpPr>
        <p:spPr>
          <a:xfrm rot="2337027">
            <a:off x="3241646" y="3101916"/>
            <a:ext cx="1367002" cy="466090"/>
          </a:xfrm>
          <a:custGeom>
            <a:avLst/>
            <a:gdLst/>
            <a:ahLst/>
            <a:cxnLst/>
            <a:rect l="l" t="t" r="r" b="b"/>
            <a:pathLst>
              <a:path w="1914525" h="466089">
                <a:moveTo>
                  <a:pt x="1831975" y="42192"/>
                </a:moveTo>
                <a:lnTo>
                  <a:pt x="1787867" y="27800"/>
                </a:lnTo>
                <a:lnTo>
                  <a:pt x="1778012" y="14198"/>
                </a:lnTo>
                <a:lnTo>
                  <a:pt x="1778317" y="11226"/>
                </a:lnTo>
                <a:lnTo>
                  <a:pt x="1790814" y="0"/>
                </a:lnTo>
                <a:lnTo>
                  <a:pt x="1793811" y="12"/>
                </a:lnTo>
                <a:lnTo>
                  <a:pt x="1796732" y="634"/>
                </a:lnTo>
                <a:lnTo>
                  <a:pt x="1889915" y="31038"/>
                </a:lnTo>
                <a:lnTo>
                  <a:pt x="1883625" y="31038"/>
                </a:lnTo>
                <a:lnTo>
                  <a:pt x="1831975" y="42192"/>
                </a:lnTo>
                <a:close/>
              </a:path>
              <a:path w="1914525" h="466089">
                <a:moveTo>
                  <a:pt x="1858924" y="50985"/>
                </a:moveTo>
                <a:lnTo>
                  <a:pt x="1831975" y="42192"/>
                </a:lnTo>
                <a:lnTo>
                  <a:pt x="1883625" y="31038"/>
                </a:lnTo>
                <a:lnTo>
                  <a:pt x="1884363" y="34455"/>
                </a:lnTo>
                <a:lnTo>
                  <a:pt x="1876996" y="34455"/>
                </a:lnTo>
                <a:lnTo>
                  <a:pt x="1858924" y="50985"/>
                </a:lnTo>
                <a:close/>
              </a:path>
              <a:path w="1914525" h="466089">
                <a:moveTo>
                  <a:pt x="1812023" y="126199"/>
                </a:moveTo>
                <a:lnTo>
                  <a:pt x="1799120" y="112090"/>
                </a:lnTo>
                <a:lnTo>
                  <a:pt x="1799412" y="109105"/>
                </a:lnTo>
                <a:lnTo>
                  <a:pt x="1838003" y="70120"/>
                </a:lnTo>
                <a:lnTo>
                  <a:pt x="1889658" y="58966"/>
                </a:lnTo>
                <a:lnTo>
                  <a:pt x="1883625" y="31038"/>
                </a:lnTo>
                <a:lnTo>
                  <a:pt x="1889915" y="31038"/>
                </a:lnTo>
                <a:lnTo>
                  <a:pt x="1914359" y="39014"/>
                </a:lnTo>
                <a:lnTo>
                  <a:pt x="1823046" y="122516"/>
                </a:lnTo>
                <a:lnTo>
                  <a:pt x="1820646" y="124294"/>
                </a:lnTo>
                <a:lnTo>
                  <a:pt x="1817928" y="125526"/>
                </a:lnTo>
                <a:lnTo>
                  <a:pt x="1815007" y="126174"/>
                </a:lnTo>
                <a:lnTo>
                  <a:pt x="1812023" y="126199"/>
                </a:lnTo>
                <a:close/>
              </a:path>
              <a:path w="1914525" h="466089">
                <a:moveTo>
                  <a:pt x="1882216" y="58585"/>
                </a:moveTo>
                <a:lnTo>
                  <a:pt x="1858924" y="50985"/>
                </a:lnTo>
                <a:lnTo>
                  <a:pt x="1876996" y="34455"/>
                </a:lnTo>
                <a:lnTo>
                  <a:pt x="1882216" y="58585"/>
                </a:lnTo>
                <a:close/>
              </a:path>
              <a:path w="1914525" h="466089">
                <a:moveTo>
                  <a:pt x="1889576" y="58585"/>
                </a:moveTo>
                <a:lnTo>
                  <a:pt x="1882216" y="58585"/>
                </a:lnTo>
                <a:lnTo>
                  <a:pt x="1876996" y="34455"/>
                </a:lnTo>
                <a:lnTo>
                  <a:pt x="1884363" y="34455"/>
                </a:lnTo>
                <a:lnTo>
                  <a:pt x="1889576" y="58585"/>
                </a:lnTo>
                <a:close/>
              </a:path>
              <a:path w="1914525" h="466089">
                <a:moveTo>
                  <a:pt x="6019" y="465734"/>
                </a:moveTo>
                <a:lnTo>
                  <a:pt x="0" y="437794"/>
                </a:lnTo>
                <a:lnTo>
                  <a:pt x="1831975" y="42192"/>
                </a:lnTo>
                <a:lnTo>
                  <a:pt x="1858924" y="50985"/>
                </a:lnTo>
                <a:lnTo>
                  <a:pt x="1838003" y="70120"/>
                </a:lnTo>
                <a:lnTo>
                  <a:pt x="6019" y="465734"/>
                </a:lnTo>
                <a:close/>
              </a:path>
              <a:path w="1914525" h="466089">
                <a:moveTo>
                  <a:pt x="1838003" y="70120"/>
                </a:moveTo>
                <a:lnTo>
                  <a:pt x="1858924" y="50985"/>
                </a:lnTo>
                <a:lnTo>
                  <a:pt x="1882216" y="58585"/>
                </a:lnTo>
                <a:lnTo>
                  <a:pt x="1889576" y="58585"/>
                </a:lnTo>
                <a:lnTo>
                  <a:pt x="1889658" y="58966"/>
                </a:lnTo>
                <a:lnTo>
                  <a:pt x="1838003" y="70120"/>
                </a:lnTo>
                <a:close/>
              </a:path>
            </a:pathLst>
          </a:custGeom>
          <a:solidFill>
            <a:srgbClr val="946E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5"/>
          <p:cNvSpPr/>
          <p:nvPr/>
        </p:nvSpPr>
        <p:spPr>
          <a:xfrm rot="4211149">
            <a:off x="1730339" y="4266565"/>
            <a:ext cx="1367002" cy="466090"/>
          </a:xfrm>
          <a:custGeom>
            <a:avLst/>
            <a:gdLst/>
            <a:ahLst/>
            <a:cxnLst/>
            <a:rect l="l" t="t" r="r" b="b"/>
            <a:pathLst>
              <a:path w="1914525" h="466089">
                <a:moveTo>
                  <a:pt x="1831975" y="42192"/>
                </a:moveTo>
                <a:lnTo>
                  <a:pt x="1787867" y="27800"/>
                </a:lnTo>
                <a:lnTo>
                  <a:pt x="1778012" y="14198"/>
                </a:lnTo>
                <a:lnTo>
                  <a:pt x="1778317" y="11226"/>
                </a:lnTo>
                <a:lnTo>
                  <a:pt x="1790814" y="0"/>
                </a:lnTo>
                <a:lnTo>
                  <a:pt x="1793811" y="12"/>
                </a:lnTo>
                <a:lnTo>
                  <a:pt x="1796732" y="634"/>
                </a:lnTo>
                <a:lnTo>
                  <a:pt x="1889915" y="31038"/>
                </a:lnTo>
                <a:lnTo>
                  <a:pt x="1883625" y="31038"/>
                </a:lnTo>
                <a:lnTo>
                  <a:pt x="1831975" y="42192"/>
                </a:lnTo>
                <a:close/>
              </a:path>
              <a:path w="1914525" h="466089">
                <a:moveTo>
                  <a:pt x="1858924" y="50985"/>
                </a:moveTo>
                <a:lnTo>
                  <a:pt x="1831975" y="42192"/>
                </a:lnTo>
                <a:lnTo>
                  <a:pt x="1883625" y="31038"/>
                </a:lnTo>
                <a:lnTo>
                  <a:pt x="1884363" y="34455"/>
                </a:lnTo>
                <a:lnTo>
                  <a:pt x="1876996" y="34455"/>
                </a:lnTo>
                <a:lnTo>
                  <a:pt x="1858924" y="50985"/>
                </a:lnTo>
                <a:close/>
              </a:path>
              <a:path w="1914525" h="466089">
                <a:moveTo>
                  <a:pt x="1812023" y="126199"/>
                </a:moveTo>
                <a:lnTo>
                  <a:pt x="1799120" y="112090"/>
                </a:lnTo>
                <a:lnTo>
                  <a:pt x="1799412" y="109105"/>
                </a:lnTo>
                <a:lnTo>
                  <a:pt x="1838003" y="70120"/>
                </a:lnTo>
                <a:lnTo>
                  <a:pt x="1889658" y="58966"/>
                </a:lnTo>
                <a:lnTo>
                  <a:pt x="1883625" y="31038"/>
                </a:lnTo>
                <a:lnTo>
                  <a:pt x="1889915" y="31038"/>
                </a:lnTo>
                <a:lnTo>
                  <a:pt x="1914359" y="39014"/>
                </a:lnTo>
                <a:lnTo>
                  <a:pt x="1823046" y="122516"/>
                </a:lnTo>
                <a:lnTo>
                  <a:pt x="1820646" y="124294"/>
                </a:lnTo>
                <a:lnTo>
                  <a:pt x="1817928" y="125526"/>
                </a:lnTo>
                <a:lnTo>
                  <a:pt x="1815007" y="126174"/>
                </a:lnTo>
                <a:lnTo>
                  <a:pt x="1812023" y="126199"/>
                </a:lnTo>
                <a:close/>
              </a:path>
              <a:path w="1914525" h="466089">
                <a:moveTo>
                  <a:pt x="1882216" y="58585"/>
                </a:moveTo>
                <a:lnTo>
                  <a:pt x="1858924" y="50985"/>
                </a:lnTo>
                <a:lnTo>
                  <a:pt x="1876996" y="34455"/>
                </a:lnTo>
                <a:lnTo>
                  <a:pt x="1882216" y="58585"/>
                </a:lnTo>
                <a:close/>
              </a:path>
              <a:path w="1914525" h="466089">
                <a:moveTo>
                  <a:pt x="1889576" y="58585"/>
                </a:moveTo>
                <a:lnTo>
                  <a:pt x="1882216" y="58585"/>
                </a:lnTo>
                <a:lnTo>
                  <a:pt x="1876996" y="34455"/>
                </a:lnTo>
                <a:lnTo>
                  <a:pt x="1884363" y="34455"/>
                </a:lnTo>
                <a:lnTo>
                  <a:pt x="1889576" y="58585"/>
                </a:lnTo>
                <a:close/>
              </a:path>
              <a:path w="1914525" h="466089">
                <a:moveTo>
                  <a:pt x="6019" y="465734"/>
                </a:moveTo>
                <a:lnTo>
                  <a:pt x="0" y="437794"/>
                </a:lnTo>
                <a:lnTo>
                  <a:pt x="1831975" y="42192"/>
                </a:lnTo>
                <a:lnTo>
                  <a:pt x="1858924" y="50985"/>
                </a:lnTo>
                <a:lnTo>
                  <a:pt x="1838003" y="70120"/>
                </a:lnTo>
                <a:lnTo>
                  <a:pt x="6019" y="465734"/>
                </a:lnTo>
                <a:close/>
              </a:path>
              <a:path w="1914525" h="466089">
                <a:moveTo>
                  <a:pt x="1838003" y="70120"/>
                </a:moveTo>
                <a:lnTo>
                  <a:pt x="1858924" y="50985"/>
                </a:lnTo>
                <a:lnTo>
                  <a:pt x="1882216" y="58585"/>
                </a:lnTo>
                <a:lnTo>
                  <a:pt x="1889576" y="58585"/>
                </a:lnTo>
                <a:lnTo>
                  <a:pt x="1889658" y="58966"/>
                </a:lnTo>
                <a:lnTo>
                  <a:pt x="1838003" y="70120"/>
                </a:lnTo>
                <a:close/>
              </a:path>
            </a:pathLst>
          </a:custGeom>
          <a:solidFill>
            <a:srgbClr val="946E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16316" y="4187190"/>
            <a:ext cx="5365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1740"/>
              </a:spcBef>
              <a:buClr>
                <a:srgbClr val="CC9900"/>
              </a:buClr>
              <a:buSzPct val="64583"/>
              <a:tabLst>
                <a:tab pos="312420" algn="l"/>
              </a:tabLst>
            </a:pPr>
            <a:r>
              <a:rPr lang="zh-CN" altLang="en-US" sz="2400" b="1" spc="-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新宋体"/>
              </a:rPr>
              <a:t>最优解一定包含结束时间最早的</a:t>
            </a:r>
            <a:r>
              <a:rPr lang="zh-CN" altLang="en-US" sz="2400" b="1" spc="-25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新宋体"/>
              </a:rPr>
              <a:t>活动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新宋体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884368" y="4076620"/>
            <a:ext cx="6046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740"/>
              </a:spcBef>
              <a:buClr>
                <a:srgbClr val="CC9900"/>
              </a:buClr>
              <a:buSzPct val="64583"/>
              <a:tabLst>
                <a:tab pos="312420" algn="l"/>
              </a:tabLst>
            </a:pPr>
            <a:r>
              <a:rPr lang="zh-CN" altLang="en-US" sz="3200" b="1" spc="-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新宋体"/>
              </a:rPr>
              <a:t>？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新宋体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835885" y="4839543"/>
            <a:ext cx="67046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1740"/>
              </a:spcBef>
              <a:buClr>
                <a:srgbClr val="CC9900"/>
              </a:buClr>
              <a:buSzPct val="64583"/>
              <a:tabLst>
                <a:tab pos="312420" algn="l"/>
              </a:tabLst>
            </a:pPr>
            <a:r>
              <a:rPr lang="zh-CN" altLang="en-US" sz="2400" b="1" spc="-25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新宋体"/>
              </a:rPr>
              <a:t>至少存在一个最优解包含</a:t>
            </a:r>
            <a:r>
              <a:rPr lang="zh-CN" altLang="en-US" sz="2400" b="1" spc="-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新宋体"/>
              </a:rPr>
              <a:t>结束时间最早的</a:t>
            </a:r>
            <a:r>
              <a:rPr lang="zh-CN" altLang="en-US" sz="2400" b="1" spc="-25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新宋体"/>
              </a:rPr>
              <a:t>活动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新宋体"/>
            </a:endParaRPr>
          </a:p>
        </p:txBody>
      </p:sp>
    </p:spTree>
    <p:extLst>
      <p:ext uri="{BB962C8B-B14F-4D97-AF65-F5344CB8AC3E}">
        <p14:creationId xmlns:p14="http://schemas.microsoft.com/office/powerpoint/2010/main" val="238260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2257"/>
            <a:ext cx="511618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+mn-ea"/>
                <a:ea typeface="+mn-ea"/>
              </a:rPr>
              <a:t>4.1</a:t>
            </a:r>
            <a:r>
              <a:rPr sz="4000" spc="-50" dirty="0">
                <a:latin typeface="+mn-ea"/>
                <a:ea typeface="+mn-ea"/>
              </a:rPr>
              <a:t> 活动安排问题</a:t>
            </a:r>
            <a:endParaRPr sz="4000" dirty="0">
              <a:latin typeface="+mn-ea"/>
              <a:ea typeface="+mn-e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4546" y="1166323"/>
            <a:ext cx="8255926" cy="151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40" dirty="0" err="1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证明</a:t>
            </a:r>
            <a:r>
              <a:rPr lang="zh-CN" altLang="en-US" sz="3000" b="1" spc="-4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：</a:t>
            </a:r>
            <a:r>
              <a:rPr lang="zh-CN" altLang="en-US" sz="2400" b="1" spc="-25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至少存在一</a:t>
            </a:r>
            <a:r>
              <a:rPr lang="zh-CN" altLang="en-US" sz="2400" b="1" spc="-25" dirty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个最优解</a:t>
            </a:r>
            <a:r>
              <a:rPr lang="zh-CN" altLang="en-US" sz="2400" b="1" spc="-25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包含结束时间最早的活动</a:t>
            </a:r>
            <a:r>
              <a:rPr sz="2400" b="1" spc="-25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。</a:t>
            </a:r>
            <a:endParaRPr sz="2400" dirty="0">
              <a:solidFill>
                <a:schemeClr val="tx1"/>
              </a:solidFill>
              <a:latin typeface="+mn-ea"/>
              <a:ea typeface="+mn-ea"/>
              <a:cs typeface="新宋体"/>
            </a:endParaRPr>
          </a:p>
          <a:p>
            <a:pPr marL="12700" marR="5080" indent="299720">
              <a:lnSpc>
                <a:spcPct val="129900"/>
              </a:lnSpc>
              <a:spcBef>
                <a:spcPts val="570"/>
              </a:spcBef>
              <a:buClr>
                <a:srgbClr val="CC9900"/>
              </a:buClr>
              <a:buSzPct val="64583"/>
              <a:buFont typeface="Wingdings"/>
              <a:buChar char=""/>
              <a:tabLst>
                <a:tab pos="312420" algn="l"/>
              </a:tabLst>
            </a:pPr>
            <a:r>
              <a:rPr lang="zh-CN" altLang="en-US" sz="2400" b="1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反证法：</a:t>
            </a:r>
            <a:r>
              <a:rPr sz="2400" b="1" spc="-20" dirty="0" err="1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假设</a:t>
            </a:r>
            <a:r>
              <a:rPr lang="zh-CN" altLang="en-US" sz="2400" b="1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任意的</a:t>
            </a:r>
            <a:r>
              <a:rPr lang="zh-CN" altLang="en-US" sz="2400" b="1" spc="-20" dirty="0" smtClean="0">
                <a:solidFill>
                  <a:schemeClr val="accent6"/>
                </a:solidFill>
                <a:latin typeface="+mn-ea"/>
                <a:ea typeface="+mn-ea"/>
                <a:cs typeface="新宋体"/>
              </a:rPr>
              <a:t>最优解</a:t>
            </a:r>
            <a:r>
              <a:rPr lang="en-US" altLang="zh-CN" sz="2400" b="1" spc="-20" dirty="0" smtClean="0">
                <a:solidFill>
                  <a:schemeClr val="accent6"/>
                </a:solidFill>
                <a:latin typeface="+mn-ea"/>
                <a:ea typeface="+mn-ea"/>
                <a:cs typeface="新宋体"/>
              </a:rPr>
              <a:t>B</a:t>
            </a:r>
            <a:r>
              <a:rPr lang="zh-CN" altLang="en-US" sz="2400" b="1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中都不包括</a:t>
            </a:r>
            <a:r>
              <a:rPr lang="zh-CN" altLang="en-US" sz="2400" b="1" spc="-20" dirty="0" smtClean="0">
                <a:solidFill>
                  <a:srgbClr val="FF0000"/>
                </a:solidFill>
                <a:latin typeface="+mn-ea"/>
                <a:ea typeface="+mn-ea"/>
                <a:cs typeface="新宋体"/>
              </a:rPr>
              <a:t>结束最早的活动</a:t>
            </a:r>
            <a:r>
              <a:rPr sz="2400" b="1" dirty="0" smtClean="0">
                <a:solidFill>
                  <a:srgbClr val="FF0000"/>
                </a:solidFill>
                <a:latin typeface="+mn-ea"/>
                <a:ea typeface="+mn-ea"/>
                <a:cs typeface="Times New Roman"/>
              </a:rPr>
              <a:t>a</a:t>
            </a:r>
            <a:r>
              <a:rPr lang="zh-CN" altLang="en-US" sz="2400" b="1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。</a:t>
            </a:r>
            <a:r>
              <a:rPr sz="2400" b="1" spc="-20" dirty="0" err="1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设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B</a:t>
            </a:r>
            <a:r>
              <a:rPr sz="2400" b="1" spc="-35" dirty="0" err="1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方法</a:t>
            </a:r>
            <a:r>
              <a:rPr sz="2400" b="1" spc="-20" dirty="0" err="1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中</a:t>
            </a:r>
            <a:r>
              <a:rPr sz="2400" b="1" spc="-20" dirty="0" err="1" smtClean="0">
                <a:solidFill>
                  <a:srgbClr val="0070C0"/>
                </a:solidFill>
                <a:latin typeface="+mn-ea"/>
                <a:ea typeface="+mn-ea"/>
                <a:cs typeface="新宋体"/>
              </a:rPr>
              <a:t>结束最早的活动是</a:t>
            </a:r>
            <a:r>
              <a:rPr sz="2400" b="1" spc="-10" dirty="0" err="1">
                <a:solidFill>
                  <a:srgbClr val="0070C0"/>
                </a:solidFill>
                <a:latin typeface="+mn-ea"/>
                <a:ea typeface="+mn-ea"/>
                <a:cs typeface="Times New Roman"/>
              </a:rPr>
              <a:t>b</a:t>
            </a:r>
            <a:r>
              <a:rPr sz="2400" b="1" spc="-25" dirty="0" err="1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，</a:t>
            </a:r>
            <a:r>
              <a:rPr sz="2400" b="1" spc="-25" dirty="0" err="1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那么只可能有如下情况</a:t>
            </a:r>
            <a:r>
              <a:rPr lang="zh-CN" altLang="en-US" sz="2400" b="1" spc="-25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：</a:t>
            </a:r>
            <a:endParaRPr sz="2400" dirty="0">
              <a:solidFill>
                <a:schemeClr val="tx1"/>
              </a:solidFill>
              <a:latin typeface="+mn-ea"/>
              <a:ea typeface="+mn-ea"/>
              <a:cs typeface="新宋体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040" y="2955078"/>
            <a:ext cx="2603978" cy="141897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88" y="2924024"/>
            <a:ext cx="2719842" cy="149630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368" y="2955078"/>
            <a:ext cx="2376264" cy="149410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32518" y="4619006"/>
            <a:ext cx="26856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spc="-10" dirty="0">
                <a:latin typeface="+mn-ea"/>
                <a:ea typeface="+mn-ea"/>
                <a:cs typeface="Arial"/>
              </a:rPr>
              <a:t>a</a:t>
            </a:r>
            <a:r>
              <a:rPr lang="zh-CN" altLang="en-US" sz="2400" spc="-20" dirty="0">
                <a:latin typeface="+mn-ea"/>
                <a:ea typeface="+mn-ea"/>
                <a:cs typeface="新宋体"/>
              </a:rPr>
              <a:t>与</a:t>
            </a:r>
            <a:r>
              <a:rPr lang="en-US" altLang="zh-CN" sz="2400" spc="-10" dirty="0">
                <a:latin typeface="+mn-ea"/>
                <a:ea typeface="+mn-ea"/>
                <a:cs typeface="Arial"/>
              </a:rPr>
              <a:t>b</a:t>
            </a:r>
            <a:r>
              <a:rPr lang="zh-CN" altLang="en-US" sz="2400" spc="-20" dirty="0">
                <a:latin typeface="+mn-ea"/>
                <a:ea typeface="+mn-ea"/>
                <a:cs typeface="新宋体"/>
              </a:rPr>
              <a:t>不重叠的情况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810513" y="4619005"/>
            <a:ext cx="23804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spc="-10" dirty="0">
                <a:latin typeface="+mn-ea"/>
                <a:ea typeface="+mn-ea"/>
                <a:cs typeface="Arial"/>
              </a:rPr>
              <a:t>a</a:t>
            </a:r>
            <a:r>
              <a:rPr lang="zh-CN" altLang="en-US" sz="2400" spc="-20" dirty="0">
                <a:latin typeface="+mn-ea"/>
                <a:ea typeface="+mn-ea"/>
                <a:cs typeface="新宋体"/>
              </a:rPr>
              <a:t>与</a:t>
            </a:r>
            <a:r>
              <a:rPr lang="en-US" altLang="zh-CN" sz="2400" spc="-10" dirty="0" smtClean="0">
                <a:latin typeface="+mn-ea"/>
                <a:ea typeface="+mn-ea"/>
                <a:cs typeface="Arial"/>
              </a:rPr>
              <a:t>b</a:t>
            </a:r>
            <a:r>
              <a:rPr lang="zh-CN" altLang="en-US" sz="2400" spc="-20" dirty="0" smtClean="0">
                <a:latin typeface="+mn-ea"/>
                <a:ea typeface="+mn-ea"/>
                <a:cs typeface="新宋体"/>
              </a:rPr>
              <a:t>重叠</a:t>
            </a:r>
            <a:r>
              <a:rPr lang="zh-CN" altLang="en-US" sz="2400" spc="-20" dirty="0">
                <a:latin typeface="+mn-ea"/>
                <a:ea typeface="+mn-ea"/>
                <a:cs typeface="新宋体"/>
              </a:rPr>
              <a:t>的情况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2069" y="5517232"/>
            <a:ext cx="7920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7">
              <a:lnSpc>
                <a:spcPct val="150000"/>
              </a:lnSpc>
            </a:pPr>
            <a:r>
              <a:rPr lang="zh-CN" altLang="en-US" sz="2400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采用</a:t>
            </a:r>
            <a:r>
              <a:rPr lang="zh-CN" altLang="en-US" sz="2400" b="1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替换法</a:t>
            </a:r>
            <a:r>
              <a:rPr lang="zh-CN" altLang="en-US" sz="2400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，总能够构造出一个包含</a:t>
            </a:r>
            <a:r>
              <a:rPr lang="en-US" altLang="zh-CN" sz="2400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a</a:t>
            </a:r>
            <a:r>
              <a:rPr lang="zh-CN" altLang="en-US" sz="2400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最优解</a:t>
            </a:r>
            <a:r>
              <a:rPr lang="en-US" altLang="zh-CN" sz="2400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B’</a:t>
            </a:r>
            <a:r>
              <a:rPr lang="zh-CN" altLang="en-US" sz="2400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，与任意最优解</a:t>
            </a:r>
            <a:r>
              <a:rPr lang="zh-CN" altLang="en-US" sz="2400" spc="-20" dirty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都</a:t>
            </a:r>
            <a:r>
              <a:rPr lang="zh-CN" altLang="en-US" sz="2400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不包含</a:t>
            </a:r>
            <a:r>
              <a:rPr lang="en-US" altLang="zh-CN" sz="2400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a</a:t>
            </a:r>
            <a:r>
              <a:rPr lang="zh-CN" altLang="en-US" sz="2400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矛盾。因此</a:t>
            </a:r>
            <a:r>
              <a:rPr lang="zh-CN" altLang="en-US" sz="2400" spc="-20" dirty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贪心选择不会错过最优解。</a:t>
            </a:r>
          </a:p>
        </p:txBody>
      </p:sp>
    </p:spTree>
    <p:extLst>
      <p:ext uri="{BB962C8B-B14F-4D97-AF65-F5344CB8AC3E}">
        <p14:creationId xmlns:p14="http://schemas.microsoft.com/office/powerpoint/2010/main" val="285604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6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Garamond" pitchFamily="18" charset="0"/>
                <a:ea typeface="+mn-ea"/>
                <a:cs typeface="Times New Roman" panose="02020603050405020304" pitchFamily="18" charset="0"/>
              </a:rPr>
              <a:t>14</a:t>
            </a:fld>
            <a:endParaRPr lang="zh-CN" altLang="en-US" sz="1200" dirty="0">
              <a:latin typeface="Garamond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396875" y="260350"/>
            <a:ext cx="7793038" cy="8382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活动安排问题</a:t>
            </a:r>
          </a:p>
        </p:txBody>
      </p:sp>
      <p:sp>
        <p:nvSpPr>
          <p:cNvPr id="13316" name="Rectangle 3"/>
          <p:cNvSpPr>
            <a:spLocks noGrp="1"/>
          </p:cNvSpPr>
          <p:nvPr>
            <p:ph type="body" sz="half" idx="1"/>
          </p:nvPr>
        </p:nvSpPr>
        <p:spPr>
          <a:xfrm>
            <a:off x="611188" y="1898650"/>
            <a:ext cx="7773987" cy="418782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template&lt;class Type&gt;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GreedySelector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n, Type s[], Type f[], bool A[]){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A[1]=true;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int j=1;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for (int i=2;i&lt;=n;i++) {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if (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s[i]&gt;=f[j]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A[i]=true; j=i; }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else A[i]=false;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}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317" name="Text Box 4"/>
          <p:cNvSpPr txBox="1"/>
          <p:nvPr/>
        </p:nvSpPr>
        <p:spPr>
          <a:xfrm>
            <a:off x="460375" y="1284288"/>
            <a:ext cx="8675688" cy="387350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活动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安排问题的贪心算法</a:t>
            </a:r>
            <a:r>
              <a:rPr lang="en-US" altLang="zh-CN" sz="2400" b="1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GreedySelector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0281" name="AutoShape 9"/>
          <p:cNvSpPr>
            <a:spLocks noChangeArrowheads="1"/>
          </p:cNvSpPr>
          <p:nvPr/>
        </p:nvSpPr>
        <p:spPr bwMode="auto">
          <a:xfrm>
            <a:off x="6102074" y="880206"/>
            <a:ext cx="2843113" cy="1582864"/>
          </a:xfrm>
          <a:prstGeom prst="wedgeRoundRectCallout">
            <a:avLst>
              <a:gd name="adj1" fmla="val -121574"/>
              <a:gd name="adj2" fmla="val 5467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hlink"/>
            </a:solidFill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各活动的起始时间和结束时间存储于数组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按</a:t>
            </a:r>
            <a:r>
              <a:rPr kumimoji="0" lang="zh-CN" alt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结束时间的非减序排列</a:t>
            </a:r>
            <a:r>
              <a:rPr kumimoji="0" lang="zh-CN" altLang="en-US" sz="2000" b="0" i="0" u="sng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itchFamily="2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7" name="Group 6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6234782"/>
              </p:ext>
            </p:extLst>
          </p:nvPr>
        </p:nvGraphicFramePr>
        <p:xfrm>
          <a:off x="1907704" y="5373216"/>
          <a:ext cx="6840338" cy="1188720"/>
        </p:xfrm>
        <a:graphic>
          <a:graphicData uri="http://schemas.openxmlformats.org/drawingml/2006/table">
            <a:tbl>
              <a:tblPr/>
              <a:tblGrid>
                <a:gridCol w="789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88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74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5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940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5939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35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s[</a:t>
                      </a: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396"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f[</a:t>
                      </a: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4654653" y="3576440"/>
            <a:ext cx="4132014" cy="1172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00" b="1" dirty="0">
                <a:latin typeface="Times New Roman" panose="02020603050405020304" pitchFamily="18" charset="0"/>
              </a:rPr>
              <a:t>若被检查的活动</a:t>
            </a:r>
            <a:r>
              <a:rPr lang="en-US" altLang="zh-CN" sz="1800" b="1" dirty="0" err="1">
                <a:latin typeface="Times New Roman" panose="02020603050405020304" pitchFamily="18" charset="0"/>
              </a:rPr>
              <a:t>i</a:t>
            </a:r>
            <a:r>
              <a:rPr lang="zh-CN" altLang="en-US" sz="1800" b="1" dirty="0">
                <a:latin typeface="Times New Roman" panose="02020603050405020304" pitchFamily="18" charset="0"/>
              </a:rPr>
              <a:t>的开始时间</a:t>
            </a:r>
            <a:r>
              <a:rPr lang="en-US" altLang="zh-CN" sz="1800" b="1" dirty="0" err="1" smtClean="0">
                <a:latin typeface="Times New Roman" panose="02020603050405020304" pitchFamily="18" charset="0"/>
              </a:rPr>
              <a:t>s</a:t>
            </a:r>
            <a:r>
              <a:rPr lang="en-US" altLang="zh-CN" sz="1800" b="1" baseline="-25000" dirty="0" err="1" smtClean="0">
                <a:latin typeface="Times New Roman" panose="02020603050405020304" pitchFamily="18" charset="0"/>
              </a:rPr>
              <a:t>i</a:t>
            </a:r>
            <a:r>
              <a:rPr lang="zh-CN" altLang="en-US" sz="1800" b="1" dirty="0" smtClean="0">
                <a:latin typeface="Times New Roman" panose="02020603050405020304" pitchFamily="18" charset="0"/>
              </a:rPr>
              <a:t>大于等于上一个选择</a:t>
            </a:r>
            <a:r>
              <a:rPr lang="zh-CN" altLang="en-US" sz="1800" b="1" dirty="0">
                <a:latin typeface="Times New Roman" panose="02020603050405020304" pitchFamily="18" charset="0"/>
              </a:rPr>
              <a:t>的活动</a:t>
            </a:r>
            <a:r>
              <a:rPr lang="en-US" altLang="zh-CN" sz="1800" b="1" dirty="0">
                <a:latin typeface="Times New Roman" panose="02020603050405020304" pitchFamily="18" charset="0"/>
              </a:rPr>
              <a:t>j</a:t>
            </a:r>
            <a:r>
              <a:rPr lang="zh-CN" altLang="en-US" sz="1800" b="1" dirty="0">
                <a:latin typeface="Times New Roman" panose="02020603050405020304" pitchFamily="18" charset="0"/>
              </a:rPr>
              <a:t>的结束时间</a:t>
            </a:r>
            <a:r>
              <a:rPr lang="en-US" altLang="zh-CN" sz="1800" b="1" dirty="0" smtClean="0">
                <a:latin typeface="Times New Roman" panose="02020603050405020304" pitchFamily="18" charset="0"/>
              </a:rPr>
              <a:t>f</a:t>
            </a:r>
            <a:r>
              <a:rPr lang="en-US" altLang="zh-CN" sz="1800" b="1" baseline="-25000" dirty="0" smtClean="0">
                <a:latin typeface="Times New Roman" panose="02020603050405020304" pitchFamily="18" charset="0"/>
              </a:rPr>
              <a:t>j</a:t>
            </a:r>
            <a:r>
              <a:rPr lang="zh-CN" altLang="en-US" sz="1800" b="1" dirty="0" smtClean="0">
                <a:latin typeface="Times New Roman" panose="02020603050405020304" pitchFamily="18" charset="0"/>
              </a:rPr>
              <a:t>，则选择</a:t>
            </a:r>
            <a:r>
              <a:rPr lang="zh-CN" altLang="en-US" sz="1800" b="1" dirty="0">
                <a:latin typeface="Times New Roman" panose="02020603050405020304" pitchFamily="18" charset="0"/>
              </a:rPr>
              <a:t>活动</a:t>
            </a:r>
            <a:r>
              <a:rPr lang="en-US" altLang="zh-CN" sz="1800" b="1" dirty="0" err="1">
                <a:latin typeface="Times New Roman" panose="02020603050405020304" pitchFamily="18" charset="0"/>
              </a:rPr>
              <a:t>i</a:t>
            </a:r>
            <a:r>
              <a:rPr lang="zh-CN" altLang="en-US" sz="1800" b="1" dirty="0">
                <a:latin typeface="Times New Roman" panose="02020603050405020304" pitchFamily="18" charset="0"/>
              </a:rPr>
              <a:t>，</a:t>
            </a:r>
            <a:r>
              <a:rPr lang="zh-CN" altLang="en-US" sz="1800" b="1" dirty="0" smtClean="0">
                <a:latin typeface="Times New Roman" panose="02020603050405020304" pitchFamily="18" charset="0"/>
              </a:rPr>
              <a:t>否则不选择</a:t>
            </a:r>
            <a:r>
              <a:rPr lang="en-US" altLang="zh-CN" sz="1800" b="1" dirty="0" err="1" smtClean="0">
                <a:latin typeface="Times New Roman" panose="02020603050405020304" pitchFamily="18" charset="0"/>
              </a:rPr>
              <a:t>i</a:t>
            </a:r>
            <a:r>
              <a:rPr lang="zh-CN" altLang="en-US" sz="1800" b="1" dirty="0" smtClean="0">
                <a:latin typeface="Times New Roman" panose="02020603050405020304" pitchFamily="18" charset="0"/>
              </a:rPr>
              <a:t>。</a:t>
            </a:r>
            <a:endParaRPr lang="zh-CN" altLang="en-US" sz="1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8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6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Garamond" pitchFamily="18" charset="0"/>
                <a:ea typeface="+mn-ea"/>
                <a:cs typeface="Times New Roman" panose="02020603050405020304" pitchFamily="18" charset="0"/>
              </a:rPr>
              <a:t>15</a:t>
            </a:fld>
            <a:endParaRPr lang="zh-CN" altLang="en-US" sz="1200" dirty="0">
              <a:latin typeface="Garamond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396875" y="260350"/>
            <a:ext cx="7793038" cy="8382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活动安排问题</a:t>
            </a:r>
          </a:p>
        </p:txBody>
      </p:sp>
      <p:sp>
        <p:nvSpPr>
          <p:cNvPr id="13316" name="Rectangle 3"/>
          <p:cNvSpPr>
            <a:spLocks noGrp="1"/>
          </p:cNvSpPr>
          <p:nvPr>
            <p:ph type="body" sz="half" idx="1"/>
          </p:nvPr>
        </p:nvSpPr>
        <p:spPr>
          <a:xfrm>
            <a:off x="611188" y="1898650"/>
            <a:ext cx="7773987" cy="418782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template&lt;class Type&gt;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GreedySelector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n, Type s[], Type f[], bool A[]){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A[1]=true;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int j=1;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for (int i=2;i&lt;=n;i++) {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if (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s[i]&gt;=f[j]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A[i]=true; j=i; }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else A[i]=false;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}</a:t>
            </a:r>
          </a:p>
          <a:p>
            <a:pPr marL="0" indent="0">
              <a:lnSpc>
                <a:spcPct val="15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317" name="Text Box 4"/>
          <p:cNvSpPr txBox="1"/>
          <p:nvPr/>
        </p:nvSpPr>
        <p:spPr>
          <a:xfrm>
            <a:off x="460375" y="1284288"/>
            <a:ext cx="8675688" cy="387350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活动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安排问题的贪心算法</a:t>
            </a:r>
            <a:r>
              <a:rPr lang="en-US" altLang="zh-CN" sz="2400" b="1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GreedySelector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0281" name="AutoShape 9"/>
          <p:cNvSpPr>
            <a:spLocks noChangeArrowheads="1"/>
          </p:cNvSpPr>
          <p:nvPr/>
        </p:nvSpPr>
        <p:spPr bwMode="auto">
          <a:xfrm>
            <a:off x="6102074" y="880206"/>
            <a:ext cx="2843113" cy="1582864"/>
          </a:xfrm>
          <a:prstGeom prst="wedgeRoundRectCallout">
            <a:avLst>
              <a:gd name="adj1" fmla="val -121574"/>
              <a:gd name="adj2" fmla="val 5467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hlink"/>
            </a:solidFill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各活动的起始时间和结束时间存储于数组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按</a:t>
            </a:r>
            <a:r>
              <a:rPr kumimoji="0" lang="zh-CN" alt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结束时间的非减序排列</a:t>
            </a:r>
            <a:r>
              <a:rPr kumimoji="0" lang="zh-CN" altLang="en-US" sz="2000" b="0" i="0" u="sng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矩形 3"/>
          <p:cNvSpPr/>
          <p:nvPr/>
        </p:nvSpPr>
        <p:spPr>
          <a:xfrm>
            <a:off x="4516933" y="3003552"/>
            <a:ext cx="4572000" cy="296504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20000"/>
              </a:lnSpc>
              <a:spcBef>
                <a:spcPct val="20000"/>
              </a:spcBef>
              <a:buClr>
                <a:srgbClr val="CC9900"/>
              </a:buClr>
              <a:buSzPct val="65000"/>
            </a:pPr>
            <a:r>
              <a:rPr lang="zh-CN" altLang="en-US" sz="22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算法</a:t>
            </a:r>
            <a:r>
              <a:rPr lang="en-US" altLang="zh-CN" sz="2200" b="1" kern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GreedySelector</a:t>
            </a:r>
            <a:r>
              <a:rPr lang="zh-CN" altLang="en-US" sz="22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的效率极高</a:t>
            </a:r>
            <a:r>
              <a:rPr lang="zh-CN" altLang="en-US" sz="2200" b="1" kern="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en-US" altLang="zh-CN" sz="2200" b="1" kern="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  <a:spcBef>
                <a:spcPct val="20000"/>
              </a:spcBef>
              <a:buClr>
                <a:srgbClr val="CC9900"/>
              </a:buClr>
              <a:buSzPct val="65000"/>
            </a:pPr>
            <a:r>
              <a:rPr lang="zh-CN" altLang="en-US" sz="2200" b="1" kern="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当</a:t>
            </a:r>
            <a:r>
              <a:rPr lang="zh-CN" altLang="en-US" sz="22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输入的活动已按结束时间的非减序排列，算法只需</a:t>
            </a:r>
            <a:r>
              <a:rPr lang="en-US" altLang="zh-CN" sz="2200" b="1" kern="0" dirty="0">
                <a:solidFill>
                  <a:srgbClr val="996600"/>
                </a:solidFill>
                <a:latin typeface="Times New Roman" panose="02020603050405020304" pitchFamily="18" charset="0"/>
              </a:rPr>
              <a:t>O(n)</a:t>
            </a:r>
            <a:r>
              <a:rPr lang="zh-CN" altLang="en-US" sz="22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的时间安排</a:t>
            </a:r>
            <a:r>
              <a:rPr lang="en-US" altLang="zh-CN" sz="22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2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个活动，使最多的活动能相容地使用公共资源。如果所给出的活动未按非减序排列，可以用</a:t>
            </a:r>
            <a:r>
              <a:rPr lang="en-US" altLang="zh-CN" sz="2200" b="1" kern="0" dirty="0">
                <a:solidFill>
                  <a:srgbClr val="996600"/>
                </a:solidFill>
                <a:latin typeface="Times New Roman" panose="02020603050405020304" pitchFamily="18" charset="0"/>
              </a:rPr>
              <a:t>O(</a:t>
            </a:r>
            <a:r>
              <a:rPr lang="en-US" altLang="zh-CN" sz="2200" b="1" kern="0" dirty="0" err="1">
                <a:solidFill>
                  <a:srgbClr val="996600"/>
                </a:solidFill>
                <a:latin typeface="Times New Roman" panose="02020603050405020304" pitchFamily="18" charset="0"/>
              </a:rPr>
              <a:t>nlogn</a:t>
            </a:r>
            <a:r>
              <a:rPr lang="en-US" altLang="zh-CN" sz="2200" b="1" kern="0" dirty="0">
                <a:solidFill>
                  <a:srgbClr val="9966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2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的时间重排。 </a:t>
            </a:r>
          </a:p>
        </p:txBody>
      </p:sp>
    </p:spTree>
    <p:extLst>
      <p:ext uri="{BB962C8B-B14F-4D97-AF65-F5344CB8AC3E}">
        <p14:creationId xmlns:p14="http://schemas.microsoft.com/office/powerpoint/2010/main" val="189809202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8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Garamond" pitchFamily="18" charset="0"/>
                <a:cs typeface="Times New Roman" panose="02020603050405020304" pitchFamily="18" charset="0"/>
              </a:rPr>
              <a:t>16</a:t>
            </a:fld>
            <a:endParaRPr lang="zh-CN" altLang="en-US" sz="1200" dirty="0">
              <a:latin typeface="Garamond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活动安排问题</a:t>
            </a:r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457200" y="1377529"/>
            <a:ext cx="8229600" cy="4895850"/>
          </a:xfrm>
          <a:ln/>
        </p:spPr>
        <p:txBody>
          <a:bodyPr vert="horz" wrap="square" lIns="91440" tIns="45720" rIns="91440" bIns="45720" anchor="t" anchorCtr="0"/>
          <a:lstStyle/>
          <a:p>
            <a:pPr algn="just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由于输入的活动以其完成时间的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非减序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排列，所以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算法</a:t>
            </a:r>
            <a:r>
              <a:rPr lang="en-US" altLang="zh-CN" sz="2400" b="1" dirty="0" err="1" smtClean="0">
                <a:latin typeface="Times New Roman" panose="02020603050405020304" pitchFamily="18" charset="0"/>
                <a:ea typeface="楷体_GB2312" pitchFamily="49" charset="-122"/>
              </a:rPr>
              <a:t>GreedySelector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每次总是选择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具有最早完成时间的相容活动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加入集合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中。直观上，按这种方法选择相容活动为未安排活动留下尽可能多的时间。也就是说，该算法的贪心选择的意义是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使剩余的可安排时间段极大化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，以便安排尽可能多的相容活动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en-US" altLang="zh-CN" sz="2400" b="1" dirty="0" smtClean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 algn="just"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贪心算法并不总能求得问题的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整体最优解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 algn="just"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但对于活动安排问题，</a:t>
            </a:r>
            <a:r>
              <a:rPr lang="zh-CN" altLang="en-US" sz="2400" b="1" u="sng" kern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按结束时间选择的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贪心算法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_GB2312" pitchFamily="49" charset="-122"/>
              </a:rPr>
              <a:t>GreedySelector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却总能求得的整体最优解，即它最终所确定的相容活动集合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的规模最大。这个结论可以证明。</a:t>
            </a:r>
            <a:endParaRPr lang="en-US" altLang="zh-CN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贪心算法的特点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420935" y="1289051"/>
            <a:ext cx="8748713" cy="5183187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贪心算法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适用于组合优化问题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求解过程是多步判断的过程，最终的判断序列对应问题的最优解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；依据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某种“短视的”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贪心选择性质判断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，性质的好坏决定算法的成败；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贪心算法必须进行正确性证明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；证明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贪心法不正确的技巧：举反例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贪心算法的优势：算法简单，时空复杂度低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fld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657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747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学习要点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981075"/>
            <a:ext cx="8229600" cy="5184775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理解贪心算法的概念。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掌握贪心算法的基本要素 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     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）最优子结构性质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      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）贪心选择性质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理解贪心算法与动态规划算法的差异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理解贪心算法的一般理论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通过应用范例学习贪心设计策略。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）活动安排问题；（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）最优装载问题；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）哈夫曼编码；（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）单源最短路径；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）最小生成树；（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6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）多机调度问题。</a:t>
            </a:r>
          </a:p>
        </p:txBody>
      </p:sp>
    </p:spTree>
    <p:extLst>
      <p:ext uri="{BB962C8B-B14F-4D97-AF65-F5344CB8AC3E}">
        <p14:creationId xmlns:p14="http://schemas.microsoft.com/office/powerpoint/2010/main" val="46542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Garamond" pitchFamily="18" charset="0"/>
                <a:cs typeface="Times New Roman" panose="02020603050405020304" pitchFamily="18" charset="0"/>
              </a:rPr>
              <a:t>19</a:t>
            </a:fld>
            <a:endParaRPr lang="zh-CN" altLang="en-US" sz="1200" dirty="0">
              <a:latin typeface="Garamond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贪心算法的基本要素</a:t>
            </a:r>
          </a:p>
        </p:txBody>
      </p:sp>
      <p:sp>
        <p:nvSpPr>
          <p:cNvPr id="317443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341438"/>
            <a:ext cx="8353425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36068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对于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一个具体的问题，怎么知道是否可用贪心算法解此问题，以及能否得到问题的最优解呢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?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这个问题很难给予肯定的回答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indent="360680">
              <a:lnSpc>
                <a:spcPct val="150000"/>
              </a:lnSpc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但是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，从许多可以用贪心算法求解的问题中看到这类问题一般具有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个重要的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性质：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327025" lvl="1" indent="360680">
              <a:lnSpc>
                <a:spcPct val="150000"/>
              </a:lnSpc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贪心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选择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性质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27025" lvl="1" indent="360680">
              <a:lnSpc>
                <a:spcPct val="150000"/>
              </a:lnSpc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最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优子结构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性质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08012" y="4057261"/>
            <a:ext cx="48965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_GB2312" pitchFamily="49" charset="-122"/>
              </a:rPr>
              <a:t>每一</a:t>
            </a:r>
            <a:r>
              <a:rPr lang="zh-CN" altLang="en-US" sz="2400" b="1" dirty="0" smtClean="0">
                <a:latin typeface="楷体_GB2312" pitchFamily="49" charset="-122"/>
              </a:rPr>
              <a:t>步</a:t>
            </a:r>
            <a:r>
              <a:rPr lang="zh-CN" altLang="en-US" sz="2400" b="1" dirty="0" smtClean="0">
                <a:solidFill>
                  <a:schemeClr val="accent1"/>
                </a:solidFill>
                <a:latin typeface="楷体_GB2312" pitchFamily="49" charset="-122"/>
              </a:rPr>
              <a:t>贪心</a:t>
            </a:r>
            <a:r>
              <a:rPr lang="zh-CN" altLang="en-US" sz="2400" b="1" u="sng" dirty="0" smtClean="0">
                <a:solidFill>
                  <a:schemeClr val="accent1"/>
                </a:solidFill>
                <a:latin typeface="楷体_GB2312" pitchFamily="49" charset="-122"/>
              </a:rPr>
              <a:t>选择</a:t>
            </a:r>
            <a:r>
              <a:rPr lang="zh-CN" altLang="en-US" sz="2400" b="1" u="sng" dirty="0">
                <a:solidFill>
                  <a:schemeClr val="accent1"/>
                </a:solidFill>
                <a:latin typeface="楷体_GB2312" pitchFamily="49" charset="-122"/>
              </a:rPr>
              <a:t>出来</a:t>
            </a:r>
            <a:r>
              <a:rPr lang="zh-CN" altLang="en-US" sz="2400" b="1" u="sng" dirty="0" smtClean="0">
                <a:solidFill>
                  <a:schemeClr val="accent1"/>
                </a:solidFill>
                <a:latin typeface="楷体_GB2312" pitchFamily="49" charset="-122"/>
              </a:rPr>
              <a:t>的</a:t>
            </a:r>
            <a:r>
              <a:rPr lang="zh-CN" altLang="en-US" sz="2400" b="1" dirty="0" smtClean="0">
                <a:solidFill>
                  <a:schemeClr val="accent1"/>
                </a:solidFill>
                <a:latin typeface="楷体_GB2312" pitchFamily="49" charset="-122"/>
              </a:rPr>
              <a:t>局部最优解</a:t>
            </a:r>
            <a:r>
              <a:rPr lang="zh-CN" altLang="en-US" sz="2400" b="1" dirty="0" smtClean="0">
                <a:latin typeface="楷体_GB2312" pitchFamily="49" charset="-122"/>
              </a:rPr>
              <a:t>是原问题整体最优解的一部分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3908012" y="5135528"/>
            <a:ext cx="51284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楷体_GB2312" pitchFamily="49" charset="-122"/>
              </a:rPr>
              <a:t>每一步</a:t>
            </a:r>
            <a:r>
              <a:rPr lang="zh-CN" altLang="en-US" sz="2400" b="1" dirty="0">
                <a:solidFill>
                  <a:schemeClr val="accent1"/>
                </a:solidFill>
                <a:latin typeface="楷体_GB2312" pitchFamily="49" charset="-122"/>
              </a:rPr>
              <a:t>贪心</a:t>
            </a:r>
            <a:r>
              <a:rPr lang="zh-CN" altLang="en-US" sz="2400" b="1" u="sng" dirty="0">
                <a:solidFill>
                  <a:schemeClr val="accent1"/>
                </a:solidFill>
                <a:latin typeface="楷体_GB2312" pitchFamily="49" charset="-122"/>
              </a:rPr>
              <a:t>选择</a:t>
            </a:r>
            <a:r>
              <a:rPr lang="zh-CN" altLang="en-US" sz="2400" b="1" u="sng" dirty="0" smtClean="0">
                <a:solidFill>
                  <a:schemeClr val="accent1"/>
                </a:solidFill>
                <a:latin typeface="楷体_GB2312" pitchFamily="49" charset="-122"/>
              </a:rPr>
              <a:t>留下</a:t>
            </a:r>
            <a:r>
              <a:rPr lang="zh-CN" altLang="en-US" sz="2400" b="1" u="sng" dirty="0">
                <a:solidFill>
                  <a:schemeClr val="accent1"/>
                </a:solidFill>
                <a:latin typeface="楷体_GB2312" pitchFamily="49" charset="-122"/>
              </a:rPr>
              <a:t>的</a:t>
            </a:r>
            <a:r>
              <a:rPr lang="zh-CN" altLang="en-US" sz="2400" b="1" dirty="0">
                <a:solidFill>
                  <a:schemeClr val="accent1"/>
                </a:solidFill>
                <a:latin typeface="楷体_GB2312" pitchFamily="49" charset="-122"/>
              </a:rPr>
              <a:t>子</a:t>
            </a:r>
            <a:r>
              <a:rPr lang="zh-CN" altLang="en-US" sz="2400" b="1" dirty="0" smtClean="0">
                <a:solidFill>
                  <a:schemeClr val="accent1"/>
                </a:solidFill>
                <a:latin typeface="楷体_GB2312" pitchFamily="49" charset="-122"/>
              </a:rPr>
              <a:t>问题最优解</a:t>
            </a:r>
            <a:r>
              <a:rPr lang="zh-CN" altLang="en-US" sz="2400" b="1" dirty="0" smtClean="0">
                <a:latin typeface="楷体_GB2312" pitchFamily="49" charset="-122"/>
              </a:rPr>
              <a:t>是原问题整体最优解的一部分</a:t>
            </a:r>
            <a:endParaRPr lang="zh-CN" altLang="en-US" sz="2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Garamond" pitchFamily="18" charset="0"/>
                <a:cs typeface="Times New Roman" panose="02020603050405020304" pitchFamily="18" charset="0"/>
              </a:rPr>
              <a:t>20</a:t>
            </a:fld>
            <a:endParaRPr lang="zh-CN" altLang="en-US" sz="1200" dirty="0">
              <a:latin typeface="Garamond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xfrm>
            <a:off x="395288" y="260350"/>
            <a:ext cx="7362825" cy="898525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贪心算法的基本要素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928688"/>
            <a:ext cx="7772400" cy="654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贪心选择性质</a:t>
            </a:r>
          </a:p>
        </p:txBody>
      </p:sp>
      <p:sp>
        <p:nvSpPr>
          <p:cNvPr id="25605" name="Text Box 5"/>
          <p:cNvSpPr txBox="1"/>
          <p:nvPr/>
        </p:nvSpPr>
        <p:spPr>
          <a:xfrm>
            <a:off x="315242" y="1401573"/>
            <a:ext cx="8814694" cy="4828373"/>
          </a:xfrm>
          <a:prstGeom prst="rect">
            <a:avLst/>
          </a:prstGeom>
          <a:noFill/>
          <a:ln w="635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 所谓</a:t>
            </a:r>
            <a:r>
              <a:rPr lang="zh-CN" altLang="en-US" sz="2400" dirty="0">
                <a:solidFill>
                  <a:schemeClr val="hlink"/>
                </a:solidFill>
                <a:latin typeface="+mn-ea"/>
              </a:rPr>
              <a:t>贪心选择性质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是指所求问题的</a:t>
            </a:r>
            <a:r>
              <a:rPr lang="zh-CN" altLang="en-US" sz="2400" dirty="0">
                <a:solidFill>
                  <a:schemeClr val="hlink"/>
                </a:solidFill>
                <a:latin typeface="+mn-ea"/>
              </a:rPr>
              <a:t>整体最优解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可以通过一系列</a:t>
            </a:r>
            <a:r>
              <a:rPr lang="zh-CN" altLang="en-US" sz="2400" dirty="0">
                <a:solidFill>
                  <a:schemeClr val="hlink"/>
                </a:solidFill>
                <a:latin typeface="+mn-ea"/>
              </a:rPr>
              <a:t>局部最优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的选择，即贪心选择来达到。这是贪心算法可行的第一个基本要素，也是贪心算法与动态规划算法的主要区别。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 动态规划算法通常以</a:t>
            </a:r>
            <a:r>
              <a:rPr lang="zh-CN" altLang="en-US" sz="2400" dirty="0">
                <a:solidFill>
                  <a:schemeClr val="hlink"/>
                </a:solidFill>
                <a:latin typeface="+mn-ea"/>
              </a:rPr>
              <a:t>自底向上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的方式解各子问题，而贪心算法则通常以</a:t>
            </a:r>
            <a:r>
              <a:rPr lang="zh-CN" altLang="en-US" sz="2400" dirty="0">
                <a:solidFill>
                  <a:schemeClr val="hlink"/>
                </a:solidFill>
                <a:latin typeface="+mn-ea"/>
              </a:rPr>
              <a:t>自顶向下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的方式进行，以迭代的方式作出相继的贪心选择，每作一次贪心选择就将所求问题简化为规模更小的子问题。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 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+mn-ea"/>
              </a:rPr>
              <a:t> 对于一个具体问题，要确定它是否具有贪心选择性质，</a:t>
            </a:r>
            <a:r>
              <a:rPr lang="zh-CN" altLang="en-US" sz="2400" u="sng" dirty="0">
                <a:solidFill>
                  <a:srgbClr val="000066"/>
                </a:solidFill>
                <a:latin typeface="+mn-ea"/>
              </a:rPr>
              <a:t>必须证明每一步所作的贪心选择最终导致问题的整体最优解</a:t>
            </a:r>
            <a:r>
              <a:rPr lang="zh-CN" altLang="en-US" sz="2400" dirty="0">
                <a:solidFill>
                  <a:srgbClr val="000066"/>
                </a:solidFill>
                <a:latin typeface="+mn-ea"/>
              </a:rPr>
              <a:t>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Garamond" pitchFamily="18" charset="0"/>
                <a:cs typeface="Times New Roman" panose="02020603050405020304" pitchFamily="18" charset="0"/>
              </a:rPr>
              <a:t>21</a:t>
            </a:fld>
            <a:endParaRPr lang="zh-CN" altLang="en-US" sz="1200" dirty="0">
              <a:latin typeface="Garamond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贪心算法的基本要素</a:t>
            </a:r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611188" y="2060575"/>
            <a:ext cx="7772400" cy="1738313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当一个问题的最优解包含其子问题的最优解时，称此问题具有</a:t>
            </a:r>
            <a:r>
              <a:rPr lang="zh-CN" altLang="en-US" sz="240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最优子结构性质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的最优子结构性质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是该问题可用动态规划算法或贪心算法求解的关键特征。 </a:t>
            </a:r>
          </a:p>
        </p:txBody>
      </p:sp>
      <p:sp>
        <p:nvSpPr>
          <p:cNvPr id="26629" name="Text Box 4"/>
          <p:cNvSpPr txBox="1"/>
          <p:nvPr/>
        </p:nvSpPr>
        <p:spPr>
          <a:xfrm>
            <a:off x="468313" y="1262063"/>
            <a:ext cx="7775575" cy="579437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最优子结构性质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22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xfrm>
            <a:off x="395288" y="260350"/>
            <a:ext cx="7358062" cy="817563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dirty="0">
                <a:latin typeface="+mn-ea"/>
                <a:ea typeface="+mn-ea"/>
              </a:rPr>
              <a:t>4.2 </a:t>
            </a:r>
            <a:r>
              <a:rPr lang="zh-CN" altLang="en-US" dirty="0">
                <a:latin typeface="+mn-ea"/>
                <a:ea typeface="+mn-ea"/>
              </a:rPr>
              <a:t>贪心算法的基本要素</a:t>
            </a:r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539750" y="1916113"/>
            <a:ext cx="8135938" cy="367347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+mn-ea"/>
              </a:rPr>
              <a:t>  </a:t>
            </a:r>
            <a:r>
              <a:rPr lang="zh-CN" altLang="en-US" sz="2400" dirty="0">
                <a:latin typeface="+mn-ea"/>
              </a:rPr>
              <a:t>贪心算法和动态规划算法都要求问题具有最优子结构性质，这是</a:t>
            </a:r>
            <a:r>
              <a:rPr lang="en-US" altLang="zh-CN" sz="24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类算法的一个共同点</a:t>
            </a:r>
            <a:r>
              <a:rPr lang="zh-CN" altLang="en-US" sz="2400" dirty="0" smtClean="0">
                <a:latin typeface="+mn-ea"/>
              </a:rPr>
              <a:t>。</a:t>
            </a:r>
            <a:endParaRPr lang="en-US" altLang="zh-CN" sz="2400" dirty="0" smtClean="0">
              <a:latin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+mn-ea"/>
              </a:rPr>
              <a:t> </a:t>
            </a:r>
            <a:r>
              <a:rPr lang="en-US" altLang="zh-CN" sz="2400" dirty="0" smtClean="0">
                <a:latin typeface="+mn-ea"/>
              </a:rPr>
              <a:t>  </a:t>
            </a:r>
            <a:r>
              <a:rPr lang="zh-CN" altLang="en-US" sz="2400" dirty="0" smtClean="0">
                <a:latin typeface="+mn-ea"/>
              </a:rPr>
              <a:t>但是</a:t>
            </a:r>
            <a:r>
              <a:rPr lang="zh-CN" altLang="en-US" sz="2400" dirty="0">
                <a:latin typeface="+mn-ea"/>
              </a:rPr>
              <a:t>，对于具有</a:t>
            </a:r>
            <a:r>
              <a:rPr lang="zh-CN" altLang="en-US" sz="2400" dirty="0">
                <a:solidFill>
                  <a:schemeClr val="hlink"/>
                </a:solidFill>
                <a:latin typeface="+mn-ea"/>
              </a:rPr>
              <a:t>最优子结构</a:t>
            </a:r>
            <a:r>
              <a:rPr lang="zh-CN" altLang="en-US" sz="2400" dirty="0">
                <a:latin typeface="+mn-ea"/>
              </a:rPr>
              <a:t>的问题应该选用贪心算法还是动态规划算法求解</a:t>
            </a:r>
            <a:r>
              <a:rPr lang="en-US" altLang="zh-CN" sz="2400" dirty="0">
                <a:latin typeface="+mn-ea"/>
              </a:rPr>
              <a:t>?</a:t>
            </a:r>
            <a:r>
              <a:rPr lang="zh-CN" altLang="en-US" sz="2400" dirty="0">
                <a:latin typeface="+mn-ea"/>
              </a:rPr>
              <a:t>是否能用动态规划算法求解的问题也能用贪心算法求解</a:t>
            </a:r>
            <a:r>
              <a:rPr lang="en-US" altLang="zh-CN" sz="2400" dirty="0">
                <a:latin typeface="+mn-ea"/>
              </a:rPr>
              <a:t>?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latin typeface="+mn-ea"/>
              </a:rPr>
              <a:t>先看</a:t>
            </a:r>
            <a:r>
              <a:rPr lang="en-US" altLang="zh-CN" sz="24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个经典的</a:t>
            </a:r>
            <a:r>
              <a:rPr lang="zh-CN" altLang="en-US" sz="2400" dirty="0">
                <a:solidFill>
                  <a:schemeClr val="hlink"/>
                </a:solidFill>
                <a:latin typeface="+mn-ea"/>
              </a:rPr>
              <a:t>组合优化问题</a:t>
            </a:r>
            <a:r>
              <a:rPr lang="zh-CN" altLang="en-US" sz="2400" dirty="0">
                <a:latin typeface="+mn-ea"/>
              </a:rPr>
              <a:t>，并以此说明贪心算法与动态规划算法的主要差别。</a:t>
            </a:r>
          </a:p>
        </p:txBody>
      </p:sp>
      <p:sp>
        <p:nvSpPr>
          <p:cNvPr id="27653" name="Text Box 4"/>
          <p:cNvSpPr txBox="1"/>
          <p:nvPr/>
        </p:nvSpPr>
        <p:spPr>
          <a:xfrm>
            <a:off x="539750" y="1268413"/>
            <a:ext cx="7632700" cy="584775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3200" dirty="0" smtClean="0">
                <a:solidFill>
                  <a:schemeClr val="folHlink"/>
                </a:solidFill>
                <a:latin typeface="+mn-ea"/>
              </a:rPr>
              <a:t>贪心</a:t>
            </a:r>
            <a:r>
              <a:rPr lang="zh-CN" altLang="en-US" sz="3200" dirty="0">
                <a:solidFill>
                  <a:schemeClr val="folHlink"/>
                </a:solidFill>
                <a:latin typeface="+mn-ea"/>
              </a:rPr>
              <a:t>算法与动态规划算法的差异</a:t>
            </a:r>
            <a:endParaRPr lang="en-US" altLang="zh-CN" sz="3200" dirty="0">
              <a:solidFill>
                <a:schemeClr val="folHlink"/>
              </a:solidFill>
              <a:latin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fld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7725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贪心算法的基本要素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557338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0-1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背包问题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给定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种物品和一个背包。物品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的重量是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，其价值为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，背包的容量为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。应如何选择装入背包的物品，使得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装入背包中物品的总价值最大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1540" name="Rectangle 4"/>
          <p:cNvSpPr/>
          <p:nvPr/>
        </p:nvSpPr>
        <p:spPr>
          <a:xfrm>
            <a:off x="857250" y="4000500"/>
            <a:ext cx="7343775" cy="1422400"/>
          </a:xfrm>
          <a:prstGeom prst="rect">
            <a:avLst/>
          </a:prstGeom>
          <a:solidFill>
            <a:schemeClr val="bg1"/>
          </a:solidFill>
          <a:ln w="508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在选择装入背包的物品时，对每种物品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种选择，即装入背包或不装入背包。不能将物品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装入背包多次，也不能只装入部分的物品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0242" name="Picture 2" descr="https://img2.baidu.com/it/u=620465961,3587505598&amp;fm=253&amp;fmt=auto&amp;app=138&amp;f=JPEG?w=500&amp;h=4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70375"/>
            <a:ext cx="1983083" cy="171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fld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贪心算法的基本要素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12875"/>
            <a:ext cx="7920038" cy="2016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背包问题：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lvl="0" indent="0">
              <a:lnSpc>
                <a:spcPct val="130000"/>
              </a:lnSpc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0-1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背包问题类似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，背包容量为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，有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物品，分别的重量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，价值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1≤i≤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30000"/>
              </a:lnSpc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的是在选择物品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装入背包时，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可以选择物品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的一部分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，而不一定要全部装入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背包。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701" name="Text Box 4"/>
          <p:cNvSpPr txBox="1"/>
          <p:nvPr/>
        </p:nvSpPr>
        <p:spPr>
          <a:xfrm>
            <a:off x="483108" y="4537681"/>
            <a:ext cx="7705725" cy="1533525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类问题都具有</a:t>
            </a:r>
            <a:r>
              <a:rPr lang="zh-CN" altLang="en-US" sz="2400" b="1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最优子结构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性质，极为相似，但背包问题可以用贪心算法求解，而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0-1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背包问题却不能用贪心算法求解。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2339752" y="6179850"/>
            <a:ext cx="51283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kern="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背包问题的贪心</a:t>
            </a:r>
            <a:r>
              <a:rPr lang="zh-CN" altLang="en-US" sz="3200" b="1" kern="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选择</a:t>
            </a:r>
            <a:r>
              <a:rPr lang="zh-CN" altLang="en-US" sz="3200" b="1" kern="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策略？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458966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25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4.2 </a:t>
            </a:r>
            <a:r>
              <a:rPr lang="zh-CN" altLang="en-US" dirty="0">
                <a:latin typeface="+mn-ea"/>
                <a:ea typeface="+mn-ea"/>
              </a:rPr>
              <a:t>贪心算法的基本要素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2133600"/>
            <a:ext cx="8569325" cy="37433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计算每种物品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  <a:cs typeface="Times New Roman" panose="02020603050405020304" pitchFamily="18" charset="0"/>
              </a:rPr>
              <a:t>单位重量的价值</a:t>
            </a:r>
            <a:r>
              <a:rPr lang="en-US" altLang="zh-CN" sz="2400" b="1" dirty="0">
                <a:solidFill>
                  <a:schemeClr val="hlink"/>
                </a:solidFill>
                <a:latin typeface="+mn-ea"/>
                <a:cs typeface="Times New Roman" panose="02020603050405020304" pitchFamily="18" charset="0"/>
              </a:rPr>
              <a:t>Vi/</a:t>
            </a:r>
            <a:r>
              <a:rPr lang="en-US" altLang="zh-CN" sz="2400" b="1" dirty="0" err="1">
                <a:solidFill>
                  <a:schemeClr val="hlink"/>
                </a:solidFill>
                <a:latin typeface="+mn-ea"/>
                <a:cs typeface="Times New Roman" panose="02020603050405020304" pitchFamily="18" charset="0"/>
              </a:rPr>
              <a:t>Wi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，并按非增次序进行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  <a:cs typeface="Times New Roman" panose="02020603050405020304" pitchFamily="18" charset="0"/>
              </a:rPr>
              <a:t>排序</a:t>
            </a:r>
            <a:endParaRPr lang="en-US" altLang="zh-CN" sz="2400" b="1" dirty="0">
              <a:solidFill>
                <a:schemeClr val="hlink"/>
              </a:solidFill>
              <a:latin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依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贪心选择策略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，将尽可能多的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单位重量价值最高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的物品装入背包。若将这种物品全部装入背包后，背包内的物品总重量未超过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M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，则选择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  <a:cs typeface="Times New Roman" panose="02020603050405020304" pitchFamily="18" charset="0"/>
              </a:rPr>
              <a:t>单位重量价值次高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的物品并尽可能多地装入背包。依此策略一直地进行下去，直到背包装满为止。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0725" name="Text Box 4"/>
          <p:cNvSpPr txBox="1"/>
          <p:nvPr/>
        </p:nvSpPr>
        <p:spPr>
          <a:xfrm>
            <a:off x="468313" y="1312863"/>
            <a:ext cx="7921625" cy="584200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zh-CN" altLang="en-US" sz="3200" dirty="0" smtClean="0">
                <a:solidFill>
                  <a:schemeClr val="folHlink"/>
                </a:solidFill>
                <a:latin typeface="+mn-ea"/>
              </a:rPr>
              <a:t>贪心</a:t>
            </a:r>
            <a:r>
              <a:rPr lang="zh-CN" altLang="en-US" sz="3200" dirty="0">
                <a:solidFill>
                  <a:schemeClr val="folHlink"/>
                </a:solidFill>
                <a:latin typeface="+mn-ea"/>
              </a:rPr>
              <a:t>算法解背包问题的基本步骤：</a:t>
            </a:r>
          </a:p>
        </p:txBody>
      </p:sp>
    </p:spTree>
    <p:extLst>
      <p:ext uri="{BB962C8B-B14F-4D97-AF65-F5344CB8AC3E}">
        <p14:creationId xmlns:p14="http://schemas.microsoft.com/office/powerpoint/2010/main" val="392454178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26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xfrm>
            <a:off x="468313" y="333375"/>
            <a:ext cx="7772400" cy="935038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4.2 </a:t>
            </a:r>
            <a:r>
              <a:rPr lang="zh-CN" altLang="en-US" dirty="0">
                <a:latin typeface="+mn-ea"/>
                <a:ea typeface="+mn-ea"/>
              </a:rPr>
              <a:t>贪心算法的基本要素</a:t>
            </a:r>
          </a:p>
        </p:txBody>
      </p:sp>
      <p:sp>
        <p:nvSpPr>
          <p:cNvPr id="31748" name="矩形 1"/>
          <p:cNvSpPr/>
          <p:nvPr/>
        </p:nvSpPr>
        <p:spPr>
          <a:xfrm>
            <a:off x="4175125" y="2362969"/>
            <a:ext cx="4968875" cy="2825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</a:pPr>
            <a:r>
              <a:rPr lang="zh-CN" altLang="en-US" sz="2400" b="1" dirty="0" smtClean="0">
                <a:solidFill>
                  <a:schemeClr val="accent2"/>
                </a:solidFill>
                <a:latin typeface="+mn-ea"/>
              </a:rPr>
              <a:t>算法</a:t>
            </a:r>
            <a:r>
              <a:rPr lang="en-US" altLang="zh-CN" sz="2400" b="1" dirty="0" smtClean="0">
                <a:solidFill>
                  <a:schemeClr val="accent2"/>
                </a:solidFill>
                <a:latin typeface="+mn-ea"/>
              </a:rPr>
              <a:t>Knapsack</a:t>
            </a:r>
            <a:r>
              <a:rPr lang="zh-CN" altLang="en-US" sz="2400" b="1" dirty="0">
                <a:solidFill>
                  <a:schemeClr val="accent2"/>
                </a:solidFill>
                <a:latin typeface="+mn-ea"/>
              </a:rPr>
              <a:t>的主要计算时间在于将各种物品依其单位重量的价值从大到小排序。因此，算法的计算时间上界为</a:t>
            </a:r>
            <a:r>
              <a:rPr lang="en-US" altLang="zh-CN" sz="2400" b="1" dirty="0">
                <a:solidFill>
                  <a:schemeClr val="accent2"/>
                </a:solidFill>
                <a:latin typeface="+mn-ea"/>
              </a:rPr>
              <a:t>O(nlogn)</a:t>
            </a:r>
            <a:r>
              <a:rPr lang="zh-CN" altLang="en-US" sz="2400" b="1" dirty="0">
                <a:solidFill>
                  <a:schemeClr val="accent2"/>
                </a:solidFill>
                <a:latin typeface="+mn-ea"/>
              </a:rPr>
              <a:t>。</a:t>
            </a:r>
          </a:p>
          <a:p>
            <a:pPr marL="0" lvl="0" indent="0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+mn-ea"/>
              </a:rPr>
              <a:t>为了证明算法的正确性，还必须证明背包问题具有贪心选择性质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323850" y="1700213"/>
            <a:ext cx="7105650" cy="44624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void 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Knapsack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n, float 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C,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float v[], float w[], float x[]){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   Sort(</a:t>
            </a:r>
            <a:r>
              <a:rPr kumimoji="1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n,v,w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   </a:t>
            </a:r>
            <a:r>
              <a:rPr kumimoji="1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i;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   for (i=1;i&lt;=</a:t>
            </a:r>
            <a:r>
              <a:rPr kumimoji="1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n;i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++) x[i]=0;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   float 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c=C;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   for (i=1;i&lt;=</a:t>
            </a:r>
            <a:r>
              <a:rPr kumimoji="1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n;i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++)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      if (w[i]&gt;c) break;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     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x[i]=1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      c-=w[i];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   if (i&lt;=n)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x[i]=c/w[</a:t>
            </a:r>
            <a:r>
              <a:rPr kumimoji="1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; </a:t>
            </a:r>
            <a:r>
              <a:rPr kumimoji="1" lang="en-US" altLang="zh-CN" sz="2000" kern="0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//</a:t>
            </a:r>
            <a:r>
              <a:rPr kumimoji="1" lang="zh-CN" altLang="en-US" sz="2000" kern="0" dirty="0" smtClean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最后一项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1750" name="矩形 1"/>
          <p:cNvSpPr/>
          <p:nvPr/>
        </p:nvSpPr>
        <p:spPr>
          <a:xfrm>
            <a:off x="179388" y="1268413"/>
            <a:ext cx="26987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800" b="1" dirty="0">
                <a:latin typeface="+mn-ea"/>
                <a:ea typeface="+mn-ea"/>
              </a:rPr>
              <a:t>具体算法描述：</a:t>
            </a:r>
            <a:endParaRPr lang="zh-CN" altLang="en-US" sz="2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47826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+mn-ea"/>
                <a:ea typeface="+mn-ea"/>
              </a:rPr>
              <a:t>贪心选择对</a:t>
            </a:r>
            <a:r>
              <a:rPr lang="en-US" altLang="zh-CN" dirty="0">
                <a:latin typeface="+mn-ea"/>
                <a:ea typeface="+mn-ea"/>
              </a:rPr>
              <a:t>0-1 </a:t>
            </a:r>
            <a:r>
              <a:rPr lang="zh-CN" altLang="en-US" dirty="0">
                <a:latin typeface="+mn-ea"/>
                <a:ea typeface="+mn-ea"/>
              </a:rPr>
              <a:t>背包不适用</a:t>
            </a:r>
          </a:p>
        </p:txBody>
      </p:sp>
      <p:sp>
        <p:nvSpPr>
          <p:cNvPr id="32771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552226" y="6309320"/>
            <a:ext cx="2133600" cy="457200"/>
          </a:xfrm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+mn-ea"/>
                <a:ea typeface="+mn-ea"/>
                <a:cs typeface="Times New Roman" panose="02020603050405020304" pitchFamily="18" charset="0"/>
              </a:rPr>
              <a:t>27</a:t>
            </a:fld>
            <a:endParaRPr lang="en-US" altLang="zh-CN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2772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597245"/>
            <a:ext cx="8243888" cy="3297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3851920" y="4963234"/>
            <a:ext cx="245612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n-ea"/>
                <a:ea typeface="+mn-ea"/>
              </a:rPr>
              <a:t>0-1 </a:t>
            </a:r>
            <a:r>
              <a:rPr lang="zh-CN" altLang="en-US" dirty="0" smtClean="0">
                <a:latin typeface="+mn-ea"/>
                <a:ea typeface="+mn-ea"/>
              </a:rPr>
              <a:t>背包问题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04248" y="4963234"/>
            <a:ext cx="193835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n-ea"/>
                <a:ea typeface="+mn-ea"/>
              </a:rPr>
              <a:t>  </a:t>
            </a:r>
            <a:r>
              <a:rPr lang="zh-CN" altLang="en-US" dirty="0" smtClean="0">
                <a:latin typeface="+mn-ea"/>
                <a:ea typeface="+mn-ea"/>
              </a:rPr>
              <a:t>背包问题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3568" y="4963234"/>
            <a:ext cx="172354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已知条件</a:t>
            </a:r>
            <a:endParaRPr lang="zh-CN" altLang="en-US" dirty="0">
              <a:latin typeface="+mn-ea"/>
              <a:ea typeface="+mn-ea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3275856" y="1124744"/>
            <a:ext cx="9325" cy="4896544"/>
          </a:xfrm>
          <a:prstGeom prst="line">
            <a:avLst/>
          </a:prstGeom>
          <a:ln>
            <a:prstDash val="lgDash"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 bwMode="auto">
          <a:xfrm>
            <a:off x="6948264" y="1124744"/>
            <a:ext cx="9325" cy="4896544"/>
          </a:xfrm>
          <a:prstGeom prst="line">
            <a:avLst/>
          </a:prstGeom>
          <a:ln>
            <a:prstDash val="lgDash"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424534" y="6243300"/>
            <a:ext cx="32403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+mn-ea"/>
                <a:ea typeface="+mn-ea"/>
              </a:rPr>
              <a:t>无法保证最终能将背包</a:t>
            </a:r>
            <a:r>
              <a:rPr lang="zh-CN" altLang="en-US" sz="1400" b="1" dirty="0" smtClean="0">
                <a:latin typeface="+mn-ea"/>
                <a:ea typeface="+mn-ea"/>
              </a:rPr>
              <a:t>装满，</a:t>
            </a:r>
            <a:r>
              <a:rPr lang="zh-CN" altLang="en-US" sz="1400" b="1" dirty="0" smtClean="0">
                <a:solidFill>
                  <a:schemeClr val="accent1"/>
                </a:solidFill>
                <a:latin typeface="+mn-ea"/>
                <a:ea typeface="+mn-ea"/>
              </a:rPr>
              <a:t>互相</a:t>
            </a:r>
            <a:r>
              <a:rPr lang="zh-CN" altLang="en-US" sz="1400" b="1" dirty="0">
                <a:solidFill>
                  <a:schemeClr val="accent1"/>
                </a:solidFill>
                <a:latin typeface="+mn-ea"/>
                <a:ea typeface="+mn-ea"/>
              </a:rPr>
              <a:t>重叠的子</a:t>
            </a:r>
            <a:r>
              <a:rPr lang="zh-CN" altLang="en-US" sz="1400" b="1" dirty="0" smtClean="0">
                <a:solidFill>
                  <a:schemeClr val="accent1"/>
                </a:solidFill>
                <a:latin typeface="+mn-ea"/>
                <a:ea typeface="+mn-ea"/>
              </a:rPr>
              <a:t>问题，</a:t>
            </a:r>
            <a:r>
              <a:rPr lang="zh-CN" altLang="en-US" sz="1400" b="1" dirty="0">
                <a:latin typeface="+mn-ea"/>
                <a:ea typeface="+mn-ea"/>
              </a:rPr>
              <a:t>适合用动态规划算法</a:t>
            </a:r>
          </a:p>
        </p:txBody>
      </p:sp>
    </p:spTree>
    <p:extLst>
      <p:ext uri="{BB962C8B-B14F-4D97-AF65-F5344CB8AC3E}">
        <p14:creationId xmlns:p14="http://schemas.microsoft.com/office/powerpoint/2010/main" val="2260695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fld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贪心算法</a:t>
            </a:r>
            <a:r>
              <a:rPr lang="zh-CN" altLang="en-US" sz="4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动态规划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796" name="Rectangle 3"/>
          <p:cNvSpPr>
            <a:spLocks noGrp="1"/>
          </p:cNvSpPr>
          <p:nvPr>
            <p:ph idx="1"/>
          </p:nvPr>
        </p:nvSpPr>
        <p:spPr>
          <a:xfrm>
            <a:off x="395288" y="1484313"/>
            <a:ext cx="8497887" cy="4179887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对于</a:t>
            </a:r>
            <a:r>
              <a:rPr lang="en-US" altLang="zh-CN" sz="2400" b="1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0-1</a:t>
            </a:r>
            <a:r>
              <a:rPr lang="zh-CN" altLang="en-US" sz="2400" b="1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背包问题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，贪心选择之所以不能得到最优解是因为在这种情况下，它无法保证最终能将背包装满，部分闲置的背包空间使单位重量背包空间的价值降低了。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事实上，在考虑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背包问题时，应比较选择该物品和不选择该物品所导致的最终方案，然后再作出最好选择。由此就导出许多</a:t>
            </a: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互相重叠的子问题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。这正是该问题可用</a:t>
            </a:r>
            <a:r>
              <a:rPr lang="zh-CN" altLang="en-US" sz="2400" b="1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动态规划算法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求解的另一重要特征。</a:t>
            </a:r>
          </a:p>
          <a:p>
            <a:pPr marL="0" indent="0"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实际上也是如此，动态规划算法的确可以有效地解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背包问题。 </a:t>
            </a:r>
          </a:p>
        </p:txBody>
      </p:sp>
    </p:spTree>
    <p:extLst>
      <p:ext uri="{BB962C8B-B14F-4D97-AF65-F5344CB8AC3E}">
        <p14:creationId xmlns:p14="http://schemas.microsoft.com/office/powerpoint/2010/main" val="56381613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zh-CN" altLang="en-US" sz="4000" b="1" dirty="0">
                <a:latin typeface="+mn-ea"/>
                <a:ea typeface="+mn-ea"/>
              </a:rPr>
              <a:t>贪心算法</a:t>
            </a:r>
            <a:r>
              <a:rPr lang="zh-CN" altLang="en-US" sz="4400" b="1" dirty="0">
                <a:latin typeface="+mn-ea"/>
                <a:ea typeface="+mn-ea"/>
              </a:rPr>
              <a:t>和动态规划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4824413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sz="2400" b="1" dirty="0">
                <a:latin typeface="+mn-ea"/>
              </a:rPr>
              <a:t>动态规划和贪心算法都是一种递推算法，均有最优子结构性质，通过局部最优解来推导全局最优解。</a:t>
            </a:r>
            <a:endParaRPr lang="en-US" altLang="zh-CN" sz="2400" b="1" dirty="0">
              <a:latin typeface="+mn-ea"/>
            </a:endParaRPr>
          </a:p>
          <a:p>
            <a:endParaRPr lang="en-US" altLang="zh-CN" sz="24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两者之间的区别在于：</a:t>
            </a:r>
            <a:endParaRPr lang="en-US" altLang="zh-CN" sz="24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2400" b="1" dirty="0">
                <a:latin typeface="+mn-ea"/>
              </a:rPr>
              <a:t>贪心算法中作出的每步贪心决策都无法改变，因为贪心策略是由上一步的最优解推导下一步的最优解，而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上一步之前的最优解则不作</a:t>
            </a:r>
            <a:r>
              <a:rPr lang="zh-CN" altLang="en-US" sz="2400" b="1" dirty="0" smtClean="0">
                <a:solidFill>
                  <a:schemeClr val="accent5">
                    <a:lumMod val="75000"/>
                  </a:schemeClr>
                </a:solidFill>
                <a:latin typeface="+mn-ea"/>
              </a:rPr>
              <a:t>保留</a:t>
            </a:r>
            <a:r>
              <a:rPr lang="zh-CN" altLang="en-US" sz="2400" b="1" dirty="0" smtClean="0">
                <a:latin typeface="+mn-ea"/>
              </a:rPr>
              <a:t>。</a:t>
            </a:r>
            <a:r>
              <a:rPr lang="zh-CN" altLang="en-US" sz="2400" b="1" u="sng" dirty="0" smtClean="0">
                <a:latin typeface="+mn-ea"/>
              </a:rPr>
              <a:t>贪心</a:t>
            </a:r>
            <a:r>
              <a:rPr lang="zh-CN" altLang="en-US" sz="2400" b="1" u="sng" dirty="0">
                <a:latin typeface="+mn-ea"/>
              </a:rPr>
              <a:t>算法每一步的最优解一定包含上一步的最优解</a:t>
            </a:r>
            <a:r>
              <a:rPr lang="zh-CN" altLang="en-US" sz="2400" b="1" dirty="0">
                <a:latin typeface="+mn-ea"/>
              </a:rPr>
              <a:t>。</a:t>
            </a:r>
            <a:endParaRPr lang="en-US" altLang="zh-CN" sz="2400" b="1" dirty="0">
              <a:latin typeface="+mn-ea"/>
            </a:endParaRPr>
          </a:p>
          <a:p>
            <a:r>
              <a:rPr lang="zh-CN" altLang="en-US" sz="2400" b="1" dirty="0">
                <a:latin typeface="+mn-ea"/>
              </a:rPr>
              <a:t>动态规划算法中全局最优解中一定包含某个局部最优解，但不一定包含前一个局部最优解，因此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需要记录之前的所有最优解</a:t>
            </a:r>
            <a:r>
              <a:rPr lang="zh-CN" altLang="en-US" sz="2400" b="1" dirty="0">
                <a:latin typeface="+mn-ea"/>
              </a:rPr>
              <a:t>。</a:t>
            </a:r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+mn-ea"/>
                <a:ea typeface="+mn-ea"/>
                <a:cs typeface="Times New Roman" panose="02020603050405020304" pitchFamily="18" charset="0"/>
              </a:rPr>
              <a:t>29</a:t>
            </a:fld>
            <a:endParaRPr lang="en-US" altLang="zh-CN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99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747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学习要点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981075"/>
            <a:ext cx="8229600" cy="5184775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通过应用范例学习贪心设计策略。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）活动安排问题；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最优装载问题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哈夫曼编码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）单源最短路径；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）最小生成树；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6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）多机调度问题。</a:t>
            </a:r>
          </a:p>
        </p:txBody>
      </p:sp>
    </p:spTree>
    <p:extLst>
      <p:ext uri="{BB962C8B-B14F-4D97-AF65-F5344CB8AC3E}">
        <p14:creationId xmlns:p14="http://schemas.microsoft.com/office/powerpoint/2010/main" val="130849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31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4.3 </a:t>
            </a:r>
            <a:r>
              <a:rPr lang="zh-CN" altLang="en-US" dirty="0">
                <a:latin typeface="+mn-ea"/>
                <a:ea typeface="+mn-ea"/>
              </a:rPr>
              <a:t>最优装载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lvl="0" indent="0">
              <a:lnSpc>
                <a:spcPct val="120000"/>
              </a:lnSpc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一批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集装箱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个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装上一艘载重量为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的轮船。其中集装箱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的重量为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W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。最优装载问题要求确定在装载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体积不受</a:t>
            </a:r>
            <a:r>
              <a:rPr kumimoji="0" lang="zh-CN" alt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限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情况下，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将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尽可能多的集装箱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数量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装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上轮船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 </a:t>
            </a:r>
            <a:r>
              <a:rPr lang="zh-CN" altLang="en-US" sz="2400" b="1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最优装载和</a:t>
            </a:r>
            <a:r>
              <a:rPr lang="en-US" altLang="zh-CN" sz="2400" b="1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0-1</a:t>
            </a:r>
            <a:r>
              <a:rPr lang="zh-CN" altLang="en-US" sz="2400" b="1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背包问题相似。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 算法描述（贪心选择策略？）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最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优装载问题可用贪心算法求解。采用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重量最轻者先装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的贪心选择策略，可产生最优装载问题的最优解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7911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Garamond" pitchFamily="18" charset="0"/>
                <a:cs typeface="Times New Roman" panose="02020603050405020304" pitchFamily="18" charset="0"/>
              </a:rPr>
              <a:t>32</a:t>
            </a:fld>
            <a:endParaRPr lang="zh-CN" altLang="en-US" sz="1200" dirty="0">
              <a:latin typeface="Garamond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7725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4.3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最优装载</a:t>
            </a:r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>
          <a:xfrm>
            <a:off x="468313" y="1628775"/>
            <a:ext cx="6335712" cy="4824413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template&lt;class Type&gt;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x[],  Type w[], Type c, int n){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*t = new int [n+1];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Sort(w, t, n);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 i = 1; i &lt;= n; i++)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x[i] = 0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 i = 1; i &lt;= n &amp;&amp;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w[t[i]] &lt;= c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i++)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x[t[i]] = 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c -= w[t[i]];}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}</a:t>
            </a:r>
            <a:endParaRPr lang="en-US" altLang="zh-CN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6869" name="矩形 1"/>
          <p:cNvSpPr/>
          <p:nvPr/>
        </p:nvSpPr>
        <p:spPr>
          <a:xfrm>
            <a:off x="395288" y="1125538"/>
            <a:ext cx="2798762" cy="558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具体算法描述： </a:t>
            </a:r>
            <a:endParaRPr lang="zh-CN" altLang="en-US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94050" y="3212976"/>
            <a:ext cx="5314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rgbClr val="999999"/>
                </a:solidFill>
                <a:latin typeface="-apple-system"/>
              </a:rPr>
              <a:t>//</a:t>
            </a:r>
            <a:r>
              <a:rPr lang="zh-CN" altLang="en-US" sz="2000" dirty="0" smtClean="0">
                <a:solidFill>
                  <a:srgbClr val="999999"/>
                </a:solidFill>
                <a:latin typeface="-apple-system"/>
              </a:rPr>
              <a:t>按照</a:t>
            </a:r>
            <a:r>
              <a:rPr lang="zh-CN" altLang="en-US" sz="2000" dirty="0">
                <a:solidFill>
                  <a:srgbClr val="999999"/>
                </a:solidFill>
                <a:latin typeface="-apple-system"/>
              </a:rPr>
              <a:t>重量从小到大</a:t>
            </a:r>
            <a:r>
              <a:rPr lang="zh-CN" altLang="en-US" sz="2000" dirty="0" smtClean="0">
                <a:solidFill>
                  <a:srgbClr val="999999"/>
                </a:solidFill>
                <a:latin typeface="-apple-system"/>
              </a:rPr>
              <a:t>排序</a:t>
            </a:r>
            <a:r>
              <a:rPr lang="en-US" altLang="zh-CN" sz="2000" dirty="0" smtClean="0">
                <a:solidFill>
                  <a:srgbClr val="999999"/>
                </a:solidFill>
                <a:latin typeface="-apple-system"/>
              </a:rPr>
              <a:t>,t</a:t>
            </a:r>
            <a:r>
              <a:rPr lang="zh-CN" altLang="en-US" sz="2000" dirty="0" smtClean="0">
                <a:solidFill>
                  <a:srgbClr val="999999"/>
                </a:solidFill>
                <a:latin typeface="-apple-system"/>
              </a:rPr>
              <a:t>存储排序后的索引</a:t>
            </a:r>
            <a:endParaRPr lang="zh-CN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3419872" y="4754411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rgbClr val="999999"/>
                </a:solidFill>
                <a:latin typeface="-apple-system"/>
              </a:rPr>
              <a:t>//</a:t>
            </a:r>
            <a:r>
              <a:rPr lang="zh-CN" altLang="en-US" sz="2000" dirty="0" smtClean="0">
                <a:solidFill>
                  <a:srgbClr val="999999"/>
                </a:solidFill>
                <a:latin typeface="-apple-system"/>
              </a:rPr>
              <a:t>依次装入最轻的集装箱</a:t>
            </a:r>
            <a:endParaRPr lang="zh-CN" altLang="en-US" sz="2000" dirty="0">
              <a:solidFill>
                <a:srgbClr val="999999"/>
              </a:solidFill>
              <a:latin typeface="-apple-system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73210" y="5154521"/>
            <a:ext cx="2699792" cy="830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zh-CN" altLang="en-US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排序是主要</a:t>
            </a:r>
            <a:r>
              <a:rPr lang="zh-CN" altLang="en-US" sz="20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r>
              <a:rPr lang="zh-CN" altLang="en-US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量</a:t>
            </a:r>
            <a:r>
              <a:rPr lang="en-US" altLang="zh-CN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b="1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时间复杂度为 </a:t>
            </a:r>
            <a:r>
              <a:rPr lang="en-US" altLang="zh-CN" sz="2000" b="1" kern="0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CN" sz="2000" b="1" kern="0" dirty="0" err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en-US" altLang="zh-CN" sz="2000" b="1" kern="0" dirty="0" smtClean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000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75689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33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4.3 </a:t>
            </a:r>
            <a:r>
              <a:rPr lang="zh-CN" altLang="en-US" dirty="0">
                <a:latin typeface="+mn-ea"/>
                <a:ea typeface="+mn-ea"/>
              </a:rPr>
              <a:t>最优装载</a:t>
            </a:r>
          </a:p>
        </p:txBody>
      </p:sp>
      <p:sp>
        <p:nvSpPr>
          <p:cNvPr id="32870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268413"/>
            <a:ext cx="8501063" cy="4876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贪心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选择性质</a:t>
            </a:r>
          </a:p>
          <a:p>
            <a:pPr lvl="0">
              <a:lnSpc>
                <a:spcPct val="120000"/>
              </a:lnSpc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  	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可以</a:t>
            </a:r>
            <a:r>
              <a:rPr lang="zh-CN" altLang="en-US" sz="2400" dirty="0">
                <a:latin typeface="+mn-ea"/>
              </a:rPr>
              <a:t>反证法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证明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最优装载问题具有贪心选择性质。 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最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优子结构性质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  最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优装载问题具有最优子结构性质。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设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(x</a:t>
            </a:r>
            <a:r>
              <a:rPr kumimoji="0" lang="en-US" altLang="zh-CN" sz="24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,x</a:t>
            </a:r>
            <a:r>
              <a:rPr kumimoji="0" lang="en-US" altLang="zh-CN" sz="24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,……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0" u="none" strike="noStrike" kern="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是最优装载问题的满足贪心选择性质的最优解，则易知，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=1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(x</a:t>
            </a:r>
            <a:r>
              <a:rPr kumimoji="0" lang="en-US" altLang="zh-CN" sz="24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,x</a:t>
            </a:r>
            <a:r>
              <a:rPr kumimoji="0" lang="en-US" altLang="zh-CN" sz="24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3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,……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0" u="none" strike="noStrike" kern="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是子问题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轮船载重量为</a:t>
            </a: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c-w</a:t>
            </a:r>
            <a:r>
              <a:rPr kumimoji="0" lang="en-US" altLang="zh-CN" sz="2400" b="0" i="1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，待装船集装箱为</a:t>
            </a: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{2,3</a:t>
            </a:r>
            <a:r>
              <a:rPr kumimoji="0" lang="zh-CN" alt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……n}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相应最优装载问题的最优解。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5616" y="2276872"/>
            <a:ext cx="72362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latin typeface="+mn-ea"/>
                <a:ea typeface="+mn-ea"/>
              </a:rPr>
              <a:t>假设任意最优解</a:t>
            </a:r>
            <a:r>
              <a:rPr lang="zh-CN" altLang="en-US" sz="2000" dirty="0">
                <a:latin typeface="+mn-ea"/>
                <a:ea typeface="+mn-ea"/>
              </a:rPr>
              <a:t>中不包含重量最小的集装箱</a:t>
            </a: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zh-CN" altLang="en-US" sz="2000" dirty="0" smtClean="0">
                <a:latin typeface="+mn-ea"/>
                <a:ea typeface="+mn-ea"/>
              </a:rPr>
              <a:t>，最优解</a:t>
            </a:r>
            <a:r>
              <a:rPr lang="zh-CN" altLang="en-US" sz="2000" dirty="0">
                <a:latin typeface="+mn-ea"/>
                <a:ea typeface="+mn-ea"/>
              </a:rPr>
              <a:t>中包含第</a:t>
            </a:r>
            <a:r>
              <a:rPr lang="en-US" altLang="zh-CN" sz="2000" dirty="0" err="1">
                <a:latin typeface="+mn-ea"/>
                <a:ea typeface="+mn-ea"/>
              </a:rPr>
              <a:t>i</a:t>
            </a:r>
            <a:r>
              <a:rPr lang="zh-CN" altLang="en-US" sz="2000" dirty="0">
                <a:latin typeface="+mn-ea"/>
                <a:ea typeface="+mn-ea"/>
              </a:rPr>
              <a:t>个集装箱，</a:t>
            </a:r>
            <a:r>
              <a:rPr lang="en-US" altLang="zh-CN" sz="2000" dirty="0" err="1">
                <a:latin typeface="+mn-ea"/>
                <a:ea typeface="+mn-ea"/>
              </a:rPr>
              <a:t>wi</a:t>
            </a:r>
            <a:r>
              <a:rPr lang="en-US" altLang="zh-CN" sz="2000" dirty="0">
                <a:latin typeface="+mn-ea"/>
                <a:ea typeface="+mn-ea"/>
              </a:rPr>
              <a:t>&gt;=w1</a:t>
            </a:r>
            <a:r>
              <a:rPr lang="zh-CN" altLang="en-US" sz="2000" dirty="0">
                <a:latin typeface="+mn-ea"/>
                <a:ea typeface="+mn-ea"/>
              </a:rPr>
              <a:t>，用</a:t>
            </a:r>
            <a:r>
              <a:rPr lang="en-US" altLang="zh-CN" sz="2000" dirty="0">
                <a:latin typeface="+mn-ea"/>
                <a:ea typeface="+mn-ea"/>
              </a:rPr>
              <a:t>1</a:t>
            </a:r>
            <a:r>
              <a:rPr lang="zh-CN" altLang="en-US" sz="2000" dirty="0">
                <a:latin typeface="+mn-ea"/>
                <a:ea typeface="+mn-ea"/>
              </a:rPr>
              <a:t>替换</a:t>
            </a:r>
            <a:r>
              <a:rPr lang="en-US" altLang="zh-CN" sz="2000" dirty="0" err="1" smtClean="0">
                <a:latin typeface="+mn-ea"/>
                <a:ea typeface="+mn-ea"/>
              </a:rPr>
              <a:t>i</a:t>
            </a:r>
            <a:r>
              <a:rPr lang="zh-CN" altLang="en-US" sz="2000" dirty="0" smtClean="0">
                <a:latin typeface="+mn-ea"/>
                <a:ea typeface="+mn-ea"/>
              </a:rPr>
              <a:t>也</a:t>
            </a:r>
            <a:r>
              <a:rPr lang="zh-CN" altLang="en-US" sz="2000" dirty="0">
                <a:latin typeface="+mn-ea"/>
                <a:ea typeface="+mn-ea"/>
              </a:rPr>
              <a:t>是问题的最优解。</a:t>
            </a:r>
            <a:r>
              <a:rPr lang="zh-CN" altLang="en-US" sz="2000" dirty="0" smtClean="0">
                <a:latin typeface="+mn-ea"/>
                <a:ea typeface="+mn-ea"/>
              </a:rPr>
              <a:t>矛盾。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1953" y="6127751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latin typeface="+mn-ea"/>
                <a:ea typeface="+mn-ea"/>
              </a:rPr>
              <a:t>归纳证明</a:t>
            </a:r>
            <a:endParaRPr lang="zh-CN" altLang="en-US" sz="2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248160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747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最优装载正确性证明</a:t>
            </a: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184311" y="1071495"/>
            <a:ext cx="8964612" cy="5021801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50000"/>
              </a:lnSpc>
            </a:pPr>
            <a:r>
              <a:rPr lang="zh-CN" altLang="en-US" sz="2600" b="1" dirty="0"/>
              <a:t>命题</a:t>
            </a:r>
            <a:r>
              <a:rPr lang="zh-CN" altLang="en-US" sz="2600" dirty="0"/>
              <a:t>：对装载问题任何规模为 </a:t>
            </a:r>
            <a:r>
              <a:rPr lang="en-US" altLang="zh-CN" sz="2600" dirty="0"/>
              <a:t>n </a:t>
            </a:r>
            <a:r>
              <a:rPr lang="en-US" altLang="zh-CN" sz="2600" dirty="0" smtClean="0"/>
              <a:t>+1</a:t>
            </a:r>
            <a:r>
              <a:rPr lang="zh-CN" altLang="en-US" sz="2600" dirty="0" smtClean="0"/>
              <a:t>的输入</a:t>
            </a:r>
            <a:r>
              <a:rPr lang="zh-CN" altLang="en-US" sz="2600" dirty="0"/>
              <a:t>实例</a:t>
            </a:r>
            <a:r>
              <a:rPr lang="zh-CN" altLang="en-US" sz="2600" dirty="0" smtClean="0"/>
              <a:t>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</a:t>
            </a:r>
            <a:r>
              <a:rPr lang="zh-CN" altLang="en-US" sz="2600" dirty="0" smtClean="0"/>
              <a:t>算法</a:t>
            </a:r>
            <a:r>
              <a:rPr lang="zh-CN" altLang="en-US" sz="2600" dirty="0"/>
              <a:t>得到最优解。</a:t>
            </a:r>
            <a:endParaRPr lang="en-US" altLang="zh-CN" sz="2600" dirty="0"/>
          </a:p>
          <a:p>
            <a:pPr>
              <a:lnSpc>
                <a:spcPct val="150000"/>
              </a:lnSpc>
            </a:pPr>
            <a:r>
              <a:rPr lang="zh-CN" altLang="en-US" sz="2600" b="1" dirty="0" smtClean="0"/>
              <a:t>假设</a:t>
            </a:r>
            <a:r>
              <a:rPr lang="zh-CN" altLang="en-US" sz="2600" dirty="0" smtClean="0"/>
              <a:t>：集装箱</a:t>
            </a:r>
            <a:r>
              <a:rPr lang="zh-CN" altLang="en-US" sz="2600" dirty="0"/>
              <a:t>重量从小到大记为</a:t>
            </a:r>
            <a:r>
              <a:rPr lang="en-US" altLang="zh-CN" sz="2600" dirty="0">
                <a:latin typeface="华文楷体" pitchFamily="2" charset="-122"/>
                <a:ea typeface="华文楷体" pitchFamily="2" charset="-122"/>
              </a:rPr>
              <a:t>w</a:t>
            </a:r>
            <a:r>
              <a:rPr lang="en-US" altLang="zh-CN" sz="2600" baseline="-25000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en-US" altLang="zh-CN" sz="2600" dirty="0">
                <a:latin typeface="华文楷体" pitchFamily="2" charset="-122"/>
                <a:ea typeface="华文楷体" pitchFamily="2" charset="-122"/>
              </a:rPr>
              <a:t>≤w</a:t>
            </a:r>
            <a:r>
              <a:rPr lang="en-US" altLang="zh-CN" sz="2600" baseline="-25000" dirty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en-US" altLang="zh-CN" sz="2600" dirty="0">
                <a:latin typeface="华文楷体" pitchFamily="2" charset="-122"/>
                <a:ea typeface="华文楷体" pitchFamily="2" charset="-122"/>
              </a:rPr>
              <a:t>≤w</a:t>
            </a:r>
            <a:r>
              <a:rPr lang="en-US" altLang="zh-CN" sz="2600" baseline="-25000" dirty="0">
                <a:latin typeface="华文楷体" pitchFamily="2" charset="-122"/>
                <a:ea typeface="华文楷体" pitchFamily="2" charset="-122"/>
              </a:rPr>
              <a:t>3</a:t>
            </a:r>
            <a:r>
              <a:rPr lang="en-US" altLang="zh-CN" sz="2600" dirty="0">
                <a:latin typeface="华文楷体" pitchFamily="2" charset="-122"/>
                <a:ea typeface="华文楷体" pitchFamily="2" charset="-122"/>
              </a:rPr>
              <a:t>≤…≤</a:t>
            </a:r>
            <a:r>
              <a:rPr lang="en-US" altLang="zh-CN" sz="2600" dirty="0" smtClean="0">
                <a:latin typeface="华文楷体" pitchFamily="2" charset="-122"/>
                <a:ea typeface="华文楷体" pitchFamily="2" charset="-122"/>
              </a:rPr>
              <a:t>w</a:t>
            </a:r>
            <a:r>
              <a:rPr lang="en-US" altLang="zh-CN" sz="2600" baseline="-25000" dirty="0" smtClean="0">
                <a:latin typeface="华文楷体" pitchFamily="2" charset="-122"/>
                <a:ea typeface="华文楷体" pitchFamily="2" charset="-122"/>
              </a:rPr>
              <a:t>n+1</a:t>
            </a:r>
            <a:endParaRPr lang="en-US" altLang="zh-CN" sz="2600" baseline="-25000" dirty="0">
              <a:latin typeface="华文楷体" pitchFamily="2" charset="-122"/>
              <a:ea typeface="华文楷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dirty="0"/>
              <a:t>归纳基础</a:t>
            </a:r>
            <a:r>
              <a:rPr lang="zh-CN" altLang="en-US" sz="2600" dirty="0"/>
              <a:t>：证明对任何只含 </a:t>
            </a:r>
            <a:r>
              <a:rPr lang="en-US" altLang="zh-CN" sz="2600" dirty="0"/>
              <a:t>1</a:t>
            </a:r>
            <a:r>
              <a:rPr lang="zh-CN" altLang="en-US" sz="2600" dirty="0"/>
              <a:t>个箱子的输入实例，贪心法得到最优解。显然正确。</a:t>
            </a:r>
            <a:endParaRPr lang="en-US" altLang="zh-CN" sz="2600" dirty="0"/>
          </a:p>
          <a:p>
            <a:pPr>
              <a:lnSpc>
                <a:spcPct val="150000"/>
              </a:lnSpc>
            </a:pPr>
            <a:r>
              <a:rPr lang="zh-CN" altLang="en-US" sz="2600" b="1" dirty="0"/>
              <a:t>归纳步骤证明</a:t>
            </a:r>
            <a:r>
              <a:rPr lang="zh-CN" altLang="en-US" sz="2600" dirty="0"/>
              <a:t>：假设对于任何</a:t>
            </a:r>
            <a:r>
              <a:rPr lang="en-US" altLang="zh-CN" sz="2600" dirty="0"/>
              <a:t>n</a:t>
            </a:r>
            <a:r>
              <a:rPr lang="zh-CN" altLang="en-US" sz="2600" dirty="0"/>
              <a:t>个箱子的输入实例贪心法都能得到最优解，那么对于任何</a:t>
            </a:r>
            <a:r>
              <a:rPr lang="en-US" altLang="zh-CN" sz="2600" dirty="0"/>
              <a:t>n+1</a:t>
            </a:r>
            <a:r>
              <a:rPr lang="zh-CN" altLang="en-US" sz="2600" dirty="0"/>
              <a:t>个箱子的输入实例贪心法也得到</a:t>
            </a:r>
            <a:r>
              <a:rPr lang="zh-CN" altLang="en-US" sz="2600" dirty="0" smtClean="0"/>
              <a:t>最优解。</a:t>
            </a:r>
            <a:endParaRPr lang="zh-CN" altLang="en-US" sz="2600" dirty="0"/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Garamond" pitchFamily="18" charset="0"/>
                <a:ea typeface="宋体" panose="02010600030101010101" pitchFamily="2" charset="-122"/>
              </a:rPr>
              <a:t>34</a:t>
            </a:fld>
            <a:endParaRPr lang="en-US" altLang="zh-CN" sz="1200" dirty="0">
              <a:solidFill>
                <a:schemeClr val="tx1"/>
              </a:solidFill>
              <a:latin typeface="Garamond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3819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归纳步骤证明思路</a:t>
            </a:r>
          </a:p>
        </p:txBody>
      </p:sp>
      <p:sp>
        <p:nvSpPr>
          <p:cNvPr id="39939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fld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9940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43" y="1628136"/>
            <a:ext cx="4066625" cy="31800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4281668" y="1288783"/>
            <a:ext cx="4681331" cy="4598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反证</a:t>
            </a:r>
            <a:r>
              <a:rPr lang="zh-CN" altLang="en-US" sz="2400" kern="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400" i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</a:t>
            </a:r>
            <a:r>
              <a:rPr lang="en-US" altLang="zh-CN" sz="2400" i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的最优解。</a:t>
            </a:r>
            <a:endParaRPr lang="en-US" altLang="zh-CN" sz="2400" kern="0" dirty="0" smtClean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zh-CN" altLang="en-US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存在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包含 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的关于 </a:t>
            </a:r>
            <a:r>
              <a:rPr lang="en-US" altLang="zh-CN" sz="2400" i="1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最优解</a:t>
            </a:r>
            <a:r>
              <a:rPr lang="en-US" altLang="zh-CN" sz="2400" i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I*  </a:t>
            </a:r>
            <a:r>
              <a:rPr lang="en-US" altLang="zh-CN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kern="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i="1" kern="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zh-CN" altLang="en-US" sz="2400" kern="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中没有</a:t>
            </a:r>
            <a:r>
              <a:rPr lang="en-US" altLang="zh-CN" sz="2400" kern="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，用</a:t>
            </a:r>
            <a:r>
              <a:rPr lang="en-US" altLang="zh-CN" sz="2400" kern="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替换</a:t>
            </a:r>
            <a:r>
              <a:rPr lang="en-US" altLang="zh-CN" sz="2400" i="1" kern="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 </a:t>
            </a:r>
            <a:r>
              <a:rPr lang="zh-CN" altLang="en-US" sz="2400" kern="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中的第一个元素得到的解也是最优解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i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*|&gt;|</a:t>
            </a:r>
            <a:r>
              <a:rPr lang="en-US" altLang="zh-CN" sz="2400" i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zh-CN" altLang="en-US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那么</a:t>
            </a:r>
            <a:r>
              <a:rPr lang="en-US" altLang="zh-CN" sz="2400" i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−{1}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 </a:t>
            </a:r>
            <a:r>
              <a:rPr lang="en-US" altLang="zh-CN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N'</a:t>
            </a:r>
            <a:r>
              <a:rPr lang="zh-CN" altLang="en-US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C'</a:t>
            </a:r>
            <a:r>
              <a:rPr lang="zh-CN" altLang="en-US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解且                                  </a:t>
            </a:r>
            <a:r>
              <a:rPr lang="zh-CN" altLang="en-US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，这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 </a:t>
            </a:r>
            <a:r>
              <a:rPr lang="en-US" altLang="zh-CN" sz="2400" i="1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</a:t>
            </a:r>
            <a:r>
              <a:rPr lang="zh-CN" altLang="en-US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lang="en-US" altLang="zh-CN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N'</a:t>
            </a:r>
            <a:r>
              <a:rPr lang="zh-CN" altLang="en-US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C'</a:t>
            </a:r>
            <a:r>
              <a:rPr lang="zh-CN" altLang="en-US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最优解矛盾</a:t>
            </a:r>
            <a:r>
              <a:rPr lang="zh-CN" altLang="en-US" sz="2400" kern="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Loading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算法得到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最优解。</a:t>
            </a:r>
            <a:endParaRPr lang="zh-CN" altLang="en-US" sz="2400" kern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776" y="4221088"/>
            <a:ext cx="3182847" cy="43204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758110"/>
            <a:ext cx="4224338" cy="8477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61614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747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学习要点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981075"/>
            <a:ext cx="8229600" cy="5184775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通过应用范例学习贪心设计策略。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）活动安排问题；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）最优装载问题；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哈夫曼编码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）单源最短路径；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）最小生成树；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6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）多机调度问题。</a:t>
            </a:r>
          </a:p>
        </p:txBody>
      </p:sp>
    </p:spTree>
    <p:extLst>
      <p:ext uri="{BB962C8B-B14F-4D97-AF65-F5344CB8AC3E}">
        <p14:creationId xmlns:p14="http://schemas.microsoft.com/office/powerpoint/2010/main" val="285238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37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4.4 </a:t>
            </a:r>
            <a:r>
              <a:rPr lang="zh-CN" altLang="en-US" dirty="0">
                <a:latin typeface="+mn-ea"/>
                <a:ea typeface="+mn-ea"/>
              </a:rPr>
              <a:t>哈夫曼编码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85952"/>
            <a:ext cx="8351838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</a:rPr>
              <a:t>哈夫曼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</a:rPr>
              <a:t>编码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是广泛地用于数据文件压缩的十分有效的编码方法。其压缩率通常在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20%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90%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之间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哈夫曼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编码算法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用字符在文件中出现的频率表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来建立一个用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0</a:t>
            </a:r>
            <a:r>
              <a:rPr lang="en-US" altLang="zh-CN" sz="2400" b="1" dirty="0">
                <a:latin typeface="+mn-ea"/>
              </a:rPr>
              <a:t>/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串表示各字符的最优表示方式。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</a:endParaRPr>
          </a:p>
        </p:txBody>
      </p:sp>
      <p:pic>
        <p:nvPicPr>
          <p:cNvPr id="5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5656" y="4026824"/>
            <a:ext cx="5718768" cy="1143389"/>
          </a:xfrm>
          <a:prstGeom prst="rect">
            <a:avLst/>
          </a:prstGeom>
        </p:spPr>
      </p:pic>
      <p:sp>
        <p:nvSpPr>
          <p:cNvPr id="6" name="object 7"/>
          <p:cNvSpPr txBox="1"/>
          <p:nvPr/>
        </p:nvSpPr>
        <p:spPr>
          <a:xfrm>
            <a:off x="840730" y="3445080"/>
            <a:ext cx="713263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0" dirty="0" smtClean="0">
                <a:latin typeface="+mn-ea"/>
                <a:ea typeface="+mn-ea"/>
                <a:cs typeface="新宋体"/>
              </a:rPr>
              <a:t>例：</a:t>
            </a:r>
            <a:r>
              <a:rPr sz="2400" b="1" spc="-20" dirty="0" smtClean="0">
                <a:latin typeface="+mn-ea"/>
                <a:ea typeface="+mn-ea"/>
                <a:cs typeface="新宋体"/>
              </a:rPr>
              <a:t>数据文件</a:t>
            </a:r>
            <a:r>
              <a:rPr sz="2400" b="1" spc="-10" dirty="0" smtClean="0">
                <a:latin typeface="+mn-ea"/>
                <a:ea typeface="+mn-ea"/>
                <a:cs typeface="新宋体"/>
              </a:rPr>
              <a:t>10</a:t>
            </a:r>
            <a:r>
              <a:rPr lang="zh-CN" altLang="en-US" sz="2400" b="1" spc="-10" dirty="0" smtClean="0">
                <a:latin typeface="+mn-ea"/>
                <a:ea typeface="+mn-ea"/>
                <a:cs typeface="新宋体"/>
              </a:rPr>
              <a:t>万</a:t>
            </a:r>
            <a:r>
              <a:rPr sz="2400" b="1" spc="-20" dirty="0" smtClean="0">
                <a:latin typeface="+mn-ea"/>
                <a:ea typeface="+mn-ea"/>
                <a:cs typeface="新宋体"/>
              </a:rPr>
              <a:t>个字符</a:t>
            </a:r>
            <a:r>
              <a:rPr sz="2400" b="1" spc="-20" dirty="0">
                <a:latin typeface="+mn-ea"/>
                <a:ea typeface="+mn-ea"/>
                <a:cs typeface="新宋体"/>
              </a:rPr>
              <a:t>，以</a:t>
            </a:r>
            <a:r>
              <a:rPr sz="2400" b="1" spc="-10" dirty="0">
                <a:latin typeface="+mn-ea"/>
                <a:ea typeface="+mn-ea"/>
                <a:cs typeface="新宋体"/>
              </a:rPr>
              <a:t>6</a:t>
            </a:r>
            <a:r>
              <a:rPr sz="2400" b="1" spc="-25" dirty="0">
                <a:latin typeface="+mn-ea"/>
                <a:ea typeface="+mn-ea"/>
                <a:cs typeface="新宋体"/>
              </a:rPr>
              <a:t>个字符形式出现。</a:t>
            </a:r>
            <a:endParaRPr sz="2400" dirty="0">
              <a:latin typeface="+mn-ea"/>
              <a:ea typeface="+mn-ea"/>
              <a:cs typeface="新宋体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95935" y="6243638"/>
            <a:ext cx="30684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kern="0" dirty="0">
                <a:solidFill>
                  <a:srgbClr val="FF0000"/>
                </a:solidFill>
                <a:latin typeface="+mn-ea"/>
              </a:rPr>
              <a:t>贪心</a:t>
            </a:r>
            <a:r>
              <a:rPr lang="zh-CN" altLang="en-US" sz="3200" b="1" kern="0" dirty="0" smtClean="0">
                <a:solidFill>
                  <a:srgbClr val="FF0000"/>
                </a:solidFill>
                <a:latin typeface="+mn-ea"/>
              </a:rPr>
              <a:t>选择策略？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58170" y="5369801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spcBef>
                <a:spcPts val="1250"/>
              </a:spcBef>
            </a:pPr>
            <a:r>
              <a:rPr lang="zh-CN" altLang="en-US" sz="2000" b="1" spc="-20" dirty="0">
                <a:latin typeface="+mn-ea"/>
                <a:cs typeface="新宋体"/>
              </a:rPr>
              <a:t>定长码： </a:t>
            </a:r>
            <a:r>
              <a:rPr lang="en-US" altLang="zh-CN" sz="2000" b="1" dirty="0">
                <a:latin typeface="+mn-ea"/>
                <a:cs typeface="新宋体"/>
              </a:rPr>
              <a:t>3*1000000</a:t>
            </a:r>
            <a:r>
              <a:rPr lang="en-US" altLang="zh-CN" sz="2000" b="1" spc="-5" dirty="0">
                <a:latin typeface="+mn-ea"/>
                <a:cs typeface="新宋体"/>
              </a:rPr>
              <a:t>= </a:t>
            </a:r>
            <a:r>
              <a:rPr lang="en-US" altLang="zh-CN" sz="2000" b="1" dirty="0">
                <a:latin typeface="+mn-ea"/>
                <a:cs typeface="新宋体"/>
              </a:rPr>
              <a:t>300,000</a:t>
            </a:r>
            <a:r>
              <a:rPr lang="zh-CN" altLang="en-US" sz="2000" b="1" spc="-30" dirty="0">
                <a:latin typeface="+mn-ea"/>
                <a:cs typeface="新宋体"/>
              </a:rPr>
              <a:t>位</a:t>
            </a:r>
          </a:p>
        </p:txBody>
      </p:sp>
      <p:sp>
        <p:nvSpPr>
          <p:cNvPr id="4" name="矩形 3"/>
          <p:cNvSpPr/>
          <p:nvPr/>
        </p:nvSpPr>
        <p:spPr>
          <a:xfrm>
            <a:off x="958170" y="5786938"/>
            <a:ext cx="79683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1150"/>
              </a:spcBef>
            </a:pPr>
            <a:r>
              <a:rPr lang="zh-CN" altLang="en-US" sz="2000" b="1" spc="-20" dirty="0">
                <a:latin typeface="+mn-ea"/>
                <a:cs typeface="新宋体"/>
              </a:rPr>
              <a:t>变长码：</a:t>
            </a:r>
            <a:r>
              <a:rPr lang="en-US" altLang="zh-CN" sz="2000" b="1" dirty="0" smtClean="0">
                <a:latin typeface="+mn-ea"/>
                <a:cs typeface="新宋体"/>
              </a:rPr>
              <a:t>45*1+13*3+12*3+16*3+9*4+5*4 =224,000</a:t>
            </a:r>
            <a:r>
              <a:rPr lang="zh-CN" altLang="en-US" sz="2000" b="1" spc="-60" dirty="0" smtClean="0">
                <a:latin typeface="+mn-ea"/>
                <a:cs typeface="新宋体"/>
              </a:rPr>
              <a:t> </a:t>
            </a:r>
            <a:r>
              <a:rPr lang="zh-CN" altLang="en-US" sz="2000" b="1" spc="-60" dirty="0">
                <a:latin typeface="+mn-ea"/>
                <a:cs typeface="新宋体"/>
              </a:rPr>
              <a:t>位</a:t>
            </a:r>
            <a:endParaRPr lang="zh-CN" altLang="en-US" sz="2000" dirty="0">
              <a:latin typeface="+mn-ea"/>
              <a:cs typeface="新宋体"/>
            </a:endParaRPr>
          </a:p>
        </p:txBody>
      </p:sp>
    </p:spTree>
    <p:extLst>
      <p:ext uri="{BB962C8B-B14F-4D97-AF65-F5344CB8AC3E}">
        <p14:creationId xmlns:p14="http://schemas.microsoft.com/office/powerpoint/2010/main" val="275998209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38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4.4 </a:t>
            </a:r>
            <a:r>
              <a:rPr lang="zh-CN" altLang="en-US" dirty="0">
                <a:latin typeface="+mn-ea"/>
                <a:ea typeface="+mn-ea"/>
              </a:rPr>
              <a:t>哈夫曼编码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8351838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</a:rPr>
              <a:t>哈夫曼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</a:rPr>
              <a:t>编码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是广泛地用于数据文件压缩的十分有效的编码方法。其压缩率通常在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20%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90%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之间。哈夫曼编码算法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用字符在文件中出现的频率表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来建立一个用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串表示各字符的最优表示方式。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 给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出现频率高的字符较短的编码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，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出现频率较低的字符以较长的编码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，可以大大缩短总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码长（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贪心选择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）。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</a:rPr>
              <a:t> 前缀码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ea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  对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每一个字符规定一个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0,1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串作为其代码，并要求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任一字符</a:t>
            </a:r>
            <a:r>
              <a:rPr kumimoji="0" lang="zh-CN" alt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的</a:t>
            </a:r>
            <a:r>
              <a:rPr lang="zh-CN" altLang="en-US" sz="2400" b="1" u="sng" noProof="0" dirty="0">
                <a:latin typeface="+mn-ea"/>
              </a:rPr>
              <a:t>编码</a:t>
            </a:r>
            <a:r>
              <a:rPr kumimoji="0" lang="zh-CN" alt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都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不是其它</a:t>
            </a:r>
            <a:r>
              <a:rPr kumimoji="0" lang="zh-CN" alt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字符编码的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前缀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。这种编码称为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</a:rPr>
              <a:t>前缀码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。</a:t>
            </a:r>
            <a:r>
              <a:rPr kumimoji="0" lang="zh-CN" altLang="en-US" sz="2400" i="0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确保在</a:t>
            </a:r>
            <a:r>
              <a:rPr lang="zh-CN" altLang="en-US" sz="2400" dirty="0" smtClean="0">
                <a:latin typeface="+mn-ea"/>
              </a:rPr>
              <a:t>译码的</a:t>
            </a:r>
            <a:r>
              <a:rPr lang="zh-CN" altLang="en-US" sz="2400" dirty="0">
                <a:latin typeface="+mn-ea"/>
              </a:rPr>
              <a:t>过程中，不会存在任何的</a:t>
            </a:r>
            <a:r>
              <a:rPr lang="zh-CN" altLang="en-US" sz="2400" dirty="0" smtClean="0">
                <a:latin typeface="+mn-ea"/>
              </a:rPr>
              <a:t>歧义</a:t>
            </a:r>
            <a:r>
              <a:rPr lang="zh-CN" altLang="en-US" sz="2400" dirty="0">
                <a:latin typeface="+mn-ea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699550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280352"/>
            <a:ext cx="611760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pc="-25" dirty="0">
                <a:latin typeface="+mn-ea"/>
                <a:ea typeface="+mn-ea"/>
              </a:rPr>
              <a:t>4.4</a:t>
            </a:r>
            <a:r>
              <a:rPr dirty="0">
                <a:latin typeface="+mn-ea"/>
                <a:ea typeface="+mn-ea"/>
              </a:rPr>
              <a:t>	</a:t>
            </a:r>
            <a:r>
              <a:rPr spc="-10" dirty="0" err="1" smtClean="0">
                <a:latin typeface="+mn-ea"/>
                <a:ea typeface="+mn-ea"/>
              </a:rPr>
              <a:t>哈夫曼编码</a:t>
            </a:r>
            <a:r>
              <a:rPr lang="zh-CN" altLang="en-US" spc="-10" dirty="0" smtClean="0">
                <a:latin typeface="+mn-ea"/>
                <a:ea typeface="+mn-ea"/>
              </a:rPr>
              <a:t> </a:t>
            </a:r>
            <a:endParaRPr spc="-10" dirty="0">
              <a:latin typeface="+mn-ea"/>
              <a:ea typeface="+mn-e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940" y="1752940"/>
            <a:ext cx="5718768" cy="11433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3528" y="1290124"/>
            <a:ext cx="713263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0" dirty="0" smtClean="0">
                <a:latin typeface="+mn-ea"/>
                <a:ea typeface="+mn-ea"/>
                <a:cs typeface="新宋体"/>
              </a:rPr>
              <a:t>例：</a:t>
            </a:r>
            <a:r>
              <a:rPr sz="2400" b="1" spc="-20" dirty="0" smtClean="0">
                <a:latin typeface="+mn-ea"/>
                <a:ea typeface="+mn-ea"/>
                <a:cs typeface="新宋体"/>
              </a:rPr>
              <a:t>数据文件</a:t>
            </a:r>
            <a:r>
              <a:rPr sz="2400" b="1" spc="-10" dirty="0" smtClean="0">
                <a:latin typeface="+mn-ea"/>
                <a:ea typeface="+mn-ea"/>
                <a:cs typeface="新宋体"/>
              </a:rPr>
              <a:t>10</a:t>
            </a:r>
            <a:r>
              <a:rPr lang="zh-CN" altLang="en-US" sz="2400" b="1" spc="-10" dirty="0" smtClean="0">
                <a:latin typeface="+mn-ea"/>
                <a:ea typeface="+mn-ea"/>
                <a:cs typeface="新宋体"/>
              </a:rPr>
              <a:t>万</a:t>
            </a:r>
            <a:r>
              <a:rPr sz="2400" b="1" spc="-20" dirty="0" smtClean="0">
                <a:latin typeface="+mn-ea"/>
                <a:ea typeface="+mn-ea"/>
                <a:cs typeface="新宋体"/>
              </a:rPr>
              <a:t>个字符</a:t>
            </a:r>
            <a:r>
              <a:rPr sz="2400" b="1" spc="-20" dirty="0">
                <a:latin typeface="+mn-ea"/>
                <a:ea typeface="+mn-ea"/>
                <a:cs typeface="新宋体"/>
              </a:rPr>
              <a:t>，以</a:t>
            </a:r>
            <a:r>
              <a:rPr sz="2400" b="1" spc="-10" dirty="0">
                <a:latin typeface="+mn-ea"/>
                <a:ea typeface="+mn-ea"/>
                <a:cs typeface="新宋体"/>
              </a:rPr>
              <a:t>6</a:t>
            </a:r>
            <a:r>
              <a:rPr sz="2400" b="1" spc="-25" dirty="0">
                <a:latin typeface="+mn-ea"/>
                <a:ea typeface="+mn-ea"/>
                <a:cs typeface="新宋体"/>
              </a:rPr>
              <a:t>个字符形式出现。</a:t>
            </a:r>
            <a:endParaRPr sz="2400" dirty="0">
              <a:latin typeface="+mn-ea"/>
              <a:ea typeface="+mn-ea"/>
              <a:cs typeface="新宋体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3168067"/>
            <a:ext cx="6039401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kern="0" dirty="0" smtClean="0">
                <a:solidFill>
                  <a:schemeClr val="hlink"/>
                </a:solidFill>
                <a:latin typeface="+mn-ea"/>
                <a:ea typeface="+mn-ea"/>
              </a:rPr>
              <a:t>前缀码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ea"/>
                <a:ea typeface="+mn-ea"/>
              </a:rPr>
              <a:t>：任一</a:t>
            </a:r>
            <a:r>
              <a:rPr lang="zh-CN" altLang="en-US" sz="1800" b="1" kern="0" dirty="0">
                <a:solidFill>
                  <a:schemeClr val="tx1"/>
                </a:solidFill>
                <a:latin typeface="+mn-ea"/>
                <a:ea typeface="+mn-ea"/>
              </a:rPr>
              <a:t>字符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ea"/>
                <a:ea typeface="+mn-ea"/>
              </a:rPr>
              <a:t>的编码都</a:t>
            </a:r>
            <a:r>
              <a:rPr lang="zh-CN" altLang="en-US" sz="1800" b="1" kern="0" dirty="0">
                <a:solidFill>
                  <a:schemeClr val="tx1"/>
                </a:solidFill>
                <a:latin typeface="+mn-ea"/>
                <a:ea typeface="+mn-ea"/>
              </a:rPr>
              <a:t>不是其它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ea"/>
                <a:ea typeface="+mn-ea"/>
              </a:rPr>
              <a:t>字符编码的</a:t>
            </a:r>
            <a:r>
              <a:rPr lang="zh-CN" altLang="en-US" sz="1800" b="1" kern="0" dirty="0">
                <a:solidFill>
                  <a:schemeClr val="tx1"/>
                </a:solidFill>
                <a:latin typeface="+mn-ea"/>
                <a:ea typeface="+mn-ea"/>
              </a:rPr>
              <a:t>前缀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endParaRPr lang="en-US" altLang="zh-CN" sz="1800" b="1" kern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zh-CN" sz="1800" b="1" kern="0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zh-CN" sz="1800" b="1" kern="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b="1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前缀码的二叉树性质：</a:t>
            </a:r>
            <a:endParaRPr lang="en-US" altLang="zh-CN" sz="1800" b="1" spc="-20" dirty="0" smtClean="0">
              <a:solidFill>
                <a:schemeClr val="tx1"/>
              </a:solidFill>
              <a:latin typeface="+mn-ea"/>
              <a:ea typeface="+mn-ea"/>
              <a:cs typeface="新宋体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spc="-20" dirty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 </a:t>
            </a:r>
            <a:r>
              <a:rPr lang="en-US" altLang="zh-CN" sz="1800" b="1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                 </a:t>
            </a:r>
            <a:r>
              <a:rPr lang="zh-CN" altLang="en-US" sz="1800" b="1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树</a:t>
            </a:r>
            <a:r>
              <a:rPr lang="zh-CN" altLang="en-US" sz="1800" b="1" spc="-20" dirty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中任一非叶子结点都有</a:t>
            </a:r>
            <a:r>
              <a:rPr lang="en-US" altLang="zh-CN" sz="1800" b="1" spc="-20" dirty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2</a:t>
            </a:r>
            <a:r>
              <a:rPr lang="zh-CN" altLang="en-US" sz="1800" b="1" spc="-20" dirty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个子结点</a:t>
            </a:r>
            <a:r>
              <a:rPr lang="zh-CN" altLang="en-US" sz="1800" b="1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。</a:t>
            </a:r>
            <a:endParaRPr lang="en-US" altLang="zh-CN" sz="1800" b="1" spc="-20" dirty="0" smtClean="0">
              <a:solidFill>
                <a:schemeClr val="tx1"/>
              </a:solidFill>
              <a:latin typeface="+mn-ea"/>
              <a:ea typeface="+mn-ea"/>
              <a:cs typeface="新宋体"/>
            </a:endParaRPr>
          </a:p>
          <a:p>
            <a:pPr>
              <a:lnSpc>
                <a:spcPct val="150000"/>
              </a:lnSpc>
            </a:pPr>
            <a:r>
              <a:rPr lang="zh-CN" altLang="en-US" sz="1800" b="1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                  字符</a:t>
            </a:r>
            <a:r>
              <a:rPr lang="zh-CN" altLang="en-US" sz="1800" b="1" spc="-20" dirty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在树中的深度对应于该字符的编码</a:t>
            </a:r>
            <a:r>
              <a:rPr lang="zh-CN" altLang="en-US" sz="1800" b="1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长度。</a:t>
            </a:r>
            <a:endParaRPr lang="zh-CN" altLang="en-US" sz="1800" b="1" spc="-20" dirty="0">
              <a:solidFill>
                <a:schemeClr val="tx1"/>
              </a:solidFill>
              <a:latin typeface="+mn-ea"/>
              <a:ea typeface="+mn-ea"/>
              <a:cs typeface="新宋体"/>
            </a:endParaRPr>
          </a:p>
          <a:p>
            <a:pPr>
              <a:lnSpc>
                <a:spcPct val="150000"/>
              </a:lnSpc>
            </a:pPr>
            <a:endParaRPr lang="zh-CN" altLang="en-US" sz="1800" b="1" spc="-20" dirty="0" smtClean="0">
              <a:solidFill>
                <a:schemeClr val="tx1"/>
              </a:solidFill>
              <a:latin typeface="+mn-ea"/>
              <a:ea typeface="+mn-ea"/>
              <a:cs typeface="新宋体"/>
            </a:endParaRPr>
          </a:p>
          <a:p>
            <a:pPr>
              <a:lnSpc>
                <a:spcPct val="150000"/>
              </a:lnSpc>
            </a:pPr>
            <a:r>
              <a:rPr lang="zh-CN" altLang="en-US" sz="1800" b="1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 </a:t>
            </a:r>
            <a:endParaRPr lang="zh-CN" altLang="en-US" sz="1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4"/>
          <a:srcRect l="59401" b="12784"/>
          <a:stretch/>
        </p:blipFill>
        <p:spPr>
          <a:xfrm>
            <a:off x="6254708" y="3277196"/>
            <a:ext cx="2845424" cy="3307191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6322706" y="1888556"/>
            <a:ext cx="2709428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前缀码</a:t>
            </a:r>
            <a:r>
              <a:rPr lang="zh-CN" alt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  <a:endParaRPr lang="en-US" altLang="zh-CN" sz="2800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0, 01, 011, 111}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6156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280352"/>
            <a:ext cx="611760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pc="-25" dirty="0">
                <a:latin typeface="+mn-ea"/>
                <a:ea typeface="+mn-ea"/>
              </a:rPr>
              <a:t>4.4</a:t>
            </a:r>
            <a:r>
              <a:rPr dirty="0">
                <a:latin typeface="+mn-ea"/>
                <a:ea typeface="+mn-ea"/>
              </a:rPr>
              <a:t>	</a:t>
            </a:r>
            <a:r>
              <a:rPr spc="-10" dirty="0" err="1" smtClean="0">
                <a:latin typeface="+mn-ea"/>
                <a:ea typeface="+mn-ea"/>
              </a:rPr>
              <a:t>哈夫曼编码</a:t>
            </a:r>
            <a:r>
              <a:rPr lang="zh-CN" altLang="en-US" spc="-10" dirty="0" smtClean="0">
                <a:latin typeface="+mn-ea"/>
                <a:ea typeface="+mn-ea"/>
              </a:rPr>
              <a:t>（回顾）</a:t>
            </a:r>
            <a:endParaRPr spc="-10" dirty="0">
              <a:latin typeface="+mn-ea"/>
              <a:ea typeface="+mn-e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940" y="1752940"/>
            <a:ext cx="5718768" cy="11433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3528" y="1290124"/>
            <a:ext cx="713263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0" dirty="0" smtClean="0">
                <a:latin typeface="+mn-ea"/>
                <a:ea typeface="+mn-ea"/>
                <a:cs typeface="新宋体"/>
              </a:rPr>
              <a:t>例：</a:t>
            </a:r>
            <a:r>
              <a:rPr sz="2400" b="1" spc="-20" dirty="0" smtClean="0">
                <a:latin typeface="+mn-ea"/>
                <a:ea typeface="+mn-ea"/>
                <a:cs typeface="新宋体"/>
              </a:rPr>
              <a:t>数据文件</a:t>
            </a:r>
            <a:r>
              <a:rPr sz="2400" b="1" spc="-10" dirty="0" smtClean="0">
                <a:latin typeface="+mn-ea"/>
                <a:ea typeface="+mn-ea"/>
                <a:cs typeface="新宋体"/>
              </a:rPr>
              <a:t>10</a:t>
            </a:r>
            <a:r>
              <a:rPr lang="zh-CN" altLang="en-US" sz="2400" b="1" spc="-10" dirty="0" smtClean="0">
                <a:latin typeface="+mn-ea"/>
                <a:ea typeface="+mn-ea"/>
                <a:cs typeface="新宋体"/>
              </a:rPr>
              <a:t>万</a:t>
            </a:r>
            <a:r>
              <a:rPr sz="2400" b="1" spc="-20" dirty="0" smtClean="0">
                <a:latin typeface="+mn-ea"/>
                <a:ea typeface="+mn-ea"/>
                <a:cs typeface="新宋体"/>
              </a:rPr>
              <a:t>个字符</a:t>
            </a:r>
            <a:r>
              <a:rPr sz="2400" b="1" spc="-20" dirty="0">
                <a:latin typeface="+mn-ea"/>
                <a:ea typeface="+mn-ea"/>
                <a:cs typeface="新宋体"/>
              </a:rPr>
              <a:t>，以</a:t>
            </a:r>
            <a:r>
              <a:rPr sz="2400" b="1" spc="-10" dirty="0">
                <a:latin typeface="+mn-ea"/>
                <a:ea typeface="+mn-ea"/>
                <a:cs typeface="新宋体"/>
              </a:rPr>
              <a:t>6</a:t>
            </a:r>
            <a:r>
              <a:rPr sz="2400" b="1" spc="-25" dirty="0">
                <a:latin typeface="+mn-ea"/>
                <a:ea typeface="+mn-ea"/>
                <a:cs typeface="新宋体"/>
              </a:rPr>
              <a:t>个字符形式出现。</a:t>
            </a:r>
            <a:endParaRPr sz="2400" dirty="0">
              <a:latin typeface="+mn-ea"/>
              <a:ea typeface="+mn-ea"/>
              <a:cs typeface="新宋体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3168067"/>
            <a:ext cx="60394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kern="0" dirty="0" smtClean="0">
                <a:solidFill>
                  <a:schemeClr val="hlink"/>
                </a:solidFill>
                <a:latin typeface="+mn-ea"/>
                <a:ea typeface="+mn-ea"/>
              </a:rPr>
              <a:t>前缀码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ea"/>
                <a:ea typeface="+mn-ea"/>
              </a:rPr>
              <a:t>：任一</a:t>
            </a:r>
            <a:r>
              <a:rPr lang="zh-CN" altLang="en-US" sz="1800" b="1" kern="0" dirty="0">
                <a:solidFill>
                  <a:schemeClr val="tx1"/>
                </a:solidFill>
                <a:latin typeface="+mn-ea"/>
                <a:ea typeface="+mn-ea"/>
              </a:rPr>
              <a:t>字符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ea"/>
                <a:ea typeface="+mn-ea"/>
              </a:rPr>
              <a:t>的编码都</a:t>
            </a:r>
            <a:r>
              <a:rPr lang="zh-CN" altLang="en-US" sz="1800" b="1" kern="0" dirty="0">
                <a:solidFill>
                  <a:schemeClr val="tx1"/>
                </a:solidFill>
                <a:latin typeface="+mn-ea"/>
                <a:ea typeface="+mn-ea"/>
              </a:rPr>
              <a:t>不是其它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ea"/>
                <a:ea typeface="+mn-ea"/>
              </a:rPr>
              <a:t>字符编码的</a:t>
            </a:r>
            <a:r>
              <a:rPr lang="zh-CN" altLang="en-US" sz="1800" b="1" kern="0" dirty="0">
                <a:solidFill>
                  <a:schemeClr val="tx1"/>
                </a:solidFill>
                <a:latin typeface="+mn-ea"/>
                <a:ea typeface="+mn-ea"/>
              </a:rPr>
              <a:t>前缀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endParaRPr lang="en-US" altLang="zh-CN" sz="1800" b="1" kern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zh-CN" sz="1800" b="1" kern="0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zh-CN" sz="1800" b="1" kern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zh-CN" sz="1800" b="1" kern="0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zh-CN" altLang="en-US" sz="1800" b="1" spc="-20" dirty="0">
                <a:solidFill>
                  <a:srgbClr val="996600"/>
                </a:solidFill>
                <a:latin typeface="+mn-ea"/>
                <a:ea typeface="+mn-ea"/>
                <a:cs typeface="新宋体"/>
              </a:rPr>
              <a:t>最优</a:t>
            </a:r>
            <a:r>
              <a:rPr lang="zh-CN" altLang="en-US" sz="1800" b="1" spc="-20" dirty="0" smtClean="0">
                <a:solidFill>
                  <a:srgbClr val="996600"/>
                </a:solidFill>
                <a:latin typeface="+mn-ea"/>
                <a:ea typeface="+mn-ea"/>
                <a:cs typeface="新宋体"/>
              </a:rPr>
              <a:t>前缀码</a:t>
            </a:r>
            <a:r>
              <a:rPr lang="en-US" altLang="zh-CN" sz="1800" b="1" spc="-20" dirty="0" smtClean="0">
                <a:solidFill>
                  <a:srgbClr val="996600"/>
                </a:solidFill>
                <a:latin typeface="+mn-ea"/>
                <a:ea typeface="+mn-ea"/>
                <a:cs typeface="新宋体"/>
              </a:rPr>
              <a:t>: </a:t>
            </a:r>
            <a:r>
              <a:rPr lang="zh-CN" altLang="en-US" sz="1800" b="1" spc="-25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总</a:t>
            </a:r>
            <a:r>
              <a:rPr lang="zh-CN" altLang="en-US" sz="1800" b="1" spc="-25" dirty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码长</a:t>
            </a:r>
            <a:r>
              <a:rPr lang="en-US" altLang="zh-CN" sz="1800" b="1" i="1" spc="-10" dirty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B</a:t>
            </a:r>
            <a:r>
              <a:rPr lang="en-US" altLang="zh-CN" sz="1800" b="1" spc="-10" dirty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(</a:t>
            </a:r>
            <a:r>
              <a:rPr lang="en-US" altLang="zh-CN" sz="1800" b="1" i="1" spc="-10" dirty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T</a:t>
            </a:r>
            <a:r>
              <a:rPr lang="zh-CN" altLang="en-US" sz="1800" b="1" i="1" spc="-310" dirty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cs typeface="Times New Roman"/>
              </a:rPr>
              <a:t>)</a:t>
            </a:r>
            <a:r>
              <a:rPr lang="zh-CN" altLang="en-US" sz="1800" b="1" spc="-25" dirty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达到最小的前缀码</a:t>
            </a:r>
            <a:r>
              <a:rPr lang="zh-CN" altLang="en-US" sz="1800" b="1" spc="-25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编</a:t>
            </a:r>
            <a:r>
              <a:rPr lang="zh-CN" altLang="en-US" sz="1800" b="1" spc="-20" dirty="0" smtClean="0">
                <a:solidFill>
                  <a:schemeClr val="tx1"/>
                </a:solidFill>
                <a:latin typeface="+mn-ea"/>
                <a:ea typeface="+mn-ea"/>
                <a:cs typeface="新宋体"/>
              </a:rPr>
              <a:t>码方案</a:t>
            </a:r>
            <a:r>
              <a:rPr lang="zh-CN" altLang="en-US" sz="1800" b="1" spc="-20" dirty="0" smtClean="0">
                <a:latin typeface="+mn-ea"/>
                <a:ea typeface="+mn-ea"/>
                <a:cs typeface="新宋体"/>
              </a:rPr>
              <a:t> </a:t>
            </a:r>
            <a:endParaRPr lang="zh-CN" altLang="en-US" sz="1800" b="1" dirty="0">
              <a:latin typeface="+mn-ea"/>
              <a:ea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4427" y="4917133"/>
            <a:ext cx="6678488" cy="1066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 marR="214629">
              <a:spcBef>
                <a:spcPts val="575"/>
              </a:spcBef>
            </a:pPr>
            <a:r>
              <a:rPr lang="zh-CN" altLang="en-US" sz="1800" b="1" spc="-20" dirty="0">
                <a:latin typeface="新宋体"/>
                <a:cs typeface="新宋体"/>
              </a:rPr>
              <a:t>给定编码字符集</a:t>
            </a:r>
            <a:r>
              <a:rPr lang="en-US" altLang="zh-CN" sz="1800" b="1" dirty="0">
                <a:latin typeface="Times New Roman"/>
                <a:cs typeface="Times New Roman"/>
              </a:rPr>
              <a:t>C, </a:t>
            </a:r>
            <a:r>
              <a:rPr lang="zh-CN" altLang="en-US" sz="1800" b="1" dirty="0">
                <a:latin typeface="Times New Roman"/>
                <a:cs typeface="Times New Roman"/>
                <a:sym typeface="Symbol" panose="05050102010706020507" pitchFamily="18" charset="2"/>
              </a:rPr>
              <a:t></a:t>
            </a:r>
            <a:r>
              <a:rPr lang="en-US" altLang="zh-CN" sz="1800" i="1" spc="-25" dirty="0">
                <a:latin typeface="Times New Roman"/>
                <a:cs typeface="Times New Roman"/>
              </a:rPr>
              <a:t>c</a:t>
            </a:r>
            <a:r>
              <a:rPr lang="zh-CN" altLang="en-US" sz="1800" spc="-25" dirty="0">
                <a:latin typeface="Symbol"/>
                <a:cs typeface="Symbol"/>
              </a:rPr>
              <a:t></a:t>
            </a:r>
            <a:r>
              <a:rPr lang="en-US" altLang="zh-CN" sz="1800" i="1" spc="-25" dirty="0">
                <a:latin typeface="Times New Roman"/>
                <a:cs typeface="Times New Roman"/>
              </a:rPr>
              <a:t>C</a:t>
            </a:r>
            <a:r>
              <a:rPr lang="zh-CN" altLang="en-US" sz="1800" spc="-25" dirty="0">
                <a:latin typeface="Times New Roman"/>
                <a:cs typeface="Times New Roman"/>
              </a:rPr>
              <a:t>，</a:t>
            </a:r>
            <a:r>
              <a:rPr lang="en-US" altLang="zh-CN" sz="1800" i="1" spc="-10" dirty="0">
                <a:latin typeface="Times New Roman"/>
                <a:cs typeface="Times New Roman"/>
              </a:rPr>
              <a:t>f</a:t>
            </a:r>
            <a:r>
              <a:rPr lang="en-US" altLang="zh-CN" sz="1800" spc="-10" dirty="0">
                <a:latin typeface="Times New Roman"/>
                <a:cs typeface="Times New Roman"/>
              </a:rPr>
              <a:t>(</a:t>
            </a:r>
            <a:r>
              <a:rPr lang="en-US" altLang="zh-CN" sz="1800" i="1" spc="-10" dirty="0">
                <a:latin typeface="Times New Roman"/>
                <a:cs typeface="Times New Roman"/>
              </a:rPr>
              <a:t>c</a:t>
            </a:r>
            <a:r>
              <a:rPr lang="en-US" altLang="zh-CN" sz="1800" spc="-10" dirty="0">
                <a:latin typeface="Times New Roman"/>
                <a:cs typeface="Times New Roman"/>
              </a:rPr>
              <a:t>)</a:t>
            </a:r>
            <a:r>
              <a:rPr lang="zh-CN" altLang="en-US" sz="1800" b="1" spc="-25" dirty="0">
                <a:latin typeface="新宋体"/>
                <a:cs typeface="新宋体"/>
              </a:rPr>
              <a:t>频率分</a:t>
            </a:r>
            <a:r>
              <a:rPr lang="zh-CN" altLang="en-US" sz="1800" b="1" spc="-20" dirty="0">
                <a:latin typeface="新宋体"/>
                <a:cs typeface="新宋体"/>
              </a:rPr>
              <a:t>布，</a:t>
            </a:r>
            <a:r>
              <a:rPr lang="en-US" altLang="zh-CN" sz="1800" i="1" spc="-10" dirty="0" err="1">
                <a:latin typeface="Times New Roman"/>
                <a:cs typeface="Times New Roman"/>
              </a:rPr>
              <a:t>d</a:t>
            </a:r>
            <a:r>
              <a:rPr lang="en-US" altLang="zh-CN" sz="1800" i="1" spc="-15" baseline="-17921" dirty="0" err="1">
                <a:latin typeface="Times New Roman"/>
                <a:cs typeface="Times New Roman"/>
              </a:rPr>
              <a:t>T</a:t>
            </a:r>
            <a:r>
              <a:rPr lang="en-US" altLang="zh-CN" sz="1800" spc="-10" dirty="0">
                <a:latin typeface="Times New Roman"/>
                <a:cs typeface="Times New Roman"/>
              </a:rPr>
              <a:t>(</a:t>
            </a:r>
            <a:r>
              <a:rPr lang="en-US" altLang="zh-CN" sz="1800" i="1" spc="-10" dirty="0">
                <a:latin typeface="Times New Roman"/>
                <a:cs typeface="Times New Roman"/>
              </a:rPr>
              <a:t>c</a:t>
            </a:r>
            <a:r>
              <a:rPr lang="en-US" altLang="zh-CN" sz="1800" spc="-10" dirty="0">
                <a:latin typeface="Times New Roman"/>
                <a:cs typeface="Times New Roman"/>
              </a:rPr>
              <a:t>)</a:t>
            </a:r>
            <a:r>
              <a:rPr lang="zh-CN" altLang="en-US" sz="1800" b="1" spc="-25" dirty="0">
                <a:latin typeface="新宋体"/>
                <a:cs typeface="新宋体"/>
              </a:rPr>
              <a:t>深度</a:t>
            </a:r>
            <a:r>
              <a:rPr lang="zh-CN" altLang="en-US" sz="1800" b="1" spc="-25" dirty="0" smtClean="0">
                <a:latin typeface="新宋体"/>
                <a:cs typeface="新宋体"/>
              </a:rPr>
              <a:t>。</a:t>
            </a:r>
            <a:endParaRPr lang="en-US" altLang="zh-CN" sz="1800" b="1" spc="-25" dirty="0" smtClean="0">
              <a:latin typeface="新宋体"/>
              <a:cs typeface="新宋体"/>
            </a:endParaRPr>
          </a:p>
          <a:p>
            <a:pPr marL="25400" marR="214629">
              <a:spcBef>
                <a:spcPts val="575"/>
              </a:spcBef>
            </a:pPr>
            <a:r>
              <a:rPr lang="en-US" altLang="zh-CN" sz="1800" b="1" spc="-25" dirty="0">
                <a:solidFill>
                  <a:srgbClr val="996600"/>
                </a:solidFill>
                <a:latin typeface="新宋体"/>
                <a:cs typeface="新宋体"/>
              </a:rPr>
              <a:t> </a:t>
            </a:r>
            <a:r>
              <a:rPr lang="zh-CN" altLang="en-US" sz="1800" b="1" spc="-20" dirty="0" smtClean="0">
                <a:solidFill>
                  <a:srgbClr val="996600"/>
                </a:solidFill>
                <a:latin typeface="新宋体"/>
                <a:cs typeface="新宋体"/>
              </a:rPr>
              <a:t>总码长 </a:t>
            </a:r>
            <a:r>
              <a:rPr lang="zh-CN" altLang="en-US" sz="1800" i="1" spc="-10" dirty="0" smtClean="0">
                <a:latin typeface="Times New Roman"/>
                <a:cs typeface="Times New Roman"/>
              </a:rPr>
              <a:t>     </a:t>
            </a:r>
            <a:r>
              <a:rPr lang="en-US" altLang="zh-CN" sz="1800" i="1" spc="-10" dirty="0">
                <a:latin typeface="Times New Roman"/>
                <a:cs typeface="Times New Roman"/>
              </a:rPr>
              <a:t>B</a:t>
            </a:r>
            <a:r>
              <a:rPr lang="en-US" altLang="zh-CN" sz="1800" spc="-10" dirty="0">
                <a:latin typeface="Times New Roman"/>
                <a:cs typeface="Times New Roman"/>
              </a:rPr>
              <a:t>(</a:t>
            </a:r>
            <a:r>
              <a:rPr lang="en-US" altLang="zh-CN" sz="1800" i="1" spc="-10" dirty="0">
                <a:latin typeface="Times New Roman"/>
                <a:cs typeface="Times New Roman"/>
              </a:rPr>
              <a:t>T</a:t>
            </a:r>
            <a:r>
              <a:rPr lang="zh-CN" altLang="en-US" sz="1800" i="1" spc="-310" dirty="0">
                <a:latin typeface="Times New Roman"/>
                <a:cs typeface="Times New Roman"/>
              </a:rPr>
              <a:t> </a:t>
            </a:r>
            <a:r>
              <a:rPr lang="en-US" altLang="zh-CN" sz="1800" dirty="0" smtClean="0">
                <a:latin typeface="Times New Roman"/>
                <a:cs typeface="Times New Roman"/>
              </a:rPr>
              <a:t>) </a:t>
            </a:r>
            <a:r>
              <a:rPr lang="zh-CN" altLang="en-US" sz="1800" spc="-40" dirty="0" smtClean="0">
                <a:latin typeface="Times New Roman"/>
                <a:cs typeface="Times New Roman"/>
              </a:rPr>
              <a:t> </a:t>
            </a:r>
            <a:r>
              <a:rPr lang="zh-CN" altLang="en-US" sz="1800" dirty="0">
                <a:latin typeface="Symbol"/>
                <a:cs typeface="Symbol"/>
              </a:rPr>
              <a:t></a:t>
            </a:r>
            <a:r>
              <a:rPr lang="zh-CN" altLang="en-US" sz="1800" spc="-55" dirty="0">
                <a:latin typeface="Times New Roman"/>
                <a:cs typeface="Times New Roman"/>
              </a:rPr>
              <a:t> </a:t>
            </a:r>
            <a:r>
              <a:rPr lang="zh-CN" altLang="en-US" sz="1800" spc="-55" dirty="0" smtClean="0">
                <a:latin typeface="Times New Roman"/>
                <a:cs typeface="Times New Roman"/>
              </a:rPr>
              <a:t>   </a:t>
            </a:r>
            <a:r>
              <a:rPr lang="zh-CN" altLang="en-US" sz="4000" baseline="-8658" dirty="0" smtClean="0">
                <a:latin typeface="Symbol"/>
                <a:cs typeface="Symbol"/>
              </a:rPr>
              <a:t></a:t>
            </a:r>
            <a:r>
              <a:rPr lang="zh-CN" altLang="en-US" sz="4000" spc="-187" baseline="-8658" dirty="0" smtClean="0">
                <a:latin typeface="Times New Roman"/>
                <a:cs typeface="Times New Roman"/>
              </a:rPr>
              <a:t>   </a:t>
            </a:r>
            <a:r>
              <a:rPr lang="en-US" altLang="zh-CN" sz="1800" i="1" dirty="0" smtClean="0">
                <a:latin typeface="Times New Roman"/>
                <a:cs typeface="Times New Roman"/>
              </a:rPr>
              <a:t>f</a:t>
            </a:r>
            <a:r>
              <a:rPr lang="zh-CN" altLang="en-US" sz="1800" i="1" spc="-20" dirty="0" smtClean="0">
                <a:latin typeface="Times New Roman"/>
                <a:cs typeface="Times New Roman"/>
              </a:rPr>
              <a:t> </a:t>
            </a:r>
            <a:r>
              <a:rPr lang="en-US" altLang="zh-CN" sz="1800" dirty="0">
                <a:latin typeface="Times New Roman"/>
                <a:cs typeface="Times New Roman"/>
              </a:rPr>
              <a:t>(</a:t>
            </a:r>
            <a:r>
              <a:rPr lang="en-US" altLang="zh-CN" sz="1800" i="1" dirty="0">
                <a:latin typeface="Times New Roman"/>
                <a:cs typeface="Times New Roman"/>
              </a:rPr>
              <a:t>c</a:t>
            </a:r>
            <a:r>
              <a:rPr lang="en-US" altLang="zh-CN" sz="1800" dirty="0" smtClean="0">
                <a:latin typeface="Times New Roman"/>
                <a:cs typeface="Times New Roman"/>
              </a:rPr>
              <a:t>) </a:t>
            </a:r>
            <a:r>
              <a:rPr lang="en-US" altLang="zh-CN" sz="1800" i="1" dirty="0" err="1" smtClean="0">
                <a:latin typeface="Times New Roman"/>
                <a:cs typeface="Times New Roman"/>
              </a:rPr>
              <a:t>d</a:t>
            </a:r>
            <a:r>
              <a:rPr lang="en-US" altLang="zh-CN" sz="1800" i="1" baseline="-24074" dirty="0" err="1" smtClean="0">
                <a:latin typeface="Times New Roman"/>
                <a:cs typeface="Times New Roman"/>
              </a:rPr>
              <a:t>T</a:t>
            </a:r>
            <a:r>
              <a:rPr lang="zh-CN" altLang="en-US" sz="1800" i="1" spc="172" baseline="-24074" dirty="0" smtClean="0">
                <a:latin typeface="Times New Roman"/>
                <a:cs typeface="Times New Roman"/>
              </a:rPr>
              <a:t> </a:t>
            </a:r>
            <a:r>
              <a:rPr lang="en-US" altLang="zh-CN" sz="1800" spc="-25" dirty="0">
                <a:latin typeface="Times New Roman"/>
                <a:cs typeface="Times New Roman"/>
              </a:rPr>
              <a:t>(</a:t>
            </a:r>
            <a:r>
              <a:rPr lang="en-US" altLang="zh-CN" sz="1800" i="1" spc="-25" dirty="0">
                <a:latin typeface="Times New Roman"/>
                <a:cs typeface="Times New Roman"/>
              </a:rPr>
              <a:t>c</a:t>
            </a:r>
            <a:r>
              <a:rPr lang="en-US" altLang="zh-CN" sz="1800" spc="-25" dirty="0">
                <a:latin typeface="Times New Roman"/>
                <a:cs typeface="Times New Roman"/>
              </a:rPr>
              <a:t>)</a:t>
            </a:r>
            <a:endParaRPr lang="zh-CN" altLang="en-US" sz="1800" dirty="0">
              <a:latin typeface="Times New Roman"/>
              <a:cs typeface="Times New Roman"/>
            </a:endParaRPr>
          </a:p>
          <a:p>
            <a:pPr marL="2059305">
              <a:spcBef>
                <a:spcPts val="195"/>
              </a:spcBef>
            </a:pPr>
            <a:r>
              <a:rPr lang="zh-CN" altLang="en-US" sz="1200" i="1" spc="-25" dirty="0" smtClean="0">
                <a:latin typeface="Times New Roman"/>
                <a:cs typeface="Times New Roman"/>
              </a:rPr>
              <a:t> </a:t>
            </a:r>
            <a:r>
              <a:rPr lang="en-US" altLang="zh-CN" sz="1200" i="1" spc="-25" dirty="0">
                <a:latin typeface="Times New Roman"/>
                <a:cs typeface="Times New Roman"/>
              </a:rPr>
              <a:t>c</a:t>
            </a:r>
            <a:r>
              <a:rPr lang="zh-CN" altLang="en-US" sz="1200" spc="-25" dirty="0">
                <a:latin typeface="Symbol"/>
                <a:cs typeface="Symbol"/>
              </a:rPr>
              <a:t></a:t>
            </a:r>
            <a:r>
              <a:rPr lang="en-US" altLang="zh-CN" sz="1200" i="1" spc="-25" dirty="0">
                <a:latin typeface="Times New Roman"/>
                <a:cs typeface="Times New Roman"/>
              </a:rPr>
              <a:t>C</a:t>
            </a:r>
            <a:endParaRPr lang="zh-CN" altLang="en-US" sz="1200" i="1" spc="-25" dirty="0">
              <a:latin typeface="Times New Roman"/>
              <a:cs typeface="Times New Roman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/>
          <a:srcRect l="59401" b="12784"/>
          <a:stretch/>
        </p:blipFill>
        <p:spPr>
          <a:xfrm>
            <a:off x="6254708" y="3277196"/>
            <a:ext cx="2845424" cy="330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8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80352"/>
            <a:ext cx="37592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pc="-25" dirty="0">
                <a:latin typeface="+mn-ea"/>
                <a:ea typeface="+mn-ea"/>
              </a:rPr>
              <a:t>4.4</a:t>
            </a:r>
            <a:r>
              <a:rPr dirty="0">
                <a:latin typeface="+mn-ea"/>
                <a:ea typeface="+mn-ea"/>
              </a:rPr>
              <a:t>	</a:t>
            </a:r>
            <a:r>
              <a:rPr spc="-10" dirty="0">
                <a:latin typeface="+mn-ea"/>
                <a:ea typeface="+mn-ea"/>
              </a:rPr>
              <a:t>哈夫曼编码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6553200" y="6534126"/>
            <a:ext cx="2133600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spc="-25" dirty="0">
                <a:latin typeface="+mn-ea"/>
                <a:ea typeface="+mn-ea"/>
              </a:rPr>
              <a:t>41</a:t>
            </a:fld>
            <a:endParaRPr spc="-25" dirty="0">
              <a:latin typeface="+mn-ea"/>
              <a:ea typeface="+mn-e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2512" y="1196752"/>
            <a:ext cx="5681701" cy="4606389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2800" b="1" dirty="0">
                <a:solidFill>
                  <a:srgbClr val="AEBE39"/>
                </a:solidFill>
                <a:latin typeface="+mn-ea"/>
                <a:ea typeface="+mn-ea"/>
                <a:cs typeface="黑体"/>
              </a:rPr>
              <a:t>2</a:t>
            </a:r>
            <a:r>
              <a:rPr sz="2800" b="1" spc="-15" dirty="0">
                <a:solidFill>
                  <a:srgbClr val="AEBE39"/>
                </a:solidFill>
                <a:latin typeface="+mn-ea"/>
                <a:ea typeface="+mn-ea"/>
                <a:cs typeface="黑体"/>
              </a:rPr>
              <a:t> </a:t>
            </a:r>
            <a:r>
              <a:rPr sz="2800" b="1" spc="-15" dirty="0" err="1" smtClean="0">
                <a:solidFill>
                  <a:srgbClr val="AEBE39"/>
                </a:solidFill>
                <a:latin typeface="+mn-ea"/>
                <a:ea typeface="+mn-ea"/>
                <a:cs typeface="黑体"/>
              </a:rPr>
              <a:t>构造哈夫曼编码</a:t>
            </a:r>
            <a:endParaRPr lang="en-US" sz="2800" b="1" spc="-15" dirty="0" smtClean="0">
              <a:solidFill>
                <a:srgbClr val="AEBE39"/>
              </a:solidFill>
              <a:latin typeface="+mn-ea"/>
              <a:ea typeface="+mn-ea"/>
              <a:cs typeface="黑体"/>
            </a:endParaRPr>
          </a:p>
          <a:p>
            <a:pPr marL="355600" marR="5080" indent="-342900">
              <a:lnSpc>
                <a:spcPct val="120000"/>
              </a:lnSpc>
              <a:spcBef>
                <a:spcPts val="615"/>
              </a:spcBef>
              <a:buFont typeface="Wingdings"/>
              <a:buChar char=""/>
              <a:tabLst>
                <a:tab pos="355600" algn="l"/>
                <a:tab pos="508634" algn="l"/>
              </a:tabLst>
            </a:pPr>
            <a:r>
              <a:rPr sz="1550" dirty="0">
                <a:solidFill>
                  <a:srgbClr val="CC9900"/>
                </a:solidFill>
                <a:latin typeface="+mn-ea"/>
                <a:ea typeface="+mn-ea"/>
                <a:cs typeface="Times New Roman"/>
              </a:rPr>
              <a:t>	</a:t>
            </a:r>
            <a:r>
              <a:rPr sz="2400" b="1" spc="-25" dirty="0" err="1">
                <a:latin typeface="+mn-ea"/>
                <a:ea typeface="+mn-ea"/>
                <a:cs typeface="新宋体"/>
              </a:rPr>
              <a:t>哈夫曼提出构造最优前缀码的贪心算法，由此产生的</a:t>
            </a:r>
            <a:r>
              <a:rPr sz="2400" b="1" spc="-20" dirty="0" err="1">
                <a:latin typeface="+mn-ea"/>
                <a:ea typeface="+mn-ea"/>
                <a:cs typeface="新宋体"/>
              </a:rPr>
              <a:t>编码方案称为</a:t>
            </a:r>
            <a:r>
              <a:rPr sz="2400" b="1" spc="-20" dirty="0" err="1">
                <a:solidFill>
                  <a:srgbClr val="996600"/>
                </a:solidFill>
                <a:latin typeface="+mn-ea"/>
                <a:ea typeface="+mn-ea"/>
                <a:cs typeface="新宋体"/>
              </a:rPr>
              <a:t>哈夫曼编码</a:t>
            </a:r>
            <a:r>
              <a:rPr sz="2400" b="1" spc="-50" dirty="0" err="1" smtClean="0">
                <a:latin typeface="+mn-ea"/>
                <a:ea typeface="+mn-ea"/>
                <a:cs typeface="新宋体"/>
              </a:rPr>
              <a:t>。</a:t>
            </a:r>
            <a:r>
              <a:rPr sz="2400" b="1" spc="-25" dirty="0" err="1" smtClean="0">
                <a:latin typeface="+mn-ea"/>
                <a:ea typeface="+mn-ea"/>
                <a:cs typeface="新宋体"/>
              </a:rPr>
              <a:t>哈夫曼算法</a:t>
            </a:r>
            <a:r>
              <a:rPr sz="2400" b="1" spc="-25" dirty="0" err="1" smtClean="0">
                <a:solidFill>
                  <a:srgbClr val="002060"/>
                </a:solidFill>
                <a:latin typeface="+mn-ea"/>
                <a:ea typeface="+mn-ea"/>
                <a:cs typeface="新宋体"/>
              </a:rPr>
              <a:t>以自底向上的方式</a:t>
            </a:r>
            <a:r>
              <a:rPr sz="2400" b="1" spc="-25" dirty="0" err="1" smtClean="0">
                <a:latin typeface="+mn-ea"/>
                <a:ea typeface="+mn-ea"/>
                <a:cs typeface="新宋体"/>
              </a:rPr>
              <a:t>构造表示最优前缀码的</a:t>
            </a:r>
            <a:r>
              <a:rPr sz="2400" b="1" spc="-20" dirty="0" err="1" smtClean="0">
                <a:latin typeface="+mn-ea"/>
                <a:ea typeface="+mn-ea"/>
                <a:cs typeface="新宋体"/>
              </a:rPr>
              <a:t>二叉树</a:t>
            </a:r>
            <a:r>
              <a:rPr sz="2400" b="1" spc="-10" dirty="0" err="1">
                <a:latin typeface="+mn-ea"/>
                <a:ea typeface="+mn-ea"/>
                <a:cs typeface="新宋体"/>
              </a:rPr>
              <a:t>T</a:t>
            </a:r>
            <a:r>
              <a:rPr sz="2400" b="1" spc="-50" dirty="0" smtClean="0">
                <a:latin typeface="+mn-ea"/>
                <a:ea typeface="+mn-ea"/>
                <a:cs typeface="新宋体"/>
              </a:rPr>
              <a:t>。</a:t>
            </a:r>
            <a:endParaRPr lang="en-US" sz="2400" b="1" spc="-50" dirty="0" smtClean="0">
              <a:latin typeface="+mn-ea"/>
              <a:ea typeface="+mn-ea"/>
              <a:cs typeface="新宋体"/>
            </a:endParaRPr>
          </a:p>
          <a:p>
            <a:pPr marL="355600" marR="5080" indent="-342900">
              <a:lnSpc>
                <a:spcPct val="120000"/>
              </a:lnSpc>
              <a:spcBef>
                <a:spcPts val="615"/>
              </a:spcBef>
              <a:buFont typeface="Wingdings"/>
              <a:buChar char=""/>
              <a:tabLst>
                <a:tab pos="355600" algn="l"/>
                <a:tab pos="508634" algn="l"/>
              </a:tabLst>
            </a:pPr>
            <a:endParaRPr sz="2400" dirty="0">
              <a:latin typeface="+mn-ea"/>
              <a:ea typeface="+mn-ea"/>
              <a:cs typeface="新宋体"/>
            </a:endParaRPr>
          </a:p>
          <a:p>
            <a:pPr marL="355600" marR="153670" indent="-342900">
              <a:lnSpc>
                <a:spcPts val="4160"/>
              </a:lnSpc>
              <a:spcBef>
                <a:spcPts val="20"/>
              </a:spcBef>
              <a:buFont typeface="Wingdings"/>
              <a:buChar char=""/>
              <a:tabLst>
                <a:tab pos="355600" algn="l"/>
                <a:tab pos="508634" algn="l"/>
              </a:tabLst>
            </a:pPr>
            <a:r>
              <a:rPr sz="1550" dirty="0">
                <a:solidFill>
                  <a:srgbClr val="CC9900"/>
                </a:solidFill>
                <a:latin typeface="+mn-ea"/>
                <a:ea typeface="+mn-ea"/>
                <a:cs typeface="Times New Roman"/>
              </a:rPr>
              <a:t>	</a:t>
            </a:r>
            <a:r>
              <a:rPr lang="zh-CN" altLang="en-US" sz="2400" b="1" spc="-20" dirty="0" smtClean="0">
                <a:latin typeface="+mn-ea"/>
                <a:ea typeface="+mn-ea"/>
                <a:cs typeface="新宋体"/>
              </a:rPr>
              <a:t>基本思想：</a:t>
            </a:r>
            <a:endParaRPr lang="en-US" altLang="zh-CN" sz="2400" b="1" spc="-20" dirty="0" smtClean="0">
              <a:latin typeface="+mn-ea"/>
              <a:ea typeface="+mn-ea"/>
              <a:cs typeface="新宋体"/>
            </a:endParaRPr>
          </a:p>
          <a:p>
            <a:pPr marL="812800" marR="153670" lvl="1" indent="-342900">
              <a:lnSpc>
                <a:spcPts val="4160"/>
              </a:lnSpc>
              <a:spcBef>
                <a:spcPts val="20"/>
              </a:spcBef>
              <a:buFont typeface="Wingdings"/>
              <a:buChar char=""/>
              <a:tabLst>
                <a:tab pos="355600" algn="l"/>
                <a:tab pos="508634" algn="l"/>
              </a:tabLst>
            </a:pPr>
            <a:r>
              <a:rPr sz="2200" b="1" spc="-20" dirty="0" err="1" smtClean="0">
                <a:latin typeface="+mn-ea"/>
                <a:ea typeface="+mn-ea"/>
                <a:cs typeface="新宋体"/>
              </a:rPr>
              <a:t>以</a:t>
            </a:r>
            <a:r>
              <a:rPr sz="2200" b="1" spc="-10" dirty="0" err="1">
                <a:latin typeface="+mn-ea"/>
                <a:ea typeface="+mn-ea"/>
                <a:cs typeface="新宋体"/>
              </a:rPr>
              <a:t>|C|</a:t>
            </a:r>
            <a:r>
              <a:rPr sz="2200" b="1" spc="-20" dirty="0" err="1">
                <a:latin typeface="+mn-ea"/>
                <a:ea typeface="+mn-ea"/>
                <a:cs typeface="新宋体"/>
              </a:rPr>
              <a:t>个叶结点开始，执行</a:t>
            </a:r>
            <a:r>
              <a:rPr sz="2200" b="1" spc="-10" dirty="0" err="1">
                <a:latin typeface="+mn-ea"/>
                <a:ea typeface="+mn-ea"/>
                <a:cs typeface="新宋体"/>
              </a:rPr>
              <a:t>|C</a:t>
            </a:r>
            <a:r>
              <a:rPr sz="2200" b="1" spc="-10" dirty="0">
                <a:latin typeface="+mn-ea"/>
                <a:ea typeface="+mn-ea"/>
                <a:cs typeface="新宋体"/>
              </a:rPr>
              <a:t>|－1</a:t>
            </a:r>
            <a:r>
              <a:rPr sz="2200" b="1" spc="-25" dirty="0" smtClean="0">
                <a:latin typeface="+mn-ea"/>
                <a:ea typeface="+mn-ea"/>
                <a:cs typeface="新宋体"/>
              </a:rPr>
              <a:t>次的</a:t>
            </a:r>
            <a:r>
              <a:rPr lang="en-US" sz="2200" b="1" spc="-25" dirty="0" smtClean="0">
                <a:latin typeface="+mn-ea"/>
                <a:ea typeface="+mn-ea"/>
                <a:cs typeface="新宋体"/>
              </a:rPr>
              <a:t>  </a:t>
            </a:r>
            <a:r>
              <a:rPr sz="2200" b="1" spc="-25" dirty="0" smtClean="0">
                <a:latin typeface="+mn-ea"/>
                <a:ea typeface="+mn-ea"/>
                <a:cs typeface="新宋体"/>
              </a:rPr>
              <a:t>“</a:t>
            </a:r>
            <a:r>
              <a:rPr sz="2200" b="1" spc="-25" dirty="0">
                <a:latin typeface="+mn-ea"/>
                <a:ea typeface="+mn-ea"/>
                <a:cs typeface="新宋体"/>
              </a:rPr>
              <a:t>合并”</a:t>
            </a:r>
            <a:r>
              <a:rPr sz="2200" b="1" spc="-20" dirty="0">
                <a:latin typeface="+mn-ea"/>
                <a:ea typeface="+mn-ea"/>
                <a:cs typeface="新宋体"/>
              </a:rPr>
              <a:t>运算后产生最终所要求的树</a:t>
            </a:r>
            <a:r>
              <a:rPr sz="2200" b="1" spc="-10" dirty="0">
                <a:latin typeface="+mn-ea"/>
                <a:ea typeface="+mn-ea"/>
                <a:cs typeface="新宋体"/>
              </a:rPr>
              <a:t>T</a:t>
            </a:r>
            <a:r>
              <a:rPr sz="2200" b="1" spc="-50" dirty="0">
                <a:latin typeface="+mn-ea"/>
                <a:ea typeface="+mn-ea"/>
                <a:cs typeface="新宋体"/>
              </a:rPr>
              <a:t>。</a:t>
            </a:r>
            <a:endParaRPr sz="2200" dirty="0">
              <a:latin typeface="+mn-ea"/>
              <a:ea typeface="+mn-ea"/>
              <a:cs typeface="新宋体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59401" b="12784"/>
          <a:stretch/>
        </p:blipFill>
        <p:spPr>
          <a:xfrm>
            <a:off x="6084168" y="2132856"/>
            <a:ext cx="2845424" cy="330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81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42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xfrm>
            <a:off x="685800" y="333375"/>
            <a:ext cx="7772400" cy="11430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4.4 </a:t>
            </a:r>
            <a:r>
              <a:rPr lang="zh-CN" altLang="en-US" dirty="0">
                <a:latin typeface="+mn-ea"/>
                <a:ea typeface="+mn-ea"/>
              </a:rPr>
              <a:t>哈夫曼编码</a:t>
            </a:r>
          </a:p>
        </p:txBody>
      </p:sp>
      <p:sp>
        <p:nvSpPr>
          <p:cNvPr id="33280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268413"/>
            <a:ext cx="7920038" cy="2874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算法</a:t>
            </a:r>
            <a:r>
              <a:rPr kumimoji="0" lang="en-US" altLang="zh-CN" sz="22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huffmanTree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编码字符集中每一字符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的频率是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f(c)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以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f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为键值的优先队列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Q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用在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贪心选择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时有效地确定算法当前要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合并的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棵具有最小频率的树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。一旦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棵具有最小频率的树合并后，产生一棵新的树，其频率为合并的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棵树的频率之和，并将新树插入优先队列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Q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。经过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－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次的合并后，优先队列中只剩下一棵树，即所要求的树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T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4608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4437112"/>
            <a:ext cx="6755514" cy="156632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94307" y="4878359"/>
            <a:ext cx="620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kern="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f(c)</a:t>
            </a:r>
            <a:endParaRPr lang="zh-CN" altLang="en-US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305290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43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>
          <a:xfrm>
            <a:off x="685800" y="333375"/>
            <a:ext cx="7772400" cy="11430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4.4 </a:t>
            </a:r>
            <a:r>
              <a:rPr lang="zh-CN" altLang="en-US" dirty="0">
                <a:latin typeface="+mn-ea"/>
                <a:ea typeface="+mn-ea"/>
              </a:rPr>
              <a:t>哈夫曼编码</a:t>
            </a:r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357188" y="4929188"/>
            <a:ext cx="8358187" cy="1714500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10000"/>
              </a:lnSpc>
            </a:pPr>
            <a:r>
              <a:rPr lang="zh-CN" altLang="en-US" sz="2400" b="1" dirty="0">
                <a:latin typeface="+mn-ea"/>
              </a:rPr>
              <a:t>算法</a:t>
            </a:r>
            <a:r>
              <a:rPr lang="en-US" altLang="zh-CN" sz="2400" b="1" dirty="0" err="1" smtClean="0">
                <a:latin typeface="+mn-ea"/>
              </a:rPr>
              <a:t>huffmanTree</a:t>
            </a:r>
            <a:r>
              <a:rPr lang="zh-CN" altLang="en-US" sz="2400" b="1" dirty="0">
                <a:latin typeface="+mn-ea"/>
              </a:rPr>
              <a:t>首先</a:t>
            </a:r>
            <a:r>
              <a:rPr lang="zh-CN" altLang="en-US" sz="2400" b="1" dirty="0" smtClean="0">
                <a:latin typeface="+mn-ea"/>
              </a:rPr>
              <a:t>初始化</a:t>
            </a:r>
            <a:r>
              <a:rPr lang="zh-CN" altLang="en-US" sz="2400" b="1" dirty="0">
                <a:latin typeface="+mn-ea"/>
              </a:rPr>
              <a:t>优先</a:t>
            </a:r>
            <a:r>
              <a:rPr lang="zh-CN" altLang="en-US" sz="2400" b="1" dirty="0" smtClean="0">
                <a:latin typeface="+mn-ea"/>
              </a:rPr>
              <a:t>队列</a:t>
            </a:r>
            <a:r>
              <a:rPr lang="en-US" altLang="zh-CN" sz="2400" b="1" dirty="0" smtClean="0">
                <a:latin typeface="+mn-ea"/>
              </a:rPr>
              <a:t>Q</a:t>
            </a:r>
            <a:r>
              <a:rPr lang="zh-CN" altLang="en-US" sz="2400" b="1" dirty="0" smtClean="0">
                <a:latin typeface="+mn-ea"/>
              </a:rPr>
              <a:t>，需要</a:t>
            </a:r>
            <a:r>
              <a:rPr lang="en-US" altLang="zh-CN" sz="2400" b="1" dirty="0">
                <a:latin typeface="+mn-ea"/>
              </a:rPr>
              <a:t>O(n)</a:t>
            </a:r>
            <a:r>
              <a:rPr lang="zh-CN" altLang="en-US" sz="2400" b="1" dirty="0" smtClean="0">
                <a:latin typeface="+mn-ea"/>
              </a:rPr>
              <a:t>计算时间。合并和插入运算</a:t>
            </a:r>
            <a:r>
              <a:rPr lang="zh-CN" altLang="en-US" sz="2400" b="1" dirty="0">
                <a:latin typeface="+mn-ea"/>
              </a:rPr>
              <a:t>均需</a:t>
            </a:r>
            <a:r>
              <a:rPr lang="en-US" altLang="zh-CN" sz="2400" b="1" dirty="0">
                <a:latin typeface="+mn-ea"/>
              </a:rPr>
              <a:t>O(logn)</a:t>
            </a:r>
            <a:r>
              <a:rPr lang="zh-CN" altLang="en-US" sz="2400" b="1" dirty="0">
                <a:latin typeface="+mn-ea"/>
              </a:rPr>
              <a:t>时间，</a:t>
            </a:r>
            <a:r>
              <a:rPr lang="en-US" altLang="zh-CN" sz="2400" b="1" dirty="0">
                <a:latin typeface="+mn-ea"/>
              </a:rPr>
              <a:t>n</a:t>
            </a:r>
            <a:r>
              <a:rPr lang="zh-CN" altLang="en-US" sz="2400" b="1" dirty="0">
                <a:latin typeface="+mn-ea"/>
              </a:rPr>
              <a:t>－</a:t>
            </a:r>
            <a:r>
              <a:rPr lang="en-US" altLang="zh-CN" sz="2400" b="1" dirty="0">
                <a:latin typeface="+mn-ea"/>
              </a:rPr>
              <a:t>1</a:t>
            </a:r>
            <a:r>
              <a:rPr lang="zh-CN" altLang="en-US" sz="2400" b="1" dirty="0">
                <a:latin typeface="+mn-ea"/>
              </a:rPr>
              <a:t>次的合并总共需要</a:t>
            </a:r>
            <a:r>
              <a:rPr lang="en-US" altLang="zh-CN" sz="2400" b="1" dirty="0">
                <a:latin typeface="+mn-ea"/>
              </a:rPr>
              <a:t>O(nlogn)</a:t>
            </a:r>
            <a:r>
              <a:rPr lang="zh-CN" altLang="en-US" sz="2400" b="1" dirty="0">
                <a:latin typeface="+mn-ea"/>
              </a:rPr>
              <a:t>计算时间。因此，关于</a:t>
            </a:r>
            <a:r>
              <a:rPr lang="en-US" altLang="zh-CN" sz="2400" b="1" dirty="0">
                <a:latin typeface="+mn-ea"/>
              </a:rPr>
              <a:t>n</a:t>
            </a:r>
            <a:r>
              <a:rPr lang="zh-CN" altLang="en-US" sz="2400" b="1" dirty="0">
                <a:latin typeface="+mn-ea"/>
              </a:rPr>
              <a:t>个字符的哈夫曼算法的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计算时间</a:t>
            </a:r>
            <a:r>
              <a:rPr lang="zh-CN" altLang="en-US" sz="2400" b="1" dirty="0">
                <a:latin typeface="+mn-ea"/>
              </a:rPr>
              <a:t>为</a:t>
            </a:r>
            <a:r>
              <a:rPr lang="en-US" altLang="zh-CN" sz="2400" b="1" dirty="0">
                <a:latin typeface="+mn-ea"/>
              </a:rPr>
              <a:t>O(nlogn)</a:t>
            </a:r>
            <a:r>
              <a:rPr lang="zh-CN" altLang="en-US" sz="2400" b="1" dirty="0">
                <a:latin typeface="+mn-ea"/>
              </a:rPr>
              <a:t> 。</a:t>
            </a:r>
          </a:p>
        </p:txBody>
      </p:sp>
      <p:pic>
        <p:nvPicPr>
          <p:cNvPr id="4710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124744"/>
            <a:ext cx="8476415" cy="360040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83773632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44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4.4 </a:t>
            </a:r>
            <a:r>
              <a:rPr lang="zh-CN" altLang="en-US" dirty="0">
                <a:latin typeface="+mn-ea"/>
                <a:ea typeface="+mn-ea"/>
              </a:rPr>
              <a:t>哈夫曼编码</a:t>
            </a:r>
          </a:p>
        </p:txBody>
      </p:sp>
      <p:sp>
        <p:nvSpPr>
          <p:cNvPr id="48132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7772400" cy="41148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sz="2800" b="1" dirty="0">
                <a:solidFill>
                  <a:schemeClr val="folHlink"/>
                </a:solidFill>
                <a:latin typeface="+mn-ea"/>
              </a:rPr>
              <a:t>3</a:t>
            </a:r>
            <a:r>
              <a:rPr lang="zh-CN" altLang="en-US" sz="2800" b="1" dirty="0">
                <a:solidFill>
                  <a:schemeClr val="folHlink"/>
                </a:solidFill>
                <a:latin typeface="+mn-ea"/>
              </a:rPr>
              <a:t> 哈夫曼算法的正确性</a:t>
            </a:r>
          </a:p>
          <a:p>
            <a:pPr>
              <a:buNone/>
            </a:pPr>
            <a:r>
              <a:rPr lang="zh-CN" altLang="en-US" sz="2400" dirty="0">
                <a:latin typeface="+mn-ea"/>
              </a:rPr>
              <a:t>		</a:t>
            </a:r>
            <a:r>
              <a:rPr lang="zh-CN" altLang="en-US" sz="2400" b="1" dirty="0">
                <a:latin typeface="+mn-ea"/>
              </a:rPr>
              <a:t>要证明哈夫曼算法的正确性，只要证明最优前缀码问题具有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贪心选择性质</a:t>
            </a:r>
            <a:r>
              <a:rPr lang="zh-CN" altLang="en-US" sz="2400" b="1" dirty="0">
                <a:latin typeface="+mn-ea"/>
              </a:rPr>
              <a:t>和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最优子结构性质</a:t>
            </a:r>
            <a:r>
              <a:rPr lang="zh-CN" altLang="en-US" sz="2400" b="1" dirty="0">
                <a:latin typeface="+mn-ea"/>
              </a:rPr>
              <a:t>。</a:t>
            </a:r>
          </a:p>
          <a:p>
            <a:pPr>
              <a:lnSpc>
                <a:spcPct val="200000"/>
              </a:lnSpc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+mn-ea"/>
              </a:rPr>
              <a:t>		</a:t>
            </a: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(1)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贪心选择</a:t>
            </a:r>
            <a:r>
              <a:rPr lang="zh-CN" altLang="en-US" sz="2400" b="1" dirty="0" smtClean="0">
                <a:solidFill>
                  <a:schemeClr val="hlink"/>
                </a:solidFill>
                <a:latin typeface="+mn-ea"/>
              </a:rPr>
              <a:t>性质</a:t>
            </a:r>
            <a:endParaRPr lang="en-US" altLang="zh-CN" sz="2400" b="1" dirty="0" smtClean="0">
              <a:solidFill>
                <a:schemeClr val="hlink"/>
              </a:solidFill>
              <a:latin typeface="+mn-ea"/>
            </a:endParaRPr>
          </a:p>
          <a:p>
            <a:pPr>
              <a:buNone/>
            </a:pPr>
            <a:r>
              <a:rPr lang="zh-CN" altLang="en-US" sz="2400" b="1" dirty="0" smtClean="0">
                <a:latin typeface="+mn-ea"/>
              </a:rPr>
              <a:t>        每次</a:t>
            </a:r>
            <a:r>
              <a:rPr lang="zh-CN" altLang="en-US" sz="2400" b="1" dirty="0">
                <a:latin typeface="+mn-ea"/>
              </a:rPr>
              <a:t>贪心选频率最低的两个编码一定是原问题最优解的一部分。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		(2)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最优子结构性质</a:t>
            </a:r>
          </a:p>
          <a:p>
            <a:pPr>
              <a:buNone/>
            </a:pPr>
            <a:r>
              <a:rPr lang="zh-CN" altLang="en-US" sz="2400" b="1" dirty="0" smtClean="0">
                <a:latin typeface="+mn-ea"/>
              </a:rPr>
              <a:t>        每次</a:t>
            </a:r>
            <a:r>
              <a:rPr lang="zh-CN" altLang="en-US" sz="2400" b="1" dirty="0">
                <a:latin typeface="+mn-ea"/>
              </a:rPr>
              <a:t>贪心选择后，</a:t>
            </a:r>
            <a:r>
              <a:rPr lang="zh-CN" altLang="en-US" sz="2400" b="1" dirty="0" smtClean="0">
                <a:latin typeface="+mn-ea"/>
              </a:rPr>
              <a:t>剩下字符的</a:t>
            </a:r>
            <a:r>
              <a:rPr lang="zh-CN" altLang="en-US" sz="2400" b="1" dirty="0">
                <a:latin typeface="+mn-ea"/>
              </a:rPr>
              <a:t>最优编码</a:t>
            </a:r>
            <a:r>
              <a:rPr lang="zh-CN" altLang="en-US" sz="2400" b="1" dirty="0" smtClean="0">
                <a:latin typeface="+mn-ea"/>
              </a:rPr>
              <a:t>和贪心选择</a:t>
            </a:r>
            <a:r>
              <a:rPr lang="zh-CN" altLang="en-US" sz="2400" b="1" dirty="0">
                <a:latin typeface="+mn-ea"/>
              </a:rPr>
              <a:t>的两个最优编码可以合成原问题的最优编码</a:t>
            </a:r>
          </a:p>
        </p:txBody>
      </p:sp>
    </p:spTree>
    <p:extLst>
      <p:ext uri="{BB962C8B-B14F-4D97-AF65-F5344CB8AC3E}">
        <p14:creationId xmlns:p14="http://schemas.microsoft.com/office/powerpoint/2010/main" val="31130249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Garamond" pitchFamily="18" charset="0"/>
                <a:ea typeface="宋体" panose="02010600030101010101" pitchFamily="2" charset="-122"/>
              </a:rPr>
              <a:t>45</a:t>
            </a:fld>
            <a:endParaRPr lang="en-US" altLang="zh-CN" sz="1200" dirty="0">
              <a:solidFill>
                <a:schemeClr val="tx1"/>
              </a:solidFill>
              <a:latin typeface="Garamond" pitchFamily="18" charset="0"/>
              <a:ea typeface="宋体" panose="02010600030101010101" pitchFamily="2" charset="-122"/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>
          <a:xfrm>
            <a:off x="395288" y="260350"/>
            <a:ext cx="8229600" cy="1139825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最优前缀码性质：引理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9156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792288"/>
            <a:ext cx="6646863" cy="467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467544" y="715070"/>
            <a:ext cx="3276859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32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贪心选择性质</a:t>
            </a:r>
            <a:endParaRPr lang="en-US" altLang="zh-CN" sz="32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814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6121152" y="5932781"/>
            <a:ext cx="2133600" cy="457200"/>
          </a:xfrm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Garamond" pitchFamily="18" charset="0"/>
                <a:ea typeface="宋体" panose="02010600030101010101" pitchFamily="2" charset="-122"/>
              </a:rPr>
              <a:t>46</a:t>
            </a:fld>
            <a:endParaRPr lang="en-US" altLang="zh-CN" sz="1200" dirty="0">
              <a:solidFill>
                <a:schemeClr val="tx1"/>
              </a:solidFill>
              <a:latin typeface="Garamond" pitchFamily="18" charset="0"/>
              <a:ea typeface="宋体" panose="02010600030101010101" pitchFamily="2" charset="-122"/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引理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0180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772816"/>
            <a:ext cx="6551612" cy="4216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135707" y="586532"/>
            <a:ext cx="368883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32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最优子结构性质</a:t>
            </a:r>
          </a:p>
        </p:txBody>
      </p:sp>
      <p:sp>
        <p:nvSpPr>
          <p:cNvPr id="3" name="矩形 2"/>
          <p:cNvSpPr/>
          <p:nvPr/>
        </p:nvSpPr>
        <p:spPr>
          <a:xfrm>
            <a:off x="1878080" y="1753766"/>
            <a:ext cx="370614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600" b="0" cap="none" spc="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zh-CN" altLang="en-US" sz="2600" b="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5707" y="6345113"/>
            <a:ext cx="88287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30000"/>
              </a:spcBef>
              <a:defRPr/>
            </a:pPr>
            <a:r>
              <a:rPr lang="zh-CN" altLang="en-US" sz="2000">
                <a:solidFill>
                  <a:schemeClr val="tx1"/>
                </a:solidFill>
                <a:latin typeface="+mn-ea"/>
                <a:ea typeface="+mn-ea"/>
              </a:rPr>
              <a:t>若存在比 </a:t>
            </a:r>
            <a:r>
              <a:rPr lang="en-US" altLang="zh-CN" sz="2000" i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′ 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更优的子树 </a:t>
            </a:r>
            <a:r>
              <a:rPr lang="en-US" altLang="zh-CN" sz="2000" i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′′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，则可通过还原 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和 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y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得到比</a:t>
            </a:r>
            <a:r>
              <a:rPr lang="en-US" altLang="zh-CN" sz="2000" i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 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更优的树，矛盾。</a:t>
            </a:r>
          </a:p>
        </p:txBody>
      </p:sp>
    </p:spTree>
    <p:extLst>
      <p:ext uri="{BB962C8B-B14F-4D97-AF65-F5344CB8AC3E}">
        <p14:creationId xmlns:p14="http://schemas.microsoft.com/office/powerpoint/2010/main" val="395993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Garamond" pitchFamily="18" charset="0"/>
                <a:ea typeface="宋体" panose="02010600030101010101" pitchFamily="2" charset="-122"/>
              </a:rPr>
              <a:t>47</a:t>
            </a:fld>
            <a:endParaRPr lang="en-US" altLang="zh-CN" sz="1200" dirty="0">
              <a:solidFill>
                <a:schemeClr val="tx1"/>
              </a:solidFill>
              <a:latin typeface="Garamond" pitchFamily="18" charset="0"/>
              <a:ea typeface="宋体" panose="02010600030101010101" pitchFamily="2" charset="-122"/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算法正确性证明思路</a:t>
            </a:r>
          </a:p>
        </p:txBody>
      </p:sp>
      <p:pic>
        <p:nvPicPr>
          <p:cNvPr id="51204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268760"/>
            <a:ext cx="6878970" cy="4751858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66054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归纳基础</a:t>
            </a:r>
          </a:p>
        </p:txBody>
      </p:sp>
      <p:sp>
        <p:nvSpPr>
          <p:cNvPr id="52227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Garamond" pitchFamily="18" charset="0"/>
                <a:ea typeface="宋体" panose="02010600030101010101" pitchFamily="2" charset="-122"/>
              </a:rPr>
              <a:t>48</a:t>
            </a:fld>
            <a:endParaRPr lang="en-US" altLang="zh-CN" sz="1200" dirty="0">
              <a:solidFill>
                <a:schemeClr val="tx1"/>
              </a:solidFill>
              <a:latin typeface="Garamond" pitchFamily="18" charset="0"/>
              <a:ea typeface="宋体" panose="02010600030101010101" pitchFamily="2" charset="-122"/>
            </a:endParaRPr>
          </a:p>
        </p:txBody>
      </p:sp>
      <p:pic>
        <p:nvPicPr>
          <p:cNvPr id="52228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393255"/>
            <a:ext cx="5950052" cy="4032448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61743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归纳步骤</a:t>
            </a:r>
          </a:p>
        </p:txBody>
      </p:sp>
      <p:sp>
        <p:nvSpPr>
          <p:cNvPr id="53251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Garamond" pitchFamily="18" charset="0"/>
                <a:ea typeface="宋体" panose="02010600030101010101" pitchFamily="2" charset="-122"/>
              </a:rPr>
              <a:t>49</a:t>
            </a:fld>
            <a:endParaRPr lang="en-US" altLang="zh-CN" sz="1200" dirty="0">
              <a:solidFill>
                <a:schemeClr val="tx1"/>
              </a:solidFill>
              <a:latin typeface="Garamond" pitchFamily="18" charset="0"/>
              <a:ea typeface="宋体" panose="02010600030101010101" pitchFamily="2" charset="-122"/>
            </a:endParaRPr>
          </a:p>
        </p:txBody>
      </p:sp>
      <p:pic>
        <p:nvPicPr>
          <p:cNvPr id="53252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841" y="1268760"/>
            <a:ext cx="5963005" cy="468052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连接符 2"/>
          <p:cNvCxnSpPr/>
          <p:nvPr/>
        </p:nvCxnSpPr>
        <p:spPr bwMode="auto">
          <a:xfrm>
            <a:off x="1907704" y="5949280"/>
            <a:ext cx="3528392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1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287" y="1045739"/>
            <a:ext cx="4467225" cy="2352675"/>
          </a:xfrm>
          <a:prstGeom prst="rect">
            <a:avLst/>
          </a:prstGeom>
        </p:spPr>
      </p:pic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>
                <a:latin typeface="+mn-ea"/>
                <a:ea typeface="+mn-ea"/>
              </a:rPr>
              <a:t>归纳步骤</a:t>
            </a:r>
          </a:p>
        </p:txBody>
      </p:sp>
      <p:sp>
        <p:nvSpPr>
          <p:cNvPr id="54275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+mn-ea"/>
                <a:ea typeface="+mn-ea"/>
              </a:rPr>
              <a:t>50</a:t>
            </a:fld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b="69337"/>
          <a:stretch/>
        </p:blipFill>
        <p:spPr>
          <a:xfrm>
            <a:off x="139887" y="1288827"/>
            <a:ext cx="4669468" cy="9361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4139952" y="335098"/>
            <a:ext cx="39004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latin typeface="+mn-ea"/>
                <a:ea typeface="+mn-ea"/>
              </a:rPr>
              <a:t>T'</a:t>
            </a:r>
            <a:r>
              <a:rPr lang="zh-CN" altLang="en-US" sz="2400" b="1" dirty="0" smtClean="0">
                <a:latin typeface="+mn-ea"/>
                <a:ea typeface="+mn-ea"/>
              </a:rPr>
              <a:t>是</a:t>
            </a:r>
            <a:r>
              <a:rPr lang="en-US" altLang="zh-CN" sz="2400" b="1" dirty="0" smtClean="0">
                <a:latin typeface="+mn-ea"/>
                <a:ea typeface="+mn-ea"/>
              </a:rPr>
              <a:t>C'</a:t>
            </a:r>
            <a:r>
              <a:rPr lang="zh-CN" altLang="en-US" sz="2400" b="1" dirty="0" smtClean="0">
                <a:latin typeface="+mn-ea"/>
                <a:ea typeface="+mn-ea"/>
              </a:rPr>
              <a:t>最</a:t>
            </a:r>
            <a:r>
              <a:rPr lang="zh-CN" altLang="en-US" sz="2400" b="1" dirty="0">
                <a:latin typeface="+mn-ea"/>
                <a:ea typeface="+mn-ea"/>
              </a:rPr>
              <a:t>优</a:t>
            </a:r>
            <a:r>
              <a:rPr lang="zh-CN" altLang="en-US" sz="2400" b="1" dirty="0" smtClean="0">
                <a:latin typeface="+mn-ea"/>
                <a:ea typeface="+mn-ea"/>
              </a:rPr>
              <a:t>前缀码的二叉树</a:t>
            </a:r>
            <a:endParaRPr lang="zh-CN" altLang="en-US" sz="2400" dirty="0">
              <a:latin typeface="+mn-ea"/>
              <a:ea typeface="+mn-ea"/>
            </a:endParaRPr>
          </a:p>
        </p:txBody>
      </p:sp>
      <p:pic>
        <p:nvPicPr>
          <p:cNvPr id="7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3090389"/>
            <a:ext cx="4678715" cy="29825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/>
          <p:cNvSpPr/>
          <p:nvPr/>
        </p:nvSpPr>
        <p:spPr>
          <a:xfrm>
            <a:off x="332590" y="2532660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+mn-ea"/>
                <a:ea typeface="+mn-ea"/>
              </a:rPr>
              <a:t>反证法：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58008" y="6309975"/>
            <a:ext cx="71287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latin typeface="+mn-ea"/>
                <a:ea typeface="+mn-ea"/>
              </a:rPr>
              <a:t>上述过程证明了哈夫曼</a:t>
            </a:r>
            <a:r>
              <a:rPr lang="zh-CN" altLang="en-US" sz="2800" b="1" dirty="0">
                <a:latin typeface="+mn-ea"/>
                <a:ea typeface="+mn-ea"/>
              </a:rPr>
              <a:t>算法的</a:t>
            </a:r>
            <a:r>
              <a:rPr lang="zh-CN" altLang="en-US" sz="2800" b="1" dirty="0" smtClean="0">
                <a:latin typeface="+mn-ea"/>
                <a:ea typeface="+mn-ea"/>
              </a:rPr>
              <a:t>正确性。</a:t>
            </a:r>
            <a:endParaRPr lang="zh-CN" altLang="en-US" sz="2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833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747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学习要点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981075"/>
            <a:ext cx="8229600" cy="5184775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通过应用范例学习贪心设计策略。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）活动安排问题；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）最优装载问题；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哈夫曼编码；</a:t>
            </a:r>
            <a:endParaRPr lang="en-US" altLang="zh-CN" sz="2400" b="1" dirty="0">
              <a:latin typeface="华文楷体" pitchFamily="2" charset="-122"/>
              <a:ea typeface="华文楷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单源最短路径；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）最小生成树；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6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）多机调度问题。</a:t>
            </a:r>
          </a:p>
        </p:txBody>
      </p:sp>
    </p:spTree>
    <p:extLst>
      <p:ext uri="{BB962C8B-B14F-4D97-AF65-F5344CB8AC3E}">
        <p14:creationId xmlns:p14="http://schemas.microsoft.com/office/powerpoint/2010/main" val="33452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52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4.5 </a:t>
            </a:r>
            <a:r>
              <a:rPr lang="zh-CN" altLang="en-US" dirty="0">
                <a:latin typeface="+mn-ea"/>
                <a:ea typeface="+mn-ea"/>
              </a:rPr>
              <a:t>单源最短路径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183194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lvl="0" indent="0">
              <a:lnSpc>
                <a:spcPct val="120000"/>
              </a:lnSpc>
              <a:buNone/>
              <a:defRPr/>
            </a:pPr>
            <a:r>
              <a:rPr lang="zh-CN" altLang="en-US" sz="2400" b="1" dirty="0">
                <a:solidFill>
                  <a:schemeClr val="hlink"/>
                </a:solidFill>
                <a:latin typeface="+mn-ea"/>
                <a:cs typeface="Times New Roman" panose="02020603050405020304" pitchFamily="18" charset="0"/>
              </a:rPr>
              <a:t>单源</a:t>
            </a:r>
            <a:r>
              <a:rPr lang="zh-CN" altLang="en-US" sz="2400" b="1" dirty="0" smtClean="0">
                <a:solidFill>
                  <a:schemeClr val="hlink"/>
                </a:solidFill>
                <a:latin typeface="+mn-ea"/>
                <a:cs typeface="Times New Roman" panose="02020603050405020304" pitchFamily="18" charset="0"/>
              </a:rPr>
              <a:t>最短路径问题：</a:t>
            </a:r>
            <a:endParaRPr lang="en-US" altLang="zh-CN" sz="2400" b="1" dirty="0" smtClean="0">
              <a:solidFill>
                <a:schemeClr val="hlink"/>
              </a:solidFill>
              <a:latin typeface="+mn-ea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给定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带权有向图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G =(V,E)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，其中每条边的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权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是非负实数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。给定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中的一个顶点，称为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源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。计算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从源到所有其它各顶点的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最短路长度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</a:t>
            </a:r>
            <a:r>
              <a:rPr kumimoji="0" lang="zh-CN" alt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长度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是指路上各边权之和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	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4" descr="t4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33872" y="3284984"/>
            <a:ext cx="2800350" cy="2881313"/>
          </a:xfrm>
          <a:prstGeom prst="rect">
            <a:avLst/>
          </a:prstGeom>
          <a:ln/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479055"/>
              </p:ext>
            </p:extLst>
          </p:nvPr>
        </p:nvGraphicFramePr>
        <p:xfrm>
          <a:off x="3635896" y="3498206"/>
          <a:ext cx="4775450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5090">
                  <a:extLst>
                    <a:ext uri="{9D8B030D-6E8A-4147-A177-3AD203B41FA5}">
                      <a16:colId xmlns:a16="http://schemas.microsoft.com/office/drawing/2014/main" val="80352638"/>
                    </a:ext>
                  </a:extLst>
                </a:gridCol>
                <a:gridCol w="955090">
                  <a:extLst>
                    <a:ext uri="{9D8B030D-6E8A-4147-A177-3AD203B41FA5}">
                      <a16:colId xmlns:a16="http://schemas.microsoft.com/office/drawing/2014/main" val="2518705394"/>
                    </a:ext>
                  </a:extLst>
                </a:gridCol>
                <a:gridCol w="955090">
                  <a:extLst>
                    <a:ext uri="{9D8B030D-6E8A-4147-A177-3AD203B41FA5}">
                      <a16:colId xmlns:a16="http://schemas.microsoft.com/office/drawing/2014/main" val="4240701029"/>
                    </a:ext>
                  </a:extLst>
                </a:gridCol>
                <a:gridCol w="955090">
                  <a:extLst>
                    <a:ext uri="{9D8B030D-6E8A-4147-A177-3AD203B41FA5}">
                      <a16:colId xmlns:a16="http://schemas.microsoft.com/office/drawing/2014/main" val="4293525324"/>
                    </a:ext>
                  </a:extLst>
                </a:gridCol>
                <a:gridCol w="955090">
                  <a:extLst>
                    <a:ext uri="{9D8B030D-6E8A-4147-A177-3AD203B41FA5}">
                      <a16:colId xmlns:a16="http://schemas.microsoft.com/office/drawing/2014/main" val="374452162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C00000"/>
                          </a:solidFill>
                        </a:rPr>
                        <a:t>10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C00000"/>
                          </a:solidFill>
                        </a:rPr>
                        <a:t>30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C00000"/>
                          </a:solidFill>
                        </a:rPr>
                        <a:t>100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125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C00000"/>
                          </a:solidFill>
                        </a:rPr>
                        <a:t>50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16082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C00000"/>
                          </a:solidFill>
                        </a:rPr>
                        <a:t>10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06032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C00000"/>
                          </a:solidFill>
                        </a:rPr>
                        <a:t>20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>
                          <a:solidFill>
                            <a:srgbClr val="C00000"/>
                          </a:solidFill>
                        </a:rPr>
                        <a:t>60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40098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max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996177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5003149" y="5473492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带权邻接矩阵</a:t>
            </a:r>
            <a:endParaRPr lang="zh-CN" altLang="en-US" sz="2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858216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53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4.5 </a:t>
            </a:r>
            <a:r>
              <a:rPr lang="zh-CN" altLang="en-US" dirty="0">
                <a:latin typeface="+mn-ea"/>
                <a:ea typeface="+mn-ea"/>
              </a:rPr>
              <a:t>单源最短路径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>
          <a:xfrm>
            <a:off x="441226" y="1196752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lvl="0" indent="0">
              <a:lnSpc>
                <a:spcPct val="120000"/>
              </a:lnSpc>
              <a:buNone/>
              <a:defRPr/>
            </a:pPr>
            <a:r>
              <a:rPr lang="zh-CN" altLang="en-US" sz="2400" b="1" dirty="0">
                <a:solidFill>
                  <a:schemeClr val="hlink"/>
                </a:solidFill>
                <a:latin typeface="+mn-ea"/>
                <a:cs typeface="Times New Roman" panose="02020603050405020304" pitchFamily="18" charset="0"/>
              </a:rPr>
              <a:t>单源</a:t>
            </a:r>
            <a:r>
              <a:rPr lang="zh-CN" altLang="en-US" sz="2400" b="1" dirty="0" smtClean="0">
                <a:solidFill>
                  <a:schemeClr val="hlink"/>
                </a:solidFill>
                <a:latin typeface="+mn-ea"/>
                <a:cs typeface="Times New Roman" panose="02020603050405020304" pitchFamily="18" charset="0"/>
              </a:rPr>
              <a:t>最短路径问题：</a:t>
            </a:r>
            <a:endParaRPr lang="en-US" altLang="zh-CN" sz="2400" b="1" dirty="0" smtClean="0">
              <a:solidFill>
                <a:schemeClr val="hlink"/>
              </a:solidFill>
              <a:latin typeface="+mn-ea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给定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带权有向图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G =(V,E)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，其中每条边的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权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是非负实数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。给定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中的一个顶点，称为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源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。计算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从源到所有其它各顶点的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最短路长度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</a:t>
            </a:r>
            <a:r>
              <a:rPr kumimoji="0" lang="zh-CN" alt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长度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是指路上各边权之和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1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算法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基本思想</a:t>
            </a: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	</a:t>
            </a:r>
            <a:r>
              <a:rPr kumimoji="0" lang="en-US" altLang="zh-CN" sz="2400" b="1" i="0" u="sng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Dijkstra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算法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解单源最短路径问题</a:t>
            </a:r>
            <a:endParaRPr lang="en-US" altLang="zh-CN" sz="2400" b="1" dirty="0">
              <a:latin typeface="+mn-ea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  <a:buNone/>
              <a:defRPr/>
            </a:pP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的贪心</a:t>
            </a:r>
            <a:r>
              <a:rPr lang="zh-CN" altLang="en-US" sz="2400" b="1" dirty="0" smtClean="0">
                <a:latin typeface="+mn-ea"/>
                <a:cs typeface="Times New Roman" panose="02020603050405020304" pitchFamily="18" charset="0"/>
              </a:rPr>
              <a:t>算法，应用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于地图寻</a:t>
            </a:r>
            <a:r>
              <a:rPr lang="zh-CN" altLang="en-US" sz="2400" b="1" dirty="0" smtClean="0">
                <a:latin typeface="+mn-ea"/>
                <a:cs typeface="Times New Roman" panose="02020603050405020304" pitchFamily="18" charset="0"/>
              </a:rPr>
              <a:t>径。</a:t>
            </a:r>
            <a:endParaRPr lang="zh-CN" altLang="en-US" sz="2400" b="1" dirty="0">
              <a:latin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4" descr="t4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90669" y="3248025"/>
            <a:ext cx="2800350" cy="288131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78679940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54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4.5 </a:t>
            </a:r>
            <a:r>
              <a:rPr lang="zh-CN" altLang="en-US" dirty="0">
                <a:latin typeface="+mn-ea"/>
                <a:ea typeface="+mn-ea"/>
              </a:rPr>
              <a:t>单源最短路径</a:t>
            </a:r>
          </a:p>
        </p:txBody>
      </p:sp>
      <p:sp>
        <p:nvSpPr>
          <p:cNvPr id="57348" name="Rectangle 3"/>
          <p:cNvSpPr>
            <a:spLocks noGrp="1"/>
          </p:cNvSpPr>
          <p:nvPr>
            <p:ph idx="1"/>
          </p:nvPr>
        </p:nvSpPr>
        <p:spPr>
          <a:xfrm>
            <a:off x="384943" y="3856006"/>
            <a:ext cx="5903887" cy="2616232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20000"/>
              </a:lnSpc>
            </a:pPr>
            <a:r>
              <a:rPr lang="zh-CN" altLang="en-US" sz="2200" b="1" dirty="0" smtClean="0">
                <a:latin typeface="+mn-ea"/>
              </a:rPr>
              <a:t>初始</a:t>
            </a:r>
            <a:r>
              <a:rPr lang="zh-CN" altLang="en-US" sz="2200" b="1" dirty="0">
                <a:latin typeface="+mn-ea"/>
              </a:rPr>
              <a:t>时，</a:t>
            </a:r>
            <a:r>
              <a:rPr lang="en-US" altLang="zh-CN" sz="2200" b="1" dirty="0">
                <a:solidFill>
                  <a:schemeClr val="accent1"/>
                </a:solidFill>
                <a:latin typeface="+mn-ea"/>
              </a:rPr>
              <a:t>S</a:t>
            </a:r>
            <a:r>
              <a:rPr lang="zh-CN" altLang="en-US" sz="2200" b="1" dirty="0">
                <a:solidFill>
                  <a:schemeClr val="accent1"/>
                </a:solidFill>
                <a:latin typeface="+mn-ea"/>
              </a:rPr>
              <a:t>中仅含有源</a:t>
            </a:r>
            <a:r>
              <a:rPr lang="zh-CN" altLang="en-US" sz="2200" b="1" dirty="0" smtClean="0">
                <a:latin typeface="+mn-ea"/>
              </a:rPr>
              <a:t>。</a:t>
            </a:r>
            <a:endParaRPr lang="en-US" altLang="zh-CN" sz="2200" b="1" dirty="0" smtClean="0">
              <a:latin typeface="+mn-ea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sz="2200" b="1" dirty="0" smtClean="0">
                <a:latin typeface="+mn-ea"/>
              </a:rPr>
              <a:t>每次</a:t>
            </a:r>
            <a:r>
              <a:rPr lang="zh-CN" altLang="en-US" sz="2200" b="1" dirty="0">
                <a:latin typeface="+mn-ea"/>
              </a:rPr>
              <a:t>从</a:t>
            </a:r>
            <a:r>
              <a:rPr lang="en-US" altLang="zh-CN" sz="2200" b="1" dirty="0">
                <a:latin typeface="+mn-ea"/>
              </a:rPr>
              <a:t>V-S</a:t>
            </a:r>
            <a:r>
              <a:rPr lang="zh-CN" altLang="en-US" sz="2200" b="1" dirty="0">
                <a:latin typeface="+mn-ea"/>
              </a:rPr>
              <a:t>中</a:t>
            </a:r>
            <a:r>
              <a:rPr lang="zh-CN" altLang="en-US" sz="2200" b="1" dirty="0">
                <a:solidFill>
                  <a:schemeClr val="accent1"/>
                </a:solidFill>
                <a:latin typeface="+mn-ea"/>
              </a:rPr>
              <a:t>取出</a:t>
            </a:r>
            <a:r>
              <a:rPr lang="zh-CN" altLang="en-US" sz="2200" b="1" u="sng" dirty="0">
                <a:solidFill>
                  <a:schemeClr val="accent1"/>
                </a:solidFill>
                <a:latin typeface="+mn-ea"/>
              </a:rPr>
              <a:t>具有最短特殊路长度的</a:t>
            </a:r>
            <a:r>
              <a:rPr lang="zh-CN" altLang="en-US" sz="2200" b="1" u="sng" dirty="0">
                <a:solidFill>
                  <a:srgbClr val="FF0000"/>
                </a:solidFill>
                <a:latin typeface="+mn-ea"/>
              </a:rPr>
              <a:t>顶点</a:t>
            </a:r>
            <a:r>
              <a:rPr lang="en-US" altLang="zh-CN" sz="2200" b="1" dirty="0" smtClean="0">
                <a:solidFill>
                  <a:schemeClr val="accent1"/>
                </a:solidFill>
                <a:latin typeface="+mn-ea"/>
              </a:rPr>
              <a:t>u</a:t>
            </a:r>
            <a:r>
              <a:rPr lang="zh-CN" altLang="en-US" sz="2200" b="1" dirty="0" smtClean="0">
                <a:solidFill>
                  <a:schemeClr val="accent1"/>
                </a:solidFill>
                <a:latin typeface="+mn-ea"/>
              </a:rPr>
              <a:t>添加</a:t>
            </a:r>
            <a:r>
              <a:rPr lang="zh-CN" altLang="en-US" sz="2200" b="1" dirty="0">
                <a:solidFill>
                  <a:schemeClr val="accent1"/>
                </a:solidFill>
                <a:latin typeface="+mn-ea"/>
              </a:rPr>
              <a:t>到</a:t>
            </a:r>
            <a:r>
              <a:rPr lang="en-US" altLang="zh-CN" sz="2200" b="1" dirty="0">
                <a:solidFill>
                  <a:schemeClr val="accent1"/>
                </a:solidFill>
                <a:latin typeface="+mn-ea"/>
              </a:rPr>
              <a:t>S</a:t>
            </a:r>
            <a:r>
              <a:rPr lang="zh-CN" altLang="en-US" sz="2200" b="1" dirty="0">
                <a:solidFill>
                  <a:schemeClr val="accent1"/>
                </a:solidFill>
                <a:latin typeface="+mn-ea"/>
              </a:rPr>
              <a:t>中</a:t>
            </a:r>
            <a:r>
              <a:rPr lang="zh-CN" altLang="en-US" sz="2200" b="1" dirty="0">
                <a:latin typeface="+mn-ea"/>
              </a:rPr>
              <a:t>，</a:t>
            </a:r>
            <a:r>
              <a:rPr lang="zh-CN" altLang="en-US" sz="2200" b="1" dirty="0" smtClean="0">
                <a:latin typeface="+mn-ea"/>
              </a:rPr>
              <a:t>同时</a:t>
            </a:r>
            <a:r>
              <a:rPr lang="zh-CN" altLang="en-US" sz="2200" b="1" dirty="0">
                <a:latin typeface="+mn-ea"/>
              </a:rPr>
              <a:t>更新</a:t>
            </a:r>
            <a:r>
              <a:rPr lang="zh-CN" altLang="en-US" sz="2200" b="1" dirty="0" smtClean="0">
                <a:latin typeface="+mn-ea"/>
              </a:rPr>
              <a:t>数组</a:t>
            </a:r>
            <a:r>
              <a:rPr lang="en-US" altLang="zh-CN" sz="2200" b="1" dirty="0" err="1" smtClean="0">
                <a:latin typeface="+mn-ea"/>
              </a:rPr>
              <a:t>dist</a:t>
            </a:r>
            <a:r>
              <a:rPr lang="zh-CN" altLang="en-US" sz="2200" b="1" dirty="0" smtClean="0">
                <a:latin typeface="+mn-ea"/>
              </a:rPr>
              <a:t>。</a:t>
            </a:r>
            <a:endParaRPr lang="en-US" altLang="zh-CN" sz="2200" b="1" dirty="0" smtClean="0">
              <a:latin typeface="+mn-ea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sz="2200" b="1" dirty="0" smtClean="0">
                <a:latin typeface="+mn-ea"/>
              </a:rPr>
              <a:t>一旦</a:t>
            </a:r>
            <a:r>
              <a:rPr lang="en-US" altLang="zh-CN" sz="2200" b="1" dirty="0">
                <a:latin typeface="+mn-ea"/>
              </a:rPr>
              <a:t>S</a:t>
            </a:r>
            <a:r>
              <a:rPr lang="zh-CN" altLang="en-US" sz="2200" b="1" dirty="0">
                <a:latin typeface="+mn-ea"/>
              </a:rPr>
              <a:t>包含了所有</a:t>
            </a:r>
            <a:r>
              <a:rPr lang="en-US" altLang="zh-CN" sz="2200" b="1" dirty="0">
                <a:latin typeface="+mn-ea"/>
              </a:rPr>
              <a:t>V</a:t>
            </a:r>
            <a:r>
              <a:rPr lang="zh-CN" altLang="en-US" sz="2200" b="1" dirty="0">
                <a:latin typeface="+mn-ea"/>
              </a:rPr>
              <a:t>中顶点，</a:t>
            </a:r>
            <a:r>
              <a:rPr lang="en-US" altLang="zh-CN" sz="2200" b="1" dirty="0">
                <a:latin typeface="+mn-ea"/>
              </a:rPr>
              <a:t>dist</a:t>
            </a:r>
            <a:r>
              <a:rPr lang="zh-CN" altLang="en-US" sz="2200" b="1" dirty="0">
                <a:latin typeface="+mn-ea"/>
              </a:rPr>
              <a:t>就记录了从源到所有其它顶点之间的最短路径长度。</a:t>
            </a:r>
          </a:p>
        </p:txBody>
      </p:sp>
      <p:pic>
        <p:nvPicPr>
          <p:cNvPr id="5" name="Picture 4" descr="t4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61087" y="3355999"/>
            <a:ext cx="2660381" cy="2737297"/>
          </a:xfrm>
          <a:prstGeom prst="rect">
            <a:avLst/>
          </a:prstGeom>
          <a:ln/>
        </p:spPr>
      </p:pic>
      <p:sp>
        <p:nvSpPr>
          <p:cNvPr id="2" name="矩形 1"/>
          <p:cNvSpPr/>
          <p:nvPr/>
        </p:nvSpPr>
        <p:spPr>
          <a:xfrm>
            <a:off x="312685" y="1449027"/>
            <a:ext cx="8363272" cy="2529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b="1" dirty="0">
                <a:solidFill>
                  <a:schemeClr val="hlink"/>
                </a:solidFill>
                <a:latin typeface="+mn-ea"/>
                <a:ea typeface="+mn-ea"/>
              </a:rPr>
              <a:t>基本思想</a:t>
            </a:r>
            <a:r>
              <a:rPr lang="zh-CN" altLang="en-US" sz="2200" b="1" dirty="0">
                <a:latin typeface="+mn-ea"/>
                <a:ea typeface="+mn-ea"/>
              </a:rPr>
              <a:t>：设置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  <a:ea typeface="+mn-ea"/>
              </a:rPr>
              <a:t>顶点集合</a:t>
            </a:r>
            <a:r>
              <a:rPr lang="en-US" altLang="zh-CN" sz="2200" b="1" dirty="0">
                <a:solidFill>
                  <a:srgbClr val="FF0000"/>
                </a:solidFill>
                <a:latin typeface="+mn-ea"/>
                <a:ea typeface="+mn-ea"/>
              </a:rPr>
              <a:t>S</a:t>
            </a:r>
            <a:r>
              <a:rPr lang="zh-CN" altLang="en-US" sz="2200" b="1" dirty="0">
                <a:latin typeface="+mn-ea"/>
                <a:ea typeface="+mn-ea"/>
              </a:rPr>
              <a:t>并不断地作</a:t>
            </a:r>
            <a:r>
              <a:rPr lang="zh-CN" altLang="en-US" sz="2200" b="1" dirty="0">
                <a:solidFill>
                  <a:schemeClr val="hlink"/>
                </a:solidFill>
                <a:latin typeface="+mn-ea"/>
                <a:ea typeface="+mn-ea"/>
              </a:rPr>
              <a:t>贪心选择</a:t>
            </a:r>
            <a:r>
              <a:rPr lang="zh-CN" altLang="en-US" sz="2200" b="1" dirty="0">
                <a:latin typeface="+mn-ea"/>
                <a:ea typeface="+mn-ea"/>
              </a:rPr>
              <a:t>来扩充这个集合。一个顶点属于集合</a:t>
            </a:r>
            <a:r>
              <a:rPr lang="en-US" altLang="zh-CN" sz="2200" b="1" dirty="0">
                <a:latin typeface="+mn-ea"/>
                <a:ea typeface="+mn-ea"/>
              </a:rPr>
              <a:t>S</a:t>
            </a:r>
            <a:r>
              <a:rPr lang="zh-CN" altLang="en-US" sz="2200" b="1" dirty="0">
                <a:latin typeface="+mn-ea"/>
                <a:ea typeface="+mn-ea"/>
              </a:rPr>
              <a:t>当且仅当从源到该顶点的最短路径长度已知</a:t>
            </a:r>
            <a:r>
              <a:rPr lang="zh-CN" altLang="en-US" sz="2200" b="1" dirty="0" smtClean="0">
                <a:latin typeface="+mn-ea"/>
                <a:ea typeface="+mn-ea"/>
              </a:rPr>
              <a:t>。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200" b="1" dirty="0">
                <a:latin typeface="+mn-ea"/>
                <a:ea typeface="+mn-ea"/>
              </a:rPr>
              <a:t>设</a:t>
            </a:r>
            <a:r>
              <a:rPr lang="en-US" altLang="zh-CN" sz="2200" b="1" dirty="0">
                <a:latin typeface="+mn-ea"/>
                <a:ea typeface="+mn-ea"/>
              </a:rPr>
              <a:t>u</a:t>
            </a:r>
            <a:r>
              <a:rPr lang="zh-CN" altLang="en-US" sz="2200" b="1" dirty="0">
                <a:latin typeface="+mn-ea"/>
                <a:ea typeface="+mn-ea"/>
              </a:rPr>
              <a:t>是图的任一个顶点，</a:t>
            </a:r>
            <a:r>
              <a:rPr lang="zh-CN" altLang="en-US" sz="2200" b="1" u="sng" dirty="0">
                <a:latin typeface="+mn-ea"/>
                <a:ea typeface="+mn-ea"/>
              </a:rPr>
              <a:t>把从源到</a:t>
            </a:r>
            <a:r>
              <a:rPr lang="en-US" altLang="zh-CN" sz="2200" b="1" u="sng" dirty="0">
                <a:latin typeface="+mn-ea"/>
                <a:ea typeface="+mn-ea"/>
              </a:rPr>
              <a:t>u</a:t>
            </a:r>
            <a:r>
              <a:rPr lang="zh-CN" altLang="en-US" sz="2200" b="1" u="sng" dirty="0">
                <a:latin typeface="+mn-ea"/>
                <a:ea typeface="+mn-ea"/>
              </a:rPr>
              <a:t>且中间只经过</a:t>
            </a:r>
            <a:r>
              <a:rPr lang="en-US" altLang="zh-CN" sz="2200" b="1" u="sng" dirty="0">
                <a:latin typeface="+mn-ea"/>
                <a:ea typeface="+mn-ea"/>
              </a:rPr>
              <a:t>S</a:t>
            </a:r>
            <a:r>
              <a:rPr lang="zh-CN" altLang="en-US" sz="2200" b="1" u="sng" dirty="0">
                <a:latin typeface="+mn-ea"/>
                <a:ea typeface="+mn-ea"/>
              </a:rPr>
              <a:t>中顶点的路称为从源到</a:t>
            </a:r>
            <a:r>
              <a:rPr lang="en-US" altLang="zh-CN" sz="2200" b="1" u="sng" dirty="0">
                <a:latin typeface="+mn-ea"/>
                <a:ea typeface="+mn-ea"/>
              </a:rPr>
              <a:t>u</a:t>
            </a:r>
            <a:r>
              <a:rPr lang="zh-CN" altLang="en-US" sz="2200" b="1" u="sng" dirty="0">
                <a:latin typeface="+mn-ea"/>
                <a:ea typeface="+mn-ea"/>
              </a:rPr>
              <a:t>的特殊</a:t>
            </a:r>
            <a:r>
              <a:rPr lang="zh-CN" altLang="en-US" sz="2200" b="1" u="sng" dirty="0" smtClean="0">
                <a:latin typeface="+mn-ea"/>
                <a:ea typeface="+mn-ea"/>
              </a:rPr>
              <a:t>路径</a:t>
            </a:r>
            <a:r>
              <a:rPr lang="zh-CN" altLang="en-US" sz="2200" b="1" dirty="0" smtClean="0">
                <a:latin typeface="+mn-ea"/>
                <a:ea typeface="+mn-ea"/>
              </a:rPr>
              <a:t>，并用</a:t>
            </a:r>
            <a:r>
              <a:rPr lang="zh-CN" altLang="en-US" sz="2200" b="1" dirty="0">
                <a:solidFill>
                  <a:schemeClr val="accent1"/>
                </a:solidFill>
                <a:latin typeface="+mn-ea"/>
                <a:ea typeface="+mn-ea"/>
              </a:rPr>
              <a:t>数组</a:t>
            </a:r>
            <a:r>
              <a:rPr lang="en-US" altLang="zh-CN" sz="2200" b="1" dirty="0" err="1">
                <a:solidFill>
                  <a:schemeClr val="accent1"/>
                </a:solidFill>
                <a:latin typeface="+mn-ea"/>
                <a:ea typeface="+mn-ea"/>
              </a:rPr>
              <a:t>dist</a:t>
            </a:r>
            <a:r>
              <a:rPr lang="zh-CN" altLang="en-US" sz="2200" b="1" dirty="0">
                <a:solidFill>
                  <a:schemeClr val="accent1"/>
                </a:solidFill>
                <a:latin typeface="+mn-ea"/>
                <a:ea typeface="+mn-ea"/>
              </a:rPr>
              <a:t>记录</a:t>
            </a:r>
            <a:r>
              <a:rPr lang="zh-CN" altLang="en-US" sz="2200" b="1" dirty="0">
                <a:latin typeface="+mn-ea"/>
                <a:ea typeface="+mn-ea"/>
              </a:rPr>
              <a:t>当前每个顶点所对应的最短特殊路径长度。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endParaRPr lang="zh-CN" altLang="en-US" sz="22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9184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6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55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4.5 </a:t>
            </a:r>
            <a:r>
              <a:rPr lang="zh-CN" altLang="en-US" dirty="0">
                <a:latin typeface="+mn-ea"/>
                <a:ea typeface="+mn-ea"/>
              </a:rPr>
              <a:t>单源最短路径</a:t>
            </a:r>
          </a:p>
        </p:txBody>
      </p:sp>
      <p:sp>
        <p:nvSpPr>
          <p:cNvPr id="58372" name="Rectangle 3"/>
          <p:cNvSpPr>
            <a:spLocks noGrp="1"/>
          </p:cNvSpPr>
          <p:nvPr>
            <p:ph type="body" sz="half" idx="1"/>
          </p:nvPr>
        </p:nvSpPr>
        <p:spPr>
          <a:xfrm>
            <a:off x="323850" y="1196975"/>
            <a:ext cx="8135938" cy="8636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+mn-ea"/>
              </a:rPr>
              <a:t>	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例如</a:t>
            </a:r>
            <a:r>
              <a:rPr lang="zh-CN" altLang="en-US" sz="2400" b="1" dirty="0">
                <a:latin typeface="+mn-ea"/>
              </a:rPr>
              <a:t>，对下图中的有向图，应用</a:t>
            </a:r>
            <a:r>
              <a:rPr lang="en-US" altLang="zh-CN" sz="2400" b="1" dirty="0">
                <a:latin typeface="+mn-ea"/>
              </a:rPr>
              <a:t>Dijkstra</a:t>
            </a:r>
            <a:r>
              <a:rPr lang="zh-CN" altLang="en-US" sz="2400" b="1" dirty="0">
                <a:latin typeface="+mn-ea"/>
              </a:rPr>
              <a:t>算法计算从源顶点</a:t>
            </a:r>
            <a:r>
              <a:rPr lang="en-US" altLang="zh-CN" sz="2400" b="1" dirty="0">
                <a:latin typeface="+mn-ea"/>
              </a:rPr>
              <a:t>1</a:t>
            </a:r>
            <a:r>
              <a:rPr lang="zh-CN" altLang="en-US" sz="2400" b="1" dirty="0">
                <a:latin typeface="+mn-ea"/>
              </a:rPr>
              <a:t>到其它顶点间最短路径的过程列在下表中。</a:t>
            </a:r>
          </a:p>
          <a:p>
            <a:pPr>
              <a:buClr>
                <a:schemeClr val="accent1"/>
              </a:buClr>
              <a:buSzPct val="65000"/>
              <a:buFont typeface="Wingdings" panose="05000000000000000000" pitchFamily="2" charset="2"/>
            </a:pPr>
            <a:endParaRPr lang="zh-CN" altLang="en-US" sz="2000" b="1" dirty="0">
              <a:latin typeface="+mn-ea"/>
            </a:endParaRPr>
          </a:p>
        </p:txBody>
      </p:sp>
      <p:pic>
        <p:nvPicPr>
          <p:cNvPr id="58373" name="Picture 4" descr="t44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2060575"/>
            <a:ext cx="2800350" cy="2881313"/>
          </a:xfrm>
          <a:ln/>
        </p:spPr>
      </p:pic>
      <p:pic>
        <p:nvPicPr>
          <p:cNvPr id="58374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650" y="3644900"/>
            <a:ext cx="6343650" cy="25257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5" name="Text Box 286"/>
          <p:cNvSpPr txBox="1"/>
          <p:nvPr/>
        </p:nvSpPr>
        <p:spPr>
          <a:xfrm>
            <a:off x="3348038" y="2924175"/>
            <a:ext cx="4032250" cy="457200"/>
          </a:xfrm>
          <a:prstGeom prst="rect">
            <a:avLst/>
          </a:prstGeom>
          <a:noFill/>
          <a:ln w="63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+mn-ea"/>
              </a:rPr>
              <a:t>Dijkstra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</a:rPr>
              <a:t>算法的迭代过程：</a:t>
            </a:r>
            <a:r>
              <a:rPr lang="zh-CN" altLang="en-US" sz="2400" b="1" dirty="0">
                <a:solidFill>
                  <a:schemeClr val="accent2"/>
                </a:solidFill>
                <a:latin typeface="+mn-ea"/>
              </a:rPr>
              <a:t>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087" y="1681163"/>
            <a:ext cx="1811317" cy="196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2323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56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dirty="0">
                <a:latin typeface="+mn-ea"/>
                <a:ea typeface="+mn-ea"/>
              </a:rPr>
              <a:t>4.5 </a:t>
            </a:r>
            <a:r>
              <a:rPr lang="zh-CN" altLang="en-US" dirty="0">
                <a:latin typeface="+mn-ea"/>
                <a:ea typeface="+mn-ea"/>
              </a:rPr>
              <a:t>单源最短路径</a:t>
            </a:r>
          </a:p>
        </p:txBody>
      </p:sp>
      <p:sp>
        <p:nvSpPr>
          <p:cNvPr id="3409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计算复杂性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  对于具有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个顶点和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条边的带权有向图，如果用带权邻接矩阵表示这个图，那么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Dijkstra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算法的主循环体需要      时间。这个循环需要执行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n-1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次，所以完成循环需要        时间。算法的其余部分所需要时间不超过           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2469" name="Rectangle 5"/>
          <p:cNvSpPr/>
          <p:nvPr/>
        </p:nvSpPr>
        <p:spPr>
          <a:xfrm>
            <a:off x="0" y="3051989"/>
            <a:ext cx="370614" cy="553998"/>
          </a:xfrm>
          <a:prstGeom prst="rect">
            <a:avLst/>
          </a:prstGeom>
          <a:noFill/>
          <a:ln w="635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dirty="0">
              <a:solidFill>
                <a:srgbClr val="000066"/>
              </a:solidFill>
              <a:latin typeface="+mn-ea"/>
            </a:endParaRPr>
          </a:p>
        </p:txBody>
      </p:sp>
      <p:graphicFrame>
        <p:nvGraphicFramePr>
          <p:cNvPr id="624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67245"/>
              </p:ext>
            </p:extLst>
          </p:nvPr>
        </p:nvGraphicFramePr>
        <p:xfrm>
          <a:off x="7620000" y="2249812"/>
          <a:ext cx="576262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1" r:id="rId3" imgW="342900" imgH="203200" progId="Equation.3">
                  <p:embed/>
                </p:oleObj>
              </mc:Choice>
              <mc:Fallback>
                <p:oleObj r:id="rId3" imgW="342900" imgH="203200" progId="Equation.3">
                  <p:embed/>
                  <p:pic>
                    <p:nvPicPr>
                      <p:cNvPr id="62470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00" y="2249812"/>
                        <a:ext cx="576262" cy="33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1" name="Rectangle 7"/>
          <p:cNvSpPr/>
          <p:nvPr/>
        </p:nvSpPr>
        <p:spPr>
          <a:xfrm>
            <a:off x="0" y="3037701"/>
            <a:ext cx="370614" cy="553998"/>
          </a:xfrm>
          <a:prstGeom prst="rect">
            <a:avLst/>
          </a:prstGeom>
          <a:noFill/>
          <a:ln w="635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dirty="0">
              <a:solidFill>
                <a:srgbClr val="000066"/>
              </a:solidFill>
              <a:latin typeface="+mn-ea"/>
            </a:endParaRPr>
          </a:p>
        </p:txBody>
      </p:sp>
      <p:graphicFrame>
        <p:nvGraphicFramePr>
          <p:cNvPr id="6247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150054"/>
              </p:ext>
            </p:extLst>
          </p:nvPr>
        </p:nvGraphicFramePr>
        <p:xfrm>
          <a:off x="7188993" y="2629533"/>
          <a:ext cx="71913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2" r:id="rId5" imgW="419100" imgH="228600" progId="Equation.3">
                  <p:embed/>
                </p:oleObj>
              </mc:Choice>
              <mc:Fallback>
                <p:oleObj r:id="rId5" imgW="419100" imgH="228600" progId="Equation.3">
                  <p:embed/>
                  <p:pic>
                    <p:nvPicPr>
                      <p:cNvPr id="62472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88993" y="2629533"/>
                        <a:ext cx="719138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402202"/>
              </p:ext>
            </p:extLst>
          </p:nvPr>
        </p:nvGraphicFramePr>
        <p:xfrm>
          <a:off x="5580112" y="3070562"/>
          <a:ext cx="71913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3" r:id="rId7" imgW="419100" imgH="228600" progId="Equation.3">
                  <p:embed/>
                </p:oleObj>
              </mc:Choice>
              <mc:Fallback>
                <p:oleObj r:id="rId7" imgW="419100" imgH="228600" progId="Equation.3">
                  <p:embed/>
                  <p:pic>
                    <p:nvPicPr>
                      <p:cNvPr id="62473" name="Object 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80112" y="3070562"/>
                        <a:ext cx="719137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4" descr="t44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55576" y="3717032"/>
            <a:ext cx="2336492" cy="2404044"/>
          </a:xfrm>
          <a:prstGeom prst="rect">
            <a:avLst/>
          </a:prstGeom>
          <a:ln/>
        </p:spPr>
      </p:pic>
      <p:pic>
        <p:nvPicPr>
          <p:cNvPr id="1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0444" y="3738736"/>
            <a:ext cx="5447475" cy="2168902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6850760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747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学习要点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981075"/>
            <a:ext cx="8229600" cy="5184775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通过应用范例学习贪心设计策略。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）活动安排问题；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）最优装载问题；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</a:t>
            </a:r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哈夫曼编码；</a:t>
            </a:r>
            <a:endParaRPr lang="en-US" altLang="zh-CN" sz="2400" b="1" dirty="0">
              <a:latin typeface="华文楷体" pitchFamily="2" charset="-122"/>
              <a:ea typeface="华文楷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）单源最短路径；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最小生成树；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6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）多机调度问题。</a:t>
            </a:r>
          </a:p>
        </p:txBody>
      </p:sp>
    </p:spTree>
    <p:extLst>
      <p:ext uri="{BB962C8B-B14F-4D97-AF65-F5344CB8AC3E}">
        <p14:creationId xmlns:p14="http://schemas.microsoft.com/office/powerpoint/2010/main" val="404869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58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772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dirty="0">
                <a:latin typeface="+mn-ea"/>
                <a:ea typeface="+mn-ea"/>
              </a:rPr>
              <a:t>4.6 </a:t>
            </a:r>
            <a:r>
              <a:rPr lang="zh-CN" altLang="en-US" dirty="0">
                <a:latin typeface="+mn-ea"/>
                <a:ea typeface="+mn-ea"/>
              </a:rPr>
              <a:t>最小生成树 </a:t>
            </a:r>
          </a:p>
        </p:txBody>
      </p:sp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427464" y="1443257"/>
            <a:ext cx="8259336" cy="4530725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 fontAlgn="t">
              <a:lnSpc>
                <a:spcPct val="120000"/>
              </a:lnSpc>
              <a:buNone/>
            </a:pPr>
            <a:r>
              <a:rPr lang="zh-CN" altLang="en-US" sz="2200" b="1" dirty="0" smtClean="0">
                <a:latin typeface="+mn-ea"/>
              </a:rPr>
              <a:t>设</a:t>
            </a:r>
            <a:r>
              <a:rPr lang="en-US" altLang="zh-CN" sz="2200" b="1" dirty="0">
                <a:latin typeface="+mn-ea"/>
              </a:rPr>
              <a:t>G =(V,E)</a:t>
            </a:r>
            <a:r>
              <a:rPr lang="zh-CN" altLang="en-US" sz="2200" b="1" dirty="0">
                <a:latin typeface="+mn-ea"/>
              </a:rPr>
              <a:t>是</a:t>
            </a:r>
            <a:r>
              <a:rPr lang="zh-CN" altLang="en-US" sz="2200" b="1" dirty="0">
                <a:solidFill>
                  <a:schemeClr val="accent1"/>
                </a:solidFill>
                <a:latin typeface="+mn-ea"/>
              </a:rPr>
              <a:t>无向连通带权图</a:t>
            </a:r>
            <a:r>
              <a:rPr lang="zh-CN" altLang="en-US" sz="2200" b="1" dirty="0">
                <a:latin typeface="+mn-ea"/>
              </a:rPr>
              <a:t>，即一个</a:t>
            </a:r>
            <a:r>
              <a:rPr lang="zh-CN" altLang="en-US" sz="2200" b="1" dirty="0">
                <a:solidFill>
                  <a:schemeClr val="hlink"/>
                </a:solidFill>
                <a:latin typeface="+mn-ea"/>
              </a:rPr>
              <a:t>网络</a:t>
            </a:r>
            <a:r>
              <a:rPr lang="zh-CN" altLang="en-US" sz="2200" b="1" dirty="0">
                <a:latin typeface="+mn-ea"/>
              </a:rPr>
              <a:t>。</a:t>
            </a:r>
            <a:r>
              <a:rPr lang="en-US" altLang="zh-CN" sz="2200" b="1" dirty="0">
                <a:latin typeface="+mn-ea"/>
              </a:rPr>
              <a:t>E</a:t>
            </a:r>
            <a:r>
              <a:rPr lang="zh-CN" altLang="en-US" sz="2200" b="1" dirty="0">
                <a:latin typeface="+mn-ea"/>
              </a:rPr>
              <a:t>中每条边</a:t>
            </a:r>
            <a:r>
              <a:rPr lang="en-US" altLang="zh-CN" sz="2200" b="1" dirty="0">
                <a:latin typeface="+mn-ea"/>
              </a:rPr>
              <a:t>(v,w)</a:t>
            </a:r>
            <a:r>
              <a:rPr lang="zh-CN" altLang="en-US" sz="2200" b="1" dirty="0">
                <a:latin typeface="+mn-ea"/>
              </a:rPr>
              <a:t>的权为</a:t>
            </a:r>
            <a:r>
              <a:rPr lang="en-US" altLang="zh-CN" sz="2200" b="1" dirty="0">
                <a:latin typeface="+mn-ea"/>
              </a:rPr>
              <a:t>c[v][w]</a:t>
            </a:r>
            <a:r>
              <a:rPr lang="zh-CN" altLang="en-US" sz="2200" b="1" dirty="0">
                <a:latin typeface="+mn-ea"/>
              </a:rPr>
              <a:t>。如果</a:t>
            </a:r>
            <a:r>
              <a:rPr lang="en-US" altLang="zh-CN" sz="2200" b="1" dirty="0">
                <a:latin typeface="+mn-ea"/>
              </a:rPr>
              <a:t>G</a:t>
            </a:r>
            <a:r>
              <a:rPr lang="zh-CN" altLang="en-US" sz="2200" b="1" dirty="0">
                <a:latin typeface="+mn-ea"/>
              </a:rPr>
              <a:t>的</a:t>
            </a:r>
            <a:r>
              <a:rPr lang="zh-CN" altLang="en-US" sz="2200" b="1" u="sng" dirty="0">
                <a:latin typeface="+mn-ea"/>
              </a:rPr>
              <a:t>子图</a:t>
            </a:r>
            <a:r>
              <a:rPr lang="en-US" altLang="zh-CN" sz="2200" b="1" u="sng" dirty="0">
                <a:latin typeface="+mn-ea"/>
              </a:rPr>
              <a:t>G’</a:t>
            </a:r>
            <a:r>
              <a:rPr lang="zh-CN" altLang="en-US" sz="2200" b="1" u="sng" dirty="0">
                <a:latin typeface="+mn-ea"/>
              </a:rPr>
              <a:t>是一棵包含</a:t>
            </a:r>
            <a:r>
              <a:rPr lang="en-US" altLang="zh-CN" sz="2200" b="1" u="sng" dirty="0">
                <a:latin typeface="+mn-ea"/>
              </a:rPr>
              <a:t>G</a:t>
            </a:r>
            <a:r>
              <a:rPr lang="zh-CN" altLang="en-US" sz="2200" b="1" u="sng" dirty="0">
                <a:latin typeface="+mn-ea"/>
              </a:rPr>
              <a:t>的所有顶点的树</a:t>
            </a:r>
            <a:r>
              <a:rPr lang="zh-CN" altLang="en-US" sz="2200" b="1" dirty="0">
                <a:latin typeface="+mn-ea"/>
              </a:rPr>
              <a:t>，则称</a:t>
            </a:r>
            <a:r>
              <a:rPr lang="en-US" altLang="zh-CN" sz="2200" b="1" dirty="0" smtClean="0">
                <a:latin typeface="+mn-ea"/>
              </a:rPr>
              <a:t>G'</a:t>
            </a:r>
            <a:r>
              <a:rPr lang="zh-CN" altLang="en-US" sz="2200" b="1" dirty="0" smtClean="0">
                <a:latin typeface="+mn-ea"/>
              </a:rPr>
              <a:t>为</a:t>
            </a:r>
            <a:r>
              <a:rPr lang="en-US" altLang="zh-CN" sz="2200" b="1" dirty="0">
                <a:latin typeface="+mn-ea"/>
              </a:rPr>
              <a:t>G</a:t>
            </a:r>
            <a:r>
              <a:rPr lang="zh-CN" altLang="en-US" sz="2200" b="1" dirty="0">
                <a:latin typeface="+mn-ea"/>
              </a:rPr>
              <a:t>的生成树。生成树上各边权的总和称为该生成树的</a:t>
            </a:r>
            <a:r>
              <a:rPr lang="zh-CN" altLang="en-US" sz="2200" b="1" dirty="0">
                <a:solidFill>
                  <a:schemeClr val="hlink"/>
                </a:solidFill>
                <a:latin typeface="+mn-ea"/>
              </a:rPr>
              <a:t>耗费</a:t>
            </a:r>
            <a:r>
              <a:rPr lang="zh-CN" altLang="en-US" sz="2200" b="1" dirty="0">
                <a:latin typeface="+mn-ea"/>
              </a:rPr>
              <a:t>。在</a:t>
            </a:r>
            <a:r>
              <a:rPr lang="en-US" altLang="zh-CN" sz="2200" b="1" dirty="0">
                <a:latin typeface="+mn-ea"/>
              </a:rPr>
              <a:t>G</a:t>
            </a:r>
            <a:r>
              <a:rPr lang="zh-CN" altLang="en-US" sz="2200" b="1" dirty="0">
                <a:latin typeface="+mn-ea"/>
              </a:rPr>
              <a:t>的所有生成树中，耗费最小的生成树称为</a:t>
            </a:r>
            <a:r>
              <a:rPr lang="en-US" altLang="zh-CN" sz="2200" b="1" dirty="0">
                <a:latin typeface="+mn-ea"/>
              </a:rPr>
              <a:t>G</a:t>
            </a:r>
            <a:r>
              <a:rPr lang="zh-CN" altLang="en-US" sz="2200" b="1" dirty="0">
                <a:latin typeface="+mn-ea"/>
              </a:rPr>
              <a:t>的</a:t>
            </a:r>
            <a:r>
              <a:rPr lang="zh-CN" altLang="en-US" sz="2200" b="1" dirty="0">
                <a:solidFill>
                  <a:schemeClr val="hlink"/>
                </a:solidFill>
                <a:latin typeface="+mn-ea"/>
              </a:rPr>
              <a:t>最小生成树</a:t>
            </a:r>
            <a:r>
              <a:rPr lang="zh-CN" altLang="en-US" sz="2200" b="1" dirty="0">
                <a:latin typeface="+mn-ea"/>
              </a:rPr>
              <a:t>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200" b="1" dirty="0">
                <a:latin typeface="+mn-ea"/>
              </a:rPr>
              <a:t>    网络的最小生成树在实际中有广泛应用。</a:t>
            </a:r>
            <a:r>
              <a:rPr lang="zh-CN" altLang="en-US" sz="2200" b="1" dirty="0">
                <a:solidFill>
                  <a:schemeClr val="hlink"/>
                </a:solidFill>
                <a:latin typeface="+mn-ea"/>
              </a:rPr>
              <a:t>例如</a:t>
            </a:r>
            <a:r>
              <a:rPr lang="zh-CN" altLang="en-US" sz="2200" b="1" dirty="0">
                <a:latin typeface="+mn-ea"/>
              </a:rPr>
              <a:t>，在设计通信网络时，用图的顶点表示城市，用边</a:t>
            </a:r>
            <a:r>
              <a:rPr lang="en-US" altLang="zh-CN" sz="2200" b="1" dirty="0">
                <a:latin typeface="+mn-ea"/>
              </a:rPr>
              <a:t>(v,w)</a:t>
            </a:r>
            <a:r>
              <a:rPr lang="zh-CN" altLang="en-US" sz="2200" b="1" dirty="0">
                <a:latin typeface="+mn-ea"/>
              </a:rPr>
              <a:t>的权</a:t>
            </a:r>
            <a:r>
              <a:rPr lang="en-US" altLang="zh-CN" sz="2200" b="1" dirty="0">
                <a:latin typeface="+mn-ea"/>
              </a:rPr>
              <a:t>c[v][w]</a:t>
            </a:r>
            <a:r>
              <a:rPr lang="zh-CN" altLang="en-US" sz="2200" b="1" dirty="0">
                <a:latin typeface="+mn-ea"/>
              </a:rPr>
              <a:t>表示建立城市</a:t>
            </a:r>
            <a:r>
              <a:rPr lang="en-US" altLang="zh-CN" sz="2200" b="1" dirty="0">
                <a:latin typeface="+mn-ea"/>
              </a:rPr>
              <a:t>v</a:t>
            </a:r>
            <a:r>
              <a:rPr lang="zh-CN" altLang="en-US" sz="2200" b="1" dirty="0">
                <a:latin typeface="+mn-ea"/>
              </a:rPr>
              <a:t>和城市</a:t>
            </a:r>
            <a:r>
              <a:rPr lang="en-US" altLang="zh-CN" sz="2200" b="1" dirty="0">
                <a:latin typeface="+mn-ea"/>
              </a:rPr>
              <a:t>w</a:t>
            </a:r>
            <a:r>
              <a:rPr lang="zh-CN" altLang="en-US" sz="2200" b="1" dirty="0">
                <a:latin typeface="+mn-ea"/>
              </a:rPr>
              <a:t>之间的通信线路所需的费用，则最小生成树就给出了建立通信网络的最经济的方案。 </a:t>
            </a:r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539" y="4570003"/>
            <a:ext cx="2104005" cy="192176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rcRect l="47779" t="47750" r="17858" b="9145"/>
          <a:stretch/>
        </p:blipFill>
        <p:spPr>
          <a:xfrm>
            <a:off x="6695600" y="4563014"/>
            <a:ext cx="2304256" cy="1872209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74139212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59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Grp="1"/>
          </p:cNvSpPr>
          <p:nvPr>
            <p:ph type="title"/>
          </p:nvPr>
        </p:nvSpPr>
        <p:spPr>
          <a:xfrm>
            <a:off x="395288" y="260350"/>
            <a:ext cx="7772400" cy="8636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dirty="0">
                <a:latin typeface="+mn-ea"/>
                <a:ea typeface="+mn-ea"/>
              </a:rPr>
              <a:t>4.6 </a:t>
            </a:r>
            <a:r>
              <a:rPr lang="zh-CN" altLang="en-US" dirty="0">
                <a:latin typeface="+mn-ea"/>
                <a:ea typeface="+mn-ea"/>
              </a:rPr>
              <a:t>最小生成树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idx="1"/>
          </p:nvPr>
        </p:nvSpPr>
        <p:spPr>
          <a:xfrm>
            <a:off x="405525" y="1490663"/>
            <a:ext cx="8280400" cy="4752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贪心算法设计策略可以设计出构造最小生成树的有效算法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。构造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最小生成树的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Prim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算法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Kruskal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算法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都可以看作是应用贪心算法设计策略的例子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0" lvl="0" indent="0">
              <a:lnSpc>
                <a:spcPct val="200000"/>
              </a:lnSpc>
              <a:buNone/>
              <a:defRPr/>
            </a:pPr>
            <a:r>
              <a:rPr lang="en-US" altLang="zh-CN" sz="2400" b="1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latin typeface="+mn-ea"/>
                <a:cs typeface="Times New Roman" panose="02020603050405020304" pitchFamily="18" charset="0"/>
              </a:rPr>
              <a:t>  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3979827"/>
            <a:ext cx="2104005" cy="192176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rcRect l="47779" t="47750" r="17858" b="9145"/>
          <a:stretch/>
        </p:blipFill>
        <p:spPr>
          <a:xfrm>
            <a:off x="6701029" y="3972838"/>
            <a:ext cx="2304256" cy="187220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528691" y="4933722"/>
            <a:ext cx="30684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kern="0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贪心选择策略？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02723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60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656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dirty="0">
                <a:latin typeface="+mn-ea"/>
                <a:ea typeface="+mn-ea"/>
              </a:rPr>
              <a:t>4.6 </a:t>
            </a:r>
            <a:r>
              <a:rPr lang="zh-CN" altLang="en-US" dirty="0">
                <a:latin typeface="+mn-ea"/>
                <a:ea typeface="+mn-ea"/>
              </a:rPr>
              <a:t>最小生成树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341438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Prim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算法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	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G=(V,E)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是连通带权图，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V={1,2,…,n}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  构造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的最小生成树的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Prim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算法的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基本思想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是：首先置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S={1}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，然后，只要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的真子集，就作如下的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贪心选择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选取满足条件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j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V-S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，且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c[i][j]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最小的边，将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顶点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j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添加到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中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。这个过程一直进行到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S=V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时为止。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这个过程中选取到的所有边恰好构成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的一棵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最小生成树。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679397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6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61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4.6 </a:t>
            </a:r>
            <a:r>
              <a:rPr lang="zh-CN" altLang="en-US" dirty="0">
                <a:latin typeface="+mn-ea"/>
                <a:ea typeface="+mn-ea"/>
              </a:rPr>
              <a:t>最小生成树</a:t>
            </a:r>
          </a:p>
        </p:txBody>
      </p:sp>
      <p:sp>
        <p:nvSpPr>
          <p:cNvPr id="67588" name="Rectangle 3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752975" cy="4608513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2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+mn-ea"/>
              </a:rPr>
              <a:t>  利用最小生成树性质和数学归纳法容易证明，上述算法中的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边集合</a:t>
            </a: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T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始终包含</a:t>
            </a: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G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的某棵最小生成树中的边</a:t>
            </a:r>
            <a:r>
              <a:rPr lang="zh-CN" altLang="en-US" sz="2400" b="1" dirty="0">
                <a:latin typeface="+mn-ea"/>
              </a:rPr>
              <a:t>。因此，在算法结束时，</a:t>
            </a:r>
            <a:r>
              <a:rPr lang="en-US" altLang="zh-CN" sz="2400" b="1" dirty="0">
                <a:latin typeface="+mn-ea"/>
              </a:rPr>
              <a:t>T</a:t>
            </a:r>
            <a:r>
              <a:rPr lang="zh-CN" altLang="en-US" sz="2400" b="1" dirty="0">
                <a:latin typeface="+mn-ea"/>
              </a:rPr>
              <a:t>中的所有边构成</a:t>
            </a:r>
            <a:r>
              <a:rPr lang="en-US" altLang="zh-CN" sz="2400" b="1" dirty="0">
                <a:latin typeface="+mn-ea"/>
              </a:rPr>
              <a:t>G</a:t>
            </a:r>
            <a:r>
              <a:rPr lang="zh-CN" altLang="en-US" sz="2400" b="1" dirty="0">
                <a:latin typeface="+mn-ea"/>
              </a:rPr>
              <a:t>的一棵最小生成树。</a:t>
            </a:r>
            <a:endParaRPr lang="en-US" altLang="zh-CN" sz="2400" b="1" dirty="0">
              <a:latin typeface="+mn-ea"/>
            </a:endParaRPr>
          </a:p>
          <a:p>
            <a:pPr marL="0" indent="0">
              <a:lnSpc>
                <a:spcPct val="12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+mn-ea"/>
              </a:rPr>
              <a:t> </a:t>
            </a:r>
          </a:p>
          <a:p>
            <a:pPr marL="0" indent="0">
              <a:lnSpc>
                <a:spcPct val="12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+mn-ea"/>
              </a:rPr>
              <a:t>  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例如</a:t>
            </a:r>
            <a:r>
              <a:rPr lang="zh-CN" altLang="en-US" sz="2400" b="1" dirty="0">
                <a:latin typeface="+mn-ea"/>
              </a:rPr>
              <a:t>，对于右图中的带权图，按</a:t>
            </a: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Prim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算法</a:t>
            </a:r>
            <a:r>
              <a:rPr lang="zh-CN" altLang="en-US" sz="2400" b="1" dirty="0">
                <a:latin typeface="+mn-ea"/>
              </a:rPr>
              <a:t>选取边的过程如下页图所示。</a:t>
            </a:r>
          </a:p>
        </p:txBody>
      </p:sp>
      <p:pic>
        <p:nvPicPr>
          <p:cNvPr id="67589" name="Picture 4" descr="t48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213350" y="2241550"/>
            <a:ext cx="3736975" cy="3221038"/>
          </a:xfrm>
          <a:ln/>
        </p:spPr>
      </p:pic>
    </p:spTree>
    <p:extLst>
      <p:ext uri="{BB962C8B-B14F-4D97-AF65-F5344CB8AC3E}">
        <p14:creationId xmlns:p14="http://schemas.microsoft.com/office/powerpoint/2010/main" val="30092384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Garamond" pitchFamily="18" charset="0"/>
                <a:cs typeface="Times New Roman" panose="02020603050405020304" pitchFamily="18" charset="0"/>
              </a:rPr>
              <a:t>62</a:t>
            </a:fld>
            <a:endParaRPr lang="zh-CN" altLang="en-US" sz="1200" dirty="0">
              <a:latin typeface="Garamond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1" name="Rectangle 2"/>
          <p:cNvSpPr>
            <a:spLocks noGrp="1"/>
          </p:cNvSpPr>
          <p:nvPr>
            <p:ph type="title"/>
          </p:nvPr>
        </p:nvSpPr>
        <p:spPr>
          <a:xfrm>
            <a:off x="457200" y="277813"/>
            <a:ext cx="4691063" cy="919162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4.6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最小生成树</a:t>
            </a:r>
          </a:p>
        </p:txBody>
      </p:sp>
      <p:pic>
        <p:nvPicPr>
          <p:cNvPr id="6861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32856"/>
            <a:ext cx="2419350" cy="2209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1916832"/>
            <a:ext cx="6029633" cy="390555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8758476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63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4.6 </a:t>
            </a:r>
            <a:r>
              <a:rPr lang="zh-CN" altLang="en-US" dirty="0">
                <a:latin typeface="+mn-ea"/>
                <a:ea typeface="+mn-ea"/>
              </a:rPr>
              <a:t>最小生成树</a:t>
            </a:r>
          </a:p>
        </p:txBody>
      </p:sp>
      <p:sp>
        <p:nvSpPr>
          <p:cNvPr id="69636" name="Rectangle 3"/>
          <p:cNvSpPr>
            <a:spLocks noGrp="1"/>
          </p:cNvSpPr>
          <p:nvPr>
            <p:ph idx="1"/>
          </p:nvPr>
        </p:nvSpPr>
        <p:spPr>
          <a:xfrm>
            <a:off x="611188" y="1412875"/>
            <a:ext cx="7921625" cy="467995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+mn-ea"/>
              </a:rPr>
              <a:t>在上述</a:t>
            </a:r>
            <a:r>
              <a:rPr lang="en-US" altLang="zh-CN" sz="2400" b="1" dirty="0">
                <a:latin typeface="+mn-ea"/>
              </a:rPr>
              <a:t>Prim</a:t>
            </a:r>
            <a:r>
              <a:rPr lang="zh-CN" altLang="en-US" sz="2400" b="1" dirty="0">
                <a:latin typeface="+mn-ea"/>
              </a:rPr>
              <a:t>算法中，还应当考虑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如何有效地找出满足条件</a:t>
            </a:r>
            <a:r>
              <a:rPr lang="en-US" altLang="zh-CN" sz="2400" b="1" dirty="0" err="1">
                <a:solidFill>
                  <a:schemeClr val="hlink"/>
                </a:solidFill>
                <a:latin typeface="+mn-ea"/>
              </a:rPr>
              <a:t>i</a:t>
            </a:r>
            <a:r>
              <a:rPr lang="en-US" altLang="zh-CN" sz="2400" b="1" dirty="0" err="1">
                <a:solidFill>
                  <a:schemeClr val="hlink"/>
                </a:solidFill>
                <a:latin typeface="+mn-ea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chemeClr val="hlink"/>
                </a:solidFill>
                <a:latin typeface="+mn-ea"/>
              </a:rPr>
              <a:t>S</a:t>
            </a:r>
            <a:r>
              <a:rPr lang="en-US" altLang="zh-CN" sz="2400" b="1" dirty="0" smtClean="0">
                <a:solidFill>
                  <a:schemeClr val="hlink"/>
                </a:solidFill>
                <a:latin typeface="+mn-ea"/>
              </a:rPr>
              <a:t>, </a:t>
            </a:r>
            <a:r>
              <a:rPr lang="en-US" altLang="zh-CN" sz="2400" b="1" dirty="0" err="1" smtClean="0">
                <a:solidFill>
                  <a:schemeClr val="hlink"/>
                </a:solidFill>
                <a:latin typeface="+mn-ea"/>
              </a:rPr>
              <a:t>j</a:t>
            </a:r>
            <a:r>
              <a:rPr lang="en-US" altLang="zh-CN" sz="2400" b="1" dirty="0" err="1">
                <a:solidFill>
                  <a:schemeClr val="hlink"/>
                </a:solidFill>
                <a:latin typeface="+mn-ea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chemeClr val="hlink"/>
                </a:solidFill>
                <a:latin typeface="+mn-ea"/>
              </a:rPr>
              <a:t>V-S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，且权</a:t>
            </a: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c[i][j]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最小的边</a:t>
            </a: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(i,j)</a:t>
            </a:r>
            <a:r>
              <a:rPr lang="zh-CN" altLang="en-US" sz="2400" b="1" dirty="0">
                <a:latin typeface="+mn-ea"/>
              </a:rPr>
              <a:t>。实现这个</a:t>
            </a:r>
            <a:r>
              <a:rPr lang="zh-CN" altLang="en-US" sz="2400" b="1" dirty="0" smtClean="0">
                <a:latin typeface="+mn-ea"/>
              </a:rPr>
              <a:t>目的较</a:t>
            </a:r>
            <a:r>
              <a:rPr lang="zh-CN" altLang="en-US" sz="2400" b="1" dirty="0">
                <a:latin typeface="+mn-ea"/>
              </a:rPr>
              <a:t>简单的办法是设置</a:t>
            </a:r>
            <a:r>
              <a:rPr lang="en-US" altLang="zh-CN" sz="2400" b="1" dirty="0">
                <a:latin typeface="+mn-ea"/>
              </a:rPr>
              <a:t>2</a:t>
            </a:r>
            <a:r>
              <a:rPr lang="zh-CN" altLang="en-US" sz="2400" b="1" dirty="0">
                <a:latin typeface="+mn-ea"/>
              </a:rPr>
              <a:t>个数组</a:t>
            </a:r>
            <a:r>
              <a:rPr lang="en-US" altLang="zh-CN" sz="2400" b="1" dirty="0">
                <a:latin typeface="+mn-ea"/>
              </a:rPr>
              <a:t>closest</a:t>
            </a:r>
            <a:r>
              <a:rPr lang="zh-CN" altLang="en-US" sz="2400" b="1" dirty="0">
                <a:latin typeface="+mn-ea"/>
              </a:rPr>
              <a:t>和</a:t>
            </a:r>
            <a:r>
              <a:rPr lang="en-US" altLang="zh-CN" sz="2400" b="1" dirty="0">
                <a:latin typeface="+mn-ea"/>
              </a:rPr>
              <a:t>lowcost</a:t>
            </a:r>
            <a:r>
              <a:rPr lang="zh-CN" altLang="en-US" sz="2400" b="1" dirty="0">
                <a:latin typeface="+mn-ea"/>
              </a:rPr>
              <a:t>。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zh-CN" altLang="en-US" sz="24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+mn-ea"/>
              </a:rPr>
              <a:t>在</a:t>
            </a:r>
            <a:r>
              <a:rPr lang="en-US" altLang="zh-CN" sz="2400" b="1" dirty="0">
                <a:latin typeface="+mn-ea"/>
              </a:rPr>
              <a:t>Prim</a:t>
            </a:r>
            <a:r>
              <a:rPr lang="zh-CN" altLang="en-US" sz="2400" b="1" dirty="0">
                <a:latin typeface="+mn-ea"/>
              </a:rPr>
              <a:t>算法执行过程中，先找出</a:t>
            </a:r>
            <a:r>
              <a:rPr lang="en-US" altLang="zh-CN" sz="2400" b="1" dirty="0">
                <a:latin typeface="+mn-ea"/>
              </a:rPr>
              <a:t>V-S</a:t>
            </a:r>
            <a:r>
              <a:rPr lang="zh-CN" altLang="en-US" sz="2400" b="1" dirty="0">
                <a:latin typeface="+mn-ea"/>
              </a:rPr>
              <a:t>中使</a:t>
            </a:r>
            <a:r>
              <a:rPr lang="en-US" altLang="zh-CN" sz="2400" b="1" dirty="0">
                <a:latin typeface="+mn-ea"/>
              </a:rPr>
              <a:t>lowcost</a:t>
            </a:r>
            <a:r>
              <a:rPr lang="zh-CN" altLang="en-US" sz="2400" b="1" dirty="0">
                <a:latin typeface="+mn-ea"/>
              </a:rPr>
              <a:t>值最小的顶点</a:t>
            </a:r>
            <a:r>
              <a:rPr lang="en-US" altLang="zh-CN" sz="2400" b="1" dirty="0">
                <a:latin typeface="+mn-ea"/>
              </a:rPr>
              <a:t>j</a:t>
            </a:r>
            <a:r>
              <a:rPr lang="zh-CN" altLang="en-US" sz="2400" b="1" dirty="0">
                <a:latin typeface="+mn-ea"/>
              </a:rPr>
              <a:t>，然后根据数组</a:t>
            </a:r>
            <a:r>
              <a:rPr lang="en-US" altLang="zh-CN" sz="2400" b="1" dirty="0">
                <a:latin typeface="+mn-ea"/>
              </a:rPr>
              <a:t>closest</a:t>
            </a:r>
            <a:r>
              <a:rPr lang="zh-CN" altLang="en-US" sz="2400" b="1" dirty="0">
                <a:latin typeface="+mn-ea"/>
              </a:rPr>
              <a:t>选取边</a:t>
            </a:r>
            <a:r>
              <a:rPr lang="en-US" altLang="zh-CN" sz="2400" b="1" dirty="0">
                <a:latin typeface="+mn-ea"/>
              </a:rPr>
              <a:t>(</a:t>
            </a:r>
            <a:r>
              <a:rPr lang="en-US" altLang="zh-CN" sz="2400" b="1" dirty="0" err="1" smtClean="0">
                <a:latin typeface="+mn-ea"/>
              </a:rPr>
              <a:t>j,closest</a:t>
            </a:r>
            <a:r>
              <a:rPr lang="en-US" altLang="zh-CN" sz="2400" b="1" dirty="0" smtClean="0">
                <a:latin typeface="+mn-ea"/>
              </a:rPr>
              <a:t>[j])</a:t>
            </a:r>
            <a:r>
              <a:rPr lang="zh-CN" altLang="en-US" sz="2400" b="1" dirty="0">
                <a:latin typeface="+mn-ea"/>
              </a:rPr>
              <a:t>，最后将</a:t>
            </a:r>
            <a:r>
              <a:rPr lang="en-US" altLang="zh-CN" sz="2400" b="1" dirty="0">
                <a:latin typeface="+mn-ea"/>
              </a:rPr>
              <a:t>j</a:t>
            </a:r>
            <a:r>
              <a:rPr lang="zh-CN" altLang="en-US" sz="2400" b="1" dirty="0">
                <a:latin typeface="+mn-ea"/>
              </a:rPr>
              <a:t>添加到</a:t>
            </a:r>
            <a:r>
              <a:rPr lang="en-US" altLang="zh-CN" sz="2400" b="1" dirty="0">
                <a:latin typeface="+mn-ea"/>
              </a:rPr>
              <a:t>S</a:t>
            </a:r>
            <a:r>
              <a:rPr lang="zh-CN" altLang="en-US" sz="2400" b="1" dirty="0">
                <a:latin typeface="+mn-ea"/>
              </a:rPr>
              <a:t>中，并对</a:t>
            </a:r>
            <a:r>
              <a:rPr lang="en-US" altLang="zh-CN" sz="2400" b="1" dirty="0">
                <a:latin typeface="+mn-ea"/>
              </a:rPr>
              <a:t>closest</a:t>
            </a:r>
            <a:r>
              <a:rPr lang="zh-CN" altLang="en-US" sz="2400" b="1" dirty="0">
                <a:latin typeface="+mn-ea"/>
              </a:rPr>
              <a:t>和</a:t>
            </a:r>
            <a:r>
              <a:rPr lang="en-US" altLang="zh-CN" sz="2400" b="1" dirty="0">
                <a:latin typeface="+mn-ea"/>
              </a:rPr>
              <a:t>lowcost</a:t>
            </a:r>
            <a:r>
              <a:rPr lang="zh-CN" altLang="en-US" sz="2400" b="1" dirty="0">
                <a:latin typeface="+mn-ea"/>
              </a:rPr>
              <a:t>作必要的修改。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zh-CN" altLang="en-US" sz="24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+mn-ea"/>
              </a:rPr>
              <a:t>用这个办法实现的</a:t>
            </a:r>
            <a:r>
              <a:rPr lang="en-US" altLang="zh-CN" sz="2400" b="1" dirty="0">
                <a:latin typeface="+mn-ea"/>
              </a:rPr>
              <a:t>Prim</a:t>
            </a:r>
            <a:r>
              <a:rPr lang="zh-CN" altLang="en-US" sz="2400" b="1" dirty="0">
                <a:latin typeface="+mn-ea"/>
              </a:rPr>
              <a:t>算法所需的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计算时间</a:t>
            </a:r>
            <a:r>
              <a:rPr lang="zh-CN" altLang="en-US" sz="2400" b="1" dirty="0">
                <a:latin typeface="+mn-ea"/>
              </a:rPr>
              <a:t>为 </a:t>
            </a:r>
          </a:p>
        </p:txBody>
      </p:sp>
      <p:sp>
        <p:nvSpPr>
          <p:cNvPr id="69637" name="Rectangle 5"/>
          <p:cNvSpPr/>
          <p:nvPr/>
        </p:nvSpPr>
        <p:spPr>
          <a:xfrm>
            <a:off x="0" y="3037701"/>
            <a:ext cx="370614" cy="553998"/>
          </a:xfrm>
          <a:prstGeom prst="rect">
            <a:avLst/>
          </a:prstGeom>
          <a:noFill/>
          <a:ln w="635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dirty="0">
              <a:solidFill>
                <a:srgbClr val="000066"/>
              </a:solidFill>
              <a:latin typeface="+mn-ea"/>
            </a:endParaRPr>
          </a:p>
        </p:txBody>
      </p:sp>
      <p:graphicFrame>
        <p:nvGraphicFramePr>
          <p:cNvPr id="6963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15779"/>
              </p:ext>
            </p:extLst>
          </p:nvPr>
        </p:nvGraphicFramePr>
        <p:xfrm>
          <a:off x="7380312" y="5622712"/>
          <a:ext cx="864096" cy="47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r:id="rId3" imgW="419100" imgH="228600" progId="Equation.3">
                  <p:embed/>
                </p:oleObj>
              </mc:Choice>
              <mc:Fallback>
                <p:oleObj r:id="rId3" imgW="419100" imgH="228600" progId="Equation.3">
                  <p:embed/>
                  <p:pic>
                    <p:nvPicPr>
                      <p:cNvPr id="69638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80312" y="5622712"/>
                        <a:ext cx="864096" cy="470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575737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正确性证明</a:t>
            </a:r>
          </a:p>
        </p:txBody>
      </p:sp>
      <p:pic>
        <p:nvPicPr>
          <p:cNvPr id="70659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87624" y="1196752"/>
            <a:ext cx="6264696" cy="4698522"/>
          </a:xfrm>
          <a:ln/>
        </p:spPr>
      </p:pic>
      <p:sp>
        <p:nvSpPr>
          <p:cNvPr id="70660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Garamond" pitchFamily="18" charset="0"/>
                <a:ea typeface="宋体" panose="02010600030101010101" pitchFamily="2" charset="-122"/>
              </a:rPr>
              <a:t>64</a:t>
            </a:fld>
            <a:endParaRPr lang="en-US" altLang="zh-CN" sz="1200" dirty="0">
              <a:solidFill>
                <a:schemeClr val="tx1"/>
              </a:solidFill>
              <a:latin typeface="Garamond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75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归纳基础</a:t>
            </a:r>
          </a:p>
        </p:txBody>
      </p:sp>
      <p:sp>
        <p:nvSpPr>
          <p:cNvPr id="71683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Garamond" pitchFamily="18" charset="0"/>
                <a:ea typeface="宋体" panose="02010600030101010101" pitchFamily="2" charset="-122"/>
              </a:rPr>
              <a:t>65</a:t>
            </a:fld>
            <a:endParaRPr lang="en-US" altLang="zh-CN" sz="1200" dirty="0">
              <a:solidFill>
                <a:schemeClr val="tx1"/>
              </a:solidFill>
              <a:latin typeface="Garamond" pitchFamily="18" charset="0"/>
              <a:ea typeface="宋体" panose="02010600030101010101" pitchFamily="2" charset="-122"/>
            </a:endParaRPr>
          </a:p>
        </p:txBody>
      </p:sp>
      <p:pic>
        <p:nvPicPr>
          <p:cNvPr id="71684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980728"/>
            <a:ext cx="6330570" cy="504056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23222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归纳步骤</a:t>
            </a:r>
          </a:p>
        </p:txBody>
      </p:sp>
      <p:sp>
        <p:nvSpPr>
          <p:cNvPr id="72707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Garamond" pitchFamily="18" charset="0"/>
                <a:ea typeface="宋体" panose="02010600030101010101" pitchFamily="2" charset="-122"/>
              </a:rPr>
              <a:t>66</a:t>
            </a:fld>
            <a:endParaRPr lang="en-US" altLang="zh-CN" sz="1200" dirty="0">
              <a:solidFill>
                <a:schemeClr val="tx1"/>
              </a:solidFill>
              <a:latin typeface="Garamond" pitchFamily="18" charset="0"/>
              <a:ea typeface="宋体" panose="02010600030101010101" pitchFamily="2" charset="-122"/>
            </a:endParaRPr>
          </a:p>
        </p:txBody>
      </p:sp>
      <p:pic>
        <p:nvPicPr>
          <p:cNvPr id="72708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980728"/>
            <a:ext cx="7577458" cy="5184576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6768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747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归纳步骤</a:t>
            </a:r>
          </a:p>
        </p:txBody>
      </p:sp>
      <p:sp>
        <p:nvSpPr>
          <p:cNvPr id="73731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Garamond" pitchFamily="18" charset="0"/>
                <a:ea typeface="宋体" panose="02010600030101010101" pitchFamily="2" charset="-122"/>
              </a:rPr>
              <a:t>67</a:t>
            </a:fld>
            <a:endParaRPr lang="en-US" altLang="zh-CN" sz="1200" dirty="0">
              <a:solidFill>
                <a:schemeClr val="tx1"/>
              </a:solidFill>
              <a:latin typeface="Garamond" pitchFamily="18" charset="0"/>
              <a:ea typeface="宋体" panose="02010600030101010101" pitchFamily="2" charset="-122"/>
            </a:endParaRPr>
          </a:p>
        </p:txBody>
      </p:sp>
      <p:pic>
        <p:nvPicPr>
          <p:cNvPr id="73732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42" y="908720"/>
            <a:ext cx="8252558" cy="51911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10027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fld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55" name="Rectangle 2"/>
          <p:cNvSpPr>
            <a:spLocks noGrp="1"/>
          </p:cNvSpPr>
          <p:nvPr>
            <p:ph type="title"/>
          </p:nvPr>
        </p:nvSpPr>
        <p:spPr>
          <a:xfrm>
            <a:off x="684213" y="333375"/>
            <a:ext cx="7772400" cy="8636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最小生成树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268413"/>
            <a:ext cx="8064500" cy="4683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3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Kruskal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Kruskal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算法构造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的最小生成树的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思想：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个顶点看成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个孤立的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连通分支，所有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边按权从小到大排序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第一条边开始，依边权递增的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顺序查看每一条边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，并按下述方法连接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个不同的连通分支：当查看到第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条边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v,w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如果端点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分别是当前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个不同的连通分支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T1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T2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中的顶点时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，就用边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v,w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连接成一个连通分支，然后继续查看第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k+1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条边；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如果端点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在当前的同一个连通分支中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，就直接再查看第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k+1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条边。这个过程一直进行到只剩下一个连通分支时为止。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43882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6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69</a:t>
            </a:fld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779" name="Rectangle 2"/>
          <p:cNvSpPr>
            <a:spLocks noGrp="1"/>
          </p:cNvSpPr>
          <p:nvPr>
            <p:ph type="title"/>
          </p:nvPr>
        </p:nvSpPr>
        <p:spPr>
          <a:xfrm>
            <a:off x="1400175" y="227013"/>
            <a:ext cx="7296150" cy="1382712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最小生成树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196975"/>
            <a:ext cx="5616575" cy="7921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例如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对右图的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连通带权图，按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Kruskal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算法顺序得到的最小生成树上的边如下图所示。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5781" name="Picture 4" descr="t410"/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39750" y="2205038"/>
            <a:ext cx="5761038" cy="3870325"/>
          </a:xfrm>
          <a:ln/>
        </p:spPr>
      </p:pic>
      <p:pic>
        <p:nvPicPr>
          <p:cNvPr id="7578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688" y="260350"/>
            <a:ext cx="2419350" cy="2209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683568" y="6314281"/>
            <a:ext cx="6732637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当图的边数为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Kruskal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算法所需的</a:t>
            </a:r>
            <a:r>
              <a:rPr lang="zh-CN" altLang="en-US" sz="1800" b="1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计算时间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      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865021"/>
              </p:ext>
            </p:extLst>
          </p:nvPr>
        </p:nvGraphicFramePr>
        <p:xfrm>
          <a:off x="6012657" y="6368690"/>
          <a:ext cx="1008062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0" r:id="rId5" imgW="635000" imgH="203200" progId="Equation.3">
                  <p:embed/>
                </p:oleObj>
              </mc:Choice>
              <mc:Fallback>
                <p:oleObj r:id="rId5" imgW="635000" imgH="203200" progId="Equation.3">
                  <p:embed/>
                  <p:pic>
                    <p:nvPicPr>
                      <p:cNvPr id="8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12657" y="6368690"/>
                        <a:ext cx="1008062" cy="315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98603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chemeClr val="hlink"/>
                </a:solidFill>
                <a:latin typeface="+mn-ea"/>
                <a:ea typeface="+mn-ea"/>
                <a:cs typeface="Times New Roman" panose="02020603050405020304" pitchFamily="18" charset="0"/>
              </a:rPr>
              <a:t>Prim</a:t>
            </a:r>
            <a:r>
              <a:rPr lang="zh-CN" altLang="en-US" sz="4400" b="1" dirty="0">
                <a:solidFill>
                  <a:schemeClr val="hlink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</a:t>
            </a:r>
            <a:r>
              <a:rPr lang="zh-CN" altLang="en-US" sz="44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4400" b="1" dirty="0" err="1">
                <a:solidFill>
                  <a:schemeClr val="hlink"/>
                </a:solidFill>
                <a:latin typeface="+mn-ea"/>
                <a:ea typeface="+mn-ea"/>
                <a:cs typeface="Times New Roman" panose="02020603050405020304" pitchFamily="18" charset="0"/>
              </a:rPr>
              <a:t>Kruskal</a:t>
            </a:r>
            <a:r>
              <a:rPr lang="zh-CN" altLang="en-US" sz="4400" b="1" dirty="0">
                <a:solidFill>
                  <a:schemeClr val="hlink"/>
                </a:solidFill>
                <a:latin typeface="+mn-ea"/>
                <a:ea typeface="+mn-ea"/>
                <a:cs typeface="Times New Roman" panose="02020603050405020304" pitchFamily="18" charset="0"/>
              </a:rPr>
              <a:t>算法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30725"/>
          </a:xfrm>
        </p:spPr>
        <p:txBody>
          <a:bodyPr/>
          <a:lstStyle/>
          <a:p>
            <a:r>
              <a:rPr lang="en-US" altLang="zh-CN" sz="2400" b="1" dirty="0">
                <a:latin typeface="+mn-ea"/>
              </a:rPr>
              <a:t>Prim</a:t>
            </a:r>
            <a:r>
              <a:rPr lang="zh-CN" altLang="en-US" sz="2400" b="1" dirty="0">
                <a:latin typeface="+mn-ea"/>
              </a:rPr>
              <a:t>算法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遍历顶点</a:t>
            </a:r>
            <a:r>
              <a:rPr lang="zh-CN" altLang="en-US" sz="2400" b="1" dirty="0">
                <a:latin typeface="+mn-ea"/>
              </a:rPr>
              <a:t>寻找最小生成树；优势在于遍历稠密图，即点少边多的情况</a:t>
            </a:r>
            <a:r>
              <a:rPr lang="zh-CN" altLang="en-US" sz="2400" b="1" dirty="0" smtClean="0">
                <a:latin typeface="+mn-ea"/>
              </a:rPr>
              <a:t>；</a:t>
            </a:r>
            <a:endParaRPr lang="en-US" altLang="zh-CN" sz="2400" b="1" dirty="0" smtClean="0">
              <a:latin typeface="+mn-ea"/>
            </a:endParaRPr>
          </a:p>
          <a:p>
            <a:endParaRPr lang="en-US" altLang="zh-CN" sz="2400" b="1" dirty="0">
              <a:latin typeface="+mn-ea"/>
            </a:endParaRPr>
          </a:p>
          <a:p>
            <a:r>
              <a:rPr lang="en-US" altLang="zh-CN" sz="2400" b="1" dirty="0" err="1">
                <a:latin typeface="+mn-ea"/>
              </a:rPr>
              <a:t>Kruskal</a:t>
            </a:r>
            <a:r>
              <a:rPr lang="zh-CN" altLang="en-US" sz="2400" b="1" dirty="0">
                <a:latin typeface="+mn-ea"/>
              </a:rPr>
              <a:t>算法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遍历边</a:t>
            </a:r>
            <a:r>
              <a:rPr lang="zh-CN" altLang="en-US" sz="2400" b="1" dirty="0">
                <a:latin typeface="+mn-ea"/>
              </a:rPr>
              <a:t>寻找最小生成树；优势在于遍历稀疏图，即点多边少的</a:t>
            </a:r>
            <a:r>
              <a:rPr lang="zh-CN" altLang="en-US" sz="2400" b="1" dirty="0" smtClean="0">
                <a:latin typeface="+mn-ea"/>
              </a:rPr>
              <a:t>情况。</a:t>
            </a:r>
            <a:endParaRPr lang="en-US" altLang="zh-CN" sz="2800" b="1" dirty="0">
              <a:solidFill>
                <a:schemeClr val="hlink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0244" name="Picture 4" descr="https://img-blog.csdnimg.cn/20200112221612460.png?x-oss-process=image/watermark,type_ZmFuZ3poZW5naGVpdGk,shadow_10,text_aHR0cHM6Ly9ibG9nLmNzZG4ubmV0L3podWh1aWdlZ2U=,size_16,color_FFFFFF,t_7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01"/>
          <a:stretch/>
        </p:blipFill>
        <p:spPr bwMode="auto">
          <a:xfrm>
            <a:off x="2339752" y="3429000"/>
            <a:ext cx="4124325" cy="268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842905"/>
              </p:ext>
            </p:extLst>
          </p:nvPr>
        </p:nvGraphicFramePr>
        <p:xfrm>
          <a:off x="6372200" y="3068960"/>
          <a:ext cx="1467610" cy="459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r:id="rId4" imgW="635000" imgH="203200" progId="Equation.3">
                  <p:embed/>
                </p:oleObj>
              </mc:Choice>
              <mc:Fallback>
                <p:oleObj r:id="rId4" imgW="635000" imgH="203200" progId="Equation.3">
                  <p:embed/>
                  <p:pic>
                    <p:nvPicPr>
                      <p:cNvPr id="8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2200" y="3068960"/>
                        <a:ext cx="1467610" cy="45992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573777"/>
              </p:ext>
            </p:extLst>
          </p:nvPr>
        </p:nvGraphicFramePr>
        <p:xfrm>
          <a:off x="6372200" y="1718149"/>
          <a:ext cx="864096" cy="47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r:id="rId6" imgW="419100" imgH="228600" progId="Equation.3">
                  <p:embed/>
                </p:oleObj>
              </mc:Choice>
              <mc:Fallback>
                <p:oleObj r:id="rId6" imgW="419100" imgH="228600" progId="Equation.3">
                  <p:embed/>
                  <p:pic>
                    <p:nvPicPr>
                      <p:cNvPr id="69638" name="Object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372200" y="1718149"/>
                        <a:ext cx="864096" cy="470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971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74700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学习要点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981075"/>
            <a:ext cx="8229600" cy="5184775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Symbol" panose="05050102010706020507" pitchFamily="18" charset="2"/>
              <a:buChar char="·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通过应用范例学习贪心设计策略。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）活动安排问题；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）最优装载问题；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哈夫曼编码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）单源最短路径；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）最小生成树；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6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）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多机调度问题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360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72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/>
          </p:cNvSpPr>
          <p:nvPr>
            <p:ph type="title"/>
          </p:nvPr>
        </p:nvSpPr>
        <p:spPr>
          <a:xfrm>
            <a:off x="468313" y="260350"/>
            <a:ext cx="7772400" cy="1143000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dirty="0">
                <a:latin typeface="+mn-ea"/>
                <a:ea typeface="+mn-ea"/>
              </a:rPr>
              <a:t>4.7 </a:t>
            </a:r>
            <a:r>
              <a:rPr lang="zh-CN" altLang="en-US" dirty="0">
                <a:latin typeface="+mn-ea"/>
                <a:ea typeface="+mn-ea"/>
              </a:rPr>
              <a:t>多机调度问题</a:t>
            </a:r>
          </a:p>
        </p:txBody>
      </p:sp>
      <p:sp>
        <p:nvSpPr>
          <p:cNvPr id="357379" name="Rectangle 3"/>
          <p:cNvSpPr>
            <a:spLocks noGrp="1" noChangeArrowheads="1"/>
          </p:cNvSpPr>
          <p:nvPr>
            <p:ph idx="1"/>
          </p:nvPr>
        </p:nvSpPr>
        <p:spPr>
          <a:xfrm>
            <a:off x="576263" y="1428750"/>
            <a:ext cx="7883525" cy="42497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机调度问题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要求给出一种作业调度方案，使所给的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个作业在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尽可能短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的时间内由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台机器加工处理完成。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这个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问题是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NP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完全问题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，到目前为止还没有有效的解法。对于这一类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问题，用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贪心选择策略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有时可以设计出较好的近似算法。</a:t>
            </a:r>
          </a:p>
        </p:txBody>
      </p:sp>
      <p:sp>
        <p:nvSpPr>
          <p:cNvPr id="357381" name="Rectangle 5"/>
          <p:cNvSpPr>
            <a:spLocks noChangeArrowheads="1"/>
          </p:cNvSpPr>
          <p:nvPr/>
        </p:nvSpPr>
        <p:spPr bwMode="auto">
          <a:xfrm>
            <a:off x="718320" y="2636912"/>
            <a:ext cx="7777236" cy="9787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0800">
            <a:solidFill>
              <a:srgbClr val="FF6600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约定，每个作业均可在任何一台机器上加工处理，但未完工前不允许中断处理。作业不能拆分成更小的子作业。</a:t>
            </a:r>
          </a:p>
        </p:txBody>
      </p:sp>
    </p:spTree>
    <p:extLst>
      <p:ext uri="{BB962C8B-B14F-4D97-AF65-F5344CB8AC3E}">
        <p14:creationId xmlns:p14="http://schemas.microsoft.com/office/powerpoint/2010/main" val="121921135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73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4.7 </a:t>
            </a:r>
            <a:r>
              <a:rPr lang="zh-CN" altLang="en-US" dirty="0">
                <a:latin typeface="+mn-ea"/>
                <a:ea typeface="+mn-ea"/>
              </a:rPr>
              <a:t>多机调度问题</a:t>
            </a:r>
          </a:p>
        </p:txBody>
      </p:sp>
      <p:sp>
        <p:nvSpPr>
          <p:cNvPr id="7885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+mn-ea"/>
              </a:rPr>
              <a:t>采用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最长处理时间作业（</a:t>
            </a: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 LPT 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）优先</a:t>
            </a:r>
            <a:r>
              <a:rPr lang="zh-CN" altLang="en-US" sz="2400" b="1" dirty="0" smtClean="0">
                <a:latin typeface="+mn-ea"/>
              </a:rPr>
              <a:t>的</a:t>
            </a:r>
            <a:r>
              <a:rPr lang="zh-CN" altLang="en-US" sz="2400" b="1" dirty="0">
                <a:latin typeface="+mn-ea"/>
              </a:rPr>
              <a:t>贪心选择策略可以设计出解多机调度问题的较好的近似算法。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+mn-ea"/>
              </a:rPr>
              <a:t>按此策略，当         时，只要将机器</a:t>
            </a:r>
            <a:r>
              <a:rPr lang="en-US" altLang="zh-CN" sz="2400" b="1" dirty="0">
                <a:latin typeface="+mn-ea"/>
              </a:rPr>
              <a:t>i</a:t>
            </a:r>
            <a:r>
              <a:rPr lang="zh-CN" altLang="en-US" sz="2400" b="1" dirty="0">
                <a:latin typeface="+mn-ea"/>
              </a:rPr>
              <a:t>的</a:t>
            </a:r>
            <a:r>
              <a:rPr lang="en-US" altLang="zh-CN" sz="2400" b="1" dirty="0">
                <a:latin typeface="+mn-ea"/>
              </a:rPr>
              <a:t>[0, ti]</a:t>
            </a:r>
            <a:r>
              <a:rPr lang="zh-CN" altLang="en-US" sz="2400" b="1" dirty="0">
                <a:latin typeface="+mn-ea"/>
              </a:rPr>
              <a:t>时间区间分配给作业</a:t>
            </a:r>
            <a:r>
              <a:rPr lang="en-US" altLang="zh-CN" sz="2400" b="1" dirty="0">
                <a:latin typeface="+mn-ea"/>
              </a:rPr>
              <a:t>i</a:t>
            </a:r>
            <a:r>
              <a:rPr lang="zh-CN" altLang="en-US" sz="2400" b="1" dirty="0">
                <a:latin typeface="+mn-ea"/>
              </a:rPr>
              <a:t>即可，算法只需要</a:t>
            </a: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O(1)</a:t>
            </a:r>
            <a:r>
              <a:rPr lang="zh-CN" altLang="en-US" sz="2400" b="1" dirty="0">
                <a:latin typeface="+mn-ea"/>
              </a:rPr>
              <a:t>时间。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+mn-ea"/>
              </a:rPr>
              <a:t>当         时，首先将</a:t>
            </a:r>
            <a:r>
              <a:rPr lang="en-US" altLang="zh-CN" sz="2400" b="1" dirty="0">
                <a:latin typeface="+mn-ea"/>
              </a:rPr>
              <a:t>n</a:t>
            </a:r>
            <a:r>
              <a:rPr lang="zh-CN" altLang="en-US" sz="2400" b="1" dirty="0">
                <a:latin typeface="+mn-ea"/>
              </a:rPr>
              <a:t>个作业依其所需的处理时间从大到小排序。然后依此顺序将作业分配给空闲的处理机。算法所需的计算时间为</a:t>
            </a: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O(nlogn)</a:t>
            </a:r>
            <a:r>
              <a:rPr lang="zh-CN" altLang="en-US" sz="2400" b="1" dirty="0">
                <a:latin typeface="+mn-ea"/>
              </a:rPr>
              <a:t>。</a:t>
            </a:r>
          </a:p>
          <a:p>
            <a:pPr>
              <a:buNone/>
            </a:pPr>
            <a:endParaRPr lang="zh-CN" altLang="en-US" sz="2400" b="1" dirty="0">
              <a:latin typeface="+mn-ea"/>
            </a:endParaRPr>
          </a:p>
        </p:txBody>
      </p:sp>
      <p:sp>
        <p:nvSpPr>
          <p:cNvPr id="78853" name="Rectangle 5"/>
          <p:cNvSpPr/>
          <p:nvPr/>
        </p:nvSpPr>
        <p:spPr>
          <a:xfrm>
            <a:off x="0" y="3071039"/>
            <a:ext cx="370614" cy="553998"/>
          </a:xfrm>
          <a:prstGeom prst="rect">
            <a:avLst/>
          </a:prstGeom>
          <a:noFill/>
          <a:ln w="635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dirty="0">
              <a:solidFill>
                <a:srgbClr val="000066"/>
              </a:solidFill>
              <a:latin typeface="+mn-ea"/>
            </a:endParaRPr>
          </a:p>
        </p:txBody>
      </p:sp>
      <p:graphicFrame>
        <p:nvGraphicFramePr>
          <p:cNvPr id="7885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971765"/>
              </p:ext>
            </p:extLst>
          </p:nvPr>
        </p:nvGraphicFramePr>
        <p:xfrm>
          <a:off x="2771775" y="2781300"/>
          <a:ext cx="684213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8" r:id="rId3" imgW="393065" imgH="165100" progId="Equation.3">
                  <p:embed/>
                </p:oleObj>
              </mc:Choice>
              <mc:Fallback>
                <p:oleObj r:id="rId3" imgW="393065" imgH="165100" progId="Equation.3">
                  <p:embed/>
                  <p:pic>
                    <p:nvPicPr>
                      <p:cNvPr id="78854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775" y="2781300"/>
                        <a:ext cx="684213" cy="284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5" name="Rectangle 7"/>
          <p:cNvSpPr/>
          <p:nvPr/>
        </p:nvSpPr>
        <p:spPr>
          <a:xfrm>
            <a:off x="0" y="3080564"/>
            <a:ext cx="370614" cy="553998"/>
          </a:xfrm>
          <a:prstGeom prst="rect">
            <a:avLst/>
          </a:prstGeom>
          <a:noFill/>
          <a:ln w="635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dirty="0">
              <a:solidFill>
                <a:srgbClr val="000066"/>
              </a:solidFill>
              <a:latin typeface="+mn-ea"/>
            </a:endParaRPr>
          </a:p>
        </p:txBody>
      </p:sp>
      <p:graphicFrame>
        <p:nvGraphicFramePr>
          <p:cNvPr id="7885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893480"/>
              </p:ext>
            </p:extLst>
          </p:nvPr>
        </p:nvGraphicFramePr>
        <p:xfrm>
          <a:off x="1258888" y="3860800"/>
          <a:ext cx="684212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9" r:id="rId5" imgW="393700" imgH="139700" progId="Equation.3">
                  <p:embed/>
                </p:oleObj>
              </mc:Choice>
              <mc:Fallback>
                <p:oleObj r:id="rId5" imgW="393700" imgH="139700" progId="Equation.3">
                  <p:embed/>
                  <p:pic>
                    <p:nvPicPr>
                      <p:cNvPr id="78856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8888" y="3860800"/>
                        <a:ext cx="684212" cy="250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985559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6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74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4.7 </a:t>
            </a:r>
            <a:r>
              <a:rPr lang="zh-CN" altLang="en-US" dirty="0">
                <a:latin typeface="+mn-ea"/>
                <a:ea typeface="+mn-ea"/>
              </a:rPr>
              <a:t>多机调度问题</a:t>
            </a:r>
          </a:p>
        </p:txBody>
      </p:sp>
      <p:sp>
        <p:nvSpPr>
          <p:cNvPr id="79876" name="Rectangle 3"/>
          <p:cNvSpPr>
            <a:spLocks noGrp="1"/>
          </p:cNvSpPr>
          <p:nvPr>
            <p:ph type="body" sz="half" idx="1"/>
          </p:nvPr>
        </p:nvSpPr>
        <p:spPr>
          <a:xfrm>
            <a:off x="468313" y="1484313"/>
            <a:ext cx="7775575" cy="1798637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例如，</a:t>
            </a:r>
            <a:r>
              <a:rPr lang="zh-CN" altLang="en-US" sz="2400" b="1" dirty="0">
                <a:latin typeface="+mn-ea"/>
              </a:rPr>
              <a:t>设</a:t>
            </a:r>
            <a:r>
              <a:rPr lang="en-US" altLang="zh-CN" sz="2400" b="1" dirty="0">
                <a:latin typeface="+mn-ea"/>
              </a:rPr>
              <a:t>7</a:t>
            </a:r>
            <a:r>
              <a:rPr lang="zh-CN" altLang="en-US" sz="2400" b="1" dirty="0">
                <a:latin typeface="+mn-ea"/>
              </a:rPr>
              <a:t>个独立作业</a:t>
            </a:r>
            <a:r>
              <a:rPr lang="en-US" altLang="zh-CN" sz="2400" b="1" dirty="0">
                <a:latin typeface="+mn-ea"/>
              </a:rPr>
              <a:t>{1,2,3,4,5,6,7}</a:t>
            </a:r>
            <a:r>
              <a:rPr lang="zh-CN" altLang="en-US" sz="2400" b="1" dirty="0">
                <a:latin typeface="+mn-ea"/>
              </a:rPr>
              <a:t>由</a:t>
            </a:r>
            <a:r>
              <a:rPr lang="en-US" altLang="zh-CN" sz="2400" b="1" dirty="0">
                <a:latin typeface="+mn-ea"/>
              </a:rPr>
              <a:t>3</a:t>
            </a:r>
            <a:r>
              <a:rPr lang="zh-CN" altLang="en-US" sz="2400" b="1" dirty="0">
                <a:latin typeface="+mn-ea"/>
              </a:rPr>
              <a:t>台机器</a:t>
            </a:r>
            <a:r>
              <a:rPr lang="en-US" altLang="zh-CN" sz="2400" b="1" dirty="0">
                <a:latin typeface="+mn-ea"/>
              </a:rPr>
              <a:t>M1</a:t>
            </a:r>
            <a:r>
              <a:rPr lang="zh-CN" altLang="en-US" sz="2400" b="1" dirty="0">
                <a:latin typeface="+mn-ea"/>
              </a:rPr>
              <a:t>，</a:t>
            </a:r>
            <a:r>
              <a:rPr lang="en-US" altLang="zh-CN" sz="2400" b="1" dirty="0">
                <a:latin typeface="+mn-ea"/>
              </a:rPr>
              <a:t>M2</a:t>
            </a:r>
            <a:r>
              <a:rPr lang="zh-CN" altLang="en-US" sz="2400" b="1" dirty="0">
                <a:latin typeface="+mn-ea"/>
              </a:rPr>
              <a:t>和</a:t>
            </a:r>
            <a:r>
              <a:rPr lang="en-US" altLang="zh-CN" sz="2400" b="1" dirty="0">
                <a:latin typeface="+mn-ea"/>
              </a:rPr>
              <a:t>M3</a:t>
            </a:r>
            <a:r>
              <a:rPr lang="zh-CN" altLang="en-US" sz="2400" b="1" dirty="0">
                <a:latin typeface="+mn-ea"/>
              </a:rPr>
              <a:t>加工处理。各作业所需的处理时间分别为</a:t>
            </a:r>
            <a:r>
              <a:rPr lang="en-US" altLang="zh-CN" sz="2400" b="1" dirty="0">
                <a:latin typeface="+mn-ea"/>
              </a:rPr>
              <a:t>{2, 14, 4, 16, 6, 5, 3}</a:t>
            </a:r>
            <a:r>
              <a:rPr lang="zh-CN" altLang="en-US" sz="2400" b="1" dirty="0">
                <a:latin typeface="+mn-ea"/>
              </a:rPr>
              <a:t>。</a:t>
            </a:r>
            <a:r>
              <a:rPr lang="zh-CN" altLang="en-US" sz="2400" b="1" dirty="0" smtClean="0">
                <a:latin typeface="+mn-ea"/>
              </a:rPr>
              <a:t>按</a:t>
            </a:r>
            <a:r>
              <a:rPr lang="en-US" altLang="zh-CN" sz="2400" b="1" dirty="0" smtClean="0">
                <a:solidFill>
                  <a:schemeClr val="hlink"/>
                </a:solidFill>
                <a:latin typeface="+mn-ea"/>
              </a:rPr>
              <a:t>LPT</a:t>
            </a:r>
            <a:r>
              <a:rPr lang="zh-CN" altLang="en-US" sz="2400" b="1" dirty="0" smtClean="0">
                <a:solidFill>
                  <a:schemeClr val="hlink"/>
                </a:solidFill>
                <a:latin typeface="+mn-ea"/>
              </a:rPr>
              <a:t>贪心</a:t>
            </a:r>
            <a:r>
              <a:rPr lang="zh-CN" altLang="en-US" sz="2400" b="1" dirty="0" smtClean="0">
                <a:latin typeface="+mn-ea"/>
              </a:rPr>
              <a:t>算法产生</a:t>
            </a:r>
            <a:r>
              <a:rPr lang="zh-CN" altLang="en-US" sz="2400" b="1" dirty="0">
                <a:latin typeface="+mn-ea"/>
              </a:rPr>
              <a:t>的作业调度如下图所示，所需的加工时间为</a:t>
            </a:r>
            <a:r>
              <a:rPr lang="en-US" altLang="zh-CN" sz="2400" b="1" dirty="0">
                <a:latin typeface="+mn-ea"/>
              </a:rPr>
              <a:t>17</a:t>
            </a:r>
            <a:r>
              <a:rPr lang="zh-CN" altLang="en-US" sz="2400" b="1" dirty="0">
                <a:latin typeface="+mn-ea"/>
              </a:rPr>
              <a:t>。</a:t>
            </a:r>
            <a:r>
              <a:rPr lang="zh-CN" altLang="en-US" sz="2800" b="1" dirty="0">
                <a:latin typeface="+mn-ea"/>
              </a:rPr>
              <a:t> </a:t>
            </a:r>
          </a:p>
        </p:txBody>
      </p:sp>
      <p:pic>
        <p:nvPicPr>
          <p:cNvPr id="79877" name="Picture 4" descr="t411"/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1476375" y="3500438"/>
            <a:ext cx="5113338" cy="2239962"/>
          </a:xfrm>
          <a:ln/>
        </p:spPr>
      </p:pic>
    </p:spTree>
    <p:extLst>
      <p:ext uri="{BB962C8B-B14F-4D97-AF65-F5344CB8AC3E}">
        <p14:creationId xmlns:p14="http://schemas.microsoft.com/office/powerpoint/2010/main" val="339572855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6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75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4.7 </a:t>
            </a:r>
            <a:r>
              <a:rPr lang="zh-CN" altLang="en-US" dirty="0">
                <a:latin typeface="+mn-ea"/>
                <a:ea typeface="+mn-ea"/>
              </a:rPr>
              <a:t>多机调度问题</a:t>
            </a:r>
          </a:p>
        </p:txBody>
      </p:sp>
      <p:sp>
        <p:nvSpPr>
          <p:cNvPr id="8" name="Rectangle 3"/>
          <p:cNvSpPr>
            <a:spLocks noGrp="1"/>
          </p:cNvSpPr>
          <p:nvPr>
            <p:ph type="body" sz="half" idx="1"/>
          </p:nvPr>
        </p:nvSpPr>
        <p:spPr>
          <a:xfrm>
            <a:off x="468313" y="1484313"/>
            <a:ext cx="7775575" cy="1798637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例如，</a:t>
            </a:r>
            <a:r>
              <a:rPr lang="zh-CN" altLang="en-US" sz="2400" b="1" dirty="0" smtClean="0">
                <a:latin typeface="+mn-ea"/>
              </a:rPr>
              <a:t>设</a:t>
            </a:r>
            <a:r>
              <a:rPr lang="en-US" altLang="zh-CN" sz="2400" b="1" dirty="0" smtClean="0">
                <a:latin typeface="+mn-ea"/>
              </a:rPr>
              <a:t>5</a:t>
            </a:r>
            <a:r>
              <a:rPr lang="zh-CN" altLang="en-US" sz="2400" b="1" dirty="0" smtClean="0">
                <a:latin typeface="+mn-ea"/>
              </a:rPr>
              <a:t>个</a:t>
            </a:r>
            <a:r>
              <a:rPr lang="zh-CN" altLang="en-US" sz="2400" b="1" dirty="0">
                <a:latin typeface="+mn-ea"/>
              </a:rPr>
              <a:t>独立</a:t>
            </a:r>
            <a:r>
              <a:rPr lang="zh-CN" altLang="en-US" sz="2400" b="1" dirty="0" smtClean="0">
                <a:latin typeface="+mn-ea"/>
              </a:rPr>
              <a:t>作业由</a:t>
            </a:r>
            <a:r>
              <a:rPr lang="en-US" altLang="zh-CN" sz="2400" b="1" dirty="0" smtClean="0">
                <a:latin typeface="+mn-ea"/>
              </a:rPr>
              <a:t>2</a:t>
            </a:r>
            <a:r>
              <a:rPr lang="zh-CN" altLang="en-US" sz="2400" b="1" dirty="0" smtClean="0">
                <a:latin typeface="+mn-ea"/>
              </a:rPr>
              <a:t>台</a:t>
            </a:r>
            <a:r>
              <a:rPr lang="zh-CN" altLang="en-US" sz="2400" b="1" dirty="0">
                <a:latin typeface="+mn-ea"/>
              </a:rPr>
              <a:t>机器</a:t>
            </a:r>
            <a:r>
              <a:rPr lang="en-US" altLang="zh-CN" sz="2400" b="1" dirty="0" smtClean="0">
                <a:latin typeface="+mn-ea"/>
              </a:rPr>
              <a:t>M1</a:t>
            </a:r>
            <a:r>
              <a:rPr lang="zh-CN" altLang="en-US" sz="2400" b="1" dirty="0" smtClean="0">
                <a:latin typeface="+mn-ea"/>
              </a:rPr>
              <a:t>和</a:t>
            </a:r>
            <a:r>
              <a:rPr lang="en-US" altLang="zh-CN" sz="2400" b="1" dirty="0" smtClean="0">
                <a:latin typeface="+mn-ea"/>
              </a:rPr>
              <a:t>M2</a:t>
            </a:r>
            <a:r>
              <a:rPr lang="zh-CN" altLang="en-US" sz="2400" b="1" dirty="0" smtClean="0">
                <a:latin typeface="+mn-ea"/>
              </a:rPr>
              <a:t>加工</a:t>
            </a:r>
            <a:r>
              <a:rPr lang="zh-CN" altLang="en-US" sz="2400" b="1" dirty="0">
                <a:latin typeface="+mn-ea"/>
              </a:rPr>
              <a:t>处理。各作业所需的处理时间分别</a:t>
            </a:r>
            <a:r>
              <a:rPr lang="zh-CN" altLang="en-US" sz="2400" b="1" dirty="0" smtClean="0">
                <a:latin typeface="+mn-ea"/>
              </a:rPr>
              <a:t>为</a:t>
            </a:r>
            <a:r>
              <a:rPr lang="en-US" altLang="zh-CN" sz="2400" b="1" dirty="0">
                <a:latin typeface="+mn-ea"/>
              </a:rPr>
              <a:t>{3,3,2,2,2} </a:t>
            </a:r>
            <a:r>
              <a:rPr lang="zh-CN" altLang="en-US" sz="2400" b="1" dirty="0" smtClean="0">
                <a:latin typeface="+mn-ea"/>
              </a:rPr>
              <a:t>。</a:t>
            </a:r>
            <a:endParaRPr lang="en-US" altLang="zh-CN" sz="2400" b="1" dirty="0" smtClean="0">
              <a:latin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 smtClean="0">
                <a:latin typeface="+mn-ea"/>
              </a:rPr>
              <a:t>按</a:t>
            </a:r>
            <a:r>
              <a:rPr lang="en-US" altLang="zh-CN" sz="2400" b="1" dirty="0" smtClean="0">
                <a:solidFill>
                  <a:schemeClr val="hlink"/>
                </a:solidFill>
                <a:latin typeface="+mn-ea"/>
              </a:rPr>
              <a:t>LPT</a:t>
            </a:r>
            <a:r>
              <a:rPr lang="zh-CN" altLang="en-US" sz="2400" b="1" dirty="0" smtClean="0">
                <a:solidFill>
                  <a:schemeClr val="hlink"/>
                </a:solidFill>
                <a:latin typeface="+mn-ea"/>
              </a:rPr>
              <a:t>贪心</a:t>
            </a:r>
            <a:r>
              <a:rPr lang="zh-CN" altLang="en-US" sz="2400" b="1" dirty="0" smtClean="0">
                <a:latin typeface="+mn-ea"/>
              </a:rPr>
              <a:t>算法产生</a:t>
            </a:r>
            <a:r>
              <a:rPr lang="zh-CN" altLang="en-US" sz="2400" b="1" dirty="0">
                <a:latin typeface="+mn-ea"/>
              </a:rPr>
              <a:t>的</a:t>
            </a:r>
            <a:r>
              <a:rPr lang="zh-CN" altLang="en-US" sz="2400" b="1" dirty="0" smtClean="0">
                <a:latin typeface="+mn-ea"/>
              </a:rPr>
              <a:t>作业调度</a:t>
            </a:r>
            <a:r>
              <a:rPr lang="en-US" altLang="zh-CN" sz="2400" b="1" dirty="0" smtClean="0">
                <a:latin typeface="+mn-ea"/>
              </a:rPr>
              <a:t> 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37370" y="3215809"/>
            <a:ext cx="3582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latin typeface="+mn-ea"/>
                <a:ea typeface="+mn-ea"/>
              </a:rPr>
              <a:t>M1​=[3,2,2], M2​=[3,2]</a:t>
            </a:r>
            <a:endParaRPr lang="zh-CN" altLang="en-US" sz="2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24819" y="4070796"/>
            <a:ext cx="3582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M1​=[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  <a:ea typeface="+mn-ea"/>
              </a:rPr>
              <a:t>3,3],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 M2​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  <a:ea typeface="+mn-ea"/>
              </a:rPr>
              <a:t>=[2,2,2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]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51520" y="1022648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反例：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598740" y="3177157"/>
            <a:ext cx="255762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00" b="1" u="sng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Makespan</a:t>
            </a:r>
            <a:r>
              <a:rPr lang="en-US" altLang="zh-CN" sz="2600" b="1" u="sng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7</a:t>
            </a:r>
            <a:endParaRPr lang="zh-CN" altLang="en-US" sz="2600" u="sng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09034" y="3985903"/>
            <a:ext cx="255762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00" b="1" u="sng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Makespan</a:t>
            </a:r>
            <a:r>
              <a:rPr lang="en-US" altLang="zh-CN" sz="2600" b="1" u="sng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600" b="1" u="sng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600" u="sng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21427" y="5157893"/>
            <a:ext cx="575462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近似比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≈1.16767​≈1.167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92773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2" grpId="0"/>
      <p:bldP spid="1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6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200" dirty="0">
                <a:latin typeface="+mn-ea"/>
                <a:ea typeface="+mn-ea"/>
                <a:cs typeface="Times New Roman" panose="02020603050405020304" pitchFamily="18" charset="0"/>
              </a:rPr>
              <a:t>76</a:t>
            </a:fld>
            <a:endParaRPr lang="zh-CN" altLang="en-US" sz="12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latin typeface="+mn-ea"/>
                <a:ea typeface="+mn-ea"/>
              </a:rPr>
              <a:t>4.7 </a:t>
            </a:r>
            <a:r>
              <a:rPr lang="zh-CN" altLang="en-US" dirty="0">
                <a:latin typeface="+mn-ea"/>
                <a:ea typeface="+mn-ea"/>
              </a:rPr>
              <a:t>多机调度问题</a:t>
            </a:r>
          </a:p>
        </p:txBody>
      </p:sp>
      <p:sp>
        <p:nvSpPr>
          <p:cNvPr id="8" name="Rectangle 3"/>
          <p:cNvSpPr>
            <a:spLocks noGrp="1"/>
          </p:cNvSpPr>
          <p:nvPr>
            <p:ph type="body" sz="half" idx="1"/>
          </p:nvPr>
        </p:nvSpPr>
        <p:spPr>
          <a:xfrm>
            <a:off x="468313" y="1484313"/>
            <a:ext cx="8218487" cy="2952799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+mn-ea"/>
              </a:rPr>
              <a:t>LPT</a:t>
            </a:r>
            <a:r>
              <a:rPr lang="zh-CN" altLang="en-US" sz="2400" b="1" dirty="0">
                <a:solidFill>
                  <a:schemeClr val="hlink"/>
                </a:solidFill>
                <a:latin typeface="+mn-ea"/>
              </a:rPr>
              <a:t>虽然不能保证最优解，但具有以下理论性质</a:t>
            </a:r>
            <a:r>
              <a:rPr lang="zh-CN" altLang="en-US" sz="2400" b="1" dirty="0" smtClean="0">
                <a:solidFill>
                  <a:schemeClr val="hlink"/>
                </a:solidFill>
                <a:latin typeface="+mn-ea"/>
              </a:rPr>
              <a:t>：</a:t>
            </a:r>
            <a:endParaRPr lang="en-US" altLang="zh-CN" sz="2400" b="1" dirty="0" smtClean="0">
              <a:solidFill>
                <a:schemeClr val="hlink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 smtClean="0">
                <a:latin typeface="+mn-ea"/>
              </a:rPr>
              <a:t>近似比：</a:t>
            </a:r>
            <a:r>
              <a:rPr lang="en-US" altLang="zh-CN" sz="2400" dirty="0" smtClean="0">
                <a:latin typeface="+mn-ea"/>
              </a:rPr>
              <a:t>LPT</a:t>
            </a:r>
            <a:r>
              <a:rPr lang="zh-CN" altLang="en-US" sz="2400" dirty="0" smtClean="0">
                <a:latin typeface="+mn-ea"/>
              </a:rPr>
              <a:t>算法的</a:t>
            </a:r>
            <a:r>
              <a:rPr lang="en-US" altLang="zh-CN" sz="2400" dirty="0" err="1" smtClean="0">
                <a:latin typeface="+mn-ea"/>
              </a:rPr>
              <a:t>Makespan</a:t>
            </a:r>
            <a:r>
              <a:rPr lang="zh-CN" altLang="en-US" sz="2400" dirty="0" smtClean="0">
                <a:latin typeface="+mn-ea"/>
              </a:rPr>
              <a:t>不超过最优解的</a:t>
            </a:r>
            <a:r>
              <a:rPr lang="en-US" altLang="zh-CN" sz="2400" dirty="0" smtClean="0">
                <a:latin typeface="+mn-ea"/>
              </a:rPr>
              <a:t>4/3-1/(3*m)</a:t>
            </a:r>
            <a:r>
              <a:rPr lang="zh-CN" altLang="en-US" sz="2400" dirty="0" smtClean="0">
                <a:latin typeface="+mn-ea"/>
              </a:rPr>
              <a:t>倍 </a:t>
            </a:r>
            <a:r>
              <a:rPr lang="en-US" altLang="zh-CN" sz="2400" dirty="0" smtClean="0">
                <a:latin typeface="+mn-ea"/>
              </a:rPr>
              <a:t>(</a:t>
            </a:r>
            <a:r>
              <a:rPr lang="en-US" altLang="zh-CN" sz="2400" dirty="0" err="1" smtClean="0">
                <a:latin typeface="+mn-ea"/>
              </a:rPr>
              <a:t>Grahm</a:t>
            </a:r>
            <a:r>
              <a:rPr lang="en-US" altLang="zh-CN" sz="2400" dirty="0" smtClean="0">
                <a:latin typeface="+mn-ea"/>
              </a:rPr>
              <a:t> 1969)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+mn-ea"/>
              </a:rPr>
              <a:t>这是最坏情况下的上界</a:t>
            </a:r>
            <a:r>
              <a:rPr lang="zh-CN" altLang="en-US" sz="2400" dirty="0" smtClean="0">
                <a:latin typeface="+mn-ea"/>
              </a:rPr>
              <a:t>。实际表现：在大多数的实际场景中，</a:t>
            </a:r>
            <a:r>
              <a:rPr lang="en-US" altLang="zh-CN" sz="2400" dirty="0" smtClean="0">
                <a:latin typeface="+mn-ea"/>
              </a:rPr>
              <a:t>LPT</a:t>
            </a:r>
            <a:r>
              <a:rPr lang="zh-CN" altLang="en-US" sz="2400" dirty="0" smtClean="0">
                <a:latin typeface="+mn-ea"/>
              </a:rPr>
              <a:t>的解接近最优解，尤其是作业处理时间分布均匀时。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2400" dirty="0">
              <a:solidFill>
                <a:schemeClr val="hlink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3068960"/>
            <a:ext cx="2665023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6286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贪心法小结</a:t>
            </a:r>
          </a:p>
        </p:txBody>
      </p:sp>
      <p:sp>
        <p:nvSpPr>
          <p:cNvPr id="80899" name="灯片编号占位符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000" b="0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Garamond" pitchFamily="18" charset="0"/>
                <a:ea typeface="宋体" panose="02010600030101010101" pitchFamily="2" charset="-122"/>
              </a:rPr>
              <a:t>77</a:t>
            </a:fld>
            <a:endParaRPr lang="en-US" altLang="zh-CN" sz="1200" dirty="0">
              <a:solidFill>
                <a:schemeClr val="tx1"/>
              </a:solidFill>
              <a:latin typeface="Garamond" pitchFamily="18" charset="0"/>
              <a:ea typeface="宋体" panose="02010600030101010101" pitchFamily="2" charset="-122"/>
            </a:endParaRPr>
          </a:p>
        </p:txBody>
      </p:sp>
      <p:pic>
        <p:nvPicPr>
          <p:cNvPr id="80900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440486"/>
            <a:ext cx="6993512" cy="442136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95811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390111c-d26b-49cb-bfd1-8acf631c41e3"/>
  <p:tag name="COMMONDATA" val="eyJoZGlkIjoiM2ZmNjI1OGUyMDllNGUyMzZkMWI3M2ZhZDJhMzViODIifQ=="/>
</p:tagLst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0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anose="05000000000000000000" pitchFamily="2" charset="2"/>
          <a:buChar char="n"/>
          <a:defRPr kumimoji="0" lang="en-US" sz="30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楷体_GB2312" pitchFamily="49" charset="-122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0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anose="05000000000000000000" pitchFamily="2" charset="2"/>
          <a:buChar char="n"/>
          <a:defRPr kumimoji="0" lang="en-US" sz="30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楷体_GB2312" pitchFamily="49" charset="-122"/>
            <a:cs typeface="Times New Roman" panose="02020603050405020304" pitchFamily="18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13336</TotalTime>
  <Words>6729</Words>
  <Application>Microsoft Office PowerPoint</Application>
  <PresentationFormat>全屏显示(4:3)</PresentationFormat>
  <Paragraphs>780</Paragraphs>
  <Slides>77</Slides>
  <Notes>30</Notes>
  <HiddenSlides>1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77</vt:i4>
      </vt:variant>
    </vt:vector>
  </HeadingPairs>
  <TitlesOfParts>
    <vt:vector size="98" baseType="lpstr">
      <vt:lpstr>-apple-system</vt:lpstr>
      <vt:lpstr>DeepSeek-CJK-patch</vt:lpstr>
      <vt:lpstr>pingfang SC</vt:lpstr>
      <vt:lpstr>黑体</vt:lpstr>
      <vt:lpstr>华文楷体</vt:lpstr>
      <vt:lpstr>华文行楷</vt:lpstr>
      <vt:lpstr>楷体_GB2312</vt:lpstr>
      <vt:lpstr>宋体</vt:lpstr>
      <vt:lpstr>微软雅黑</vt:lpstr>
      <vt:lpstr>新宋体</vt:lpstr>
      <vt:lpstr>Arial</vt:lpstr>
      <vt:lpstr>Consolas</vt:lpstr>
      <vt:lpstr>Garamond</vt:lpstr>
      <vt:lpstr>Symbol</vt:lpstr>
      <vt:lpstr>Tahoma</vt:lpstr>
      <vt:lpstr>Times New Roman</vt:lpstr>
      <vt:lpstr>Verdana</vt:lpstr>
      <vt:lpstr>Wingdings</vt:lpstr>
      <vt:lpstr>Edge</vt:lpstr>
      <vt:lpstr>Microsoft Graph 图表</vt:lpstr>
      <vt:lpstr>Equation.3</vt:lpstr>
      <vt:lpstr>第4章  贪心算法</vt:lpstr>
      <vt:lpstr>PowerPoint 演示文稿</vt:lpstr>
      <vt:lpstr>学习要点</vt:lpstr>
      <vt:lpstr>示例：找零问题</vt:lpstr>
      <vt:lpstr>PowerPoint 演示文稿</vt:lpstr>
      <vt:lpstr>PowerPoint 演示文稿</vt:lpstr>
      <vt:lpstr>PowerPoint 演示文稿</vt:lpstr>
      <vt:lpstr>贪心算法</vt:lpstr>
      <vt:lpstr>4.1 活动安排问题</vt:lpstr>
      <vt:lpstr>4.1 活动安排问题</vt:lpstr>
      <vt:lpstr>4.1 活动安排问题</vt:lpstr>
      <vt:lpstr>4.1 活动安排问题</vt:lpstr>
      <vt:lpstr>4.1 活动安排问题</vt:lpstr>
      <vt:lpstr>4.1 活动安排问题</vt:lpstr>
      <vt:lpstr>4.1 活动安排问题</vt:lpstr>
      <vt:lpstr>4.1 活动安排问题</vt:lpstr>
      <vt:lpstr>贪心算法的特点</vt:lpstr>
      <vt:lpstr>学习要点</vt:lpstr>
      <vt:lpstr>4.2 贪心算法的基本要素</vt:lpstr>
      <vt:lpstr>4.2 贪心算法的基本要素</vt:lpstr>
      <vt:lpstr>4.2 贪心算法的基本要素</vt:lpstr>
      <vt:lpstr>4.2 贪心算法的基本要素</vt:lpstr>
      <vt:lpstr>4.2 贪心算法的基本要素</vt:lpstr>
      <vt:lpstr>4.2 贪心算法的基本要素</vt:lpstr>
      <vt:lpstr>4.2 贪心算法的基本要素</vt:lpstr>
      <vt:lpstr>4.2 贪心算法的基本要素</vt:lpstr>
      <vt:lpstr>贪心选择对0-1 背包不适用</vt:lpstr>
      <vt:lpstr>贪心算法和动态规划</vt:lpstr>
      <vt:lpstr>贪心算法和动态规划</vt:lpstr>
      <vt:lpstr>学习要点</vt:lpstr>
      <vt:lpstr>4.3 最优装载</vt:lpstr>
      <vt:lpstr>4.3 最优装载</vt:lpstr>
      <vt:lpstr>4.3 最优装载</vt:lpstr>
      <vt:lpstr>最优装载正确性证明</vt:lpstr>
      <vt:lpstr>归纳步骤证明思路</vt:lpstr>
      <vt:lpstr>学习要点</vt:lpstr>
      <vt:lpstr>4.4 哈夫曼编码</vt:lpstr>
      <vt:lpstr>4.4 哈夫曼编码</vt:lpstr>
      <vt:lpstr>4.4 哈夫曼编码 </vt:lpstr>
      <vt:lpstr>4.4 哈夫曼编码（回顾）</vt:lpstr>
      <vt:lpstr>4.4 哈夫曼编码</vt:lpstr>
      <vt:lpstr>4.4 哈夫曼编码</vt:lpstr>
      <vt:lpstr>4.4 哈夫曼编码</vt:lpstr>
      <vt:lpstr>4.4 哈夫曼编码</vt:lpstr>
      <vt:lpstr>最优前缀码性质：引理1</vt:lpstr>
      <vt:lpstr>引理2</vt:lpstr>
      <vt:lpstr>算法正确性证明思路</vt:lpstr>
      <vt:lpstr>归纳基础</vt:lpstr>
      <vt:lpstr>归纳步骤</vt:lpstr>
      <vt:lpstr>归纳步骤</vt:lpstr>
      <vt:lpstr>学习要点</vt:lpstr>
      <vt:lpstr>4.5 单源最短路径</vt:lpstr>
      <vt:lpstr>4.5 单源最短路径</vt:lpstr>
      <vt:lpstr>4.5 单源最短路径</vt:lpstr>
      <vt:lpstr>4.5 单源最短路径</vt:lpstr>
      <vt:lpstr>4.5 单源最短路径</vt:lpstr>
      <vt:lpstr>学习要点</vt:lpstr>
      <vt:lpstr>4.6 最小生成树 </vt:lpstr>
      <vt:lpstr>4.6 最小生成树</vt:lpstr>
      <vt:lpstr>4.6 最小生成树</vt:lpstr>
      <vt:lpstr>4.6 最小生成树</vt:lpstr>
      <vt:lpstr>4.6 最小生成树</vt:lpstr>
      <vt:lpstr>4.6 最小生成树</vt:lpstr>
      <vt:lpstr>正确性证明</vt:lpstr>
      <vt:lpstr>归纳基础</vt:lpstr>
      <vt:lpstr>归纳步骤</vt:lpstr>
      <vt:lpstr>归纳步骤</vt:lpstr>
      <vt:lpstr>4.6 最小生成树</vt:lpstr>
      <vt:lpstr>4.6 最小生成树</vt:lpstr>
      <vt:lpstr>Prim算法和Kruskal算法</vt:lpstr>
      <vt:lpstr>学习要点</vt:lpstr>
      <vt:lpstr>4.7 多机调度问题</vt:lpstr>
      <vt:lpstr>4.7 多机调度问题</vt:lpstr>
      <vt:lpstr>4.7 多机调度问题</vt:lpstr>
      <vt:lpstr>4.7 多机调度问题</vt:lpstr>
      <vt:lpstr>4.7 多机调度问题</vt:lpstr>
      <vt:lpstr>贪心法小结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动态规划</dc:title>
  <dc:creator>wang</dc:creator>
  <cp:lastModifiedBy>WJL</cp:lastModifiedBy>
  <cp:revision>405</cp:revision>
  <cp:lastPrinted>2013-04-09T01:39:03Z</cp:lastPrinted>
  <dcterms:created xsi:type="dcterms:W3CDTF">2003-05-27T06:14:28Z</dcterms:created>
  <dcterms:modified xsi:type="dcterms:W3CDTF">2026-04-10T14:10:50Z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A834E30D38B34B24BBC5F85AB8342C01</vt:lpwstr>
  </property>
  <property fmtid="{D5CDD505-2E9C-101B-9397-08002B2CF9AE}" pid="3" name="KSOProductBuildVer">
    <vt:lpwstr>2052-11.1.0.12970</vt:lpwstr>
  </property>
</Properties>
</file>