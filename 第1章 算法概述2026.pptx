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tiff" ContentType="image/tiff"/>
  <Default Extension="vml" ContentType="application/vnd.openxmlformats-officedocument.vmlDrawing"/>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83"/>
  </p:notesMasterIdLst>
  <p:handoutMasterIdLst>
    <p:handoutMasterId r:id="rId84"/>
  </p:handoutMasterIdLst>
  <p:sldIdLst>
    <p:sldId id="256" r:id="rId2"/>
    <p:sldId id="475" r:id="rId3"/>
    <p:sldId id="545" r:id="rId4"/>
    <p:sldId id="420" r:id="rId5"/>
    <p:sldId id="448" r:id="rId6"/>
    <p:sldId id="424" r:id="rId7"/>
    <p:sldId id="422" r:id="rId8"/>
    <p:sldId id="421" r:id="rId9"/>
    <p:sldId id="515" r:id="rId10"/>
    <p:sldId id="516" r:id="rId11"/>
    <p:sldId id="546" r:id="rId12"/>
    <p:sldId id="449" r:id="rId13"/>
    <p:sldId id="450" r:id="rId14"/>
    <p:sldId id="451" r:id="rId15"/>
    <p:sldId id="453" r:id="rId16"/>
    <p:sldId id="454" r:id="rId17"/>
    <p:sldId id="455" r:id="rId18"/>
    <p:sldId id="458" r:id="rId19"/>
    <p:sldId id="547" r:id="rId20"/>
    <p:sldId id="330" r:id="rId21"/>
    <p:sldId id="331" r:id="rId22"/>
    <p:sldId id="467" r:id="rId23"/>
    <p:sldId id="466" r:id="rId24"/>
    <p:sldId id="465" r:id="rId25"/>
    <p:sldId id="463" r:id="rId26"/>
    <p:sldId id="464" r:id="rId27"/>
    <p:sldId id="332" r:id="rId28"/>
    <p:sldId id="528" r:id="rId29"/>
    <p:sldId id="530" r:id="rId30"/>
    <p:sldId id="529" r:id="rId31"/>
    <p:sldId id="548" r:id="rId32"/>
    <p:sldId id="484" r:id="rId33"/>
    <p:sldId id="485" r:id="rId34"/>
    <p:sldId id="486" r:id="rId35"/>
    <p:sldId id="487" r:id="rId36"/>
    <p:sldId id="488" r:id="rId37"/>
    <p:sldId id="489" r:id="rId38"/>
    <p:sldId id="490" r:id="rId39"/>
    <p:sldId id="491" r:id="rId40"/>
    <p:sldId id="517" r:id="rId41"/>
    <p:sldId id="469" r:id="rId42"/>
    <p:sldId id="335" r:id="rId43"/>
    <p:sldId id="492" r:id="rId44"/>
    <p:sldId id="493" r:id="rId45"/>
    <p:sldId id="471" r:id="rId46"/>
    <p:sldId id="519" r:id="rId47"/>
    <p:sldId id="336" r:id="rId48"/>
    <p:sldId id="337" r:id="rId49"/>
    <p:sldId id="379" r:id="rId50"/>
    <p:sldId id="339" r:id="rId51"/>
    <p:sldId id="380" r:id="rId52"/>
    <p:sldId id="381" r:id="rId53"/>
    <p:sldId id="338" r:id="rId54"/>
    <p:sldId id="494" r:id="rId55"/>
    <p:sldId id="532" r:id="rId56"/>
    <p:sldId id="342" r:id="rId57"/>
    <p:sldId id="343" r:id="rId58"/>
    <p:sldId id="344" r:id="rId59"/>
    <p:sldId id="345" r:id="rId60"/>
    <p:sldId id="474" r:id="rId61"/>
    <p:sldId id="520" r:id="rId62"/>
    <p:sldId id="383" r:id="rId63"/>
    <p:sldId id="500" r:id="rId64"/>
    <p:sldId id="384" r:id="rId65"/>
    <p:sldId id="385" r:id="rId66"/>
    <p:sldId id="495" r:id="rId67"/>
    <p:sldId id="496" r:id="rId68"/>
    <p:sldId id="497" r:id="rId69"/>
    <p:sldId id="550" r:id="rId70"/>
    <p:sldId id="521" r:id="rId71"/>
    <p:sldId id="522" r:id="rId72"/>
    <p:sldId id="541" r:id="rId73"/>
    <p:sldId id="549" r:id="rId74"/>
    <p:sldId id="531" r:id="rId75"/>
    <p:sldId id="552" r:id="rId76"/>
    <p:sldId id="391" r:id="rId77"/>
    <p:sldId id="542" r:id="rId78"/>
    <p:sldId id="543" r:id="rId79"/>
    <p:sldId id="544" r:id="rId80"/>
    <p:sldId id="393" r:id="rId81"/>
    <p:sldId id="551" r:id="rId82"/>
  </p:sldIdLst>
  <p:sldSz cx="9144000" cy="6858000" type="screen4x3"/>
  <p:notesSz cx="6858000" cy="9144000"/>
  <p:defaultTextStyle>
    <a:defPPr>
      <a:defRPr lang="en-US"/>
    </a:defPPr>
    <a:lvl1pPr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3000" kern="1200">
        <a:solidFill>
          <a:srgbClr val="000066"/>
        </a:solidFill>
        <a:latin typeface="Arial" panose="020B0604020202020204" pitchFamily="34" charset="0"/>
        <a:ea typeface="楷体_GB2312" pitchFamily="49" charset="-122"/>
        <a:cs typeface="+mn-cs"/>
      </a:defRPr>
    </a:lvl5pPr>
    <a:lvl6pPr marL="22860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6pPr>
    <a:lvl7pPr marL="27432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7pPr>
    <a:lvl8pPr marL="32004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8pPr>
    <a:lvl9pPr marL="3657600" algn="l" defTabSz="914400" rtl="0" eaLnBrk="1" latinLnBrk="0" hangingPunct="1">
      <a:defRPr sz="3000" kern="1200">
        <a:solidFill>
          <a:srgbClr val="000066"/>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000066"/>
    <a:srgbClr val="9900FF"/>
    <a:srgbClr val="DDDDDD"/>
    <a:srgbClr val="663300"/>
    <a:srgbClr val="CC0000"/>
    <a:srgbClr val="800000"/>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87967" autoAdjust="0"/>
  </p:normalViewPr>
  <p:slideViewPr>
    <p:cSldViewPr>
      <p:cViewPr varScale="1">
        <p:scale>
          <a:sx n="102" d="100"/>
          <a:sy n="102" d="100"/>
        </p:scale>
        <p:origin x="744" y="102"/>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_rels/viewProps.xml.rels><?xml version="1.0" encoding="UTF-8" standalone="yes"?>
<Relationships xmlns="http://schemas.openxmlformats.org/package/2006/relationships"><Relationship Id="rId1" Type="http://schemas.openxmlformats.org/officeDocument/2006/relationships/slide" Target="slides/slide6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89F1E125-CE3A-3FF5-6D01-809FAB07C6B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zh-CN" altLang="en-US"/>
          </a:p>
        </p:txBody>
      </p:sp>
      <p:sp>
        <p:nvSpPr>
          <p:cNvPr id="108547" name="Rectangle 3">
            <a:extLst>
              <a:ext uri="{FF2B5EF4-FFF2-40B4-BE49-F238E27FC236}">
                <a16:creationId xmlns:a16="http://schemas.microsoft.com/office/drawing/2014/main" id="{06732938-FDD0-3953-F925-4AB6D4B241AE}"/>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108548" name="Rectangle 4">
            <a:extLst>
              <a:ext uri="{FF2B5EF4-FFF2-40B4-BE49-F238E27FC236}">
                <a16:creationId xmlns:a16="http://schemas.microsoft.com/office/drawing/2014/main" id="{165D3477-2858-FAAB-53A1-C4B941DD8A45}"/>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108549" name="Rectangle 5">
            <a:extLst>
              <a:ext uri="{FF2B5EF4-FFF2-40B4-BE49-F238E27FC236}">
                <a16:creationId xmlns:a16="http://schemas.microsoft.com/office/drawing/2014/main" id="{787FD9E2-9ABE-2558-7B3B-726753219370}"/>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5A2CF98C-D1EF-45C6-AC06-A95A60D8C126}"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B648E6-1D7E-6627-C3FC-DDD54A8964D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zh-CN" altLang="en-US"/>
          </a:p>
        </p:txBody>
      </p:sp>
      <p:sp>
        <p:nvSpPr>
          <p:cNvPr id="26627" name="Rectangle 3">
            <a:extLst>
              <a:ext uri="{FF2B5EF4-FFF2-40B4-BE49-F238E27FC236}">
                <a16:creationId xmlns:a16="http://schemas.microsoft.com/office/drawing/2014/main" id="{485D5FC8-B236-85B5-55DC-9F44541A4AD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3076" name="Rectangle 4">
            <a:extLst>
              <a:ext uri="{FF2B5EF4-FFF2-40B4-BE49-F238E27FC236}">
                <a16:creationId xmlns:a16="http://schemas.microsoft.com/office/drawing/2014/main" id="{3D8393ED-F5EC-17CB-A476-E4B473214D6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a:extLst>
              <a:ext uri="{FF2B5EF4-FFF2-40B4-BE49-F238E27FC236}">
                <a16:creationId xmlns:a16="http://schemas.microsoft.com/office/drawing/2014/main" id="{C55E28AF-BC4D-CCB2-0098-28FC668E2C83}"/>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6630" name="Rectangle 6">
            <a:extLst>
              <a:ext uri="{FF2B5EF4-FFF2-40B4-BE49-F238E27FC236}">
                <a16:creationId xmlns:a16="http://schemas.microsoft.com/office/drawing/2014/main" id="{AE9CCF27-E718-F4D0-AB3B-00F723E5B8BA}"/>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kumimoji="1" sz="1200">
                <a:solidFill>
                  <a:schemeClr val="tx1"/>
                </a:solidFill>
                <a:latin typeface="Times New Roman" pitchFamily="18" charset="0"/>
                <a:ea typeface="宋体" pitchFamily="2" charset="-122"/>
                <a:cs typeface="+mn-cs"/>
              </a:defRPr>
            </a:lvl1pPr>
          </a:lstStyle>
          <a:p>
            <a:pPr>
              <a:defRPr/>
            </a:pPr>
            <a:endParaRPr lang="en-US" altLang="zh-CN"/>
          </a:p>
        </p:txBody>
      </p:sp>
      <p:sp>
        <p:nvSpPr>
          <p:cNvPr id="26631" name="Rectangle 7">
            <a:extLst>
              <a:ext uri="{FF2B5EF4-FFF2-40B4-BE49-F238E27FC236}">
                <a16:creationId xmlns:a16="http://schemas.microsoft.com/office/drawing/2014/main" id="{AC50D3AE-187E-551E-1BEF-6B072CC8CEE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pPr>
              <a:defRPr/>
            </a:pPr>
            <a:fld id="{25632DA0-60EF-406C-B5ED-472D5BCC4F1A}" type="slidenum">
              <a:rPr lang="zh-CN" altLang="en-US"/>
              <a:pPr>
                <a:defRPr/>
              </a:pPr>
              <a:t>‹#›</a:t>
            </a:fld>
            <a:endParaRPr lang="en-US" altLang="zh-CN"/>
          </a:p>
        </p:txBody>
      </p:sp>
    </p:spTree>
    <p:extLst>
      <p:ext uri="{BB962C8B-B14F-4D97-AF65-F5344CB8AC3E}">
        <p14:creationId xmlns:p14="http://schemas.microsoft.com/office/powerpoint/2010/main" val="25596075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aike.baidu.com/item/%E7%B2%9F%E7%B1%B3?fromModule=lemma_inlink"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aike.baidu.com/item/%E5%9B%BE%E7%81%B5/121208?fromModule=lemma_inlink"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zhuanlan.zhihu.com/p/135251031?utm_id=0#ref_1" TargetMode="External"/><Relationship Id="rId4" Type="http://schemas.openxmlformats.org/officeDocument/2006/relationships/hyperlink" Target="https://baike.baidu.com/item/%E9%82%B1%E5%A5%87?fromModule=lemma_inlink"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dl.acm.org/doi/10.5555/615603.615756"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207BE55-7700-FF4F-DCB9-078E72FBE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7B2144F4-8E6C-4D3E-A3A1-70CD1E172EBE}" type="slidenum">
              <a:rPr lang="zh-CN" altLang="en-US" sz="1200">
                <a:solidFill>
                  <a:schemeClr val="tx1"/>
                </a:solidFill>
                <a:latin typeface="Times New Roman" panose="02020603050405020304" pitchFamily="18" charset="0"/>
                <a:ea typeface="宋体" panose="02010600030101010101" pitchFamily="2" charset="-122"/>
              </a:rPr>
              <a:pPr/>
              <a:t>1</a:t>
            </a:fld>
            <a:endParaRPr lang="en-US" altLang="zh-CN" sz="1200">
              <a:solidFill>
                <a:schemeClr val="tx1"/>
              </a:solidFill>
              <a:latin typeface="Times New Roman" panose="02020603050405020304" pitchFamily="18" charset="0"/>
              <a:ea typeface="宋体" panose="02010600030101010101" pitchFamily="2" charset="-122"/>
            </a:endParaRPr>
          </a:p>
        </p:txBody>
      </p:sp>
      <p:sp>
        <p:nvSpPr>
          <p:cNvPr id="6147" name="Rectangle 2">
            <a:extLst>
              <a:ext uri="{FF2B5EF4-FFF2-40B4-BE49-F238E27FC236}">
                <a16:creationId xmlns:a16="http://schemas.microsoft.com/office/drawing/2014/main" id="{C610B625-394E-DF39-5E93-72416525396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0A737CCB-F1D0-942C-B1BE-9BFF4C626A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 </a:t>
            </a:r>
          </a:p>
        </p:txBody>
      </p:sp>
    </p:spTree>
    <p:extLst>
      <p:ext uri="{BB962C8B-B14F-4D97-AF65-F5344CB8AC3E}">
        <p14:creationId xmlns:p14="http://schemas.microsoft.com/office/powerpoint/2010/main" val="3520886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222222"/>
                </a:solidFill>
                <a:latin typeface="arial" panose="020B0604020202020204" pitchFamily="34" charset="0"/>
              </a:rPr>
              <a:t>著就数学史上具有里程碑意义的不朽名著</a:t>
            </a:r>
            <a:r>
              <a:rPr lang="en-US" altLang="zh-CN" sz="1200" dirty="0">
                <a:solidFill>
                  <a:srgbClr val="222222"/>
                </a:solidFill>
                <a:latin typeface="arial" panose="020B0604020202020204" pitchFamily="34" charset="0"/>
              </a:rPr>
              <a:t>——《</a:t>
            </a:r>
            <a:r>
              <a:rPr lang="zh-CN" altLang="en-US" sz="1200" dirty="0">
                <a:solidFill>
                  <a:srgbClr val="222222"/>
                </a:solidFill>
                <a:latin typeface="arial" panose="020B0604020202020204" pitchFamily="34" charset="0"/>
              </a:rPr>
              <a:t>几何原本</a:t>
            </a:r>
            <a:r>
              <a:rPr lang="en-US" altLang="zh-CN" sz="1200" dirty="0">
                <a:solidFill>
                  <a:srgbClr val="222222"/>
                </a:solidFill>
                <a:latin typeface="arial" panose="020B0604020202020204" pitchFamily="34" charset="0"/>
              </a:rPr>
              <a:t>》</a:t>
            </a:r>
            <a:r>
              <a:rPr lang="zh-CN" altLang="en-US" sz="1200" dirty="0">
                <a:solidFill>
                  <a:srgbClr val="222222"/>
                </a:solidFill>
                <a:latin typeface="arial" panose="020B0604020202020204" pitchFamily="34" charset="0"/>
              </a:rPr>
              <a:t>，几何学的体系化构建终于初步完成。</a:t>
            </a:r>
            <a:endParaRPr lang="en-US" altLang="zh-CN" sz="1200" dirty="0">
              <a:solidFill>
                <a:srgbClr val="222222"/>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solidFill>
                <a:srgbClr val="222222"/>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，全书采用问题集的形式，收有</a:t>
            </a:r>
            <a:r>
              <a:rPr lang="en-US" altLang="zh-CN" sz="1200" b="0" i="0" kern="1200" dirty="0">
                <a:solidFill>
                  <a:schemeClr val="tx1"/>
                </a:solidFill>
                <a:effectLst/>
                <a:latin typeface="Times New Roman" pitchFamily="18" charset="0"/>
                <a:ea typeface="宋体" pitchFamily="2" charset="-122"/>
                <a:cs typeface="+mn-cs"/>
              </a:rPr>
              <a:t>246</a:t>
            </a:r>
            <a:r>
              <a:rPr lang="zh-CN" altLang="en-US" sz="1200" b="0" i="0" kern="1200" dirty="0">
                <a:solidFill>
                  <a:schemeClr val="tx1"/>
                </a:solidFill>
                <a:effectLst/>
                <a:latin typeface="Times New Roman" pitchFamily="18" charset="0"/>
                <a:ea typeface="宋体" pitchFamily="2" charset="-122"/>
                <a:cs typeface="+mn-cs"/>
              </a:rPr>
              <a:t>个与生产、生活实践有联系的应用问题，其中每道题有问（题目）、答（答案）、术（解题的步骤，但没有证明），有的是一题一术，有的是多题一术或一题多术。这些问题依照性质和解法分别隶属于方田、</a:t>
            </a:r>
            <a:r>
              <a:rPr lang="zh-CN" altLang="en-US" sz="1200" b="0" i="0" u="none" strike="noStrike" kern="1200" dirty="0">
                <a:solidFill>
                  <a:schemeClr val="tx1"/>
                </a:solidFill>
                <a:effectLst/>
                <a:latin typeface="Times New Roman" pitchFamily="18" charset="0"/>
                <a:ea typeface="宋体" pitchFamily="2" charset="-122"/>
                <a:cs typeface="+mn-cs"/>
                <a:hlinkClick r:id="rId3"/>
              </a:rPr>
              <a:t>粟米</a:t>
            </a:r>
            <a:r>
              <a:rPr lang="zh-CN" altLang="en-US" sz="1200" b="0" i="0" kern="1200" dirty="0">
                <a:solidFill>
                  <a:schemeClr val="tx1"/>
                </a:solidFill>
                <a:effectLst/>
                <a:latin typeface="Times New Roman" pitchFamily="18" charset="0"/>
                <a:ea typeface="宋体" pitchFamily="2" charset="-122"/>
                <a:cs typeface="+mn-cs"/>
              </a:rPr>
              <a:t>、衰（</a:t>
            </a:r>
            <a:r>
              <a:rPr lang="en-US" altLang="zh-CN" sz="1200" b="0" i="0" kern="1200" dirty="0" err="1">
                <a:solidFill>
                  <a:schemeClr val="tx1"/>
                </a:solidFill>
                <a:effectLst/>
                <a:latin typeface="Times New Roman" pitchFamily="18" charset="0"/>
                <a:ea typeface="宋体" pitchFamily="2" charset="-122"/>
                <a:cs typeface="+mn-cs"/>
              </a:rPr>
              <a:t>cuī</a:t>
            </a:r>
            <a:r>
              <a:rPr lang="zh-CN" altLang="en-US" sz="1200" b="0" i="0" kern="1200" dirty="0">
                <a:solidFill>
                  <a:schemeClr val="tx1"/>
                </a:solidFill>
                <a:effectLst/>
                <a:latin typeface="Times New Roman" pitchFamily="18" charset="0"/>
                <a:ea typeface="宋体" pitchFamily="2" charset="-122"/>
                <a:cs typeface="+mn-cs"/>
              </a:rPr>
              <a:t>）分、少广、商功、均输、盈不足、方程及勾股。共九章如下所示</a:t>
            </a:r>
            <a:endParaRPr lang="en-US" altLang="zh-CN" sz="1200" dirty="0">
              <a:solidFill>
                <a:srgbClr val="222222"/>
              </a:solidFill>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dirty="0">
              <a:solidFill>
                <a:srgbClr val="222222"/>
              </a:solidFill>
              <a:latin typeface="arial" panose="020B0604020202020204" pitchFamily="34" charset="0"/>
            </a:endParaRPr>
          </a:p>
          <a:p>
            <a:r>
              <a:rPr lang="en-US" altLang="zh-CN" dirty="0"/>
              <a:t>Al-Khwarizmi</a:t>
            </a:r>
            <a:r>
              <a:rPr lang="zh-CN" altLang="en-US" dirty="0"/>
              <a:t>是一位</a:t>
            </a:r>
            <a:r>
              <a:rPr lang="en-US" altLang="zh-CN" dirty="0"/>
              <a:t>9</a:t>
            </a:r>
            <a:r>
              <a:rPr lang="zh-CN" altLang="en-US" dirty="0"/>
              <a:t>世纪的学者，出生于今天的乌兹别克斯坦，在阿巴斯哈里发时期曾在巴格达学习和工作。在数学、天文学和地理学的许多其他贡献中，他写了一本关于如何与阿拉伯数字相乘的书。他的思想在</a:t>
            </a:r>
            <a:r>
              <a:rPr lang="en-US" altLang="zh-CN" dirty="0"/>
              <a:t>12</a:t>
            </a:r>
            <a:r>
              <a:rPr lang="zh-CN" altLang="en-US" dirty="0"/>
              <a:t>世纪传入欧洲。</a:t>
            </a:r>
            <a:endParaRPr lang="en-US" altLang="zh-CN" dirty="0"/>
          </a:p>
          <a:p>
            <a:r>
              <a:rPr lang="zh-CN" altLang="en-US" sz="1200" b="0" i="0" kern="1200" dirty="0">
                <a:solidFill>
                  <a:schemeClr val="tx1"/>
                </a:solidFill>
                <a:effectLst/>
                <a:latin typeface="Times New Roman" pitchFamily="18" charset="0"/>
                <a:ea typeface="宋体" pitchFamily="2" charset="-122"/>
                <a:cs typeface="+mn-cs"/>
              </a:rPr>
              <a:t>花拉子密对代数学的贡献是不可磨灭的，由他的名字</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0" kern="1200" dirty="0" err="1">
                <a:solidFill>
                  <a:schemeClr val="tx1"/>
                </a:solidFill>
                <a:effectLst/>
                <a:latin typeface="Times New Roman" pitchFamily="18" charset="0"/>
                <a:ea typeface="宋体" pitchFamily="2" charset="-122"/>
                <a:cs typeface="+mn-cs"/>
              </a:rPr>
              <a:t>al’Khwarizmi</a:t>
            </a:r>
            <a:r>
              <a:rPr lang="zh-CN" altLang="en-US" sz="1200" b="0" i="0" kern="1200" dirty="0">
                <a:solidFill>
                  <a:schemeClr val="tx1"/>
                </a:solidFill>
                <a:effectLst/>
                <a:latin typeface="Times New Roman" pitchFamily="18" charset="0"/>
                <a:ea typeface="宋体" pitchFamily="2" charset="-122"/>
                <a:cs typeface="+mn-cs"/>
              </a:rPr>
              <a:t>的拉丁语译名</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0" kern="1200" dirty="0" err="1">
                <a:solidFill>
                  <a:schemeClr val="tx1"/>
                </a:solidFill>
                <a:effectLst/>
                <a:latin typeface="Times New Roman" pitchFamily="18" charset="0"/>
                <a:ea typeface="宋体" pitchFamily="2" charset="-122"/>
                <a:cs typeface="+mn-cs"/>
              </a:rPr>
              <a:t>Algorismus</a:t>
            </a:r>
            <a:r>
              <a:rPr lang="zh-CN" altLang="en-US" sz="1200" b="0" i="0" kern="1200" dirty="0">
                <a:solidFill>
                  <a:schemeClr val="tx1"/>
                </a:solidFill>
                <a:effectLst/>
                <a:latin typeface="Times New Roman" pitchFamily="18" charset="0"/>
                <a:ea typeface="宋体" pitchFamily="2" charset="-122"/>
                <a:cs typeface="+mn-cs"/>
              </a:rPr>
              <a:t>，不仅派生出“</a:t>
            </a:r>
            <a:r>
              <a:rPr lang="en-US" altLang="zh-CN" sz="1200" b="0" i="0" kern="1200" dirty="0">
                <a:solidFill>
                  <a:schemeClr val="tx1"/>
                </a:solidFill>
                <a:effectLst/>
                <a:latin typeface="Times New Roman" pitchFamily="18" charset="0"/>
                <a:ea typeface="宋体" pitchFamily="2" charset="-122"/>
                <a:cs typeface="+mn-cs"/>
              </a:rPr>
              <a:t>Algorithm”</a:t>
            </a:r>
            <a:r>
              <a:rPr lang="zh-CN" altLang="en-US" sz="1200" b="0" i="0" kern="1200" dirty="0">
                <a:solidFill>
                  <a:schemeClr val="tx1"/>
                </a:solidFill>
                <a:effectLst/>
                <a:latin typeface="Times New Roman" pitchFamily="18" charset="0"/>
                <a:ea typeface="宋体" pitchFamily="2" charset="-122"/>
                <a:cs typeface="+mn-cs"/>
              </a:rPr>
              <a:t>或“</a:t>
            </a:r>
            <a:r>
              <a:rPr lang="en-US" altLang="zh-CN" sz="1200" b="0" i="0" kern="1200" dirty="0">
                <a:solidFill>
                  <a:schemeClr val="tx1"/>
                </a:solidFill>
                <a:effectLst/>
                <a:latin typeface="Times New Roman" pitchFamily="18" charset="0"/>
                <a:ea typeface="宋体" pitchFamily="2" charset="-122"/>
                <a:cs typeface="+mn-cs"/>
              </a:rPr>
              <a:t>Algorism”</a:t>
            </a:r>
            <a:r>
              <a:rPr lang="zh-CN" altLang="en-US" sz="1200" b="0" i="0" kern="1200" dirty="0">
                <a:solidFill>
                  <a:schemeClr val="tx1"/>
                </a:solidFill>
                <a:effectLst/>
                <a:latin typeface="Times New Roman" pitchFamily="18" charset="0"/>
                <a:ea typeface="宋体" pitchFamily="2" charset="-122"/>
                <a:cs typeface="+mn-cs"/>
              </a:rPr>
              <a:t>（运算法则、十进制），后来还演变出现在的对数一词</a:t>
            </a:r>
            <a:r>
              <a:rPr lang="en-US" altLang="zh-CN" sz="1200" b="0" i="0" kern="1200" dirty="0">
                <a:solidFill>
                  <a:schemeClr val="tx1"/>
                </a:solidFill>
                <a:effectLst/>
                <a:latin typeface="Times New Roman" pitchFamily="18" charset="0"/>
                <a:ea typeface="宋体" pitchFamily="2" charset="-122"/>
                <a:cs typeface="+mn-cs"/>
              </a:rPr>
              <a:t>——logarithm</a:t>
            </a:r>
            <a:r>
              <a:rPr lang="zh-CN" altLang="en-US" sz="1200" b="0" i="0" kern="1200" dirty="0">
                <a:solidFill>
                  <a:schemeClr val="tx1"/>
                </a:solidFill>
                <a:effectLst/>
                <a:latin typeface="Times New Roman" pitchFamily="18" charset="0"/>
                <a:ea typeface="宋体" pitchFamily="2" charset="-122"/>
                <a:cs typeface="+mn-cs"/>
              </a:rPr>
              <a:t>（简写为“</a:t>
            </a:r>
            <a:r>
              <a:rPr lang="en-US" altLang="zh-CN" sz="1200" b="0" i="0" kern="1200" dirty="0">
                <a:solidFill>
                  <a:schemeClr val="tx1"/>
                </a:solidFill>
                <a:effectLst/>
                <a:latin typeface="Times New Roman" pitchFamily="18" charset="0"/>
                <a:ea typeface="宋体" pitchFamily="2" charset="-122"/>
                <a:cs typeface="+mn-cs"/>
              </a:rPr>
              <a:t>log”</a:t>
            </a:r>
            <a:r>
              <a:rPr lang="zh-CN" altLang="en-US" sz="1200" b="0" i="0" kern="1200" dirty="0">
                <a:solidFill>
                  <a:schemeClr val="tx1"/>
                </a:solidFill>
                <a:effectLst/>
                <a:latin typeface="Times New Roman" pitchFamily="18" charset="0"/>
                <a:ea typeface="宋体" pitchFamily="2" charset="-122"/>
                <a:cs typeface="+mn-cs"/>
              </a:rPr>
              <a:t>）；算术“</a:t>
            </a:r>
            <a:r>
              <a:rPr lang="en-US" altLang="zh-CN" sz="1200" b="0" i="0" kern="1200" dirty="0">
                <a:solidFill>
                  <a:schemeClr val="tx1"/>
                </a:solidFill>
                <a:effectLst/>
                <a:latin typeface="Times New Roman" pitchFamily="18" charset="0"/>
                <a:ea typeface="宋体" pitchFamily="2" charset="-122"/>
                <a:cs typeface="+mn-cs"/>
              </a:rPr>
              <a:t>arithmetic”</a:t>
            </a:r>
            <a:r>
              <a:rPr lang="zh-CN" altLang="en-US" sz="1200" b="0" i="0" kern="1200" dirty="0">
                <a:solidFill>
                  <a:schemeClr val="tx1"/>
                </a:solidFill>
                <a:effectLst/>
                <a:latin typeface="Times New Roman" pitchFamily="18" charset="0"/>
                <a:ea typeface="宋体" pitchFamily="2" charset="-122"/>
                <a:cs typeface="+mn-cs"/>
              </a:rPr>
              <a:t>一词的来源也与之类似。他在代数学中使用“还原、移项”一词的阿拉伯语音译“</a:t>
            </a:r>
            <a:r>
              <a:rPr lang="en-US" altLang="zh-CN" sz="1200" b="0" i="0" kern="1200" dirty="0">
                <a:solidFill>
                  <a:schemeClr val="tx1"/>
                </a:solidFill>
                <a:effectLst/>
                <a:latin typeface="Times New Roman" pitchFamily="18" charset="0"/>
                <a:ea typeface="宋体" pitchFamily="2" charset="-122"/>
                <a:cs typeface="+mn-cs"/>
              </a:rPr>
              <a:t>al-</a:t>
            </a:r>
            <a:r>
              <a:rPr lang="en-US" altLang="zh-CN" sz="1200" b="0" i="0" kern="1200" dirty="0" err="1">
                <a:solidFill>
                  <a:schemeClr val="tx1"/>
                </a:solidFill>
                <a:effectLst/>
                <a:latin typeface="Times New Roman" pitchFamily="18" charset="0"/>
                <a:ea typeface="宋体" pitchFamily="2" charset="-122"/>
                <a:cs typeface="+mn-cs"/>
              </a:rPr>
              <a:t>jabr</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，传入欧洲后便演变为我们今天使用的“</a:t>
            </a:r>
            <a:r>
              <a:rPr lang="en-US" altLang="zh-CN" sz="1200" b="0" i="0" kern="1200" dirty="0">
                <a:solidFill>
                  <a:schemeClr val="tx1"/>
                </a:solidFill>
                <a:effectLst/>
                <a:latin typeface="Times New Roman" pitchFamily="18" charset="0"/>
                <a:ea typeface="宋体" pitchFamily="2" charset="-122"/>
                <a:cs typeface="+mn-cs"/>
              </a:rPr>
              <a:t>algebra”</a:t>
            </a:r>
            <a:r>
              <a:rPr lang="zh-CN" altLang="en-US" sz="1200" b="0" i="0" kern="1200" dirty="0">
                <a:solidFill>
                  <a:schemeClr val="tx1"/>
                </a:solidFill>
                <a:effectLst/>
                <a:latin typeface="Times New Roman" pitchFamily="18" charset="0"/>
                <a:ea typeface="宋体" pitchFamily="2" charset="-122"/>
                <a:cs typeface="+mn-cs"/>
              </a:rPr>
              <a:t>（代数）</a:t>
            </a:r>
            <a:endParaRPr lang="en-US" altLang="zh-CN" sz="1200" b="0" i="0" kern="1200" dirty="0">
              <a:solidFill>
                <a:schemeClr val="tx1"/>
              </a:solidFill>
              <a:effectLst/>
              <a:latin typeface="Times New Roman" pitchFamily="18" charset="0"/>
              <a:ea typeface="宋体" pitchFamily="2" charset="-122"/>
              <a:cs typeface="+mn-cs"/>
            </a:endParaRPr>
          </a:p>
          <a:p>
            <a:endParaRPr lang="en-US" altLang="zh-CN" sz="1200" b="0" i="0" kern="1200" dirty="0">
              <a:solidFill>
                <a:schemeClr val="tx1"/>
              </a:solidFill>
              <a:effectLst/>
              <a:latin typeface="Times New Roman" pitchFamily="18" charset="0"/>
              <a:ea typeface="宋体" pitchFamily="2" charset="-122"/>
              <a:cs typeface="+mn-cs"/>
            </a:endParaRPr>
          </a:p>
          <a:p>
            <a:endParaRPr lang="en-US" altLang="zh-CN" dirty="0"/>
          </a:p>
          <a:p>
            <a:r>
              <a:rPr lang="en-US" altLang="zh-CN" dirty="0"/>
              <a:t>So in some sense, the grade-school multiplication algorithm</a:t>
            </a:r>
            <a:r>
              <a:rPr lang="en-US" altLang="zh-CN" baseline="0" dirty="0"/>
              <a:t> is the ultimate “algorithm!”</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a:t>
            </a:fld>
            <a:endParaRPr lang="en-US" altLang="zh-CN"/>
          </a:p>
        </p:txBody>
      </p:sp>
    </p:spTree>
    <p:extLst>
      <p:ext uri="{BB962C8B-B14F-4D97-AF65-F5344CB8AC3E}">
        <p14:creationId xmlns:p14="http://schemas.microsoft.com/office/powerpoint/2010/main" val="2229829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丘奇−图灵论题有时也称图灵论题，是计算机科学的基石，它之于计算机科学，宛如公理之于几何学，牛顿定律之于物理学。计算理论的缘起就是丘奇−图灵论题的形成过程。</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邱奇</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u="none" strike="noStrike" kern="1200" dirty="0">
                <a:solidFill>
                  <a:schemeClr val="tx1"/>
                </a:solidFill>
                <a:effectLst/>
                <a:latin typeface="Times New Roman" pitchFamily="18" charset="0"/>
                <a:ea typeface="宋体" pitchFamily="2" charset="-122"/>
                <a:cs typeface="+mn-cs"/>
                <a:hlinkClick r:id="rId3"/>
              </a:rPr>
              <a:t>图灵</a:t>
            </a:r>
            <a:r>
              <a:rPr lang="zh-CN" altLang="en-US" sz="1200" b="0" i="0" kern="1200" dirty="0">
                <a:solidFill>
                  <a:schemeClr val="tx1"/>
                </a:solidFill>
                <a:effectLst/>
                <a:latin typeface="Times New Roman" pitchFamily="18" charset="0"/>
                <a:ea typeface="宋体" pitchFamily="2" charset="-122"/>
                <a:cs typeface="+mn-cs"/>
              </a:rPr>
              <a:t>论题</a:t>
            </a:r>
            <a:r>
              <a:rPr lang="en-US" altLang="zh-CN" sz="1200" b="0" i="0" kern="1200" dirty="0">
                <a:solidFill>
                  <a:schemeClr val="tx1"/>
                </a:solidFill>
                <a:effectLst/>
                <a:latin typeface="Times New Roman" pitchFamily="18" charset="0"/>
                <a:ea typeface="宋体" pitchFamily="2" charset="-122"/>
                <a:cs typeface="+mn-cs"/>
              </a:rPr>
              <a:t>(The Church-Turing thesis)</a:t>
            </a:r>
            <a:r>
              <a:rPr lang="zh-CN" altLang="en-US" sz="1200" b="0" i="0" kern="1200" dirty="0">
                <a:solidFill>
                  <a:schemeClr val="tx1"/>
                </a:solidFill>
                <a:effectLst/>
                <a:latin typeface="Times New Roman" pitchFamily="18" charset="0"/>
                <a:ea typeface="宋体" pitchFamily="2" charset="-122"/>
                <a:cs typeface="+mn-cs"/>
              </a:rPr>
              <a:t>是计算机科学中以数学家阿隆佐</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u="none" strike="noStrike" kern="1200" dirty="0">
                <a:solidFill>
                  <a:schemeClr val="tx1"/>
                </a:solidFill>
                <a:effectLst/>
                <a:latin typeface="Times New Roman" pitchFamily="18" charset="0"/>
                <a:ea typeface="宋体" pitchFamily="2" charset="-122"/>
                <a:cs typeface="+mn-cs"/>
                <a:hlinkClick r:id="rId4"/>
              </a:rPr>
              <a:t>邱奇</a:t>
            </a:r>
            <a:r>
              <a:rPr lang="en-US" altLang="zh-CN" sz="1200" b="0" i="0" kern="1200" dirty="0">
                <a:solidFill>
                  <a:schemeClr val="tx1"/>
                </a:solidFill>
                <a:effectLst/>
                <a:latin typeface="Times New Roman" pitchFamily="18" charset="0"/>
                <a:ea typeface="宋体" pitchFamily="2" charset="-122"/>
                <a:cs typeface="+mn-cs"/>
              </a:rPr>
              <a:t>(Alonzo Church)</a:t>
            </a:r>
            <a:r>
              <a:rPr lang="zh-CN" altLang="en-US" sz="1200" b="0" i="0" kern="1200" dirty="0">
                <a:solidFill>
                  <a:schemeClr val="tx1"/>
                </a:solidFill>
                <a:effectLst/>
                <a:latin typeface="Times New Roman" pitchFamily="18" charset="0"/>
                <a:ea typeface="宋体" pitchFamily="2" charset="-122"/>
                <a:cs typeface="+mn-cs"/>
              </a:rPr>
              <a:t>和阿兰</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图灵命名的论题。该论题最基本的观点表明，所有计算或算法都可以由一台图灵机来执行。</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如今的所有通用计算机都是图灵机的一种实现，两者的能力是等价的。当一个计算系统可以模拟任意图灵机（或者说通用图灵机）时，我们称其是图灵完备的（</a:t>
            </a:r>
            <a:r>
              <a:rPr lang="en-US" altLang="zh-CN" sz="1200" b="0" i="0" kern="1200" dirty="0">
                <a:solidFill>
                  <a:schemeClr val="tx1"/>
                </a:solidFill>
                <a:effectLst/>
                <a:latin typeface="Times New Roman" pitchFamily="18" charset="0"/>
                <a:ea typeface="宋体" pitchFamily="2" charset="-122"/>
                <a:cs typeface="+mn-cs"/>
              </a:rPr>
              <a:t>Turing complete</a:t>
            </a:r>
            <a:r>
              <a:rPr lang="zh-CN" altLang="en-US" sz="1200" b="0" i="0" kern="1200" dirty="0">
                <a:solidFill>
                  <a:schemeClr val="tx1"/>
                </a:solidFill>
                <a:effectLst/>
                <a:latin typeface="Times New Roman" pitchFamily="18" charset="0"/>
                <a:ea typeface="宋体" pitchFamily="2" charset="-122"/>
                <a:cs typeface="+mn-cs"/>
              </a:rPr>
              <a:t>）；当一个图灵完备的系统可以被图灵机模拟时，我们称其是图灵等效的（</a:t>
            </a:r>
            <a:r>
              <a:rPr lang="en-US" altLang="zh-CN" sz="1200" b="0" i="0" kern="1200" dirty="0">
                <a:solidFill>
                  <a:schemeClr val="tx1"/>
                </a:solidFill>
                <a:effectLst/>
                <a:latin typeface="Times New Roman" pitchFamily="18" charset="0"/>
                <a:ea typeface="宋体" pitchFamily="2" charset="-122"/>
                <a:cs typeface="+mn-cs"/>
              </a:rPr>
              <a:t>Turing equivalent</a:t>
            </a:r>
            <a:r>
              <a:rPr lang="zh-CN" altLang="en-US" sz="1200" b="0" i="0" kern="1200" dirty="0">
                <a:solidFill>
                  <a:schemeClr val="tx1"/>
                </a:solidFill>
                <a:effectLst/>
                <a:latin typeface="Times New Roman" pitchFamily="18" charset="0"/>
                <a:ea typeface="宋体" pitchFamily="2" charset="-122"/>
                <a:cs typeface="+mn-cs"/>
              </a:rPr>
              <a:t>）。图灵完备和图灵等效成为衡量计算机和编程语言能力的基础指标，如今几乎所有的编程语言也都是图灵完备的，这意味着它们可以相互取代，一款语言能写出的程序用另一款也照样可以实现。</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仍有数学家想在限定的范围内负隅顽抗，他们找到一个完备的系统</a:t>
            </a:r>
            <a:r>
              <a:rPr lang="en-US" altLang="zh-CN" sz="1200" b="0" i="0" u="none" strike="noStrike" kern="1200" baseline="30000" dirty="0">
                <a:solidFill>
                  <a:schemeClr val="tx1"/>
                </a:solidFill>
                <a:effectLst/>
                <a:latin typeface="Times New Roman" pitchFamily="18" charset="0"/>
                <a:ea typeface="宋体" pitchFamily="2" charset="-122"/>
                <a:cs typeface="+mn-cs"/>
                <a:hlinkClick r:id="rId5"/>
              </a:rPr>
              <a:t>[1]</a:t>
            </a:r>
            <a:r>
              <a:rPr lang="zh-CN" altLang="en-US" sz="1200" b="0" i="0" kern="1200" dirty="0">
                <a:solidFill>
                  <a:schemeClr val="tx1"/>
                </a:solidFill>
                <a:effectLst/>
                <a:latin typeface="Times New Roman" pitchFamily="18" charset="0"/>
                <a:ea typeface="宋体" pitchFamily="2" charset="-122"/>
                <a:cs typeface="+mn-cs"/>
              </a:rPr>
              <a:t>，寻求能够判定命题真假的通用算法。这就是德国数学家大卫</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希尔伯特（</a:t>
            </a:r>
            <a:r>
              <a:rPr lang="en-US" altLang="zh-CN" sz="1200" b="0" i="0" kern="1200" dirty="0">
                <a:solidFill>
                  <a:schemeClr val="tx1"/>
                </a:solidFill>
                <a:effectLst/>
                <a:latin typeface="Times New Roman" pitchFamily="18" charset="0"/>
                <a:ea typeface="宋体" pitchFamily="2" charset="-122"/>
                <a:cs typeface="+mn-cs"/>
              </a:rPr>
              <a:t>David Hilbert</a:t>
            </a:r>
            <a:r>
              <a:rPr lang="zh-CN" altLang="en-US" sz="1200" b="0" i="0" kern="1200" dirty="0">
                <a:solidFill>
                  <a:schemeClr val="tx1"/>
                </a:solidFill>
                <a:effectLst/>
                <a:latin typeface="Times New Roman" pitchFamily="18" charset="0"/>
                <a:ea typeface="宋体" pitchFamily="2" charset="-122"/>
                <a:cs typeface="+mn-cs"/>
              </a:rPr>
              <a:t>）和威廉</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阿克曼（</a:t>
            </a:r>
            <a:r>
              <a:rPr lang="en-US" altLang="zh-CN" sz="1200" b="0" i="0" kern="1200" dirty="0">
                <a:solidFill>
                  <a:schemeClr val="tx1"/>
                </a:solidFill>
                <a:effectLst/>
                <a:latin typeface="Times New Roman" pitchFamily="18" charset="0"/>
                <a:ea typeface="宋体" pitchFamily="2" charset="-122"/>
                <a:cs typeface="+mn-cs"/>
              </a:rPr>
              <a:t>Wilhelm Ackermann</a:t>
            </a:r>
            <a:r>
              <a:rPr lang="zh-CN" altLang="en-US" sz="1200" b="0" i="0" kern="1200" dirty="0">
                <a:solidFill>
                  <a:schemeClr val="tx1"/>
                </a:solidFill>
                <a:effectLst/>
                <a:latin typeface="Times New Roman" pitchFamily="18" charset="0"/>
                <a:ea typeface="宋体" pitchFamily="2" charset="-122"/>
                <a:cs typeface="+mn-cs"/>
              </a:rPr>
              <a:t>）在</a:t>
            </a:r>
            <a:r>
              <a:rPr lang="en-US" altLang="zh-CN" sz="1200" b="0" i="0" kern="1200" dirty="0">
                <a:solidFill>
                  <a:schemeClr val="tx1"/>
                </a:solidFill>
                <a:effectLst/>
                <a:latin typeface="Times New Roman" pitchFamily="18" charset="0"/>
                <a:ea typeface="宋体" pitchFamily="2" charset="-122"/>
                <a:cs typeface="+mn-cs"/>
              </a:rPr>
              <a:t>1928</a:t>
            </a:r>
            <a:r>
              <a:rPr lang="zh-CN" altLang="en-US" sz="1200" b="0" i="0" kern="1200" dirty="0">
                <a:solidFill>
                  <a:schemeClr val="tx1"/>
                </a:solidFill>
                <a:effectLst/>
                <a:latin typeface="Times New Roman" pitchFamily="18" charset="0"/>
                <a:ea typeface="宋体" pitchFamily="2" charset="-122"/>
                <a:cs typeface="+mn-cs"/>
              </a:rPr>
              <a:t>年提出的判定问题</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希尔伯特</a:t>
            </a:r>
            <a:r>
              <a:rPr lang="en-US" altLang="zh-CN" sz="1200" b="0" i="0" kern="1200" dirty="0">
                <a:solidFill>
                  <a:schemeClr val="tx1"/>
                </a:solidFill>
                <a:effectLst/>
                <a:latin typeface="Times New Roman" pitchFamily="18" charset="0"/>
                <a:ea typeface="宋体" pitchFamily="2" charset="-122"/>
                <a:cs typeface="+mn-cs"/>
              </a:rPr>
              <a:t>23</a:t>
            </a:r>
            <a:r>
              <a:rPr lang="zh-CN" altLang="en-US" sz="1200" b="0" i="0" kern="1200" dirty="0">
                <a:solidFill>
                  <a:schemeClr val="tx1"/>
                </a:solidFill>
                <a:effectLst/>
                <a:latin typeface="Times New Roman" pitchFamily="18" charset="0"/>
                <a:ea typeface="宋体" pitchFamily="2" charset="-122"/>
                <a:cs typeface="+mn-cs"/>
              </a:rPr>
              <a:t>个问题中的第</a:t>
            </a:r>
            <a:r>
              <a:rPr lang="en-US" altLang="zh-CN" sz="1200" b="0" i="0" kern="1200" dirty="0">
                <a:solidFill>
                  <a:schemeClr val="tx1"/>
                </a:solidFill>
                <a:effectLst/>
                <a:latin typeface="Times New Roman" pitchFamily="18" charset="0"/>
                <a:ea typeface="宋体" pitchFamily="2" charset="-122"/>
                <a:cs typeface="+mn-cs"/>
              </a:rPr>
              <a:t>2</a:t>
            </a:r>
            <a:r>
              <a:rPr lang="zh-CN" altLang="en-US" sz="1200" b="0" i="0" kern="1200" dirty="0">
                <a:solidFill>
                  <a:schemeClr val="tx1"/>
                </a:solidFill>
                <a:effectLst/>
                <a:latin typeface="Times New Roman" pitchFamily="18" charset="0"/>
                <a:ea typeface="宋体" pitchFamily="2" charset="-122"/>
                <a:cs typeface="+mn-cs"/>
              </a:rPr>
              <a:t>和</a:t>
            </a:r>
            <a:r>
              <a:rPr lang="en-US" altLang="zh-CN" sz="1200" b="0" i="0" kern="1200" dirty="0">
                <a:solidFill>
                  <a:schemeClr val="tx1"/>
                </a:solidFill>
                <a:effectLst/>
                <a:latin typeface="Times New Roman" pitchFamily="18" charset="0"/>
                <a:ea typeface="宋体" pitchFamily="2" charset="-122"/>
                <a:cs typeface="+mn-cs"/>
              </a:rPr>
              <a:t>10</a:t>
            </a:r>
            <a:r>
              <a:rPr lang="zh-CN" altLang="en-US" sz="1200" b="0" i="0" kern="1200" dirty="0">
                <a:solidFill>
                  <a:schemeClr val="tx1"/>
                </a:solidFill>
                <a:effectLst/>
                <a:latin typeface="Times New Roman" pitchFamily="18" charset="0"/>
                <a:ea typeface="宋体" pitchFamily="2" charset="-122"/>
                <a:cs typeface="+mn-cs"/>
              </a:rPr>
              <a:t>个问题后来产生的影响最大，</a:t>
            </a:r>
            <a:r>
              <a:rPr lang="en-US" altLang="zh-CN" sz="1200" b="0" i="0" kern="1200" dirty="0">
                <a:solidFill>
                  <a:schemeClr val="tx1"/>
                </a:solidFill>
                <a:effectLst/>
                <a:latin typeface="Times New Roman" pitchFamily="18" charset="0"/>
                <a:ea typeface="宋体" pitchFamily="2" charset="-122"/>
                <a:cs typeface="+mn-cs"/>
              </a:rPr>
              <a:t>1928</a:t>
            </a:r>
            <a:r>
              <a:rPr lang="zh-CN" altLang="en-US" sz="1200" b="0" i="0" kern="1200" dirty="0">
                <a:solidFill>
                  <a:schemeClr val="tx1"/>
                </a:solidFill>
                <a:effectLst/>
                <a:latin typeface="Times New Roman" pitchFamily="18" charset="0"/>
                <a:ea typeface="宋体" pitchFamily="2" charset="-122"/>
                <a:cs typeface="+mn-cs"/>
              </a:rPr>
              <a:t>年，他向数学家这些问题提出三个问题：</a:t>
            </a:r>
            <a:r>
              <a:rPr lang="zh-CN" altLang="en-US" dirty="0"/>
              <a:t/>
            </a:r>
            <a:br>
              <a:rPr lang="zh-CN" altLang="en-US" dirty="0"/>
            </a:br>
            <a:r>
              <a:rPr lang="en-US" altLang="zh-CN" sz="1200" b="0" i="0" kern="1200" dirty="0">
                <a:solidFill>
                  <a:schemeClr val="tx1"/>
                </a:solidFill>
                <a:effectLst/>
                <a:latin typeface="Times New Roman" pitchFamily="18" charset="0"/>
                <a:ea typeface="宋体" pitchFamily="2" charset="-122"/>
                <a:cs typeface="+mn-cs"/>
              </a:rPr>
              <a:t>1</a:t>
            </a:r>
            <a:r>
              <a:rPr lang="zh-CN" altLang="en-US" sz="1200" b="0" i="0" kern="1200" dirty="0">
                <a:solidFill>
                  <a:schemeClr val="tx1"/>
                </a:solidFill>
                <a:effectLst/>
                <a:latin typeface="Times New Roman" pitchFamily="18" charset="0"/>
                <a:ea typeface="宋体" pitchFamily="2" charset="-122"/>
                <a:cs typeface="+mn-cs"/>
              </a:rPr>
              <a:t>）数学是完备的吗？即：能否基于有限的公理，对所有数学命题都进行证明或证否？</a:t>
            </a:r>
            <a:r>
              <a:rPr lang="zh-CN" altLang="en-US" dirty="0"/>
              <a:t/>
            </a:r>
            <a:br>
              <a:rPr lang="zh-CN" altLang="en-US" dirty="0"/>
            </a:br>
            <a:r>
              <a:rPr lang="en-US" altLang="zh-CN" sz="1200" b="0" i="0" kern="1200" dirty="0">
                <a:solidFill>
                  <a:schemeClr val="tx1"/>
                </a:solidFill>
                <a:effectLst/>
                <a:latin typeface="Times New Roman" pitchFamily="18" charset="0"/>
                <a:ea typeface="宋体" pitchFamily="2" charset="-122"/>
                <a:cs typeface="+mn-cs"/>
              </a:rPr>
              <a:t>2</a:t>
            </a:r>
            <a:r>
              <a:rPr lang="zh-CN" altLang="en-US" sz="1200" b="0" i="0" kern="1200" dirty="0">
                <a:solidFill>
                  <a:schemeClr val="tx1"/>
                </a:solidFill>
                <a:effectLst/>
                <a:latin typeface="Times New Roman" pitchFamily="18" charset="0"/>
                <a:ea typeface="宋体" pitchFamily="2" charset="-122"/>
                <a:cs typeface="+mn-cs"/>
              </a:rPr>
              <a:t>）数学是一致的吗？即：是否每个被证明的命题一定为真？会不会证明出来命题是错误的？</a:t>
            </a:r>
            <a:r>
              <a:rPr lang="zh-CN" altLang="en-US" dirty="0"/>
              <a:t/>
            </a:r>
            <a:br>
              <a:rPr lang="zh-CN" altLang="en-US" dirty="0"/>
            </a:br>
            <a:r>
              <a:rPr lang="en-US" altLang="zh-CN" sz="1200" b="0" i="0" kern="1200" dirty="0">
                <a:solidFill>
                  <a:schemeClr val="tx1"/>
                </a:solidFill>
                <a:effectLst/>
                <a:latin typeface="Times New Roman" pitchFamily="18" charset="0"/>
                <a:ea typeface="宋体" pitchFamily="2" charset="-122"/>
                <a:cs typeface="+mn-cs"/>
              </a:rPr>
              <a:t>3</a:t>
            </a:r>
            <a:r>
              <a:rPr lang="zh-CN" altLang="en-US" sz="1200" b="0" i="0" kern="1200" dirty="0">
                <a:solidFill>
                  <a:schemeClr val="tx1"/>
                </a:solidFill>
                <a:effectLst/>
                <a:latin typeface="Times New Roman" pitchFamily="18" charset="0"/>
                <a:ea typeface="宋体" pitchFamily="2" charset="-122"/>
                <a:cs typeface="+mn-cs"/>
              </a:rPr>
              <a:t>）是否所有问题都是数学可判定的？即：是否每个命题都能有明确的程序在有限的时间内告诉我们命题的真假？</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图灵的工作不仅回答了希尔伯特的问题，更参透了数学和计算机的本质关系</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计算机是为解决数学问题而诞生的，却又基于数学，因而数学自身的极限也便框定了计算机的能力范围。</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有个古老而经典的逻辑游戏：如果一个人说“我正在说谎”，那么他到底在不在说谎呢？</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罗素悖论，它的通俗化版本是流传更广的理发师悖论：如果一位理发师只给不为自己理发的人理发，那他给不给自己理发呢？</a:t>
            </a: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Times New Roman" pitchFamily="18" charset="0"/>
                <a:ea typeface="宋体" pitchFamily="2" charset="-122"/>
                <a:cs typeface="+mn-cs"/>
              </a:rPr>
              <a:t>不存在一台图灵机，可以判定任意图灵机是否会停机。图灵机不是万能的，判定问题的答案也是否定的。</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5</a:t>
            </a:fld>
            <a:endParaRPr lang="en-US" altLang="zh-CN"/>
          </a:p>
        </p:txBody>
      </p:sp>
    </p:spTree>
    <p:extLst>
      <p:ext uri="{BB962C8B-B14F-4D97-AF65-F5344CB8AC3E}">
        <p14:creationId xmlns:p14="http://schemas.microsoft.com/office/powerpoint/2010/main" val="2318813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模拟</a:t>
            </a:r>
            <a:r>
              <a:rPr lang="en-US" altLang="zh-CN" sz="1200" b="0" i="0" kern="1200" dirty="0">
                <a:solidFill>
                  <a:schemeClr val="tx1"/>
                </a:solidFill>
                <a:effectLst/>
                <a:latin typeface="Times New Roman" pitchFamily="18" charset="0"/>
                <a:ea typeface="宋体" pitchFamily="2" charset="-122"/>
                <a:cs typeface="+mn-cs"/>
              </a:rPr>
              <a:t>N</a:t>
            </a:r>
            <a:r>
              <a:rPr lang="zh-CN" altLang="en-US" sz="1200" b="0" i="0" kern="1200" dirty="0">
                <a:solidFill>
                  <a:schemeClr val="tx1"/>
                </a:solidFill>
                <a:effectLst/>
                <a:latin typeface="Times New Roman" pitchFamily="18" charset="0"/>
                <a:ea typeface="宋体" pitchFamily="2" charset="-122"/>
                <a:cs typeface="+mn-cs"/>
              </a:rPr>
              <a:t>体问题， 天体运动中的引力计算</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6</a:t>
            </a:fld>
            <a:endParaRPr lang="en-US" altLang="zh-CN"/>
          </a:p>
        </p:txBody>
      </p:sp>
    </p:spTree>
    <p:extLst>
      <p:ext uri="{BB962C8B-B14F-4D97-AF65-F5344CB8AC3E}">
        <p14:creationId xmlns:p14="http://schemas.microsoft.com/office/powerpoint/2010/main" val="2347156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u="none" strike="noStrike" kern="1200" dirty="0">
                <a:solidFill>
                  <a:schemeClr val="tx1"/>
                </a:solidFill>
                <a:effectLst/>
                <a:latin typeface="+mn-lt"/>
                <a:ea typeface="+mn-ea"/>
                <a:cs typeface="+mn-cs"/>
                <a:hlinkClick r:id="rId3"/>
              </a:rPr>
              <a:t>The Joy of Algorithms</a:t>
            </a:r>
            <a:endParaRPr lang="en-US" altLang="zh-CN" sz="1200" b="1" i="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Donald</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E. Knuth,</a:t>
            </a:r>
            <a:r>
              <a:rPr lang="zh-CN" altLang="en-US" sz="1200" b="0" i="0" kern="1200" dirty="0">
                <a:solidFill>
                  <a:schemeClr val="tx1"/>
                </a:solidFill>
                <a:effectLst/>
                <a:latin typeface="+mn-lt"/>
                <a:ea typeface="+mn-ea"/>
                <a:cs typeface="+mn-cs"/>
              </a:rPr>
              <a:t>这位“现代计算机科学的鼻祖”是计算机界的传奇人物。</a:t>
            </a:r>
            <a:r>
              <a:rPr lang="en-US" altLang="zh-CN" sz="1200" b="1" i="0" kern="1200" dirty="0">
                <a:solidFill>
                  <a:schemeClr val="tx1"/>
                </a:solidFill>
                <a:effectLst/>
                <a:latin typeface="Times New Roman" pitchFamily="18" charset="0"/>
                <a:ea typeface="宋体" pitchFamily="2" charset="-122"/>
                <a:cs typeface="+mn-cs"/>
              </a:rPr>
              <a:t>1950</a:t>
            </a:r>
            <a:r>
              <a:rPr lang="zh-CN" altLang="en-US" sz="1200" b="1" i="0" kern="1200" dirty="0">
                <a:solidFill>
                  <a:schemeClr val="tx1"/>
                </a:solidFill>
                <a:effectLst/>
                <a:latin typeface="Times New Roman" pitchFamily="18" charset="0"/>
                <a:ea typeface="宋体" pitchFamily="2" charset="-122"/>
                <a:cs typeface="+mn-cs"/>
              </a:rPr>
              <a:t>年代</a:t>
            </a:r>
            <a:r>
              <a:rPr lang="zh-CN" altLang="en-US" sz="1200" b="0" i="0" kern="1200" dirty="0">
                <a:solidFill>
                  <a:schemeClr val="tx1"/>
                </a:solidFill>
                <a:effectLst/>
                <a:latin typeface="Times New Roman" pitchFamily="18" charset="0"/>
                <a:ea typeface="宋体" pitchFamily="2" charset="-122"/>
                <a:cs typeface="+mn-cs"/>
              </a:rPr>
              <a:t>：</a:t>
            </a:r>
            <a:r>
              <a:rPr lang="zh-CN" altLang="en-US" sz="1200" b="1" i="0" kern="1200" dirty="0">
                <a:solidFill>
                  <a:schemeClr val="tx1"/>
                </a:solidFill>
                <a:effectLst/>
                <a:latin typeface="Times New Roman" pitchFamily="18" charset="0"/>
                <a:ea typeface="宋体" pitchFamily="2" charset="-122"/>
                <a:cs typeface="+mn-cs"/>
              </a:rPr>
              <a:t>高德纳</a:t>
            </a:r>
            <a:r>
              <a:rPr lang="zh-CN" altLang="en-US" sz="1200" b="0" i="0" kern="1200" dirty="0">
                <a:solidFill>
                  <a:schemeClr val="tx1"/>
                </a:solidFill>
                <a:effectLst/>
                <a:latin typeface="Times New Roman" pitchFamily="18" charset="0"/>
                <a:ea typeface="宋体" pitchFamily="2" charset="-122"/>
                <a:cs typeface="+mn-cs"/>
              </a:rPr>
              <a:t>（</a:t>
            </a:r>
            <a:r>
              <a:rPr lang="en-US" altLang="zh-CN" sz="1200" b="0" i="0" kern="1200" dirty="0">
                <a:solidFill>
                  <a:schemeClr val="tx1"/>
                </a:solidFill>
                <a:effectLst/>
                <a:latin typeface="Times New Roman" pitchFamily="18" charset="0"/>
                <a:ea typeface="宋体" pitchFamily="2" charset="-122"/>
                <a:cs typeface="+mn-cs"/>
              </a:rPr>
              <a:t>Donald Knuth</a:t>
            </a:r>
            <a:r>
              <a:rPr lang="zh-CN" altLang="en-US" sz="1200" b="0" i="0" kern="1200" dirty="0">
                <a:solidFill>
                  <a:schemeClr val="tx1"/>
                </a:solidFill>
                <a:effectLst/>
                <a:latin typeface="Times New Roman" pitchFamily="18" charset="0"/>
                <a:ea typeface="宋体" pitchFamily="2" charset="-122"/>
                <a:cs typeface="+mn-cs"/>
              </a:rPr>
              <a:t>）开始系统研究算法，并撰写了</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计算机程序设计艺术</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a:t>
            </a:r>
            <a:r>
              <a:rPr lang="en-US" altLang="zh-CN" sz="1200" b="0" i="0" kern="1200" dirty="0">
                <a:solidFill>
                  <a:schemeClr val="tx1"/>
                </a:solidFill>
                <a:effectLst/>
                <a:latin typeface="Times New Roman" pitchFamily="18" charset="0"/>
                <a:ea typeface="宋体" pitchFamily="2" charset="-122"/>
                <a:cs typeface="+mn-cs"/>
              </a:rPr>
              <a:t>The Art of Computer Programming</a:t>
            </a:r>
            <a:r>
              <a:rPr lang="zh-CN" altLang="en-US" sz="1200" b="0" i="0" kern="1200" dirty="0">
                <a:solidFill>
                  <a:schemeClr val="tx1"/>
                </a:solidFill>
                <a:effectLst/>
                <a:latin typeface="Times New Roman" pitchFamily="18" charset="0"/>
                <a:ea typeface="宋体" pitchFamily="2" charset="-122"/>
                <a:cs typeface="+mn-cs"/>
              </a:rPr>
              <a:t>），成为算法领域的经典著作。</a:t>
            </a:r>
          </a:p>
          <a:p>
            <a:r>
              <a:rPr lang="en-US" altLang="zh-CN" sz="1200" b="0" i="0" kern="1200" dirty="0">
                <a:solidFill>
                  <a:schemeClr val="tx1"/>
                </a:solidFill>
                <a:effectLst/>
                <a:latin typeface="Times New Roman" pitchFamily="18" charset="0"/>
                <a:ea typeface="宋体" pitchFamily="2" charset="-122"/>
                <a:cs typeface="+mn-cs"/>
              </a:rPr>
              <a:t>1961</a:t>
            </a:r>
            <a:r>
              <a:rPr lang="zh-CN" altLang="en-US" sz="1200" b="0" i="0" kern="1200" dirty="0">
                <a:solidFill>
                  <a:schemeClr val="tx1"/>
                </a:solidFill>
                <a:effectLst/>
                <a:latin typeface="Times New Roman" pitchFamily="18" charset="0"/>
                <a:ea typeface="宋体" pitchFamily="2" charset="-122"/>
                <a:cs typeface="+mn-cs"/>
              </a:rPr>
              <a:t>年：迪杰斯特拉算法</a:t>
            </a:r>
            <a:endParaRPr lang="en-US" altLang="zh-CN" dirty="0"/>
          </a:p>
          <a:p>
            <a:r>
              <a:rPr lang="en-US" altLang="zh-CN" dirty="0"/>
              <a:t>1965</a:t>
            </a:r>
            <a:r>
              <a:rPr lang="zh-CN" altLang="en-US" dirty="0"/>
              <a:t>年：</a:t>
            </a:r>
            <a:r>
              <a:rPr lang="en-US" altLang="zh-CN" dirty="0"/>
              <a:t>FFT</a:t>
            </a:r>
          </a:p>
          <a:p>
            <a:r>
              <a:rPr lang="en-US" altLang="zh-CN" dirty="0"/>
              <a:t>1968</a:t>
            </a:r>
            <a:r>
              <a:rPr lang="zh-CN" altLang="en-US" dirty="0"/>
              <a:t>年：</a:t>
            </a:r>
            <a:r>
              <a:rPr lang="en-US" altLang="zh-CN" dirty="0"/>
              <a:t>A*</a:t>
            </a:r>
            <a:endParaRPr lang="zh-CN" altLang="en-US" dirty="0"/>
          </a:p>
        </p:txBody>
      </p:sp>
      <p:sp>
        <p:nvSpPr>
          <p:cNvPr id="4" name="灯片编号占位符 3"/>
          <p:cNvSpPr>
            <a:spLocks noGrp="1"/>
          </p:cNvSpPr>
          <p:nvPr>
            <p:ph type="sldNum" sz="quarter" idx="10"/>
          </p:nvPr>
        </p:nvSpPr>
        <p:spPr/>
        <p:txBody>
          <a:bodyPr/>
          <a:lstStyle/>
          <a:p>
            <a:fld id="{B667BA32-D8FE-4A9C-A048-7932899D35E4}" type="slidenum">
              <a:rPr lang="zh-CN" altLang="en-US" smtClean="0"/>
              <a:t>7</a:t>
            </a:fld>
            <a:endParaRPr lang="zh-CN" altLang="en-US"/>
          </a:p>
        </p:txBody>
      </p:sp>
    </p:spTree>
    <p:extLst>
      <p:ext uri="{BB962C8B-B14F-4D97-AF65-F5344CB8AC3E}">
        <p14:creationId xmlns:p14="http://schemas.microsoft.com/office/powerpoint/2010/main" val="3449122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00289D2D-150E-EC7E-8CA0-56B540EE5BF4}"/>
              </a:ext>
            </a:extLst>
          </p:cNvPr>
          <p:cNvSpPr>
            <a:spLocks noGrp="1" noRot="1" noChangeAspect="1" noChangeArrowheads="1" noTextEdit="1"/>
          </p:cNvSpPr>
          <p:nvPr>
            <p:ph type="sldImg"/>
          </p:nvPr>
        </p:nvSpPr>
        <p:spPr>
          <a:ln/>
        </p:spPr>
      </p:sp>
      <p:sp>
        <p:nvSpPr>
          <p:cNvPr id="8195" name="Notes Placeholder 2">
            <a:extLst>
              <a:ext uri="{FF2B5EF4-FFF2-40B4-BE49-F238E27FC236}">
                <a16:creationId xmlns:a16="http://schemas.microsoft.com/office/drawing/2014/main" id="{DE3D6D0D-2BFD-F8B3-3642-C3B386F4B4B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endParaRPr lang="zh-CN" altLang="zh-CN"/>
          </a:p>
        </p:txBody>
      </p:sp>
      <p:sp>
        <p:nvSpPr>
          <p:cNvPr id="8196" name="Slide Number Placeholder 3">
            <a:extLst>
              <a:ext uri="{FF2B5EF4-FFF2-40B4-BE49-F238E27FC236}">
                <a16:creationId xmlns:a16="http://schemas.microsoft.com/office/drawing/2014/main" id="{6D3C0055-C788-CD7D-38B9-DE2E38528B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EA80407-0295-48D4-B367-369A201D4EE5}" type="slidenum">
              <a:rPr lang="en-US" altLang="zh-CN" sz="1200">
                <a:solidFill>
                  <a:schemeClr val="tx1"/>
                </a:solidFill>
                <a:latin typeface="Times New Roman" panose="02020603050405020304" pitchFamily="18" charset="0"/>
                <a:ea typeface="宋体" panose="02010600030101010101" pitchFamily="2" charset="-122"/>
              </a:rPr>
              <a:pPr/>
              <a:t>12</a:t>
            </a:fld>
            <a:endParaRPr lang="zh-CN" altLang="zh-CN" sz="1200">
              <a:solidFill>
                <a:schemeClr val="tx1"/>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42525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算法设计常用的基本策略</a:t>
            </a:r>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t>15</a:t>
            </a:fld>
            <a:endParaRPr lang="en-US"/>
          </a:p>
        </p:txBody>
      </p:sp>
    </p:spTree>
    <p:extLst>
      <p:ext uri="{BB962C8B-B14F-4D97-AF65-F5344CB8AC3E}">
        <p14:creationId xmlns:p14="http://schemas.microsoft.com/office/powerpoint/2010/main" val="21557576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算法是为了解决某类问题而规定的一个有限的操作序列。</a:t>
            </a:r>
            <a:endParaRPr lang="en-US" altLang="zh-CN" sz="1200" b="0" i="0" kern="1200" dirty="0">
              <a:solidFill>
                <a:schemeClr val="tx1"/>
              </a:solidFill>
              <a:effectLst/>
              <a:latin typeface="Times New Roman" pitchFamily="18" charset="0"/>
              <a:ea typeface="宋体" pitchFamily="2" charset="-122"/>
              <a:cs typeface="+mn-cs"/>
            </a:endParaRPr>
          </a:p>
          <a:p>
            <a:endParaRPr lang="en-US" altLang="zh-CN" sz="1200" b="0" i="0" kern="1200" dirty="0">
              <a:solidFill>
                <a:schemeClr val="tx1"/>
              </a:solidFill>
              <a:effectLst/>
              <a:latin typeface="Times New Roman" pitchFamily="18" charset="0"/>
              <a:ea typeface="宋体" pitchFamily="2" charset="-122"/>
              <a:cs typeface="+mn-cs"/>
            </a:endParaRPr>
          </a:p>
          <a:p>
            <a:r>
              <a:rPr lang="zh-CN" altLang="en-US" sz="1200" b="0" i="0" kern="1200" dirty="0">
                <a:solidFill>
                  <a:schemeClr val="tx1"/>
                </a:solidFill>
                <a:effectLst/>
                <a:latin typeface="Times New Roman" pitchFamily="18" charset="0"/>
                <a:ea typeface="宋体" pitchFamily="2" charset="-122"/>
                <a:cs typeface="+mn-cs"/>
              </a:rPr>
              <a:t>每一步指令清晰明确，计算机知道要执行什么操作。</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21</a:t>
            </a:fld>
            <a:endParaRPr lang="en-US" altLang="zh-CN"/>
          </a:p>
        </p:txBody>
      </p:sp>
    </p:spTree>
    <p:extLst>
      <p:ext uri="{BB962C8B-B14F-4D97-AF65-F5344CB8AC3E}">
        <p14:creationId xmlns:p14="http://schemas.microsoft.com/office/powerpoint/2010/main" val="2617454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算法与函数映射</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22</a:t>
            </a:fld>
            <a:endParaRPr lang="en-US" altLang="zh-CN"/>
          </a:p>
        </p:txBody>
      </p:sp>
    </p:spTree>
    <p:extLst>
      <p:ext uri="{BB962C8B-B14F-4D97-AF65-F5344CB8AC3E}">
        <p14:creationId xmlns:p14="http://schemas.microsoft.com/office/powerpoint/2010/main" val="2927677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穷举</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24</a:t>
            </a:fld>
            <a:endParaRPr lang="en-US" altLang="zh-CN"/>
          </a:p>
        </p:txBody>
      </p:sp>
    </p:spTree>
    <p:extLst>
      <p:ext uri="{BB962C8B-B14F-4D97-AF65-F5344CB8AC3E}">
        <p14:creationId xmlns:p14="http://schemas.microsoft.com/office/powerpoint/2010/main" val="36973145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递归是算法设计的核心思想之一，它通过“自相似性”简化问题，使代码简洁且符合直觉。尽管需警惕性能陷阱，但其在分治、回溯、动态规划等领域的不可替代性，以及在处理树、图等结构时的天然优势，使其成为算法工程师的必备工具。合理权衡递归的简洁性与效率，是算法优化的关键。</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25</a:t>
            </a:fld>
            <a:endParaRPr lang="en-US" altLang="zh-CN"/>
          </a:p>
        </p:txBody>
      </p:sp>
    </p:spTree>
    <p:extLst>
      <p:ext uri="{BB962C8B-B14F-4D97-AF65-F5344CB8AC3E}">
        <p14:creationId xmlns:p14="http://schemas.microsoft.com/office/powerpoint/2010/main" val="339389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计算机执行欧几里得算法所需的时间与计算商和余数所需的时间密切相关，也就是与递归程序访问其自身的次数密切相关。当然，这个数进一步又依赖于想要求其 </a:t>
            </a:r>
            <a:r>
              <a:rPr lang="en-US" altLang="zh-CN" sz="1200" b="0" i="0" kern="1200" dirty="0" err="1">
                <a:solidFill>
                  <a:schemeClr val="tx1"/>
                </a:solidFill>
                <a:effectLst/>
                <a:latin typeface="Times New Roman" pitchFamily="18" charset="0"/>
                <a:ea typeface="宋体" pitchFamily="2" charset="-122"/>
                <a:cs typeface="+mn-cs"/>
              </a:rPr>
              <a:t>gcd</a:t>
            </a:r>
            <a:r>
              <a:rPr lang="en-US" altLang="zh-CN" sz="1200" b="0" i="0" kern="1200" dirty="0">
                <a:solidFill>
                  <a:schemeClr val="tx1"/>
                </a:solidFill>
                <a:effectLst/>
                <a:latin typeface="Times New Roman" pitchFamily="18" charset="0"/>
                <a:ea typeface="宋体" pitchFamily="2" charset="-122"/>
                <a:cs typeface="+mn-cs"/>
              </a:rPr>
              <a:t> </a:t>
            </a:r>
            <a:r>
              <a:rPr lang="zh-CN" altLang="en-US" sz="1200" b="0" i="0" kern="1200" dirty="0">
                <a:solidFill>
                  <a:schemeClr val="tx1"/>
                </a:solidFill>
                <a:effectLst/>
                <a:latin typeface="Times New Roman" pitchFamily="18" charset="0"/>
                <a:ea typeface="宋体" pitchFamily="2" charset="-122"/>
                <a:cs typeface="+mn-cs"/>
              </a:rPr>
              <a:t>的数 </a:t>
            </a:r>
            <a:r>
              <a:rPr lang="en-US" altLang="zh-CN" sz="1200" b="0" i="0" kern="1200" dirty="0">
                <a:solidFill>
                  <a:schemeClr val="tx1"/>
                </a:solidFill>
                <a:effectLst/>
                <a:latin typeface="Times New Roman" pitchFamily="18" charset="0"/>
                <a:ea typeface="宋体" pitchFamily="2" charset="-122"/>
                <a:cs typeface="+mn-cs"/>
              </a:rPr>
              <a:t>a</a:t>
            </a:r>
            <a:r>
              <a:rPr lang="zh-CN" altLang="en-US" sz="1200" b="0" i="0" kern="1200" dirty="0">
                <a:solidFill>
                  <a:schemeClr val="tx1"/>
                </a:solidFill>
                <a:effectLst/>
                <a:latin typeface="Times New Roman" pitchFamily="18" charset="0"/>
                <a:ea typeface="宋体" pitchFamily="2" charset="-122"/>
                <a:cs typeface="+mn-cs"/>
              </a:rPr>
              <a:t>和</a:t>
            </a:r>
            <a:r>
              <a:rPr lang="en-US" altLang="zh-CN" sz="1200" b="0" i="0" kern="1200" dirty="0">
                <a:solidFill>
                  <a:schemeClr val="tx1"/>
                </a:solidFill>
                <a:effectLst/>
                <a:latin typeface="Times New Roman" pitchFamily="18" charset="0"/>
                <a:ea typeface="宋体" pitchFamily="2" charset="-122"/>
                <a:cs typeface="+mn-cs"/>
              </a:rPr>
              <a:t>b</a:t>
            </a:r>
            <a:r>
              <a:rPr lang="zh-CN" altLang="en-US" sz="1200" b="0" i="0" kern="1200" dirty="0">
                <a:solidFill>
                  <a:schemeClr val="tx1"/>
                </a:solidFill>
                <a:effectLst/>
                <a:latin typeface="Times New Roman" pitchFamily="18" charset="0"/>
                <a:ea typeface="宋体" pitchFamily="2" charset="-122"/>
                <a:cs typeface="+mn-cs"/>
              </a:rPr>
              <a:t>的大小。一个初始的观察是：如果 </a:t>
            </a:r>
            <a:r>
              <a:rPr lang="en-US" altLang="zh-CN" sz="1200" b="0" i="0" kern="1200" dirty="0">
                <a:solidFill>
                  <a:schemeClr val="tx1"/>
                </a:solidFill>
                <a:effectLst/>
                <a:latin typeface="Times New Roman" pitchFamily="18" charset="0"/>
                <a:ea typeface="宋体" pitchFamily="2" charset="-122"/>
                <a:cs typeface="+mn-cs"/>
              </a:rPr>
              <a:t>0&lt;b≤ a</a:t>
            </a:r>
            <a:r>
              <a:rPr lang="zh-CN" altLang="en-US" sz="1200" b="0" i="0" kern="1200" dirty="0">
                <a:solidFill>
                  <a:schemeClr val="tx1"/>
                </a:solidFill>
                <a:effectLst/>
                <a:latin typeface="Times New Roman" pitchFamily="18" charset="0"/>
                <a:ea typeface="宋体" pitchFamily="2" charset="-122"/>
                <a:cs typeface="+mn-cs"/>
              </a:rPr>
              <a:t>，则 </a:t>
            </a:r>
            <a:r>
              <a:rPr lang="en-US" altLang="zh-CN" sz="1200" b="0" i="0" kern="1200" dirty="0">
                <a:solidFill>
                  <a:schemeClr val="tx1"/>
                </a:solidFill>
                <a:effectLst/>
                <a:latin typeface="Times New Roman" pitchFamily="18" charset="0"/>
                <a:ea typeface="宋体" pitchFamily="2" charset="-122"/>
                <a:cs typeface="+mn-cs"/>
              </a:rPr>
              <a:t>a </a:t>
            </a:r>
            <a:r>
              <a:rPr lang="zh-CN" altLang="en-US" sz="1200" b="0" i="0" kern="1200" dirty="0">
                <a:solidFill>
                  <a:schemeClr val="tx1"/>
                </a:solidFill>
                <a:effectLst/>
                <a:latin typeface="Times New Roman" pitchFamily="18" charset="0"/>
                <a:ea typeface="宋体" pitchFamily="2" charset="-122"/>
                <a:cs typeface="+mn-cs"/>
              </a:rPr>
              <a:t>除以 </a:t>
            </a:r>
            <a:r>
              <a:rPr lang="en-US" altLang="zh-CN" sz="1200" b="0" i="0" kern="1200" dirty="0">
                <a:solidFill>
                  <a:schemeClr val="tx1"/>
                </a:solidFill>
                <a:effectLst/>
                <a:latin typeface="Times New Roman" pitchFamily="18" charset="0"/>
                <a:ea typeface="宋体" pitchFamily="2" charset="-122"/>
                <a:cs typeface="+mn-cs"/>
              </a:rPr>
              <a:t>b </a:t>
            </a:r>
            <a:r>
              <a:rPr lang="zh-CN" altLang="en-US" sz="1200" b="0" i="0" kern="1200" dirty="0">
                <a:solidFill>
                  <a:schemeClr val="tx1"/>
                </a:solidFill>
                <a:effectLst/>
                <a:latin typeface="Times New Roman" pitchFamily="18" charset="0"/>
                <a:ea typeface="宋体" pitchFamily="2" charset="-122"/>
                <a:cs typeface="+mn-cs"/>
              </a:rPr>
              <a:t>的余数必小于</a:t>
            </a:r>
            <a:r>
              <a:rPr lang="en-US" altLang="zh-CN" sz="1200" b="0" i="0" kern="1200" dirty="0">
                <a:solidFill>
                  <a:schemeClr val="tx1"/>
                </a:solidFill>
                <a:effectLst/>
                <a:latin typeface="Times New Roman" pitchFamily="18" charset="0"/>
                <a:ea typeface="宋体" pitchFamily="2" charset="-122"/>
                <a:cs typeface="+mn-cs"/>
              </a:rPr>
              <a:t>a/2</a:t>
            </a:r>
            <a:r>
              <a:rPr lang="zh-CN" altLang="en-US" sz="1200" b="0" i="0" kern="1200" dirty="0">
                <a:solidFill>
                  <a:schemeClr val="tx1"/>
                </a:solidFill>
                <a:effectLst/>
                <a:latin typeface="Times New Roman" pitchFamily="18" charset="0"/>
                <a:ea typeface="宋体" pitchFamily="2" charset="-122"/>
                <a:cs typeface="+mn-cs"/>
              </a:rPr>
              <a:t>。由此可知，在求余数时，只要计算了两步，就可以得到一个数对，而其第一个分量最多只有原来的第一个分量的一半，由此容易看到，计算余数最多只需要</a:t>
            </a:r>
            <a:r>
              <a:rPr lang="en-US" altLang="zh-CN" sz="1200" b="0" i="0" kern="1200" dirty="0">
                <a:solidFill>
                  <a:schemeClr val="tx1"/>
                </a:solidFill>
                <a:effectLst/>
                <a:latin typeface="Times New Roman" pitchFamily="18" charset="0"/>
                <a:ea typeface="宋体" pitchFamily="2" charset="-122"/>
                <a:cs typeface="+mn-cs"/>
              </a:rPr>
              <a:t>2log2(a)+1</a:t>
            </a:r>
            <a:endParaRPr lang="zh-CN" altLang="en-US" sz="1200" b="0" i="0" kern="1200" dirty="0">
              <a:solidFill>
                <a:schemeClr val="tx1"/>
              </a:solidFill>
              <a:effectLst/>
              <a:latin typeface="Times New Roman" pitchFamily="18" charset="0"/>
              <a:ea typeface="宋体" pitchFamily="2" charset="-122"/>
              <a:cs typeface="+mn-cs"/>
            </a:endParaRPr>
          </a:p>
          <a:p>
            <a:r>
              <a:rPr lang="zh-CN" altLang="en-US" sz="1200" b="0" i="0" kern="1200" dirty="0">
                <a:solidFill>
                  <a:schemeClr val="tx1"/>
                </a:solidFill>
                <a:effectLst/>
                <a:latin typeface="Times New Roman" pitchFamily="18" charset="0"/>
                <a:ea typeface="宋体" pitchFamily="2" charset="-122"/>
                <a:cs typeface="+mn-cs"/>
              </a:rPr>
              <a:t>而此数大体上与</a:t>
            </a:r>
            <a:r>
              <a:rPr lang="en-US" altLang="zh-CN" sz="1200" b="0" i="0" kern="1200" dirty="0">
                <a:solidFill>
                  <a:schemeClr val="tx1"/>
                </a:solidFill>
                <a:effectLst/>
                <a:latin typeface="Times New Roman" pitchFamily="18" charset="0"/>
                <a:ea typeface="宋体" pitchFamily="2" charset="-122"/>
                <a:cs typeface="+mn-cs"/>
              </a:rPr>
              <a:t>a</a:t>
            </a:r>
            <a:r>
              <a:rPr lang="zh-CN" altLang="en-US" sz="1200" b="0" i="0" kern="1200" dirty="0">
                <a:solidFill>
                  <a:schemeClr val="tx1"/>
                </a:solidFill>
                <a:effectLst/>
                <a:latin typeface="Times New Roman" pitchFamily="18" charset="0"/>
                <a:ea typeface="宋体" pitchFamily="2" charset="-122"/>
                <a:cs typeface="+mn-cs"/>
              </a:rPr>
              <a:t>的位数成正比。因为一个数的位数远小于此数本身，这个算法可以很容易地用于很大的数，这就使它除有理论意义外，还有很大的实用性。</a:t>
            </a:r>
          </a:p>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26</a:t>
            </a:fld>
            <a:endParaRPr lang="en-US" altLang="zh-CN"/>
          </a:p>
        </p:txBody>
      </p:sp>
    </p:spTree>
    <p:extLst>
      <p:ext uri="{BB962C8B-B14F-4D97-AF65-F5344CB8AC3E}">
        <p14:creationId xmlns:p14="http://schemas.microsoft.com/office/powerpoint/2010/main" val="483077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枚举、分治</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28</a:t>
            </a:fld>
            <a:endParaRPr lang="en-US" altLang="zh-CN"/>
          </a:p>
        </p:txBody>
      </p:sp>
    </p:spTree>
    <p:extLst>
      <p:ext uri="{BB962C8B-B14F-4D97-AF65-F5344CB8AC3E}">
        <p14:creationId xmlns:p14="http://schemas.microsoft.com/office/powerpoint/2010/main" val="284477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（为什么递归是计算机科学中的一个关键概念</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30</a:t>
            </a:fld>
            <a:endParaRPr lang="en-US" altLang="zh-CN"/>
          </a:p>
        </p:txBody>
      </p:sp>
    </p:spTree>
    <p:extLst>
      <p:ext uri="{BB962C8B-B14F-4D97-AF65-F5344CB8AC3E}">
        <p14:creationId xmlns:p14="http://schemas.microsoft.com/office/powerpoint/2010/main" val="1742523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t>32</a:t>
            </a:fld>
            <a:endParaRPr lang="en-US"/>
          </a:p>
        </p:txBody>
      </p:sp>
    </p:spTree>
    <p:extLst>
      <p:ext uri="{BB962C8B-B14F-4D97-AF65-F5344CB8AC3E}">
        <p14:creationId xmlns:p14="http://schemas.microsoft.com/office/powerpoint/2010/main" val="19720106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t>33</a:t>
            </a:fld>
            <a:endParaRPr lang="en-US"/>
          </a:p>
        </p:txBody>
      </p:sp>
    </p:spTree>
    <p:extLst>
      <p:ext uri="{BB962C8B-B14F-4D97-AF65-F5344CB8AC3E}">
        <p14:creationId xmlns:p14="http://schemas.microsoft.com/office/powerpoint/2010/main" val="6992586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小学乘法算法，当</a:t>
            </a:r>
            <a:r>
              <a:rPr lang="en-US" altLang="zh-CN" dirty="0"/>
              <a:t>n</a:t>
            </a:r>
            <a:r>
              <a:rPr lang="zh-CN" altLang="en-US" dirty="0"/>
              <a:t>大到一定程度时，内存溢出，时间消耗过大，如何精确地表示大数并给出精确结果，进一步设计有效的算法实现大整数的算术运算？将在</a:t>
            </a:r>
            <a:r>
              <a:rPr lang="en-US" altLang="zh-CN" dirty="0"/>
              <a:t>2.4</a:t>
            </a:r>
            <a:r>
              <a:rPr lang="zh-CN" altLang="en-US" dirty="0"/>
              <a:t>节进一步给出分治法</a:t>
            </a:r>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t>34</a:t>
            </a:fld>
            <a:endParaRPr lang="en-US"/>
          </a:p>
        </p:txBody>
      </p:sp>
    </p:spTree>
    <p:extLst>
      <p:ext uri="{BB962C8B-B14F-4D97-AF65-F5344CB8AC3E}">
        <p14:creationId xmlns:p14="http://schemas.microsoft.com/office/powerpoint/2010/main" val="2910532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F2589D3-3AF1-8A4E-B826-2981C3C48FDF}" type="slidenum">
              <a:rPr lang="en-US" smtClean="0"/>
              <a:t>35</a:t>
            </a:fld>
            <a:endParaRPr lang="en-US"/>
          </a:p>
        </p:txBody>
      </p:sp>
    </p:spTree>
    <p:extLst>
      <p:ext uri="{BB962C8B-B14F-4D97-AF65-F5344CB8AC3E}">
        <p14:creationId xmlns:p14="http://schemas.microsoft.com/office/powerpoint/2010/main" val="596216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totally</a:t>
            </a:r>
            <a:r>
              <a:rPr lang="en-US" baseline="0" dirty="0"/>
              <a:t> takes me less than 30 seconds to multiply two 500-digit numbers</a:t>
            </a:r>
            <a:r>
              <a:rPr lang="mr-IN" baseline="0" dirty="0"/>
              <a:t>…</a:t>
            </a:r>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t>36</a:t>
            </a:fld>
            <a:endParaRPr lang="en-US"/>
          </a:p>
        </p:txBody>
      </p:sp>
    </p:spTree>
    <p:extLst>
      <p:ext uri="{BB962C8B-B14F-4D97-AF65-F5344CB8AC3E}">
        <p14:creationId xmlns:p14="http://schemas.microsoft.com/office/powerpoint/2010/main" val="22292181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totally</a:t>
            </a:r>
            <a:r>
              <a:rPr lang="en-US" baseline="0" dirty="0"/>
              <a:t> takes me less than 30 seconds to multiply two 500-digit numbers</a:t>
            </a:r>
            <a:r>
              <a:rPr lang="mr-IN" baseline="0" dirty="0"/>
              <a:t>…</a:t>
            </a:r>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t>37</a:t>
            </a:fld>
            <a:endParaRPr lang="en-US"/>
          </a:p>
        </p:txBody>
      </p:sp>
    </p:spTree>
    <p:extLst>
      <p:ext uri="{BB962C8B-B14F-4D97-AF65-F5344CB8AC3E}">
        <p14:creationId xmlns:p14="http://schemas.microsoft.com/office/powerpoint/2010/main" val="1494799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2589D3-3AF1-8A4E-B826-2981C3C48FDF}" type="slidenum">
              <a:rPr lang="en-US" smtClean="0"/>
              <a:t>38</a:t>
            </a:fld>
            <a:endParaRPr lang="en-US"/>
          </a:p>
        </p:txBody>
      </p:sp>
    </p:spTree>
    <p:extLst>
      <p:ext uri="{BB962C8B-B14F-4D97-AF65-F5344CB8AC3E}">
        <p14:creationId xmlns:p14="http://schemas.microsoft.com/office/powerpoint/2010/main" val="48355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spc="-20" dirty="0">
                <a:solidFill>
                  <a:srgbClr val="FF0000"/>
                </a:solidFill>
                <a:latin typeface="微软雅黑"/>
                <a:cs typeface="微软雅黑"/>
              </a:rPr>
              <a:t>关注 时间复杂性 </a:t>
            </a:r>
            <a:r>
              <a:rPr lang="en-US" altLang="zh-CN" sz="1200" b="1" dirty="0">
                <a:solidFill>
                  <a:srgbClr val="FF0000"/>
                </a:solidFill>
                <a:latin typeface="Arial"/>
                <a:cs typeface="Arial"/>
              </a:rPr>
              <a:t>OR</a:t>
            </a:r>
            <a:r>
              <a:rPr lang="zh-CN" altLang="en-US" sz="1200" b="1" spc="5" dirty="0">
                <a:solidFill>
                  <a:srgbClr val="FF0000"/>
                </a:solidFill>
                <a:latin typeface="Arial"/>
                <a:cs typeface="Arial"/>
              </a:rPr>
              <a:t> </a:t>
            </a:r>
            <a:r>
              <a:rPr lang="zh-CN" altLang="en-US" sz="1200" b="1" spc="-10" dirty="0">
                <a:solidFill>
                  <a:srgbClr val="FF0000"/>
                </a:solidFill>
                <a:latin typeface="微软雅黑"/>
                <a:cs typeface="微软雅黑"/>
              </a:rPr>
              <a:t>空间复杂性？</a:t>
            </a:r>
            <a:endParaRPr lang="zh-CN" altLang="en-US" sz="1200" dirty="0">
              <a:latin typeface="微软雅黑"/>
              <a:cs typeface="微软雅黑"/>
            </a:endParaRPr>
          </a:p>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41</a:t>
            </a:fld>
            <a:endParaRPr lang="en-US" altLang="zh-CN"/>
          </a:p>
        </p:txBody>
      </p:sp>
    </p:spTree>
    <p:extLst>
      <p:ext uri="{BB962C8B-B14F-4D97-AF65-F5344CB8AC3E}">
        <p14:creationId xmlns:p14="http://schemas.microsoft.com/office/powerpoint/2010/main" val="20772063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a:t>
            </a:r>
            <a:r>
              <a:rPr lang="zh-CN" altLang="en-US" dirty="0"/>
              <a:t>是问题的规模，</a:t>
            </a:r>
            <a:r>
              <a:rPr lang="en-US" altLang="zh-CN" dirty="0"/>
              <a:t>I</a:t>
            </a:r>
            <a:r>
              <a:rPr lang="zh-CN" altLang="en-US" dirty="0"/>
              <a:t>算法的输入</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42</a:t>
            </a:fld>
            <a:endParaRPr lang="en-US" altLang="zh-CN"/>
          </a:p>
        </p:txBody>
      </p:sp>
    </p:spTree>
    <p:extLst>
      <p:ext uri="{BB962C8B-B14F-4D97-AF65-F5344CB8AC3E}">
        <p14:creationId xmlns:p14="http://schemas.microsoft.com/office/powerpoint/2010/main" val="42665812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枚举法</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43</a:t>
            </a:fld>
            <a:endParaRPr lang="en-US" altLang="zh-CN"/>
          </a:p>
        </p:txBody>
      </p:sp>
    </p:spTree>
    <p:extLst>
      <p:ext uri="{BB962C8B-B14F-4D97-AF65-F5344CB8AC3E}">
        <p14:creationId xmlns:p14="http://schemas.microsoft.com/office/powerpoint/2010/main" val="37453067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最佳情况复杂度”没有太大用处。它可以作为算法复杂度的下限值。如果你执意要用它来表示算法复杂度，那么你就只考虑了最佳情况。你必须得非常幸运，这样你的算法才能达到最佳情况。从实际意义上说，这对算法没有多大帮助。</a:t>
            </a:r>
          </a:p>
          <a:p>
            <a:r>
              <a:rPr lang="zh-CN" altLang="en-US" sz="1200" b="0" i="0" kern="1200" dirty="0">
                <a:solidFill>
                  <a:schemeClr val="tx1"/>
                </a:solidFill>
                <a:effectLst/>
                <a:latin typeface="Times New Roman" pitchFamily="18" charset="0"/>
                <a:ea typeface="宋体" pitchFamily="2" charset="-122"/>
                <a:cs typeface="+mn-cs"/>
              </a:rPr>
              <a:t>“平均情况复杂度”通常很难计算，因为它需要你分析算法在各种输入上的性能，因此也没有被广泛的使用。</a:t>
            </a:r>
          </a:p>
          <a:p>
            <a:r>
              <a:rPr lang="zh-CN" altLang="en-US" sz="1200" b="0" i="0" kern="1200" dirty="0">
                <a:solidFill>
                  <a:schemeClr val="tx1"/>
                </a:solidFill>
                <a:effectLst/>
                <a:latin typeface="Times New Roman" pitchFamily="18" charset="0"/>
                <a:ea typeface="宋体" pitchFamily="2" charset="-122"/>
                <a:cs typeface="+mn-cs"/>
              </a:rPr>
              <a:t>“最差情况复杂度”帮助你做好最坏的准备。在算法中，这种悲观主义是好的，因为它给出了复杂度的上限，这样你就知道你的算法有哪些限制！</a:t>
            </a:r>
            <a:endParaRPr lang="en-US" altLang="zh-CN" sz="1200" b="0" i="0" kern="1200" dirty="0">
              <a:solidFill>
                <a:schemeClr val="tx1"/>
              </a:solidFill>
              <a:effectLst/>
              <a:latin typeface="Times New Roman" pitchFamily="18" charset="0"/>
              <a:ea typeface="宋体" pitchFamily="2" charset="-122"/>
              <a:cs typeface="+mn-cs"/>
            </a:endParaRPr>
          </a:p>
          <a:p>
            <a:endParaRPr lang="en-US" altLang="zh-CN" sz="1200" b="0" i="0" kern="1200" dirty="0">
              <a:solidFill>
                <a:schemeClr val="tx1"/>
              </a:solidFill>
              <a:effectLst/>
              <a:latin typeface="Times New Roman" pitchFamily="18" charset="0"/>
              <a:ea typeface="宋体" pitchFamily="2" charset="-122"/>
              <a:cs typeface="+mn-cs"/>
            </a:endParaRPr>
          </a:p>
          <a:p>
            <a:endParaRPr lang="en-US" altLang="zh-CN" sz="1200" b="0" i="0" kern="1200" dirty="0">
              <a:solidFill>
                <a:schemeClr val="tx1"/>
              </a:solidFill>
              <a:effectLst/>
              <a:latin typeface="Times New Roman" pitchFamily="18" charset="0"/>
              <a:ea typeface="宋体" pitchFamily="2" charset="-122"/>
              <a:cs typeface="+mn-cs"/>
            </a:endParaRPr>
          </a:p>
          <a:p>
            <a:r>
              <a:rPr lang="zh-CN" altLang="en-US" dirty="0"/>
              <a:t>我们在计算时间复杂度的时候，往往并不需要算出精确的结果，实际上，对于足够大的输入规模，我们只要研究算法的渐进效率</a:t>
            </a:r>
            <a:r>
              <a:rPr lang="en-US" altLang="zh-CN" dirty="0"/>
              <a:t>(</a:t>
            </a:r>
            <a:r>
              <a:rPr lang="zh-CN" altLang="en-US" dirty="0"/>
              <a:t>运行时间的增长量级</a:t>
            </a:r>
            <a:r>
              <a:rPr lang="en-US" altLang="zh-CN" dirty="0"/>
              <a:t>) </a:t>
            </a:r>
            <a:r>
              <a:rPr lang="zh-CN" altLang="en-US" dirty="0"/>
              <a:t>即可</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45</a:t>
            </a:fld>
            <a:endParaRPr lang="en-US" altLang="zh-CN"/>
          </a:p>
        </p:txBody>
      </p:sp>
    </p:spTree>
    <p:extLst>
      <p:ext uri="{BB962C8B-B14F-4D97-AF65-F5344CB8AC3E}">
        <p14:creationId xmlns:p14="http://schemas.microsoft.com/office/powerpoint/2010/main" val="25259373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47</a:t>
            </a:fld>
            <a:endParaRPr lang="en-US" altLang="zh-CN"/>
          </a:p>
        </p:txBody>
      </p:sp>
    </p:spTree>
    <p:extLst>
      <p:ext uri="{BB962C8B-B14F-4D97-AF65-F5344CB8AC3E}">
        <p14:creationId xmlns:p14="http://schemas.microsoft.com/office/powerpoint/2010/main" val="36769393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kern="1200" dirty="0">
                <a:solidFill>
                  <a:schemeClr val="tx1"/>
                </a:solidFill>
                <a:effectLst/>
                <a:latin typeface="Times New Roman" pitchFamily="18" charset="0"/>
                <a:ea typeface="宋体" pitchFamily="2" charset="-122"/>
                <a:cs typeface="+mn-cs"/>
              </a:rPr>
              <a:t/>
            </a:r>
            <a:br>
              <a:rPr lang="en-US" altLang="zh-CN" sz="1200" b="0" kern="1200" dirty="0">
                <a:solidFill>
                  <a:schemeClr val="tx1"/>
                </a:solidFill>
                <a:effectLst/>
                <a:latin typeface="Times New Roman" pitchFamily="18" charset="0"/>
                <a:ea typeface="宋体" pitchFamily="2" charset="-122"/>
                <a:cs typeface="+mn-cs"/>
              </a:rPr>
            </a:br>
            <a:r>
              <a:rPr lang="en-US" altLang="zh-CN" sz="1200" b="0" kern="1200" dirty="0">
                <a:solidFill>
                  <a:schemeClr val="tx1"/>
                </a:solidFill>
                <a:effectLst/>
                <a:latin typeface="Times New Roman" pitchFamily="18" charset="0"/>
                <a:ea typeface="宋体" pitchFamily="2" charset="-122"/>
                <a:cs typeface="+mn-cs"/>
              </a:rPr>
              <a:t> </a:t>
            </a:r>
            <a:r>
              <a:rPr lang="en-US" altLang="zh-CN" sz="1200" b="0" i="1" kern="1200" dirty="0">
                <a:solidFill>
                  <a:schemeClr val="tx1"/>
                </a:solidFill>
                <a:effectLst/>
                <a:latin typeface="Times New Roman" pitchFamily="18" charset="0"/>
                <a:ea typeface="宋体" pitchFamily="2" charset="-122"/>
                <a:cs typeface="+mn-cs"/>
              </a:rPr>
              <a:t>O</a:t>
            </a:r>
            <a:r>
              <a:rPr lang="en-US" altLang="zh-CN" sz="1200" b="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g</a:t>
            </a:r>
            <a:r>
              <a:rPr lang="en-US" altLang="zh-CN" sz="1200" b="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kern="1200" dirty="0">
                <a:solidFill>
                  <a:schemeClr val="tx1"/>
                </a:solidFill>
                <a:effectLst/>
                <a:latin typeface="Times New Roman" pitchFamily="18" charset="0"/>
                <a:ea typeface="宋体" pitchFamily="2" charset="-122"/>
                <a:cs typeface="+mn-cs"/>
              </a:rPr>
              <a:t>))</a:t>
            </a:r>
            <a:r>
              <a:rPr lang="en-US" altLang="zh-CN" sz="1200" b="0" i="0" kern="1200" dirty="0">
                <a:solidFill>
                  <a:schemeClr val="tx1"/>
                </a:solidFill>
                <a:effectLst/>
                <a:latin typeface="Times New Roman" pitchFamily="18" charset="0"/>
                <a:ea typeface="宋体" pitchFamily="2" charset="-122"/>
                <a:cs typeface="+mn-cs"/>
              </a:rPr>
              <a:t> </a:t>
            </a:r>
            <a:r>
              <a:rPr lang="zh-CN" altLang="en-US" sz="1200" b="0" i="0" kern="1200" dirty="0">
                <a:solidFill>
                  <a:schemeClr val="tx1"/>
                </a:solidFill>
                <a:effectLst/>
                <a:latin typeface="Times New Roman" pitchFamily="18" charset="0"/>
                <a:ea typeface="宋体" pitchFamily="2" charset="-122"/>
                <a:cs typeface="+mn-cs"/>
              </a:rPr>
              <a:t>是</a:t>
            </a:r>
            <a:r>
              <a:rPr lang="zh-CN" altLang="en-US" sz="1200" b="1" i="0" kern="1200" dirty="0">
                <a:solidFill>
                  <a:schemeClr val="tx1"/>
                </a:solidFill>
                <a:effectLst/>
                <a:latin typeface="Times New Roman" pitchFamily="18" charset="0"/>
                <a:ea typeface="宋体" pitchFamily="2" charset="-122"/>
                <a:cs typeface="+mn-cs"/>
              </a:rPr>
              <a:t>所有增长速率不超过 </a:t>
            </a:r>
            <a:r>
              <a:rPr lang="en-US" altLang="zh-CN" sz="1200" b="1" i="1" kern="1200" dirty="0">
                <a:solidFill>
                  <a:schemeClr val="tx1"/>
                </a:solidFill>
                <a:effectLst/>
                <a:latin typeface="Times New Roman" pitchFamily="18" charset="0"/>
                <a:ea typeface="宋体" pitchFamily="2" charset="-122"/>
                <a:cs typeface="+mn-cs"/>
              </a:rPr>
              <a:t>g</a:t>
            </a:r>
            <a:r>
              <a:rPr lang="en-US" altLang="zh-CN" sz="1200" b="1" i="0" kern="1200" dirty="0">
                <a:solidFill>
                  <a:schemeClr val="tx1"/>
                </a:solidFill>
                <a:effectLst/>
                <a:latin typeface="Times New Roman" pitchFamily="18" charset="0"/>
                <a:ea typeface="宋体" pitchFamily="2" charset="-122"/>
                <a:cs typeface="+mn-cs"/>
              </a:rPr>
              <a:t>(</a:t>
            </a:r>
            <a:r>
              <a:rPr lang="en-US" altLang="zh-CN" sz="1200" b="1" i="1" kern="1200" dirty="0">
                <a:solidFill>
                  <a:schemeClr val="tx1"/>
                </a:solidFill>
                <a:effectLst/>
                <a:latin typeface="Times New Roman" pitchFamily="18" charset="0"/>
                <a:ea typeface="宋体" pitchFamily="2" charset="-122"/>
                <a:cs typeface="+mn-cs"/>
              </a:rPr>
              <a:t>n</a:t>
            </a:r>
            <a:r>
              <a:rPr lang="en-US" altLang="zh-CN" sz="1200" b="1" i="0" kern="1200" dirty="0">
                <a:solidFill>
                  <a:schemeClr val="tx1"/>
                </a:solidFill>
                <a:effectLst/>
                <a:latin typeface="Times New Roman" pitchFamily="18" charset="0"/>
                <a:ea typeface="宋体" pitchFamily="2" charset="-122"/>
                <a:cs typeface="+mn-cs"/>
              </a:rPr>
              <a:t>) </a:t>
            </a:r>
            <a:r>
              <a:rPr lang="zh-CN" altLang="en-US" sz="1200" b="1" i="0" kern="1200" dirty="0">
                <a:solidFill>
                  <a:schemeClr val="tx1"/>
                </a:solidFill>
                <a:effectLst/>
                <a:latin typeface="Times New Roman" pitchFamily="18" charset="0"/>
                <a:ea typeface="宋体" pitchFamily="2" charset="-122"/>
                <a:cs typeface="+mn-cs"/>
              </a:rPr>
              <a:t>的函数集合</a:t>
            </a:r>
            <a:r>
              <a:rPr lang="zh-CN" altLang="en-US" sz="1200" b="0" i="0" kern="1200" dirty="0">
                <a:solidFill>
                  <a:schemeClr val="tx1"/>
                </a:solidFill>
                <a:effectLst/>
                <a:latin typeface="Times New Roman" pitchFamily="18" charset="0"/>
                <a:ea typeface="宋体" pitchFamily="2" charset="-122"/>
                <a:cs typeface="+mn-cs"/>
              </a:rPr>
              <a:t>。</a:t>
            </a:r>
            <a:endParaRPr lang="en-US" altLang="zh-CN" sz="1200" b="0" i="0" kern="1200" dirty="0">
              <a:solidFill>
                <a:schemeClr val="tx1"/>
              </a:solidFill>
              <a:effectLst/>
              <a:latin typeface="Times New Roman" pitchFamily="18" charset="0"/>
              <a:ea typeface="宋体" pitchFamily="2" charset="-122"/>
              <a:cs typeface="+mn-cs"/>
            </a:endParaRPr>
          </a:p>
          <a:p>
            <a:endParaRPr lang="en-US" altLang="zh-CN" sz="1200" b="0" kern="1200" dirty="0">
              <a:solidFill>
                <a:schemeClr val="tx1"/>
              </a:solidFill>
              <a:effectLst/>
              <a:latin typeface="Times New Roman" pitchFamily="18" charset="0"/>
              <a:ea typeface="宋体" pitchFamily="2" charset="-122"/>
              <a:cs typeface="+mn-cs"/>
            </a:endParaRPr>
          </a:p>
          <a:p>
            <a:r>
              <a:rPr lang="zh-CN" altLang="en-US" sz="1200" b="0" kern="1200" dirty="0">
                <a:solidFill>
                  <a:schemeClr val="tx1"/>
                </a:solidFill>
                <a:effectLst/>
                <a:latin typeface="Times New Roman" pitchFamily="18" charset="0"/>
                <a:ea typeface="宋体" pitchFamily="2" charset="-122"/>
                <a:cs typeface="+mn-cs"/>
              </a:rPr>
              <a:t>等于号</a:t>
            </a:r>
            <a:r>
              <a:rPr lang="en-US" altLang="zh-CN" sz="1200" b="0" kern="1200" dirty="0">
                <a:solidFill>
                  <a:schemeClr val="tx1"/>
                </a:solidFill>
                <a:effectLst/>
                <a:latin typeface="Times New Roman" pitchFamily="18" charset="0"/>
                <a:ea typeface="宋体" pitchFamily="2" charset="-122"/>
                <a:cs typeface="+mn-cs"/>
              </a:rPr>
              <a:t>=</a:t>
            </a:r>
            <a:br>
              <a:rPr lang="en-US" altLang="zh-CN" sz="1200" b="0" kern="1200" dirty="0">
                <a:solidFill>
                  <a:schemeClr val="tx1"/>
                </a:solidFill>
                <a:effectLst/>
                <a:latin typeface="Times New Roman" pitchFamily="18" charset="0"/>
                <a:ea typeface="宋体" pitchFamily="2" charset="-122"/>
                <a:cs typeface="+mn-cs"/>
              </a:rPr>
            </a:br>
            <a:r>
              <a:rPr lang="zh-CN" altLang="en-US" sz="1200" b="1" i="0" kern="1200" dirty="0">
                <a:solidFill>
                  <a:schemeClr val="tx1"/>
                </a:solidFill>
                <a:effectLst/>
                <a:latin typeface="Times New Roman" pitchFamily="18" charset="0"/>
                <a:ea typeface="宋体" pitchFamily="2" charset="-122"/>
                <a:cs typeface="+mn-cs"/>
              </a:rPr>
              <a:t>它是</a:t>
            </a:r>
            <a:r>
              <a:rPr lang="en-US" altLang="zh-CN" sz="1200" b="1" i="0" kern="1200" dirty="0">
                <a:solidFill>
                  <a:schemeClr val="tx1"/>
                </a:solidFill>
                <a:effectLst/>
                <a:latin typeface="Times New Roman" pitchFamily="18" charset="0"/>
                <a:ea typeface="宋体" pitchFamily="2" charset="-122"/>
                <a:cs typeface="+mn-cs"/>
              </a:rPr>
              <a:t>"</a:t>
            </a:r>
            <a:r>
              <a:rPr lang="zh-CN" altLang="en-US" sz="1200" b="1" i="0" kern="1200" dirty="0">
                <a:solidFill>
                  <a:schemeClr val="tx1"/>
                </a:solidFill>
                <a:effectLst/>
                <a:latin typeface="Times New Roman" pitchFamily="18" charset="0"/>
                <a:ea typeface="宋体" pitchFamily="2" charset="-122"/>
                <a:cs typeface="+mn-cs"/>
              </a:rPr>
              <a:t>单向</a:t>
            </a:r>
            <a:r>
              <a:rPr lang="en-US" altLang="zh-CN" sz="1200" b="1" i="0" kern="1200" dirty="0">
                <a:solidFill>
                  <a:schemeClr val="tx1"/>
                </a:solidFill>
                <a:effectLst/>
                <a:latin typeface="Times New Roman" pitchFamily="18" charset="0"/>
                <a:ea typeface="宋体" pitchFamily="2" charset="-122"/>
                <a:cs typeface="+mn-cs"/>
              </a:rPr>
              <a:t>"</a:t>
            </a:r>
            <a:r>
              <a:rPr lang="zh-CN" altLang="en-US" sz="1200" b="1" i="0" kern="1200" dirty="0">
                <a:solidFill>
                  <a:schemeClr val="tx1"/>
                </a:solidFill>
                <a:effectLst/>
                <a:latin typeface="Times New Roman" pitchFamily="18" charset="0"/>
                <a:ea typeface="宋体" pitchFamily="2" charset="-122"/>
                <a:cs typeface="+mn-cs"/>
              </a:rPr>
              <a:t>的</a:t>
            </a:r>
            <a:r>
              <a:rPr lang="zh-CN" altLang="en-US" sz="1200" b="0" i="0" kern="1200" dirty="0">
                <a:solidFill>
                  <a:schemeClr val="tx1"/>
                </a:solidFill>
                <a:effectLst/>
                <a:latin typeface="Times New Roman" pitchFamily="18" charset="0"/>
                <a:ea typeface="宋体" pitchFamily="2" charset="-122"/>
                <a:cs typeface="+mn-cs"/>
              </a:rPr>
              <a:t>：</a:t>
            </a:r>
            <a:r>
              <a:rPr lang="en-US" altLang="zh-CN" sz="1200" b="0" i="0" kern="1200" dirty="0">
                <a:solidFill>
                  <a:schemeClr val="tx1"/>
                </a:solidFill>
                <a:effectLst/>
                <a:latin typeface="Times New Roman" pitchFamily="18" charset="0"/>
                <a:ea typeface="宋体" pitchFamily="2" charset="-122"/>
                <a:cs typeface="+mn-cs"/>
              </a:rPr>
              <a:t>2</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+3=</a:t>
            </a:r>
            <a:r>
              <a:rPr lang="en-US" altLang="zh-CN" sz="1200" b="0" i="1" kern="1200" dirty="0">
                <a:solidFill>
                  <a:schemeClr val="tx1"/>
                </a:solidFill>
                <a:effectLst/>
                <a:latin typeface="Times New Roman" pitchFamily="18" charset="0"/>
                <a:ea typeface="宋体" pitchFamily="2" charset="-122"/>
                <a:cs typeface="+mn-cs"/>
              </a:rPr>
              <a:t>O</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 </a:t>
            </a:r>
            <a:r>
              <a:rPr lang="zh-CN" altLang="en-US" sz="1200" b="0" i="0" kern="1200" dirty="0">
                <a:solidFill>
                  <a:schemeClr val="tx1"/>
                </a:solidFill>
                <a:effectLst/>
                <a:latin typeface="Times New Roman" pitchFamily="18" charset="0"/>
                <a:ea typeface="宋体" pitchFamily="2" charset="-122"/>
                <a:cs typeface="+mn-cs"/>
              </a:rPr>
              <a:t>成立，但 </a:t>
            </a:r>
            <a:r>
              <a:rPr lang="en-US" altLang="zh-CN" sz="1200" b="0" i="1" kern="1200" dirty="0">
                <a:solidFill>
                  <a:schemeClr val="tx1"/>
                </a:solidFill>
                <a:effectLst/>
                <a:latin typeface="Times New Roman" pitchFamily="18" charset="0"/>
                <a:ea typeface="宋体" pitchFamily="2" charset="-122"/>
                <a:cs typeface="+mn-cs"/>
              </a:rPr>
              <a:t>O</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)=2</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+3 </a:t>
            </a:r>
            <a:r>
              <a:rPr lang="zh-CN" altLang="en-US" sz="1200" b="0" i="0" kern="1200" dirty="0">
                <a:solidFill>
                  <a:schemeClr val="tx1"/>
                </a:solidFill>
                <a:effectLst/>
                <a:latin typeface="Times New Roman" pitchFamily="18" charset="0"/>
                <a:ea typeface="宋体" pitchFamily="2" charset="-122"/>
                <a:cs typeface="+mn-cs"/>
              </a:rPr>
              <a:t>没意义。</a:t>
            </a:r>
          </a:p>
          <a:p>
            <a:r>
              <a:rPr lang="zh-CN" altLang="en-US" sz="1200" b="1" i="0" kern="1200" dirty="0">
                <a:solidFill>
                  <a:schemeClr val="tx1"/>
                </a:solidFill>
                <a:effectLst/>
                <a:latin typeface="Times New Roman" pitchFamily="18" charset="0"/>
                <a:ea typeface="宋体" pitchFamily="2" charset="-122"/>
                <a:cs typeface="+mn-cs"/>
              </a:rPr>
              <a:t>它表示</a:t>
            </a:r>
            <a:r>
              <a:rPr lang="en-US" altLang="zh-CN" sz="1200" b="1" i="0" kern="1200" dirty="0">
                <a:solidFill>
                  <a:schemeClr val="tx1"/>
                </a:solidFill>
                <a:effectLst/>
                <a:latin typeface="Times New Roman" pitchFamily="18" charset="0"/>
                <a:ea typeface="宋体" pitchFamily="2" charset="-122"/>
                <a:cs typeface="+mn-cs"/>
              </a:rPr>
              <a:t>"</a:t>
            </a:r>
            <a:r>
              <a:rPr lang="zh-CN" altLang="en-US" sz="1200" b="1" i="0" kern="1200" dirty="0">
                <a:solidFill>
                  <a:schemeClr val="tx1"/>
                </a:solidFill>
                <a:effectLst/>
                <a:latin typeface="Times New Roman" pitchFamily="18" charset="0"/>
                <a:ea typeface="宋体" pitchFamily="2" charset="-122"/>
                <a:cs typeface="+mn-cs"/>
              </a:rPr>
              <a:t>属于集合</a:t>
            </a:r>
            <a:r>
              <a:rPr lang="en-US" altLang="zh-CN" sz="1200" b="1"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O</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g</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 </a:t>
            </a:r>
            <a:r>
              <a:rPr lang="zh-CN" altLang="en-US" sz="1200" b="0" i="0" kern="1200" dirty="0">
                <a:solidFill>
                  <a:schemeClr val="tx1"/>
                </a:solidFill>
                <a:effectLst/>
                <a:latin typeface="Times New Roman" pitchFamily="18" charset="0"/>
                <a:ea typeface="宋体" pitchFamily="2" charset="-122"/>
                <a:cs typeface="+mn-cs"/>
              </a:rPr>
              <a:t>是一个函数集合，等号其实是 ∈∈ 的替代品。</a:t>
            </a:r>
          </a:p>
          <a:p>
            <a:r>
              <a:rPr lang="zh-CN" altLang="en-US" sz="1200" b="1" i="0" kern="1200" dirty="0">
                <a:solidFill>
                  <a:schemeClr val="tx1"/>
                </a:solidFill>
                <a:effectLst/>
                <a:latin typeface="Times New Roman" pitchFamily="18" charset="0"/>
                <a:ea typeface="宋体" pitchFamily="2" charset="-122"/>
                <a:cs typeface="+mn-cs"/>
              </a:rPr>
              <a:t>它是</a:t>
            </a:r>
            <a:r>
              <a:rPr lang="en-US" altLang="zh-CN" sz="1200" b="1" i="0" kern="1200" dirty="0">
                <a:solidFill>
                  <a:schemeClr val="tx1"/>
                </a:solidFill>
                <a:effectLst/>
                <a:latin typeface="Times New Roman" pitchFamily="18" charset="0"/>
                <a:ea typeface="宋体" pitchFamily="2" charset="-122"/>
                <a:cs typeface="+mn-cs"/>
              </a:rPr>
              <a:t>"</a:t>
            </a:r>
            <a:r>
              <a:rPr lang="zh-CN" altLang="en-US" sz="1200" b="1" i="0" kern="1200" dirty="0">
                <a:solidFill>
                  <a:schemeClr val="tx1"/>
                </a:solidFill>
                <a:effectLst/>
                <a:latin typeface="Times New Roman" pitchFamily="18" charset="0"/>
                <a:ea typeface="宋体" pitchFamily="2" charset="-122"/>
                <a:cs typeface="+mn-cs"/>
              </a:rPr>
              <a:t>从具体到抽象</a:t>
            </a:r>
            <a:r>
              <a:rPr lang="en-US" altLang="zh-CN" sz="1200" b="1"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：左边是一个具体函数，右边是一个类别。</a:t>
            </a:r>
          </a:p>
          <a:p>
            <a:r>
              <a:rPr lang="zh-CN" altLang="en-US" sz="1200" b="1" i="0" kern="1200" dirty="0">
                <a:solidFill>
                  <a:schemeClr val="tx1"/>
                </a:solidFill>
                <a:effectLst/>
                <a:latin typeface="Times New Roman" pitchFamily="18" charset="0"/>
                <a:ea typeface="宋体" pitchFamily="2" charset="-122"/>
                <a:cs typeface="+mn-cs"/>
              </a:rPr>
              <a:t>总结</a:t>
            </a:r>
            <a:r>
              <a:rPr lang="zh-CN" altLang="en-US" sz="1200" b="0" i="0" kern="1200" dirty="0">
                <a:solidFill>
                  <a:schemeClr val="tx1"/>
                </a:solidFill>
                <a:effectLst/>
                <a:latin typeface="Times New Roman" pitchFamily="18" charset="0"/>
                <a:ea typeface="宋体" pitchFamily="2" charset="-122"/>
                <a:cs typeface="+mn-cs"/>
              </a:rPr>
              <a:t>：这里的</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不是数值相等，而是</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属于</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关系。</a:t>
            </a:r>
            <a:r>
              <a:rPr lang="en-US" altLang="zh-CN" sz="1200" b="0" i="0" kern="1200" dirty="0">
                <a:solidFill>
                  <a:schemeClr val="tx1"/>
                </a:solidFill>
                <a:effectLst/>
                <a:latin typeface="Times New Roman" pitchFamily="18" charset="0"/>
                <a:ea typeface="宋体" pitchFamily="2" charset="-122"/>
                <a:cs typeface="+mn-cs"/>
              </a:rPr>
              <a:t>2</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+3=</a:t>
            </a:r>
            <a:r>
              <a:rPr lang="en-US" altLang="zh-CN" sz="1200" b="0" i="1" kern="1200" dirty="0">
                <a:solidFill>
                  <a:schemeClr val="tx1"/>
                </a:solidFill>
                <a:effectLst/>
                <a:latin typeface="Times New Roman" pitchFamily="18" charset="0"/>
                <a:ea typeface="宋体" pitchFamily="2" charset="-122"/>
                <a:cs typeface="+mn-cs"/>
              </a:rPr>
              <a:t>O</a:t>
            </a:r>
            <a:r>
              <a:rPr lang="en-US" altLang="zh-CN" sz="1200" b="0" i="0" kern="1200" dirty="0">
                <a:solidFill>
                  <a:schemeClr val="tx1"/>
                </a:solidFill>
                <a:effectLst/>
                <a:latin typeface="Times New Roman" pitchFamily="18" charset="0"/>
                <a:ea typeface="宋体" pitchFamily="2" charset="-122"/>
                <a:cs typeface="+mn-cs"/>
              </a:rPr>
              <a:t>(</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 </a:t>
            </a:r>
            <a:r>
              <a:rPr lang="zh-CN" altLang="en-US" sz="1200" b="0" i="0" kern="1200" dirty="0">
                <a:solidFill>
                  <a:schemeClr val="tx1"/>
                </a:solidFill>
                <a:effectLst/>
                <a:latin typeface="Times New Roman" pitchFamily="18" charset="0"/>
                <a:ea typeface="宋体" pitchFamily="2" charset="-122"/>
                <a:cs typeface="+mn-cs"/>
              </a:rPr>
              <a:t>的意思是</a:t>
            </a:r>
            <a:r>
              <a:rPr lang="en-US" altLang="zh-CN" sz="1200" b="0" i="0" kern="1200" dirty="0">
                <a:solidFill>
                  <a:schemeClr val="tx1"/>
                </a:solidFill>
                <a:effectLst/>
                <a:latin typeface="Times New Roman" pitchFamily="18" charset="0"/>
                <a:ea typeface="宋体" pitchFamily="2" charset="-122"/>
                <a:cs typeface="+mn-cs"/>
              </a:rPr>
              <a:t>"2</a:t>
            </a:r>
            <a:r>
              <a:rPr lang="en-US" altLang="zh-CN" sz="1200" b="0" i="1" kern="1200" dirty="0">
                <a:solidFill>
                  <a:schemeClr val="tx1"/>
                </a:solidFill>
                <a:effectLst/>
                <a:latin typeface="Times New Roman" pitchFamily="18" charset="0"/>
                <a:ea typeface="宋体" pitchFamily="2" charset="-122"/>
                <a:cs typeface="+mn-cs"/>
              </a:rPr>
              <a:t>n</a:t>
            </a:r>
            <a:r>
              <a:rPr lang="en-US" altLang="zh-CN" sz="1200" b="0" i="0" kern="1200" dirty="0">
                <a:solidFill>
                  <a:schemeClr val="tx1"/>
                </a:solidFill>
                <a:effectLst/>
                <a:latin typeface="Times New Roman" pitchFamily="18" charset="0"/>
                <a:ea typeface="宋体" pitchFamily="2" charset="-122"/>
                <a:cs typeface="+mn-cs"/>
              </a:rPr>
              <a:t>+3 </a:t>
            </a:r>
            <a:r>
              <a:rPr lang="zh-CN" altLang="en-US" sz="1200" b="0" i="0" kern="1200" dirty="0">
                <a:solidFill>
                  <a:schemeClr val="tx1"/>
                </a:solidFill>
                <a:effectLst/>
                <a:latin typeface="Times New Roman" pitchFamily="18" charset="0"/>
                <a:ea typeface="宋体" pitchFamily="2" charset="-122"/>
                <a:cs typeface="+mn-cs"/>
              </a:rPr>
              <a:t>属于线性增长函数这个家族</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a:t>
            </a:r>
          </a:p>
          <a:p>
            <a:endParaRPr lang="en-US" altLang="zh-CN"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48</a:t>
            </a:fld>
            <a:endParaRPr lang="en-US" altLang="zh-CN"/>
          </a:p>
        </p:txBody>
      </p:sp>
    </p:spTree>
    <p:extLst>
      <p:ext uri="{BB962C8B-B14F-4D97-AF65-F5344CB8AC3E}">
        <p14:creationId xmlns:p14="http://schemas.microsoft.com/office/powerpoint/2010/main" val="705869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49</a:t>
            </a:fld>
            <a:endParaRPr lang="en-US" altLang="zh-CN"/>
          </a:p>
        </p:txBody>
      </p:sp>
    </p:spTree>
    <p:extLst>
      <p:ext uri="{BB962C8B-B14F-4D97-AF65-F5344CB8AC3E}">
        <p14:creationId xmlns:p14="http://schemas.microsoft.com/office/powerpoint/2010/main" val="15474738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7</a:t>
            </a:r>
            <a:r>
              <a:rPr lang="en-US" altLang="zh-CN" sz="1200" i="1" kern="0" dirty="0">
                <a:solidFill>
                  <a:srgbClr val="010000"/>
                </a:solidFill>
                <a:latin typeface="Times New Roman"/>
                <a:ea typeface="宋体" panose="02010600030101010101" pitchFamily="2" charset="-122"/>
              </a:rPr>
              <a:t>n</a:t>
            </a:r>
            <a:r>
              <a:rPr lang="en-US" altLang="zh-CN" sz="1200" kern="0" baseline="30000" dirty="0">
                <a:solidFill>
                  <a:srgbClr val="010000"/>
                </a:solidFill>
                <a:latin typeface="Times New Roman"/>
                <a:ea typeface="宋体" panose="02010600030101010101" pitchFamily="2" charset="-122"/>
              </a:rPr>
              <a:t>2</a:t>
            </a:r>
            <a:r>
              <a:rPr lang="en-US" altLang="zh-CN" dirty="0"/>
              <a:t>&lt;=</a:t>
            </a:r>
            <a:r>
              <a:rPr lang="en-US" altLang="zh-CN" sz="1200" kern="0" dirty="0">
                <a:solidFill>
                  <a:srgbClr val="010000"/>
                </a:solidFill>
                <a:latin typeface="Times New Roman"/>
                <a:ea typeface="宋体" panose="02010600030101010101" pitchFamily="2" charset="-122"/>
              </a:rPr>
              <a:t>10</a:t>
            </a:r>
            <a:r>
              <a:rPr lang="en-US" altLang="zh-CN" sz="1200" i="1" kern="0" dirty="0">
                <a:solidFill>
                  <a:srgbClr val="010000"/>
                </a:solidFill>
                <a:latin typeface="Times New Roman"/>
                <a:ea typeface="宋体" panose="02010600030101010101" pitchFamily="2" charset="-122"/>
              </a:rPr>
              <a:t>n</a:t>
            </a:r>
            <a:r>
              <a:rPr lang="en-US" altLang="zh-CN" sz="1200" kern="0" baseline="30000" dirty="0">
                <a:solidFill>
                  <a:srgbClr val="010000"/>
                </a:solidFill>
                <a:latin typeface="Times New Roman"/>
                <a:ea typeface="宋体" panose="02010600030101010101" pitchFamily="2" charset="-122"/>
              </a:rPr>
              <a:t>2</a:t>
            </a:r>
            <a:r>
              <a:rPr lang="en-US" altLang="zh-CN" sz="1200" i="1" kern="0" dirty="0">
                <a:solidFill>
                  <a:srgbClr val="010000"/>
                </a:solidFill>
                <a:latin typeface="Times New Roman"/>
                <a:ea typeface="宋体" panose="02010600030101010101" pitchFamily="2" charset="-122"/>
              </a:rPr>
              <a:t> </a:t>
            </a:r>
            <a:r>
              <a:rPr lang="en-US" altLang="zh-CN" sz="1200" kern="0" dirty="0">
                <a:solidFill>
                  <a:srgbClr val="010000"/>
                </a:solidFill>
                <a:latin typeface="Times New Roman"/>
                <a:ea typeface="宋体" panose="02010600030101010101" pitchFamily="2" charset="-122"/>
              </a:rPr>
              <a:t>-</a:t>
            </a:r>
            <a:r>
              <a:rPr lang="en-US" altLang="zh-CN" sz="1200" i="1" kern="0" dirty="0">
                <a:solidFill>
                  <a:srgbClr val="010000"/>
                </a:solidFill>
                <a:latin typeface="Times New Roman"/>
                <a:ea typeface="宋体" panose="02010600030101010101" pitchFamily="2" charset="-122"/>
              </a:rPr>
              <a:t> </a:t>
            </a:r>
            <a:r>
              <a:rPr lang="en-US" altLang="zh-CN" sz="1200" kern="0" dirty="0">
                <a:solidFill>
                  <a:srgbClr val="010000"/>
                </a:solidFill>
                <a:latin typeface="Times New Roman"/>
                <a:ea typeface="宋体" panose="02010600030101010101" pitchFamily="2" charset="-122"/>
              </a:rPr>
              <a:t>3</a:t>
            </a:r>
            <a:r>
              <a:rPr lang="en-US" altLang="zh-CN" sz="1200" i="1" kern="0" dirty="0">
                <a:solidFill>
                  <a:srgbClr val="010000"/>
                </a:solidFill>
                <a:latin typeface="Times New Roman"/>
                <a:ea typeface="宋体" panose="02010600030101010101" pitchFamily="2" charset="-122"/>
              </a:rPr>
              <a:t>n </a:t>
            </a:r>
            <a:r>
              <a:rPr lang="en-US" altLang="zh-CN" dirty="0"/>
              <a:t>&lt;=10</a:t>
            </a:r>
            <a:r>
              <a:rPr lang="en-US" altLang="zh-CN" sz="1200" i="1" kern="0" dirty="0">
                <a:solidFill>
                  <a:srgbClr val="010000"/>
                </a:solidFill>
                <a:latin typeface="Times New Roman"/>
                <a:ea typeface="宋体" panose="02010600030101010101" pitchFamily="2" charset="-122"/>
              </a:rPr>
              <a:t>n</a:t>
            </a:r>
            <a:r>
              <a:rPr lang="en-US" altLang="zh-CN" sz="1200" kern="0" baseline="30000" dirty="0">
                <a:solidFill>
                  <a:srgbClr val="010000"/>
                </a:solidFill>
                <a:latin typeface="Times New Roman"/>
                <a:ea typeface="宋体" panose="02010600030101010101" pitchFamily="2" charset="-122"/>
              </a:rPr>
              <a:t>2</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50</a:t>
            </a:fld>
            <a:endParaRPr lang="en-US" altLang="zh-CN"/>
          </a:p>
        </p:txBody>
      </p:sp>
    </p:spTree>
    <p:extLst>
      <p:ext uri="{BB962C8B-B14F-4D97-AF65-F5344CB8AC3E}">
        <p14:creationId xmlns:p14="http://schemas.microsoft.com/office/powerpoint/2010/main" val="9927877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a:t>
            </a:r>
            <a:r>
              <a:rPr lang="zh-CN" altLang="en-US" dirty="0"/>
              <a:t>最常见，是因为</a:t>
            </a:r>
            <a:r>
              <a:rPr lang="zh-CN" altLang="en-US" sz="1200" b="1" i="0" kern="1200" dirty="0">
                <a:solidFill>
                  <a:schemeClr val="tx1"/>
                </a:solidFill>
                <a:effectLst/>
                <a:latin typeface="Times New Roman" pitchFamily="18" charset="0"/>
                <a:ea typeface="宋体" pitchFamily="2" charset="-122"/>
                <a:cs typeface="+mn-cs"/>
              </a:rPr>
              <a:t>我们通常关心最坏情况的上界</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51</a:t>
            </a:fld>
            <a:endParaRPr lang="en-US" altLang="zh-CN"/>
          </a:p>
        </p:txBody>
      </p:sp>
    </p:spTree>
    <p:extLst>
      <p:ext uri="{BB962C8B-B14F-4D97-AF65-F5344CB8AC3E}">
        <p14:creationId xmlns:p14="http://schemas.microsoft.com/office/powerpoint/2010/main" val="16614615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特别强调：算法中为什么对数一般都不写底数</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52</a:t>
            </a:fld>
            <a:endParaRPr lang="en-US" altLang="zh-CN"/>
          </a:p>
        </p:txBody>
      </p:sp>
    </p:spTree>
    <p:extLst>
      <p:ext uri="{BB962C8B-B14F-4D97-AF65-F5344CB8AC3E}">
        <p14:creationId xmlns:p14="http://schemas.microsoft.com/office/powerpoint/2010/main" val="2940499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a:t>
            </a:r>
            <a:r>
              <a:rPr lang="en-US" altLang="zh-CN" dirty="0"/>
              <a:t>O</a:t>
            </a:r>
            <a:r>
              <a:rPr lang="zh-CN" altLang="en-US" dirty="0"/>
              <a:t>和小</a:t>
            </a:r>
            <a:r>
              <a:rPr lang="en-US" altLang="zh-CN" dirty="0"/>
              <a:t>o</a:t>
            </a:r>
            <a:r>
              <a:rPr lang="zh-CN" altLang="en-US" dirty="0"/>
              <a:t>符号都可以用于描述函数的增长趋势，但两者在严格性上有区别：大</a:t>
            </a:r>
            <a:r>
              <a:rPr lang="en-US" altLang="zh-CN" dirty="0"/>
              <a:t>O</a:t>
            </a:r>
            <a:r>
              <a:rPr lang="zh-CN" altLang="en-US" dirty="0"/>
              <a:t>允许存在一个常数倍数，而小</a:t>
            </a:r>
            <a:r>
              <a:rPr lang="en-US" altLang="zh-CN" dirty="0"/>
              <a:t>o</a:t>
            </a:r>
            <a:r>
              <a:rPr lang="zh-CN" altLang="en-US" dirty="0"/>
              <a:t>要求对于任意小的常数倍数，最终函数都会被超越。也就是说，大</a:t>
            </a:r>
            <a:r>
              <a:rPr lang="en-US" altLang="zh-CN" dirty="0"/>
              <a:t>O</a:t>
            </a:r>
            <a:r>
              <a:rPr lang="zh-CN" altLang="en-US" dirty="0"/>
              <a:t>是“存在</a:t>
            </a:r>
            <a:r>
              <a:rPr lang="en-US" altLang="zh-CN" dirty="0"/>
              <a:t>c&gt;0</a:t>
            </a:r>
            <a:r>
              <a:rPr lang="zh-CN" altLang="en-US" dirty="0"/>
              <a:t>，使得</a:t>
            </a:r>
            <a:r>
              <a:rPr lang="en-US" altLang="zh-CN" dirty="0"/>
              <a:t>f(n) ≤ c g(n)”</a:t>
            </a:r>
            <a:r>
              <a:rPr lang="zh-CN" altLang="en-US" dirty="0"/>
              <a:t>，而小</a:t>
            </a:r>
            <a:r>
              <a:rPr lang="en-US" altLang="zh-CN" dirty="0"/>
              <a:t>o</a:t>
            </a:r>
            <a:r>
              <a:rPr lang="zh-CN" altLang="en-US" dirty="0"/>
              <a:t>是“对于所有</a:t>
            </a:r>
            <a:r>
              <a:rPr lang="en-US" altLang="zh-CN" dirty="0"/>
              <a:t>c&gt;0</a:t>
            </a:r>
            <a:r>
              <a:rPr lang="zh-CN" altLang="en-US" dirty="0"/>
              <a:t>，存在</a:t>
            </a:r>
            <a:r>
              <a:rPr lang="en-US" altLang="zh-CN" dirty="0"/>
              <a:t>n0</a:t>
            </a:r>
            <a:r>
              <a:rPr lang="zh-CN" altLang="en-US" dirty="0"/>
              <a:t>，当</a:t>
            </a:r>
            <a:r>
              <a:rPr lang="en-US" altLang="zh-CN" dirty="0"/>
              <a:t>n≥n0</a:t>
            </a:r>
            <a:r>
              <a:rPr lang="zh-CN" altLang="en-US" dirty="0"/>
              <a:t>时，</a:t>
            </a:r>
            <a:r>
              <a:rPr lang="en-US" altLang="zh-CN" dirty="0"/>
              <a:t>f(n) ≤c g(n)”</a:t>
            </a:r>
            <a:r>
              <a:rPr lang="zh-CN" altLang="en-US" dirty="0"/>
              <a:t>。数学上，小</a:t>
            </a:r>
            <a:r>
              <a:rPr lang="en-US" altLang="zh-CN" dirty="0"/>
              <a:t>o</a:t>
            </a:r>
            <a:r>
              <a:rPr lang="zh-CN" altLang="en-US" dirty="0"/>
              <a:t>的条件等价于</a:t>
            </a:r>
            <a:r>
              <a:rPr lang="en-US" altLang="zh-CN" dirty="0" err="1"/>
              <a:t>lim</a:t>
            </a:r>
            <a:r>
              <a:rPr lang="en-US" altLang="zh-CN" dirty="0"/>
              <a:t>_{n→∞} f(n)/g(n) =0</a:t>
            </a:r>
            <a:r>
              <a:rPr lang="zh-CN" altLang="en-US" dirty="0"/>
              <a:t>。</a:t>
            </a:r>
          </a:p>
          <a:p>
            <a:endParaRPr lang="zh-CN" altLang="en-US" dirty="0"/>
          </a:p>
          <a:p>
            <a:r>
              <a:rPr lang="zh-CN" altLang="en-US" dirty="0"/>
              <a:t>直观上的区别：</a:t>
            </a:r>
          </a:p>
          <a:p>
            <a:r>
              <a:rPr lang="zh-CN" altLang="en-US" dirty="0"/>
              <a:t>   大</a:t>
            </a:r>
            <a:r>
              <a:rPr lang="en-US" altLang="zh-CN" dirty="0"/>
              <a:t>O</a:t>
            </a:r>
            <a:r>
              <a:rPr lang="zh-CN" altLang="en-US" dirty="0"/>
              <a:t>：允许同阶增长（如 </a:t>
            </a:r>
            <a:r>
              <a:rPr lang="en-US" altLang="zh-CN" dirty="0"/>
              <a:t>3*n^2=O(n^2)</a:t>
            </a:r>
            <a:r>
              <a:rPr lang="zh-CN" altLang="en-US" dirty="0"/>
              <a:t>），即上界可能是紧的。</a:t>
            </a:r>
          </a:p>
          <a:p>
            <a:r>
              <a:rPr lang="zh-CN" altLang="en-US" dirty="0"/>
              <a:t>   小</a:t>
            </a:r>
            <a:r>
              <a:rPr lang="en-US" altLang="zh-CN" dirty="0"/>
              <a:t>o</a:t>
            </a:r>
            <a:r>
              <a:rPr lang="zh-CN" altLang="en-US" dirty="0"/>
              <a:t>：要求严格低阶增长（如 </a:t>
            </a:r>
            <a:r>
              <a:rPr lang="en-US" altLang="zh-CN" dirty="0"/>
              <a:t>n=o(n^2)</a:t>
            </a:r>
            <a:r>
              <a:rPr lang="zh-CN" altLang="en-US" dirty="0"/>
              <a:t>），排除同阶可能性。</a:t>
            </a:r>
          </a:p>
          <a:p>
            <a:endParaRPr lang="zh-CN" altLang="en-US" dirty="0"/>
          </a:p>
          <a:p>
            <a:r>
              <a:rPr lang="zh-CN" altLang="en-US" dirty="0"/>
              <a:t>实际应用中，大</a:t>
            </a:r>
            <a:r>
              <a:rPr lang="en-US" altLang="zh-CN" dirty="0"/>
              <a:t>O</a:t>
            </a:r>
            <a:r>
              <a:rPr lang="zh-CN" altLang="en-US" dirty="0"/>
              <a:t>更为常见，小</a:t>
            </a:r>
            <a:r>
              <a:rPr lang="en-US" altLang="zh-CN" dirty="0"/>
              <a:t>o</a:t>
            </a:r>
            <a:r>
              <a:rPr lang="zh-CN" altLang="en-US" dirty="0"/>
              <a:t>在理论分析中用于更严格的情况。</a:t>
            </a:r>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53</a:t>
            </a:fld>
            <a:endParaRPr lang="en-US" altLang="zh-CN"/>
          </a:p>
        </p:txBody>
      </p:sp>
    </p:spTree>
    <p:extLst>
      <p:ext uri="{BB962C8B-B14F-4D97-AF65-F5344CB8AC3E}">
        <p14:creationId xmlns:p14="http://schemas.microsoft.com/office/powerpoint/2010/main" val="1522881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384A9650-7AB2-427A-3AF9-2B911AAE9D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5240146-F48C-4E33-AAB2-609A87F4CC1E}" type="slidenum">
              <a:rPr lang="en-US" altLang="zh-CN" sz="1200">
                <a:solidFill>
                  <a:schemeClr val="tx1"/>
                </a:solidFill>
                <a:latin typeface="Times New Roman" panose="02020603050405020304" pitchFamily="18" charset="0"/>
                <a:ea typeface="宋体" panose="02010600030101010101" pitchFamily="2" charset="-122"/>
              </a:rPr>
              <a:pPr/>
              <a:t>62</a:t>
            </a:fld>
            <a:endParaRPr lang="en-US" altLang="zh-CN" sz="1200">
              <a:solidFill>
                <a:schemeClr val="tx1"/>
              </a:solidFill>
              <a:latin typeface="Times New Roman" panose="02020603050405020304" pitchFamily="18" charset="0"/>
              <a:ea typeface="宋体" panose="02010600030101010101" pitchFamily="2" charset="-122"/>
            </a:endParaRPr>
          </a:p>
        </p:txBody>
      </p:sp>
      <p:sp>
        <p:nvSpPr>
          <p:cNvPr id="45059" name="Rectangle 2">
            <a:extLst>
              <a:ext uri="{FF2B5EF4-FFF2-40B4-BE49-F238E27FC236}">
                <a16:creationId xmlns:a16="http://schemas.microsoft.com/office/drawing/2014/main" id="{442AB052-71AE-2BC6-5FD4-A1BC2DB7AE4E}"/>
              </a:ext>
            </a:extLst>
          </p:cNvPr>
          <p:cNvSpPr>
            <a:spLocks noGrp="1" noRot="1" noChangeAspect="1" noChangeArrowheads="1" noTextEdit="1"/>
          </p:cNvSpPr>
          <p:nvPr>
            <p:ph type="sldImg"/>
          </p:nvPr>
        </p:nvSpPr>
        <p:spPr>
          <a:solidFill>
            <a:srgbClr val="FFFFFF"/>
          </a:solidFill>
          <a:ln/>
        </p:spPr>
      </p:sp>
      <p:sp>
        <p:nvSpPr>
          <p:cNvPr id="45060" name="Rectangle 3">
            <a:extLst>
              <a:ext uri="{FF2B5EF4-FFF2-40B4-BE49-F238E27FC236}">
                <a16:creationId xmlns:a16="http://schemas.microsoft.com/office/drawing/2014/main" id="{B9A9993F-26BC-DE91-56CC-B4D321DDCC0A}"/>
              </a:ext>
            </a:extLst>
          </p:cNvPr>
          <p:cNvSpPr>
            <a:spLocks noGrp="1" noChangeArrowheads="1"/>
          </p:cNvSpPr>
          <p:nvPr>
            <p:ph type="body" idx="1"/>
          </p:nvPr>
        </p:nvSpPr>
        <p:spPr>
          <a:solidFill>
            <a:srgbClr val="FFFFFF"/>
          </a:solidFill>
          <a:ln>
            <a:solidFill>
              <a:srgbClr val="000000"/>
            </a:solidFill>
          </a:ln>
        </p:spPr>
        <p:txBody>
          <a:bodyPr lIns="91311" tIns="45657" rIns="91311" bIns="45657"/>
          <a:lstStyle/>
          <a:p>
            <a:r>
              <a:rPr lang="zh-CN" altLang="en-US" sz="1200" b="0" i="0" kern="1200" dirty="0">
                <a:solidFill>
                  <a:schemeClr val="tx1"/>
                </a:solidFill>
                <a:effectLst/>
                <a:latin typeface="Times New Roman" pitchFamily="18" charset="0"/>
                <a:ea typeface="宋体" pitchFamily="2" charset="-122"/>
                <a:cs typeface="+mn-cs"/>
              </a:rPr>
              <a:t>无论输入规模如何，执行单步运算（如访问数组中的某个元素）所需的时间都是固定的，不随输入规模的增大而增加，因此在算法复杂度分析中，单步运算通常被视为常数时间‌</a:t>
            </a:r>
            <a:br>
              <a:rPr lang="zh-CN" altLang="en-US" sz="1200" b="0" i="0" kern="1200" dirty="0">
                <a:solidFill>
                  <a:schemeClr val="tx1"/>
                </a:solidFill>
                <a:effectLst/>
                <a:latin typeface="Times New Roman" pitchFamily="18" charset="0"/>
                <a:ea typeface="宋体" pitchFamily="2" charset="-122"/>
                <a:cs typeface="+mn-cs"/>
              </a:rPr>
            </a:br>
            <a:endParaRPr lang="zh-CN" altLang="zh-CN" dirty="0"/>
          </a:p>
        </p:txBody>
      </p:sp>
    </p:spTree>
    <p:extLst>
      <p:ext uri="{BB962C8B-B14F-4D97-AF65-F5344CB8AC3E}">
        <p14:creationId xmlns:p14="http://schemas.microsoft.com/office/powerpoint/2010/main" val="37622559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归并排序是最优算法，因为它达到了下界。但需要额外的空间来存储临时数组。</a:t>
            </a:r>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69</a:t>
            </a:fld>
            <a:endParaRPr lang="en-US" altLang="zh-CN"/>
          </a:p>
        </p:txBody>
      </p:sp>
    </p:spTree>
    <p:extLst>
      <p:ext uri="{BB962C8B-B14F-4D97-AF65-F5344CB8AC3E}">
        <p14:creationId xmlns:p14="http://schemas.microsoft.com/office/powerpoint/2010/main" val="14663767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1" spc="-90" dirty="0" err="1">
                <a:solidFill>
                  <a:srgbClr val="BF311A"/>
                </a:solidFill>
                <a:latin typeface="Bookman Old Style"/>
                <a:cs typeface="Bookman Old Style"/>
              </a:rPr>
              <a:t>Linearithmic</a:t>
            </a:r>
            <a:r>
              <a:rPr lang="en-US" altLang="zh-CN" sz="1200" b="0" i="1" spc="-90" dirty="0">
                <a:solidFill>
                  <a:srgbClr val="BF311A"/>
                </a:solidFill>
                <a:latin typeface="Bookman Old Style"/>
                <a:cs typeface="Bookman Old Style"/>
              </a:rPr>
              <a:t> </a:t>
            </a:r>
            <a:r>
              <a:rPr lang="zh-CN" altLang="en-US" sz="1200" b="0" i="1" spc="-90" dirty="0">
                <a:solidFill>
                  <a:srgbClr val="BF311A"/>
                </a:solidFill>
                <a:latin typeface="Bookman Old Style"/>
                <a:cs typeface="Bookman Old Style"/>
              </a:rPr>
              <a:t>： 线性对数 </a:t>
            </a:r>
            <a:r>
              <a:rPr lang="en-US" altLang="zh-CN" sz="1200" b="0" i="1" spc="-90" dirty="0" err="1">
                <a:solidFill>
                  <a:srgbClr val="BF311A"/>
                </a:solidFill>
                <a:latin typeface="Bookman Old Style"/>
                <a:cs typeface="Bookman Old Style"/>
              </a:rPr>
              <a:t>nlogn</a:t>
            </a:r>
            <a:endParaRPr lang="en-US" altLang="zh-CN" sz="1200" b="0" i="1" spc="-90" dirty="0">
              <a:solidFill>
                <a:srgbClr val="BF311A"/>
              </a:solidFill>
              <a:latin typeface="Bookman Old Style"/>
              <a:cs typeface="Bookman Old Styl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1" spc="-90" dirty="0">
              <a:solidFill>
                <a:srgbClr val="BF311A"/>
              </a:solidFill>
              <a:latin typeface="Bookman Old Style"/>
              <a:cs typeface="Bookman Old Styl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1" spc="-90" dirty="0">
                <a:solidFill>
                  <a:srgbClr val="BF311A"/>
                </a:solidFill>
                <a:latin typeface="Bookman Old Style"/>
                <a:cs typeface="Bookman Old Style"/>
              </a:rPr>
              <a:t>在算法时间复杂度分析中，我们常用</a:t>
            </a:r>
            <a:r>
              <a:rPr lang="en-US" altLang="zh-CN" sz="1200" b="0" i="1" spc="-90" dirty="0">
                <a:solidFill>
                  <a:srgbClr val="BF311A"/>
                </a:solidFill>
                <a:latin typeface="Bookman Old Style"/>
                <a:cs typeface="Bookman Old Style"/>
              </a:rPr>
              <a:t>log </a:t>
            </a:r>
            <a:r>
              <a:rPr lang="en-US" altLang="zh-CN" sz="1200" b="0" i="1" spc="-90" dirty="0" err="1">
                <a:solidFill>
                  <a:srgbClr val="BF311A"/>
                </a:solidFill>
                <a:latin typeface="Bookman Old Style"/>
                <a:cs typeface="Bookman Old Style"/>
              </a:rPr>
              <a:t>log</a:t>
            </a:r>
            <a:r>
              <a:rPr lang="en-US" altLang="zh-CN" sz="1200" b="0" i="1" spc="-90" dirty="0">
                <a:solidFill>
                  <a:srgbClr val="BF311A"/>
                </a:solidFill>
                <a:latin typeface="Bookman Old Style"/>
                <a:cs typeface="Bookman Old Style"/>
              </a:rPr>
              <a:t> plot</a:t>
            </a:r>
            <a:r>
              <a:rPr lang="zh-CN" altLang="en-US" sz="1200" b="0" i="1" spc="-90" dirty="0">
                <a:solidFill>
                  <a:srgbClr val="BF311A"/>
                </a:solidFill>
                <a:latin typeface="Bookman Old Style"/>
                <a:cs typeface="Bookman Old Style"/>
              </a:rPr>
              <a:t>衡量时间复杂度，即横坐标为</a:t>
            </a:r>
            <a:r>
              <a:rPr lang="en-US" altLang="zh-CN" sz="1200" b="0" i="1" spc="-90" dirty="0" err="1">
                <a:solidFill>
                  <a:srgbClr val="BF311A"/>
                </a:solidFill>
                <a:latin typeface="Bookman Old Style"/>
                <a:cs typeface="Bookman Old Style"/>
              </a:rPr>
              <a:t>Logn</a:t>
            </a:r>
            <a:r>
              <a:rPr lang="zh-CN" altLang="en-US" sz="1200" b="0" i="1" spc="-90" dirty="0">
                <a:solidFill>
                  <a:srgbClr val="BF311A"/>
                </a:solidFill>
                <a:latin typeface="Bookman Old Style"/>
                <a:cs typeface="Bookman Old Style"/>
              </a:rPr>
              <a:t>（</a:t>
            </a:r>
            <a:r>
              <a:rPr lang="en-US" altLang="zh-CN" sz="1200" b="0" i="1" spc="-90" dirty="0">
                <a:solidFill>
                  <a:srgbClr val="BF311A"/>
                </a:solidFill>
                <a:latin typeface="Bookman Old Style"/>
                <a:cs typeface="Bookman Old Style"/>
              </a:rPr>
              <a:t>n</a:t>
            </a:r>
            <a:r>
              <a:rPr lang="zh-CN" altLang="en-US" sz="1200" b="0" i="1" spc="-90" dirty="0">
                <a:solidFill>
                  <a:srgbClr val="BF311A"/>
                </a:solidFill>
                <a:latin typeface="Bookman Old Style"/>
                <a:cs typeface="Bookman Old Style"/>
              </a:rPr>
              <a:t>是问题规模），纵坐标为</a:t>
            </a:r>
            <a:r>
              <a:rPr lang="en-US" altLang="zh-CN" sz="1200" b="0" i="1" spc="-90" dirty="0" err="1">
                <a:solidFill>
                  <a:srgbClr val="BF311A"/>
                </a:solidFill>
                <a:latin typeface="Bookman Old Style"/>
                <a:cs typeface="Bookman Old Style"/>
              </a:rPr>
              <a:t>logT</a:t>
            </a:r>
            <a:r>
              <a:rPr lang="zh-CN" altLang="en-US" sz="1200" b="0" i="1" spc="-90" dirty="0">
                <a:solidFill>
                  <a:srgbClr val="BF311A"/>
                </a:solidFill>
                <a:latin typeface="Bookman Old Style"/>
                <a:cs typeface="Bookman Old Style"/>
              </a:rPr>
              <a:t>（</a:t>
            </a:r>
            <a:r>
              <a:rPr lang="en-US" altLang="zh-CN" sz="1200" b="0" i="1" spc="-90" dirty="0">
                <a:solidFill>
                  <a:srgbClr val="BF311A"/>
                </a:solidFill>
                <a:latin typeface="Bookman Old Style"/>
                <a:cs typeface="Bookman Old Style"/>
              </a:rPr>
              <a:t>T</a:t>
            </a:r>
            <a:r>
              <a:rPr lang="zh-CN" altLang="en-US" sz="1200" b="0" i="1" spc="-90" dirty="0">
                <a:solidFill>
                  <a:srgbClr val="BF311A"/>
                </a:solidFill>
                <a:latin typeface="Bookman Old Style"/>
                <a:cs typeface="Bookman Old Style"/>
              </a:rPr>
              <a:t>是时间频度</a:t>
            </a:r>
            <a:r>
              <a:rPr lang="zh-CN" altLang="en-US" sz="1200" b="0" i="1" spc="-90" dirty="0" smtClean="0">
                <a:solidFill>
                  <a:srgbClr val="BF311A"/>
                </a:solidFill>
                <a:latin typeface="Bookman Old Style"/>
                <a:cs typeface="Bookman Old Style"/>
              </a:rPr>
              <a:t>）</a:t>
            </a:r>
            <a:endParaRPr lang="en-US" altLang="zh-CN" sz="1200" b="0" i="1" spc="-90" dirty="0" smtClean="0">
              <a:solidFill>
                <a:srgbClr val="BF311A"/>
              </a:solidFill>
              <a:latin typeface="Bookman Old Style"/>
              <a:cs typeface="Bookman Old Styl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1" spc="-90" dirty="0" smtClean="0">
              <a:solidFill>
                <a:srgbClr val="BF311A"/>
              </a:solidFill>
              <a:latin typeface="Bookman Old Style"/>
              <a:cs typeface="Bookman Old Styl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(1)&lt;</a:t>
            </a: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(log</a:t>
            </a:r>
            <a:r>
              <a:rPr lang="pt-BR" altLang="zh-CN" sz="1200" b="0" i="1" kern="1200" dirty="0" smtClean="0">
                <a:solidFill>
                  <a:schemeClr val="tx1"/>
                </a:solidFill>
                <a:effectLst/>
                <a:latin typeface="Times New Roman" pitchFamily="18" charset="0"/>
                <a:ea typeface="宋体" pitchFamily="2" charset="-122"/>
                <a:cs typeface="+mn-cs"/>
              </a:rPr>
              <a:t>n</a:t>
            </a:r>
            <a:r>
              <a:rPr lang="pt-BR" altLang="zh-CN" sz="1200" b="0" i="0" kern="1200" dirty="0" smtClean="0">
                <a:solidFill>
                  <a:schemeClr val="tx1"/>
                </a:solidFill>
                <a:effectLst/>
                <a:latin typeface="Times New Roman" pitchFamily="18" charset="0"/>
                <a:ea typeface="宋体" pitchFamily="2" charset="-122"/>
                <a:cs typeface="+mn-cs"/>
              </a:rPr>
              <a:t>)&lt;</a:t>
            </a: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a:t>
            </a:r>
            <a:r>
              <a:rPr lang="pt-BR" altLang="zh-CN" sz="1200" b="0" i="1" kern="1200" dirty="0" smtClean="0">
                <a:solidFill>
                  <a:schemeClr val="tx1"/>
                </a:solidFill>
                <a:effectLst/>
                <a:latin typeface="Times New Roman" pitchFamily="18" charset="0"/>
                <a:ea typeface="宋体" pitchFamily="2" charset="-122"/>
                <a:cs typeface="+mn-cs"/>
              </a:rPr>
              <a:t>n^k</a:t>
            </a:r>
            <a:r>
              <a:rPr lang="pt-BR" altLang="zh-CN" sz="1200" b="0" i="0" kern="1200" dirty="0" smtClean="0">
                <a:solidFill>
                  <a:schemeClr val="tx1"/>
                </a:solidFill>
                <a:effectLst/>
                <a:latin typeface="Times New Roman" pitchFamily="18" charset="0"/>
                <a:ea typeface="宋体" pitchFamily="2" charset="-122"/>
                <a:cs typeface="+mn-cs"/>
              </a:rPr>
              <a:t>)&lt;</a:t>
            </a: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a:t>
            </a:r>
            <a:r>
              <a:rPr lang="pt-BR" altLang="zh-CN" sz="1200" b="0" i="1" kern="1200" dirty="0" smtClean="0">
                <a:solidFill>
                  <a:schemeClr val="tx1"/>
                </a:solidFill>
                <a:effectLst/>
                <a:latin typeface="Times New Roman" pitchFamily="18" charset="0"/>
                <a:ea typeface="宋体" pitchFamily="2" charset="-122"/>
                <a:cs typeface="+mn-cs"/>
              </a:rPr>
              <a:t>n</a:t>
            </a:r>
            <a:r>
              <a:rPr lang="pt-BR" altLang="zh-CN" sz="1200" b="0" i="0" kern="1200" dirty="0" smtClean="0">
                <a:solidFill>
                  <a:schemeClr val="tx1"/>
                </a:solidFill>
                <a:effectLst/>
                <a:latin typeface="Times New Roman" pitchFamily="18" charset="0"/>
                <a:ea typeface="宋体" pitchFamily="2" charset="-122"/>
                <a:cs typeface="+mn-cs"/>
              </a:rPr>
              <a:t>)&lt;</a:t>
            </a: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a:t>
            </a:r>
            <a:r>
              <a:rPr lang="pt-BR" altLang="zh-CN" sz="1200" b="0" i="1" kern="1200" dirty="0" smtClean="0">
                <a:solidFill>
                  <a:schemeClr val="tx1"/>
                </a:solidFill>
                <a:effectLst/>
                <a:latin typeface="Times New Roman" pitchFamily="18" charset="0"/>
                <a:ea typeface="宋体" pitchFamily="2" charset="-122"/>
                <a:cs typeface="+mn-cs"/>
              </a:rPr>
              <a:t>n</a:t>
            </a:r>
            <a:r>
              <a:rPr lang="pt-BR" altLang="zh-CN" sz="1200" b="0" i="0" kern="1200" dirty="0" smtClean="0">
                <a:solidFill>
                  <a:schemeClr val="tx1"/>
                </a:solidFill>
                <a:effectLst/>
                <a:latin typeface="Times New Roman" pitchFamily="18" charset="0"/>
                <a:ea typeface="宋体" pitchFamily="2" charset="-122"/>
                <a:cs typeface="+mn-cs"/>
              </a:rPr>
              <a:t>log</a:t>
            </a:r>
            <a:r>
              <a:rPr lang="pt-BR" altLang="zh-CN" sz="1200" b="0" i="1" kern="1200" dirty="0" smtClean="0">
                <a:solidFill>
                  <a:schemeClr val="tx1"/>
                </a:solidFill>
                <a:effectLst/>
                <a:latin typeface="Times New Roman" pitchFamily="18" charset="0"/>
                <a:ea typeface="宋体" pitchFamily="2" charset="-122"/>
                <a:cs typeface="+mn-cs"/>
              </a:rPr>
              <a:t>n</a:t>
            </a:r>
            <a:r>
              <a:rPr lang="pt-BR" altLang="zh-CN" sz="1200" b="0" i="0" kern="1200" dirty="0" smtClean="0">
                <a:solidFill>
                  <a:schemeClr val="tx1"/>
                </a:solidFill>
                <a:effectLst/>
                <a:latin typeface="Times New Roman" pitchFamily="18" charset="0"/>
                <a:ea typeface="宋体" pitchFamily="2" charset="-122"/>
                <a:cs typeface="+mn-cs"/>
              </a:rPr>
              <a:t>)&lt;</a:t>
            </a: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a:t>
            </a:r>
            <a:r>
              <a:rPr lang="pt-BR" altLang="zh-CN" sz="1200" b="0" i="1" kern="1200" dirty="0" smtClean="0">
                <a:solidFill>
                  <a:schemeClr val="tx1"/>
                </a:solidFill>
                <a:effectLst/>
                <a:latin typeface="Times New Roman" pitchFamily="18" charset="0"/>
                <a:ea typeface="宋体" pitchFamily="2" charset="-122"/>
                <a:cs typeface="+mn-cs"/>
              </a:rPr>
              <a:t>n^</a:t>
            </a:r>
            <a:r>
              <a:rPr lang="pt-BR" altLang="zh-CN" sz="1200" b="0" i="0" kern="1200" dirty="0" smtClean="0">
                <a:solidFill>
                  <a:schemeClr val="tx1"/>
                </a:solidFill>
                <a:effectLst/>
                <a:latin typeface="Times New Roman" pitchFamily="18" charset="0"/>
                <a:ea typeface="宋体" pitchFamily="2" charset="-122"/>
                <a:cs typeface="+mn-cs"/>
              </a:rPr>
              <a:t>2)&lt;⋯&lt;</a:t>
            </a:r>
            <a:r>
              <a:rPr lang="pt-BR" altLang="zh-CN" sz="1200" b="0" i="1" kern="1200" dirty="0" smtClean="0">
                <a:solidFill>
                  <a:schemeClr val="tx1"/>
                </a:solidFill>
                <a:effectLst/>
                <a:latin typeface="Times New Roman" pitchFamily="18" charset="0"/>
                <a:ea typeface="宋体" pitchFamily="2" charset="-122"/>
                <a:cs typeface="+mn-cs"/>
              </a:rPr>
              <a:t>O</a:t>
            </a:r>
            <a:r>
              <a:rPr lang="pt-BR" altLang="zh-CN" sz="1200" b="0" i="0" kern="1200" dirty="0" smtClean="0">
                <a:solidFill>
                  <a:schemeClr val="tx1"/>
                </a:solidFill>
                <a:effectLst/>
                <a:latin typeface="Times New Roman" pitchFamily="18" charset="0"/>
                <a:ea typeface="宋体" pitchFamily="2" charset="-122"/>
                <a:cs typeface="+mn-cs"/>
              </a:rPr>
              <a:t>(2^</a:t>
            </a:r>
            <a:r>
              <a:rPr lang="pt-BR" altLang="zh-CN" sz="1200" b="0" i="1" kern="1200" dirty="0" smtClean="0">
                <a:solidFill>
                  <a:schemeClr val="tx1"/>
                </a:solidFill>
                <a:effectLst/>
                <a:latin typeface="Times New Roman" pitchFamily="18" charset="0"/>
                <a:ea typeface="宋体" pitchFamily="2" charset="-122"/>
                <a:cs typeface="+mn-cs"/>
              </a:rPr>
              <a:t>n</a:t>
            </a:r>
            <a:r>
              <a:rPr lang="pt-BR" altLang="zh-CN" sz="1200" b="0" i="0" kern="1200" dirty="0" smtClean="0">
                <a:solidFill>
                  <a:schemeClr val="tx1"/>
                </a:solidFill>
                <a:effectLst/>
                <a:latin typeface="Times New Roman" pitchFamily="18" charset="0"/>
                <a:ea typeface="宋体" pitchFamily="2" charset="-122"/>
                <a:cs typeface="+mn-cs"/>
              </a:rPr>
              <a:t>)   0</a:t>
            </a:r>
            <a:r>
              <a:rPr lang="en-US" altLang="zh-CN" sz="1200" b="0" i="0" kern="1200" smtClean="0">
                <a:solidFill>
                  <a:schemeClr val="tx1"/>
                </a:solidFill>
                <a:effectLst/>
                <a:latin typeface="Times New Roman" pitchFamily="18" charset="0"/>
                <a:ea typeface="宋体" pitchFamily="2" charset="-122"/>
                <a:cs typeface="+mn-cs"/>
              </a:rPr>
              <a:t>&lt;k&lt;1</a:t>
            </a:r>
            <a:endParaRPr lang="en-US" altLang="zh-CN" sz="1200" dirty="0">
              <a:latin typeface="Bookman Old Style"/>
              <a:cs typeface="Bookman Old Style"/>
            </a:endParaRPr>
          </a:p>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71</a:t>
            </a:fld>
            <a:endParaRPr lang="en-US" altLang="zh-CN"/>
          </a:p>
        </p:txBody>
      </p:sp>
    </p:spTree>
    <p:extLst>
      <p:ext uri="{BB962C8B-B14F-4D97-AF65-F5344CB8AC3E}">
        <p14:creationId xmlns:p14="http://schemas.microsoft.com/office/powerpoint/2010/main" val="29562406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0" i="1" spc="-90" dirty="0" err="1">
                <a:solidFill>
                  <a:srgbClr val="BF311A"/>
                </a:solidFill>
                <a:latin typeface="Bookman Old Style"/>
                <a:cs typeface="Bookman Old Style"/>
              </a:rPr>
              <a:t>Linearithmic</a:t>
            </a:r>
            <a:r>
              <a:rPr lang="en-US" altLang="zh-CN" sz="1200" b="0" i="1" spc="-90" dirty="0">
                <a:solidFill>
                  <a:srgbClr val="BF311A"/>
                </a:solidFill>
                <a:latin typeface="Bookman Old Style"/>
                <a:cs typeface="Bookman Old Style"/>
              </a:rPr>
              <a:t> </a:t>
            </a:r>
            <a:r>
              <a:rPr lang="zh-CN" altLang="en-US" sz="1200" b="0" i="1" spc="-90" dirty="0">
                <a:solidFill>
                  <a:srgbClr val="BF311A"/>
                </a:solidFill>
                <a:latin typeface="Bookman Old Style"/>
                <a:cs typeface="Bookman Old Style"/>
              </a:rPr>
              <a:t>： 线性对数 </a:t>
            </a:r>
            <a:r>
              <a:rPr lang="en-US" altLang="zh-CN" sz="1200" b="0" i="1" spc="-90" dirty="0" err="1">
                <a:solidFill>
                  <a:srgbClr val="BF311A"/>
                </a:solidFill>
                <a:latin typeface="Bookman Old Style"/>
                <a:cs typeface="Bookman Old Style"/>
              </a:rPr>
              <a:t>nlogn</a:t>
            </a:r>
            <a:endParaRPr lang="en-US" altLang="zh-CN" sz="1200" b="0" i="1" spc="-90" dirty="0">
              <a:solidFill>
                <a:srgbClr val="BF311A"/>
              </a:solidFill>
              <a:latin typeface="Bookman Old Style"/>
              <a:cs typeface="Bookman Old Style"/>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b="0" i="1" spc="-90" dirty="0">
              <a:solidFill>
                <a:srgbClr val="BF311A"/>
              </a:solidFill>
              <a:latin typeface="Bookman Old Style"/>
              <a:cs typeface="Bookman Old Styl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1" spc="-90" dirty="0">
                <a:solidFill>
                  <a:srgbClr val="BF311A"/>
                </a:solidFill>
                <a:latin typeface="Bookman Old Style"/>
                <a:cs typeface="Bookman Old Style"/>
              </a:rPr>
              <a:t>在算法时间复杂度分析中，我们常用</a:t>
            </a:r>
            <a:r>
              <a:rPr lang="en-US" altLang="zh-CN" sz="1200" b="0" i="1" spc="-90" dirty="0">
                <a:solidFill>
                  <a:srgbClr val="BF311A"/>
                </a:solidFill>
                <a:latin typeface="Bookman Old Style"/>
                <a:cs typeface="Bookman Old Style"/>
              </a:rPr>
              <a:t>log </a:t>
            </a:r>
            <a:r>
              <a:rPr lang="en-US" altLang="zh-CN" sz="1200" b="0" i="1" spc="-90" dirty="0" err="1">
                <a:solidFill>
                  <a:srgbClr val="BF311A"/>
                </a:solidFill>
                <a:latin typeface="Bookman Old Style"/>
                <a:cs typeface="Bookman Old Style"/>
              </a:rPr>
              <a:t>log</a:t>
            </a:r>
            <a:r>
              <a:rPr lang="en-US" altLang="zh-CN" sz="1200" b="0" i="1" spc="-90" dirty="0">
                <a:solidFill>
                  <a:srgbClr val="BF311A"/>
                </a:solidFill>
                <a:latin typeface="Bookman Old Style"/>
                <a:cs typeface="Bookman Old Style"/>
              </a:rPr>
              <a:t> plot</a:t>
            </a:r>
            <a:r>
              <a:rPr lang="zh-CN" altLang="en-US" sz="1200" b="0" i="1" spc="-90" dirty="0">
                <a:solidFill>
                  <a:srgbClr val="BF311A"/>
                </a:solidFill>
                <a:latin typeface="Bookman Old Style"/>
                <a:cs typeface="Bookman Old Style"/>
              </a:rPr>
              <a:t>衡量时间复杂度，即横坐标为</a:t>
            </a:r>
            <a:r>
              <a:rPr lang="en-US" altLang="zh-CN" sz="1200" b="0" i="1" spc="-90" dirty="0" err="1">
                <a:solidFill>
                  <a:srgbClr val="BF311A"/>
                </a:solidFill>
                <a:latin typeface="Bookman Old Style"/>
                <a:cs typeface="Bookman Old Style"/>
              </a:rPr>
              <a:t>Logn</a:t>
            </a:r>
            <a:r>
              <a:rPr lang="zh-CN" altLang="en-US" sz="1200" b="0" i="1" spc="-90" dirty="0">
                <a:solidFill>
                  <a:srgbClr val="BF311A"/>
                </a:solidFill>
                <a:latin typeface="Bookman Old Style"/>
                <a:cs typeface="Bookman Old Style"/>
              </a:rPr>
              <a:t>（</a:t>
            </a:r>
            <a:r>
              <a:rPr lang="en-US" altLang="zh-CN" sz="1200" b="0" i="1" spc="-90" dirty="0">
                <a:solidFill>
                  <a:srgbClr val="BF311A"/>
                </a:solidFill>
                <a:latin typeface="Bookman Old Style"/>
                <a:cs typeface="Bookman Old Style"/>
              </a:rPr>
              <a:t>n</a:t>
            </a:r>
            <a:r>
              <a:rPr lang="zh-CN" altLang="en-US" sz="1200" b="0" i="1" spc="-90" dirty="0">
                <a:solidFill>
                  <a:srgbClr val="BF311A"/>
                </a:solidFill>
                <a:latin typeface="Bookman Old Style"/>
                <a:cs typeface="Bookman Old Style"/>
              </a:rPr>
              <a:t>是问题规模），纵坐标为</a:t>
            </a:r>
            <a:r>
              <a:rPr lang="en-US" altLang="zh-CN" sz="1200" b="0" i="1" spc="-90" dirty="0" err="1">
                <a:solidFill>
                  <a:srgbClr val="BF311A"/>
                </a:solidFill>
                <a:latin typeface="Bookman Old Style"/>
                <a:cs typeface="Bookman Old Style"/>
              </a:rPr>
              <a:t>logT</a:t>
            </a:r>
            <a:r>
              <a:rPr lang="zh-CN" altLang="en-US" sz="1200" b="0" i="1" spc="-90" dirty="0">
                <a:solidFill>
                  <a:srgbClr val="BF311A"/>
                </a:solidFill>
                <a:latin typeface="Bookman Old Style"/>
                <a:cs typeface="Bookman Old Style"/>
              </a:rPr>
              <a:t>（</a:t>
            </a:r>
            <a:r>
              <a:rPr lang="en-US" altLang="zh-CN" sz="1200" b="0" i="1" spc="-90" dirty="0">
                <a:solidFill>
                  <a:srgbClr val="BF311A"/>
                </a:solidFill>
                <a:latin typeface="Bookman Old Style"/>
                <a:cs typeface="Bookman Old Style"/>
              </a:rPr>
              <a:t>T</a:t>
            </a:r>
            <a:r>
              <a:rPr lang="zh-CN" altLang="en-US" sz="1200" b="0" i="1" spc="-90" dirty="0">
                <a:solidFill>
                  <a:srgbClr val="BF311A"/>
                </a:solidFill>
                <a:latin typeface="Bookman Old Style"/>
                <a:cs typeface="Bookman Old Style"/>
              </a:rPr>
              <a:t>是时间频度）</a:t>
            </a:r>
            <a:endParaRPr lang="en-US" altLang="zh-CN" sz="1200" dirty="0">
              <a:latin typeface="Bookman Old Style"/>
              <a:cs typeface="Bookman Old Style"/>
            </a:endParaRPr>
          </a:p>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72</a:t>
            </a:fld>
            <a:endParaRPr lang="en-US" altLang="zh-CN"/>
          </a:p>
        </p:txBody>
      </p:sp>
    </p:spTree>
    <p:extLst>
      <p:ext uri="{BB962C8B-B14F-4D97-AF65-F5344CB8AC3E}">
        <p14:creationId xmlns:p14="http://schemas.microsoft.com/office/powerpoint/2010/main" val="32250470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这类问题在理论上可能无解，或者即使有解，也超出了现有计算模型的能力范围。例如，停机问题就是最著名的不可计算问题之一，它指的是给定一个任意程序和输入，无法判断该程序在运行结束时会停机还是无限循环‌</a:t>
            </a:r>
            <a:r>
              <a:rPr lang="en-US" altLang="zh-CN" sz="1200" b="0" i="0" kern="1200" dirty="0">
                <a:solidFill>
                  <a:schemeClr val="tx1"/>
                </a:solidFill>
                <a:effectLst/>
                <a:latin typeface="Times New Roman" pitchFamily="18" charset="0"/>
                <a:ea typeface="宋体" pitchFamily="2" charset="-122"/>
                <a:cs typeface="+mn-cs"/>
              </a:rPr>
              <a:t>2</a:t>
            </a:r>
            <a:r>
              <a:rPr lang="zh-CN" altLang="en-US" sz="1200" b="0" i="0" kern="1200" dirty="0">
                <a:solidFill>
                  <a:schemeClr val="tx1"/>
                </a:solidFill>
                <a:effectLst/>
                <a:latin typeface="Times New Roman" pitchFamily="18" charset="0"/>
                <a:ea typeface="宋体" pitchFamily="2" charset="-122"/>
                <a:cs typeface="+mn-cs"/>
              </a:rPr>
              <a:t>。</a:t>
            </a:r>
            <a:endParaRPr lang="en-US" altLang="zh-CN" sz="1200" b="0" i="0" kern="1200" dirty="0">
              <a:solidFill>
                <a:schemeClr val="tx1"/>
              </a:solidFill>
              <a:effectLst/>
              <a:latin typeface="Times New Roman" pitchFamily="18" charset="0"/>
              <a:ea typeface="宋体" pitchFamily="2" charset="-122"/>
              <a:cs typeface="+mn-cs"/>
            </a:endParaRPr>
          </a:p>
          <a:p>
            <a:endParaRPr lang="en-US" altLang="zh-CN"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dirty="0">
                <a:solidFill>
                  <a:srgbClr val="333333"/>
                </a:solidFill>
                <a:latin typeface="PingFang SC"/>
              </a:rPr>
              <a:t>无法在有限步骤内被解决的问题</a:t>
            </a:r>
            <a:r>
              <a:rPr lang="zh-CN" altLang="en-US" dirty="0">
                <a:solidFill>
                  <a:srgbClr val="333333"/>
                </a:solidFill>
                <a:latin typeface="PingFang SC"/>
              </a:rPr>
              <a:t>‌：这类问题由于其本质特性，无法被任何算法在有限步骤内解决。例如，停机问题就是最著名的不可计算问题之一，它指的是给定一个任意程序和输入，无法判断该程序在运行结束时会停机还是无限循环‌</a:t>
            </a:r>
            <a:endParaRPr lang="en-US" altLang="zh-CN" dirty="0">
              <a:solidFill>
                <a:srgbClr val="333333"/>
              </a:solidFill>
              <a:latin typeface="PingFang SC"/>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solidFill>
                <a:srgbClr val="333333"/>
              </a:solidFill>
              <a:latin typeface="PingFang SC"/>
            </a:endParaRPr>
          </a:p>
          <a:p>
            <a:r>
              <a:rPr lang="zh-CN" altLang="en-US" sz="1200" b="0" i="0" kern="1200" dirty="0">
                <a:solidFill>
                  <a:schemeClr val="tx1"/>
                </a:solidFill>
                <a:effectLst/>
                <a:latin typeface="Times New Roman" pitchFamily="18" charset="0"/>
                <a:ea typeface="宋体" pitchFamily="2" charset="-122"/>
                <a:cs typeface="+mn-cs"/>
              </a:rPr>
              <a:t>这个问题本身是</a:t>
            </a:r>
            <a:r>
              <a:rPr lang="zh-CN" altLang="en-US" sz="1200" b="1" i="0" kern="1200" dirty="0">
                <a:solidFill>
                  <a:schemeClr val="tx1"/>
                </a:solidFill>
                <a:effectLst/>
                <a:latin typeface="Times New Roman" pitchFamily="18" charset="0"/>
                <a:ea typeface="宋体" pitchFamily="2" charset="-122"/>
                <a:cs typeface="+mn-cs"/>
              </a:rPr>
              <a:t>可判定</a:t>
            </a:r>
            <a:r>
              <a:rPr lang="zh-CN" altLang="en-US" sz="1200" b="0" i="0" kern="1200" dirty="0">
                <a:solidFill>
                  <a:schemeClr val="tx1"/>
                </a:solidFill>
                <a:effectLst/>
                <a:latin typeface="Times New Roman" pitchFamily="18" charset="0"/>
                <a:ea typeface="宋体" pitchFamily="2" charset="-122"/>
                <a:cs typeface="+mn-cs"/>
              </a:rPr>
              <a:t>的（要么有解，要么无解）</a:t>
            </a:r>
          </a:p>
          <a:p>
            <a:r>
              <a:rPr lang="zh-CN" altLang="en-US" sz="1200" b="0" i="0" kern="1200" dirty="0">
                <a:solidFill>
                  <a:schemeClr val="tx1"/>
                </a:solidFill>
                <a:effectLst/>
                <a:latin typeface="Times New Roman" pitchFamily="18" charset="0"/>
                <a:ea typeface="宋体" pitchFamily="2" charset="-122"/>
                <a:cs typeface="+mn-cs"/>
              </a:rPr>
              <a:t>但花了</a:t>
            </a:r>
            <a:r>
              <a:rPr lang="en-US" altLang="zh-CN" sz="1200" b="1" i="0" kern="1200" dirty="0">
                <a:solidFill>
                  <a:schemeClr val="tx1"/>
                </a:solidFill>
                <a:effectLst/>
                <a:latin typeface="Times New Roman" pitchFamily="18" charset="0"/>
                <a:ea typeface="宋体" pitchFamily="2" charset="-122"/>
                <a:cs typeface="+mn-cs"/>
              </a:rPr>
              <a:t>300</a:t>
            </a:r>
            <a:r>
              <a:rPr lang="zh-CN" altLang="en-US" sz="1200" b="1" i="0" kern="1200" dirty="0">
                <a:solidFill>
                  <a:schemeClr val="tx1"/>
                </a:solidFill>
                <a:effectLst/>
                <a:latin typeface="Times New Roman" pitchFamily="18" charset="0"/>
                <a:ea typeface="宋体" pitchFamily="2" charset="-122"/>
                <a:cs typeface="+mn-cs"/>
              </a:rPr>
              <a:t>多年</a:t>
            </a:r>
            <a:r>
              <a:rPr lang="zh-CN" altLang="en-US" sz="1200" b="0" i="0" kern="1200" dirty="0">
                <a:solidFill>
                  <a:schemeClr val="tx1"/>
                </a:solidFill>
                <a:effectLst/>
                <a:latin typeface="Times New Roman" pitchFamily="18" charset="0"/>
                <a:ea typeface="宋体" pitchFamily="2" charset="-122"/>
                <a:cs typeface="+mn-cs"/>
              </a:rPr>
              <a:t>才找到证明</a:t>
            </a:r>
          </a:p>
          <a:p>
            <a:r>
              <a:rPr lang="zh-CN" altLang="en-US" sz="1200" b="0" i="0" kern="1200" dirty="0">
                <a:solidFill>
                  <a:schemeClr val="tx1"/>
                </a:solidFill>
                <a:effectLst/>
                <a:latin typeface="Times New Roman" pitchFamily="18" charset="0"/>
                <a:ea typeface="宋体" pitchFamily="2" charset="-122"/>
                <a:cs typeface="+mn-cs"/>
              </a:rPr>
              <a:t>这说明：</a:t>
            </a:r>
            <a:r>
              <a:rPr lang="zh-CN" altLang="en-US" sz="1200" b="1" i="0" kern="1200" dirty="0">
                <a:solidFill>
                  <a:schemeClr val="tx1"/>
                </a:solidFill>
                <a:effectLst/>
                <a:latin typeface="Times New Roman" pitchFamily="18" charset="0"/>
                <a:ea typeface="宋体" pitchFamily="2" charset="-122"/>
                <a:cs typeface="+mn-cs"/>
              </a:rPr>
              <a:t>有些问题虽然理论上可解，但需要极长时间</a:t>
            </a:r>
            <a:endParaRPr lang="zh-CN" altLang="en-US" sz="1200" b="0" i="0" kern="1200" dirty="0">
              <a:solidFill>
                <a:schemeClr val="tx1"/>
              </a:solidFill>
              <a:effectLst/>
              <a:latin typeface="Times New Roman" pitchFamily="18" charset="0"/>
              <a:ea typeface="宋体"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solidFill>
                  <a:srgbClr val="333333"/>
                </a:solidFill>
                <a:latin typeface="PingFang SC"/>
              </a:rPr>
              <a:t/>
            </a:r>
            <a:br>
              <a:rPr lang="zh-CN" altLang="en-US" dirty="0">
                <a:solidFill>
                  <a:srgbClr val="333333"/>
                </a:solidFill>
                <a:latin typeface="PingFang SC"/>
              </a:rPr>
            </a:b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FC8AECDA-B852-4CA6-98F9-FDA299AD4FD3}" type="slidenum">
              <a:rPr lang="zh-CN" altLang="en-US" smtClean="0"/>
              <a:t>74</a:t>
            </a:fld>
            <a:endParaRPr lang="zh-CN" altLang="en-US"/>
          </a:p>
        </p:txBody>
      </p:sp>
    </p:spTree>
    <p:extLst>
      <p:ext uri="{BB962C8B-B14F-4D97-AF65-F5344CB8AC3E}">
        <p14:creationId xmlns:p14="http://schemas.microsoft.com/office/powerpoint/2010/main" val="854798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itchFamily="18" charset="0"/>
                <a:ea typeface="宋体" pitchFamily="2" charset="-122"/>
                <a:cs typeface="+mn-cs"/>
              </a:rPr>
              <a:t>如停机问题，它指的是给定一个任意程序和输入，判断该程序在运行结束时会停机还是无限循环的问题。阿兰</a:t>
            </a:r>
            <a:r>
              <a:rPr lang="en-US" altLang="zh-CN" sz="1200" b="0" i="0" kern="1200" dirty="0">
                <a:solidFill>
                  <a:schemeClr val="tx1"/>
                </a:solidFill>
                <a:effectLst/>
                <a:latin typeface="Times New Roman" pitchFamily="18" charset="0"/>
                <a:ea typeface="宋体" pitchFamily="2" charset="-122"/>
                <a:cs typeface="+mn-cs"/>
              </a:rPr>
              <a:t>·</a:t>
            </a:r>
            <a:r>
              <a:rPr lang="zh-CN" altLang="en-US" sz="1200" b="0" i="0" kern="1200" dirty="0">
                <a:solidFill>
                  <a:schemeClr val="tx1"/>
                </a:solidFill>
                <a:effectLst/>
                <a:latin typeface="Times New Roman" pitchFamily="18" charset="0"/>
                <a:ea typeface="宋体" pitchFamily="2" charset="-122"/>
                <a:cs typeface="+mn-cs"/>
              </a:rPr>
              <a:t>图灵证明了这个问题无法通过任何算法解决，因此它是不可计算的，即确实无解‌</a:t>
            </a:r>
            <a:br>
              <a:rPr lang="zh-CN" altLang="en-US" sz="1200" b="0" i="0" kern="1200" dirty="0">
                <a:solidFill>
                  <a:schemeClr val="tx1"/>
                </a:solidFill>
                <a:effectLst/>
                <a:latin typeface="Times New Roman" pitchFamily="18" charset="0"/>
                <a:ea typeface="宋体" pitchFamily="2" charset="-122"/>
                <a:cs typeface="+mn-cs"/>
              </a:rPr>
            </a:br>
            <a:endParaRPr lang="en-US" altLang="zh-CN" dirty="0"/>
          </a:p>
          <a:p>
            <a:endParaRPr lang="en-US" altLang="zh-CN" dirty="0"/>
          </a:p>
          <a:p>
            <a:r>
              <a:rPr lang="zh-CN" altLang="en-US" dirty="0"/>
              <a:t>悖论：我正在说谎。如果我是正在说谎，那么说明这句话是事实，我没有说谎；如果我没有说谎，说明我正在说谎是在说谎。无法判定</a:t>
            </a:r>
            <a:endParaRPr lang="en-US" altLang="zh-CN" dirty="0"/>
          </a:p>
          <a:p>
            <a:endParaRPr lang="en-US" altLang="zh-CN" dirty="0"/>
          </a:p>
          <a:p>
            <a:r>
              <a:rPr lang="en-US" altLang="zh-CN" dirty="0"/>
              <a:t>1</a:t>
            </a:r>
            <a:r>
              <a:rPr lang="zh-CN" altLang="en-US" dirty="0"/>
              <a:t>张</a:t>
            </a:r>
            <a:r>
              <a:rPr lang="en-US" altLang="zh-CN" dirty="0"/>
              <a:t>0.1</a:t>
            </a:r>
            <a:r>
              <a:rPr lang="zh-CN" altLang="en-US" dirty="0"/>
              <a:t>毫米的纸，对折一次厚度</a:t>
            </a:r>
            <a:r>
              <a:rPr lang="en-US" altLang="zh-CN" dirty="0"/>
              <a:t>0.2</a:t>
            </a:r>
            <a:r>
              <a:rPr lang="zh-CN" altLang="en-US" dirty="0"/>
              <a:t>毫米，对折</a:t>
            </a:r>
            <a:r>
              <a:rPr lang="en-US" altLang="zh-CN" dirty="0"/>
              <a:t>14</a:t>
            </a:r>
            <a:r>
              <a:rPr lang="zh-CN" altLang="en-US" dirty="0"/>
              <a:t>次</a:t>
            </a:r>
            <a:r>
              <a:rPr lang="en-US" altLang="zh-CN" dirty="0"/>
              <a:t>2^14*0.1</a:t>
            </a:r>
            <a:r>
              <a:rPr lang="zh-CN" altLang="en-US" dirty="0"/>
              <a:t>约等于</a:t>
            </a:r>
            <a:r>
              <a:rPr lang="en-US" altLang="zh-CN" dirty="0"/>
              <a:t>1.6</a:t>
            </a:r>
            <a:r>
              <a:rPr lang="zh-CN" altLang="en-US" dirty="0"/>
              <a:t>米，对折</a:t>
            </a:r>
            <a:r>
              <a:rPr lang="en-US" altLang="zh-CN" dirty="0"/>
              <a:t>27</a:t>
            </a:r>
            <a:r>
              <a:rPr lang="zh-CN" altLang="en-US" dirty="0"/>
              <a:t>超过了珠穆朗玛峰，对折</a:t>
            </a:r>
            <a:r>
              <a:rPr lang="en-US" altLang="zh-CN" dirty="0"/>
              <a:t>42</a:t>
            </a:r>
            <a:r>
              <a:rPr lang="zh-CN" altLang="en-US" dirty="0"/>
              <a:t>次超过了地球和月球的距离，对折</a:t>
            </a:r>
            <a:r>
              <a:rPr lang="en-US" altLang="zh-CN" dirty="0"/>
              <a:t>103</a:t>
            </a:r>
            <a:r>
              <a:rPr lang="zh-CN" altLang="en-US" dirty="0"/>
              <a:t>次，厚度达到</a:t>
            </a:r>
            <a:r>
              <a:rPr lang="en-US" altLang="zh-CN" dirty="0"/>
              <a:t>1070</a:t>
            </a:r>
            <a:r>
              <a:rPr lang="zh-CN" altLang="en-US" dirty="0"/>
              <a:t>亿光年，超出了宇宙的大小。</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25632DA0-60EF-406C-B5ED-472D5BCC4F1A}" type="slidenum">
              <a:rPr lang="zh-CN" altLang="en-US" smtClean="0"/>
              <a:pPr>
                <a:defRPr/>
              </a:pPr>
              <a:t>76</a:t>
            </a:fld>
            <a:endParaRPr lang="en-US" altLang="zh-CN"/>
          </a:p>
        </p:txBody>
      </p:sp>
    </p:spTree>
    <p:extLst>
      <p:ext uri="{BB962C8B-B14F-4D97-AF65-F5344CB8AC3E}">
        <p14:creationId xmlns:p14="http://schemas.microsoft.com/office/powerpoint/2010/main" val="2150402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F4AB51E0-D8B4-DD4A-EE7A-DF926A07B25A}"/>
              </a:ext>
            </a:extLst>
          </p:cNvPr>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Line 8">
            <a:extLst>
              <a:ext uri="{FF2B5EF4-FFF2-40B4-BE49-F238E27FC236}">
                <a16:creationId xmlns:a16="http://schemas.microsoft.com/office/drawing/2014/main" id="{795781D7-2009-847F-3068-9D2BD205582D}"/>
              </a:ext>
            </a:extLst>
          </p:cNvPr>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6114" name="Rectangle 2"/>
          <p:cNvSpPr>
            <a:spLocks noGrp="1" noChangeArrowheads="1"/>
          </p:cNvSpPr>
          <p:nvPr>
            <p:ph type="ctrTitle"/>
          </p:nvPr>
        </p:nvSpPr>
        <p:spPr>
          <a:xfrm>
            <a:off x="914400" y="1524000"/>
            <a:ext cx="7623175" cy="1752600"/>
          </a:xfrm>
        </p:spPr>
        <p:txBody>
          <a:bodyPr/>
          <a:lstStyle>
            <a:lvl1pPr>
              <a:defRPr sz="5000"/>
            </a:lvl1pPr>
          </a:lstStyle>
          <a:p>
            <a:r>
              <a:rPr lang="en-US" altLang="zh-CN"/>
              <a:t>单击此处编辑母版标题样式</a:t>
            </a:r>
          </a:p>
        </p:txBody>
      </p:sp>
      <p:sp>
        <p:nvSpPr>
          <p:cNvPr id="34611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zh-CN"/>
              <a:t>单击此处编辑母版副标题样式</a:t>
            </a:r>
          </a:p>
        </p:txBody>
      </p:sp>
      <p:sp>
        <p:nvSpPr>
          <p:cNvPr id="4" name="Rectangle 4">
            <a:extLst>
              <a:ext uri="{FF2B5EF4-FFF2-40B4-BE49-F238E27FC236}">
                <a16:creationId xmlns:a16="http://schemas.microsoft.com/office/drawing/2014/main" id="{474D2B74-AF84-4B62-2D80-63DDED675F47}"/>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0A5B1FC-48C1-84B2-787C-F2743BF23724}"/>
              </a:ext>
            </a:extLst>
          </p:cNvPr>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C6C905-CBBA-2F74-4978-7BFCF8199120}"/>
              </a:ext>
            </a:extLst>
          </p:cNvPr>
          <p:cNvSpPr>
            <a:spLocks noGrp="1" noChangeArrowheads="1"/>
          </p:cNvSpPr>
          <p:nvPr>
            <p:ph type="sldNum" sz="quarter" idx="12"/>
          </p:nvPr>
        </p:nvSpPr>
        <p:spPr/>
        <p:txBody>
          <a:bodyPr/>
          <a:lstStyle>
            <a:lvl1pPr>
              <a:defRPr smtClean="0"/>
            </a:lvl1pPr>
          </a:lstStyle>
          <a:p>
            <a:pPr>
              <a:defRPr/>
            </a:pPr>
            <a:fld id="{8C782734-B145-4376-9F0E-E5A541603F1B}" type="slidenum">
              <a:rPr lang="en-US" altLang="zh-CN"/>
              <a:pPr>
                <a:defRPr/>
              </a:pPr>
              <a:t>‹#›</a:t>
            </a:fld>
            <a:endParaRPr lang="en-US" altLang="zh-CN"/>
          </a:p>
        </p:txBody>
      </p:sp>
    </p:spTree>
    <p:extLst>
      <p:ext uri="{BB962C8B-B14F-4D97-AF65-F5344CB8AC3E}">
        <p14:creationId xmlns:p14="http://schemas.microsoft.com/office/powerpoint/2010/main" val="3529750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solidFill>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15CDF400-A260-A04E-2B1A-4A715A0F235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00E65FD-C079-1469-73FD-45D6EF46B2C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6CEFC10-B99F-E7F8-D19A-9A1E2126E134}"/>
              </a:ext>
            </a:extLst>
          </p:cNvPr>
          <p:cNvSpPr>
            <a:spLocks noGrp="1" noChangeArrowheads="1"/>
          </p:cNvSpPr>
          <p:nvPr>
            <p:ph type="sldNum" sz="quarter" idx="12"/>
          </p:nvPr>
        </p:nvSpPr>
        <p:spPr>
          <a:ln/>
        </p:spPr>
        <p:txBody>
          <a:bodyPr/>
          <a:lstStyle>
            <a:lvl1pPr>
              <a:defRPr/>
            </a:lvl1pPr>
          </a:lstStyle>
          <a:p>
            <a:pPr>
              <a:defRPr/>
            </a:pPr>
            <a:fld id="{927C07CA-9D7C-4A8B-8607-4F63859ACA51}" type="slidenum">
              <a:rPr lang="en-US" altLang="zh-CN"/>
              <a:pPr>
                <a:defRPr/>
              </a:pPr>
              <a:t>‹#›</a:t>
            </a:fld>
            <a:endParaRPr lang="en-US" altLang="zh-CN"/>
          </a:p>
        </p:txBody>
      </p:sp>
    </p:spTree>
    <p:extLst>
      <p:ext uri="{BB962C8B-B14F-4D97-AF65-F5344CB8AC3E}">
        <p14:creationId xmlns:p14="http://schemas.microsoft.com/office/powerpoint/2010/main" val="1761755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3829772F-C74D-DA6E-08C9-8E51C366167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F7DF0AF-F8D4-CCCE-BCF6-3EEF376857F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A8ECA55-25E4-E7FC-66AB-B6FC977D2658}"/>
              </a:ext>
            </a:extLst>
          </p:cNvPr>
          <p:cNvSpPr>
            <a:spLocks noGrp="1" noChangeArrowheads="1"/>
          </p:cNvSpPr>
          <p:nvPr>
            <p:ph type="sldNum" sz="quarter" idx="12"/>
          </p:nvPr>
        </p:nvSpPr>
        <p:spPr>
          <a:ln/>
        </p:spPr>
        <p:txBody>
          <a:bodyPr/>
          <a:lstStyle>
            <a:lvl1pPr>
              <a:defRPr/>
            </a:lvl1pPr>
          </a:lstStyle>
          <a:p>
            <a:pPr>
              <a:defRPr/>
            </a:pPr>
            <a:fld id="{10148737-3F43-4501-BDEC-D4A8CCFA6689}" type="slidenum">
              <a:rPr lang="en-US" altLang="zh-CN"/>
              <a:pPr>
                <a:defRPr/>
              </a:pPr>
              <a:t>‹#›</a:t>
            </a:fld>
            <a:endParaRPr lang="en-US" altLang="zh-CN"/>
          </a:p>
        </p:txBody>
      </p:sp>
    </p:spTree>
    <p:extLst>
      <p:ext uri="{BB962C8B-B14F-4D97-AF65-F5344CB8AC3E}">
        <p14:creationId xmlns:p14="http://schemas.microsoft.com/office/powerpoint/2010/main" val="1476155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solidFill>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4746799-CE13-DECD-3AE4-35EAA166339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FBB54DA-08F3-FF31-25F5-7FF65205F5D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1A8B257-281E-0DC0-6748-35643EC71B7E}"/>
              </a:ext>
            </a:extLst>
          </p:cNvPr>
          <p:cNvSpPr>
            <a:spLocks noGrp="1" noChangeArrowheads="1"/>
          </p:cNvSpPr>
          <p:nvPr>
            <p:ph type="sldNum" sz="quarter" idx="12"/>
          </p:nvPr>
        </p:nvSpPr>
        <p:spPr>
          <a:ln/>
        </p:spPr>
        <p:txBody>
          <a:bodyPr/>
          <a:lstStyle>
            <a:lvl1pPr>
              <a:defRPr/>
            </a:lvl1pPr>
          </a:lstStyle>
          <a:p>
            <a:pPr>
              <a:defRPr/>
            </a:pPr>
            <a:fld id="{5219A859-179D-4ACA-B3EB-675FA2D70FFD}" type="slidenum">
              <a:rPr lang="en-US" altLang="zh-CN"/>
              <a:pPr>
                <a:defRPr/>
              </a:pPr>
              <a:t>‹#›</a:t>
            </a:fld>
            <a:endParaRPr lang="en-US" altLang="zh-CN"/>
          </a:p>
        </p:txBody>
      </p:sp>
    </p:spTree>
    <p:extLst>
      <p:ext uri="{BB962C8B-B14F-4D97-AF65-F5344CB8AC3E}">
        <p14:creationId xmlns:p14="http://schemas.microsoft.com/office/powerpoint/2010/main" val="1092225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solidFill>
                  <a:schemeClr val="tx1"/>
                </a:solidFill>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9779E907-32CB-BB8D-6E9B-21CD699DC7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785EB49B-CD60-B21E-8D71-E15F1D8C3CE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595B398-2F25-FFC5-FC5B-EFB6AA8319C8}"/>
              </a:ext>
            </a:extLst>
          </p:cNvPr>
          <p:cNvSpPr>
            <a:spLocks noGrp="1" noChangeArrowheads="1"/>
          </p:cNvSpPr>
          <p:nvPr>
            <p:ph type="sldNum" sz="quarter" idx="12"/>
          </p:nvPr>
        </p:nvSpPr>
        <p:spPr>
          <a:ln/>
        </p:spPr>
        <p:txBody>
          <a:bodyPr/>
          <a:lstStyle>
            <a:lvl1pPr>
              <a:defRPr/>
            </a:lvl1pPr>
          </a:lstStyle>
          <a:p>
            <a:pPr>
              <a:defRPr/>
            </a:pPr>
            <a:fld id="{0A2AB017-F28C-4A78-84C5-E54DDE60BDC8}" type="slidenum">
              <a:rPr lang="en-US" altLang="zh-CN"/>
              <a:pPr>
                <a:defRPr/>
              </a:pPr>
              <a:t>‹#›</a:t>
            </a:fld>
            <a:endParaRPr lang="en-US" altLang="zh-CN"/>
          </a:p>
        </p:txBody>
      </p:sp>
    </p:spTree>
    <p:extLst>
      <p:ext uri="{BB962C8B-B14F-4D97-AF65-F5344CB8AC3E}">
        <p14:creationId xmlns:p14="http://schemas.microsoft.com/office/powerpoint/2010/main" val="2971343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chemeClr val="tx1"/>
                </a:solidFill>
              </a:defRPr>
            </a:lvl1pPr>
          </a:lstStyle>
          <a:p>
            <a:r>
              <a:rPr lang="zh-CN" altLang="en-US" dirty="0"/>
              <a:t>单击此处编辑母版标题样式</a:t>
            </a:r>
          </a:p>
        </p:txBody>
      </p:sp>
      <p:sp>
        <p:nvSpPr>
          <p:cNvPr id="3" name="Rectangle 4">
            <a:extLst>
              <a:ext uri="{FF2B5EF4-FFF2-40B4-BE49-F238E27FC236}">
                <a16:creationId xmlns:a16="http://schemas.microsoft.com/office/drawing/2014/main" id="{AFE41D58-325F-C8D7-FBC7-35E9234FEFD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B3B62611-62DA-101E-1263-80057E6266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24A7FEB-51BD-5C48-D812-7C741405EA0C}"/>
              </a:ext>
            </a:extLst>
          </p:cNvPr>
          <p:cNvSpPr>
            <a:spLocks noGrp="1" noChangeArrowheads="1"/>
          </p:cNvSpPr>
          <p:nvPr>
            <p:ph type="sldNum" sz="quarter" idx="12"/>
          </p:nvPr>
        </p:nvSpPr>
        <p:spPr>
          <a:ln/>
        </p:spPr>
        <p:txBody>
          <a:bodyPr/>
          <a:lstStyle>
            <a:lvl1pPr>
              <a:defRPr/>
            </a:lvl1pPr>
          </a:lstStyle>
          <a:p>
            <a:pPr>
              <a:defRPr/>
            </a:pPr>
            <a:fld id="{008C0DE4-5E88-4BF4-8869-14E1B53A5914}" type="slidenum">
              <a:rPr lang="en-US" altLang="zh-CN"/>
              <a:pPr>
                <a:defRPr/>
              </a:pPr>
              <a:t>‹#›</a:t>
            </a:fld>
            <a:endParaRPr lang="en-US" altLang="zh-CN"/>
          </a:p>
        </p:txBody>
      </p:sp>
    </p:spTree>
    <p:extLst>
      <p:ext uri="{BB962C8B-B14F-4D97-AF65-F5344CB8AC3E}">
        <p14:creationId xmlns:p14="http://schemas.microsoft.com/office/powerpoint/2010/main" val="151928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5721D7F-C7F5-81E7-5247-8DE2B96168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864E7219-0F21-14A6-9993-DC3E5E372CD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E60FBD6C-1933-66FC-49FF-9FA0F2310F62}"/>
              </a:ext>
            </a:extLst>
          </p:cNvPr>
          <p:cNvSpPr>
            <a:spLocks noGrp="1" noChangeArrowheads="1"/>
          </p:cNvSpPr>
          <p:nvPr>
            <p:ph type="sldNum" sz="quarter" idx="12"/>
          </p:nvPr>
        </p:nvSpPr>
        <p:spPr>
          <a:ln/>
        </p:spPr>
        <p:txBody>
          <a:bodyPr/>
          <a:lstStyle>
            <a:lvl1pPr>
              <a:defRPr/>
            </a:lvl1pPr>
          </a:lstStyle>
          <a:p>
            <a:pPr>
              <a:defRPr/>
            </a:pPr>
            <a:fld id="{1BB23201-BBDC-4A3A-9D8C-BD99DFAAD110}" type="slidenum">
              <a:rPr lang="en-US" altLang="zh-CN"/>
              <a:pPr>
                <a:defRPr/>
              </a:pPr>
              <a:t>‹#›</a:t>
            </a:fld>
            <a:endParaRPr lang="en-US" altLang="zh-CN"/>
          </a:p>
        </p:txBody>
      </p:sp>
    </p:spTree>
    <p:extLst>
      <p:ext uri="{BB962C8B-B14F-4D97-AF65-F5344CB8AC3E}">
        <p14:creationId xmlns:p14="http://schemas.microsoft.com/office/powerpoint/2010/main" val="3354436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6DE75536-D8AE-D6BF-3815-D833B871510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A963A68-4CEF-79BC-BF74-742378F0E7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7E21FFA-34B7-5CCB-6B3C-B0C7382CB6CC}"/>
              </a:ext>
            </a:extLst>
          </p:cNvPr>
          <p:cNvSpPr>
            <a:spLocks noGrp="1" noChangeArrowheads="1"/>
          </p:cNvSpPr>
          <p:nvPr>
            <p:ph type="sldNum" sz="quarter" idx="12"/>
          </p:nvPr>
        </p:nvSpPr>
        <p:spPr>
          <a:ln/>
        </p:spPr>
        <p:txBody>
          <a:bodyPr/>
          <a:lstStyle>
            <a:lvl1pPr>
              <a:defRPr/>
            </a:lvl1pPr>
          </a:lstStyle>
          <a:p>
            <a:pPr>
              <a:defRPr/>
            </a:pPr>
            <a:fld id="{843B93E4-2B83-432E-8B46-B18D639AFDD9}" type="slidenum">
              <a:rPr lang="en-US" altLang="zh-CN"/>
              <a:pPr>
                <a:defRPr/>
              </a:pPr>
              <a:t>‹#›</a:t>
            </a:fld>
            <a:endParaRPr lang="en-US" altLang="zh-CN"/>
          </a:p>
        </p:txBody>
      </p:sp>
    </p:spTree>
    <p:extLst>
      <p:ext uri="{BB962C8B-B14F-4D97-AF65-F5344CB8AC3E}">
        <p14:creationId xmlns:p14="http://schemas.microsoft.com/office/powerpoint/2010/main" val="2646394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4CB0E9A-18CA-9CE0-5303-6EBA6846AA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A4BF1D75-A6B5-454D-8BDE-101A237FA23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837784F-AE47-F312-9A9A-24E07C208D5C}"/>
              </a:ext>
            </a:extLst>
          </p:cNvPr>
          <p:cNvSpPr>
            <a:spLocks noGrp="1" noChangeArrowheads="1"/>
          </p:cNvSpPr>
          <p:nvPr>
            <p:ph type="sldNum" sz="quarter" idx="12"/>
          </p:nvPr>
        </p:nvSpPr>
        <p:spPr>
          <a:ln/>
        </p:spPr>
        <p:txBody>
          <a:bodyPr/>
          <a:lstStyle>
            <a:lvl1pPr>
              <a:defRPr/>
            </a:lvl1pPr>
          </a:lstStyle>
          <a:p>
            <a:pPr>
              <a:defRPr/>
            </a:pPr>
            <a:fld id="{0C11E0FC-325A-4CA3-BB79-0A02BC5F3042}" type="slidenum">
              <a:rPr lang="en-US" altLang="zh-CN"/>
              <a:pPr>
                <a:defRPr/>
              </a:pPr>
              <a:t>‹#›</a:t>
            </a:fld>
            <a:endParaRPr lang="en-US" altLang="zh-CN"/>
          </a:p>
        </p:txBody>
      </p:sp>
    </p:spTree>
    <p:extLst>
      <p:ext uri="{BB962C8B-B14F-4D97-AF65-F5344CB8AC3E}">
        <p14:creationId xmlns:p14="http://schemas.microsoft.com/office/powerpoint/2010/main" val="2456809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57F8C65-774A-54D8-D2FD-D6187ADBCC5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2922771-43D5-617D-EA5F-B1C9CB6740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A1467DE-3922-930A-1E61-EA5044B4EA51}"/>
              </a:ext>
            </a:extLst>
          </p:cNvPr>
          <p:cNvSpPr>
            <a:spLocks noGrp="1" noChangeArrowheads="1"/>
          </p:cNvSpPr>
          <p:nvPr>
            <p:ph type="sldNum" sz="quarter" idx="12"/>
          </p:nvPr>
        </p:nvSpPr>
        <p:spPr>
          <a:ln/>
        </p:spPr>
        <p:txBody>
          <a:bodyPr/>
          <a:lstStyle>
            <a:lvl1pPr>
              <a:defRPr/>
            </a:lvl1pPr>
          </a:lstStyle>
          <a:p>
            <a:pPr>
              <a:defRPr/>
            </a:pPr>
            <a:fld id="{868E1BEB-C101-4EA9-84FF-8E23B82B9124}" type="slidenum">
              <a:rPr lang="en-US" altLang="zh-CN"/>
              <a:pPr>
                <a:defRPr/>
              </a:pPr>
              <a:t>‹#›</a:t>
            </a:fld>
            <a:endParaRPr lang="en-US" altLang="zh-CN"/>
          </a:p>
        </p:txBody>
      </p:sp>
    </p:spTree>
    <p:extLst>
      <p:ext uri="{BB962C8B-B14F-4D97-AF65-F5344CB8AC3E}">
        <p14:creationId xmlns:p14="http://schemas.microsoft.com/office/powerpoint/2010/main" val="1609140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BFC7628-FE90-EBCB-8042-28022F7068A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A3E94B3-289A-BC84-1A4C-EDAABE6193C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F5F2E97-E82C-6BBA-76B3-CEDE05C6ADB6}"/>
              </a:ext>
            </a:extLst>
          </p:cNvPr>
          <p:cNvSpPr>
            <a:spLocks noGrp="1" noChangeArrowheads="1"/>
          </p:cNvSpPr>
          <p:nvPr>
            <p:ph type="sldNum" sz="quarter" idx="12"/>
          </p:nvPr>
        </p:nvSpPr>
        <p:spPr>
          <a:ln/>
        </p:spPr>
        <p:txBody>
          <a:bodyPr/>
          <a:lstStyle>
            <a:lvl1pPr>
              <a:defRPr/>
            </a:lvl1pPr>
          </a:lstStyle>
          <a:p>
            <a:pPr>
              <a:defRPr/>
            </a:pPr>
            <a:fld id="{78C608AB-F728-4A45-AA86-4ED7EF528832}" type="slidenum">
              <a:rPr lang="en-US" altLang="zh-CN"/>
              <a:pPr>
                <a:defRPr/>
              </a:pPr>
              <a:t>‹#›</a:t>
            </a:fld>
            <a:endParaRPr lang="en-US" altLang="zh-CN"/>
          </a:p>
        </p:txBody>
      </p:sp>
    </p:spTree>
    <p:extLst>
      <p:ext uri="{BB962C8B-B14F-4D97-AF65-F5344CB8AC3E}">
        <p14:creationId xmlns:p14="http://schemas.microsoft.com/office/powerpoint/2010/main" val="228032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lvl1pPr>
              <a:defRPr>
                <a:solidFill>
                  <a:schemeClr val="tx1"/>
                </a:solidFill>
              </a:defRPr>
            </a:lvl1pPr>
          </a:lstStyle>
          <a:p>
            <a:r>
              <a:rPr lang="zh-CN" altLang="en-US" dirty="0"/>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AB16CBE-53E3-67C5-851B-E3FBD0CC51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BDD729A-6996-EA12-714C-456F1AE140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950DE61-C06A-2A1E-CE7D-C704AB5E5E02}"/>
              </a:ext>
            </a:extLst>
          </p:cNvPr>
          <p:cNvSpPr>
            <a:spLocks noGrp="1" noChangeArrowheads="1"/>
          </p:cNvSpPr>
          <p:nvPr>
            <p:ph type="sldNum" sz="quarter" idx="12"/>
          </p:nvPr>
        </p:nvSpPr>
        <p:spPr>
          <a:ln/>
        </p:spPr>
        <p:txBody>
          <a:bodyPr/>
          <a:lstStyle>
            <a:lvl1pPr>
              <a:defRPr/>
            </a:lvl1pPr>
          </a:lstStyle>
          <a:p>
            <a:pPr>
              <a:defRPr/>
            </a:pPr>
            <a:fld id="{618E0774-2DAB-4B59-BCCB-062A61D1EE0A}" type="slidenum">
              <a:rPr lang="en-US" altLang="zh-CN"/>
              <a:pPr>
                <a:defRPr/>
              </a:pPr>
              <a:t>‹#›</a:t>
            </a:fld>
            <a:endParaRPr lang="en-US" altLang="zh-CN"/>
          </a:p>
        </p:txBody>
      </p:sp>
    </p:spTree>
    <p:extLst>
      <p:ext uri="{BB962C8B-B14F-4D97-AF65-F5344CB8AC3E}">
        <p14:creationId xmlns:p14="http://schemas.microsoft.com/office/powerpoint/2010/main" val="3359211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83797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一">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409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9E05ED3-37EF-70B0-E2FC-AA98A1299CBF}"/>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dirty="0" err="1"/>
              <a:t>单击此处编辑母版标题样式</a:t>
            </a:r>
            <a:endParaRPr lang="en-US" altLang="zh-CN" dirty="0"/>
          </a:p>
        </p:txBody>
      </p:sp>
      <p:sp>
        <p:nvSpPr>
          <p:cNvPr id="1027" name="Rectangle 3">
            <a:extLst>
              <a:ext uri="{FF2B5EF4-FFF2-40B4-BE49-F238E27FC236}">
                <a16:creationId xmlns:a16="http://schemas.microsoft.com/office/drawing/2014/main" id="{C61A7FE8-8D60-BAE3-27C5-9AE09461A340}"/>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单击此处编辑母版文本样式</a:t>
            </a:r>
          </a:p>
          <a:p>
            <a:pPr lvl="1"/>
            <a:r>
              <a:rPr lang="en-US" altLang="zh-CN"/>
              <a:t>第二级</a:t>
            </a:r>
          </a:p>
          <a:p>
            <a:pPr lvl="2"/>
            <a:r>
              <a:rPr lang="en-US" altLang="zh-CN"/>
              <a:t>第三级</a:t>
            </a:r>
          </a:p>
          <a:p>
            <a:pPr lvl="3"/>
            <a:r>
              <a:rPr lang="en-US" altLang="zh-CN"/>
              <a:t>第四级</a:t>
            </a:r>
          </a:p>
          <a:p>
            <a:pPr lvl="4"/>
            <a:r>
              <a:rPr lang="en-US" altLang="zh-CN"/>
              <a:t>第五级</a:t>
            </a:r>
          </a:p>
        </p:txBody>
      </p:sp>
      <p:sp>
        <p:nvSpPr>
          <p:cNvPr id="345092" name="Rectangle 4">
            <a:extLst>
              <a:ext uri="{FF2B5EF4-FFF2-40B4-BE49-F238E27FC236}">
                <a16:creationId xmlns:a16="http://schemas.microsoft.com/office/drawing/2014/main" id="{4EDE097A-460C-6208-35A3-5FA1FD1408E2}"/>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SzTx/>
              <a:buFontTx/>
              <a:buNone/>
              <a:defRPr sz="1200">
                <a:solidFill>
                  <a:schemeClr val="tx1"/>
                </a:solidFill>
                <a:latin typeface="+mj-lt"/>
                <a:ea typeface="+mn-ea"/>
                <a:cs typeface="+mn-cs"/>
              </a:defRPr>
            </a:lvl1pPr>
          </a:lstStyle>
          <a:p>
            <a:pPr>
              <a:defRPr/>
            </a:pPr>
            <a:endParaRPr lang="en-US" altLang="zh-CN"/>
          </a:p>
        </p:txBody>
      </p:sp>
      <p:sp>
        <p:nvSpPr>
          <p:cNvPr id="345093" name="Rectangle 5">
            <a:extLst>
              <a:ext uri="{FF2B5EF4-FFF2-40B4-BE49-F238E27FC236}">
                <a16:creationId xmlns:a16="http://schemas.microsoft.com/office/drawing/2014/main" id="{AEFEF7E9-5EF8-FBDF-2449-930CB6E24370}"/>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buClrTx/>
              <a:buSzTx/>
              <a:buFontTx/>
              <a:buNone/>
              <a:defRPr sz="1200">
                <a:solidFill>
                  <a:schemeClr val="tx1"/>
                </a:solidFill>
                <a:latin typeface="+mj-lt"/>
                <a:ea typeface="+mn-ea"/>
                <a:cs typeface="+mn-cs"/>
              </a:defRPr>
            </a:lvl1pPr>
          </a:lstStyle>
          <a:p>
            <a:pPr>
              <a:defRPr/>
            </a:pPr>
            <a:endParaRPr lang="en-US" altLang="zh-CN"/>
          </a:p>
        </p:txBody>
      </p:sp>
      <p:sp>
        <p:nvSpPr>
          <p:cNvPr id="345094" name="Rectangle 6">
            <a:extLst>
              <a:ext uri="{FF2B5EF4-FFF2-40B4-BE49-F238E27FC236}">
                <a16:creationId xmlns:a16="http://schemas.microsoft.com/office/drawing/2014/main" id="{E403A05F-FF5A-4F96-DDB3-53887001D4E7}"/>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solidFill>
                  <a:schemeClr val="tx1"/>
                </a:solidFill>
                <a:latin typeface="Garamond" pitchFamily="18" charset="0"/>
                <a:ea typeface="宋体" panose="02010600030101010101" pitchFamily="2" charset="-122"/>
                <a:cs typeface="Times New Roman" panose="02020603050405020304" pitchFamily="18" charset="0"/>
              </a:defRPr>
            </a:lvl1pPr>
          </a:lstStyle>
          <a:p>
            <a:pPr>
              <a:defRPr/>
            </a:pPr>
            <a:fld id="{33AA4653-5121-4B87-9779-193D567166DD}" type="slidenum">
              <a:rPr lang="en-US" altLang="zh-CN"/>
              <a:pPr>
                <a:defRPr/>
              </a:pPr>
              <a:t>‹#›</a:t>
            </a:fld>
            <a:endParaRPr lang="en-US" altLang="zh-CN"/>
          </a:p>
        </p:txBody>
      </p:sp>
      <p:sp>
        <p:nvSpPr>
          <p:cNvPr id="1031" name="Freeform 7">
            <a:extLst>
              <a:ext uri="{FF2B5EF4-FFF2-40B4-BE49-F238E27FC236}">
                <a16:creationId xmlns:a16="http://schemas.microsoft.com/office/drawing/2014/main" id="{EB4D5795-7E29-C40D-81F4-D11F82795FF8}"/>
              </a:ext>
            </a:extLst>
          </p:cNvPr>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32" name="Line 8">
            <a:extLst>
              <a:ext uri="{FF2B5EF4-FFF2-40B4-BE49-F238E27FC236}">
                <a16:creationId xmlns:a16="http://schemas.microsoft.com/office/drawing/2014/main" id="{BC012531-B610-2524-4D23-56F82319DA09}"/>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197" r:id="rId1"/>
    <p:sldLayoutId id="2147484186" r:id="rId2"/>
    <p:sldLayoutId id="2147484187" r:id="rId3"/>
    <p:sldLayoutId id="2147484188" r:id="rId4"/>
    <p:sldLayoutId id="2147484189" r:id="rId5"/>
    <p:sldLayoutId id="2147484190" r:id="rId6"/>
    <p:sldLayoutId id="2147484191" r:id="rId7"/>
    <p:sldLayoutId id="2147484192" r:id="rId8"/>
    <p:sldLayoutId id="2147484193" r:id="rId9"/>
    <p:sldLayoutId id="2147484194" r:id="rId10"/>
    <p:sldLayoutId id="2147484195" r:id="rId11"/>
    <p:sldLayoutId id="2147484196" r:id="rId12"/>
    <p:sldLayoutId id="2147484198" r:id="rId13"/>
    <p:sldLayoutId id="2147484199" r:id="rId14"/>
  </p:sldLayoutIdLst>
  <p:hf hdr="0" ftr="0" dt="0"/>
  <p:txStyles>
    <p:titleStyle>
      <a:lvl1pPr algn="l" rtl="0" eaLnBrk="0" fontAlgn="base" hangingPunct="0">
        <a:spcBef>
          <a:spcPct val="0"/>
        </a:spcBef>
        <a:spcAft>
          <a:spcPct val="0"/>
        </a:spcAft>
        <a:defRPr sz="4200">
          <a:solidFill>
            <a:schemeClr val="tx1"/>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tiff"/><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jpg"/><Relationship Id="rId7" Type="http://schemas.openxmlformats.org/officeDocument/2006/relationships/image" Target="../media/image17.jp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jpeg"/><Relationship Id="rId2" Type="http://schemas.openxmlformats.org/officeDocument/2006/relationships/image" Target="../media/image19.png"/><Relationship Id="rId16" Type="http://schemas.openxmlformats.org/officeDocument/2006/relationships/image" Target="../media/image33.jpe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jpeg"/><Relationship Id="rId10" Type="http://schemas.openxmlformats.org/officeDocument/2006/relationships/image" Target="../media/image27.png"/><Relationship Id="rId19" Type="http://schemas.openxmlformats.org/officeDocument/2006/relationships/image" Target="../media/image36.jpe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tags" Target="../tags/tag21.xml"/><Relationship Id="rId3" Type="http://schemas.openxmlformats.org/officeDocument/2006/relationships/tags" Target="../tags/tag6.xml"/><Relationship Id="rId21" Type="http://schemas.openxmlformats.org/officeDocument/2006/relationships/tags" Target="../tags/tag24.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image" Target="../media/image42.png"/><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notesSlide" Target="../notesSlides/notesSlide7.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slideLayout" Target="../slideLayouts/slideLayout2.xml"/><Relationship Id="rId10" Type="http://schemas.openxmlformats.org/officeDocument/2006/relationships/tags" Target="../tags/tag13.xml"/><Relationship Id="rId19" Type="http://schemas.openxmlformats.org/officeDocument/2006/relationships/tags" Target="../tags/tag22.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20.png"/></Relationships>
</file>

<file path=ppt/slides/_rels/slide35.xml.rels><?xml version="1.0" encoding="UTF-8" standalone="yes"?>
<Relationships xmlns="http://schemas.openxmlformats.org/package/2006/relationships"><Relationship Id="rId3" Type="http://schemas.openxmlformats.org/officeDocument/2006/relationships/image" Target="../media/image46.tif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tiff"/><Relationship Id="rId4" Type="http://schemas.openxmlformats.org/officeDocument/2006/relationships/image" Target="../media/image47.tiff"/></Relationships>
</file>

<file path=ppt/slides/_rels/slide36.xml.rels><?xml version="1.0" encoding="UTF-8" standalone="yes"?>
<Relationships xmlns="http://schemas.openxmlformats.org/package/2006/relationships"><Relationship Id="rId3" Type="http://schemas.openxmlformats.org/officeDocument/2006/relationships/image" Target="../media/image50.tif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31.png"/><Relationship Id="rId5" Type="http://schemas.openxmlformats.org/officeDocument/2006/relationships/image" Target="../media/image51.png"/><Relationship Id="rId4" Type="http://schemas.openxmlformats.org/officeDocument/2006/relationships/image" Target="../media/image48.tiff"/></Relationships>
</file>

<file path=ppt/slides/_rels/slide37.xml.rels><?xml version="1.0" encoding="UTF-8" standalone="yes"?>
<Relationships xmlns="http://schemas.openxmlformats.org/package/2006/relationships"><Relationship Id="rId8" Type="http://schemas.openxmlformats.org/officeDocument/2006/relationships/image" Target="../media/image690.png"/><Relationship Id="rId3" Type="http://schemas.openxmlformats.org/officeDocument/2006/relationships/image" Target="../media/image52.tiff"/><Relationship Id="rId7" Type="http://schemas.openxmlformats.org/officeDocument/2006/relationships/image" Target="../media/image68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5.tiff"/><Relationship Id="rId5" Type="http://schemas.openxmlformats.org/officeDocument/2006/relationships/image" Target="../media/image54.png"/><Relationship Id="rId4" Type="http://schemas.openxmlformats.org/officeDocument/2006/relationships/image" Target="../media/image53.tiff"/></Relationships>
</file>

<file path=ppt/slides/_rels/slide3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6.tiff"/><Relationship Id="rId7" Type="http://schemas.openxmlformats.org/officeDocument/2006/relationships/image" Target="../media/image6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5.tiff"/><Relationship Id="rId5" Type="http://schemas.openxmlformats.org/officeDocument/2006/relationships/image" Target="../media/image54.png"/><Relationship Id="rId4" Type="http://schemas.openxmlformats.org/officeDocument/2006/relationships/image" Target="../media/image53.tif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7.wmf"/><Relationship Id="rId4" Type="http://schemas.openxmlformats.org/officeDocument/2006/relationships/oleObject" Target="../embeddings/oleObject1.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9.wmf"/><Relationship Id="rId5" Type="http://schemas.openxmlformats.org/officeDocument/2006/relationships/oleObject" Target="../embeddings/oleObject3.bin"/><Relationship Id="rId4" Type="http://schemas.openxmlformats.org/officeDocument/2006/relationships/image" Target="../media/image58.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0.xml"/><Relationship Id="rId1" Type="http://schemas.openxmlformats.org/officeDocument/2006/relationships/slideLayout" Target="../slideLayouts/slideLayout6.xml"/><Relationship Id="rId5" Type="http://schemas.openxmlformats.org/officeDocument/2006/relationships/image" Target="../media/image62.png"/><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7.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69.wmf"/><Relationship Id="rId5" Type="http://schemas.openxmlformats.org/officeDocument/2006/relationships/oleObject" Target="../embeddings/oleObject7.bin"/><Relationship Id="rId4" Type="http://schemas.openxmlformats.org/officeDocument/2006/relationships/image" Target="../media/image68.wmf"/></Relationships>
</file>

<file path=ppt/slides/_rels/slide66.xml.rels><?xml version="1.0" encoding="UTF-8" standalone="yes"?>
<Relationships xmlns="http://schemas.openxmlformats.org/package/2006/relationships"><Relationship Id="rId2" Type="http://schemas.openxmlformats.org/officeDocument/2006/relationships/image" Target="../media/image70.gi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7.xml"/><Relationship Id="rId1" Type="http://schemas.openxmlformats.org/officeDocument/2006/relationships/slideLayout" Target="../slideLayouts/slideLayout14.xml"/><Relationship Id="rId6" Type="http://schemas.openxmlformats.org/officeDocument/2006/relationships/image" Target="../media/image78.png"/><Relationship Id="rId5" Type="http://schemas.openxmlformats.org/officeDocument/2006/relationships/image" Target="../media/image84.png"/><Relationship Id="rId4" Type="http://schemas.openxmlformats.org/officeDocument/2006/relationships/image" Target="../media/image77.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0B82C92E-F3AC-F5B7-4B6B-3D458A690BC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4A5B1746-CB3B-46C6-A7E9-0B92B719C4A8}" type="slidenum">
              <a:rPr lang="en-US" altLang="zh-CN" sz="1200">
                <a:solidFill>
                  <a:schemeClr val="tx1"/>
                </a:solidFill>
                <a:latin typeface="Garamond" pitchFamily="18" charset="0"/>
                <a:ea typeface="宋体" panose="02010600030101010101" pitchFamily="2" charset="-122"/>
              </a:rPr>
              <a:pPr/>
              <a:t>1</a:t>
            </a:fld>
            <a:endParaRPr lang="en-US" altLang="zh-CN" sz="1200" dirty="0">
              <a:solidFill>
                <a:schemeClr val="tx1"/>
              </a:solidFill>
              <a:latin typeface="Garamond" pitchFamily="18" charset="0"/>
              <a:ea typeface="宋体" panose="02010600030101010101" pitchFamily="2" charset="-122"/>
            </a:endParaRPr>
          </a:p>
        </p:txBody>
      </p:sp>
      <p:sp>
        <p:nvSpPr>
          <p:cNvPr id="282626" name="Rectangle 2">
            <a:extLst>
              <a:ext uri="{FF2B5EF4-FFF2-40B4-BE49-F238E27FC236}">
                <a16:creationId xmlns:a16="http://schemas.microsoft.com/office/drawing/2014/main" id="{C95670A9-C2F3-2C3D-B6B1-DB3605917F1C}"/>
              </a:ext>
            </a:extLst>
          </p:cNvPr>
          <p:cNvSpPr>
            <a:spLocks noGrp="1" noChangeArrowheads="1"/>
          </p:cNvSpPr>
          <p:nvPr>
            <p:ph type="ctrTitle"/>
          </p:nvPr>
        </p:nvSpPr>
        <p:spPr>
          <a:xfrm>
            <a:off x="-32542" y="2492896"/>
            <a:ext cx="8064500" cy="1081087"/>
          </a:xfrm>
        </p:spPr>
        <p:txBody>
          <a:bodyPr/>
          <a:lstStyle/>
          <a:p>
            <a:pPr algn="r"/>
            <a:r>
              <a:rPr lang="zh-CN" altLang="en-US" dirty="0">
                <a:solidFill>
                  <a:schemeClr val="tx1"/>
                </a:solidFill>
                <a:latin typeface="微软雅黑" panose="020B0503020204020204" pitchFamily="34" charset="-122"/>
                <a:ea typeface="微软雅黑" panose="020B0503020204020204" pitchFamily="34" charset="-122"/>
              </a:rPr>
              <a:t/>
            </a:r>
            <a:br>
              <a:rPr lang="zh-CN" altLang="en-US" dirty="0">
                <a:solidFill>
                  <a:schemeClr val="tx1"/>
                </a:solidFill>
                <a:latin typeface="微软雅黑" panose="020B0503020204020204" pitchFamily="34" charset="-122"/>
                <a:ea typeface="微软雅黑" panose="020B0503020204020204" pitchFamily="34" charset="-122"/>
              </a:rPr>
            </a:br>
            <a:r>
              <a:rPr lang="zh-CN" altLang="en-US" sz="4000" dirty="0">
                <a:solidFill>
                  <a:schemeClr val="tx1"/>
                </a:solidFill>
                <a:latin typeface="微软雅黑" panose="020B0503020204020204" pitchFamily="34" charset="-122"/>
                <a:ea typeface="微软雅黑" panose="020B0503020204020204" pitchFamily="34" charset="-122"/>
              </a:rPr>
              <a:t>                                </a:t>
            </a:r>
            <a:r>
              <a:rPr lang="en-US" altLang="zh-CN" sz="4000" dirty="0">
                <a:solidFill>
                  <a:schemeClr val="tx1"/>
                </a:solidFill>
                <a:latin typeface="微软雅黑" panose="020B0503020204020204" pitchFamily="34" charset="-122"/>
                <a:ea typeface="微软雅黑" panose="020B0503020204020204" pitchFamily="34" charset="-122"/>
              </a:rPr>
              <a:t/>
            </a:r>
            <a:br>
              <a:rPr lang="en-US" altLang="zh-CN" sz="4000" dirty="0">
                <a:solidFill>
                  <a:schemeClr val="tx1"/>
                </a:solidFill>
                <a:latin typeface="微软雅黑" panose="020B0503020204020204" pitchFamily="34" charset="-122"/>
                <a:ea typeface="微软雅黑" panose="020B0503020204020204" pitchFamily="34" charset="-122"/>
              </a:rPr>
            </a:br>
            <a:r>
              <a:rPr lang="en-US" altLang="zh-CN" sz="4000" dirty="0">
                <a:latin typeface="微软雅黑" panose="020B0503020204020204" pitchFamily="34" charset="-122"/>
                <a:ea typeface="微软雅黑" panose="020B0503020204020204" pitchFamily="34" charset="-122"/>
              </a:rPr>
              <a:t/>
            </a:r>
            <a:br>
              <a:rPr lang="en-US" altLang="zh-CN" sz="4000" dirty="0">
                <a:latin typeface="微软雅黑" panose="020B0503020204020204" pitchFamily="34" charset="-122"/>
                <a:ea typeface="微软雅黑" panose="020B0503020204020204" pitchFamily="34" charset="-122"/>
              </a:rPr>
            </a:br>
            <a:r>
              <a:rPr lang="zh-CN" altLang="en-US" sz="3500" dirty="0">
                <a:solidFill>
                  <a:schemeClr val="tx1"/>
                </a:solidFill>
                <a:latin typeface="微软雅黑" panose="020B0503020204020204" pitchFamily="34" charset="-122"/>
                <a:ea typeface="微软雅黑" panose="020B0503020204020204" pitchFamily="34" charset="-122"/>
              </a:rPr>
              <a:t>王俊丽</a:t>
            </a:r>
            <a:r>
              <a:rPr lang="en-US" altLang="zh-CN" sz="3500" dirty="0">
                <a:solidFill>
                  <a:schemeClr val="tx1"/>
                </a:solidFill>
                <a:latin typeface="微软雅黑" panose="020B0503020204020204" pitchFamily="34" charset="-122"/>
                <a:ea typeface="微软雅黑" panose="020B0503020204020204" pitchFamily="34" charset="-122"/>
              </a:rPr>
              <a:t/>
            </a:r>
            <a:br>
              <a:rPr lang="en-US" altLang="zh-CN" sz="3500" dirty="0">
                <a:solidFill>
                  <a:schemeClr val="tx1"/>
                </a:solidFill>
                <a:latin typeface="微软雅黑" panose="020B0503020204020204" pitchFamily="34" charset="-122"/>
                <a:ea typeface="微软雅黑" panose="020B0503020204020204" pitchFamily="34" charset="-122"/>
              </a:rPr>
            </a:br>
            <a:r>
              <a:rPr lang="en-US" altLang="zh-CN" sz="3600" dirty="0">
                <a:latin typeface="微软雅黑" panose="020B0503020204020204" pitchFamily="34" charset="-122"/>
                <a:ea typeface="微软雅黑" panose="020B0503020204020204" pitchFamily="34" charset="-122"/>
              </a:rPr>
              <a:t>junliwang@tongji.edu.cn</a:t>
            </a:r>
            <a:br>
              <a:rPr lang="en-US" altLang="zh-CN" sz="3600" dirty="0">
                <a:latin typeface="微软雅黑" panose="020B0503020204020204" pitchFamily="34" charset="-122"/>
                <a:ea typeface="微软雅黑" panose="020B0503020204020204" pitchFamily="34" charset="-122"/>
              </a:rPr>
            </a:br>
            <a:r>
              <a:rPr lang="en-US" altLang="zh-CN" sz="3500" dirty="0">
                <a:solidFill>
                  <a:schemeClr val="tx1"/>
                </a:solidFill>
                <a:latin typeface="微软雅黑" panose="020B0503020204020204" pitchFamily="34" charset="-122"/>
                <a:ea typeface="微软雅黑" panose="020B0503020204020204" pitchFamily="34" charset="-122"/>
              </a:rPr>
              <a:t/>
            </a:r>
            <a:br>
              <a:rPr lang="en-US" altLang="zh-CN" sz="3500" dirty="0">
                <a:solidFill>
                  <a:schemeClr val="tx1"/>
                </a:solidFill>
                <a:latin typeface="微软雅黑" panose="020B0503020204020204" pitchFamily="34" charset="-122"/>
                <a:ea typeface="微软雅黑" panose="020B0503020204020204" pitchFamily="34" charset="-122"/>
              </a:rPr>
            </a:br>
            <a:endParaRPr lang="zh-CN" altLang="en-US" sz="3600" dirty="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2" name="矩形 1"/>
          <p:cNvSpPr/>
          <p:nvPr/>
        </p:nvSpPr>
        <p:spPr>
          <a:xfrm>
            <a:off x="2483768" y="2132856"/>
            <a:ext cx="5671017" cy="1015663"/>
          </a:xfrm>
          <a:prstGeom prst="rect">
            <a:avLst/>
          </a:prstGeom>
        </p:spPr>
        <p:txBody>
          <a:bodyPr wrap="square">
            <a:spAutoFit/>
          </a:bodyPr>
          <a:lstStyle/>
          <a:p>
            <a:r>
              <a:rPr lang="zh-CN" altLang="en-US" sz="6000" b="1"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算法分析与设计</a:t>
            </a:r>
            <a:endParaRPr lang="zh-CN" altLang="en-US" sz="6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5" name="图片 24"/>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96136" y="143661"/>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471" y="100853"/>
            <a:ext cx="8875059" cy="6656294"/>
          </a:xfrm>
          <a:custGeom>
            <a:avLst/>
            <a:gdLst/>
            <a:ahLst/>
            <a:cxnLst/>
            <a:rect l="l" t="t" r="r" b="b"/>
            <a:pathLst>
              <a:path w="10058400" h="7543800">
                <a:moveTo>
                  <a:pt x="0" y="0"/>
                </a:moveTo>
                <a:lnTo>
                  <a:pt x="10058400" y="0"/>
                </a:lnTo>
                <a:lnTo>
                  <a:pt x="10058400" y="7543800"/>
                </a:lnTo>
                <a:lnTo>
                  <a:pt x="0" y="7543800"/>
                </a:lnTo>
                <a:lnTo>
                  <a:pt x="0" y="0"/>
                </a:lnTo>
                <a:close/>
              </a:path>
            </a:pathLst>
          </a:custGeom>
          <a:solidFill>
            <a:srgbClr val="F5F5F5"/>
          </a:solidFill>
        </p:spPr>
        <p:txBody>
          <a:bodyPr wrap="square" lIns="0" tIns="0" rIns="0" bIns="0" rtlCol="0"/>
          <a:lstStyle/>
          <a:p>
            <a:endParaRPr sz="2647"/>
          </a:p>
        </p:txBody>
      </p:sp>
      <p:sp>
        <p:nvSpPr>
          <p:cNvPr id="3" name="object 3"/>
          <p:cNvSpPr/>
          <p:nvPr/>
        </p:nvSpPr>
        <p:spPr>
          <a:xfrm>
            <a:off x="2652554" y="100853"/>
            <a:ext cx="54909" cy="153521"/>
          </a:xfrm>
          <a:custGeom>
            <a:avLst/>
            <a:gdLst/>
            <a:ahLst/>
            <a:cxnLst/>
            <a:rect l="l" t="t" r="r" b="b"/>
            <a:pathLst>
              <a:path w="62230" h="173990">
                <a:moveTo>
                  <a:pt x="61977" y="0"/>
                </a:moveTo>
                <a:lnTo>
                  <a:pt x="0" y="86044"/>
                </a:lnTo>
                <a:lnTo>
                  <a:pt x="56886" y="173499"/>
                </a:lnTo>
              </a:path>
            </a:pathLst>
          </a:custGeom>
          <a:ln w="12150">
            <a:solidFill>
              <a:srgbClr val="6D6E71"/>
            </a:solidFill>
          </a:ln>
        </p:spPr>
        <p:txBody>
          <a:bodyPr wrap="square" lIns="0" tIns="0" rIns="0" bIns="0" rtlCol="0"/>
          <a:lstStyle/>
          <a:p>
            <a:endParaRPr sz="2647"/>
          </a:p>
        </p:txBody>
      </p:sp>
      <p:sp>
        <p:nvSpPr>
          <p:cNvPr id="4" name="object 4"/>
          <p:cNvSpPr/>
          <p:nvPr/>
        </p:nvSpPr>
        <p:spPr>
          <a:xfrm>
            <a:off x="5196939" y="100853"/>
            <a:ext cx="142315" cy="164726"/>
          </a:xfrm>
          <a:custGeom>
            <a:avLst/>
            <a:gdLst/>
            <a:ahLst/>
            <a:cxnLst/>
            <a:rect l="l" t="t" r="r" b="b"/>
            <a:pathLst>
              <a:path w="161289" h="186690">
                <a:moveTo>
                  <a:pt x="0" y="160402"/>
                </a:moveTo>
                <a:lnTo>
                  <a:pt x="65637" y="186621"/>
                </a:lnTo>
                <a:lnTo>
                  <a:pt x="87540" y="182271"/>
                </a:lnTo>
                <a:lnTo>
                  <a:pt x="109394" y="64150"/>
                </a:lnTo>
                <a:lnTo>
                  <a:pt x="157552" y="68573"/>
                </a:lnTo>
                <a:lnTo>
                  <a:pt x="161269" y="0"/>
                </a:lnTo>
              </a:path>
            </a:pathLst>
          </a:custGeom>
          <a:ln w="12152">
            <a:solidFill>
              <a:srgbClr val="6D6E71"/>
            </a:solidFill>
          </a:ln>
        </p:spPr>
        <p:txBody>
          <a:bodyPr wrap="square" lIns="0" tIns="0" rIns="0" bIns="0" rtlCol="0"/>
          <a:lstStyle/>
          <a:p>
            <a:endParaRPr sz="2647"/>
          </a:p>
        </p:txBody>
      </p:sp>
      <p:sp>
        <p:nvSpPr>
          <p:cNvPr id="5" name="object 5"/>
          <p:cNvSpPr/>
          <p:nvPr/>
        </p:nvSpPr>
        <p:spPr>
          <a:xfrm>
            <a:off x="6370707" y="100853"/>
            <a:ext cx="77321" cy="192180"/>
          </a:xfrm>
          <a:custGeom>
            <a:avLst/>
            <a:gdLst/>
            <a:ahLst/>
            <a:cxnLst/>
            <a:rect l="l" t="t" r="r" b="b"/>
            <a:pathLst>
              <a:path w="87629" h="217804">
                <a:moveTo>
                  <a:pt x="0" y="217263"/>
                </a:moveTo>
                <a:lnTo>
                  <a:pt x="13127" y="177922"/>
                </a:lnTo>
                <a:lnTo>
                  <a:pt x="8751" y="151654"/>
                </a:lnTo>
                <a:lnTo>
                  <a:pt x="87515" y="116662"/>
                </a:lnTo>
                <a:lnTo>
                  <a:pt x="87514" y="2915"/>
                </a:lnTo>
                <a:lnTo>
                  <a:pt x="81673" y="0"/>
                </a:lnTo>
              </a:path>
            </a:pathLst>
          </a:custGeom>
          <a:ln w="12150">
            <a:solidFill>
              <a:srgbClr val="6D6E71"/>
            </a:solidFill>
          </a:ln>
        </p:spPr>
        <p:txBody>
          <a:bodyPr wrap="square" lIns="0" tIns="0" rIns="0" bIns="0" rtlCol="0"/>
          <a:lstStyle/>
          <a:p>
            <a:endParaRPr sz="2647"/>
          </a:p>
        </p:txBody>
      </p:sp>
      <p:sp>
        <p:nvSpPr>
          <p:cNvPr id="6" name="object 6"/>
          <p:cNvSpPr/>
          <p:nvPr/>
        </p:nvSpPr>
        <p:spPr>
          <a:xfrm>
            <a:off x="6019331" y="100853"/>
            <a:ext cx="77321" cy="25773"/>
          </a:xfrm>
          <a:custGeom>
            <a:avLst/>
            <a:gdLst/>
            <a:ahLst/>
            <a:cxnLst/>
            <a:rect l="l" t="t" r="r" b="b"/>
            <a:pathLst>
              <a:path w="87629" h="29210">
                <a:moveTo>
                  <a:pt x="0" y="29183"/>
                </a:moveTo>
                <a:lnTo>
                  <a:pt x="78740" y="29183"/>
                </a:lnTo>
                <a:lnTo>
                  <a:pt x="87572" y="0"/>
                </a:lnTo>
              </a:path>
            </a:pathLst>
          </a:custGeom>
          <a:ln w="12154">
            <a:solidFill>
              <a:srgbClr val="6D6E71"/>
            </a:solidFill>
          </a:ln>
        </p:spPr>
        <p:txBody>
          <a:bodyPr wrap="square" lIns="0" tIns="0" rIns="0" bIns="0" rtlCol="0"/>
          <a:lstStyle/>
          <a:p>
            <a:endParaRPr sz="2647"/>
          </a:p>
        </p:txBody>
      </p:sp>
      <p:sp>
        <p:nvSpPr>
          <p:cNvPr id="7" name="object 7"/>
          <p:cNvSpPr/>
          <p:nvPr/>
        </p:nvSpPr>
        <p:spPr>
          <a:xfrm>
            <a:off x="2831621" y="100853"/>
            <a:ext cx="25773" cy="22412"/>
          </a:xfrm>
          <a:custGeom>
            <a:avLst/>
            <a:gdLst/>
            <a:ahLst/>
            <a:cxnLst/>
            <a:rect l="l" t="t" r="r" b="b"/>
            <a:pathLst>
              <a:path w="29210" h="25400">
                <a:moveTo>
                  <a:pt x="28974" y="24833"/>
                </a:moveTo>
                <a:lnTo>
                  <a:pt x="0" y="0"/>
                </a:lnTo>
              </a:path>
            </a:pathLst>
          </a:custGeom>
          <a:ln w="12152">
            <a:solidFill>
              <a:srgbClr val="6D6E71"/>
            </a:solidFill>
          </a:ln>
        </p:spPr>
        <p:txBody>
          <a:bodyPr wrap="square" lIns="0" tIns="0" rIns="0" bIns="0" rtlCol="0"/>
          <a:lstStyle/>
          <a:p>
            <a:endParaRPr sz="2647"/>
          </a:p>
        </p:txBody>
      </p:sp>
      <p:sp>
        <p:nvSpPr>
          <p:cNvPr id="8" name="object 8"/>
          <p:cNvSpPr/>
          <p:nvPr/>
        </p:nvSpPr>
        <p:spPr>
          <a:xfrm>
            <a:off x="4494234" y="100853"/>
            <a:ext cx="11206" cy="25773"/>
          </a:xfrm>
          <a:custGeom>
            <a:avLst/>
            <a:gdLst/>
            <a:ahLst/>
            <a:cxnLst/>
            <a:rect l="l" t="t" r="r" b="b"/>
            <a:pathLst>
              <a:path w="12700" h="29210">
                <a:moveTo>
                  <a:pt x="0" y="29183"/>
                </a:moveTo>
                <a:lnTo>
                  <a:pt x="12164" y="0"/>
                </a:lnTo>
              </a:path>
            </a:pathLst>
          </a:custGeom>
          <a:ln w="12150">
            <a:solidFill>
              <a:srgbClr val="6D6E71"/>
            </a:solidFill>
          </a:ln>
        </p:spPr>
        <p:txBody>
          <a:bodyPr wrap="square" lIns="0" tIns="0" rIns="0" bIns="0" rtlCol="0"/>
          <a:lstStyle/>
          <a:p>
            <a:endParaRPr sz="2647"/>
          </a:p>
        </p:txBody>
      </p:sp>
      <p:sp>
        <p:nvSpPr>
          <p:cNvPr id="9" name="object 9"/>
          <p:cNvSpPr/>
          <p:nvPr/>
        </p:nvSpPr>
        <p:spPr>
          <a:xfrm>
            <a:off x="7679567" y="100853"/>
            <a:ext cx="62193" cy="41462"/>
          </a:xfrm>
          <a:custGeom>
            <a:avLst/>
            <a:gdLst/>
            <a:ahLst/>
            <a:cxnLst/>
            <a:rect l="l" t="t" r="r" b="b"/>
            <a:pathLst>
              <a:path w="70484" h="46989">
                <a:moveTo>
                  <a:pt x="0" y="33557"/>
                </a:moveTo>
                <a:lnTo>
                  <a:pt x="70036" y="46654"/>
                </a:lnTo>
                <a:lnTo>
                  <a:pt x="63552" y="0"/>
                </a:lnTo>
              </a:path>
            </a:pathLst>
          </a:custGeom>
          <a:ln w="12153">
            <a:solidFill>
              <a:srgbClr val="6D6E71"/>
            </a:solidFill>
          </a:ln>
        </p:spPr>
        <p:txBody>
          <a:bodyPr wrap="square" lIns="0" tIns="0" rIns="0" bIns="0" rtlCol="0"/>
          <a:lstStyle/>
          <a:p>
            <a:endParaRPr sz="2647"/>
          </a:p>
        </p:txBody>
      </p:sp>
      <p:sp>
        <p:nvSpPr>
          <p:cNvPr id="10" name="object 10"/>
          <p:cNvSpPr/>
          <p:nvPr/>
        </p:nvSpPr>
        <p:spPr>
          <a:xfrm>
            <a:off x="2357571" y="100853"/>
            <a:ext cx="117662" cy="33618"/>
          </a:xfrm>
          <a:custGeom>
            <a:avLst/>
            <a:gdLst/>
            <a:ahLst/>
            <a:cxnLst/>
            <a:rect l="l" t="t" r="r" b="b"/>
            <a:pathLst>
              <a:path w="133350" h="38100">
                <a:moveTo>
                  <a:pt x="133025" y="37882"/>
                </a:moveTo>
                <a:lnTo>
                  <a:pt x="105918" y="0"/>
                </a:lnTo>
              </a:path>
              <a:path w="133350" h="38100">
                <a:moveTo>
                  <a:pt x="49586" y="0"/>
                </a:moveTo>
                <a:lnTo>
                  <a:pt x="14854" y="20410"/>
                </a:lnTo>
                <a:lnTo>
                  <a:pt x="0" y="0"/>
                </a:lnTo>
              </a:path>
            </a:pathLst>
          </a:custGeom>
          <a:ln w="12152">
            <a:solidFill>
              <a:srgbClr val="6D6E71"/>
            </a:solidFill>
          </a:ln>
        </p:spPr>
        <p:txBody>
          <a:bodyPr wrap="square" lIns="0" tIns="0" rIns="0" bIns="0" rtlCol="0"/>
          <a:lstStyle/>
          <a:p>
            <a:endParaRPr sz="2647"/>
          </a:p>
        </p:txBody>
      </p:sp>
      <p:sp>
        <p:nvSpPr>
          <p:cNvPr id="11" name="object 11"/>
          <p:cNvSpPr/>
          <p:nvPr/>
        </p:nvSpPr>
        <p:spPr>
          <a:xfrm>
            <a:off x="134471" y="250081"/>
            <a:ext cx="35859" cy="10085"/>
          </a:xfrm>
          <a:custGeom>
            <a:avLst/>
            <a:gdLst/>
            <a:ahLst/>
            <a:cxnLst/>
            <a:rect l="l" t="t" r="r" b="b"/>
            <a:pathLst>
              <a:path w="40640" h="11429">
                <a:moveTo>
                  <a:pt x="0" y="11042"/>
                </a:moveTo>
                <a:lnTo>
                  <a:pt x="40158" y="0"/>
                </a:lnTo>
              </a:path>
            </a:pathLst>
          </a:custGeom>
          <a:ln w="12154">
            <a:solidFill>
              <a:srgbClr val="6D6E71"/>
            </a:solidFill>
          </a:ln>
        </p:spPr>
        <p:txBody>
          <a:bodyPr wrap="square" lIns="0" tIns="0" rIns="0" bIns="0" rtlCol="0"/>
          <a:lstStyle/>
          <a:p>
            <a:endParaRPr sz="2647"/>
          </a:p>
        </p:txBody>
      </p:sp>
      <p:sp>
        <p:nvSpPr>
          <p:cNvPr id="12" name="object 12"/>
          <p:cNvSpPr/>
          <p:nvPr/>
        </p:nvSpPr>
        <p:spPr>
          <a:xfrm>
            <a:off x="6521266" y="100853"/>
            <a:ext cx="63313" cy="164726"/>
          </a:xfrm>
          <a:custGeom>
            <a:avLst/>
            <a:gdLst/>
            <a:ahLst/>
            <a:cxnLst/>
            <a:rect l="l" t="t" r="r" b="b"/>
            <a:pathLst>
              <a:path w="71754" h="186690">
                <a:moveTo>
                  <a:pt x="0" y="186621"/>
                </a:moveTo>
                <a:lnTo>
                  <a:pt x="61284" y="86044"/>
                </a:lnTo>
                <a:lnTo>
                  <a:pt x="71281" y="0"/>
                </a:lnTo>
              </a:path>
            </a:pathLst>
          </a:custGeom>
          <a:ln w="12150">
            <a:solidFill>
              <a:srgbClr val="6D6E71"/>
            </a:solidFill>
          </a:ln>
        </p:spPr>
        <p:txBody>
          <a:bodyPr wrap="square" lIns="0" tIns="0" rIns="0" bIns="0" rtlCol="0"/>
          <a:lstStyle/>
          <a:p>
            <a:endParaRPr sz="2647"/>
          </a:p>
        </p:txBody>
      </p:sp>
      <p:sp>
        <p:nvSpPr>
          <p:cNvPr id="13" name="object 13"/>
          <p:cNvSpPr/>
          <p:nvPr/>
        </p:nvSpPr>
        <p:spPr>
          <a:xfrm>
            <a:off x="4669200" y="100853"/>
            <a:ext cx="26334" cy="14568"/>
          </a:xfrm>
          <a:custGeom>
            <a:avLst/>
            <a:gdLst/>
            <a:ahLst/>
            <a:cxnLst/>
            <a:rect l="l" t="t" r="r" b="b"/>
            <a:pathLst>
              <a:path w="29845" h="16510">
                <a:moveTo>
                  <a:pt x="0" y="0"/>
                </a:moveTo>
                <a:lnTo>
                  <a:pt x="29271" y="16036"/>
                </a:lnTo>
              </a:path>
            </a:pathLst>
          </a:custGeom>
          <a:ln w="12153">
            <a:solidFill>
              <a:srgbClr val="6D6E71"/>
            </a:solidFill>
          </a:ln>
        </p:spPr>
        <p:txBody>
          <a:bodyPr wrap="square" lIns="0" tIns="0" rIns="0" bIns="0" rtlCol="0"/>
          <a:lstStyle/>
          <a:p>
            <a:endParaRPr sz="2647"/>
          </a:p>
        </p:txBody>
      </p:sp>
      <p:sp>
        <p:nvSpPr>
          <p:cNvPr id="14" name="object 14"/>
          <p:cNvSpPr/>
          <p:nvPr/>
        </p:nvSpPr>
        <p:spPr>
          <a:xfrm>
            <a:off x="2073402" y="100853"/>
            <a:ext cx="170329" cy="161365"/>
          </a:xfrm>
          <a:custGeom>
            <a:avLst/>
            <a:gdLst/>
            <a:ahLst/>
            <a:cxnLst/>
            <a:rect l="l" t="t" r="r" b="b"/>
            <a:pathLst>
              <a:path w="193039" h="182879">
                <a:moveTo>
                  <a:pt x="179409" y="182271"/>
                </a:moveTo>
                <a:lnTo>
                  <a:pt x="192512" y="116662"/>
                </a:lnTo>
                <a:lnTo>
                  <a:pt x="109395" y="20410"/>
                </a:lnTo>
                <a:lnTo>
                  <a:pt x="0" y="37882"/>
                </a:lnTo>
                <a:lnTo>
                  <a:pt x="13384" y="0"/>
                </a:lnTo>
              </a:path>
            </a:pathLst>
          </a:custGeom>
          <a:ln w="12152">
            <a:solidFill>
              <a:srgbClr val="6D6E71"/>
            </a:solidFill>
          </a:ln>
        </p:spPr>
        <p:txBody>
          <a:bodyPr wrap="square" lIns="0" tIns="0" rIns="0" bIns="0" rtlCol="0"/>
          <a:lstStyle/>
          <a:p>
            <a:endParaRPr sz="2647"/>
          </a:p>
        </p:txBody>
      </p:sp>
      <p:sp>
        <p:nvSpPr>
          <p:cNvPr id="15" name="object 15"/>
          <p:cNvSpPr/>
          <p:nvPr/>
        </p:nvSpPr>
        <p:spPr>
          <a:xfrm>
            <a:off x="6994512" y="100853"/>
            <a:ext cx="322169" cy="161365"/>
          </a:xfrm>
          <a:custGeom>
            <a:avLst/>
            <a:gdLst/>
            <a:ahLst/>
            <a:cxnLst/>
            <a:rect l="l" t="t" r="r" b="b"/>
            <a:pathLst>
              <a:path w="365125" h="182879">
                <a:moveTo>
                  <a:pt x="365096" y="156052"/>
                </a:moveTo>
                <a:lnTo>
                  <a:pt x="347592" y="160402"/>
                </a:lnTo>
                <a:lnTo>
                  <a:pt x="316986" y="182271"/>
                </a:lnTo>
                <a:lnTo>
                  <a:pt x="198815" y="151654"/>
                </a:lnTo>
                <a:lnTo>
                  <a:pt x="85018" y="55402"/>
                </a:lnTo>
                <a:lnTo>
                  <a:pt x="0" y="0"/>
                </a:lnTo>
              </a:path>
            </a:pathLst>
          </a:custGeom>
          <a:ln w="12154">
            <a:solidFill>
              <a:srgbClr val="6D6E71"/>
            </a:solidFill>
          </a:ln>
        </p:spPr>
        <p:txBody>
          <a:bodyPr wrap="square" lIns="0" tIns="0" rIns="0" bIns="0" rtlCol="0"/>
          <a:lstStyle/>
          <a:p>
            <a:endParaRPr sz="2647"/>
          </a:p>
        </p:txBody>
      </p:sp>
      <p:sp>
        <p:nvSpPr>
          <p:cNvPr id="16" name="object 16"/>
          <p:cNvSpPr/>
          <p:nvPr/>
        </p:nvSpPr>
        <p:spPr>
          <a:xfrm>
            <a:off x="5085852" y="100854"/>
            <a:ext cx="26334" cy="133910"/>
          </a:xfrm>
          <a:custGeom>
            <a:avLst/>
            <a:gdLst/>
            <a:ahLst/>
            <a:cxnLst/>
            <a:rect l="l" t="t" r="r" b="b"/>
            <a:pathLst>
              <a:path w="29845" h="151765">
                <a:moveTo>
                  <a:pt x="29679" y="151654"/>
                </a:moveTo>
                <a:lnTo>
                  <a:pt x="20927" y="125386"/>
                </a:lnTo>
                <a:lnTo>
                  <a:pt x="0" y="0"/>
                </a:lnTo>
              </a:path>
            </a:pathLst>
          </a:custGeom>
          <a:ln w="12150">
            <a:solidFill>
              <a:srgbClr val="6D6E71"/>
            </a:solidFill>
          </a:ln>
        </p:spPr>
        <p:txBody>
          <a:bodyPr wrap="square" lIns="0" tIns="0" rIns="0" bIns="0" rtlCol="0"/>
          <a:lstStyle/>
          <a:p>
            <a:endParaRPr sz="2647"/>
          </a:p>
        </p:txBody>
      </p:sp>
      <p:sp>
        <p:nvSpPr>
          <p:cNvPr id="17" name="object 17"/>
          <p:cNvSpPr/>
          <p:nvPr/>
        </p:nvSpPr>
        <p:spPr>
          <a:xfrm>
            <a:off x="1223982" y="100853"/>
            <a:ext cx="448235" cy="249891"/>
          </a:xfrm>
          <a:custGeom>
            <a:avLst/>
            <a:gdLst/>
            <a:ahLst/>
            <a:cxnLst/>
            <a:rect l="l" t="t" r="r" b="b"/>
            <a:pathLst>
              <a:path w="508000" h="283210">
                <a:moveTo>
                  <a:pt x="0" y="212841"/>
                </a:moveTo>
                <a:lnTo>
                  <a:pt x="21903" y="208515"/>
                </a:lnTo>
                <a:lnTo>
                  <a:pt x="56885" y="186621"/>
                </a:lnTo>
                <a:lnTo>
                  <a:pt x="105017" y="77272"/>
                </a:lnTo>
                <a:lnTo>
                  <a:pt x="258146" y="51052"/>
                </a:lnTo>
                <a:lnTo>
                  <a:pt x="241925" y="0"/>
                </a:lnTo>
              </a:path>
              <a:path w="508000" h="283210">
                <a:moveTo>
                  <a:pt x="297531" y="282848"/>
                </a:moveTo>
                <a:lnTo>
                  <a:pt x="284428" y="256580"/>
                </a:lnTo>
                <a:lnTo>
                  <a:pt x="323810" y="243483"/>
                </a:lnTo>
                <a:lnTo>
                  <a:pt x="341309" y="94792"/>
                </a:lnTo>
                <a:lnTo>
                  <a:pt x="507567" y="55402"/>
                </a:lnTo>
                <a:lnTo>
                  <a:pt x="501055" y="0"/>
                </a:lnTo>
              </a:path>
            </a:pathLst>
          </a:custGeom>
          <a:ln w="12152">
            <a:solidFill>
              <a:srgbClr val="6D6E71"/>
            </a:solidFill>
          </a:ln>
        </p:spPr>
        <p:txBody>
          <a:bodyPr wrap="square" lIns="0" tIns="0" rIns="0" bIns="0" rtlCol="0"/>
          <a:lstStyle/>
          <a:p>
            <a:endParaRPr sz="2647"/>
          </a:p>
        </p:txBody>
      </p:sp>
      <p:sp>
        <p:nvSpPr>
          <p:cNvPr id="18" name="object 18"/>
          <p:cNvSpPr/>
          <p:nvPr/>
        </p:nvSpPr>
        <p:spPr>
          <a:xfrm>
            <a:off x="938266" y="100853"/>
            <a:ext cx="127747" cy="245969"/>
          </a:xfrm>
          <a:custGeom>
            <a:avLst/>
            <a:gdLst/>
            <a:ahLst/>
            <a:cxnLst/>
            <a:rect l="l" t="t" r="r" b="b"/>
            <a:pathLst>
              <a:path w="144780" h="278765">
                <a:moveTo>
                  <a:pt x="122500" y="278474"/>
                </a:moveTo>
                <a:lnTo>
                  <a:pt x="144378" y="164751"/>
                </a:lnTo>
                <a:lnTo>
                  <a:pt x="0" y="86044"/>
                </a:lnTo>
                <a:lnTo>
                  <a:pt x="11937" y="0"/>
                </a:lnTo>
              </a:path>
            </a:pathLst>
          </a:custGeom>
          <a:ln w="12150">
            <a:solidFill>
              <a:srgbClr val="6D6E71"/>
            </a:solidFill>
          </a:ln>
        </p:spPr>
        <p:txBody>
          <a:bodyPr wrap="square" lIns="0" tIns="0" rIns="0" bIns="0" rtlCol="0"/>
          <a:lstStyle/>
          <a:p>
            <a:endParaRPr sz="2647"/>
          </a:p>
        </p:txBody>
      </p:sp>
      <p:sp>
        <p:nvSpPr>
          <p:cNvPr id="19" name="object 19"/>
          <p:cNvSpPr/>
          <p:nvPr/>
        </p:nvSpPr>
        <p:spPr>
          <a:xfrm>
            <a:off x="5733799" y="100853"/>
            <a:ext cx="15688" cy="72278"/>
          </a:xfrm>
          <a:custGeom>
            <a:avLst/>
            <a:gdLst/>
            <a:ahLst/>
            <a:cxnLst/>
            <a:rect l="l" t="t" r="r" b="b"/>
            <a:pathLst>
              <a:path w="17779" h="81914">
                <a:moveTo>
                  <a:pt x="17323" y="81670"/>
                </a:moveTo>
                <a:lnTo>
                  <a:pt x="4170" y="11662"/>
                </a:lnTo>
                <a:lnTo>
                  <a:pt x="0" y="0"/>
                </a:lnTo>
              </a:path>
            </a:pathLst>
          </a:custGeom>
          <a:ln w="12150">
            <a:solidFill>
              <a:srgbClr val="6D6E71"/>
            </a:solidFill>
          </a:ln>
        </p:spPr>
        <p:txBody>
          <a:bodyPr wrap="square" lIns="0" tIns="0" rIns="0" bIns="0" rtlCol="0"/>
          <a:lstStyle/>
          <a:p>
            <a:endParaRPr sz="2647"/>
          </a:p>
        </p:txBody>
      </p:sp>
      <p:sp>
        <p:nvSpPr>
          <p:cNvPr id="20" name="object 20"/>
          <p:cNvSpPr/>
          <p:nvPr/>
        </p:nvSpPr>
        <p:spPr>
          <a:xfrm>
            <a:off x="548311" y="504801"/>
            <a:ext cx="66115" cy="366993"/>
          </a:xfrm>
          <a:custGeom>
            <a:avLst/>
            <a:gdLst/>
            <a:ahLst/>
            <a:cxnLst/>
            <a:rect l="l" t="t" r="r" b="b"/>
            <a:pathLst>
              <a:path w="74929" h="415925">
                <a:moveTo>
                  <a:pt x="30602" y="0"/>
                </a:moveTo>
                <a:lnTo>
                  <a:pt x="74360" y="21894"/>
                </a:lnTo>
                <a:lnTo>
                  <a:pt x="43757" y="253690"/>
                </a:lnTo>
                <a:lnTo>
                  <a:pt x="0" y="345519"/>
                </a:lnTo>
                <a:lnTo>
                  <a:pt x="4376" y="415551"/>
                </a:lnTo>
              </a:path>
            </a:pathLst>
          </a:custGeom>
          <a:ln w="12150">
            <a:solidFill>
              <a:srgbClr val="6D6E71"/>
            </a:solidFill>
          </a:ln>
        </p:spPr>
        <p:txBody>
          <a:bodyPr wrap="square" lIns="0" tIns="0" rIns="0" bIns="0" rtlCol="0"/>
          <a:lstStyle/>
          <a:p>
            <a:endParaRPr sz="2647"/>
          </a:p>
        </p:txBody>
      </p:sp>
      <p:sp>
        <p:nvSpPr>
          <p:cNvPr id="21" name="object 21"/>
          <p:cNvSpPr/>
          <p:nvPr/>
        </p:nvSpPr>
        <p:spPr>
          <a:xfrm>
            <a:off x="9003879" y="663936"/>
            <a:ext cx="6163" cy="34178"/>
          </a:xfrm>
          <a:custGeom>
            <a:avLst/>
            <a:gdLst/>
            <a:ahLst/>
            <a:cxnLst/>
            <a:rect l="l" t="t" r="r" b="b"/>
            <a:pathLst>
              <a:path w="6984" h="38734">
                <a:moveTo>
                  <a:pt x="0" y="38345"/>
                </a:moveTo>
                <a:lnTo>
                  <a:pt x="6404" y="0"/>
                </a:lnTo>
              </a:path>
            </a:pathLst>
          </a:custGeom>
          <a:ln w="12150">
            <a:solidFill>
              <a:srgbClr val="6D6E71"/>
            </a:solidFill>
          </a:ln>
        </p:spPr>
        <p:txBody>
          <a:bodyPr wrap="square" lIns="0" tIns="0" rIns="0" bIns="0" rtlCol="0"/>
          <a:lstStyle/>
          <a:p>
            <a:endParaRPr sz="2647"/>
          </a:p>
        </p:txBody>
      </p:sp>
      <p:sp>
        <p:nvSpPr>
          <p:cNvPr id="22" name="object 22"/>
          <p:cNvSpPr/>
          <p:nvPr/>
        </p:nvSpPr>
        <p:spPr>
          <a:xfrm>
            <a:off x="8540601" y="254040"/>
            <a:ext cx="468966" cy="532840"/>
          </a:xfrm>
          <a:custGeom>
            <a:avLst/>
            <a:gdLst/>
            <a:ahLst/>
            <a:cxnLst/>
            <a:rect l="l" t="t" r="r" b="b"/>
            <a:pathLst>
              <a:path w="531495" h="603885">
                <a:moveTo>
                  <a:pt x="531452" y="392402"/>
                </a:moveTo>
                <a:lnTo>
                  <a:pt x="472585" y="362950"/>
                </a:lnTo>
                <a:lnTo>
                  <a:pt x="459408" y="319186"/>
                </a:lnTo>
                <a:lnTo>
                  <a:pt x="498813" y="227357"/>
                </a:lnTo>
                <a:lnTo>
                  <a:pt x="529443" y="135504"/>
                </a:lnTo>
                <a:lnTo>
                  <a:pt x="531452" y="73210"/>
                </a:lnTo>
              </a:path>
              <a:path w="531495" h="603885">
                <a:moveTo>
                  <a:pt x="531452" y="0"/>
                </a:moveTo>
                <a:lnTo>
                  <a:pt x="350009" y="8659"/>
                </a:lnTo>
                <a:lnTo>
                  <a:pt x="376289" y="61171"/>
                </a:lnTo>
                <a:lnTo>
                  <a:pt x="236287" y="74268"/>
                </a:lnTo>
                <a:lnTo>
                  <a:pt x="249391" y="118008"/>
                </a:lnTo>
                <a:lnTo>
                  <a:pt x="262520" y="227357"/>
                </a:lnTo>
              </a:path>
              <a:path w="531495" h="603885">
                <a:moveTo>
                  <a:pt x="0" y="603494"/>
                </a:moveTo>
                <a:lnTo>
                  <a:pt x="131273" y="590396"/>
                </a:lnTo>
                <a:lnTo>
                  <a:pt x="275675" y="524787"/>
                </a:lnTo>
                <a:lnTo>
                  <a:pt x="319407" y="411015"/>
                </a:lnTo>
                <a:lnTo>
                  <a:pt x="358838" y="402316"/>
                </a:lnTo>
                <a:lnTo>
                  <a:pt x="433179" y="463527"/>
                </a:lnTo>
                <a:lnTo>
                  <a:pt x="450707" y="481047"/>
                </a:lnTo>
                <a:lnTo>
                  <a:pt x="525096" y="502893"/>
                </a:lnTo>
                <a:lnTo>
                  <a:pt x="531452" y="500703"/>
                </a:lnTo>
              </a:path>
            </a:pathLst>
          </a:custGeom>
          <a:ln w="12152">
            <a:solidFill>
              <a:srgbClr val="6D6E71"/>
            </a:solidFill>
          </a:ln>
        </p:spPr>
        <p:txBody>
          <a:bodyPr wrap="square" lIns="0" tIns="0" rIns="0" bIns="0" rtlCol="0"/>
          <a:lstStyle/>
          <a:p>
            <a:endParaRPr sz="2647"/>
          </a:p>
        </p:txBody>
      </p:sp>
      <p:sp>
        <p:nvSpPr>
          <p:cNvPr id="39" name="object 39"/>
          <p:cNvSpPr txBox="1"/>
          <p:nvPr/>
        </p:nvSpPr>
        <p:spPr>
          <a:xfrm>
            <a:off x="803157" y="2068152"/>
            <a:ext cx="6876410" cy="3798739"/>
          </a:xfrm>
          <a:prstGeom prst="rect">
            <a:avLst/>
          </a:prstGeom>
        </p:spPr>
        <p:txBody>
          <a:bodyPr vert="horz" wrap="square" lIns="0" tIns="117101" rIns="0" bIns="0" rtlCol="0">
            <a:spAutoFit/>
          </a:bodyPr>
          <a:lstStyle/>
          <a:p>
            <a:pPr marL="226931" indent="-215725">
              <a:lnSpc>
                <a:spcPct val="150000"/>
              </a:lnSpc>
              <a:spcBef>
                <a:spcPts val="922"/>
              </a:spcBef>
              <a:buFont typeface="Tahoma"/>
              <a:buChar char="‣"/>
              <a:tabLst>
                <a:tab pos="226931" algn="l"/>
              </a:tabLst>
            </a:pPr>
            <a:r>
              <a:rPr lang="en-US" sz="2800" b="1" i="1" spc="-9" dirty="0">
                <a:latin typeface="Calibri"/>
                <a:cs typeface="Calibri"/>
              </a:rPr>
              <a:t>Why study algorithms?</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Course overview</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1.1 Algorithm and program</a:t>
            </a:r>
          </a:p>
          <a:p>
            <a:pPr marL="226931" indent="-215725">
              <a:lnSpc>
                <a:spcPct val="150000"/>
              </a:lnSpc>
              <a:spcBef>
                <a:spcPts val="922"/>
              </a:spcBef>
              <a:buFont typeface="Tahoma"/>
              <a:buChar char="‣"/>
              <a:tabLst>
                <a:tab pos="226931" algn="l"/>
              </a:tabLst>
            </a:pPr>
            <a:r>
              <a:rPr lang="en-US" sz="2800" b="1" i="1" dirty="0">
                <a:latin typeface="Calibri"/>
                <a:cs typeface="Calibri"/>
              </a:rPr>
              <a:t>1.2 </a:t>
            </a:r>
            <a:r>
              <a:rPr lang="en-US" altLang="zh-CN" sz="2800" b="1" i="1" dirty="0">
                <a:latin typeface="Calibri"/>
                <a:cs typeface="Calibri"/>
              </a:rPr>
              <a:t>A</a:t>
            </a:r>
            <a:r>
              <a:rPr lang="en-US" sz="2800" b="1" i="1" dirty="0">
                <a:latin typeface="Calibri"/>
                <a:cs typeface="Calibri"/>
              </a:rPr>
              <a:t>lgorithm complexity analysis</a:t>
            </a:r>
            <a:endParaRPr sz="2800" b="1" dirty="0">
              <a:latin typeface="Calibri"/>
              <a:cs typeface="Calibri"/>
            </a:endParaRPr>
          </a:p>
          <a:p>
            <a:pPr marL="226931" indent="-215725">
              <a:lnSpc>
                <a:spcPct val="150000"/>
              </a:lnSpc>
              <a:spcBef>
                <a:spcPts val="838"/>
              </a:spcBef>
              <a:buFont typeface="Tahoma"/>
              <a:buChar char="‣"/>
              <a:tabLst>
                <a:tab pos="226931" algn="l"/>
              </a:tabLst>
            </a:pPr>
            <a:r>
              <a:rPr lang="en-US" sz="2800" b="1" i="1" dirty="0">
                <a:latin typeface="Calibri"/>
                <a:cs typeface="Calibri"/>
              </a:rPr>
              <a:t>1.3 NP hard </a:t>
            </a:r>
            <a:r>
              <a:rPr sz="2800" b="1" i="1" dirty="0">
                <a:latin typeface="Calibri"/>
                <a:cs typeface="Calibri"/>
              </a:rPr>
              <a:t>theory</a:t>
            </a:r>
            <a:r>
              <a:rPr sz="2800" b="1" i="1" spc="190" dirty="0">
                <a:latin typeface="Calibri"/>
                <a:cs typeface="Calibri"/>
              </a:rPr>
              <a:t> </a:t>
            </a:r>
            <a:r>
              <a:rPr sz="2800" b="1" i="1" dirty="0">
                <a:latin typeface="Calibri"/>
                <a:cs typeface="Calibri"/>
              </a:rPr>
              <a:t>of</a:t>
            </a:r>
            <a:r>
              <a:rPr sz="2800" b="1" i="1" spc="190" dirty="0">
                <a:latin typeface="Calibri"/>
                <a:cs typeface="Calibri"/>
              </a:rPr>
              <a:t> </a:t>
            </a:r>
            <a:r>
              <a:rPr sz="2800" b="1" i="1" spc="-9" dirty="0">
                <a:latin typeface="Calibri"/>
                <a:cs typeface="Calibri"/>
              </a:rPr>
              <a:t>algorithms</a:t>
            </a:r>
            <a:endParaRPr sz="2800" b="1" dirty="0">
              <a:latin typeface="Calibri"/>
              <a:cs typeface="Calibri"/>
            </a:endParaRPr>
          </a:p>
        </p:txBody>
      </p:sp>
      <p:sp>
        <p:nvSpPr>
          <p:cNvPr id="41" name="标题 40"/>
          <p:cNvSpPr>
            <a:spLocks noGrp="1"/>
          </p:cNvSpPr>
          <p:nvPr>
            <p:ph type="title"/>
          </p:nvPr>
        </p:nvSpPr>
        <p:spPr>
          <a:xfrm>
            <a:off x="420599" y="866694"/>
            <a:ext cx="8229600" cy="1139825"/>
          </a:xfrm>
        </p:spPr>
        <p:txBody>
          <a:bodyPr/>
          <a:lstStyle/>
          <a:p>
            <a:r>
              <a:rPr lang="en-US" altLang="zh-CN" sz="4400" b="1" spc="176" dirty="0">
                <a:latin typeface="微软雅黑" panose="020B0503020204020204" pitchFamily="34" charset="-122"/>
                <a:ea typeface="微软雅黑" panose="020B0503020204020204" pitchFamily="34" charset="-122"/>
                <a:cs typeface="Calibri"/>
              </a:rPr>
              <a:t>1</a:t>
            </a:r>
            <a:r>
              <a:rPr lang="zh-CN" altLang="en-US" sz="4400" b="1" spc="176" dirty="0">
                <a:latin typeface="微软雅黑" panose="020B0503020204020204" pitchFamily="34" charset="-122"/>
                <a:ea typeface="微软雅黑" panose="020B0503020204020204" pitchFamily="34" charset="-122"/>
                <a:cs typeface="Calibri"/>
              </a:rPr>
              <a:t>、 算法概述</a:t>
            </a:r>
            <a:r>
              <a:rPr lang="zh-CN" altLang="en-US" sz="4400" dirty="0">
                <a:latin typeface="微软雅黑" panose="020B0503020204020204" pitchFamily="34" charset="-122"/>
                <a:ea typeface="微软雅黑" panose="020B0503020204020204" pitchFamily="34" charset="-122"/>
                <a:cs typeface="Century Gothic"/>
              </a:rPr>
              <a:t/>
            </a:r>
            <a:br>
              <a:rPr lang="zh-CN" altLang="en-US" sz="4400" dirty="0">
                <a:latin typeface="微软雅黑" panose="020B0503020204020204" pitchFamily="34" charset="-122"/>
                <a:ea typeface="微软雅黑" panose="020B0503020204020204" pitchFamily="34" charset="-122"/>
                <a:cs typeface="Century Gothic"/>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4010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471" y="100853"/>
            <a:ext cx="8875059" cy="6656294"/>
          </a:xfrm>
          <a:custGeom>
            <a:avLst/>
            <a:gdLst/>
            <a:ahLst/>
            <a:cxnLst/>
            <a:rect l="l" t="t" r="r" b="b"/>
            <a:pathLst>
              <a:path w="10058400" h="7543800">
                <a:moveTo>
                  <a:pt x="0" y="0"/>
                </a:moveTo>
                <a:lnTo>
                  <a:pt x="10058400" y="0"/>
                </a:lnTo>
                <a:lnTo>
                  <a:pt x="10058400" y="7543800"/>
                </a:lnTo>
                <a:lnTo>
                  <a:pt x="0" y="7543800"/>
                </a:lnTo>
                <a:lnTo>
                  <a:pt x="0" y="0"/>
                </a:lnTo>
                <a:close/>
              </a:path>
            </a:pathLst>
          </a:custGeom>
          <a:solidFill>
            <a:srgbClr val="F5F5F5"/>
          </a:solidFill>
        </p:spPr>
        <p:txBody>
          <a:bodyPr wrap="square" lIns="0" tIns="0" rIns="0" bIns="0" rtlCol="0"/>
          <a:lstStyle/>
          <a:p>
            <a:endParaRPr sz="2647"/>
          </a:p>
        </p:txBody>
      </p:sp>
      <p:sp>
        <p:nvSpPr>
          <p:cNvPr id="3" name="object 3"/>
          <p:cNvSpPr/>
          <p:nvPr/>
        </p:nvSpPr>
        <p:spPr>
          <a:xfrm>
            <a:off x="2652554" y="100853"/>
            <a:ext cx="54909" cy="153521"/>
          </a:xfrm>
          <a:custGeom>
            <a:avLst/>
            <a:gdLst/>
            <a:ahLst/>
            <a:cxnLst/>
            <a:rect l="l" t="t" r="r" b="b"/>
            <a:pathLst>
              <a:path w="62230" h="173990">
                <a:moveTo>
                  <a:pt x="61977" y="0"/>
                </a:moveTo>
                <a:lnTo>
                  <a:pt x="0" y="86044"/>
                </a:lnTo>
                <a:lnTo>
                  <a:pt x="56886" y="173499"/>
                </a:lnTo>
              </a:path>
            </a:pathLst>
          </a:custGeom>
          <a:ln w="12150">
            <a:solidFill>
              <a:srgbClr val="6D6E71"/>
            </a:solidFill>
          </a:ln>
        </p:spPr>
        <p:txBody>
          <a:bodyPr wrap="square" lIns="0" tIns="0" rIns="0" bIns="0" rtlCol="0"/>
          <a:lstStyle/>
          <a:p>
            <a:endParaRPr sz="2647"/>
          </a:p>
        </p:txBody>
      </p:sp>
      <p:sp>
        <p:nvSpPr>
          <p:cNvPr id="4" name="object 4"/>
          <p:cNvSpPr/>
          <p:nvPr/>
        </p:nvSpPr>
        <p:spPr>
          <a:xfrm>
            <a:off x="5196939" y="100853"/>
            <a:ext cx="142315" cy="164726"/>
          </a:xfrm>
          <a:custGeom>
            <a:avLst/>
            <a:gdLst/>
            <a:ahLst/>
            <a:cxnLst/>
            <a:rect l="l" t="t" r="r" b="b"/>
            <a:pathLst>
              <a:path w="161289" h="186690">
                <a:moveTo>
                  <a:pt x="0" y="160402"/>
                </a:moveTo>
                <a:lnTo>
                  <a:pt x="65637" y="186621"/>
                </a:lnTo>
                <a:lnTo>
                  <a:pt x="87540" y="182271"/>
                </a:lnTo>
                <a:lnTo>
                  <a:pt x="109394" y="64150"/>
                </a:lnTo>
                <a:lnTo>
                  <a:pt x="157552" y="68573"/>
                </a:lnTo>
                <a:lnTo>
                  <a:pt x="161269" y="0"/>
                </a:lnTo>
              </a:path>
            </a:pathLst>
          </a:custGeom>
          <a:ln w="12152">
            <a:solidFill>
              <a:srgbClr val="6D6E71"/>
            </a:solidFill>
          </a:ln>
        </p:spPr>
        <p:txBody>
          <a:bodyPr wrap="square" lIns="0" tIns="0" rIns="0" bIns="0" rtlCol="0"/>
          <a:lstStyle/>
          <a:p>
            <a:endParaRPr sz="2647"/>
          </a:p>
        </p:txBody>
      </p:sp>
      <p:sp>
        <p:nvSpPr>
          <p:cNvPr id="5" name="object 5"/>
          <p:cNvSpPr/>
          <p:nvPr/>
        </p:nvSpPr>
        <p:spPr>
          <a:xfrm>
            <a:off x="6370707" y="100853"/>
            <a:ext cx="77321" cy="192180"/>
          </a:xfrm>
          <a:custGeom>
            <a:avLst/>
            <a:gdLst/>
            <a:ahLst/>
            <a:cxnLst/>
            <a:rect l="l" t="t" r="r" b="b"/>
            <a:pathLst>
              <a:path w="87629" h="217804">
                <a:moveTo>
                  <a:pt x="0" y="217263"/>
                </a:moveTo>
                <a:lnTo>
                  <a:pt x="13127" y="177922"/>
                </a:lnTo>
                <a:lnTo>
                  <a:pt x="8751" y="151654"/>
                </a:lnTo>
                <a:lnTo>
                  <a:pt x="87515" y="116662"/>
                </a:lnTo>
                <a:lnTo>
                  <a:pt x="87514" y="2915"/>
                </a:lnTo>
                <a:lnTo>
                  <a:pt x="81673" y="0"/>
                </a:lnTo>
              </a:path>
            </a:pathLst>
          </a:custGeom>
          <a:ln w="12150">
            <a:solidFill>
              <a:srgbClr val="6D6E71"/>
            </a:solidFill>
          </a:ln>
        </p:spPr>
        <p:txBody>
          <a:bodyPr wrap="square" lIns="0" tIns="0" rIns="0" bIns="0" rtlCol="0"/>
          <a:lstStyle/>
          <a:p>
            <a:endParaRPr sz="2647"/>
          </a:p>
        </p:txBody>
      </p:sp>
      <p:sp>
        <p:nvSpPr>
          <p:cNvPr id="6" name="object 6"/>
          <p:cNvSpPr/>
          <p:nvPr/>
        </p:nvSpPr>
        <p:spPr>
          <a:xfrm>
            <a:off x="6019331" y="100853"/>
            <a:ext cx="77321" cy="25773"/>
          </a:xfrm>
          <a:custGeom>
            <a:avLst/>
            <a:gdLst/>
            <a:ahLst/>
            <a:cxnLst/>
            <a:rect l="l" t="t" r="r" b="b"/>
            <a:pathLst>
              <a:path w="87629" h="29210">
                <a:moveTo>
                  <a:pt x="0" y="29183"/>
                </a:moveTo>
                <a:lnTo>
                  <a:pt x="78740" y="29183"/>
                </a:lnTo>
                <a:lnTo>
                  <a:pt x="87572" y="0"/>
                </a:lnTo>
              </a:path>
            </a:pathLst>
          </a:custGeom>
          <a:ln w="12154">
            <a:solidFill>
              <a:srgbClr val="6D6E71"/>
            </a:solidFill>
          </a:ln>
        </p:spPr>
        <p:txBody>
          <a:bodyPr wrap="square" lIns="0" tIns="0" rIns="0" bIns="0" rtlCol="0"/>
          <a:lstStyle/>
          <a:p>
            <a:endParaRPr sz="2647"/>
          </a:p>
        </p:txBody>
      </p:sp>
      <p:sp>
        <p:nvSpPr>
          <p:cNvPr id="7" name="object 7"/>
          <p:cNvSpPr/>
          <p:nvPr/>
        </p:nvSpPr>
        <p:spPr>
          <a:xfrm>
            <a:off x="2831621" y="100853"/>
            <a:ext cx="25773" cy="22412"/>
          </a:xfrm>
          <a:custGeom>
            <a:avLst/>
            <a:gdLst/>
            <a:ahLst/>
            <a:cxnLst/>
            <a:rect l="l" t="t" r="r" b="b"/>
            <a:pathLst>
              <a:path w="29210" h="25400">
                <a:moveTo>
                  <a:pt x="28974" y="24833"/>
                </a:moveTo>
                <a:lnTo>
                  <a:pt x="0" y="0"/>
                </a:lnTo>
              </a:path>
            </a:pathLst>
          </a:custGeom>
          <a:ln w="12152">
            <a:solidFill>
              <a:srgbClr val="6D6E71"/>
            </a:solidFill>
          </a:ln>
        </p:spPr>
        <p:txBody>
          <a:bodyPr wrap="square" lIns="0" tIns="0" rIns="0" bIns="0" rtlCol="0"/>
          <a:lstStyle/>
          <a:p>
            <a:endParaRPr sz="2647"/>
          </a:p>
        </p:txBody>
      </p:sp>
      <p:sp>
        <p:nvSpPr>
          <p:cNvPr id="8" name="object 8"/>
          <p:cNvSpPr/>
          <p:nvPr/>
        </p:nvSpPr>
        <p:spPr>
          <a:xfrm>
            <a:off x="4494234" y="100853"/>
            <a:ext cx="11206" cy="25773"/>
          </a:xfrm>
          <a:custGeom>
            <a:avLst/>
            <a:gdLst/>
            <a:ahLst/>
            <a:cxnLst/>
            <a:rect l="l" t="t" r="r" b="b"/>
            <a:pathLst>
              <a:path w="12700" h="29210">
                <a:moveTo>
                  <a:pt x="0" y="29183"/>
                </a:moveTo>
                <a:lnTo>
                  <a:pt x="12164" y="0"/>
                </a:lnTo>
              </a:path>
            </a:pathLst>
          </a:custGeom>
          <a:ln w="12150">
            <a:solidFill>
              <a:srgbClr val="6D6E71"/>
            </a:solidFill>
          </a:ln>
        </p:spPr>
        <p:txBody>
          <a:bodyPr wrap="square" lIns="0" tIns="0" rIns="0" bIns="0" rtlCol="0"/>
          <a:lstStyle/>
          <a:p>
            <a:endParaRPr sz="2647"/>
          </a:p>
        </p:txBody>
      </p:sp>
      <p:sp>
        <p:nvSpPr>
          <p:cNvPr id="9" name="object 9"/>
          <p:cNvSpPr/>
          <p:nvPr/>
        </p:nvSpPr>
        <p:spPr>
          <a:xfrm>
            <a:off x="7679567" y="100853"/>
            <a:ext cx="62193" cy="41462"/>
          </a:xfrm>
          <a:custGeom>
            <a:avLst/>
            <a:gdLst/>
            <a:ahLst/>
            <a:cxnLst/>
            <a:rect l="l" t="t" r="r" b="b"/>
            <a:pathLst>
              <a:path w="70484" h="46989">
                <a:moveTo>
                  <a:pt x="0" y="33557"/>
                </a:moveTo>
                <a:lnTo>
                  <a:pt x="70036" y="46654"/>
                </a:lnTo>
                <a:lnTo>
                  <a:pt x="63552" y="0"/>
                </a:lnTo>
              </a:path>
            </a:pathLst>
          </a:custGeom>
          <a:ln w="12153">
            <a:solidFill>
              <a:srgbClr val="6D6E71"/>
            </a:solidFill>
          </a:ln>
        </p:spPr>
        <p:txBody>
          <a:bodyPr wrap="square" lIns="0" tIns="0" rIns="0" bIns="0" rtlCol="0"/>
          <a:lstStyle/>
          <a:p>
            <a:endParaRPr sz="2647"/>
          </a:p>
        </p:txBody>
      </p:sp>
      <p:sp>
        <p:nvSpPr>
          <p:cNvPr id="10" name="object 10"/>
          <p:cNvSpPr/>
          <p:nvPr/>
        </p:nvSpPr>
        <p:spPr>
          <a:xfrm>
            <a:off x="2357571" y="100853"/>
            <a:ext cx="117662" cy="33618"/>
          </a:xfrm>
          <a:custGeom>
            <a:avLst/>
            <a:gdLst/>
            <a:ahLst/>
            <a:cxnLst/>
            <a:rect l="l" t="t" r="r" b="b"/>
            <a:pathLst>
              <a:path w="133350" h="38100">
                <a:moveTo>
                  <a:pt x="133025" y="37882"/>
                </a:moveTo>
                <a:lnTo>
                  <a:pt x="105918" y="0"/>
                </a:lnTo>
              </a:path>
              <a:path w="133350" h="38100">
                <a:moveTo>
                  <a:pt x="49586" y="0"/>
                </a:moveTo>
                <a:lnTo>
                  <a:pt x="14854" y="20410"/>
                </a:lnTo>
                <a:lnTo>
                  <a:pt x="0" y="0"/>
                </a:lnTo>
              </a:path>
            </a:pathLst>
          </a:custGeom>
          <a:ln w="12152">
            <a:solidFill>
              <a:srgbClr val="6D6E71"/>
            </a:solidFill>
          </a:ln>
        </p:spPr>
        <p:txBody>
          <a:bodyPr wrap="square" lIns="0" tIns="0" rIns="0" bIns="0" rtlCol="0"/>
          <a:lstStyle/>
          <a:p>
            <a:endParaRPr sz="2647"/>
          </a:p>
        </p:txBody>
      </p:sp>
      <p:sp>
        <p:nvSpPr>
          <p:cNvPr id="11" name="object 11"/>
          <p:cNvSpPr/>
          <p:nvPr/>
        </p:nvSpPr>
        <p:spPr>
          <a:xfrm>
            <a:off x="134471" y="250081"/>
            <a:ext cx="35859" cy="10085"/>
          </a:xfrm>
          <a:custGeom>
            <a:avLst/>
            <a:gdLst/>
            <a:ahLst/>
            <a:cxnLst/>
            <a:rect l="l" t="t" r="r" b="b"/>
            <a:pathLst>
              <a:path w="40640" h="11429">
                <a:moveTo>
                  <a:pt x="0" y="11042"/>
                </a:moveTo>
                <a:lnTo>
                  <a:pt x="40158" y="0"/>
                </a:lnTo>
              </a:path>
            </a:pathLst>
          </a:custGeom>
          <a:ln w="12154">
            <a:solidFill>
              <a:srgbClr val="6D6E71"/>
            </a:solidFill>
          </a:ln>
        </p:spPr>
        <p:txBody>
          <a:bodyPr wrap="square" lIns="0" tIns="0" rIns="0" bIns="0" rtlCol="0"/>
          <a:lstStyle/>
          <a:p>
            <a:endParaRPr sz="2647"/>
          </a:p>
        </p:txBody>
      </p:sp>
      <p:sp>
        <p:nvSpPr>
          <p:cNvPr id="12" name="object 12"/>
          <p:cNvSpPr/>
          <p:nvPr/>
        </p:nvSpPr>
        <p:spPr>
          <a:xfrm>
            <a:off x="6521266" y="100853"/>
            <a:ext cx="63313" cy="164726"/>
          </a:xfrm>
          <a:custGeom>
            <a:avLst/>
            <a:gdLst/>
            <a:ahLst/>
            <a:cxnLst/>
            <a:rect l="l" t="t" r="r" b="b"/>
            <a:pathLst>
              <a:path w="71754" h="186690">
                <a:moveTo>
                  <a:pt x="0" y="186621"/>
                </a:moveTo>
                <a:lnTo>
                  <a:pt x="61284" y="86044"/>
                </a:lnTo>
                <a:lnTo>
                  <a:pt x="71281" y="0"/>
                </a:lnTo>
              </a:path>
            </a:pathLst>
          </a:custGeom>
          <a:ln w="12150">
            <a:solidFill>
              <a:srgbClr val="6D6E71"/>
            </a:solidFill>
          </a:ln>
        </p:spPr>
        <p:txBody>
          <a:bodyPr wrap="square" lIns="0" tIns="0" rIns="0" bIns="0" rtlCol="0"/>
          <a:lstStyle/>
          <a:p>
            <a:endParaRPr sz="2647"/>
          </a:p>
        </p:txBody>
      </p:sp>
      <p:sp>
        <p:nvSpPr>
          <p:cNvPr id="13" name="object 13"/>
          <p:cNvSpPr/>
          <p:nvPr/>
        </p:nvSpPr>
        <p:spPr>
          <a:xfrm>
            <a:off x="4669200" y="100853"/>
            <a:ext cx="26334" cy="14568"/>
          </a:xfrm>
          <a:custGeom>
            <a:avLst/>
            <a:gdLst/>
            <a:ahLst/>
            <a:cxnLst/>
            <a:rect l="l" t="t" r="r" b="b"/>
            <a:pathLst>
              <a:path w="29845" h="16510">
                <a:moveTo>
                  <a:pt x="0" y="0"/>
                </a:moveTo>
                <a:lnTo>
                  <a:pt x="29271" y="16036"/>
                </a:lnTo>
              </a:path>
            </a:pathLst>
          </a:custGeom>
          <a:ln w="12153">
            <a:solidFill>
              <a:srgbClr val="6D6E71"/>
            </a:solidFill>
          </a:ln>
        </p:spPr>
        <p:txBody>
          <a:bodyPr wrap="square" lIns="0" tIns="0" rIns="0" bIns="0" rtlCol="0"/>
          <a:lstStyle/>
          <a:p>
            <a:endParaRPr sz="2647"/>
          </a:p>
        </p:txBody>
      </p:sp>
      <p:sp>
        <p:nvSpPr>
          <p:cNvPr id="14" name="object 14"/>
          <p:cNvSpPr/>
          <p:nvPr/>
        </p:nvSpPr>
        <p:spPr>
          <a:xfrm>
            <a:off x="2073402" y="100853"/>
            <a:ext cx="170329" cy="161365"/>
          </a:xfrm>
          <a:custGeom>
            <a:avLst/>
            <a:gdLst/>
            <a:ahLst/>
            <a:cxnLst/>
            <a:rect l="l" t="t" r="r" b="b"/>
            <a:pathLst>
              <a:path w="193039" h="182879">
                <a:moveTo>
                  <a:pt x="179409" y="182271"/>
                </a:moveTo>
                <a:lnTo>
                  <a:pt x="192512" y="116662"/>
                </a:lnTo>
                <a:lnTo>
                  <a:pt x="109395" y="20410"/>
                </a:lnTo>
                <a:lnTo>
                  <a:pt x="0" y="37882"/>
                </a:lnTo>
                <a:lnTo>
                  <a:pt x="13384" y="0"/>
                </a:lnTo>
              </a:path>
            </a:pathLst>
          </a:custGeom>
          <a:ln w="12152">
            <a:solidFill>
              <a:srgbClr val="6D6E71"/>
            </a:solidFill>
          </a:ln>
        </p:spPr>
        <p:txBody>
          <a:bodyPr wrap="square" lIns="0" tIns="0" rIns="0" bIns="0" rtlCol="0"/>
          <a:lstStyle/>
          <a:p>
            <a:endParaRPr sz="2647"/>
          </a:p>
        </p:txBody>
      </p:sp>
      <p:sp>
        <p:nvSpPr>
          <p:cNvPr id="15" name="object 15"/>
          <p:cNvSpPr/>
          <p:nvPr/>
        </p:nvSpPr>
        <p:spPr>
          <a:xfrm>
            <a:off x="6994512" y="100853"/>
            <a:ext cx="322169" cy="161365"/>
          </a:xfrm>
          <a:custGeom>
            <a:avLst/>
            <a:gdLst/>
            <a:ahLst/>
            <a:cxnLst/>
            <a:rect l="l" t="t" r="r" b="b"/>
            <a:pathLst>
              <a:path w="365125" h="182879">
                <a:moveTo>
                  <a:pt x="365096" y="156052"/>
                </a:moveTo>
                <a:lnTo>
                  <a:pt x="347592" y="160402"/>
                </a:lnTo>
                <a:lnTo>
                  <a:pt x="316986" y="182271"/>
                </a:lnTo>
                <a:lnTo>
                  <a:pt x="198815" y="151654"/>
                </a:lnTo>
                <a:lnTo>
                  <a:pt x="85018" y="55402"/>
                </a:lnTo>
                <a:lnTo>
                  <a:pt x="0" y="0"/>
                </a:lnTo>
              </a:path>
            </a:pathLst>
          </a:custGeom>
          <a:ln w="12154">
            <a:solidFill>
              <a:srgbClr val="6D6E71"/>
            </a:solidFill>
          </a:ln>
        </p:spPr>
        <p:txBody>
          <a:bodyPr wrap="square" lIns="0" tIns="0" rIns="0" bIns="0" rtlCol="0"/>
          <a:lstStyle/>
          <a:p>
            <a:endParaRPr sz="2647"/>
          </a:p>
        </p:txBody>
      </p:sp>
      <p:sp>
        <p:nvSpPr>
          <p:cNvPr id="16" name="object 16"/>
          <p:cNvSpPr/>
          <p:nvPr/>
        </p:nvSpPr>
        <p:spPr>
          <a:xfrm>
            <a:off x="5085852" y="100854"/>
            <a:ext cx="26334" cy="133910"/>
          </a:xfrm>
          <a:custGeom>
            <a:avLst/>
            <a:gdLst/>
            <a:ahLst/>
            <a:cxnLst/>
            <a:rect l="l" t="t" r="r" b="b"/>
            <a:pathLst>
              <a:path w="29845" h="151765">
                <a:moveTo>
                  <a:pt x="29679" y="151654"/>
                </a:moveTo>
                <a:lnTo>
                  <a:pt x="20927" y="125386"/>
                </a:lnTo>
                <a:lnTo>
                  <a:pt x="0" y="0"/>
                </a:lnTo>
              </a:path>
            </a:pathLst>
          </a:custGeom>
          <a:ln w="12150">
            <a:solidFill>
              <a:srgbClr val="6D6E71"/>
            </a:solidFill>
          </a:ln>
        </p:spPr>
        <p:txBody>
          <a:bodyPr wrap="square" lIns="0" tIns="0" rIns="0" bIns="0" rtlCol="0"/>
          <a:lstStyle/>
          <a:p>
            <a:endParaRPr sz="2647"/>
          </a:p>
        </p:txBody>
      </p:sp>
      <p:sp>
        <p:nvSpPr>
          <p:cNvPr id="17" name="object 17"/>
          <p:cNvSpPr/>
          <p:nvPr/>
        </p:nvSpPr>
        <p:spPr>
          <a:xfrm>
            <a:off x="1223982" y="100853"/>
            <a:ext cx="448235" cy="249891"/>
          </a:xfrm>
          <a:custGeom>
            <a:avLst/>
            <a:gdLst/>
            <a:ahLst/>
            <a:cxnLst/>
            <a:rect l="l" t="t" r="r" b="b"/>
            <a:pathLst>
              <a:path w="508000" h="283210">
                <a:moveTo>
                  <a:pt x="0" y="212841"/>
                </a:moveTo>
                <a:lnTo>
                  <a:pt x="21903" y="208515"/>
                </a:lnTo>
                <a:lnTo>
                  <a:pt x="56885" y="186621"/>
                </a:lnTo>
                <a:lnTo>
                  <a:pt x="105017" y="77272"/>
                </a:lnTo>
                <a:lnTo>
                  <a:pt x="258146" y="51052"/>
                </a:lnTo>
                <a:lnTo>
                  <a:pt x="241925" y="0"/>
                </a:lnTo>
              </a:path>
              <a:path w="508000" h="283210">
                <a:moveTo>
                  <a:pt x="297531" y="282848"/>
                </a:moveTo>
                <a:lnTo>
                  <a:pt x="284428" y="256580"/>
                </a:lnTo>
                <a:lnTo>
                  <a:pt x="323810" y="243483"/>
                </a:lnTo>
                <a:lnTo>
                  <a:pt x="341309" y="94792"/>
                </a:lnTo>
                <a:lnTo>
                  <a:pt x="507567" y="55402"/>
                </a:lnTo>
                <a:lnTo>
                  <a:pt x="501055" y="0"/>
                </a:lnTo>
              </a:path>
            </a:pathLst>
          </a:custGeom>
          <a:ln w="12152">
            <a:solidFill>
              <a:srgbClr val="6D6E71"/>
            </a:solidFill>
          </a:ln>
        </p:spPr>
        <p:txBody>
          <a:bodyPr wrap="square" lIns="0" tIns="0" rIns="0" bIns="0" rtlCol="0"/>
          <a:lstStyle/>
          <a:p>
            <a:endParaRPr sz="2647"/>
          </a:p>
        </p:txBody>
      </p:sp>
      <p:sp>
        <p:nvSpPr>
          <p:cNvPr id="18" name="object 18"/>
          <p:cNvSpPr/>
          <p:nvPr/>
        </p:nvSpPr>
        <p:spPr>
          <a:xfrm>
            <a:off x="938266" y="100853"/>
            <a:ext cx="127747" cy="245969"/>
          </a:xfrm>
          <a:custGeom>
            <a:avLst/>
            <a:gdLst/>
            <a:ahLst/>
            <a:cxnLst/>
            <a:rect l="l" t="t" r="r" b="b"/>
            <a:pathLst>
              <a:path w="144780" h="278765">
                <a:moveTo>
                  <a:pt x="122500" y="278474"/>
                </a:moveTo>
                <a:lnTo>
                  <a:pt x="144378" y="164751"/>
                </a:lnTo>
                <a:lnTo>
                  <a:pt x="0" y="86044"/>
                </a:lnTo>
                <a:lnTo>
                  <a:pt x="11937" y="0"/>
                </a:lnTo>
              </a:path>
            </a:pathLst>
          </a:custGeom>
          <a:ln w="12150">
            <a:solidFill>
              <a:srgbClr val="6D6E71"/>
            </a:solidFill>
          </a:ln>
        </p:spPr>
        <p:txBody>
          <a:bodyPr wrap="square" lIns="0" tIns="0" rIns="0" bIns="0" rtlCol="0"/>
          <a:lstStyle/>
          <a:p>
            <a:endParaRPr sz="2647"/>
          </a:p>
        </p:txBody>
      </p:sp>
      <p:sp>
        <p:nvSpPr>
          <p:cNvPr id="19" name="object 19"/>
          <p:cNvSpPr/>
          <p:nvPr/>
        </p:nvSpPr>
        <p:spPr>
          <a:xfrm>
            <a:off x="5733799" y="100853"/>
            <a:ext cx="15688" cy="72278"/>
          </a:xfrm>
          <a:custGeom>
            <a:avLst/>
            <a:gdLst/>
            <a:ahLst/>
            <a:cxnLst/>
            <a:rect l="l" t="t" r="r" b="b"/>
            <a:pathLst>
              <a:path w="17779" h="81914">
                <a:moveTo>
                  <a:pt x="17323" y="81670"/>
                </a:moveTo>
                <a:lnTo>
                  <a:pt x="4170" y="11662"/>
                </a:lnTo>
                <a:lnTo>
                  <a:pt x="0" y="0"/>
                </a:lnTo>
              </a:path>
            </a:pathLst>
          </a:custGeom>
          <a:ln w="12150">
            <a:solidFill>
              <a:srgbClr val="6D6E71"/>
            </a:solidFill>
          </a:ln>
        </p:spPr>
        <p:txBody>
          <a:bodyPr wrap="square" lIns="0" tIns="0" rIns="0" bIns="0" rtlCol="0"/>
          <a:lstStyle/>
          <a:p>
            <a:endParaRPr sz="2647"/>
          </a:p>
        </p:txBody>
      </p:sp>
      <p:sp>
        <p:nvSpPr>
          <p:cNvPr id="20" name="object 20"/>
          <p:cNvSpPr/>
          <p:nvPr/>
        </p:nvSpPr>
        <p:spPr>
          <a:xfrm>
            <a:off x="548311" y="504801"/>
            <a:ext cx="66115" cy="366993"/>
          </a:xfrm>
          <a:custGeom>
            <a:avLst/>
            <a:gdLst/>
            <a:ahLst/>
            <a:cxnLst/>
            <a:rect l="l" t="t" r="r" b="b"/>
            <a:pathLst>
              <a:path w="74929" h="415925">
                <a:moveTo>
                  <a:pt x="30602" y="0"/>
                </a:moveTo>
                <a:lnTo>
                  <a:pt x="74360" y="21894"/>
                </a:lnTo>
                <a:lnTo>
                  <a:pt x="43757" y="253690"/>
                </a:lnTo>
                <a:lnTo>
                  <a:pt x="0" y="345519"/>
                </a:lnTo>
                <a:lnTo>
                  <a:pt x="4376" y="415551"/>
                </a:lnTo>
              </a:path>
            </a:pathLst>
          </a:custGeom>
          <a:ln w="12150">
            <a:solidFill>
              <a:srgbClr val="6D6E71"/>
            </a:solidFill>
          </a:ln>
        </p:spPr>
        <p:txBody>
          <a:bodyPr wrap="square" lIns="0" tIns="0" rIns="0" bIns="0" rtlCol="0"/>
          <a:lstStyle/>
          <a:p>
            <a:endParaRPr sz="2647"/>
          </a:p>
        </p:txBody>
      </p:sp>
      <p:sp>
        <p:nvSpPr>
          <p:cNvPr id="21" name="object 21"/>
          <p:cNvSpPr/>
          <p:nvPr/>
        </p:nvSpPr>
        <p:spPr>
          <a:xfrm>
            <a:off x="9003879" y="663936"/>
            <a:ext cx="6163" cy="34178"/>
          </a:xfrm>
          <a:custGeom>
            <a:avLst/>
            <a:gdLst/>
            <a:ahLst/>
            <a:cxnLst/>
            <a:rect l="l" t="t" r="r" b="b"/>
            <a:pathLst>
              <a:path w="6984" h="38734">
                <a:moveTo>
                  <a:pt x="0" y="38345"/>
                </a:moveTo>
                <a:lnTo>
                  <a:pt x="6404" y="0"/>
                </a:lnTo>
              </a:path>
            </a:pathLst>
          </a:custGeom>
          <a:ln w="12150">
            <a:solidFill>
              <a:srgbClr val="6D6E71"/>
            </a:solidFill>
          </a:ln>
        </p:spPr>
        <p:txBody>
          <a:bodyPr wrap="square" lIns="0" tIns="0" rIns="0" bIns="0" rtlCol="0"/>
          <a:lstStyle/>
          <a:p>
            <a:endParaRPr sz="2647"/>
          </a:p>
        </p:txBody>
      </p:sp>
      <p:sp>
        <p:nvSpPr>
          <p:cNvPr id="22" name="object 22"/>
          <p:cNvSpPr/>
          <p:nvPr/>
        </p:nvSpPr>
        <p:spPr>
          <a:xfrm>
            <a:off x="8540601" y="254040"/>
            <a:ext cx="468966" cy="532840"/>
          </a:xfrm>
          <a:custGeom>
            <a:avLst/>
            <a:gdLst/>
            <a:ahLst/>
            <a:cxnLst/>
            <a:rect l="l" t="t" r="r" b="b"/>
            <a:pathLst>
              <a:path w="531495" h="603885">
                <a:moveTo>
                  <a:pt x="531452" y="392402"/>
                </a:moveTo>
                <a:lnTo>
                  <a:pt x="472585" y="362950"/>
                </a:lnTo>
                <a:lnTo>
                  <a:pt x="459408" y="319186"/>
                </a:lnTo>
                <a:lnTo>
                  <a:pt x="498813" y="227357"/>
                </a:lnTo>
                <a:lnTo>
                  <a:pt x="529443" y="135504"/>
                </a:lnTo>
                <a:lnTo>
                  <a:pt x="531452" y="73210"/>
                </a:lnTo>
              </a:path>
              <a:path w="531495" h="603885">
                <a:moveTo>
                  <a:pt x="531452" y="0"/>
                </a:moveTo>
                <a:lnTo>
                  <a:pt x="350009" y="8659"/>
                </a:lnTo>
                <a:lnTo>
                  <a:pt x="376289" y="61171"/>
                </a:lnTo>
                <a:lnTo>
                  <a:pt x="236287" y="74268"/>
                </a:lnTo>
                <a:lnTo>
                  <a:pt x="249391" y="118008"/>
                </a:lnTo>
                <a:lnTo>
                  <a:pt x="262520" y="227357"/>
                </a:lnTo>
              </a:path>
              <a:path w="531495" h="603885">
                <a:moveTo>
                  <a:pt x="0" y="603494"/>
                </a:moveTo>
                <a:lnTo>
                  <a:pt x="131273" y="590396"/>
                </a:lnTo>
                <a:lnTo>
                  <a:pt x="275675" y="524787"/>
                </a:lnTo>
                <a:lnTo>
                  <a:pt x="319407" y="411015"/>
                </a:lnTo>
                <a:lnTo>
                  <a:pt x="358838" y="402316"/>
                </a:lnTo>
                <a:lnTo>
                  <a:pt x="433179" y="463527"/>
                </a:lnTo>
                <a:lnTo>
                  <a:pt x="450707" y="481047"/>
                </a:lnTo>
                <a:lnTo>
                  <a:pt x="525096" y="502893"/>
                </a:lnTo>
                <a:lnTo>
                  <a:pt x="531452" y="500703"/>
                </a:lnTo>
              </a:path>
            </a:pathLst>
          </a:custGeom>
          <a:ln w="12152">
            <a:solidFill>
              <a:srgbClr val="6D6E71"/>
            </a:solidFill>
          </a:ln>
        </p:spPr>
        <p:txBody>
          <a:bodyPr wrap="square" lIns="0" tIns="0" rIns="0" bIns="0" rtlCol="0"/>
          <a:lstStyle/>
          <a:p>
            <a:endParaRPr sz="2647"/>
          </a:p>
        </p:txBody>
      </p:sp>
      <p:sp>
        <p:nvSpPr>
          <p:cNvPr id="39" name="object 39"/>
          <p:cNvSpPr txBox="1"/>
          <p:nvPr/>
        </p:nvSpPr>
        <p:spPr>
          <a:xfrm>
            <a:off x="803157" y="2068152"/>
            <a:ext cx="6876410" cy="3798739"/>
          </a:xfrm>
          <a:prstGeom prst="rect">
            <a:avLst/>
          </a:prstGeom>
        </p:spPr>
        <p:txBody>
          <a:bodyPr vert="horz" wrap="square" lIns="0" tIns="117101" rIns="0" bIns="0" rtlCol="0">
            <a:spAutoFit/>
          </a:bodyPr>
          <a:lstStyle/>
          <a:p>
            <a:pPr marL="226931" indent="-215725">
              <a:lnSpc>
                <a:spcPct val="150000"/>
              </a:lnSpc>
              <a:spcBef>
                <a:spcPts val="922"/>
              </a:spcBef>
              <a:buFont typeface="Tahoma"/>
              <a:buChar char="‣"/>
              <a:tabLst>
                <a:tab pos="226931" algn="l"/>
              </a:tabLst>
            </a:pPr>
            <a:r>
              <a:rPr lang="en-US" sz="2800" b="1" i="1" spc="-9" dirty="0">
                <a:solidFill>
                  <a:srgbClr val="FF0000"/>
                </a:solidFill>
                <a:latin typeface="Calibri"/>
                <a:cs typeface="Calibri"/>
              </a:rPr>
              <a:t>Why study algorithms?</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Course overview</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1.1 Algorithm and program</a:t>
            </a:r>
          </a:p>
          <a:p>
            <a:pPr marL="226931" indent="-215725">
              <a:lnSpc>
                <a:spcPct val="150000"/>
              </a:lnSpc>
              <a:spcBef>
                <a:spcPts val="922"/>
              </a:spcBef>
              <a:buFont typeface="Tahoma"/>
              <a:buChar char="‣"/>
              <a:tabLst>
                <a:tab pos="226931" algn="l"/>
              </a:tabLst>
            </a:pPr>
            <a:r>
              <a:rPr lang="en-US" sz="2800" b="1" i="1" dirty="0">
                <a:latin typeface="Calibri"/>
                <a:cs typeface="Calibri"/>
              </a:rPr>
              <a:t>1.2 </a:t>
            </a:r>
            <a:r>
              <a:rPr lang="en-US" altLang="zh-CN" sz="2800" b="1" i="1" dirty="0">
                <a:latin typeface="Calibri"/>
                <a:cs typeface="Calibri"/>
              </a:rPr>
              <a:t>A</a:t>
            </a:r>
            <a:r>
              <a:rPr lang="en-US" sz="2800" b="1" i="1" dirty="0">
                <a:latin typeface="Calibri"/>
                <a:cs typeface="Calibri"/>
              </a:rPr>
              <a:t>lgorithm complexity analysis</a:t>
            </a:r>
            <a:endParaRPr sz="2800" b="1" dirty="0">
              <a:latin typeface="Calibri"/>
              <a:cs typeface="Calibri"/>
            </a:endParaRPr>
          </a:p>
          <a:p>
            <a:pPr marL="226931" indent="-215725">
              <a:lnSpc>
                <a:spcPct val="150000"/>
              </a:lnSpc>
              <a:spcBef>
                <a:spcPts val="838"/>
              </a:spcBef>
              <a:buFont typeface="Tahoma"/>
              <a:buChar char="‣"/>
              <a:tabLst>
                <a:tab pos="226931" algn="l"/>
              </a:tabLst>
            </a:pPr>
            <a:r>
              <a:rPr lang="en-US" sz="2800" b="1" i="1" dirty="0">
                <a:latin typeface="Calibri"/>
                <a:cs typeface="Calibri"/>
              </a:rPr>
              <a:t>1.3 NP hard </a:t>
            </a:r>
            <a:r>
              <a:rPr sz="2800" b="1" i="1" dirty="0">
                <a:latin typeface="Calibri"/>
                <a:cs typeface="Calibri"/>
              </a:rPr>
              <a:t>theory</a:t>
            </a:r>
            <a:r>
              <a:rPr sz="2800" b="1" i="1" spc="190" dirty="0">
                <a:latin typeface="Calibri"/>
                <a:cs typeface="Calibri"/>
              </a:rPr>
              <a:t> </a:t>
            </a:r>
            <a:r>
              <a:rPr sz="2800" b="1" i="1" dirty="0">
                <a:latin typeface="Calibri"/>
                <a:cs typeface="Calibri"/>
              </a:rPr>
              <a:t>of</a:t>
            </a:r>
            <a:r>
              <a:rPr sz="2800" b="1" i="1" spc="190" dirty="0">
                <a:latin typeface="Calibri"/>
                <a:cs typeface="Calibri"/>
              </a:rPr>
              <a:t> </a:t>
            </a:r>
            <a:r>
              <a:rPr sz="2800" b="1" i="1" spc="-9" dirty="0">
                <a:latin typeface="Calibri"/>
                <a:cs typeface="Calibri"/>
              </a:rPr>
              <a:t>algorithms</a:t>
            </a:r>
            <a:endParaRPr sz="2800" b="1" dirty="0">
              <a:latin typeface="Calibri"/>
              <a:cs typeface="Calibri"/>
            </a:endParaRPr>
          </a:p>
        </p:txBody>
      </p:sp>
      <p:sp>
        <p:nvSpPr>
          <p:cNvPr id="41" name="标题 40"/>
          <p:cNvSpPr>
            <a:spLocks noGrp="1"/>
          </p:cNvSpPr>
          <p:nvPr>
            <p:ph type="title"/>
          </p:nvPr>
        </p:nvSpPr>
        <p:spPr>
          <a:xfrm>
            <a:off x="420599" y="866694"/>
            <a:ext cx="8229600" cy="1139825"/>
          </a:xfrm>
        </p:spPr>
        <p:txBody>
          <a:bodyPr/>
          <a:lstStyle/>
          <a:p>
            <a:r>
              <a:rPr lang="en-US" altLang="zh-CN" sz="4400" b="1" spc="176" dirty="0">
                <a:latin typeface="微软雅黑" panose="020B0503020204020204" pitchFamily="34" charset="-122"/>
                <a:ea typeface="微软雅黑" panose="020B0503020204020204" pitchFamily="34" charset="-122"/>
                <a:cs typeface="Calibri"/>
              </a:rPr>
              <a:t>1</a:t>
            </a:r>
            <a:r>
              <a:rPr lang="zh-CN" altLang="en-US" sz="4400" b="1" spc="176" dirty="0">
                <a:latin typeface="微软雅黑" panose="020B0503020204020204" pitchFamily="34" charset="-122"/>
                <a:ea typeface="微软雅黑" panose="020B0503020204020204" pitchFamily="34" charset="-122"/>
                <a:cs typeface="Calibri"/>
              </a:rPr>
              <a:t>、 算法概述</a:t>
            </a:r>
            <a:r>
              <a:rPr lang="zh-CN" altLang="en-US" sz="4400" dirty="0">
                <a:latin typeface="微软雅黑" panose="020B0503020204020204" pitchFamily="34" charset="-122"/>
                <a:ea typeface="微软雅黑" panose="020B0503020204020204" pitchFamily="34" charset="-122"/>
                <a:cs typeface="Century Gothic"/>
              </a:rPr>
              <a:t/>
            </a:r>
            <a:br>
              <a:rPr lang="zh-CN" altLang="en-US" sz="4400" dirty="0">
                <a:latin typeface="微软雅黑" panose="020B0503020204020204" pitchFamily="34" charset="-122"/>
                <a:ea typeface="微软雅黑" panose="020B0503020204020204" pitchFamily="34" charset="-122"/>
                <a:cs typeface="Century Gothic"/>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3152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288" y="1228358"/>
            <a:ext cx="3893695" cy="286016"/>
          </a:xfrm>
          <a:prstGeom prst="rect">
            <a:avLst/>
          </a:prstGeom>
        </p:spPr>
        <p:txBody>
          <a:bodyPr vert="horz" wrap="square" lIns="0" tIns="8930" rIns="0" bIns="0" rtlCol="0">
            <a:spAutoFit/>
          </a:bodyPr>
          <a:lstStyle/>
          <a:p>
            <a:pPr marL="8929">
              <a:spcBef>
                <a:spcPts val="70"/>
              </a:spcBef>
            </a:pPr>
            <a:r>
              <a:rPr sz="1800" b="1" dirty="0">
                <a:solidFill>
                  <a:srgbClr val="005493"/>
                </a:solidFill>
                <a:latin typeface="微软雅黑" panose="020B0503020204020204" pitchFamily="34" charset="-122"/>
                <a:ea typeface="微软雅黑" panose="020B0503020204020204" pitchFamily="34" charset="-122"/>
                <a:cs typeface="Lucida Sans"/>
              </a:rPr>
              <a:t>Old roots, new</a:t>
            </a:r>
            <a:r>
              <a:rPr sz="1800" b="1" spc="4" dirty="0">
                <a:solidFill>
                  <a:srgbClr val="005493"/>
                </a:solidFill>
                <a:latin typeface="微软雅黑" panose="020B0503020204020204" pitchFamily="34" charset="-122"/>
                <a:ea typeface="微软雅黑" panose="020B0503020204020204" pitchFamily="34" charset="-122"/>
                <a:cs typeface="Lucida Sans"/>
              </a:rPr>
              <a:t> </a:t>
            </a:r>
            <a:r>
              <a:rPr sz="1800" b="1" spc="-7" dirty="0">
                <a:solidFill>
                  <a:srgbClr val="005493"/>
                </a:solidFill>
                <a:latin typeface="微软雅黑" panose="020B0503020204020204" pitchFamily="34" charset="-122"/>
                <a:ea typeface="微软雅黑" panose="020B0503020204020204" pitchFamily="34" charset="-122"/>
                <a:cs typeface="Lucida Sans"/>
              </a:rPr>
              <a:t>opportunities.</a:t>
            </a:r>
            <a:endParaRPr sz="1800" b="1" dirty="0">
              <a:latin typeface="微软雅黑" panose="020B0503020204020204" pitchFamily="34" charset="-122"/>
              <a:ea typeface="微软雅黑" panose="020B0503020204020204" pitchFamily="34" charset="-122"/>
              <a:cs typeface="Lucida Sans"/>
            </a:endParaRPr>
          </a:p>
        </p:txBody>
      </p:sp>
      <p:sp>
        <p:nvSpPr>
          <p:cNvPr id="3" name="object 3"/>
          <p:cNvSpPr txBox="1"/>
          <p:nvPr/>
        </p:nvSpPr>
        <p:spPr>
          <a:xfrm>
            <a:off x="335207" y="1853983"/>
            <a:ext cx="5992533" cy="286016"/>
          </a:xfrm>
          <a:prstGeom prst="rect">
            <a:avLst/>
          </a:prstGeom>
        </p:spPr>
        <p:txBody>
          <a:bodyPr vert="horz" wrap="square" lIns="0" tIns="8930" rIns="0" bIns="0" rtlCol="0">
            <a:spAutoFit/>
          </a:bodyPr>
          <a:lstStyle/>
          <a:p>
            <a:pPr marL="26788">
              <a:spcBef>
                <a:spcPts val="70"/>
              </a:spcBef>
            </a:pPr>
            <a:r>
              <a:rPr sz="1800" b="1" spc="2109" baseline="-11805" dirty="0">
                <a:latin typeface="微软雅黑" panose="020B0503020204020204" pitchFamily="34" charset="-122"/>
                <a:ea typeface="微软雅黑" panose="020B0503020204020204" pitchFamily="34" charset="-122"/>
                <a:cs typeface="MS PGothic"/>
              </a:rPr>
              <a:t>・</a:t>
            </a:r>
            <a:r>
              <a:rPr sz="1800" b="1" dirty="0">
                <a:latin typeface="微软雅黑" panose="020B0503020204020204" pitchFamily="34" charset="-122"/>
                <a:ea typeface="微软雅黑" panose="020B0503020204020204" pitchFamily="34" charset="-122"/>
                <a:cs typeface="Lucida Sans"/>
              </a:rPr>
              <a:t>Study</a:t>
            </a:r>
            <a:r>
              <a:rPr sz="1800" b="1" spc="-18" dirty="0">
                <a:latin typeface="微软雅黑" panose="020B0503020204020204" pitchFamily="34" charset="-122"/>
                <a:ea typeface="微软雅黑" panose="020B0503020204020204" pitchFamily="34" charset="-122"/>
                <a:cs typeface="Lucida Sans"/>
              </a:rPr>
              <a:t> </a:t>
            </a:r>
            <a:r>
              <a:rPr sz="1800" b="1" dirty="0">
                <a:latin typeface="微软雅黑" panose="020B0503020204020204" pitchFamily="34" charset="-122"/>
                <a:ea typeface="微软雅黑" panose="020B0503020204020204" pitchFamily="34" charset="-122"/>
                <a:cs typeface="Lucida Sans"/>
              </a:rPr>
              <a:t>of</a:t>
            </a:r>
            <a:r>
              <a:rPr sz="1800" b="1" spc="-18" dirty="0">
                <a:latin typeface="微软雅黑" panose="020B0503020204020204" pitchFamily="34" charset="-122"/>
                <a:ea typeface="微软雅黑" panose="020B0503020204020204" pitchFamily="34" charset="-122"/>
                <a:cs typeface="Lucida Sans"/>
              </a:rPr>
              <a:t> </a:t>
            </a:r>
            <a:r>
              <a:rPr sz="1800" b="1" dirty="0">
                <a:latin typeface="微软雅黑" panose="020B0503020204020204" pitchFamily="34" charset="-122"/>
                <a:ea typeface="微软雅黑" panose="020B0503020204020204" pitchFamily="34" charset="-122"/>
                <a:cs typeface="Lucida Sans"/>
              </a:rPr>
              <a:t>algorithms</a:t>
            </a:r>
            <a:r>
              <a:rPr sz="1800" b="1" spc="-18" dirty="0">
                <a:latin typeface="微软雅黑" panose="020B0503020204020204" pitchFamily="34" charset="-122"/>
                <a:ea typeface="微软雅黑" panose="020B0503020204020204" pitchFamily="34" charset="-122"/>
                <a:cs typeface="Lucida Sans"/>
              </a:rPr>
              <a:t> </a:t>
            </a:r>
            <a:r>
              <a:rPr sz="1800" b="1" dirty="0">
                <a:latin typeface="微软雅黑" panose="020B0503020204020204" pitchFamily="34" charset="-122"/>
                <a:ea typeface="微软雅黑" panose="020B0503020204020204" pitchFamily="34" charset="-122"/>
                <a:cs typeface="Lucida Sans"/>
              </a:rPr>
              <a:t>dates</a:t>
            </a:r>
            <a:r>
              <a:rPr sz="1800" b="1" spc="-14" dirty="0">
                <a:latin typeface="微软雅黑" panose="020B0503020204020204" pitchFamily="34" charset="-122"/>
                <a:ea typeface="微软雅黑" panose="020B0503020204020204" pitchFamily="34" charset="-122"/>
                <a:cs typeface="Lucida Sans"/>
              </a:rPr>
              <a:t> </a:t>
            </a:r>
            <a:r>
              <a:rPr sz="1800" b="1" dirty="0">
                <a:latin typeface="微软雅黑" panose="020B0503020204020204" pitchFamily="34" charset="-122"/>
                <a:ea typeface="微软雅黑" panose="020B0503020204020204" pitchFamily="34" charset="-122"/>
                <a:cs typeface="Lucida Sans"/>
              </a:rPr>
              <a:t>at</a:t>
            </a:r>
            <a:r>
              <a:rPr sz="1800" b="1" spc="-18" dirty="0">
                <a:latin typeface="微软雅黑" panose="020B0503020204020204" pitchFamily="34" charset="-122"/>
                <a:ea typeface="微软雅黑" panose="020B0503020204020204" pitchFamily="34" charset="-122"/>
                <a:cs typeface="Lucida Sans"/>
              </a:rPr>
              <a:t> </a:t>
            </a:r>
            <a:r>
              <a:rPr sz="1800" b="1" dirty="0">
                <a:latin typeface="微软雅黑" panose="020B0503020204020204" pitchFamily="34" charset="-122"/>
                <a:ea typeface="微软雅黑" panose="020B0503020204020204" pitchFamily="34" charset="-122"/>
                <a:cs typeface="Lucida Sans"/>
              </a:rPr>
              <a:t>least</a:t>
            </a:r>
            <a:r>
              <a:rPr sz="1800" b="1" spc="-18" dirty="0">
                <a:latin typeface="微软雅黑" panose="020B0503020204020204" pitchFamily="34" charset="-122"/>
                <a:ea typeface="微软雅黑" panose="020B0503020204020204" pitchFamily="34" charset="-122"/>
                <a:cs typeface="Lucida Sans"/>
              </a:rPr>
              <a:t> </a:t>
            </a:r>
            <a:r>
              <a:rPr sz="1800" b="1" dirty="0">
                <a:latin typeface="微软雅黑" panose="020B0503020204020204" pitchFamily="34" charset="-122"/>
                <a:ea typeface="微软雅黑" panose="020B0503020204020204" pitchFamily="34" charset="-122"/>
                <a:cs typeface="Lucida Sans"/>
              </a:rPr>
              <a:t>to</a:t>
            </a:r>
            <a:r>
              <a:rPr sz="1800" b="1" spc="-18" dirty="0">
                <a:latin typeface="微软雅黑" panose="020B0503020204020204" pitchFamily="34" charset="-122"/>
                <a:ea typeface="微软雅黑" panose="020B0503020204020204" pitchFamily="34" charset="-122"/>
                <a:cs typeface="Lucida Sans"/>
              </a:rPr>
              <a:t> </a:t>
            </a:r>
            <a:r>
              <a:rPr sz="1800" b="1" spc="-7" dirty="0">
                <a:latin typeface="微软雅黑" panose="020B0503020204020204" pitchFamily="34" charset="-122"/>
                <a:ea typeface="微软雅黑" panose="020B0503020204020204" pitchFamily="34" charset="-122"/>
                <a:cs typeface="Lucida Sans"/>
              </a:rPr>
              <a:t>Euclid.</a:t>
            </a:r>
            <a:endParaRPr sz="1800" b="1" dirty="0">
              <a:latin typeface="微软雅黑" panose="020B0503020204020204" pitchFamily="34" charset="-122"/>
              <a:ea typeface="微软雅黑" panose="020B0503020204020204" pitchFamily="34" charset="-122"/>
              <a:cs typeface="Lucida Sans"/>
            </a:endParaRPr>
          </a:p>
        </p:txBody>
      </p:sp>
      <p:grpSp>
        <p:nvGrpSpPr>
          <p:cNvPr id="6" name="object 6"/>
          <p:cNvGrpSpPr/>
          <p:nvPr/>
        </p:nvGrpSpPr>
        <p:grpSpPr>
          <a:xfrm>
            <a:off x="6322219" y="830461"/>
            <a:ext cx="2250281" cy="5688211"/>
            <a:chOff x="8991600" y="1181100"/>
            <a:chExt cx="3200400" cy="8089900"/>
          </a:xfrm>
        </p:grpSpPr>
        <p:pic>
          <p:nvPicPr>
            <p:cNvPr id="7" name="object 7"/>
            <p:cNvPicPr/>
            <p:nvPr/>
          </p:nvPicPr>
          <p:blipFill>
            <a:blip r:embed="rId3" cstate="print"/>
            <a:stretch>
              <a:fillRect/>
            </a:stretch>
          </p:blipFill>
          <p:spPr>
            <a:xfrm>
              <a:off x="8991600" y="1181100"/>
              <a:ext cx="3200400" cy="8089900"/>
            </a:xfrm>
            <a:prstGeom prst="rect">
              <a:avLst/>
            </a:prstGeom>
          </p:spPr>
        </p:pic>
        <p:sp>
          <p:nvSpPr>
            <p:cNvPr id="8" name="object 8"/>
            <p:cNvSpPr/>
            <p:nvPr/>
          </p:nvSpPr>
          <p:spPr>
            <a:xfrm>
              <a:off x="9067800" y="1257300"/>
              <a:ext cx="2946400" cy="7835900"/>
            </a:xfrm>
            <a:custGeom>
              <a:avLst/>
              <a:gdLst/>
              <a:ahLst/>
              <a:cxnLst/>
              <a:rect l="l" t="t" r="r" b="b"/>
              <a:pathLst>
                <a:path w="2946400" h="7835900">
                  <a:moveTo>
                    <a:pt x="0" y="0"/>
                  </a:moveTo>
                  <a:lnTo>
                    <a:pt x="2946400" y="0"/>
                  </a:lnTo>
                  <a:lnTo>
                    <a:pt x="2946400" y="7835900"/>
                  </a:lnTo>
                  <a:lnTo>
                    <a:pt x="0" y="7835900"/>
                  </a:lnTo>
                  <a:lnTo>
                    <a:pt x="0" y="0"/>
                  </a:lnTo>
                  <a:close/>
                </a:path>
              </a:pathLst>
            </a:custGeom>
            <a:solidFill>
              <a:srgbClr val="FFFFFF"/>
            </a:solidFill>
          </p:spPr>
          <p:txBody>
            <a:bodyPr wrap="square" lIns="0" tIns="0" rIns="0" bIns="0" rtlCol="0"/>
            <a:lstStyle/>
            <a:p>
              <a:endParaRPr sz="2109"/>
            </a:p>
          </p:txBody>
        </p:sp>
        <p:sp>
          <p:nvSpPr>
            <p:cNvPr id="9" name="object 9"/>
            <p:cNvSpPr/>
            <p:nvPr/>
          </p:nvSpPr>
          <p:spPr>
            <a:xfrm>
              <a:off x="10109200" y="1625600"/>
              <a:ext cx="16510" cy="7264400"/>
            </a:xfrm>
            <a:custGeom>
              <a:avLst/>
              <a:gdLst/>
              <a:ahLst/>
              <a:cxnLst/>
              <a:rect l="l" t="t" r="r" b="b"/>
              <a:pathLst>
                <a:path w="16509" h="7264400">
                  <a:moveTo>
                    <a:pt x="0" y="0"/>
                  </a:moveTo>
                  <a:lnTo>
                    <a:pt x="16249" y="7264382"/>
                  </a:lnTo>
                </a:path>
              </a:pathLst>
            </a:custGeom>
            <a:ln w="25400">
              <a:solidFill>
                <a:srgbClr val="8D3124"/>
              </a:solidFill>
            </a:ln>
          </p:spPr>
          <p:txBody>
            <a:bodyPr wrap="square" lIns="0" tIns="0" rIns="0" bIns="0" rtlCol="0"/>
            <a:lstStyle/>
            <a:p>
              <a:endParaRPr sz="2109"/>
            </a:p>
          </p:txBody>
        </p:sp>
      </p:grpSp>
      <p:sp>
        <p:nvSpPr>
          <p:cNvPr id="10" name="object 10"/>
          <p:cNvSpPr txBox="1"/>
          <p:nvPr/>
        </p:nvSpPr>
        <p:spPr>
          <a:xfrm>
            <a:off x="6375797" y="884039"/>
            <a:ext cx="2071688" cy="5444954"/>
          </a:xfrm>
          <a:prstGeom prst="rect">
            <a:avLst/>
          </a:prstGeom>
        </p:spPr>
        <p:txBody>
          <a:bodyPr vert="horz" wrap="square" lIns="0" tIns="446" rIns="0" bIns="0" rtlCol="0">
            <a:spAutoFit/>
          </a:bodyPr>
          <a:lstStyle/>
          <a:p>
            <a:pPr>
              <a:spcBef>
                <a:spcPts val="4"/>
              </a:spcBef>
            </a:pPr>
            <a:endParaRPr sz="1617" dirty="0">
              <a:latin typeface="Times New Roman"/>
              <a:cs typeface="Times New Roman"/>
            </a:endParaRPr>
          </a:p>
          <a:p>
            <a:pPr marL="91079"/>
            <a:r>
              <a:rPr lang="en-US" altLang="zh-CN" sz="984" dirty="0">
                <a:solidFill>
                  <a:srgbClr val="8D3124"/>
                </a:solidFill>
                <a:latin typeface="Lucida Sans"/>
                <a:cs typeface="Lucida Sans"/>
              </a:rPr>
              <a:t>300</a:t>
            </a:r>
            <a:r>
              <a:rPr lang="en-US" altLang="zh-CN" sz="984" spc="-4" dirty="0">
                <a:solidFill>
                  <a:srgbClr val="8D3124"/>
                </a:solidFill>
                <a:latin typeface="Lucida Sans"/>
                <a:cs typeface="Lucida Sans"/>
              </a:rPr>
              <a:t> </a:t>
            </a:r>
            <a:r>
              <a:rPr lang="en-US" altLang="zh-CN" sz="984" spc="-18" dirty="0">
                <a:solidFill>
                  <a:srgbClr val="8D3124"/>
                </a:solidFill>
                <a:latin typeface="Lucida Sans"/>
                <a:cs typeface="Lucida Sans"/>
              </a:rPr>
              <a:t>BCE</a:t>
            </a:r>
            <a:endParaRPr lang="en-US" altLang="zh-CN" sz="984"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spcBef>
                <a:spcPts val="28"/>
              </a:spcBef>
            </a:pPr>
            <a:endParaRPr sz="879" dirty="0">
              <a:latin typeface="Lucida Sans"/>
              <a:cs typeface="Lucida Sans"/>
            </a:endParaRPr>
          </a:p>
          <a:p>
            <a:pPr marL="213858">
              <a:spcBef>
                <a:spcPts val="4"/>
              </a:spcBef>
            </a:pPr>
            <a:r>
              <a:rPr sz="984" spc="-7" dirty="0">
                <a:solidFill>
                  <a:srgbClr val="8D3124"/>
                </a:solidFill>
                <a:latin typeface="Lucida Sans"/>
                <a:cs typeface="Lucida Sans"/>
              </a:rPr>
              <a:t>1920s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1930s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1940s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1950s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1960s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1970s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1980s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1990s</a:t>
            </a:r>
            <a:endParaRPr sz="984" dirty="0">
              <a:latin typeface="Lucida Sans"/>
              <a:cs typeface="Lucida Sans"/>
            </a:endParaRPr>
          </a:p>
          <a:p>
            <a:pPr marL="213858">
              <a:spcBef>
                <a:spcPts val="295"/>
              </a:spcBef>
            </a:pPr>
            <a:r>
              <a:rPr sz="984" spc="-7" dirty="0">
                <a:solidFill>
                  <a:srgbClr val="8D3124"/>
                </a:solidFill>
                <a:latin typeface="Lucida Sans"/>
                <a:cs typeface="Lucida Sans"/>
              </a:rPr>
              <a:t>2000s</a:t>
            </a:r>
            <a:endParaRPr sz="984" dirty="0">
              <a:latin typeface="Lucida Sans"/>
              <a:cs typeface="Lucida Sans"/>
            </a:endParaRPr>
          </a:p>
        </p:txBody>
      </p:sp>
      <p:grpSp>
        <p:nvGrpSpPr>
          <p:cNvPr id="11" name="object 11"/>
          <p:cNvGrpSpPr/>
          <p:nvPr/>
        </p:nvGrpSpPr>
        <p:grpSpPr>
          <a:xfrm>
            <a:off x="7224117" y="1143000"/>
            <a:ext cx="991195" cy="5063133"/>
            <a:chOff x="10274300" y="1625600"/>
            <a:chExt cx="1409700" cy="7200900"/>
          </a:xfrm>
        </p:grpSpPr>
        <p:sp>
          <p:nvSpPr>
            <p:cNvPr id="12" name="object 12"/>
            <p:cNvSpPr/>
            <p:nvPr/>
          </p:nvSpPr>
          <p:spPr>
            <a:xfrm>
              <a:off x="10274300" y="1625599"/>
              <a:ext cx="1409700" cy="7200900"/>
            </a:xfrm>
            <a:custGeom>
              <a:avLst/>
              <a:gdLst/>
              <a:ahLst/>
              <a:cxnLst/>
              <a:rect l="l" t="t" r="r" b="b"/>
              <a:pathLst>
                <a:path w="1409700" h="7200900">
                  <a:moveTo>
                    <a:pt x="190500" y="5448300"/>
                  </a:moveTo>
                  <a:lnTo>
                    <a:pt x="0" y="5448300"/>
                  </a:lnTo>
                  <a:lnTo>
                    <a:pt x="0" y="5638800"/>
                  </a:lnTo>
                  <a:lnTo>
                    <a:pt x="190500" y="5638800"/>
                  </a:lnTo>
                  <a:lnTo>
                    <a:pt x="190500" y="5448300"/>
                  </a:lnTo>
                  <a:close/>
                </a:path>
                <a:path w="1409700" h="7200900">
                  <a:moveTo>
                    <a:pt x="190500" y="4940300"/>
                  </a:moveTo>
                  <a:lnTo>
                    <a:pt x="0" y="4940300"/>
                  </a:lnTo>
                  <a:lnTo>
                    <a:pt x="0" y="5130800"/>
                  </a:lnTo>
                  <a:lnTo>
                    <a:pt x="190500" y="5130800"/>
                  </a:lnTo>
                  <a:lnTo>
                    <a:pt x="190500" y="4940300"/>
                  </a:lnTo>
                  <a:close/>
                </a:path>
                <a:path w="1409700" h="7200900">
                  <a:moveTo>
                    <a:pt x="190500" y="0"/>
                  </a:moveTo>
                  <a:lnTo>
                    <a:pt x="0" y="0"/>
                  </a:lnTo>
                  <a:lnTo>
                    <a:pt x="0" y="190500"/>
                  </a:lnTo>
                  <a:lnTo>
                    <a:pt x="190500" y="190500"/>
                  </a:lnTo>
                  <a:lnTo>
                    <a:pt x="190500" y="0"/>
                  </a:lnTo>
                  <a:close/>
                </a:path>
                <a:path w="1409700" h="7200900">
                  <a:moveTo>
                    <a:pt x="355600" y="5702300"/>
                  </a:moveTo>
                  <a:lnTo>
                    <a:pt x="0" y="5702300"/>
                  </a:lnTo>
                  <a:lnTo>
                    <a:pt x="0" y="5930900"/>
                  </a:lnTo>
                  <a:lnTo>
                    <a:pt x="355600" y="5930900"/>
                  </a:lnTo>
                  <a:lnTo>
                    <a:pt x="355600" y="5702300"/>
                  </a:lnTo>
                  <a:close/>
                </a:path>
                <a:path w="1409700" h="7200900">
                  <a:moveTo>
                    <a:pt x="584200" y="5994400"/>
                  </a:moveTo>
                  <a:lnTo>
                    <a:pt x="0" y="5994400"/>
                  </a:lnTo>
                  <a:lnTo>
                    <a:pt x="0" y="6184900"/>
                  </a:lnTo>
                  <a:lnTo>
                    <a:pt x="584200" y="6184900"/>
                  </a:lnTo>
                  <a:lnTo>
                    <a:pt x="584200" y="5994400"/>
                  </a:lnTo>
                  <a:close/>
                </a:path>
                <a:path w="1409700" h="7200900">
                  <a:moveTo>
                    <a:pt x="685800" y="7010400"/>
                  </a:moveTo>
                  <a:lnTo>
                    <a:pt x="0" y="7010400"/>
                  </a:lnTo>
                  <a:lnTo>
                    <a:pt x="0" y="7200900"/>
                  </a:lnTo>
                  <a:lnTo>
                    <a:pt x="685800" y="7200900"/>
                  </a:lnTo>
                  <a:lnTo>
                    <a:pt x="685800" y="7010400"/>
                  </a:lnTo>
                  <a:close/>
                </a:path>
                <a:path w="1409700" h="7200900">
                  <a:moveTo>
                    <a:pt x="685800" y="6756400"/>
                  </a:moveTo>
                  <a:lnTo>
                    <a:pt x="0" y="6756400"/>
                  </a:lnTo>
                  <a:lnTo>
                    <a:pt x="0" y="6946900"/>
                  </a:lnTo>
                  <a:lnTo>
                    <a:pt x="685800" y="6946900"/>
                  </a:lnTo>
                  <a:lnTo>
                    <a:pt x="685800" y="6756400"/>
                  </a:lnTo>
                  <a:close/>
                </a:path>
                <a:path w="1409700" h="7200900">
                  <a:moveTo>
                    <a:pt x="876300" y="6502400"/>
                  </a:moveTo>
                  <a:lnTo>
                    <a:pt x="0" y="6502400"/>
                  </a:lnTo>
                  <a:lnTo>
                    <a:pt x="0" y="6692900"/>
                  </a:lnTo>
                  <a:lnTo>
                    <a:pt x="876300" y="6692900"/>
                  </a:lnTo>
                  <a:lnTo>
                    <a:pt x="876300" y="6502400"/>
                  </a:lnTo>
                  <a:close/>
                </a:path>
                <a:path w="1409700" h="7200900">
                  <a:moveTo>
                    <a:pt x="1409700" y="6248400"/>
                  </a:moveTo>
                  <a:lnTo>
                    <a:pt x="0" y="6248400"/>
                  </a:lnTo>
                  <a:lnTo>
                    <a:pt x="0" y="6438900"/>
                  </a:lnTo>
                  <a:lnTo>
                    <a:pt x="1409700" y="6438900"/>
                  </a:lnTo>
                  <a:lnTo>
                    <a:pt x="1409700" y="6248400"/>
                  </a:lnTo>
                  <a:close/>
                </a:path>
              </a:pathLst>
            </a:custGeom>
            <a:solidFill>
              <a:srgbClr val="8A8A8A"/>
            </a:solidFill>
          </p:spPr>
          <p:txBody>
            <a:bodyPr wrap="square" lIns="0" tIns="0" rIns="0" bIns="0" rtlCol="0"/>
            <a:lstStyle/>
            <a:p>
              <a:endParaRPr sz="2109"/>
            </a:p>
          </p:txBody>
        </p:sp>
        <p:sp>
          <p:nvSpPr>
            <p:cNvPr id="13" name="object 13"/>
            <p:cNvSpPr/>
            <p:nvPr/>
          </p:nvSpPr>
          <p:spPr>
            <a:xfrm>
              <a:off x="10274300" y="6819900"/>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solidFill>
              <a:srgbClr val="8A8A8A"/>
            </a:solidFill>
          </p:spPr>
          <p:txBody>
            <a:bodyPr wrap="square" lIns="0" tIns="0" rIns="0" bIns="0" rtlCol="0"/>
            <a:lstStyle/>
            <a:p>
              <a:endParaRPr sz="2109"/>
            </a:p>
          </p:txBody>
        </p:sp>
      </p:grpSp>
      <p:sp>
        <p:nvSpPr>
          <p:cNvPr id="14" name="object 14"/>
          <p:cNvSpPr txBox="1">
            <a:spLocks noGrp="1"/>
          </p:cNvSpPr>
          <p:nvPr>
            <p:ph type="title"/>
          </p:nvPr>
        </p:nvSpPr>
        <p:spPr>
          <a:xfrm>
            <a:off x="535780" y="129622"/>
            <a:ext cx="7204572"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spc="109" dirty="0">
                <a:latin typeface="微软雅黑" panose="020B0503020204020204" pitchFamily="34" charset="-122"/>
                <a:ea typeface="微软雅黑" panose="020B0503020204020204" pitchFamily="34" charset="-122"/>
              </a:rPr>
              <a:t>Why</a:t>
            </a:r>
            <a:r>
              <a:rPr spc="-49" dirty="0">
                <a:latin typeface="微软雅黑" panose="020B0503020204020204" pitchFamily="34" charset="-122"/>
                <a:ea typeface="微软雅黑" panose="020B0503020204020204" pitchFamily="34" charset="-122"/>
              </a:rPr>
              <a:t> </a:t>
            </a:r>
            <a:r>
              <a:rPr dirty="0">
                <a:latin typeface="微软雅黑" panose="020B0503020204020204" pitchFamily="34" charset="-122"/>
                <a:ea typeface="微软雅黑" panose="020B0503020204020204" pitchFamily="34" charset="-122"/>
              </a:rPr>
              <a:t>study</a:t>
            </a:r>
            <a:r>
              <a:rPr spc="-49" dirty="0">
                <a:latin typeface="微软雅黑" panose="020B0503020204020204" pitchFamily="34" charset="-122"/>
                <a:ea typeface="微软雅黑" panose="020B0503020204020204" pitchFamily="34" charset="-122"/>
              </a:rPr>
              <a:t> </a:t>
            </a:r>
            <a:r>
              <a:rPr spc="-7" dirty="0">
                <a:latin typeface="微软雅黑" panose="020B0503020204020204" pitchFamily="34" charset="-122"/>
                <a:ea typeface="微软雅黑" panose="020B0503020204020204" pitchFamily="34" charset="-122"/>
              </a:rPr>
              <a:t>algorithms?</a:t>
            </a:r>
          </a:p>
        </p:txBody>
      </p:sp>
      <p:pic>
        <p:nvPicPr>
          <p:cNvPr id="15362" name="Picture 2" descr="https://pics0.baidu.com/feed/64380cd7912397ddfb47f9083c61eabcd1a287ea.jpeg@f_auto?token=d02fad0ed769c036702373ee7002c250"/>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b="5623"/>
          <a:stretch/>
        </p:blipFill>
        <p:spPr bwMode="auto">
          <a:xfrm>
            <a:off x="7148607" y="1299010"/>
            <a:ext cx="1578143" cy="1100756"/>
          </a:xfrm>
          <a:prstGeom prst="rect">
            <a:avLst/>
          </a:prstGeom>
          <a:noFill/>
          <a:extLst>
            <a:ext uri="{909E8E84-426E-40DD-AFC4-6F175D3DCCD1}">
              <a14:hiddenFill xmlns:a14="http://schemas.microsoft.com/office/drawing/2010/main">
                <a:solidFill>
                  <a:srgbClr val="FFFFFF"/>
                </a:solidFill>
              </a14:hiddenFill>
            </a:ext>
          </a:extLst>
        </p:spPr>
      </p:pic>
      <p:sp>
        <p:nvSpPr>
          <p:cNvPr id="20" name="矩形 19"/>
          <p:cNvSpPr/>
          <p:nvPr/>
        </p:nvSpPr>
        <p:spPr>
          <a:xfrm>
            <a:off x="955966" y="2258887"/>
            <a:ext cx="5549370" cy="1208792"/>
          </a:xfrm>
          <a:prstGeom prst="rect">
            <a:avLst/>
          </a:prstGeom>
        </p:spPr>
        <p:txBody>
          <a:bodyPr wrap="square">
            <a:spAutoFit/>
          </a:bodyPr>
          <a:lstStyle/>
          <a:p>
            <a:pPr lvl="0">
              <a:lnSpc>
                <a:spcPct val="150000"/>
              </a:lnSpc>
              <a:spcBef>
                <a:spcPct val="30000"/>
              </a:spcBef>
              <a:defRPr/>
            </a:pP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古希腊数学家欧几里得  数学史上不朽名著</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几何原本</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a:t>
            </a:r>
          </a:p>
          <a:p>
            <a:pPr lvl="0">
              <a:lnSpc>
                <a:spcPct val="150000"/>
              </a:lnSpc>
              <a:spcBef>
                <a:spcPct val="30000"/>
              </a:spcBef>
              <a:defRPr/>
            </a:pP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中国古代，算法称为“术”</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九章算术</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 (</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问</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 </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答</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 </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术</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a:t>
            </a:r>
            <a:endParaRPr lang="zh-CN" altLang="en-US" sz="1687" b="1" spc="-7" dirty="0">
              <a:solidFill>
                <a:schemeClr val="tx1"/>
              </a:solidFill>
              <a:latin typeface="微软雅黑" panose="020B0503020204020204" pitchFamily="34" charset="-122"/>
              <a:ea typeface="微软雅黑" panose="020B0503020204020204" pitchFamily="34" charset="-122"/>
              <a:cs typeface="Lucida Sans"/>
            </a:endParaRPr>
          </a:p>
          <a:p>
            <a:endParaRPr lang="zh-CN" altLang="en-US" sz="1687" b="1" spc="-7" dirty="0">
              <a:solidFill>
                <a:schemeClr val="tx1"/>
              </a:solidFill>
              <a:latin typeface="微软雅黑" panose="020B0503020204020204" pitchFamily="34" charset="-122"/>
              <a:ea typeface="微软雅黑" panose="020B0503020204020204" pitchFamily="34" charset="-122"/>
              <a:cs typeface="Lucida Sans"/>
            </a:endParaRPr>
          </a:p>
        </p:txBody>
      </p:sp>
      <p:sp>
        <p:nvSpPr>
          <p:cNvPr id="22" name="object 3"/>
          <p:cNvSpPr txBox="1"/>
          <p:nvPr/>
        </p:nvSpPr>
        <p:spPr>
          <a:xfrm>
            <a:off x="335207" y="3218435"/>
            <a:ext cx="5272789" cy="441828"/>
          </a:xfrm>
          <a:prstGeom prst="rect">
            <a:avLst/>
          </a:prstGeom>
        </p:spPr>
        <p:txBody>
          <a:bodyPr vert="horz" wrap="square" lIns="0" tIns="8930" rIns="0" bIns="0" rtlCol="0">
            <a:spAutoFit/>
          </a:bodyPr>
          <a:lstStyle/>
          <a:p>
            <a:pPr marL="26788">
              <a:spcBef>
                <a:spcPts val="70"/>
              </a:spcBef>
            </a:pPr>
            <a:r>
              <a:rPr sz="4219" b="1" spc="2109" baseline="-11805" dirty="0">
                <a:latin typeface="微软雅黑" panose="020B0503020204020204" pitchFamily="34" charset="-122"/>
                <a:ea typeface="微软雅黑" panose="020B0503020204020204" pitchFamily="34" charset="-122"/>
                <a:cs typeface="MS PGothic"/>
              </a:rPr>
              <a:t>・</a:t>
            </a:r>
            <a:r>
              <a:rPr lang="en-US" altLang="zh-CN" sz="1800" b="1" dirty="0">
                <a:latin typeface="微软雅黑" panose="020B0503020204020204" pitchFamily="34" charset="-122"/>
                <a:ea typeface="微软雅黑" panose="020B0503020204020204" pitchFamily="34" charset="-122"/>
              </a:rPr>
              <a:t>Etymology of “Algorithm”</a:t>
            </a:r>
            <a:endParaRPr sz="1687" b="1" dirty="0">
              <a:latin typeface="微软雅黑" panose="020B0503020204020204" pitchFamily="34" charset="-122"/>
              <a:ea typeface="微软雅黑" panose="020B0503020204020204" pitchFamily="34" charset="-122"/>
              <a:cs typeface="Lucida Sans"/>
            </a:endParaRPr>
          </a:p>
        </p:txBody>
      </p:sp>
      <p:pic>
        <p:nvPicPr>
          <p:cNvPr id="23" name="Content Placeholder 3"/>
          <p:cNvPicPr>
            <a:picLocks noGrp="1" noChangeAspect="1"/>
          </p:cNvPicPr>
          <p:nvPr>
            <p:ph idx="1"/>
          </p:nvPr>
        </p:nvPicPr>
        <p:blipFill>
          <a:blip r:embed="rId5" cstate="email">
            <a:extLst>
              <a:ext uri="{28A0092B-C50C-407E-A947-70E740481C1C}">
                <a14:useLocalDpi xmlns:a14="http://schemas.microsoft.com/office/drawing/2010/main"/>
              </a:ext>
            </a:extLst>
          </a:blip>
          <a:stretch>
            <a:fillRect/>
          </a:stretch>
        </p:blipFill>
        <p:spPr>
          <a:xfrm>
            <a:off x="7224117" y="2532084"/>
            <a:ext cx="1752052" cy="1905028"/>
          </a:xfrm>
          <a:prstGeom prst="rect">
            <a:avLst/>
          </a:prstGeom>
        </p:spPr>
      </p:pic>
      <p:sp>
        <p:nvSpPr>
          <p:cNvPr id="24" name="TextBox 4"/>
          <p:cNvSpPr txBox="1"/>
          <p:nvPr/>
        </p:nvSpPr>
        <p:spPr>
          <a:xfrm>
            <a:off x="961994" y="3857817"/>
            <a:ext cx="5196369" cy="2039661"/>
          </a:xfrm>
          <a:prstGeom prst="rect">
            <a:avLst/>
          </a:prstGeom>
          <a:noFill/>
        </p:spPr>
        <p:txBody>
          <a:bodyPr wrap="square" rtlCol="0">
            <a:spAutoFit/>
          </a:bodyPr>
          <a:lstStyle/>
          <a:p>
            <a:pPr>
              <a:lnSpc>
                <a:spcPct val="150000"/>
              </a:lnSpc>
            </a:pP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9</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世纪学者</a:t>
            </a:r>
            <a:r>
              <a:rPr lang="zh-CN" altLang="en-US" sz="1687" b="1" spc="-7" dirty="0">
                <a:solidFill>
                  <a:schemeClr val="tx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Lucida Sans"/>
              </a:rPr>
              <a:t>花拉子密</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a:t>
            </a:r>
            <a:r>
              <a:rPr lang="en-US" altLang="zh-CN" sz="1687" b="1" spc="-7" dirty="0" err="1">
                <a:solidFill>
                  <a:schemeClr val="tx1"/>
                </a:solidFill>
                <a:latin typeface="微软雅黑" panose="020B0503020204020204" pitchFamily="34" charset="-122"/>
                <a:ea typeface="微软雅黑" panose="020B0503020204020204" pitchFamily="34" charset="-122"/>
                <a:cs typeface="Lucida Sans"/>
              </a:rPr>
              <a:t>Al’Khwarizmi</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，拉丁语名为</a:t>
            </a:r>
            <a:r>
              <a:rPr lang="en-US" altLang="zh-CN" sz="1687" b="1" spc="-7" dirty="0" err="1">
                <a:solidFill>
                  <a:schemeClr val="tx1"/>
                </a:solidFill>
                <a:latin typeface="微软雅黑" panose="020B0503020204020204" pitchFamily="34" charset="-122"/>
                <a:ea typeface="微软雅黑" panose="020B0503020204020204" pitchFamily="34" charset="-122"/>
                <a:cs typeface="Lucida Sans"/>
              </a:rPr>
              <a:t>Algorismus</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，公元</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780~850</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年）发表了著名的</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印度计算法</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一书，一种对世界产生难以估量影响的奇妙数字才为世人了解并接受。因此，人们把这种数字称作阿拉伯数字。他的思想在</a:t>
            </a:r>
            <a:r>
              <a:rPr lang="en-US" altLang="zh-CN" sz="1687" b="1" spc="-7" dirty="0">
                <a:solidFill>
                  <a:schemeClr val="tx1"/>
                </a:solidFill>
                <a:latin typeface="微软雅黑" panose="020B0503020204020204" pitchFamily="34" charset="-122"/>
                <a:ea typeface="微软雅黑" panose="020B0503020204020204" pitchFamily="34" charset="-122"/>
                <a:cs typeface="Lucida Sans"/>
              </a:rPr>
              <a:t>12</a:t>
            </a:r>
            <a:r>
              <a:rPr lang="zh-CN" altLang="en-US" sz="1687" b="1" spc="-7" dirty="0">
                <a:solidFill>
                  <a:schemeClr val="tx1"/>
                </a:solidFill>
                <a:latin typeface="微软雅黑" panose="020B0503020204020204" pitchFamily="34" charset="-122"/>
                <a:ea typeface="微软雅黑" panose="020B0503020204020204" pitchFamily="34" charset="-122"/>
                <a:cs typeface="Lucida Sans"/>
              </a:rPr>
              <a:t>世纪传入欧洲。</a:t>
            </a:r>
            <a:endParaRPr lang="en-US" sz="1687" b="1" spc="-7" dirty="0">
              <a:solidFill>
                <a:schemeClr val="tx1"/>
              </a:solidFill>
              <a:latin typeface="微软雅黑" panose="020B0503020204020204" pitchFamily="34" charset="-122"/>
              <a:ea typeface="微软雅黑" panose="020B0503020204020204" pitchFamily="34" charset="-122"/>
              <a:cs typeface="Lucida Sans"/>
            </a:endParaRPr>
          </a:p>
        </p:txBody>
      </p:sp>
      <p:sp>
        <p:nvSpPr>
          <p:cNvPr id="21" name="矩形 20"/>
          <p:cNvSpPr/>
          <p:nvPr/>
        </p:nvSpPr>
        <p:spPr>
          <a:xfrm>
            <a:off x="818499" y="6250781"/>
            <a:ext cx="5986282" cy="400110"/>
          </a:xfrm>
          <a:prstGeom prst="rect">
            <a:avLst/>
          </a:prstGeom>
        </p:spPr>
        <p:txBody>
          <a:bodyPr wrap="square">
            <a:spAutoFit/>
          </a:bodyPr>
          <a:lstStyle/>
          <a:p>
            <a:r>
              <a:rPr lang="zh-CN" altLang="en-US" sz="2000" b="1" dirty="0">
                <a:solidFill>
                  <a:schemeClr val="tx1"/>
                </a:solidFill>
                <a:latin typeface="微软雅黑" panose="020B0503020204020204" pitchFamily="34" charset="-122"/>
                <a:ea typeface="微软雅黑" panose="020B0503020204020204" pitchFamily="34" charset="-122"/>
              </a:rPr>
              <a:t>由他的名字</a:t>
            </a:r>
            <a:r>
              <a:rPr lang="en-US" altLang="zh-CN" sz="2000" b="1" dirty="0" err="1">
                <a:solidFill>
                  <a:schemeClr val="tx1"/>
                </a:solidFill>
                <a:latin typeface="微软雅黑" panose="020B0503020204020204" pitchFamily="34" charset="-122"/>
                <a:ea typeface="微软雅黑" panose="020B0503020204020204" pitchFamily="34" charset="-122"/>
              </a:rPr>
              <a:t>Algorismus</a:t>
            </a:r>
            <a:r>
              <a:rPr lang="zh-CN" altLang="en-US" sz="2000" b="1" dirty="0">
                <a:solidFill>
                  <a:schemeClr val="tx1"/>
                </a:solidFill>
                <a:latin typeface="微软雅黑" panose="020B0503020204020204" pitchFamily="34" charset="-122"/>
                <a:ea typeface="微软雅黑" panose="020B0503020204020204" pitchFamily="34" charset="-122"/>
              </a:rPr>
              <a:t>，派生出</a:t>
            </a:r>
            <a:r>
              <a:rPr lang="en-US" altLang="zh-CN" sz="2000" b="1" dirty="0">
                <a:solidFill>
                  <a:schemeClr val="tx1"/>
                </a:solidFill>
                <a:latin typeface="微软雅黑" panose="020B0503020204020204" pitchFamily="34" charset="-122"/>
                <a:ea typeface="微软雅黑" panose="020B0503020204020204" pitchFamily="34" charset="-122"/>
              </a:rPr>
              <a:t>Algorithm</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6872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390" y="1267638"/>
            <a:ext cx="4028626" cy="316794"/>
          </a:xfrm>
          <a:prstGeom prst="rect">
            <a:avLst/>
          </a:prstGeom>
        </p:spPr>
        <p:txBody>
          <a:bodyPr vert="horz" wrap="square" lIns="0" tIns="8930" rIns="0" bIns="0" rtlCol="0">
            <a:spAutoFit/>
          </a:bodyPr>
          <a:lstStyle/>
          <a:p>
            <a:pPr marL="8929">
              <a:spcBef>
                <a:spcPts val="70"/>
              </a:spcBef>
            </a:pPr>
            <a:r>
              <a:rPr sz="2000" b="1" dirty="0">
                <a:solidFill>
                  <a:srgbClr val="005493"/>
                </a:solidFill>
                <a:latin typeface="微软雅黑" panose="020B0503020204020204" pitchFamily="34" charset="-122"/>
                <a:ea typeface="微软雅黑" panose="020B0503020204020204" pitchFamily="34" charset="-122"/>
                <a:cs typeface="Lucida Sans"/>
              </a:rPr>
              <a:t>Old roots, new</a:t>
            </a:r>
            <a:r>
              <a:rPr sz="2000" b="1" spc="4" dirty="0">
                <a:solidFill>
                  <a:srgbClr val="005493"/>
                </a:solidFill>
                <a:latin typeface="微软雅黑" panose="020B0503020204020204" pitchFamily="34" charset="-122"/>
                <a:ea typeface="微软雅黑" panose="020B0503020204020204" pitchFamily="34" charset="-122"/>
                <a:cs typeface="Lucida Sans"/>
              </a:rPr>
              <a:t> </a:t>
            </a:r>
            <a:r>
              <a:rPr sz="2000" b="1" spc="-7" dirty="0">
                <a:solidFill>
                  <a:srgbClr val="005493"/>
                </a:solidFill>
                <a:latin typeface="微软雅黑" panose="020B0503020204020204" pitchFamily="34" charset="-122"/>
                <a:ea typeface="微软雅黑" panose="020B0503020204020204" pitchFamily="34" charset="-122"/>
                <a:cs typeface="Lucida Sans"/>
              </a:rPr>
              <a:t>opportunities.</a:t>
            </a:r>
            <a:endParaRPr sz="2000" b="1" dirty="0">
              <a:latin typeface="微软雅黑" panose="020B0503020204020204" pitchFamily="34" charset="-122"/>
              <a:ea typeface="微软雅黑" panose="020B0503020204020204" pitchFamily="34" charset="-122"/>
              <a:cs typeface="Lucida Sans"/>
            </a:endParaRPr>
          </a:p>
        </p:txBody>
      </p:sp>
      <p:sp>
        <p:nvSpPr>
          <p:cNvPr id="3" name="object 3"/>
          <p:cNvSpPr txBox="1"/>
          <p:nvPr/>
        </p:nvSpPr>
        <p:spPr>
          <a:xfrm>
            <a:off x="507398" y="1581335"/>
            <a:ext cx="6182296" cy="316794"/>
          </a:xfrm>
          <a:prstGeom prst="rect">
            <a:avLst/>
          </a:prstGeom>
        </p:spPr>
        <p:txBody>
          <a:bodyPr vert="horz" wrap="square" lIns="0" tIns="8930" rIns="0" bIns="0" rtlCol="0">
            <a:spAutoFit/>
          </a:bodyPr>
          <a:lstStyle/>
          <a:p>
            <a:pPr marL="26788">
              <a:spcBef>
                <a:spcPts val="70"/>
              </a:spcBef>
            </a:pPr>
            <a:r>
              <a:rPr sz="2000" b="1" spc="2109" baseline="-11805" dirty="0">
                <a:latin typeface="微软雅黑" panose="020B0503020204020204" pitchFamily="34" charset="-122"/>
                <a:ea typeface="微软雅黑" panose="020B0503020204020204" pitchFamily="34" charset="-122"/>
                <a:cs typeface="MS PGothic"/>
              </a:rPr>
              <a:t>・</a:t>
            </a:r>
            <a:r>
              <a:rPr sz="2000" b="1" dirty="0">
                <a:latin typeface="微软雅黑" panose="020B0503020204020204" pitchFamily="34" charset="-122"/>
                <a:ea typeface="微软雅黑" panose="020B0503020204020204" pitchFamily="34" charset="-122"/>
                <a:cs typeface="Lucida Sans"/>
              </a:rPr>
              <a:t>Study</a:t>
            </a:r>
            <a:r>
              <a:rPr sz="2000" b="1" spc="-18" dirty="0">
                <a:latin typeface="微软雅黑" panose="020B0503020204020204" pitchFamily="34" charset="-122"/>
                <a:ea typeface="微软雅黑" panose="020B0503020204020204" pitchFamily="34" charset="-122"/>
                <a:cs typeface="Lucida Sans"/>
              </a:rPr>
              <a:t> </a:t>
            </a:r>
            <a:r>
              <a:rPr sz="2000" b="1" dirty="0">
                <a:latin typeface="微软雅黑" panose="020B0503020204020204" pitchFamily="34" charset="-122"/>
                <a:ea typeface="微软雅黑" panose="020B0503020204020204" pitchFamily="34" charset="-122"/>
                <a:cs typeface="Lucida Sans"/>
              </a:rPr>
              <a:t>of</a:t>
            </a:r>
            <a:r>
              <a:rPr sz="2000" b="1" spc="-18" dirty="0">
                <a:latin typeface="微软雅黑" panose="020B0503020204020204" pitchFamily="34" charset="-122"/>
                <a:ea typeface="微软雅黑" panose="020B0503020204020204" pitchFamily="34" charset="-122"/>
                <a:cs typeface="Lucida Sans"/>
              </a:rPr>
              <a:t> </a:t>
            </a:r>
            <a:r>
              <a:rPr sz="2000" b="1" dirty="0">
                <a:latin typeface="微软雅黑" panose="020B0503020204020204" pitchFamily="34" charset="-122"/>
                <a:ea typeface="微软雅黑" panose="020B0503020204020204" pitchFamily="34" charset="-122"/>
                <a:cs typeface="Lucida Sans"/>
              </a:rPr>
              <a:t>algorithms</a:t>
            </a:r>
            <a:r>
              <a:rPr sz="2000" b="1" spc="-18" dirty="0">
                <a:latin typeface="微软雅黑" panose="020B0503020204020204" pitchFamily="34" charset="-122"/>
                <a:ea typeface="微软雅黑" panose="020B0503020204020204" pitchFamily="34" charset="-122"/>
                <a:cs typeface="Lucida Sans"/>
              </a:rPr>
              <a:t> </a:t>
            </a:r>
            <a:r>
              <a:rPr sz="2000" b="1" dirty="0">
                <a:latin typeface="微软雅黑" panose="020B0503020204020204" pitchFamily="34" charset="-122"/>
                <a:ea typeface="微软雅黑" panose="020B0503020204020204" pitchFamily="34" charset="-122"/>
                <a:cs typeface="Lucida Sans"/>
              </a:rPr>
              <a:t>dates</a:t>
            </a:r>
            <a:r>
              <a:rPr sz="2000" b="1" spc="-14" dirty="0">
                <a:latin typeface="微软雅黑" panose="020B0503020204020204" pitchFamily="34" charset="-122"/>
                <a:ea typeface="微软雅黑" panose="020B0503020204020204" pitchFamily="34" charset="-122"/>
                <a:cs typeface="Lucida Sans"/>
              </a:rPr>
              <a:t> </a:t>
            </a:r>
            <a:r>
              <a:rPr sz="2000" b="1" dirty="0">
                <a:latin typeface="微软雅黑" panose="020B0503020204020204" pitchFamily="34" charset="-122"/>
                <a:ea typeface="微软雅黑" panose="020B0503020204020204" pitchFamily="34" charset="-122"/>
                <a:cs typeface="Lucida Sans"/>
              </a:rPr>
              <a:t>at</a:t>
            </a:r>
            <a:r>
              <a:rPr sz="2000" b="1" spc="-18" dirty="0">
                <a:latin typeface="微软雅黑" panose="020B0503020204020204" pitchFamily="34" charset="-122"/>
                <a:ea typeface="微软雅黑" panose="020B0503020204020204" pitchFamily="34" charset="-122"/>
                <a:cs typeface="Lucida Sans"/>
              </a:rPr>
              <a:t> </a:t>
            </a:r>
            <a:r>
              <a:rPr sz="2000" b="1" dirty="0">
                <a:latin typeface="微软雅黑" panose="020B0503020204020204" pitchFamily="34" charset="-122"/>
                <a:ea typeface="微软雅黑" panose="020B0503020204020204" pitchFamily="34" charset="-122"/>
                <a:cs typeface="Lucida Sans"/>
              </a:rPr>
              <a:t>least</a:t>
            </a:r>
            <a:r>
              <a:rPr sz="2000" b="1" spc="-18" dirty="0">
                <a:latin typeface="微软雅黑" panose="020B0503020204020204" pitchFamily="34" charset="-122"/>
                <a:ea typeface="微软雅黑" panose="020B0503020204020204" pitchFamily="34" charset="-122"/>
                <a:cs typeface="Lucida Sans"/>
              </a:rPr>
              <a:t> </a:t>
            </a:r>
            <a:r>
              <a:rPr sz="2000" b="1" dirty="0">
                <a:latin typeface="微软雅黑" panose="020B0503020204020204" pitchFamily="34" charset="-122"/>
                <a:ea typeface="微软雅黑" panose="020B0503020204020204" pitchFamily="34" charset="-122"/>
                <a:cs typeface="Lucida Sans"/>
              </a:rPr>
              <a:t>to</a:t>
            </a:r>
            <a:r>
              <a:rPr sz="2000" b="1" spc="-18" dirty="0">
                <a:latin typeface="微软雅黑" panose="020B0503020204020204" pitchFamily="34" charset="-122"/>
                <a:ea typeface="微软雅黑" panose="020B0503020204020204" pitchFamily="34" charset="-122"/>
                <a:cs typeface="Lucida Sans"/>
              </a:rPr>
              <a:t> </a:t>
            </a:r>
            <a:r>
              <a:rPr sz="2000" b="1" spc="-7" dirty="0">
                <a:latin typeface="微软雅黑" panose="020B0503020204020204" pitchFamily="34" charset="-122"/>
                <a:ea typeface="微软雅黑" panose="020B0503020204020204" pitchFamily="34" charset="-122"/>
                <a:cs typeface="Lucida Sans"/>
              </a:rPr>
              <a:t>Euclid.</a:t>
            </a:r>
            <a:endParaRPr sz="2000" b="1" dirty="0">
              <a:latin typeface="微软雅黑" panose="020B0503020204020204" pitchFamily="34" charset="-122"/>
              <a:ea typeface="微软雅黑" panose="020B0503020204020204" pitchFamily="34" charset="-122"/>
              <a:cs typeface="Lucida Sans"/>
            </a:endParaRPr>
          </a:p>
        </p:txBody>
      </p:sp>
      <p:sp>
        <p:nvSpPr>
          <p:cNvPr id="4" name="object 4"/>
          <p:cNvSpPr txBox="1"/>
          <p:nvPr/>
        </p:nvSpPr>
        <p:spPr>
          <a:xfrm>
            <a:off x="507398" y="2939028"/>
            <a:ext cx="5990557" cy="316794"/>
          </a:xfrm>
          <a:prstGeom prst="rect">
            <a:avLst/>
          </a:prstGeom>
        </p:spPr>
        <p:txBody>
          <a:bodyPr vert="horz" wrap="square" lIns="0" tIns="8930" rIns="0" bIns="0" rtlCol="0">
            <a:spAutoFit/>
          </a:bodyPr>
          <a:lstStyle/>
          <a:p>
            <a:pPr marL="26788">
              <a:spcBef>
                <a:spcPts val="70"/>
              </a:spcBef>
            </a:pPr>
            <a:r>
              <a:rPr sz="2000" b="1" spc="2109" baseline="-11805" dirty="0">
                <a:latin typeface="微软雅黑" panose="020B0503020204020204" pitchFamily="34" charset="-122"/>
                <a:ea typeface="微软雅黑" panose="020B0503020204020204" pitchFamily="34" charset="-122"/>
                <a:cs typeface="MS PGothic"/>
              </a:rPr>
              <a:t>・</a:t>
            </a:r>
            <a:r>
              <a:rPr sz="2000" b="1" u="sng" dirty="0">
                <a:latin typeface="微软雅黑" panose="020B0503020204020204" pitchFamily="34" charset="-122"/>
                <a:ea typeface="微软雅黑" panose="020B0503020204020204" pitchFamily="34" charset="-122"/>
                <a:cs typeface="Lucida Sans"/>
              </a:rPr>
              <a:t>Formalized</a:t>
            </a:r>
            <a:r>
              <a:rPr sz="2000" b="1" u="sng" spc="-63" dirty="0">
                <a:latin typeface="微软雅黑" panose="020B0503020204020204" pitchFamily="34" charset="-122"/>
                <a:ea typeface="微软雅黑" panose="020B0503020204020204" pitchFamily="34" charset="-122"/>
                <a:cs typeface="Lucida Sans"/>
              </a:rPr>
              <a:t> </a:t>
            </a:r>
            <a:r>
              <a:rPr sz="2000" b="1" u="sng" spc="39" dirty="0">
                <a:latin typeface="微软雅黑" panose="020B0503020204020204" pitchFamily="34" charset="-122"/>
                <a:ea typeface="微软雅黑" panose="020B0503020204020204" pitchFamily="34" charset="-122"/>
                <a:cs typeface="Lucida Sans"/>
              </a:rPr>
              <a:t>by</a:t>
            </a:r>
            <a:r>
              <a:rPr sz="2000" b="1" u="sng" spc="-53" dirty="0">
                <a:latin typeface="微软雅黑" panose="020B0503020204020204" pitchFamily="34" charset="-122"/>
                <a:ea typeface="微软雅黑" panose="020B0503020204020204" pitchFamily="34" charset="-122"/>
                <a:cs typeface="Lucida Sans"/>
              </a:rPr>
              <a:t> </a:t>
            </a:r>
            <a:r>
              <a:rPr sz="2000" b="1" u="sng" dirty="0">
                <a:latin typeface="微软雅黑" panose="020B0503020204020204" pitchFamily="34" charset="-122"/>
                <a:ea typeface="微软雅黑" panose="020B0503020204020204" pitchFamily="34" charset="-122"/>
                <a:cs typeface="Lucida Sans"/>
              </a:rPr>
              <a:t>Church</a:t>
            </a:r>
            <a:r>
              <a:rPr sz="2000" b="1" u="sng" spc="-53" dirty="0">
                <a:latin typeface="微软雅黑" panose="020B0503020204020204" pitchFamily="34" charset="-122"/>
                <a:ea typeface="微软雅黑" panose="020B0503020204020204" pitchFamily="34" charset="-122"/>
                <a:cs typeface="Lucida Sans"/>
              </a:rPr>
              <a:t> </a:t>
            </a:r>
            <a:r>
              <a:rPr sz="2000" b="1" u="sng" dirty="0">
                <a:latin typeface="微软雅黑" panose="020B0503020204020204" pitchFamily="34" charset="-122"/>
                <a:ea typeface="微软雅黑" panose="020B0503020204020204" pitchFamily="34" charset="-122"/>
                <a:cs typeface="Lucida Sans"/>
              </a:rPr>
              <a:t>and</a:t>
            </a:r>
            <a:r>
              <a:rPr sz="2000" b="1" u="sng" spc="-56" dirty="0">
                <a:latin typeface="微软雅黑" panose="020B0503020204020204" pitchFamily="34" charset="-122"/>
                <a:ea typeface="微软雅黑" panose="020B0503020204020204" pitchFamily="34" charset="-122"/>
                <a:cs typeface="Lucida Sans"/>
              </a:rPr>
              <a:t> </a:t>
            </a:r>
            <a:r>
              <a:rPr sz="2000" b="1" u="sng" spc="-25" dirty="0">
                <a:latin typeface="微软雅黑" panose="020B0503020204020204" pitchFamily="34" charset="-122"/>
                <a:ea typeface="微软雅黑" panose="020B0503020204020204" pitchFamily="34" charset="-122"/>
                <a:cs typeface="Lucida Sans"/>
              </a:rPr>
              <a:t>Turing</a:t>
            </a:r>
            <a:r>
              <a:rPr sz="2000" b="1" u="sng" spc="-53" dirty="0">
                <a:latin typeface="微软雅黑" panose="020B0503020204020204" pitchFamily="34" charset="-122"/>
                <a:ea typeface="微软雅黑" panose="020B0503020204020204" pitchFamily="34" charset="-122"/>
                <a:cs typeface="Lucida Sans"/>
              </a:rPr>
              <a:t> </a:t>
            </a:r>
            <a:r>
              <a:rPr sz="2000" b="1" u="sng" dirty="0">
                <a:latin typeface="微软雅黑" panose="020B0503020204020204" pitchFamily="34" charset="-122"/>
                <a:ea typeface="微软雅黑" panose="020B0503020204020204" pitchFamily="34" charset="-122"/>
                <a:cs typeface="Lucida Sans"/>
              </a:rPr>
              <a:t>in</a:t>
            </a:r>
            <a:r>
              <a:rPr sz="2000" b="1" u="sng" spc="-53" dirty="0">
                <a:latin typeface="微软雅黑" panose="020B0503020204020204" pitchFamily="34" charset="-122"/>
                <a:ea typeface="微软雅黑" panose="020B0503020204020204" pitchFamily="34" charset="-122"/>
                <a:cs typeface="Lucida Sans"/>
              </a:rPr>
              <a:t> </a:t>
            </a:r>
            <a:r>
              <a:rPr sz="2000" b="1" u="sng" spc="-7" dirty="0">
                <a:latin typeface="微软雅黑" panose="020B0503020204020204" pitchFamily="34" charset="-122"/>
                <a:ea typeface="微软雅黑" panose="020B0503020204020204" pitchFamily="34" charset="-122"/>
                <a:cs typeface="Lucida Sans"/>
              </a:rPr>
              <a:t>1930s</a:t>
            </a:r>
            <a:r>
              <a:rPr sz="2000" b="1" spc="-7" dirty="0">
                <a:latin typeface="微软雅黑" panose="020B0503020204020204" pitchFamily="34" charset="-122"/>
                <a:ea typeface="微软雅黑" panose="020B0503020204020204" pitchFamily="34" charset="-122"/>
                <a:cs typeface="Lucida Sans"/>
              </a:rPr>
              <a:t>.</a:t>
            </a:r>
            <a:endParaRPr sz="2000" b="1" dirty="0">
              <a:latin typeface="微软雅黑" panose="020B0503020204020204" pitchFamily="34" charset="-122"/>
              <a:ea typeface="微软雅黑" panose="020B0503020204020204" pitchFamily="34" charset="-122"/>
              <a:cs typeface="Lucida Sans"/>
            </a:endParaRPr>
          </a:p>
        </p:txBody>
      </p:sp>
      <p:grpSp>
        <p:nvGrpSpPr>
          <p:cNvPr id="6" name="object 6"/>
          <p:cNvGrpSpPr/>
          <p:nvPr/>
        </p:nvGrpSpPr>
        <p:grpSpPr>
          <a:xfrm>
            <a:off x="6322219" y="830461"/>
            <a:ext cx="2250281" cy="5688211"/>
            <a:chOff x="8991600" y="1181100"/>
            <a:chExt cx="3200400" cy="8089900"/>
          </a:xfrm>
        </p:grpSpPr>
        <p:pic>
          <p:nvPicPr>
            <p:cNvPr id="7" name="object 7"/>
            <p:cNvPicPr/>
            <p:nvPr/>
          </p:nvPicPr>
          <p:blipFill>
            <a:blip r:embed="rId3" cstate="print"/>
            <a:stretch>
              <a:fillRect/>
            </a:stretch>
          </p:blipFill>
          <p:spPr>
            <a:xfrm>
              <a:off x="8991600" y="1181100"/>
              <a:ext cx="3200400" cy="8089900"/>
            </a:xfrm>
            <a:prstGeom prst="rect">
              <a:avLst/>
            </a:prstGeom>
          </p:spPr>
        </p:pic>
        <p:sp>
          <p:nvSpPr>
            <p:cNvPr id="8" name="object 8"/>
            <p:cNvSpPr/>
            <p:nvPr/>
          </p:nvSpPr>
          <p:spPr>
            <a:xfrm>
              <a:off x="9067800" y="1257300"/>
              <a:ext cx="2946400" cy="7835900"/>
            </a:xfrm>
            <a:custGeom>
              <a:avLst/>
              <a:gdLst/>
              <a:ahLst/>
              <a:cxnLst/>
              <a:rect l="l" t="t" r="r" b="b"/>
              <a:pathLst>
                <a:path w="2946400" h="7835900">
                  <a:moveTo>
                    <a:pt x="0" y="0"/>
                  </a:moveTo>
                  <a:lnTo>
                    <a:pt x="2946400" y="0"/>
                  </a:lnTo>
                  <a:lnTo>
                    <a:pt x="2946400" y="7835900"/>
                  </a:lnTo>
                  <a:lnTo>
                    <a:pt x="0" y="7835900"/>
                  </a:lnTo>
                  <a:lnTo>
                    <a:pt x="0" y="0"/>
                  </a:lnTo>
                  <a:close/>
                </a:path>
              </a:pathLst>
            </a:custGeom>
            <a:solidFill>
              <a:srgbClr val="FFFFFF"/>
            </a:solidFill>
          </p:spPr>
          <p:txBody>
            <a:bodyPr wrap="square" lIns="0" tIns="0" rIns="0" bIns="0" rtlCol="0"/>
            <a:lstStyle/>
            <a:p>
              <a:endParaRPr sz="2109"/>
            </a:p>
          </p:txBody>
        </p:sp>
        <p:sp>
          <p:nvSpPr>
            <p:cNvPr id="9" name="object 9"/>
            <p:cNvSpPr/>
            <p:nvPr/>
          </p:nvSpPr>
          <p:spPr>
            <a:xfrm>
              <a:off x="10109200" y="1625600"/>
              <a:ext cx="16510" cy="7264400"/>
            </a:xfrm>
            <a:custGeom>
              <a:avLst/>
              <a:gdLst/>
              <a:ahLst/>
              <a:cxnLst/>
              <a:rect l="l" t="t" r="r" b="b"/>
              <a:pathLst>
                <a:path w="16509" h="7264400">
                  <a:moveTo>
                    <a:pt x="0" y="0"/>
                  </a:moveTo>
                  <a:lnTo>
                    <a:pt x="16249" y="7264382"/>
                  </a:lnTo>
                </a:path>
              </a:pathLst>
            </a:custGeom>
            <a:ln w="25400">
              <a:solidFill>
                <a:srgbClr val="8D3124"/>
              </a:solidFill>
            </a:ln>
          </p:spPr>
          <p:txBody>
            <a:bodyPr wrap="square" lIns="0" tIns="0" rIns="0" bIns="0" rtlCol="0"/>
            <a:lstStyle/>
            <a:p>
              <a:endParaRPr sz="2109"/>
            </a:p>
          </p:txBody>
        </p:sp>
      </p:grpSp>
      <p:sp>
        <p:nvSpPr>
          <p:cNvPr id="10" name="object 10"/>
          <p:cNvSpPr txBox="1"/>
          <p:nvPr/>
        </p:nvSpPr>
        <p:spPr>
          <a:xfrm>
            <a:off x="6375797" y="884039"/>
            <a:ext cx="2071688" cy="5444954"/>
          </a:xfrm>
          <a:prstGeom prst="rect">
            <a:avLst/>
          </a:prstGeom>
        </p:spPr>
        <p:txBody>
          <a:bodyPr vert="horz" wrap="square" lIns="0" tIns="446" rIns="0" bIns="0" rtlCol="0">
            <a:spAutoFit/>
          </a:bodyPr>
          <a:lstStyle/>
          <a:p>
            <a:pPr>
              <a:spcBef>
                <a:spcPts val="4"/>
              </a:spcBef>
            </a:pPr>
            <a:endParaRPr sz="1617" dirty="0">
              <a:latin typeface="Times New Roman"/>
              <a:cs typeface="Times New Roman"/>
            </a:endParaRPr>
          </a:p>
          <a:p>
            <a:pPr marL="91079"/>
            <a:r>
              <a:rPr sz="984" dirty="0">
                <a:solidFill>
                  <a:srgbClr val="8D3124"/>
                </a:solidFill>
                <a:latin typeface="Lucida Sans"/>
                <a:cs typeface="Lucida Sans"/>
              </a:rPr>
              <a:t>300</a:t>
            </a:r>
            <a:r>
              <a:rPr sz="984" spc="-4" dirty="0">
                <a:solidFill>
                  <a:srgbClr val="8D3124"/>
                </a:solidFill>
                <a:latin typeface="Lucida Sans"/>
                <a:cs typeface="Lucida Sans"/>
              </a:rPr>
              <a:t> </a:t>
            </a:r>
            <a:r>
              <a:rPr sz="984" spc="-18" dirty="0">
                <a:solidFill>
                  <a:srgbClr val="8D3124"/>
                </a:solidFill>
                <a:latin typeface="Lucida Sans"/>
                <a:cs typeface="Lucida Sans"/>
              </a:rPr>
              <a:t>BCE</a:t>
            </a:r>
            <a:endParaRPr sz="984"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spcBef>
                <a:spcPts val="28"/>
              </a:spcBef>
            </a:pPr>
            <a:endParaRPr sz="879" dirty="0">
              <a:latin typeface="Lucida Sans"/>
              <a:cs typeface="Lucida Sans"/>
            </a:endParaRPr>
          </a:p>
          <a:p>
            <a:pPr marL="213858">
              <a:spcBef>
                <a:spcPts val="4"/>
              </a:spcBef>
            </a:pPr>
            <a:r>
              <a:rPr sz="984" spc="-7" dirty="0">
                <a:solidFill>
                  <a:srgbClr val="8D3124"/>
                </a:solidFill>
                <a:latin typeface="Lucida Sans"/>
                <a:cs typeface="Lucida Sans"/>
              </a:rPr>
              <a:t>1920s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1930s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1940s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1950s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1960s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1970s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1980s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1990s</a:t>
            </a:r>
            <a:endParaRPr sz="984" dirty="0">
              <a:latin typeface="Lucida Sans"/>
              <a:cs typeface="Lucida Sans"/>
            </a:endParaRPr>
          </a:p>
          <a:p>
            <a:pPr marL="213858">
              <a:spcBef>
                <a:spcPts val="295"/>
              </a:spcBef>
            </a:pPr>
            <a:r>
              <a:rPr sz="984" spc="-7" dirty="0">
                <a:solidFill>
                  <a:srgbClr val="8D3124"/>
                </a:solidFill>
                <a:latin typeface="Lucida Sans"/>
                <a:cs typeface="Lucida Sans"/>
              </a:rPr>
              <a:t>2000s</a:t>
            </a:r>
            <a:endParaRPr sz="984" dirty="0">
              <a:latin typeface="Lucida Sans"/>
              <a:cs typeface="Lucida Sans"/>
            </a:endParaRPr>
          </a:p>
        </p:txBody>
      </p:sp>
      <p:grpSp>
        <p:nvGrpSpPr>
          <p:cNvPr id="11" name="object 11"/>
          <p:cNvGrpSpPr/>
          <p:nvPr/>
        </p:nvGrpSpPr>
        <p:grpSpPr>
          <a:xfrm>
            <a:off x="7224117" y="1196752"/>
            <a:ext cx="991195" cy="5063133"/>
            <a:chOff x="10274300" y="1625600"/>
            <a:chExt cx="1409700" cy="7200900"/>
          </a:xfrm>
        </p:grpSpPr>
        <p:sp>
          <p:nvSpPr>
            <p:cNvPr id="12" name="object 12"/>
            <p:cNvSpPr/>
            <p:nvPr/>
          </p:nvSpPr>
          <p:spPr>
            <a:xfrm>
              <a:off x="10274300" y="1625599"/>
              <a:ext cx="1409700" cy="7200900"/>
            </a:xfrm>
            <a:custGeom>
              <a:avLst/>
              <a:gdLst/>
              <a:ahLst/>
              <a:cxnLst/>
              <a:rect l="l" t="t" r="r" b="b"/>
              <a:pathLst>
                <a:path w="1409700" h="7200900">
                  <a:moveTo>
                    <a:pt x="190500" y="5448300"/>
                  </a:moveTo>
                  <a:lnTo>
                    <a:pt x="0" y="5448300"/>
                  </a:lnTo>
                  <a:lnTo>
                    <a:pt x="0" y="5638800"/>
                  </a:lnTo>
                  <a:lnTo>
                    <a:pt x="190500" y="5638800"/>
                  </a:lnTo>
                  <a:lnTo>
                    <a:pt x="190500" y="5448300"/>
                  </a:lnTo>
                  <a:close/>
                </a:path>
                <a:path w="1409700" h="7200900">
                  <a:moveTo>
                    <a:pt x="190500" y="4940300"/>
                  </a:moveTo>
                  <a:lnTo>
                    <a:pt x="0" y="4940300"/>
                  </a:lnTo>
                  <a:lnTo>
                    <a:pt x="0" y="5130800"/>
                  </a:lnTo>
                  <a:lnTo>
                    <a:pt x="190500" y="5130800"/>
                  </a:lnTo>
                  <a:lnTo>
                    <a:pt x="190500" y="4940300"/>
                  </a:lnTo>
                  <a:close/>
                </a:path>
                <a:path w="1409700" h="7200900">
                  <a:moveTo>
                    <a:pt x="190500" y="0"/>
                  </a:moveTo>
                  <a:lnTo>
                    <a:pt x="0" y="0"/>
                  </a:lnTo>
                  <a:lnTo>
                    <a:pt x="0" y="190500"/>
                  </a:lnTo>
                  <a:lnTo>
                    <a:pt x="190500" y="190500"/>
                  </a:lnTo>
                  <a:lnTo>
                    <a:pt x="190500" y="0"/>
                  </a:lnTo>
                  <a:close/>
                </a:path>
                <a:path w="1409700" h="7200900">
                  <a:moveTo>
                    <a:pt x="355600" y="5702300"/>
                  </a:moveTo>
                  <a:lnTo>
                    <a:pt x="0" y="5702300"/>
                  </a:lnTo>
                  <a:lnTo>
                    <a:pt x="0" y="5930900"/>
                  </a:lnTo>
                  <a:lnTo>
                    <a:pt x="355600" y="5930900"/>
                  </a:lnTo>
                  <a:lnTo>
                    <a:pt x="355600" y="5702300"/>
                  </a:lnTo>
                  <a:close/>
                </a:path>
                <a:path w="1409700" h="7200900">
                  <a:moveTo>
                    <a:pt x="584200" y="5994400"/>
                  </a:moveTo>
                  <a:lnTo>
                    <a:pt x="0" y="5994400"/>
                  </a:lnTo>
                  <a:lnTo>
                    <a:pt x="0" y="6184900"/>
                  </a:lnTo>
                  <a:lnTo>
                    <a:pt x="584200" y="6184900"/>
                  </a:lnTo>
                  <a:lnTo>
                    <a:pt x="584200" y="5994400"/>
                  </a:lnTo>
                  <a:close/>
                </a:path>
                <a:path w="1409700" h="7200900">
                  <a:moveTo>
                    <a:pt x="685800" y="7010400"/>
                  </a:moveTo>
                  <a:lnTo>
                    <a:pt x="0" y="7010400"/>
                  </a:lnTo>
                  <a:lnTo>
                    <a:pt x="0" y="7200900"/>
                  </a:lnTo>
                  <a:lnTo>
                    <a:pt x="685800" y="7200900"/>
                  </a:lnTo>
                  <a:lnTo>
                    <a:pt x="685800" y="7010400"/>
                  </a:lnTo>
                  <a:close/>
                </a:path>
                <a:path w="1409700" h="7200900">
                  <a:moveTo>
                    <a:pt x="685800" y="6756400"/>
                  </a:moveTo>
                  <a:lnTo>
                    <a:pt x="0" y="6756400"/>
                  </a:lnTo>
                  <a:lnTo>
                    <a:pt x="0" y="6946900"/>
                  </a:lnTo>
                  <a:lnTo>
                    <a:pt x="685800" y="6946900"/>
                  </a:lnTo>
                  <a:lnTo>
                    <a:pt x="685800" y="6756400"/>
                  </a:lnTo>
                  <a:close/>
                </a:path>
                <a:path w="1409700" h="7200900">
                  <a:moveTo>
                    <a:pt x="876300" y="6502400"/>
                  </a:moveTo>
                  <a:lnTo>
                    <a:pt x="0" y="6502400"/>
                  </a:lnTo>
                  <a:lnTo>
                    <a:pt x="0" y="6692900"/>
                  </a:lnTo>
                  <a:lnTo>
                    <a:pt x="876300" y="6692900"/>
                  </a:lnTo>
                  <a:lnTo>
                    <a:pt x="876300" y="6502400"/>
                  </a:lnTo>
                  <a:close/>
                </a:path>
                <a:path w="1409700" h="7200900">
                  <a:moveTo>
                    <a:pt x="1409700" y="6248400"/>
                  </a:moveTo>
                  <a:lnTo>
                    <a:pt x="0" y="6248400"/>
                  </a:lnTo>
                  <a:lnTo>
                    <a:pt x="0" y="6438900"/>
                  </a:lnTo>
                  <a:lnTo>
                    <a:pt x="1409700" y="6438900"/>
                  </a:lnTo>
                  <a:lnTo>
                    <a:pt x="1409700" y="6248400"/>
                  </a:lnTo>
                  <a:close/>
                </a:path>
              </a:pathLst>
            </a:custGeom>
            <a:solidFill>
              <a:srgbClr val="8A8A8A"/>
            </a:solidFill>
          </p:spPr>
          <p:txBody>
            <a:bodyPr wrap="square" lIns="0" tIns="0" rIns="0" bIns="0" rtlCol="0"/>
            <a:lstStyle/>
            <a:p>
              <a:endParaRPr sz="2109"/>
            </a:p>
          </p:txBody>
        </p:sp>
        <p:sp>
          <p:nvSpPr>
            <p:cNvPr id="13" name="object 13"/>
            <p:cNvSpPr/>
            <p:nvPr/>
          </p:nvSpPr>
          <p:spPr>
            <a:xfrm>
              <a:off x="10274300" y="6819900"/>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solidFill>
              <a:srgbClr val="8A8A8A"/>
            </a:solidFill>
          </p:spPr>
          <p:txBody>
            <a:bodyPr wrap="square" lIns="0" tIns="0" rIns="0" bIns="0" rtlCol="0"/>
            <a:lstStyle/>
            <a:p>
              <a:endParaRPr sz="2109"/>
            </a:p>
          </p:txBody>
        </p:sp>
      </p:grpSp>
      <p:sp>
        <p:nvSpPr>
          <p:cNvPr id="14" name="object 14"/>
          <p:cNvSpPr txBox="1">
            <a:spLocks noGrp="1"/>
          </p:cNvSpPr>
          <p:nvPr>
            <p:ph type="title"/>
          </p:nvPr>
        </p:nvSpPr>
        <p:spPr>
          <a:xfrm>
            <a:off x="525658" y="77606"/>
            <a:ext cx="7574733"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b="1" spc="109" dirty="0">
                <a:latin typeface="微软雅黑" panose="020B0503020204020204" pitchFamily="34" charset="-122"/>
                <a:ea typeface="微软雅黑" panose="020B0503020204020204" pitchFamily="34" charset="-122"/>
              </a:rPr>
              <a:t>Why</a:t>
            </a:r>
            <a:r>
              <a:rPr b="1" spc="-49" dirty="0">
                <a:latin typeface="微软雅黑" panose="020B0503020204020204" pitchFamily="34" charset="-122"/>
                <a:ea typeface="微软雅黑" panose="020B0503020204020204" pitchFamily="34" charset="-122"/>
              </a:rPr>
              <a:t> </a:t>
            </a:r>
            <a:r>
              <a:rPr b="1" dirty="0">
                <a:latin typeface="微软雅黑" panose="020B0503020204020204" pitchFamily="34" charset="-122"/>
                <a:ea typeface="微软雅黑" panose="020B0503020204020204" pitchFamily="34" charset="-122"/>
              </a:rPr>
              <a:t>study</a:t>
            </a:r>
            <a:r>
              <a:rPr b="1" spc="-49" dirty="0">
                <a:latin typeface="微软雅黑" panose="020B0503020204020204" pitchFamily="34" charset="-122"/>
                <a:ea typeface="微软雅黑" panose="020B0503020204020204" pitchFamily="34" charset="-122"/>
              </a:rPr>
              <a:t> </a:t>
            </a:r>
            <a:r>
              <a:rPr b="1" spc="-7" dirty="0">
                <a:latin typeface="微软雅黑" panose="020B0503020204020204" pitchFamily="34" charset="-122"/>
                <a:ea typeface="微软雅黑" panose="020B0503020204020204" pitchFamily="34" charset="-122"/>
              </a:rPr>
              <a:t>algorithms?</a:t>
            </a:r>
          </a:p>
        </p:txBody>
      </p:sp>
      <p:pic>
        <p:nvPicPr>
          <p:cNvPr id="15362" name="Picture 2" descr="https://pics0.baidu.com/feed/64380cd7912397ddfb47f9083c61eabcd1a287ea.jpeg@f_auto?token=d02fad0ed769c036702373ee7002c2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730" y="1303393"/>
            <a:ext cx="1863107" cy="1376953"/>
          </a:xfrm>
          <a:prstGeom prst="rect">
            <a:avLst/>
          </a:prstGeom>
          <a:noFill/>
          <a:extLst>
            <a:ext uri="{909E8E84-426E-40DD-AFC4-6F175D3DCCD1}">
              <a14:hiddenFill xmlns:a14="http://schemas.microsoft.com/office/drawing/2010/main">
                <a:solidFill>
                  <a:srgbClr val="FFFFFF"/>
                </a:solidFill>
              </a14:hiddenFill>
            </a:ext>
          </a:extLst>
        </p:spPr>
      </p:pic>
      <p:sp>
        <p:nvSpPr>
          <p:cNvPr id="19" name="矩形 18"/>
          <p:cNvSpPr/>
          <p:nvPr/>
        </p:nvSpPr>
        <p:spPr>
          <a:xfrm>
            <a:off x="1047370" y="3606516"/>
            <a:ext cx="5209216" cy="1938992"/>
          </a:xfrm>
          <a:prstGeom prst="rect">
            <a:avLst/>
          </a:prstGeom>
        </p:spPr>
        <p:txBody>
          <a:bodyPr wrap="square">
            <a:spAutoFit/>
          </a:bodyPr>
          <a:lstStyle/>
          <a:p>
            <a:pPr marL="26788" lvl="0">
              <a:lnSpc>
                <a:spcPct val="150000"/>
              </a:lnSpc>
              <a:spcBef>
                <a:spcPts val="70"/>
              </a:spcBef>
            </a:pPr>
            <a:r>
              <a:rPr lang="zh-CN" altLang="en-US" sz="2000" b="1" spc="-7" dirty="0">
                <a:solidFill>
                  <a:srgbClr val="FF0000"/>
                </a:solidFill>
                <a:latin typeface="微软雅黑" panose="020B0503020204020204" pitchFamily="34" charset="-122"/>
                <a:ea typeface="微软雅黑" panose="020B0503020204020204" pitchFamily="34" charset="-122"/>
                <a:cs typeface="Lucida Sans"/>
              </a:rPr>
              <a:t>可计算性理论是计算机理论的基础</a:t>
            </a:r>
            <a:r>
              <a:rPr lang="zh-CN" altLang="en-US" sz="2000" b="1" spc="-7" dirty="0">
                <a:solidFill>
                  <a:schemeClr val="tx1"/>
                </a:solidFill>
                <a:latin typeface="微软雅黑" panose="020B0503020204020204" pitchFamily="34" charset="-122"/>
                <a:ea typeface="微软雅黑" panose="020B0503020204020204" pitchFamily="34" charset="-122"/>
                <a:cs typeface="Lucida Sans"/>
              </a:rPr>
              <a:t>，而</a:t>
            </a:r>
            <a:r>
              <a:rPr lang="zh-CN" altLang="en-US" sz="2000" b="1" u="sng" spc="-7" dirty="0">
                <a:solidFill>
                  <a:srgbClr val="FF0000"/>
                </a:solidFill>
                <a:latin typeface="微软雅黑" panose="020B0503020204020204" pitchFamily="34" charset="-122"/>
                <a:ea typeface="微软雅黑" panose="020B0503020204020204" pitchFamily="34" charset="-122"/>
                <a:cs typeface="Lucida Sans"/>
              </a:rPr>
              <a:t>图灵机</a:t>
            </a:r>
            <a:r>
              <a:rPr lang="zh-CN" altLang="en-US" sz="2000" b="1" spc="-7" dirty="0">
                <a:solidFill>
                  <a:srgbClr val="FF0000"/>
                </a:solidFill>
                <a:latin typeface="微软雅黑" panose="020B0503020204020204" pitchFamily="34" charset="-122"/>
                <a:ea typeface="微软雅黑" panose="020B0503020204020204" pitchFamily="34" charset="-122"/>
                <a:cs typeface="Lucida Sans"/>
              </a:rPr>
              <a:t>与</a:t>
            </a:r>
            <a:r>
              <a:rPr lang="zh-CN" altLang="en-US" sz="2000" b="1" u="sng" spc="-7" dirty="0">
                <a:solidFill>
                  <a:srgbClr val="FF0000"/>
                </a:solidFill>
                <a:latin typeface="微软雅黑" panose="020B0503020204020204" pitchFamily="34" charset="-122"/>
                <a:ea typeface="微软雅黑" panose="020B0503020204020204" pitchFamily="34" charset="-122"/>
                <a:cs typeface="Lucida Sans"/>
              </a:rPr>
              <a:t>丘奇</a:t>
            </a:r>
            <a:r>
              <a:rPr lang="en-US" altLang="zh-CN" sz="2000" b="1" u="sng" spc="-7" dirty="0">
                <a:solidFill>
                  <a:srgbClr val="FF0000"/>
                </a:solidFill>
                <a:latin typeface="微软雅黑" panose="020B0503020204020204" pitchFamily="34" charset="-122"/>
                <a:ea typeface="微软雅黑" panose="020B0503020204020204" pitchFamily="34" charset="-122"/>
                <a:cs typeface="Lucida Sans"/>
              </a:rPr>
              <a:t>-</a:t>
            </a:r>
            <a:r>
              <a:rPr lang="zh-CN" altLang="en-US" sz="2000" b="1" u="sng" spc="-7" dirty="0">
                <a:solidFill>
                  <a:srgbClr val="FF0000"/>
                </a:solidFill>
                <a:latin typeface="微软雅黑" panose="020B0503020204020204" pitchFamily="34" charset="-122"/>
                <a:ea typeface="微软雅黑" panose="020B0503020204020204" pitchFamily="34" charset="-122"/>
                <a:cs typeface="Lucida Sans"/>
              </a:rPr>
              <a:t>图灵论题</a:t>
            </a:r>
            <a:r>
              <a:rPr lang="zh-CN" altLang="en-US" sz="2000" b="1" spc="-7" dirty="0">
                <a:solidFill>
                  <a:srgbClr val="FF0000"/>
                </a:solidFill>
                <a:latin typeface="微软雅黑" panose="020B0503020204020204" pitchFamily="34" charset="-122"/>
                <a:ea typeface="微软雅黑" panose="020B0503020204020204" pitchFamily="34" charset="-122"/>
                <a:cs typeface="Lucida Sans"/>
              </a:rPr>
              <a:t>是可计算性理论的基石</a:t>
            </a:r>
            <a:r>
              <a:rPr lang="zh-CN" altLang="en-US" sz="2000" b="1" spc="-7" dirty="0">
                <a:solidFill>
                  <a:schemeClr val="tx1"/>
                </a:solidFill>
                <a:latin typeface="微软雅黑" panose="020B0503020204020204" pitchFamily="34" charset="-122"/>
                <a:ea typeface="微软雅黑" panose="020B0503020204020204" pitchFamily="34" charset="-122"/>
                <a:cs typeface="Lucida Sans"/>
              </a:rPr>
              <a:t>，其意义之丰富，涵盖了数学、算法理论、数理逻辑以及哲学意义上的深刻内容</a:t>
            </a:r>
            <a:endParaRPr lang="zh-CN" altLang="en-US" sz="2000" b="1" dirty="0">
              <a:solidFill>
                <a:schemeClr val="tx1"/>
              </a:solidFill>
              <a:latin typeface="微软雅黑" panose="020B0503020204020204" pitchFamily="34" charset="-122"/>
              <a:ea typeface="微软雅黑" panose="020B0503020204020204" pitchFamily="34" charset="-122"/>
              <a:cs typeface="Lucida Sans"/>
            </a:endParaRPr>
          </a:p>
        </p:txBody>
      </p:sp>
      <p:sp>
        <p:nvSpPr>
          <p:cNvPr id="21" name="object 3"/>
          <p:cNvSpPr txBox="1"/>
          <p:nvPr/>
        </p:nvSpPr>
        <p:spPr>
          <a:xfrm>
            <a:off x="507398" y="2027776"/>
            <a:ext cx="5272789" cy="316794"/>
          </a:xfrm>
          <a:prstGeom prst="rect">
            <a:avLst/>
          </a:prstGeom>
        </p:spPr>
        <p:txBody>
          <a:bodyPr vert="horz" wrap="square" lIns="0" tIns="8930" rIns="0" bIns="0" rtlCol="0">
            <a:spAutoFit/>
          </a:bodyPr>
          <a:lstStyle/>
          <a:p>
            <a:pPr marL="26788">
              <a:spcBef>
                <a:spcPts val="70"/>
              </a:spcBef>
            </a:pPr>
            <a:r>
              <a:rPr sz="2000" b="1" spc="2109" baseline="-11805" dirty="0">
                <a:latin typeface="微软雅黑" panose="020B0503020204020204" pitchFamily="34" charset="-122"/>
                <a:ea typeface="微软雅黑" panose="020B0503020204020204" pitchFamily="34" charset="-122"/>
                <a:cs typeface="MS PGothic"/>
              </a:rPr>
              <a:t>・</a:t>
            </a:r>
            <a:r>
              <a:rPr lang="en-US" altLang="zh-CN" sz="2000" b="1" dirty="0">
                <a:latin typeface="微软雅黑" panose="020B0503020204020204" pitchFamily="34" charset="-122"/>
                <a:ea typeface="微软雅黑" panose="020B0503020204020204" pitchFamily="34" charset="-122"/>
              </a:rPr>
              <a:t>Etymology of “Algorithm”</a:t>
            </a:r>
            <a:endParaRPr sz="2000" b="1" dirty="0">
              <a:latin typeface="微软雅黑" panose="020B0503020204020204" pitchFamily="34" charset="-122"/>
              <a:ea typeface="微软雅黑" panose="020B0503020204020204" pitchFamily="34" charset="-122"/>
              <a:cs typeface="Lucida Sans"/>
            </a:endParaRPr>
          </a:p>
        </p:txBody>
      </p:sp>
      <p:pic>
        <p:nvPicPr>
          <p:cNvPr id="16" name="Picture 2" descr="图灵机：计算机世界的理论基石"/>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7462539" y="3429000"/>
            <a:ext cx="1297949" cy="176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643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3846" y="1231299"/>
            <a:ext cx="7280522" cy="268640"/>
          </a:xfrm>
          <a:prstGeom prst="rect">
            <a:avLst/>
          </a:prstGeom>
        </p:spPr>
        <p:txBody>
          <a:bodyPr vert="horz" wrap="square" lIns="0" tIns="8930" rIns="0" bIns="0" rtlCol="0">
            <a:spAutoFit/>
          </a:bodyPr>
          <a:lstStyle/>
          <a:p>
            <a:pPr marL="8929">
              <a:spcBef>
                <a:spcPts val="70"/>
              </a:spcBef>
            </a:pPr>
            <a:r>
              <a:rPr sz="1687" b="1" dirty="0">
                <a:solidFill>
                  <a:srgbClr val="005493"/>
                </a:solidFill>
                <a:latin typeface="微软雅黑" panose="020B0503020204020204" pitchFamily="34" charset="-122"/>
                <a:ea typeface="微软雅黑" panose="020B0503020204020204" pitchFamily="34" charset="-122"/>
                <a:cs typeface="Lucida Sans"/>
              </a:rPr>
              <a:t>They</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may</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unlock</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the</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secrets</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of</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life</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and</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of</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dirty="0">
                <a:solidFill>
                  <a:srgbClr val="005493"/>
                </a:solidFill>
                <a:latin typeface="微软雅黑" panose="020B0503020204020204" pitchFamily="34" charset="-122"/>
                <a:ea typeface="微软雅黑" panose="020B0503020204020204" pitchFamily="34" charset="-122"/>
                <a:cs typeface="Lucida Sans"/>
              </a:rPr>
              <a:t>the</a:t>
            </a:r>
            <a:r>
              <a:rPr sz="1687" b="1" spc="-11" dirty="0">
                <a:solidFill>
                  <a:srgbClr val="005493"/>
                </a:solidFill>
                <a:latin typeface="微软雅黑" panose="020B0503020204020204" pitchFamily="34" charset="-122"/>
                <a:ea typeface="微软雅黑" panose="020B0503020204020204" pitchFamily="34" charset="-122"/>
                <a:cs typeface="Lucida Sans"/>
              </a:rPr>
              <a:t> </a:t>
            </a:r>
            <a:r>
              <a:rPr sz="1687" b="1" spc="-7" dirty="0">
                <a:solidFill>
                  <a:srgbClr val="005493"/>
                </a:solidFill>
                <a:latin typeface="微软雅黑" panose="020B0503020204020204" pitchFamily="34" charset="-122"/>
                <a:ea typeface="微软雅黑" panose="020B0503020204020204" pitchFamily="34" charset="-122"/>
                <a:cs typeface="Lucida Sans"/>
              </a:rPr>
              <a:t>universe.</a:t>
            </a:r>
            <a:endParaRPr sz="1687" b="1" dirty="0">
              <a:latin typeface="微软雅黑" panose="020B0503020204020204" pitchFamily="34" charset="-122"/>
              <a:ea typeface="微软雅黑" panose="020B0503020204020204" pitchFamily="34" charset="-122"/>
              <a:cs typeface="Lucida Sans"/>
            </a:endParaRPr>
          </a:p>
        </p:txBody>
      </p:sp>
      <p:sp>
        <p:nvSpPr>
          <p:cNvPr id="3" name="object 3"/>
          <p:cNvSpPr txBox="1"/>
          <p:nvPr/>
        </p:nvSpPr>
        <p:spPr>
          <a:xfrm>
            <a:off x="825044" y="1622137"/>
            <a:ext cx="7818625" cy="268640"/>
          </a:xfrm>
          <a:prstGeom prst="rect">
            <a:avLst/>
          </a:prstGeom>
        </p:spPr>
        <p:txBody>
          <a:bodyPr vert="horz" wrap="square" lIns="0" tIns="8930" rIns="0" bIns="0" rtlCol="0">
            <a:spAutoFit/>
          </a:bodyPr>
          <a:lstStyle/>
          <a:p>
            <a:pPr marL="8929">
              <a:spcBef>
                <a:spcPts val="70"/>
              </a:spcBef>
            </a:pPr>
            <a:r>
              <a:rPr sz="1687" b="1" u="sng" dirty="0">
                <a:solidFill>
                  <a:srgbClr val="FF0000"/>
                </a:solidFill>
                <a:latin typeface="微软雅黑" panose="020B0503020204020204" pitchFamily="34" charset="-122"/>
                <a:ea typeface="微软雅黑" panose="020B0503020204020204" pitchFamily="34" charset="-122"/>
                <a:cs typeface="Lucida Sans"/>
              </a:rPr>
              <a:t>Computational</a:t>
            </a:r>
            <a:r>
              <a:rPr sz="1687" b="1" u="sng" spc="-39" dirty="0">
                <a:solidFill>
                  <a:srgbClr val="FF0000"/>
                </a:solidFill>
                <a:latin typeface="微软雅黑" panose="020B0503020204020204" pitchFamily="34" charset="-122"/>
                <a:ea typeface="微软雅黑" panose="020B0503020204020204" pitchFamily="34" charset="-122"/>
                <a:cs typeface="Lucida Sans"/>
              </a:rPr>
              <a:t> </a:t>
            </a:r>
            <a:r>
              <a:rPr sz="1687" b="1" u="sng" dirty="0">
                <a:solidFill>
                  <a:srgbClr val="FF0000"/>
                </a:solidFill>
                <a:latin typeface="微软雅黑" panose="020B0503020204020204" pitchFamily="34" charset="-122"/>
                <a:ea typeface="微软雅黑" panose="020B0503020204020204" pitchFamily="34" charset="-122"/>
                <a:cs typeface="Lucida Sans"/>
              </a:rPr>
              <a:t>models</a:t>
            </a:r>
            <a:r>
              <a:rPr sz="1687" b="1" u="sng" spc="-39" dirty="0">
                <a:solidFill>
                  <a:srgbClr val="FF0000"/>
                </a:solidFill>
                <a:latin typeface="微软雅黑" panose="020B0503020204020204" pitchFamily="34" charset="-122"/>
                <a:ea typeface="微软雅黑" panose="020B0503020204020204" pitchFamily="34" charset="-122"/>
                <a:cs typeface="Lucida Sans"/>
              </a:rPr>
              <a:t> </a:t>
            </a:r>
            <a:r>
              <a:rPr sz="1687" b="1" dirty="0">
                <a:latin typeface="微软雅黑" panose="020B0503020204020204" pitchFamily="34" charset="-122"/>
                <a:ea typeface="微软雅黑" panose="020B0503020204020204" pitchFamily="34" charset="-122"/>
                <a:cs typeface="Lucida Sans"/>
              </a:rPr>
              <a:t>are</a:t>
            </a:r>
            <a:r>
              <a:rPr sz="1687" b="1" spc="-39" dirty="0">
                <a:latin typeface="微软雅黑" panose="020B0503020204020204" pitchFamily="34" charset="-122"/>
                <a:ea typeface="微软雅黑" panose="020B0503020204020204" pitchFamily="34" charset="-122"/>
                <a:cs typeface="Lucida Sans"/>
              </a:rPr>
              <a:t> </a:t>
            </a:r>
            <a:r>
              <a:rPr sz="1687" b="1" dirty="0">
                <a:latin typeface="微软雅黑" panose="020B0503020204020204" pitchFamily="34" charset="-122"/>
                <a:ea typeface="微软雅黑" panose="020B0503020204020204" pitchFamily="34" charset="-122"/>
                <a:cs typeface="Lucida Sans"/>
              </a:rPr>
              <a:t>replacing</a:t>
            </a:r>
            <a:r>
              <a:rPr sz="1687" b="1" spc="-39" dirty="0">
                <a:latin typeface="微软雅黑" panose="020B0503020204020204" pitchFamily="34" charset="-122"/>
                <a:ea typeface="微软雅黑" panose="020B0503020204020204" pitchFamily="34" charset="-122"/>
                <a:cs typeface="Lucida Sans"/>
              </a:rPr>
              <a:t> </a:t>
            </a:r>
            <a:r>
              <a:rPr sz="1687" b="1" u="sng" dirty="0">
                <a:latin typeface="微软雅黑" panose="020B0503020204020204" pitchFamily="34" charset="-122"/>
                <a:ea typeface="微软雅黑" panose="020B0503020204020204" pitchFamily="34" charset="-122"/>
                <a:cs typeface="Lucida Sans"/>
              </a:rPr>
              <a:t>math</a:t>
            </a:r>
            <a:r>
              <a:rPr sz="1687" b="1" u="sng" spc="-39" dirty="0">
                <a:latin typeface="微软雅黑" panose="020B0503020204020204" pitchFamily="34" charset="-122"/>
                <a:ea typeface="微软雅黑" panose="020B0503020204020204" pitchFamily="34" charset="-122"/>
                <a:cs typeface="Lucida Sans"/>
              </a:rPr>
              <a:t> </a:t>
            </a:r>
            <a:r>
              <a:rPr sz="1687" b="1" u="sng" dirty="0">
                <a:latin typeface="微软雅黑" panose="020B0503020204020204" pitchFamily="34" charset="-122"/>
                <a:ea typeface="微软雅黑" panose="020B0503020204020204" pitchFamily="34" charset="-122"/>
                <a:cs typeface="Lucida Sans"/>
              </a:rPr>
              <a:t>models</a:t>
            </a:r>
            <a:r>
              <a:rPr sz="1687" b="1" u="sng" spc="-39" dirty="0">
                <a:latin typeface="微软雅黑" panose="020B0503020204020204" pitchFamily="34" charset="-122"/>
                <a:ea typeface="微软雅黑" panose="020B0503020204020204" pitchFamily="34" charset="-122"/>
                <a:cs typeface="Lucida Sans"/>
              </a:rPr>
              <a:t> </a:t>
            </a:r>
            <a:r>
              <a:rPr sz="1687" b="1" dirty="0">
                <a:latin typeface="微软雅黑" panose="020B0503020204020204" pitchFamily="34" charset="-122"/>
                <a:ea typeface="微软雅黑" panose="020B0503020204020204" pitchFamily="34" charset="-122"/>
                <a:cs typeface="Lucida Sans"/>
              </a:rPr>
              <a:t>in</a:t>
            </a:r>
            <a:r>
              <a:rPr sz="1687" b="1" spc="-39" dirty="0">
                <a:latin typeface="微软雅黑" panose="020B0503020204020204" pitchFamily="34" charset="-122"/>
                <a:ea typeface="微软雅黑" panose="020B0503020204020204" pitchFamily="34" charset="-122"/>
                <a:cs typeface="Lucida Sans"/>
              </a:rPr>
              <a:t> </a:t>
            </a:r>
            <a:r>
              <a:rPr sz="1687" b="1" dirty="0">
                <a:latin typeface="微软雅黑" panose="020B0503020204020204" pitchFamily="34" charset="-122"/>
                <a:ea typeface="微软雅黑" panose="020B0503020204020204" pitchFamily="34" charset="-122"/>
                <a:cs typeface="Lucida Sans"/>
              </a:rPr>
              <a:t>scientific</a:t>
            </a:r>
            <a:r>
              <a:rPr sz="1687" b="1" spc="-39" dirty="0">
                <a:latin typeface="微软雅黑" panose="020B0503020204020204" pitchFamily="34" charset="-122"/>
                <a:ea typeface="微软雅黑" panose="020B0503020204020204" pitchFamily="34" charset="-122"/>
                <a:cs typeface="Lucida Sans"/>
              </a:rPr>
              <a:t> </a:t>
            </a:r>
            <a:r>
              <a:rPr sz="1687" b="1" spc="-7" dirty="0">
                <a:latin typeface="微软雅黑" panose="020B0503020204020204" pitchFamily="34" charset="-122"/>
                <a:ea typeface="微软雅黑" panose="020B0503020204020204" pitchFamily="34" charset="-122"/>
                <a:cs typeface="Lucida Sans"/>
              </a:rPr>
              <a:t>inquiry.</a:t>
            </a:r>
            <a:endParaRPr sz="1687" b="1" dirty="0">
              <a:latin typeface="微软雅黑" panose="020B0503020204020204" pitchFamily="34" charset="-122"/>
              <a:ea typeface="微软雅黑" panose="020B0503020204020204" pitchFamily="34" charset="-122"/>
              <a:cs typeface="Lucida Sans"/>
            </a:endParaRPr>
          </a:p>
        </p:txBody>
      </p:sp>
      <p:grpSp>
        <p:nvGrpSpPr>
          <p:cNvPr id="4" name="object 4"/>
          <p:cNvGrpSpPr/>
          <p:nvPr/>
        </p:nvGrpSpPr>
        <p:grpSpPr>
          <a:xfrm>
            <a:off x="672308" y="2093144"/>
            <a:ext cx="3232547" cy="1660922"/>
            <a:chOff x="914400" y="3771900"/>
            <a:chExt cx="4597400" cy="2362200"/>
          </a:xfrm>
        </p:grpSpPr>
        <p:pic>
          <p:nvPicPr>
            <p:cNvPr id="5" name="object 5"/>
            <p:cNvPicPr/>
            <p:nvPr/>
          </p:nvPicPr>
          <p:blipFill>
            <a:blip r:embed="rId3" cstate="print"/>
            <a:stretch>
              <a:fillRect/>
            </a:stretch>
          </p:blipFill>
          <p:spPr>
            <a:xfrm>
              <a:off x="914400" y="3771900"/>
              <a:ext cx="4597400" cy="2362200"/>
            </a:xfrm>
            <a:prstGeom prst="rect">
              <a:avLst/>
            </a:prstGeom>
          </p:spPr>
        </p:pic>
        <p:sp>
          <p:nvSpPr>
            <p:cNvPr id="6" name="object 6"/>
            <p:cNvSpPr/>
            <p:nvPr/>
          </p:nvSpPr>
          <p:spPr>
            <a:xfrm>
              <a:off x="991277" y="3852499"/>
              <a:ext cx="4330700" cy="2095500"/>
            </a:xfrm>
            <a:custGeom>
              <a:avLst/>
              <a:gdLst/>
              <a:ahLst/>
              <a:cxnLst/>
              <a:rect l="l" t="t" r="r" b="b"/>
              <a:pathLst>
                <a:path w="4330700" h="2095500">
                  <a:moveTo>
                    <a:pt x="0" y="0"/>
                  </a:moveTo>
                  <a:lnTo>
                    <a:pt x="4330699" y="0"/>
                  </a:lnTo>
                  <a:lnTo>
                    <a:pt x="4330699" y="2095500"/>
                  </a:lnTo>
                  <a:lnTo>
                    <a:pt x="0" y="2095500"/>
                  </a:lnTo>
                  <a:lnTo>
                    <a:pt x="0" y="0"/>
                  </a:lnTo>
                  <a:close/>
                </a:path>
              </a:pathLst>
            </a:custGeom>
            <a:solidFill>
              <a:srgbClr val="FFFFFF"/>
            </a:solidFill>
          </p:spPr>
          <p:txBody>
            <a:bodyPr wrap="square" lIns="0" tIns="0" rIns="0" bIns="0" rtlCol="0"/>
            <a:lstStyle/>
            <a:p>
              <a:endParaRPr sz="2109"/>
            </a:p>
          </p:txBody>
        </p:sp>
      </p:grpSp>
      <p:sp>
        <p:nvSpPr>
          <p:cNvPr id="7" name="object 7"/>
          <p:cNvSpPr txBox="1"/>
          <p:nvPr/>
        </p:nvSpPr>
        <p:spPr>
          <a:xfrm>
            <a:off x="1522220" y="3770163"/>
            <a:ext cx="1453307" cy="424516"/>
          </a:xfrm>
          <a:prstGeom prst="rect">
            <a:avLst/>
          </a:prstGeom>
        </p:spPr>
        <p:txBody>
          <a:bodyPr vert="horz" wrap="square" lIns="0" tIns="8930" rIns="0" bIns="0" rtlCol="0">
            <a:spAutoFit/>
          </a:bodyPr>
          <a:lstStyle/>
          <a:p>
            <a:pPr marL="178141" marR="21430" indent="-151799">
              <a:lnSpc>
                <a:spcPct val="119800"/>
              </a:lnSpc>
              <a:spcBef>
                <a:spcPts val="70"/>
              </a:spcBef>
            </a:pPr>
            <a:r>
              <a:rPr sz="1125" dirty="0">
                <a:solidFill>
                  <a:srgbClr val="8D3124"/>
                </a:solidFill>
                <a:latin typeface="Lucida Sans"/>
                <a:cs typeface="Lucida Sans"/>
              </a:rPr>
              <a:t>20</a:t>
            </a:r>
            <a:r>
              <a:rPr sz="1107" baseline="21164" dirty="0">
                <a:solidFill>
                  <a:srgbClr val="8D3124"/>
                </a:solidFill>
                <a:latin typeface="Lucida Sans"/>
                <a:cs typeface="Lucida Sans"/>
              </a:rPr>
              <a:t>th</a:t>
            </a:r>
            <a:r>
              <a:rPr sz="1107" spc="211" baseline="21164" dirty="0">
                <a:solidFill>
                  <a:srgbClr val="8D3124"/>
                </a:solidFill>
                <a:latin typeface="Lucida Sans"/>
                <a:cs typeface="Lucida Sans"/>
              </a:rPr>
              <a:t> </a:t>
            </a:r>
            <a:r>
              <a:rPr sz="1125" dirty="0">
                <a:solidFill>
                  <a:srgbClr val="8D3124"/>
                </a:solidFill>
                <a:latin typeface="Lucida Sans"/>
                <a:cs typeface="Lucida Sans"/>
              </a:rPr>
              <a:t>century</a:t>
            </a:r>
            <a:r>
              <a:rPr sz="1125" spc="21" dirty="0">
                <a:solidFill>
                  <a:srgbClr val="8D3124"/>
                </a:solidFill>
                <a:latin typeface="Lucida Sans"/>
                <a:cs typeface="Lucida Sans"/>
              </a:rPr>
              <a:t> </a:t>
            </a:r>
            <a:r>
              <a:rPr sz="1125" spc="-7" dirty="0">
                <a:solidFill>
                  <a:srgbClr val="8D3124"/>
                </a:solidFill>
                <a:latin typeface="Lucida Sans"/>
                <a:cs typeface="Lucida Sans"/>
              </a:rPr>
              <a:t>science </a:t>
            </a:r>
            <a:r>
              <a:rPr sz="1125" dirty="0">
                <a:solidFill>
                  <a:srgbClr val="8D3124"/>
                </a:solidFill>
                <a:latin typeface="Lucida Sans"/>
                <a:cs typeface="Lucida Sans"/>
              </a:rPr>
              <a:t>(formula</a:t>
            </a:r>
            <a:r>
              <a:rPr sz="1125" spc="-53" dirty="0">
                <a:solidFill>
                  <a:srgbClr val="8D3124"/>
                </a:solidFill>
                <a:latin typeface="Lucida Sans"/>
                <a:cs typeface="Lucida Sans"/>
              </a:rPr>
              <a:t> </a:t>
            </a:r>
            <a:r>
              <a:rPr sz="1125" spc="-7" dirty="0">
                <a:solidFill>
                  <a:srgbClr val="8D3124"/>
                </a:solidFill>
                <a:latin typeface="Lucida Sans"/>
                <a:cs typeface="Lucida Sans"/>
              </a:rPr>
              <a:t>based)</a:t>
            </a:r>
            <a:endParaRPr sz="1125" dirty="0">
              <a:latin typeface="Lucida Sans"/>
              <a:cs typeface="Lucida Sans"/>
            </a:endParaRPr>
          </a:p>
        </p:txBody>
      </p:sp>
      <p:sp>
        <p:nvSpPr>
          <p:cNvPr id="8" name="object 8"/>
          <p:cNvSpPr txBox="1"/>
          <p:nvPr/>
        </p:nvSpPr>
        <p:spPr>
          <a:xfrm>
            <a:off x="924471" y="2154168"/>
            <a:ext cx="839391" cy="692413"/>
          </a:xfrm>
          <a:prstGeom prst="rect">
            <a:avLst/>
          </a:prstGeom>
        </p:spPr>
        <p:txBody>
          <a:bodyPr vert="horz" wrap="square" lIns="0" tIns="109835" rIns="0" bIns="0" rtlCol="0">
            <a:spAutoFit/>
          </a:bodyPr>
          <a:lstStyle/>
          <a:p>
            <a:pPr marL="26342">
              <a:spcBef>
                <a:spcPts val="865"/>
              </a:spcBef>
              <a:tabLst>
                <a:tab pos="283061" algn="l"/>
                <a:tab pos="510313" algn="l"/>
              </a:tabLst>
            </a:pPr>
            <a:r>
              <a:rPr lang="en-US" altLang="zh-CN" sz="1512" i="1" spc="-35" dirty="0">
                <a:latin typeface="Symbol"/>
                <a:cs typeface="Symbol"/>
              </a:rPr>
              <a:t>E</a:t>
            </a:r>
            <a:r>
              <a:rPr lang="en-US" altLang="zh-CN" sz="1512" spc="-35" dirty="0">
                <a:latin typeface="Symbol"/>
                <a:cs typeface="Symbol"/>
              </a:rPr>
              <a:t>   </a:t>
            </a:r>
            <a:r>
              <a:rPr sz="1512" spc="-35" dirty="0">
                <a:latin typeface="Symbol"/>
                <a:cs typeface="Symbol"/>
              </a:rPr>
              <a:t></a:t>
            </a:r>
            <a:r>
              <a:rPr sz="1512" dirty="0">
                <a:latin typeface="Times New Roman"/>
                <a:cs typeface="Times New Roman"/>
              </a:rPr>
              <a:t>	</a:t>
            </a:r>
            <a:r>
              <a:rPr sz="1512" i="1" spc="-18" dirty="0">
                <a:latin typeface="Times New Roman"/>
                <a:cs typeface="Times New Roman"/>
              </a:rPr>
              <a:t>mc</a:t>
            </a:r>
            <a:r>
              <a:rPr sz="1424" spc="-26" baseline="41152" dirty="0">
                <a:latin typeface="Times New Roman"/>
                <a:cs typeface="Times New Roman"/>
              </a:rPr>
              <a:t>2</a:t>
            </a:r>
            <a:endParaRPr sz="1424" baseline="41152" dirty="0">
              <a:latin typeface="Times New Roman"/>
              <a:cs typeface="Times New Roman"/>
            </a:endParaRPr>
          </a:p>
          <a:p>
            <a:pPr marL="17858">
              <a:spcBef>
                <a:spcPts val="756"/>
              </a:spcBef>
              <a:tabLst>
                <a:tab pos="276810" algn="l"/>
                <a:tab pos="505402" algn="l"/>
              </a:tabLst>
            </a:pPr>
            <a:r>
              <a:rPr lang="en-US" altLang="zh-CN" sz="1600" i="1" spc="-35" dirty="0">
                <a:latin typeface="Times New Roman"/>
                <a:cs typeface="Times New Roman"/>
              </a:rPr>
              <a:t>F</a:t>
            </a:r>
            <a:r>
              <a:rPr lang="en-US" altLang="zh-CN" sz="1477" spc="-35" dirty="0">
                <a:latin typeface="Symbol"/>
                <a:cs typeface="Symbol"/>
              </a:rPr>
              <a:t>   </a:t>
            </a:r>
            <a:r>
              <a:rPr sz="1477" spc="-35" dirty="0">
                <a:latin typeface="Symbol"/>
                <a:cs typeface="Symbol"/>
              </a:rPr>
              <a:t></a:t>
            </a:r>
            <a:r>
              <a:rPr sz="1477" dirty="0">
                <a:latin typeface="Times New Roman"/>
                <a:cs typeface="Times New Roman"/>
              </a:rPr>
              <a:t>	</a:t>
            </a:r>
            <a:r>
              <a:rPr sz="1477" i="1" spc="-18" dirty="0">
                <a:latin typeface="Times New Roman"/>
                <a:cs typeface="Times New Roman"/>
              </a:rPr>
              <a:t>ma</a:t>
            </a:r>
            <a:endParaRPr sz="1477" dirty="0">
              <a:latin typeface="Times New Roman"/>
              <a:cs typeface="Times New Roman"/>
            </a:endParaRPr>
          </a:p>
        </p:txBody>
      </p:sp>
      <p:sp>
        <p:nvSpPr>
          <p:cNvPr id="9" name="object 9"/>
          <p:cNvSpPr txBox="1"/>
          <p:nvPr/>
        </p:nvSpPr>
        <p:spPr>
          <a:xfrm>
            <a:off x="2316718" y="2486774"/>
            <a:ext cx="362098" cy="232998"/>
          </a:xfrm>
          <a:prstGeom prst="rect">
            <a:avLst/>
          </a:prstGeom>
        </p:spPr>
        <p:txBody>
          <a:bodyPr vert="horz" wrap="square" lIns="0" tIns="11162" rIns="0" bIns="0" rtlCol="0">
            <a:spAutoFit/>
          </a:bodyPr>
          <a:lstStyle/>
          <a:p>
            <a:pPr>
              <a:spcBef>
                <a:spcPts val="88"/>
              </a:spcBef>
              <a:tabLst>
                <a:tab pos="250469" algn="l"/>
              </a:tabLst>
            </a:pPr>
            <a:r>
              <a:rPr sz="1441" i="1" spc="-35" dirty="0">
                <a:latin typeface="Times New Roman"/>
                <a:cs typeface="Times New Roman"/>
              </a:rPr>
              <a:t>F</a:t>
            </a:r>
            <a:r>
              <a:rPr sz="1441" i="1" dirty="0">
                <a:latin typeface="Times New Roman"/>
                <a:cs typeface="Times New Roman"/>
              </a:rPr>
              <a:t>	</a:t>
            </a:r>
            <a:r>
              <a:rPr sz="1441" spc="-35" dirty="0">
                <a:latin typeface="Symbol"/>
                <a:cs typeface="Symbol"/>
              </a:rPr>
              <a:t></a:t>
            </a:r>
            <a:endParaRPr sz="1441" dirty="0">
              <a:latin typeface="Symbol"/>
              <a:cs typeface="Symbol"/>
            </a:endParaRPr>
          </a:p>
        </p:txBody>
      </p:sp>
      <p:sp>
        <p:nvSpPr>
          <p:cNvPr id="10" name="object 10"/>
          <p:cNvSpPr txBox="1"/>
          <p:nvPr/>
        </p:nvSpPr>
        <p:spPr>
          <a:xfrm>
            <a:off x="2776738" y="2378170"/>
            <a:ext cx="607219" cy="410745"/>
          </a:xfrm>
          <a:prstGeom prst="rect">
            <a:avLst/>
          </a:prstGeom>
        </p:spPr>
        <p:txBody>
          <a:bodyPr vert="horz" wrap="square" lIns="0" tIns="55364" rIns="0" bIns="0" rtlCol="0">
            <a:spAutoFit/>
          </a:bodyPr>
          <a:lstStyle/>
          <a:p>
            <a:pPr marL="229038" marR="21430" indent="-211626">
              <a:lnSpc>
                <a:spcPct val="79800"/>
              </a:lnSpc>
              <a:spcBef>
                <a:spcPts val="436"/>
              </a:spcBef>
            </a:pPr>
            <a:r>
              <a:rPr sz="1441" i="1" spc="35" dirty="0">
                <a:latin typeface="Times New Roman"/>
                <a:cs typeface="Times New Roman"/>
              </a:rPr>
              <a:t>Gm</a:t>
            </a:r>
            <a:r>
              <a:rPr sz="1371" spc="53" baseline="-21367" dirty="0">
                <a:latin typeface="Times New Roman"/>
                <a:cs typeface="Times New Roman"/>
              </a:rPr>
              <a:t>1</a:t>
            </a:r>
            <a:r>
              <a:rPr sz="1371" spc="-68" baseline="-21367" dirty="0">
                <a:latin typeface="Times New Roman"/>
                <a:cs typeface="Times New Roman"/>
              </a:rPr>
              <a:t> </a:t>
            </a:r>
            <a:r>
              <a:rPr sz="1441" i="1" spc="-18" dirty="0">
                <a:latin typeface="Times New Roman"/>
                <a:cs typeface="Times New Roman"/>
              </a:rPr>
              <a:t>m</a:t>
            </a:r>
            <a:r>
              <a:rPr sz="1371" spc="-26" baseline="-21367" dirty="0">
                <a:latin typeface="Times New Roman"/>
                <a:cs typeface="Times New Roman"/>
              </a:rPr>
              <a:t>2 </a:t>
            </a:r>
            <a:r>
              <a:rPr sz="2162" i="1" spc="63" baseline="-24390" dirty="0">
                <a:latin typeface="Times New Roman"/>
                <a:cs typeface="Times New Roman"/>
              </a:rPr>
              <a:t>r</a:t>
            </a:r>
            <a:r>
              <a:rPr sz="914" spc="42" dirty="0">
                <a:latin typeface="Times New Roman"/>
                <a:cs typeface="Times New Roman"/>
              </a:rPr>
              <a:t>2</a:t>
            </a:r>
            <a:endParaRPr sz="914" dirty="0">
              <a:latin typeface="Times New Roman"/>
              <a:cs typeface="Times New Roman"/>
            </a:endParaRPr>
          </a:p>
        </p:txBody>
      </p:sp>
      <p:grpSp>
        <p:nvGrpSpPr>
          <p:cNvPr id="11" name="object 11"/>
          <p:cNvGrpSpPr/>
          <p:nvPr/>
        </p:nvGrpSpPr>
        <p:grpSpPr>
          <a:xfrm>
            <a:off x="1270634" y="2637613"/>
            <a:ext cx="2110085" cy="601414"/>
            <a:chOff x="1720390" y="4546256"/>
            <a:chExt cx="3001010" cy="855344"/>
          </a:xfrm>
        </p:grpSpPr>
        <p:sp>
          <p:nvSpPr>
            <p:cNvPr id="12" name="object 12"/>
            <p:cNvSpPr/>
            <p:nvPr/>
          </p:nvSpPr>
          <p:spPr>
            <a:xfrm>
              <a:off x="3887803" y="4550375"/>
              <a:ext cx="833119" cy="0"/>
            </a:xfrm>
            <a:custGeom>
              <a:avLst/>
              <a:gdLst/>
              <a:ahLst/>
              <a:cxnLst/>
              <a:rect l="l" t="t" r="r" b="b"/>
              <a:pathLst>
                <a:path w="833120">
                  <a:moveTo>
                    <a:pt x="0" y="0"/>
                  </a:moveTo>
                  <a:lnTo>
                    <a:pt x="832986" y="0"/>
                  </a:lnTo>
                </a:path>
              </a:pathLst>
            </a:custGeom>
            <a:ln w="8237">
              <a:solidFill>
                <a:srgbClr val="000000"/>
              </a:solidFill>
            </a:ln>
          </p:spPr>
          <p:txBody>
            <a:bodyPr wrap="square" lIns="0" tIns="0" rIns="0" bIns="0" rtlCol="0"/>
            <a:lstStyle/>
            <a:p>
              <a:endParaRPr sz="2109"/>
            </a:p>
          </p:txBody>
        </p:sp>
        <p:sp>
          <p:nvSpPr>
            <p:cNvPr id="13" name="object 13"/>
            <p:cNvSpPr/>
            <p:nvPr/>
          </p:nvSpPr>
          <p:spPr>
            <a:xfrm>
              <a:off x="1720390" y="5397499"/>
              <a:ext cx="309245" cy="0"/>
            </a:xfrm>
            <a:custGeom>
              <a:avLst/>
              <a:gdLst/>
              <a:ahLst/>
              <a:cxnLst/>
              <a:rect l="l" t="t" r="r" b="b"/>
              <a:pathLst>
                <a:path w="309244">
                  <a:moveTo>
                    <a:pt x="0" y="0"/>
                  </a:moveTo>
                  <a:lnTo>
                    <a:pt x="308935" y="0"/>
                  </a:lnTo>
                </a:path>
              </a:pathLst>
            </a:custGeom>
            <a:ln w="7295">
              <a:solidFill>
                <a:srgbClr val="000000"/>
              </a:solidFill>
            </a:ln>
          </p:spPr>
          <p:txBody>
            <a:bodyPr wrap="square" lIns="0" tIns="0" rIns="0" bIns="0" rtlCol="0"/>
            <a:lstStyle/>
            <a:p>
              <a:endParaRPr sz="2109"/>
            </a:p>
          </p:txBody>
        </p:sp>
      </p:grpSp>
      <p:sp>
        <p:nvSpPr>
          <p:cNvPr id="14" name="object 14"/>
          <p:cNvSpPr txBox="1"/>
          <p:nvPr/>
        </p:nvSpPr>
        <p:spPr>
          <a:xfrm>
            <a:off x="1282164" y="2928402"/>
            <a:ext cx="187970" cy="206906"/>
          </a:xfrm>
          <a:prstGeom prst="rect">
            <a:avLst/>
          </a:prstGeom>
        </p:spPr>
        <p:txBody>
          <a:bodyPr vert="horz" wrap="square" lIns="0" tIns="12055" rIns="0" bIns="0" rtlCol="0">
            <a:spAutoFit/>
          </a:bodyPr>
          <a:lstStyle/>
          <a:p>
            <a:pPr marL="17859">
              <a:spcBef>
                <a:spcPts val="95"/>
              </a:spcBef>
            </a:pPr>
            <a:r>
              <a:rPr sz="1898" i="1" spc="31" baseline="-26234" dirty="0">
                <a:latin typeface="Book Antiqua"/>
                <a:cs typeface="Book Antiqua"/>
              </a:rPr>
              <a:t>h</a:t>
            </a:r>
            <a:r>
              <a:rPr sz="809" spc="21" dirty="0">
                <a:latin typeface="Times New Roman"/>
                <a:cs typeface="Times New Roman"/>
              </a:rPr>
              <a:t>2</a:t>
            </a:r>
            <a:endParaRPr sz="809">
              <a:latin typeface="Times New Roman"/>
              <a:cs typeface="Times New Roman"/>
            </a:endParaRPr>
          </a:p>
        </p:txBody>
      </p:sp>
      <p:sp>
        <p:nvSpPr>
          <p:cNvPr id="15" name="object 15"/>
          <p:cNvSpPr txBox="1"/>
          <p:nvPr/>
        </p:nvSpPr>
        <p:spPr>
          <a:xfrm>
            <a:off x="1641187" y="3086144"/>
            <a:ext cx="60275" cy="133087"/>
          </a:xfrm>
          <a:prstGeom prst="rect">
            <a:avLst/>
          </a:prstGeom>
        </p:spPr>
        <p:txBody>
          <a:bodyPr vert="horz" wrap="square" lIns="0" tIns="8483" rIns="0" bIns="0" rtlCol="0">
            <a:spAutoFit/>
          </a:bodyPr>
          <a:lstStyle/>
          <a:p>
            <a:pPr>
              <a:spcBef>
                <a:spcPts val="67"/>
              </a:spcBef>
            </a:pPr>
            <a:r>
              <a:rPr sz="809" spc="-4" dirty="0">
                <a:latin typeface="Times New Roman"/>
                <a:cs typeface="Times New Roman"/>
              </a:rPr>
              <a:t>2</a:t>
            </a:r>
            <a:endParaRPr sz="809">
              <a:latin typeface="Times New Roman"/>
              <a:cs typeface="Times New Roman"/>
            </a:endParaRPr>
          </a:p>
        </p:txBody>
      </p:sp>
      <p:sp>
        <p:nvSpPr>
          <p:cNvPr id="16" name="object 16"/>
          <p:cNvSpPr txBox="1"/>
          <p:nvPr/>
        </p:nvSpPr>
        <p:spPr>
          <a:xfrm>
            <a:off x="1084081" y="2964312"/>
            <a:ext cx="71884" cy="206970"/>
          </a:xfrm>
          <a:prstGeom prst="rect">
            <a:avLst/>
          </a:prstGeom>
        </p:spPr>
        <p:txBody>
          <a:bodyPr vert="horz" wrap="square" lIns="0" tIns="12055" rIns="0" bIns="0" rtlCol="0">
            <a:spAutoFit/>
          </a:bodyPr>
          <a:lstStyle/>
          <a:p>
            <a:pPr>
              <a:spcBef>
                <a:spcPts val="95"/>
              </a:spcBef>
            </a:pPr>
            <a:r>
              <a:rPr sz="1266" spc="-264" dirty="0">
                <a:latin typeface="Symbol"/>
                <a:cs typeface="Symbol"/>
              </a:rPr>
              <a:t></a:t>
            </a:r>
            <a:endParaRPr sz="1266">
              <a:latin typeface="Symbol"/>
              <a:cs typeface="Symbol"/>
            </a:endParaRPr>
          </a:p>
        </p:txBody>
      </p:sp>
      <p:sp>
        <p:nvSpPr>
          <p:cNvPr id="17" name="object 17"/>
          <p:cNvSpPr txBox="1"/>
          <p:nvPr/>
        </p:nvSpPr>
        <p:spPr>
          <a:xfrm>
            <a:off x="1084081" y="3247734"/>
            <a:ext cx="71884" cy="206970"/>
          </a:xfrm>
          <a:prstGeom prst="rect">
            <a:avLst/>
          </a:prstGeom>
        </p:spPr>
        <p:txBody>
          <a:bodyPr vert="horz" wrap="square" lIns="0" tIns="12055" rIns="0" bIns="0" rtlCol="0">
            <a:spAutoFit/>
          </a:bodyPr>
          <a:lstStyle/>
          <a:p>
            <a:pPr>
              <a:spcBef>
                <a:spcPts val="95"/>
              </a:spcBef>
            </a:pPr>
            <a:r>
              <a:rPr sz="1266" spc="-264" dirty="0">
                <a:latin typeface="Symbol"/>
                <a:cs typeface="Symbol"/>
              </a:rPr>
              <a:t></a:t>
            </a:r>
            <a:endParaRPr sz="1266">
              <a:latin typeface="Symbol"/>
              <a:cs typeface="Symbol"/>
            </a:endParaRPr>
          </a:p>
        </p:txBody>
      </p:sp>
      <p:sp>
        <p:nvSpPr>
          <p:cNvPr id="18" name="object 18"/>
          <p:cNvSpPr txBox="1"/>
          <p:nvPr/>
        </p:nvSpPr>
        <p:spPr>
          <a:xfrm>
            <a:off x="2157405" y="2964312"/>
            <a:ext cx="71884" cy="206970"/>
          </a:xfrm>
          <a:prstGeom prst="rect">
            <a:avLst/>
          </a:prstGeom>
        </p:spPr>
        <p:txBody>
          <a:bodyPr vert="horz" wrap="square" lIns="0" tIns="12055" rIns="0" bIns="0" rtlCol="0">
            <a:spAutoFit/>
          </a:bodyPr>
          <a:lstStyle/>
          <a:p>
            <a:pPr>
              <a:spcBef>
                <a:spcPts val="95"/>
              </a:spcBef>
            </a:pPr>
            <a:r>
              <a:rPr sz="1266" spc="-264" dirty="0">
                <a:latin typeface="Symbol"/>
                <a:cs typeface="Symbol"/>
              </a:rPr>
              <a:t></a:t>
            </a:r>
            <a:endParaRPr sz="1266" dirty="0">
              <a:latin typeface="Symbol"/>
              <a:cs typeface="Symbol"/>
            </a:endParaRPr>
          </a:p>
        </p:txBody>
      </p:sp>
      <p:sp>
        <p:nvSpPr>
          <p:cNvPr id="19" name="object 19"/>
          <p:cNvSpPr txBox="1"/>
          <p:nvPr/>
        </p:nvSpPr>
        <p:spPr>
          <a:xfrm>
            <a:off x="2157405" y="3247734"/>
            <a:ext cx="71884" cy="206970"/>
          </a:xfrm>
          <a:prstGeom prst="rect">
            <a:avLst/>
          </a:prstGeom>
        </p:spPr>
        <p:txBody>
          <a:bodyPr vert="horz" wrap="square" lIns="0" tIns="12055" rIns="0" bIns="0" rtlCol="0">
            <a:spAutoFit/>
          </a:bodyPr>
          <a:lstStyle/>
          <a:p>
            <a:pPr>
              <a:spcBef>
                <a:spcPts val="95"/>
              </a:spcBef>
            </a:pPr>
            <a:r>
              <a:rPr sz="1266" spc="-264" dirty="0">
                <a:latin typeface="Symbol"/>
                <a:cs typeface="Symbol"/>
              </a:rPr>
              <a:t></a:t>
            </a:r>
            <a:endParaRPr sz="1266">
              <a:latin typeface="Symbol"/>
              <a:cs typeface="Symbol"/>
            </a:endParaRPr>
          </a:p>
        </p:txBody>
      </p:sp>
      <p:sp>
        <p:nvSpPr>
          <p:cNvPr id="20" name="object 20"/>
          <p:cNvSpPr txBox="1"/>
          <p:nvPr/>
        </p:nvSpPr>
        <p:spPr>
          <a:xfrm>
            <a:off x="1066221" y="3098969"/>
            <a:ext cx="1578769" cy="206970"/>
          </a:xfrm>
          <a:prstGeom prst="rect">
            <a:avLst/>
          </a:prstGeom>
        </p:spPr>
        <p:txBody>
          <a:bodyPr vert="horz" wrap="square" lIns="0" tIns="12055" rIns="0" bIns="0" rtlCol="0">
            <a:spAutoFit/>
          </a:bodyPr>
          <a:lstStyle/>
          <a:p>
            <a:pPr marL="17859">
              <a:spcBef>
                <a:spcPts val="95"/>
              </a:spcBef>
              <a:tabLst>
                <a:tab pos="666577" algn="l"/>
              </a:tabLst>
            </a:pPr>
            <a:r>
              <a:rPr sz="1898" spc="-226" baseline="-10802" dirty="0">
                <a:latin typeface="Symbol"/>
                <a:cs typeface="Symbol"/>
              </a:rPr>
              <a:t></a:t>
            </a:r>
            <a:r>
              <a:rPr sz="1266" spc="-151" dirty="0">
                <a:latin typeface="Symbol"/>
                <a:cs typeface="Symbol"/>
              </a:rPr>
              <a:t></a:t>
            </a:r>
            <a:r>
              <a:rPr sz="1266" spc="-35" dirty="0">
                <a:latin typeface="Times New Roman"/>
                <a:cs typeface="Times New Roman"/>
              </a:rPr>
              <a:t> </a:t>
            </a:r>
            <a:r>
              <a:rPr sz="1898" baseline="-44753" dirty="0">
                <a:latin typeface="Times New Roman"/>
                <a:cs typeface="Times New Roman"/>
              </a:rPr>
              <a:t>2</a:t>
            </a:r>
            <a:r>
              <a:rPr sz="1898" i="1" baseline="-44753" dirty="0">
                <a:latin typeface="Times New Roman"/>
                <a:cs typeface="Times New Roman"/>
              </a:rPr>
              <a:t>m</a:t>
            </a:r>
            <a:r>
              <a:rPr sz="1898" i="1" spc="-21" baseline="-44753" dirty="0">
                <a:latin typeface="Times New Roman"/>
                <a:cs typeface="Times New Roman"/>
              </a:rPr>
              <a:t> </a:t>
            </a:r>
            <a:r>
              <a:rPr sz="1266" spc="-35" dirty="0">
                <a:latin typeface="Symbol"/>
                <a:cs typeface="Symbol"/>
              </a:rPr>
              <a:t></a:t>
            </a:r>
            <a:r>
              <a:rPr sz="1266" dirty="0">
                <a:latin typeface="Times New Roman"/>
                <a:cs typeface="Times New Roman"/>
              </a:rPr>
              <a:t>	</a:t>
            </a:r>
            <a:r>
              <a:rPr sz="1266" dirty="0">
                <a:latin typeface="Symbol"/>
                <a:cs typeface="Symbol"/>
              </a:rPr>
              <a:t></a:t>
            </a:r>
            <a:r>
              <a:rPr sz="1266" spc="-80" dirty="0">
                <a:latin typeface="Times New Roman"/>
                <a:cs typeface="Times New Roman"/>
              </a:rPr>
              <a:t> </a:t>
            </a:r>
            <a:r>
              <a:rPr sz="1266" i="1" dirty="0">
                <a:latin typeface="Times New Roman"/>
                <a:cs typeface="Times New Roman"/>
              </a:rPr>
              <a:t>V</a:t>
            </a:r>
            <a:r>
              <a:rPr sz="1266" i="1" spc="-158" dirty="0">
                <a:latin typeface="Times New Roman"/>
                <a:cs typeface="Times New Roman"/>
              </a:rPr>
              <a:t> </a:t>
            </a:r>
            <a:r>
              <a:rPr sz="1266" spc="-39" dirty="0">
                <a:latin typeface="Times New Roman"/>
                <a:cs typeface="Times New Roman"/>
              </a:rPr>
              <a:t>(</a:t>
            </a:r>
            <a:r>
              <a:rPr sz="1266" i="1" spc="-39" dirty="0">
                <a:latin typeface="Times New Roman"/>
                <a:cs typeface="Times New Roman"/>
              </a:rPr>
              <a:t>r</a:t>
            </a:r>
            <a:r>
              <a:rPr sz="1266" spc="-39" dirty="0">
                <a:latin typeface="Times New Roman"/>
                <a:cs typeface="Times New Roman"/>
              </a:rPr>
              <a:t>)</a:t>
            </a:r>
            <a:r>
              <a:rPr sz="1898" spc="-58" baseline="-10802" dirty="0">
                <a:latin typeface="Symbol"/>
                <a:cs typeface="Symbol"/>
              </a:rPr>
              <a:t></a:t>
            </a:r>
            <a:r>
              <a:rPr sz="1898" spc="258" baseline="-10802" dirty="0">
                <a:latin typeface="Times New Roman"/>
                <a:cs typeface="Times New Roman"/>
              </a:rPr>
              <a:t> </a:t>
            </a:r>
            <a:r>
              <a:rPr sz="1266" spc="-14" dirty="0">
                <a:latin typeface="Symbol"/>
                <a:cs typeface="Symbol"/>
              </a:rPr>
              <a:t></a:t>
            </a:r>
            <a:r>
              <a:rPr sz="1266" spc="-14" dirty="0">
                <a:latin typeface="Times New Roman"/>
                <a:cs typeface="Times New Roman"/>
              </a:rPr>
              <a:t>(</a:t>
            </a:r>
            <a:r>
              <a:rPr sz="1266" i="1" spc="-14" dirty="0">
                <a:latin typeface="Times New Roman"/>
                <a:cs typeface="Times New Roman"/>
              </a:rPr>
              <a:t>r</a:t>
            </a:r>
            <a:r>
              <a:rPr sz="1266" spc="-14" dirty="0">
                <a:latin typeface="Times New Roman"/>
                <a:cs typeface="Times New Roman"/>
              </a:rPr>
              <a:t>)</a:t>
            </a:r>
            <a:endParaRPr sz="1266">
              <a:latin typeface="Times New Roman"/>
              <a:cs typeface="Times New Roman"/>
            </a:endParaRPr>
          </a:p>
        </p:txBody>
      </p:sp>
      <p:sp>
        <p:nvSpPr>
          <p:cNvPr id="21" name="object 21"/>
          <p:cNvSpPr txBox="1"/>
          <p:nvPr/>
        </p:nvSpPr>
        <p:spPr>
          <a:xfrm>
            <a:off x="2690565" y="3098969"/>
            <a:ext cx="689818" cy="206970"/>
          </a:xfrm>
          <a:prstGeom prst="rect">
            <a:avLst/>
          </a:prstGeom>
        </p:spPr>
        <p:txBody>
          <a:bodyPr vert="horz" wrap="square" lIns="0" tIns="12055" rIns="0" bIns="0" rtlCol="0">
            <a:spAutoFit/>
          </a:bodyPr>
          <a:lstStyle/>
          <a:p>
            <a:pPr>
              <a:spcBef>
                <a:spcPts val="95"/>
              </a:spcBef>
              <a:tabLst>
                <a:tab pos="199125" algn="l"/>
              </a:tabLst>
            </a:pPr>
            <a:r>
              <a:rPr sz="1266" spc="-35" dirty="0">
                <a:latin typeface="Symbol"/>
                <a:cs typeface="Symbol"/>
              </a:rPr>
              <a:t></a:t>
            </a:r>
            <a:r>
              <a:rPr sz="1266" dirty="0">
                <a:latin typeface="Times New Roman"/>
                <a:cs typeface="Times New Roman"/>
              </a:rPr>
              <a:t>	</a:t>
            </a:r>
            <a:r>
              <a:rPr sz="1266" i="1" dirty="0">
                <a:latin typeface="Times New Roman"/>
                <a:cs typeface="Times New Roman"/>
              </a:rPr>
              <a:t>E</a:t>
            </a:r>
            <a:r>
              <a:rPr sz="1266" i="1" spc="232" dirty="0">
                <a:latin typeface="Times New Roman"/>
                <a:cs typeface="Times New Roman"/>
              </a:rPr>
              <a:t> </a:t>
            </a:r>
            <a:r>
              <a:rPr sz="1266" spc="-14" dirty="0">
                <a:latin typeface="Symbol"/>
                <a:cs typeface="Symbol"/>
              </a:rPr>
              <a:t></a:t>
            </a:r>
            <a:r>
              <a:rPr sz="1266" spc="-14" dirty="0">
                <a:latin typeface="Times New Roman"/>
                <a:cs typeface="Times New Roman"/>
              </a:rPr>
              <a:t>(</a:t>
            </a:r>
            <a:r>
              <a:rPr sz="1266" i="1" spc="-14" dirty="0">
                <a:latin typeface="Times New Roman"/>
                <a:cs typeface="Times New Roman"/>
              </a:rPr>
              <a:t>r</a:t>
            </a:r>
            <a:r>
              <a:rPr sz="1266" spc="-14" dirty="0">
                <a:latin typeface="Times New Roman"/>
                <a:cs typeface="Times New Roman"/>
              </a:rPr>
              <a:t>)</a:t>
            </a:r>
            <a:endParaRPr sz="1266">
              <a:latin typeface="Times New Roman"/>
              <a:cs typeface="Times New Roman"/>
            </a:endParaRPr>
          </a:p>
        </p:txBody>
      </p:sp>
      <p:sp>
        <p:nvSpPr>
          <p:cNvPr id="22" name="object 22"/>
          <p:cNvSpPr txBox="1">
            <a:spLocks noGrp="1"/>
          </p:cNvSpPr>
          <p:nvPr>
            <p:ph type="title"/>
          </p:nvPr>
        </p:nvSpPr>
        <p:spPr>
          <a:xfrm>
            <a:off x="666395" y="244394"/>
            <a:ext cx="7045728"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b="1" spc="109" dirty="0">
                <a:latin typeface="微软雅黑" panose="020B0503020204020204" pitchFamily="34" charset="-122"/>
                <a:ea typeface="微软雅黑" panose="020B0503020204020204" pitchFamily="34" charset="-122"/>
              </a:rPr>
              <a:t>Why</a:t>
            </a:r>
            <a:r>
              <a:rPr b="1" spc="-49" dirty="0">
                <a:latin typeface="微软雅黑" panose="020B0503020204020204" pitchFamily="34" charset="-122"/>
                <a:ea typeface="微软雅黑" panose="020B0503020204020204" pitchFamily="34" charset="-122"/>
              </a:rPr>
              <a:t> </a:t>
            </a:r>
            <a:r>
              <a:rPr b="1" dirty="0">
                <a:latin typeface="微软雅黑" panose="020B0503020204020204" pitchFamily="34" charset="-122"/>
                <a:ea typeface="微软雅黑" panose="020B0503020204020204" pitchFamily="34" charset="-122"/>
              </a:rPr>
              <a:t>study</a:t>
            </a:r>
            <a:r>
              <a:rPr b="1" spc="-49" dirty="0">
                <a:latin typeface="微软雅黑" panose="020B0503020204020204" pitchFamily="34" charset="-122"/>
                <a:ea typeface="微软雅黑" panose="020B0503020204020204" pitchFamily="34" charset="-122"/>
              </a:rPr>
              <a:t> </a:t>
            </a:r>
            <a:r>
              <a:rPr b="1" spc="-7" dirty="0">
                <a:latin typeface="微软雅黑" panose="020B0503020204020204" pitchFamily="34" charset="-122"/>
                <a:ea typeface="微软雅黑" panose="020B0503020204020204" pitchFamily="34" charset="-122"/>
              </a:rPr>
              <a:t>algorithms?</a:t>
            </a:r>
          </a:p>
        </p:txBody>
      </p:sp>
      <p:pic>
        <p:nvPicPr>
          <p:cNvPr id="23" name="object 23"/>
          <p:cNvPicPr/>
          <p:nvPr/>
        </p:nvPicPr>
        <p:blipFill>
          <a:blip r:embed="rId4" cstate="print"/>
          <a:stretch>
            <a:fillRect/>
          </a:stretch>
        </p:blipFill>
        <p:spPr>
          <a:xfrm>
            <a:off x="609777" y="4492628"/>
            <a:ext cx="8282703" cy="1744684"/>
          </a:xfrm>
          <a:prstGeom prst="rect">
            <a:avLst/>
          </a:prstGeom>
        </p:spPr>
      </p:pic>
      <p:sp>
        <p:nvSpPr>
          <p:cNvPr id="24" name="object 24"/>
          <p:cNvSpPr txBox="1"/>
          <p:nvPr/>
        </p:nvSpPr>
        <p:spPr>
          <a:xfrm>
            <a:off x="671349" y="4623480"/>
            <a:ext cx="8126016" cy="1348326"/>
          </a:xfrm>
          <a:prstGeom prst="rect">
            <a:avLst/>
          </a:prstGeom>
          <a:solidFill>
            <a:srgbClr val="FFFFFF"/>
          </a:solidFill>
        </p:spPr>
        <p:txBody>
          <a:bodyPr vert="horz" wrap="square" lIns="0" tIns="116086" rIns="0" bIns="0" rtlCol="0">
            <a:spAutoFit/>
          </a:bodyPr>
          <a:lstStyle/>
          <a:p>
            <a:r>
              <a:rPr lang="zh-CN" altLang="en-US" sz="2000" b="1" dirty="0">
                <a:latin typeface="微软雅黑" panose="020B0503020204020204" pitchFamily="34" charset="-122"/>
                <a:ea typeface="微软雅黑" panose="020B0503020204020204" pitchFamily="34" charset="-122"/>
              </a:rPr>
              <a:t>有两种思想，就像摆放在天鹅绒上的宝石那样熠熠生辉，</a:t>
            </a:r>
            <a:r>
              <a:rPr lang="zh-CN" altLang="en-US" sz="2000" b="1" dirty="0">
                <a:solidFill>
                  <a:srgbClr val="FF0000"/>
                </a:solidFill>
                <a:latin typeface="微软雅黑" panose="020B0503020204020204" pitchFamily="34" charset="-122"/>
                <a:ea typeface="微软雅黑" panose="020B0503020204020204" pitchFamily="34" charset="-122"/>
              </a:rPr>
              <a:t>一个是微积分</a:t>
            </a:r>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FF0000"/>
                </a:solidFill>
                <a:latin typeface="微软雅黑" panose="020B0503020204020204" pitchFamily="34" charset="-122"/>
                <a:ea typeface="微软雅黑" panose="020B0503020204020204" pitchFamily="34" charset="-122"/>
              </a:rPr>
              <a:t>另一个就是算法</a:t>
            </a:r>
            <a:r>
              <a:rPr lang="zh-CN" altLang="en-US" sz="2000" b="1" dirty="0">
                <a:latin typeface="微软雅黑" panose="020B0503020204020204" pitchFamily="34" charset="-122"/>
                <a:ea typeface="微软雅黑" panose="020B0503020204020204" pitchFamily="34" charset="-122"/>
              </a:rPr>
              <a:t>。微积分以及在微积分基础上建立起来的数学分析体系造就了现代科学，而</a:t>
            </a:r>
            <a:r>
              <a:rPr lang="zh-CN" altLang="en-US" sz="2000" b="1" dirty="0">
                <a:solidFill>
                  <a:srgbClr val="FF0000"/>
                </a:solidFill>
                <a:latin typeface="微软雅黑" panose="020B0503020204020204" pitchFamily="34" charset="-122"/>
                <a:ea typeface="微软雅黑" panose="020B0503020204020204" pitchFamily="34" charset="-122"/>
              </a:rPr>
              <a:t>算法则造就了现代世界</a:t>
            </a:r>
            <a:r>
              <a:rPr lang="zh-CN" altLang="en-US" sz="2000" b="1" dirty="0">
                <a:latin typeface="微软雅黑" panose="020B0503020204020204" pitchFamily="34" charset="-122"/>
                <a:ea typeface="微软雅黑" panose="020B0503020204020204" pitchFamily="34" charset="-122"/>
              </a:rPr>
              <a:t>。</a:t>
            </a:r>
          </a:p>
          <a:p>
            <a:pPr algn="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大卫</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柏林斯基</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算法的诞生</a:t>
            </a:r>
            <a:r>
              <a:rPr lang="en-US" altLang="zh-CN" sz="2000" b="1" dirty="0">
                <a:latin typeface="微软雅黑" panose="020B0503020204020204" pitchFamily="34" charset="-122"/>
                <a:ea typeface="微软雅黑" panose="020B0503020204020204" pitchFamily="34" charset="-122"/>
              </a:rPr>
              <a:t>》</a:t>
            </a:r>
            <a:endParaRPr sz="2000" b="1" dirty="0">
              <a:latin typeface="微软雅黑" panose="020B0503020204020204" pitchFamily="34" charset="-122"/>
              <a:ea typeface="微软雅黑" panose="020B0503020204020204" pitchFamily="34" charset="-122"/>
              <a:cs typeface="Times New Roman"/>
            </a:endParaRPr>
          </a:p>
        </p:txBody>
      </p:sp>
      <p:sp>
        <p:nvSpPr>
          <p:cNvPr id="25" name="object 25"/>
          <p:cNvSpPr txBox="1"/>
          <p:nvPr/>
        </p:nvSpPr>
        <p:spPr>
          <a:xfrm>
            <a:off x="5639887" y="3731406"/>
            <a:ext cx="1443038" cy="424516"/>
          </a:xfrm>
          <a:prstGeom prst="rect">
            <a:avLst/>
          </a:prstGeom>
        </p:spPr>
        <p:txBody>
          <a:bodyPr vert="horz" wrap="square" lIns="0" tIns="8930" rIns="0" bIns="0" rtlCol="0">
            <a:spAutoFit/>
          </a:bodyPr>
          <a:lstStyle/>
          <a:p>
            <a:pPr marL="108045" marR="21430" indent="-81704">
              <a:lnSpc>
                <a:spcPct val="119800"/>
              </a:lnSpc>
              <a:spcBef>
                <a:spcPts val="70"/>
              </a:spcBef>
            </a:pPr>
            <a:r>
              <a:rPr sz="1125" dirty="0">
                <a:solidFill>
                  <a:srgbClr val="8D3124"/>
                </a:solidFill>
                <a:latin typeface="Lucida Sans"/>
                <a:cs typeface="Lucida Sans"/>
              </a:rPr>
              <a:t>21</a:t>
            </a:r>
            <a:r>
              <a:rPr sz="1107" baseline="21164" dirty="0">
                <a:solidFill>
                  <a:srgbClr val="8D3124"/>
                </a:solidFill>
                <a:latin typeface="Lucida Sans"/>
                <a:cs typeface="Lucida Sans"/>
              </a:rPr>
              <a:t>st</a:t>
            </a:r>
            <a:r>
              <a:rPr sz="1107" spc="211" baseline="21164" dirty="0">
                <a:solidFill>
                  <a:srgbClr val="8D3124"/>
                </a:solidFill>
                <a:latin typeface="Lucida Sans"/>
                <a:cs typeface="Lucida Sans"/>
              </a:rPr>
              <a:t> </a:t>
            </a:r>
            <a:r>
              <a:rPr sz="1125" dirty="0">
                <a:solidFill>
                  <a:srgbClr val="8D3124"/>
                </a:solidFill>
                <a:latin typeface="Lucida Sans"/>
                <a:cs typeface="Lucida Sans"/>
              </a:rPr>
              <a:t>century</a:t>
            </a:r>
            <a:r>
              <a:rPr sz="1125" spc="21" dirty="0">
                <a:solidFill>
                  <a:srgbClr val="8D3124"/>
                </a:solidFill>
                <a:latin typeface="Lucida Sans"/>
                <a:cs typeface="Lucida Sans"/>
              </a:rPr>
              <a:t> </a:t>
            </a:r>
            <a:r>
              <a:rPr sz="1125" spc="-7" dirty="0">
                <a:solidFill>
                  <a:srgbClr val="8D3124"/>
                </a:solidFill>
                <a:latin typeface="Lucida Sans"/>
                <a:cs typeface="Lucida Sans"/>
              </a:rPr>
              <a:t>science </a:t>
            </a:r>
            <a:r>
              <a:rPr sz="1125" dirty="0">
                <a:solidFill>
                  <a:srgbClr val="8D3124"/>
                </a:solidFill>
                <a:latin typeface="Lucida Sans"/>
                <a:cs typeface="Lucida Sans"/>
              </a:rPr>
              <a:t>(algorithm</a:t>
            </a:r>
            <a:r>
              <a:rPr sz="1125" spc="-63" dirty="0">
                <a:solidFill>
                  <a:srgbClr val="8D3124"/>
                </a:solidFill>
                <a:latin typeface="Lucida Sans"/>
                <a:cs typeface="Lucida Sans"/>
              </a:rPr>
              <a:t> </a:t>
            </a:r>
            <a:r>
              <a:rPr sz="1125" spc="-7" dirty="0">
                <a:solidFill>
                  <a:srgbClr val="8D3124"/>
                </a:solidFill>
                <a:latin typeface="Lucida Sans"/>
                <a:cs typeface="Lucida Sans"/>
              </a:rPr>
              <a:t>based)</a:t>
            </a:r>
            <a:endParaRPr sz="1125" dirty="0">
              <a:latin typeface="Lucida Sans"/>
              <a:cs typeface="Lucida Sans"/>
            </a:endParaRPr>
          </a:p>
        </p:txBody>
      </p:sp>
      <p:pic>
        <p:nvPicPr>
          <p:cNvPr id="26" name="object 26"/>
          <p:cNvPicPr/>
          <p:nvPr/>
        </p:nvPicPr>
        <p:blipFill>
          <a:blip r:embed="rId5" cstate="print"/>
          <a:stretch>
            <a:fillRect/>
          </a:stretch>
        </p:blipFill>
        <p:spPr>
          <a:xfrm>
            <a:off x="4336499" y="2096237"/>
            <a:ext cx="4116586" cy="1651992"/>
          </a:xfrm>
          <a:prstGeom prst="rect">
            <a:avLst/>
          </a:prstGeom>
        </p:spPr>
      </p:pic>
      <p:sp>
        <p:nvSpPr>
          <p:cNvPr id="27" name="object 27"/>
          <p:cNvSpPr txBox="1"/>
          <p:nvPr/>
        </p:nvSpPr>
        <p:spPr>
          <a:xfrm>
            <a:off x="4390077" y="2149815"/>
            <a:ext cx="3937992" cy="1306255"/>
          </a:xfrm>
          <a:prstGeom prst="rect">
            <a:avLst/>
          </a:prstGeom>
          <a:solidFill>
            <a:srgbClr val="FFFFFF"/>
          </a:solidFill>
        </p:spPr>
        <p:txBody>
          <a:bodyPr vert="horz" wrap="square" lIns="0" tIns="114300" rIns="0" bIns="0" rtlCol="0">
            <a:spAutoFit/>
          </a:bodyPr>
          <a:lstStyle/>
          <a:p>
            <a:pPr marL="409858" marR="888472" indent="-225913">
              <a:lnSpc>
                <a:spcPct val="101200"/>
              </a:lnSpc>
              <a:spcBef>
                <a:spcPts val="900"/>
              </a:spcBef>
            </a:pPr>
            <a:r>
              <a:rPr sz="984" dirty="0">
                <a:latin typeface="Lucida Sans Typewriter"/>
                <a:cs typeface="Lucida Sans Typewriter"/>
              </a:rPr>
              <a:t>for</a:t>
            </a:r>
            <a:r>
              <a:rPr sz="984" spc="-21" dirty="0">
                <a:latin typeface="Lucida Sans Typewriter"/>
                <a:cs typeface="Lucida Sans Typewriter"/>
              </a:rPr>
              <a:t> </a:t>
            </a:r>
            <a:r>
              <a:rPr sz="984" dirty="0">
                <a:latin typeface="Lucida Sans Typewriter"/>
                <a:cs typeface="Lucida Sans Typewriter"/>
              </a:rPr>
              <a:t>(double</a:t>
            </a:r>
            <a:r>
              <a:rPr sz="984" spc="-18" dirty="0">
                <a:latin typeface="Lucida Sans Typewriter"/>
                <a:cs typeface="Lucida Sans Typewriter"/>
              </a:rPr>
              <a:t> </a:t>
            </a:r>
            <a:r>
              <a:rPr sz="984" dirty="0">
                <a:latin typeface="Lucida Sans Typewriter"/>
                <a:cs typeface="Lucida Sans Typewriter"/>
              </a:rPr>
              <a:t>t</a:t>
            </a:r>
            <a:r>
              <a:rPr sz="984" spc="-18" dirty="0">
                <a:latin typeface="Lucida Sans Typewriter"/>
                <a:cs typeface="Lucida Sans Typewriter"/>
              </a:rPr>
              <a:t> </a:t>
            </a:r>
            <a:r>
              <a:rPr sz="984" dirty="0">
                <a:latin typeface="Lucida Sans Typewriter"/>
                <a:cs typeface="Lucida Sans Typewriter"/>
              </a:rPr>
              <a:t>=</a:t>
            </a:r>
            <a:r>
              <a:rPr sz="984" spc="-18" dirty="0">
                <a:latin typeface="Lucida Sans Typewriter"/>
                <a:cs typeface="Lucida Sans Typewriter"/>
              </a:rPr>
              <a:t> </a:t>
            </a:r>
            <a:r>
              <a:rPr sz="984" dirty="0">
                <a:latin typeface="Lucida Sans Typewriter"/>
                <a:cs typeface="Lucida Sans Typewriter"/>
              </a:rPr>
              <a:t>0.0;</a:t>
            </a:r>
            <a:r>
              <a:rPr sz="984" spc="-21" dirty="0">
                <a:latin typeface="Lucida Sans Typewriter"/>
                <a:cs typeface="Lucida Sans Typewriter"/>
              </a:rPr>
              <a:t> </a:t>
            </a:r>
            <a:r>
              <a:rPr sz="984" dirty="0">
                <a:latin typeface="Lucida Sans Typewriter"/>
                <a:cs typeface="Lucida Sans Typewriter"/>
              </a:rPr>
              <a:t>true;</a:t>
            </a:r>
            <a:r>
              <a:rPr sz="984" spc="-18" dirty="0">
                <a:latin typeface="Lucida Sans Typewriter"/>
                <a:cs typeface="Lucida Sans Typewriter"/>
              </a:rPr>
              <a:t> </a:t>
            </a:r>
            <a:r>
              <a:rPr sz="984" dirty="0">
                <a:latin typeface="Lucida Sans Typewriter"/>
                <a:cs typeface="Lucida Sans Typewriter"/>
              </a:rPr>
              <a:t>t</a:t>
            </a:r>
            <a:r>
              <a:rPr sz="984" spc="-18" dirty="0">
                <a:latin typeface="Lucida Sans Typewriter"/>
                <a:cs typeface="Lucida Sans Typewriter"/>
              </a:rPr>
              <a:t> </a:t>
            </a:r>
            <a:r>
              <a:rPr sz="984" dirty="0">
                <a:latin typeface="Lucida Sans Typewriter"/>
                <a:cs typeface="Lucida Sans Typewriter"/>
              </a:rPr>
              <a:t>=</a:t>
            </a:r>
            <a:r>
              <a:rPr sz="984" spc="-18" dirty="0">
                <a:latin typeface="Lucida Sans Typewriter"/>
                <a:cs typeface="Lucida Sans Typewriter"/>
              </a:rPr>
              <a:t> </a:t>
            </a:r>
            <a:r>
              <a:rPr sz="984" dirty="0">
                <a:latin typeface="Lucida Sans Typewriter"/>
                <a:cs typeface="Lucida Sans Typewriter"/>
              </a:rPr>
              <a:t>t</a:t>
            </a:r>
            <a:r>
              <a:rPr sz="984" spc="-18" dirty="0">
                <a:latin typeface="Lucida Sans Typewriter"/>
                <a:cs typeface="Lucida Sans Typewriter"/>
              </a:rPr>
              <a:t> </a:t>
            </a:r>
            <a:r>
              <a:rPr sz="984" dirty="0">
                <a:latin typeface="Lucida Sans Typewriter"/>
                <a:cs typeface="Lucida Sans Typewriter"/>
              </a:rPr>
              <a:t>+</a:t>
            </a:r>
            <a:r>
              <a:rPr sz="984" spc="-21" dirty="0">
                <a:latin typeface="Lucida Sans Typewriter"/>
                <a:cs typeface="Lucida Sans Typewriter"/>
              </a:rPr>
              <a:t> </a:t>
            </a:r>
            <a:r>
              <a:rPr sz="984" spc="-18" dirty="0">
                <a:latin typeface="Lucida Sans Typewriter"/>
                <a:cs typeface="Lucida Sans Typewriter"/>
              </a:rPr>
              <a:t>dt) </a:t>
            </a:r>
            <a:r>
              <a:rPr sz="984" dirty="0">
                <a:latin typeface="Lucida Sans Typewriter"/>
                <a:cs typeface="Lucida Sans Typewriter"/>
              </a:rPr>
              <a:t>for</a:t>
            </a:r>
            <a:r>
              <a:rPr sz="984" spc="-18" dirty="0">
                <a:latin typeface="Lucida Sans Typewriter"/>
                <a:cs typeface="Lucida Sans Typewriter"/>
              </a:rPr>
              <a:t> </a:t>
            </a:r>
            <a:r>
              <a:rPr sz="984" dirty="0">
                <a:latin typeface="Lucida Sans Typewriter"/>
                <a:cs typeface="Lucida Sans Typewriter"/>
              </a:rPr>
              <a:t>(int</a:t>
            </a:r>
            <a:r>
              <a:rPr sz="984" spc="-14" dirty="0">
                <a:latin typeface="Lucida Sans Typewriter"/>
                <a:cs typeface="Lucida Sans Typewriter"/>
              </a:rPr>
              <a:t> </a:t>
            </a:r>
            <a:r>
              <a:rPr sz="984" dirty="0">
                <a:latin typeface="Lucida Sans Typewriter"/>
                <a:cs typeface="Lucida Sans Typewriter"/>
              </a:rPr>
              <a:t>i</a:t>
            </a:r>
            <a:r>
              <a:rPr sz="984" spc="-14" dirty="0">
                <a:latin typeface="Lucida Sans Typewriter"/>
                <a:cs typeface="Lucida Sans Typewriter"/>
              </a:rPr>
              <a:t> </a:t>
            </a:r>
            <a:r>
              <a:rPr sz="984" dirty="0">
                <a:latin typeface="Lucida Sans Typewriter"/>
                <a:cs typeface="Lucida Sans Typewriter"/>
              </a:rPr>
              <a:t>=</a:t>
            </a:r>
            <a:r>
              <a:rPr sz="984" spc="-14" dirty="0">
                <a:latin typeface="Lucida Sans Typewriter"/>
                <a:cs typeface="Lucida Sans Typewriter"/>
              </a:rPr>
              <a:t> </a:t>
            </a:r>
            <a:r>
              <a:rPr sz="984" dirty="0">
                <a:latin typeface="Lucida Sans Typewriter"/>
                <a:cs typeface="Lucida Sans Typewriter"/>
              </a:rPr>
              <a:t>0;</a:t>
            </a:r>
            <a:r>
              <a:rPr sz="984" spc="-14" dirty="0">
                <a:latin typeface="Lucida Sans Typewriter"/>
                <a:cs typeface="Lucida Sans Typewriter"/>
              </a:rPr>
              <a:t> </a:t>
            </a:r>
            <a:r>
              <a:rPr sz="984" dirty="0">
                <a:latin typeface="Lucida Sans Typewriter"/>
                <a:cs typeface="Lucida Sans Typewriter"/>
              </a:rPr>
              <a:t>i</a:t>
            </a:r>
            <a:r>
              <a:rPr sz="984" spc="-14" dirty="0">
                <a:latin typeface="Lucida Sans Typewriter"/>
                <a:cs typeface="Lucida Sans Typewriter"/>
              </a:rPr>
              <a:t> </a:t>
            </a:r>
            <a:r>
              <a:rPr sz="984" dirty="0">
                <a:latin typeface="Lucida Sans Typewriter"/>
                <a:cs typeface="Lucida Sans Typewriter"/>
              </a:rPr>
              <a:t>&lt;</a:t>
            </a:r>
            <a:r>
              <a:rPr sz="984" spc="-18" dirty="0">
                <a:latin typeface="Lucida Sans Typewriter"/>
                <a:cs typeface="Lucida Sans Typewriter"/>
              </a:rPr>
              <a:t> </a:t>
            </a:r>
            <a:r>
              <a:rPr sz="984" dirty="0">
                <a:latin typeface="Lucida Sans Typewriter"/>
                <a:cs typeface="Lucida Sans Typewriter"/>
              </a:rPr>
              <a:t>N;</a:t>
            </a:r>
            <a:r>
              <a:rPr sz="984" spc="-14" dirty="0">
                <a:latin typeface="Lucida Sans Typewriter"/>
                <a:cs typeface="Lucida Sans Typewriter"/>
              </a:rPr>
              <a:t> i++)</a:t>
            </a:r>
            <a:endParaRPr sz="984" dirty="0">
              <a:latin typeface="Lucida Sans Typewriter"/>
              <a:cs typeface="Lucida Sans Typewriter"/>
            </a:endParaRPr>
          </a:p>
          <a:p>
            <a:pPr marL="409858">
              <a:lnSpc>
                <a:spcPts val="1097"/>
              </a:lnSpc>
            </a:pPr>
            <a:r>
              <a:rPr sz="984" spc="-4" dirty="0">
                <a:latin typeface="Lucida Sans Typewriter"/>
                <a:cs typeface="Lucida Sans Typewriter"/>
              </a:rPr>
              <a:t>{</a:t>
            </a:r>
            <a:endParaRPr sz="984" dirty="0">
              <a:latin typeface="Lucida Sans Typewriter"/>
              <a:cs typeface="Lucida Sans Typewriter"/>
            </a:endParaRPr>
          </a:p>
          <a:p>
            <a:pPr marL="635325">
              <a:lnSpc>
                <a:spcPts val="1152"/>
              </a:lnSpc>
            </a:pPr>
            <a:r>
              <a:rPr sz="984" spc="-7" dirty="0">
                <a:latin typeface="Lucida Sans Typewriter"/>
                <a:cs typeface="Lucida Sans Typewriter"/>
              </a:rPr>
              <a:t>bodies[i].resetForce();</a:t>
            </a:r>
            <a:endParaRPr sz="984" dirty="0">
              <a:latin typeface="Lucida Sans Typewriter"/>
              <a:cs typeface="Lucida Sans Typewriter"/>
            </a:endParaRPr>
          </a:p>
          <a:p>
            <a:pPr marL="861238" marR="1264845" indent="-225913">
              <a:lnSpc>
                <a:spcPts val="1125"/>
              </a:lnSpc>
              <a:spcBef>
                <a:spcPts val="98"/>
              </a:spcBef>
            </a:pPr>
            <a:r>
              <a:rPr sz="984" dirty="0">
                <a:latin typeface="Lucida Sans Typewriter"/>
                <a:cs typeface="Lucida Sans Typewriter"/>
              </a:rPr>
              <a:t>for</a:t>
            </a:r>
            <a:r>
              <a:rPr sz="984" spc="-18" dirty="0">
                <a:latin typeface="Lucida Sans Typewriter"/>
                <a:cs typeface="Lucida Sans Typewriter"/>
              </a:rPr>
              <a:t> </a:t>
            </a:r>
            <a:r>
              <a:rPr sz="984" dirty="0">
                <a:latin typeface="Lucida Sans Typewriter"/>
                <a:cs typeface="Lucida Sans Typewriter"/>
              </a:rPr>
              <a:t>(int</a:t>
            </a:r>
            <a:r>
              <a:rPr sz="984" spc="-14" dirty="0">
                <a:latin typeface="Lucida Sans Typewriter"/>
                <a:cs typeface="Lucida Sans Typewriter"/>
              </a:rPr>
              <a:t> </a:t>
            </a:r>
            <a:r>
              <a:rPr sz="984" dirty="0">
                <a:latin typeface="Lucida Sans Typewriter"/>
                <a:cs typeface="Lucida Sans Typewriter"/>
              </a:rPr>
              <a:t>j</a:t>
            </a:r>
            <a:r>
              <a:rPr sz="984" spc="-14" dirty="0">
                <a:latin typeface="Lucida Sans Typewriter"/>
                <a:cs typeface="Lucida Sans Typewriter"/>
              </a:rPr>
              <a:t> </a:t>
            </a:r>
            <a:r>
              <a:rPr sz="984" dirty="0">
                <a:latin typeface="Lucida Sans Typewriter"/>
                <a:cs typeface="Lucida Sans Typewriter"/>
              </a:rPr>
              <a:t>=</a:t>
            </a:r>
            <a:r>
              <a:rPr sz="984" spc="-14" dirty="0">
                <a:latin typeface="Lucida Sans Typewriter"/>
                <a:cs typeface="Lucida Sans Typewriter"/>
              </a:rPr>
              <a:t> </a:t>
            </a:r>
            <a:r>
              <a:rPr sz="984" dirty="0">
                <a:latin typeface="Lucida Sans Typewriter"/>
                <a:cs typeface="Lucida Sans Typewriter"/>
              </a:rPr>
              <a:t>0;</a:t>
            </a:r>
            <a:r>
              <a:rPr sz="984" spc="-14" dirty="0">
                <a:latin typeface="Lucida Sans Typewriter"/>
                <a:cs typeface="Lucida Sans Typewriter"/>
              </a:rPr>
              <a:t> </a:t>
            </a:r>
            <a:r>
              <a:rPr sz="984" dirty="0">
                <a:latin typeface="Lucida Sans Typewriter"/>
                <a:cs typeface="Lucida Sans Typewriter"/>
              </a:rPr>
              <a:t>j</a:t>
            </a:r>
            <a:r>
              <a:rPr sz="984" spc="-14" dirty="0">
                <a:latin typeface="Lucida Sans Typewriter"/>
                <a:cs typeface="Lucida Sans Typewriter"/>
              </a:rPr>
              <a:t> </a:t>
            </a:r>
            <a:r>
              <a:rPr sz="984" dirty="0">
                <a:latin typeface="Lucida Sans Typewriter"/>
                <a:cs typeface="Lucida Sans Typewriter"/>
              </a:rPr>
              <a:t>&lt;</a:t>
            </a:r>
            <a:r>
              <a:rPr sz="984" spc="-18" dirty="0">
                <a:latin typeface="Lucida Sans Typewriter"/>
                <a:cs typeface="Lucida Sans Typewriter"/>
              </a:rPr>
              <a:t> </a:t>
            </a:r>
            <a:r>
              <a:rPr sz="984" dirty="0">
                <a:latin typeface="Lucida Sans Typewriter"/>
                <a:cs typeface="Lucida Sans Typewriter"/>
              </a:rPr>
              <a:t>N;</a:t>
            </a:r>
            <a:r>
              <a:rPr sz="984" spc="-14" dirty="0">
                <a:latin typeface="Lucida Sans Typewriter"/>
                <a:cs typeface="Lucida Sans Typewriter"/>
              </a:rPr>
              <a:t> j++) </a:t>
            </a:r>
            <a:r>
              <a:rPr sz="984" dirty="0">
                <a:latin typeface="Lucida Sans Typewriter"/>
                <a:cs typeface="Lucida Sans Typewriter"/>
              </a:rPr>
              <a:t>if</a:t>
            </a:r>
            <a:r>
              <a:rPr sz="984" spc="-18" dirty="0">
                <a:latin typeface="Lucida Sans Typewriter"/>
                <a:cs typeface="Lucida Sans Typewriter"/>
              </a:rPr>
              <a:t> </a:t>
            </a:r>
            <a:r>
              <a:rPr sz="984" dirty="0">
                <a:latin typeface="Lucida Sans Typewriter"/>
                <a:cs typeface="Lucida Sans Typewriter"/>
              </a:rPr>
              <a:t>(i</a:t>
            </a:r>
            <a:r>
              <a:rPr sz="984" spc="-14" dirty="0">
                <a:latin typeface="Lucida Sans Typewriter"/>
                <a:cs typeface="Lucida Sans Typewriter"/>
              </a:rPr>
              <a:t> </a:t>
            </a:r>
            <a:r>
              <a:rPr sz="984" dirty="0">
                <a:latin typeface="Lucida Sans Typewriter"/>
                <a:cs typeface="Lucida Sans Typewriter"/>
              </a:rPr>
              <a:t>!=</a:t>
            </a:r>
            <a:r>
              <a:rPr sz="984" spc="-18" dirty="0">
                <a:latin typeface="Lucida Sans Typewriter"/>
                <a:cs typeface="Lucida Sans Typewriter"/>
              </a:rPr>
              <a:t> j)</a:t>
            </a:r>
            <a:endParaRPr sz="984" dirty="0">
              <a:latin typeface="Lucida Sans Typewriter"/>
              <a:cs typeface="Lucida Sans Typewriter"/>
            </a:endParaRPr>
          </a:p>
          <a:p>
            <a:pPr marL="1087151">
              <a:lnSpc>
                <a:spcPts val="1139"/>
              </a:lnSpc>
            </a:pPr>
            <a:r>
              <a:rPr sz="984" spc="-7" dirty="0">
                <a:latin typeface="Lucida Sans Typewriter"/>
                <a:cs typeface="Lucida Sans Typewriter"/>
              </a:rPr>
              <a:t>bodies[i].addForce(bodies[j]);</a:t>
            </a:r>
            <a:endParaRPr sz="984" dirty="0">
              <a:latin typeface="Lucida Sans Typewriter"/>
              <a:cs typeface="Lucida Sans Typewriter"/>
            </a:endParaRPr>
          </a:p>
          <a:p>
            <a:pPr marL="409858">
              <a:lnSpc>
                <a:spcPts val="1152"/>
              </a:lnSpc>
            </a:pPr>
            <a:r>
              <a:rPr sz="984" spc="-4" dirty="0">
                <a:latin typeface="Lucida Sans Typewriter"/>
                <a:cs typeface="Lucida Sans Typewriter"/>
              </a:rPr>
              <a:t>}</a:t>
            </a:r>
            <a:endParaRPr sz="984" dirty="0">
              <a:latin typeface="Lucida Sans Typewriter"/>
              <a:cs typeface="Lucida Sans Typewriter"/>
            </a:endParaRPr>
          </a:p>
        </p:txBody>
      </p:sp>
    </p:spTree>
    <p:extLst>
      <p:ext uri="{BB962C8B-B14F-4D97-AF65-F5344CB8AC3E}">
        <p14:creationId xmlns:p14="http://schemas.microsoft.com/office/powerpoint/2010/main" val="25892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object 6"/>
          <p:cNvGrpSpPr/>
          <p:nvPr/>
        </p:nvGrpSpPr>
        <p:grpSpPr>
          <a:xfrm>
            <a:off x="7330895" y="-72958"/>
            <a:ext cx="2250281" cy="5688211"/>
            <a:chOff x="8991600" y="1181100"/>
            <a:chExt cx="3200400" cy="8089900"/>
          </a:xfrm>
        </p:grpSpPr>
        <p:pic>
          <p:nvPicPr>
            <p:cNvPr id="12" name="object 7"/>
            <p:cNvPicPr/>
            <p:nvPr/>
          </p:nvPicPr>
          <p:blipFill>
            <a:blip r:embed="rId3" cstate="print"/>
            <a:stretch>
              <a:fillRect/>
            </a:stretch>
          </p:blipFill>
          <p:spPr>
            <a:xfrm>
              <a:off x="8991600" y="1181100"/>
              <a:ext cx="3200400" cy="8089900"/>
            </a:xfrm>
            <a:prstGeom prst="rect">
              <a:avLst/>
            </a:prstGeom>
          </p:spPr>
        </p:pic>
        <p:sp>
          <p:nvSpPr>
            <p:cNvPr id="13" name="object 8"/>
            <p:cNvSpPr/>
            <p:nvPr/>
          </p:nvSpPr>
          <p:spPr>
            <a:xfrm>
              <a:off x="9067800" y="1257300"/>
              <a:ext cx="2946400" cy="7835900"/>
            </a:xfrm>
            <a:custGeom>
              <a:avLst/>
              <a:gdLst/>
              <a:ahLst/>
              <a:cxnLst/>
              <a:rect l="l" t="t" r="r" b="b"/>
              <a:pathLst>
                <a:path w="2946400" h="7835900">
                  <a:moveTo>
                    <a:pt x="0" y="0"/>
                  </a:moveTo>
                  <a:lnTo>
                    <a:pt x="2946400" y="0"/>
                  </a:lnTo>
                  <a:lnTo>
                    <a:pt x="2946400" y="7835900"/>
                  </a:lnTo>
                  <a:lnTo>
                    <a:pt x="0" y="7835900"/>
                  </a:lnTo>
                  <a:lnTo>
                    <a:pt x="0" y="0"/>
                  </a:lnTo>
                  <a:close/>
                </a:path>
              </a:pathLst>
            </a:custGeom>
            <a:solidFill>
              <a:srgbClr val="FFFFFF"/>
            </a:solidFill>
          </p:spPr>
          <p:txBody>
            <a:bodyPr wrap="square" lIns="0" tIns="0" rIns="0" bIns="0" rtlCol="0"/>
            <a:lstStyle/>
            <a:p>
              <a:endParaRPr sz="2109"/>
            </a:p>
          </p:txBody>
        </p:sp>
        <p:sp>
          <p:nvSpPr>
            <p:cNvPr id="14" name="object 9"/>
            <p:cNvSpPr/>
            <p:nvPr/>
          </p:nvSpPr>
          <p:spPr>
            <a:xfrm>
              <a:off x="10109200" y="1625600"/>
              <a:ext cx="16510" cy="7264400"/>
            </a:xfrm>
            <a:custGeom>
              <a:avLst/>
              <a:gdLst/>
              <a:ahLst/>
              <a:cxnLst/>
              <a:rect l="l" t="t" r="r" b="b"/>
              <a:pathLst>
                <a:path w="16509" h="7264400">
                  <a:moveTo>
                    <a:pt x="0" y="0"/>
                  </a:moveTo>
                  <a:lnTo>
                    <a:pt x="16249" y="7264382"/>
                  </a:lnTo>
                </a:path>
              </a:pathLst>
            </a:custGeom>
            <a:ln w="25400">
              <a:solidFill>
                <a:srgbClr val="8D3124"/>
              </a:solidFill>
            </a:ln>
          </p:spPr>
          <p:txBody>
            <a:bodyPr wrap="square" lIns="0" tIns="0" rIns="0" bIns="0" rtlCol="0"/>
            <a:lstStyle/>
            <a:p>
              <a:endParaRPr sz="2109"/>
            </a:p>
          </p:txBody>
        </p:sp>
      </p:grpSp>
      <p:sp>
        <p:nvSpPr>
          <p:cNvPr id="3" name="object 3"/>
          <p:cNvSpPr txBox="1">
            <a:spLocks noGrp="1"/>
          </p:cNvSpPr>
          <p:nvPr>
            <p:ph type="title"/>
          </p:nvPr>
        </p:nvSpPr>
        <p:spPr>
          <a:xfrm>
            <a:off x="611560" y="126998"/>
            <a:ext cx="6719334"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spc="109" dirty="0"/>
              <a:t>Why</a:t>
            </a:r>
            <a:r>
              <a:rPr spc="-49" dirty="0"/>
              <a:t> </a:t>
            </a:r>
            <a:r>
              <a:rPr dirty="0"/>
              <a:t>study</a:t>
            </a:r>
            <a:r>
              <a:rPr spc="-49" dirty="0"/>
              <a:t> </a:t>
            </a:r>
            <a:r>
              <a:rPr spc="-7" dirty="0"/>
              <a:t>algorithms?</a:t>
            </a:r>
          </a:p>
        </p:txBody>
      </p:sp>
      <p:grpSp>
        <p:nvGrpSpPr>
          <p:cNvPr id="4" name="object 4"/>
          <p:cNvGrpSpPr/>
          <p:nvPr/>
        </p:nvGrpSpPr>
        <p:grpSpPr>
          <a:xfrm>
            <a:off x="114997" y="1103159"/>
            <a:ext cx="7344816" cy="4487664"/>
            <a:chOff x="1092200" y="2590800"/>
            <a:chExt cx="9093200" cy="2501900"/>
          </a:xfrm>
        </p:grpSpPr>
        <p:pic>
          <p:nvPicPr>
            <p:cNvPr id="5" name="object 5"/>
            <p:cNvPicPr/>
            <p:nvPr/>
          </p:nvPicPr>
          <p:blipFill>
            <a:blip r:embed="rId4" cstate="print"/>
            <a:stretch>
              <a:fillRect/>
            </a:stretch>
          </p:blipFill>
          <p:spPr>
            <a:xfrm>
              <a:off x="1092200" y="2590800"/>
              <a:ext cx="9093200" cy="2501900"/>
            </a:xfrm>
            <a:prstGeom prst="rect">
              <a:avLst/>
            </a:prstGeom>
          </p:spPr>
        </p:pic>
        <p:sp>
          <p:nvSpPr>
            <p:cNvPr id="6" name="object 6"/>
            <p:cNvSpPr/>
            <p:nvPr/>
          </p:nvSpPr>
          <p:spPr>
            <a:xfrm>
              <a:off x="1168400" y="2667000"/>
              <a:ext cx="8788400" cy="2247900"/>
            </a:xfrm>
            <a:custGeom>
              <a:avLst/>
              <a:gdLst/>
              <a:ahLst/>
              <a:cxnLst/>
              <a:rect l="l" t="t" r="r" b="b"/>
              <a:pathLst>
                <a:path w="8788400" h="2247900">
                  <a:moveTo>
                    <a:pt x="0" y="0"/>
                  </a:moveTo>
                  <a:lnTo>
                    <a:pt x="8788400" y="0"/>
                  </a:lnTo>
                  <a:lnTo>
                    <a:pt x="8788400" y="2247900"/>
                  </a:lnTo>
                  <a:lnTo>
                    <a:pt x="0" y="2247900"/>
                  </a:lnTo>
                  <a:lnTo>
                    <a:pt x="0" y="0"/>
                  </a:lnTo>
                  <a:close/>
                </a:path>
              </a:pathLst>
            </a:custGeom>
            <a:solidFill>
              <a:srgbClr val="FFFFFF"/>
            </a:solidFill>
          </p:spPr>
          <p:txBody>
            <a:bodyPr wrap="square" lIns="0" tIns="0" rIns="0" bIns="0" rtlCol="0"/>
            <a:lstStyle/>
            <a:p>
              <a:endParaRPr sz="2109"/>
            </a:p>
          </p:txBody>
        </p:sp>
      </p:grpSp>
      <p:sp>
        <p:nvSpPr>
          <p:cNvPr id="7" name="object 7"/>
          <p:cNvSpPr txBox="1">
            <a:spLocks noGrp="1"/>
          </p:cNvSpPr>
          <p:nvPr>
            <p:ph type="body" idx="1"/>
          </p:nvPr>
        </p:nvSpPr>
        <p:spPr>
          <a:xfrm>
            <a:off x="331950" y="1343147"/>
            <a:ext cx="6770810" cy="3825447"/>
          </a:xfrm>
          <a:prstGeom prst="rect">
            <a:avLst/>
          </a:prstGeom>
        </p:spPr>
        <p:txBody>
          <a:bodyPr vert="horz" wrap="square" lIns="0" tIns="8930" rIns="0" bIns="0" numCol="1" rtlCol="0" anchor="t" anchorCtr="0" compatLnSpc="1">
            <a:prstTxWarp prst="textNoShape">
              <a:avLst/>
            </a:prstTxWarp>
            <a:spAutoFit/>
          </a:bodyPr>
          <a:lstStyle/>
          <a:p>
            <a:pPr marL="0" indent="0">
              <a:buNone/>
            </a:pPr>
            <a:r>
              <a:rPr lang="zh-CN" altLang="en-US" sz="2000" dirty="0">
                <a:latin typeface="楷体" panose="02010609060101010101" pitchFamily="49" charset="-122"/>
                <a:ea typeface="楷体" panose="02010609060101010101" pitchFamily="49" charset="-122"/>
              </a:rPr>
              <a:t>受过良好训练的计算机科学家知道怎样处理算法</a:t>
            </a:r>
            <a:r>
              <a:rPr lang="zh-CN" altLang="en-US" sz="2000" b="1" dirty="0">
                <a:latin typeface="楷体" panose="02010609060101010101" pitchFamily="49" charset="-122"/>
                <a:ea typeface="楷体" panose="02010609060101010101" pitchFamily="49" charset="-122"/>
              </a:rPr>
              <a:t>∶ 如何</a:t>
            </a:r>
            <a:r>
              <a:rPr lang="zh-CN" altLang="en-US" sz="2000" b="1" u="sng" dirty="0">
                <a:latin typeface="楷体" panose="02010609060101010101" pitchFamily="49" charset="-122"/>
                <a:ea typeface="楷体" panose="02010609060101010101" pitchFamily="49" charset="-122"/>
              </a:rPr>
              <a:t>构造算法、操作算法、理解算法以及分析算法</a:t>
            </a:r>
            <a:r>
              <a:rPr lang="zh-CN" altLang="en-US" sz="2000" b="1"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这些知识远不止为了写出良好的计算机程序而准备的。算法是一种一般性的智能工具，它必定有助于我们对其他学科的理解，不管是化学、语言学或音乐，还是其他学科。为什么算法会有这种作用呢</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我们可以这样理解∶ 人们常说，一个人只有把知识教给别人，才能真正掌握它。实际上，</a:t>
            </a:r>
            <a:r>
              <a:rPr lang="zh-CN" altLang="en-US" sz="2000" b="1" dirty="0">
                <a:latin typeface="楷体" panose="02010609060101010101" pitchFamily="49" charset="-122"/>
                <a:ea typeface="楷体" panose="02010609060101010101" pitchFamily="49" charset="-122"/>
              </a:rPr>
              <a:t>一个人只有</a:t>
            </a:r>
            <a:r>
              <a:rPr lang="zh-CN" altLang="en-US" sz="2000" b="1" u="sng" dirty="0">
                <a:latin typeface="楷体" panose="02010609060101010101" pitchFamily="49" charset="-122"/>
                <a:ea typeface="楷体" panose="02010609060101010101" pitchFamily="49" charset="-122"/>
              </a:rPr>
              <a:t>把知识教给</a:t>
            </a:r>
            <a:r>
              <a:rPr lang="en-US" altLang="zh-CN" sz="2000" b="1" u="sng" dirty="0">
                <a:latin typeface="楷体" panose="02010609060101010101" pitchFamily="49" charset="-122"/>
                <a:ea typeface="楷体" panose="02010609060101010101" pitchFamily="49" charset="-122"/>
              </a:rPr>
              <a:t>"</a:t>
            </a:r>
            <a:r>
              <a:rPr lang="zh-CN" altLang="en-US" sz="2000" b="1" u="sng" dirty="0">
                <a:latin typeface="楷体" panose="02010609060101010101" pitchFamily="49" charset="-122"/>
                <a:ea typeface="楷体" panose="02010609060101010101" pitchFamily="49" charset="-122"/>
              </a:rPr>
              <a:t>计算机</a:t>
            </a:r>
            <a:r>
              <a:rPr lang="en-US" altLang="zh-CN" sz="2000" b="1" u="sng"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，才能</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真正</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掌握它，也就是说，将知识表述为一种算法</a:t>
            </a:r>
            <a:r>
              <a:rPr lang="en-US" altLang="zh-CN" sz="2000" b="1" dirty="0">
                <a:latin typeface="楷体" panose="02010609060101010101" pitchFamily="49" charset="-122"/>
                <a:ea typeface="楷体" panose="02010609060101010101" pitchFamily="49" charset="-122"/>
              </a:rPr>
              <a:t>……</a:t>
            </a:r>
            <a:r>
              <a:rPr lang="zh-CN" altLang="en-US" sz="2000" b="1" dirty="0">
                <a:latin typeface="楷体" panose="02010609060101010101" pitchFamily="49" charset="-122"/>
                <a:ea typeface="楷体" panose="02010609060101010101" pitchFamily="49" charset="-122"/>
              </a:rPr>
              <a:t>比起简单按照常规去理解事物，尝试</a:t>
            </a:r>
            <a:r>
              <a:rPr lang="zh-CN" altLang="en-US" sz="2000" b="1" u="sng" dirty="0">
                <a:latin typeface="楷体" panose="02010609060101010101" pitchFamily="49" charset="-122"/>
                <a:ea typeface="楷体" panose="02010609060101010101" pitchFamily="49" charset="-122"/>
              </a:rPr>
              <a:t>用算法将其形式化</a:t>
            </a:r>
            <a:r>
              <a:rPr lang="zh-CN" altLang="en-US" sz="2000" b="1" dirty="0">
                <a:latin typeface="楷体" panose="02010609060101010101" pitchFamily="49" charset="-122"/>
                <a:ea typeface="楷体" panose="02010609060101010101" pitchFamily="49" charset="-122"/>
              </a:rPr>
              <a:t>能使我们的理解更加深刻</a:t>
            </a:r>
            <a:r>
              <a:rPr lang="zh-CN" altLang="en-US" sz="2000" dirty="0">
                <a:latin typeface="楷体" panose="02010609060101010101" pitchFamily="49" charset="-122"/>
                <a:ea typeface="楷体" panose="02010609060101010101" pitchFamily="49" charset="-122"/>
              </a:rPr>
              <a:t>。</a:t>
            </a:r>
          </a:p>
          <a:p>
            <a:pPr marL="0" indent="0" algn="r">
              <a:buNone/>
            </a:pP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唐纳德</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克努特</a:t>
            </a:r>
          </a:p>
          <a:p>
            <a:pPr marL="0" indent="0" algn="r">
              <a:buNone/>
            </a:pPr>
            <a:r>
              <a:rPr lang="en-US" altLang="zh-CN" sz="2000" dirty="0">
                <a:latin typeface="楷体" panose="02010609060101010101" pitchFamily="49" charset="-122"/>
                <a:ea typeface="楷体" panose="02010609060101010101" pitchFamily="49" charset="-122"/>
              </a:rPr>
              <a:t>1974</a:t>
            </a:r>
            <a:r>
              <a:rPr lang="zh-CN" altLang="en-US" sz="2000" dirty="0">
                <a:latin typeface="楷体" panose="02010609060101010101" pitchFamily="49" charset="-122"/>
                <a:ea typeface="楷体" panose="02010609060101010101" pitchFamily="49" charset="-122"/>
              </a:rPr>
              <a:t>年图灵奖获得者、计算机算法的奠基人，</a:t>
            </a:r>
            <a:r>
              <a:rPr lang="en-US" altLang="zh-CN" sz="2000" dirty="0">
                <a:latin typeface="楷体" panose="02010609060101010101" pitchFamily="49" charset="-122"/>
                <a:ea typeface="楷体" panose="02010609060101010101" pitchFamily="49" charset="-122"/>
              </a:rPr>
              <a:t>TEX</a:t>
            </a:r>
            <a:r>
              <a:rPr lang="zh-CN" altLang="en-US" sz="2000" dirty="0">
                <a:latin typeface="楷体" panose="02010609060101010101" pitchFamily="49" charset="-122"/>
                <a:ea typeface="楷体" panose="02010609060101010101" pitchFamily="49" charset="-122"/>
              </a:rPr>
              <a:t>发明人</a:t>
            </a:r>
            <a:endParaRPr sz="2000" i="1" spc="-7" dirty="0">
              <a:solidFill>
                <a:srgbClr val="005493"/>
              </a:solidFill>
              <a:latin typeface="楷体" panose="02010609060101010101" pitchFamily="49" charset="-122"/>
              <a:ea typeface="楷体" panose="02010609060101010101" pitchFamily="49" charset="-122"/>
            </a:endParaRPr>
          </a:p>
        </p:txBody>
      </p:sp>
      <p:sp>
        <p:nvSpPr>
          <p:cNvPr id="15" name="object 10"/>
          <p:cNvSpPr txBox="1"/>
          <p:nvPr/>
        </p:nvSpPr>
        <p:spPr>
          <a:xfrm>
            <a:off x="7384473" y="-19380"/>
            <a:ext cx="2071688" cy="5444954"/>
          </a:xfrm>
          <a:prstGeom prst="rect">
            <a:avLst/>
          </a:prstGeom>
        </p:spPr>
        <p:txBody>
          <a:bodyPr vert="horz" wrap="square" lIns="0" tIns="446" rIns="0" bIns="0" rtlCol="0">
            <a:spAutoFit/>
          </a:bodyPr>
          <a:lstStyle/>
          <a:p>
            <a:pPr>
              <a:spcBef>
                <a:spcPts val="4"/>
              </a:spcBef>
            </a:pPr>
            <a:endParaRPr sz="1617" dirty="0">
              <a:latin typeface="Times New Roman"/>
              <a:cs typeface="Times New Roman"/>
            </a:endParaRPr>
          </a:p>
          <a:p>
            <a:pPr marL="91079"/>
            <a:r>
              <a:rPr sz="984" dirty="0">
                <a:solidFill>
                  <a:srgbClr val="8D3124"/>
                </a:solidFill>
                <a:latin typeface="Lucida Sans"/>
                <a:cs typeface="Lucida Sans"/>
              </a:rPr>
              <a:t>300</a:t>
            </a:r>
            <a:r>
              <a:rPr sz="984" spc="-4" dirty="0">
                <a:solidFill>
                  <a:srgbClr val="8D3124"/>
                </a:solidFill>
                <a:latin typeface="Lucida Sans"/>
                <a:cs typeface="Lucida Sans"/>
              </a:rPr>
              <a:t> </a:t>
            </a:r>
            <a:r>
              <a:rPr sz="984" spc="-18" dirty="0">
                <a:solidFill>
                  <a:srgbClr val="8D3124"/>
                </a:solidFill>
                <a:latin typeface="Lucida Sans"/>
                <a:cs typeface="Lucida Sans"/>
              </a:rPr>
              <a:t>BCE</a:t>
            </a:r>
            <a:endParaRPr sz="984"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lnSpc>
                <a:spcPct val="100000"/>
              </a:lnSpc>
            </a:pPr>
            <a:endParaRPr sz="1125" dirty="0">
              <a:latin typeface="Lucida Sans"/>
              <a:cs typeface="Lucida Sans"/>
            </a:endParaRPr>
          </a:p>
          <a:p>
            <a:pPr>
              <a:spcBef>
                <a:spcPts val="28"/>
              </a:spcBef>
            </a:pPr>
            <a:endParaRPr sz="879" dirty="0">
              <a:latin typeface="Lucida Sans"/>
              <a:cs typeface="Lucida Sans"/>
            </a:endParaRPr>
          </a:p>
          <a:p>
            <a:pPr marL="213858">
              <a:spcBef>
                <a:spcPts val="4"/>
              </a:spcBef>
            </a:pPr>
            <a:r>
              <a:rPr sz="984" spc="-7" dirty="0">
                <a:solidFill>
                  <a:srgbClr val="8D3124"/>
                </a:solidFill>
                <a:latin typeface="Lucida Sans"/>
                <a:cs typeface="Lucida Sans"/>
              </a:rPr>
              <a:t>1920s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1930s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1940s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1950s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1960s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1970s</a:t>
            </a:r>
            <a:endParaRPr sz="984" dirty="0">
              <a:latin typeface="Lucida Sans"/>
              <a:cs typeface="Lucida Sans"/>
            </a:endParaRPr>
          </a:p>
          <a:p>
            <a:pPr marL="213858">
              <a:spcBef>
                <a:spcPts val="295"/>
              </a:spcBef>
            </a:pPr>
            <a:r>
              <a:rPr sz="984" spc="-7" dirty="0">
                <a:solidFill>
                  <a:srgbClr val="8D3124"/>
                </a:solidFill>
                <a:latin typeface="Lucida Sans"/>
                <a:cs typeface="Lucida Sans"/>
              </a:rPr>
              <a:t>1980s</a:t>
            </a:r>
            <a:endParaRPr sz="984" dirty="0">
              <a:latin typeface="Lucida Sans"/>
              <a:cs typeface="Lucida Sans"/>
            </a:endParaRPr>
          </a:p>
          <a:p>
            <a:pPr marL="213858">
              <a:spcBef>
                <a:spcPts val="225"/>
              </a:spcBef>
            </a:pPr>
            <a:r>
              <a:rPr sz="984" spc="-7" dirty="0">
                <a:solidFill>
                  <a:srgbClr val="8D3124"/>
                </a:solidFill>
                <a:latin typeface="Lucida Sans"/>
                <a:cs typeface="Lucida Sans"/>
              </a:rPr>
              <a:t>1990s</a:t>
            </a:r>
            <a:endParaRPr sz="984" dirty="0">
              <a:latin typeface="Lucida Sans"/>
              <a:cs typeface="Lucida Sans"/>
            </a:endParaRPr>
          </a:p>
          <a:p>
            <a:pPr marL="213858">
              <a:spcBef>
                <a:spcPts val="295"/>
              </a:spcBef>
            </a:pPr>
            <a:r>
              <a:rPr sz="984" spc="-7" dirty="0">
                <a:solidFill>
                  <a:srgbClr val="8D3124"/>
                </a:solidFill>
                <a:latin typeface="Lucida Sans"/>
                <a:cs typeface="Lucida Sans"/>
              </a:rPr>
              <a:t>2000s</a:t>
            </a:r>
            <a:endParaRPr sz="984" dirty="0">
              <a:latin typeface="Lucida Sans"/>
              <a:cs typeface="Lucida Sans"/>
            </a:endParaRPr>
          </a:p>
        </p:txBody>
      </p:sp>
      <p:grpSp>
        <p:nvGrpSpPr>
          <p:cNvPr id="16" name="object 11"/>
          <p:cNvGrpSpPr/>
          <p:nvPr/>
        </p:nvGrpSpPr>
        <p:grpSpPr>
          <a:xfrm>
            <a:off x="8232793" y="293333"/>
            <a:ext cx="991195" cy="5063133"/>
            <a:chOff x="10274300" y="1625600"/>
            <a:chExt cx="1409700" cy="7200900"/>
          </a:xfrm>
        </p:grpSpPr>
        <p:sp>
          <p:nvSpPr>
            <p:cNvPr id="17" name="object 12"/>
            <p:cNvSpPr/>
            <p:nvPr/>
          </p:nvSpPr>
          <p:spPr>
            <a:xfrm>
              <a:off x="10274300" y="1625599"/>
              <a:ext cx="1409700" cy="7200900"/>
            </a:xfrm>
            <a:custGeom>
              <a:avLst/>
              <a:gdLst/>
              <a:ahLst/>
              <a:cxnLst/>
              <a:rect l="l" t="t" r="r" b="b"/>
              <a:pathLst>
                <a:path w="1409700" h="7200900">
                  <a:moveTo>
                    <a:pt x="190500" y="5448300"/>
                  </a:moveTo>
                  <a:lnTo>
                    <a:pt x="0" y="5448300"/>
                  </a:lnTo>
                  <a:lnTo>
                    <a:pt x="0" y="5638800"/>
                  </a:lnTo>
                  <a:lnTo>
                    <a:pt x="190500" y="5638800"/>
                  </a:lnTo>
                  <a:lnTo>
                    <a:pt x="190500" y="5448300"/>
                  </a:lnTo>
                  <a:close/>
                </a:path>
                <a:path w="1409700" h="7200900">
                  <a:moveTo>
                    <a:pt x="190500" y="4940300"/>
                  </a:moveTo>
                  <a:lnTo>
                    <a:pt x="0" y="4940300"/>
                  </a:lnTo>
                  <a:lnTo>
                    <a:pt x="0" y="5130800"/>
                  </a:lnTo>
                  <a:lnTo>
                    <a:pt x="190500" y="5130800"/>
                  </a:lnTo>
                  <a:lnTo>
                    <a:pt x="190500" y="4940300"/>
                  </a:lnTo>
                  <a:close/>
                </a:path>
                <a:path w="1409700" h="7200900">
                  <a:moveTo>
                    <a:pt x="190500" y="0"/>
                  </a:moveTo>
                  <a:lnTo>
                    <a:pt x="0" y="0"/>
                  </a:lnTo>
                  <a:lnTo>
                    <a:pt x="0" y="190500"/>
                  </a:lnTo>
                  <a:lnTo>
                    <a:pt x="190500" y="190500"/>
                  </a:lnTo>
                  <a:lnTo>
                    <a:pt x="190500" y="0"/>
                  </a:lnTo>
                  <a:close/>
                </a:path>
                <a:path w="1409700" h="7200900">
                  <a:moveTo>
                    <a:pt x="355600" y="5702300"/>
                  </a:moveTo>
                  <a:lnTo>
                    <a:pt x="0" y="5702300"/>
                  </a:lnTo>
                  <a:lnTo>
                    <a:pt x="0" y="5930900"/>
                  </a:lnTo>
                  <a:lnTo>
                    <a:pt x="355600" y="5930900"/>
                  </a:lnTo>
                  <a:lnTo>
                    <a:pt x="355600" y="5702300"/>
                  </a:lnTo>
                  <a:close/>
                </a:path>
                <a:path w="1409700" h="7200900">
                  <a:moveTo>
                    <a:pt x="584200" y="5994400"/>
                  </a:moveTo>
                  <a:lnTo>
                    <a:pt x="0" y="5994400"/>
                  </a:lnTo>
                  <a:lnTo>
                    <a:pt x="0" y="6184900"/>
                  </a:lnTo>
                  <a:lnTo>
                    <a:pt x="584200" y="6184900"/>
                  </a:lnTo>
                  <a:lnTo>
                    <a:pt x="584200" y="5994400"/>
                  </a:lnTo>
                  <a:close/>
                </a:path>
                <a:path w="1409700" h="7200900">
                  <a:moveTo>
                    <a:pt x="685800" y="7010400"/>
                  </a:moveTo>
                  <a:lnTo>
                    <a:pt x="0" y="7010400"/>
                  </a:lnTo>
                  <a:lnTo>
                    <a:pt x="0" y="7200900"/>
                  </a:lnTo>
                  <a:lnTo>
                    <a:pt x="685800" y="7200900"/>
                  </a:lnTo>
                  <a:lnTo>
                    <a:pt x="685800" y="7010400"/>
                  </a:lnTo>
                  <a:close/>
                </a:path>
                <a:path w="1409700" h="7200900">
                  <a:moveTo>
                    <a:pt x="685800" y="6756400"/>
                  </a:moveTo>
                  <a:lnTo>
                    <a:pt x="0" y="6756400"/>
                  </a:lnTo>
                  <a:lnTo>
                    <a:pt x="0" y="6946900"/>
                  </a:lnTo>
                  <a:lnTo>
                    <a:pt x="685800" y="6946900"/>
                  </a:lnTo>
                  <a:lnTo>
                    <a:pt x="685800" y="6756400"/>
                  </a:lnTo>
                  <a:close/>
                </a:path>
                <a:path w="1409700" h="7200900">
                  <a:moveTo>
                    <a:pt x="876300" y="6502400"/>
                  </a:moveTo>
                  <a:lnTo>
                    <a:pt x="0" y="6502400"/>
                  </a:lnTo>
                  <a:lnTo>
                    <a:pt x="0" y="6692900"/>
                  </a:lnTo>
                  <a:lnTo>
                    <a:pt x="876300" y="6692900"/>
                  </a:lnTo>
                  <a:lnTo>
                    <a:pt x="876300" y="6502400"/>
                  </a:lnTo>
                  <a:close/>
                </a:path>
                <a:path w="1409700" h="7200900">
                  <a:moveTo>
                    <a:pt x="1409700" y="6248400"/>
                  </a:moveTo>
                  <a:lnTo>
                    <a:pt x="0" y="6248400"/>
                  </a:lnTo>
                  <a:lnTo>
                    <a:pt x="0" y="6438900"/>
                  </a:lnTo>
                  <a:lnTo>
                    <a:pt x="1409700" y="6438900"/>
                  </a:lnTo>
                  <a:lnTo>
                    <a:pt x="1409700" y="6248400"/>
                  </a:lnTo>
                  <a:close/>
                </a:path>
              </a:pathLst>
            </a:custGeom>
            <a:solidFill>
              <a:srgbClr val="8A8A8A"/>
            </a:solidFill>
          </p:spPr>
          <p:txBody>
            <a:bodyPr wrap="square" lIns="0" tIns="0" rIns="0" bIns="0" rtlCol="0"/>
            <a:lstStyle/>
            <a:p>
              <a:endParaRPr sz="2109"/>
            </a:p>
          </p:txBody>
        </p:sp>
        <p:sp>
          <p:nvSpPr>
            <p:cNvPr id="18" name="object 13"/>
            <p:cNvSpPr/>
            <p:nvPr/>
          </p:nvSpPr>
          <p:spPr>
            <a:xfrm>
              <a:off x="10274300" y="6819900"/>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solidFill>
              <a:srgbClr val="8A8A8A"/>
            </a:solidFill>
          </p:spPr>
          <p:txBody>
            <a:bodyPr wrap="square" lIns="0" tIns="0" rIns="0" bIns="0" rtlCol="0"/>
            <a:lstStyle/>
            <a:p>
              <a:endParaRPr sz="2109"/>
            </a:p>
          </p:txBody>
        </p:sp>
      </p:grpSp>
      <p:pic>
        <p:nvPicPr>
          <p:cNvPr id="10" name="object 10"/>
          <p:cNvPicPr/>
          <p:nvPr/>
        </p:nvPicPr>
        <p:blipFill>
          <a:blip r:embed="rId5" cstate="print"/>
          <a:stretch>
            <a:fillRect/>
          </a:stretch>
        </p:blipFill>
        <p:spPr>
          <a:xfrm>
            <a:off x="7535153" y="2545237"/>
            <a:ext cx="1467918" cy="2086330"/>
          </a:xfrm>
          <a:prstGeom prst="rect">
            <a:avLst/>
          </a:prstGeom>
        </p:spPr>
      </p:pic>
      <p:sp>
        <p:nvSpPr>
          <p:cNvPr id="19" name="object 5"/>
          <p:cNvSpPr txBox="1"/>
          <p:nvPr/>
        </p:nvSpPr>
        <p:spPr>
          <a:xfrm>
            <a:off x="285751" y="5538038"/>
            <a:ext cx="7401854" cy="548711"/>
          </a:xfrm>
          <a:prstGeom prst="rect">
            <a:avLst/>
          </a:prstGeom>
        </p:spPr>
        <p:txBody>
          <a:bodyPr vert="horz" wrap="square" lIns="0" tIns="50453" rIns="0" bIns="0" rtlCol="0">
            <a:spAutoFit/>
          </a:bodyPr>
          <a:lstStyle/>
          <a:p>
            <a:pPr marL="383963" marR="21430" indent="-357175">
              <a:lnSpc>
                <a:spcPct val="114599"/>
              </a:lnSpc>
              <a:spcBef>
                <a:spcPts val="397"/>
              </a:spcBef>
            </a:pPr>
            <a:r>
              <a:rPr sz="4219" spc="2109" baseline="-11805" dirty="0">
                <a:latin typeface="MS PGothic"/>
                <a:cs typeface="MS PGothic"/>
              </a:rPr>
              <a:t>・</a:t>
            </a:r>
            <a:r>
              <a:rPr sz="1687" b="1" u="sng" dirty="0">
                <a:latin typeface="Lucida Sans"/>
                <a:cs typeface="Lucida Sans"/>
              </a:rPr>
              <a:t>Some</a:t>
            </a:r>
            <a:r>
              <a:rPr sz="1687" b="1" u="sng" spc="-18" dirty="0">
                <a:latin typeface="Lucida Sans"/>
                <a:cs typeface="Lucida Sans"/>
              </a:rPr>
              <a:t> </a:t>
            </a:r>
            <a:r>
              <a:rPr sz="1687" b="1" u="sng" dirty="0">
                <a:latin typeface="Lucida Sans"/>
                <a:cs typeface="Lucida Sans"/>
              </a:rPr>
              <a:t>important</a:t>
            </a:r>
            <a:r>
              <a:rPr sz="1687" b="1" u="sng" spc="-14" dirty="0">
                <a:latin typeface="Lucida Sans"/>
                <a:cs typeface="Lucida Sans"/>
              </a:rPr>
              <a:t> </a:t>
            </a:r>
            <a:r>
              <a:rPr sz="1687" b="1" u="sng" dirty="0">
                <a:latin typeface="Lucida Sans"/>
                <a:cs typeface="Lucida Sans"/>
              </a:rPr>
              <a:t>algorithms</a:t>
            </a:r>
            <a:r>
              <a:rPr sz="1687" b="1" u="sng" spc="-14" dirty="0">
                <a:latin typeface="Lucida Sans"/>
                <a:cs typeface="Lucida Sans"/>
              </a:rPr>
              <a:t> </a:t>
            </a:r>
            <a:r>
              <a:rPr sz="1687" dirty="0">
                <a:latin typeface="Lucida Sans"/>
                <a:cs typeface="Lucida Sans"/>
              </a:rPr>
              <a:t>were</a:t>
            </a:r>
            <a:r>
              <a:rPr sz="1687" spc="-14" dirty="0">
                <a:latin typeface="Lucida Sans"/>
                <a:cs typeface="Lucida Sans"/>
              </a:rPr>
              <a:t> </a:t>
            </a:r>
            <a:r>
              <a:rPr sz="1687" spc="-7" dirty="0">
                <a:latin typeface="Lucida Sans"/>
                <a:cs typeface="Lucida Sans"/>
              </a:rPr>
              <a:t>discovered</a:t>
            </a:r>
            <a:endParaRPr sz="1687" dirty="0">
              <a:latin typeface="Lucida Sans"/>
              <a:cs typeface="Lucida Sans"/>
            </a:endParaRPr>
          </a:p>
        </p:txBody>
      </p:sp>
    </p:spTree>
    <p:extLst>
      <p:ext uri="{BB962C8B-B14F-4D97-AF65-F5344CB8AC3E}">
        <p14:creationId xmlns:p14="http://schemas.microsoft.com/office/powerpoint/2010/main" val="542130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7584" y="1268760"/>
            <a:ext cx="6057900" cy="3004645"/>
          </a:xfrm>
          <a:prstGeom prst="rect">
            <a:avLst/>
          </a:prstGeom>
        </p:spPr>
        <p:txBody>
          <a:bodyPr vert="horz" wrap="square" lIns="0" tIns="8930" rIns="0" bIns="0" rtlCol="0">
            <a:spAutoFit/>
          </a:bodyPr>
          <a:lstStyle/>
          <a:p>
            <a:pPr marL="8929">
              <a:spcBef>
                <a:spcPts val="70"/>
              </a:spcBef>
            </a:pPr>
            <a:r>
              <a:rPr sz="1687" spc="-95" dirty="0">
                <a:solidFill>
                  <a:srgbClr val="005493"/>
                </a:solidFill>
                <a:latin typeface="Lucida Sans"/>
                <a:cs typeface="Lucida Sans"/>
              </a:rPr>
              <a:t>To</a:t>
            </a:r>
            <a:r>
              <a:rPr sz="1687" dirty="0">
                <a:solidFill>
                  <a:srgbClr val="005493"/>
                </a:solidFill>
                <a:latin typeface="Lucida Sans"/>
                <a:cs typeface="Lucida Sans"/>
              </a:rPr>
              <a:t> </a:t>
            </a:r>
            <a:r>
              <a:rPr sz="1687" dirty="0">
                <a:solidFill>
                  <a:srgbClr val="FF0000"/>
                </a:solidFill>
                <a:latin typeface="Lucida Sans"/>
                <a:cs typeface="Lucida Sans"/>
              </a:rPr>
              <a:t>solve problems </a:t>
            </a:r>
            <a:r>
              <a:rPr sz="1687" dirty="0">
                <a:solidFill>
                  <a:srgbClr val="005493"/>
                </a:solidFill>
                <a:latin typeface="Lucida Sans"/>
                <a:cs typeface="Lucida Sans"/>
              </a:rPr>
              <a:t>that</a:t>
            </a:r>
            <a:r>
              <a:rPr sz="1687" spc="4" dirty="0">
                <a:solidFill>
                  <a:srgbClr val="005493"/>
                </a:solidFill>
                <a:latin typeface="Lucida Sans"/>
                <a:cs typeface="Lucida Sans"/>
              </a:rPr>
              <a:t> </a:t>
            </a:r>
            <a:r>
              <a:rPr sz="1687" dirty="0">
                <a:solidFill>
                  <a:srgbClr val="005493"/>
                </a:solidFill>
                <a:latin typeface="Lucida Sans"/>
                <a:cs typeface="Lucida Sans"/>
              </a:rPr>
              <a:t>could not otherwise</a:t>
            </a:r>
            <a:r>
              <a:rPr sz="1687" spc="4" dirty="0">
                <a:solidFill>
                  <a:srgbClr val="005493"/>
                </a:solidFill>
                <a:latin typeface="Lucida Sans"/>
                <a:cs typeface="Lucida Sans"/>
              </a:rPr>
              <a:t> </a:t>
            </a:r>
            <a:r>
              <a:rPr sz="1687" dirty="0">
                <a:solidFill>
                  <a:srgbClr val="005493"/>
                </a:solidFill>
                <a:latin typeface="Lucida Sans"/>
                <a:cs typeface="Lucida Sans"/>
              </a:rPr>
              <a:t>be </a:t>
            </a:r>
            <a:r>
              <a:rPr sz="1687" spc="-7" dirty="0">
                <a:solidFill>
                  <a:srgbClr val="005493"/>
                </a:solidFill>
                <a:latin typeface="Lucida Sans"/>
                <a:cs typeface="Lucida Sans"/>
              </a:rPr>
              <a:t>addressed.</a:t>
            </a:r>
            <a:endParaRPr sz="1687" dirty="0">
              <a:latin typeface="Lucida Sans"/>
              <a:cs typeface="Lucida Sans"/>
            </a:endParaRPr>
          </a:p>
          <a:p>
            <a:pPr>
              <a:spcBef>
                <a:spcPts val="21"/>
              </a:spcBef>
            </a:pPr>
            <a:endParaRPr sz="2918" dirty="0">
              <a:latin typeface="Lucida Sans"/>
              <a:cs typeface="Lucida Sans"/>
            </a:endParaRPr>
          </a:p>
          <a:p>
            <a:pPr marL="8929">
              <a:tabLst>
                <a:tab pos="459416" algn="l"/>
                <a:tab pos="2858737" algn="l"/>
              </a:tabLst>
            </a:pPr>
            <a:r>
              <a:rPr sz="1687" spc="-18" dirty="0">
                <a:solidFill>
                  <a:srgbClr val="005493"/>
                </a:solidFill>
                <a:latin typeface="Lucida Sans"/>
                <a:cs typeface="Lucida Sans"/>
              </a:rPr>
              <a:t>Ex.</a:t>
            </a:r>
            <a:r>
              <a:rPr sz="1687" dirty="0">
                <a:solidFill>
                  <a:srgbClr val="005493"/>
                </a:solidFill>
                <a:latin typeface="Lucida Sans"/>
                <a:cs typeface="Lucida Sans"/>
              </a:rPr>
              <a:t>	</a:t>
            </a:r>
            <a:r>
              <a:rPr sz="1687" dirty="0">
                <a:latin typeface="Lucida Sans"/>
                <a:cs typeface="Lucida Sans"/>
              </a:rPr>
              <a:t>Network</a:t>
            </a:r>
            <a:r>
              <a:rPr sz="1687" spc="63" dirty="0">
                <a:latin typeface="Lucida Sans"/>
                <a:cs typeface="Lucida Sans"/>
              </a:rPr>
              <a:t> </a:t>
            </a:r>
            <a:r>
              <a:rPr sz="1687" spc="-7" dirty="0">
                <a:latin typeface="Lucida Sans"/>
                <a:cs typeface="Lucida Sans"/>
              </a:rPr>
              <a:t>connectivity.</a:t>
            </a:r>
            <a:endParaRPr lang="en-US" sz="1687" spc="-7" dirty="0">
              <a:latin typeface="Lucida Sans"/>
              <a:cs typeface="Lucida Sans"/>
            </a:endParaRPr>
          </a:p>
          <a:p>
            <a:pPr marL="8929">
              <a:tabLst>
                <a:tab pos="459416" algn="l"/>
                <a:tab pos="2858737" algn="l"/>
              </a:tabLst>
            </a:pPr>
            <a:endParaRPr lang="en-US" sz="1687" spc="-7" dirty="0">
              <a:latin typeface="Lucida Sans"/>
              <a:cs typeface="Lucida Sans"/>
            </a:endParaRPr>
          </a:p>
          <a:p>
            <a:pPr marL="8929">
              <a:tabLst>
                <a:tab pos="459416" algn="l"/>
                <a:tab pos="2858737" algn="l"/>
              </a:tabLst>
            </a:pPr>
            <a:endParaRPr lang="en-US" sz="1687" spc="-7" dirty="0">
              <a:latin typeface="Lucida Sans"/>
              <a:cs typeface="Lucida Sans"/>
            </a:endParaRPr>
          </a:p>
          <a:p>
            <a:pPr marL="8929">
              <a:tabLst>
                <a:tab pos="459416" algn="l"/>
                <a:tab pos="2858737" algn="l"/>
              </a:tabLst>
            </a:pPr>
            <a:r>
              <a:rPr lang="en-US" altLang="zh-CN" sz="1400" spc="-7" dirty="0">
                <a:latin typeface="Lucida Sans"/>
                <a:cs typeface="Lucida Sans"/>
              </a:rPr>
              <a:t>Social Network</a:t>
            </a:r>
          </a:p>
          <a:p>
            <a:pPr marL="8929">
              <a:tabLst>
                <a:tab pos="459416" algn="l"/>
                <a:tab pos="2858737" algn="l"/>
              </a:tabLst>
            </a:pPr>
            <a:endParaRPr lang="en-US" sz="1400" spc="-7" dirty="0">
              <a:latin typeface="Lucida Sans"/>
              <a:cs typeface="Lucida Sans"/>
            </a:endParaRPr>
          </a:p>
          <a:p>
            <a:pPr marL="8929">
              <a:tabLst>
                <a:tab pos="459416" algn="l"/>
                <a:tab pos="2858737" algn="l"/>
              </a:tabLst>
            </a:pPr>
            <a:r>
              <a:rPr lang="en-US" altLang="zh-CN" sz="1400" spc="-7" dirty="0">
                <a:latin typeface="Lucida Sans"/>
                <a:cs typeface="Lucida Sans"/>
              </a:rPr>
              <a:t>Computer Network</a:t>
            </a:r>
          </a:p>
          <a:p>
            <a:pPr marL="8929">
              <a:tabLst>
                <a:tab pos="459416" algn="l"/>
                <a:tab pos="2858737" algn="l"/>
              </a:tabLst>
            </a:pPr>
            <a:endParaRPr lang="en-US" sz="1400" spc="-7" dirty="0">
              <a:latin typeface="Lucida Sans"/>
              <a:cs typeface="Lucida Sans"/>
            </a:endParaRPr>
          </a:p>
          <a:p>
            <a:pPr marL="8929">
              <a:tabLst>
                <a:tab pos="459416" algn="l"/>
                <a:tab pos="2858737" algn="l"/>
              </a:tabLst>
            </a:pPr>
            <a:r>
              <a:rPr lang="en-US" altLang="zh-CN" sz="1400" spc="-7" dirty="0">
                <a:latin typeface="Lucida Sans"/>
                <a:cs typeface="Lucida Sans"/>
              </a:rPr>
              <a:t>Transportation Network</a:t>
            </a:r>
          </a:p>
          <a:p>
            <a:pPr marL="8929">
              <a:tabLst>
                <a:tab pos="459416" algn="l"/>
                <a:tab pos="2858737" algn="l"/>
              </a:tabLst>
            </a:pPr>
            <a:endParaRPr lang="en-US" sz="1400" spc="-7" dirty="0">
              <a:latin typeface="Lucida Sans"/>
              <a:cs typeface="Lucida Sans"/>
            </a:endParaRPr>
          </a:p>
          <a:p>
            <a:pPr marL="8929">
              <a:tabLst>
                <a:tab pos="459416" algn="l"/>
                <a:tab pos="2858737" algn="l"/>
              </a:tabLst>
            </a:pPr>
            <a:r>
              <a:rPr lang="en-US" sz="1400" spc="-7" dirty="0">
                <a:latin typeface="Lucida Sans"/>
                <a:cs typeface="Lucida Sans"/>
              </a:rPr>
              <a:t>……</a:t>
            </a:r>
            <a:endParaRPr sz="1400" dirty="0">
              <a:latin typeface="Lucida Sans"/>
              <a:cs typeface="Lucida Sans"/>
            </a:endParaRPr>
          </a:p>
        </p:txBody>
      </p:sp>
      <p:pic>
        <p:nvPicPr>
          <p:cNvPr id="3" name="object 3"/>
          <p:cNvPicPr/>
          <p:nvPr/>
        </p:nvPicPr>
        <p:blipFill>
          <a:blip r:embed="rId2" cstate="print"/>
          <a:stretch>
            <a:fillRect/>
          </a:stretch>
        </p:blipFill>
        <p:spPr>
          <a:xfrm>
            <a:off x="4102917" y="1628800"/>
            <a:ext cx="4572000" cy="4491633"/>
          </a:xfrm>
          <a:prstGeom prst="rect">
            <a:avLst/>
          </a:prstGeom>
        </p:spPr>
      </p:pic>
      <p:sp>
        <p:nvSpPr>
          <p:cNvPr id="4" name="object 4"/>
          <p:cNvSpPr txBox="1">
            <a:spLocks noGrp="1"/>
          </p:cNvSpPr>
          <p:nvPr>
            <p:ph type="title"/>
          </p:nvPr>
        </p:nvSpPr>
        <p:spPr>
          <a:xfrm>
            <a:off x="611560" y="116632"/>
            <a:ext cx="7562899"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spc="109" dirty="0">
                <a:latin typeface="微软雅黑" panose="020B0503020204020204" pitchFamily="34" charset="-122"/>
                <a:ea typeface="微软雅黑" panose="020B0503020204020204" pitchFamily="34" charset="-122"/>
              </a:rPr>
              <a:t>Why</a:t>
            </a:r>
            <a:r>
              <a:rPr spc="-49" dirty="0">
                <a:latin typeface="微软雅黑" panose="020B0503020204020204" pitchFamily="34" charset="-122"/>
                <a:ea typeface="微软雅黑" panose="020B0503020204020204" pitchFamily="34" charset="-122"/>
              </a:rPr>
              <a:t> </a:t>
            </a:r>
            <a:r>
              <a:rPr dirty="0">
                <a:latin typeface="微软雅黑" panose="020B0503020204020204" pitchFamily="34" charset="-122"/>
                <a:ea typeface="微软雅黑" panose="020B0503020204020204" pitchFamily="34" charset="-122"/>
              </a:rPr>
              <a:t>study</a:t>
            </a:r>
            <a:r>
              <a:rPr spc="-49" dirty="0">
                <a:latin typeface="微软雅黑" panose="020B0503020204020204" pitchFamily="34" charset="-122"/>
                <a:ea typeface="微软雅黑" panose="020B0503020204020204" pitchFamily="34" charset="-122"/>
              </a:rPr>
              <a:t> </a:t>
            </a:r>
            <a:r>
              <a:rPr spc="-7" dirty="0">
                <a:latin typeface="微软雅黑" panose="020B0503020204020204" pitchFamily="34" charset="-122"/>
                <a:ea typeface="微软雅黑" panose="020B0503020204020204" pitchFamily="34" charset="-122"/>
              </a:rPr>
              <a:t>algorithms?</a:t>
            </a:r>
          </a:p>
        </p:txBody>
      </p:sp>
    </p:spTree>
    <p:extLst>
      <p:ext uri="{BB962C8B-B14F-4D97-AF65-F5344CB8AC3E}">
        <p14:creationId xmlns:p14="http://schemas.microsoft.com/office/powerpoint/2010/main" val="2256391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9727" y="1187848"/>
            <a:ext cx="7150894" cy="4169964"/>
          </a:xfrm>
          <a:prstGeom prst="rect">
            <a:avLst/>
          </a:prstGeom>
        </p:spPr>
        <p:txBody>
          <a:bodyPr vert="horz" wrap="square" lIns="0" tIns="8930" rIns="0" bIns="0" rtlCol="0">
            <a:spAutoFit/>
          </a:bodyPr>
          <a:lstStyle/>
          <a:p>
            <a:pPr marL="8929">
              <a:spcBef>
                <a:spcPts val="70"/>
              </a:spcBef>
            </a:pPr>
            <a:r>
              <a:rPr sz="1687" dirty="0">
                <a:solidFill>
                  <a:srgbClr val="005493"/>
                </a:solidFill>
                <a:latin typeface="Lucida Sans"/>
                <a:cs typeface="Lucida Sans"/>
              </a:rPr>
              <a:t>Their</a:t>
            </a:r>
            <a:r>
              <a:rPr sz="1687" spc="-21" dirty="0">
                <a:solidFill>
                  <a:srgbClr val="005493"/>
                </a:solidFill>
                <a:latin typeface="Lucida Sans"/>
                <a:cs typeface="Lucida Sans"/>
              </a:rPr>
              <a:t> </a:t>
            </a:r>
            <a:r>
              <a:rPr sz="1687" dirty="0">
                <a:solidFill>
                  <a:srgbClr val="005493"/>
                </a:solidFill>
                <a:latin typeface="Lucida Sans"/>
                <a:cs typeface="Lucida Sans"/>
              </a:rPr>
              <a:t>impact</a:t>
            </a:r>
            <a:r>
              <a:rPr sz="1687" spc="-21" dirty="0">
                <a:solidFill>
                  <a:srgbClr val="005493"/>
                </a:solidFill>
                <a:latin typeface="Lucida Sans"/>
                <a:cs typeface="Lucida Sans"/>
              </a:rPr>
              <a:t> </a:t>
            </a:r>
            <a:r>
              <a:rPr sz="1687" dirty="0">
                <a:solidFill>
                  <a:srgbClr val="005493"/>
                </a:solidFill>
                <a:latin typeface="Lucida Sans"/>
                <a:cs typeface="Lucida Sans"/>
              </a:rPr>
              <a:t>is</a:t>
            </a:r>
            <a:r>
              <a:rPr sz="1687" spc="-21" dirty="0">
                <a:solidFill>
                  <a:srgbClr val="005493"/>
                </a:solidFill>
                <a:latin typeface="Lucida Sans"/>
                <a:cs typeface="Lucida Sans"/>
              </a:rPr>
              <a:t> </a:t>
            </a:r>
            <a:r>
              <a:rPr sz="1687" dirty="0">
                <a:solidFill>
                  <a:srgbClr val="005493"/>
                </a:solidFill>
                <a:latin typeface="Lucida Sans"/>
                <a:cs typeface="Lucida Sans"/>
              </a:rPr>
              <a:t>broad</a:t>
            </a:r>
            <a:r>
              <a:rPr sz="1687" spc="-18" dirty="0">
                <a:solidFill>
                  <a:srgbClr val="005493"/>
                </a:solidFill>
                <a:latin typeface="Lucida Sans"/>
                <a:cs typeface="Lucida Sans"/>
              </a:rPr>
              <a:t> </a:t>
            </a:r>
            <a:r>
              <a:rPr sz="1687" dirty="0">
                <a:solidFill>
                  <a:srgbClr val="005493"/>
                </a:solidFill>
                <a:latin typeface="Lucida Sans"/>
                <a:cs typeface="Lucida Sans"/>
              </a:rPr>
              <a:t>and</a:t>
            </a:r>
            <a:r>
              <a:rPr sz="1687" spc="-21" dirty="0">
                <a:solidFill>
                  <a:srgbClr val="005493"/>
                </a:solidFill>
                <a:latin typeface="Lucida Sans"/>
                <a:cs typeface="Lucida Sans"/>
              </a:rPr>
              <a:t> </a:t>
            </a:r>
            <a:r>
              <a:rPr sz="1687" spc="-39" dirty="0">
                <a:solidFill>
                  <a:srgbClr val="005493"/>
                </a:solidFill>
                <a:latin typeface="Lucida Sans"/>
                <a:cs typeface="Lucida Sans"/>
              </a:rPr>
              <a:t>far-</a:t>
            </a:r>
            <a:r>
              <a:rPr sz="1687" spc="-7" dirty="0">
                <a:solidFill>
                  <a:srgbClr val="005493"/>
                </a:solidFill>
                <a:latin typeface="Lucida Sans"/>
                <a:cs typeface="Lucida Sans"/>
              </a:rPr>
              <a:t>reaching.</a:t>
            </a:r>
            <a:endParaRPr sz="1687" dirty="0">
              <a:latin typeface="Lucida Sans"/>
              <a:cs typeface="Lucida Sans"/>
            </a:endParaRPr>
          </a:p>
          <a:p>
            <a:pPr marL="8929" marR="453166">
              <a:lnSpc>
                <a:spcPct val="159700"/>
              </a:lnSpc>
              <a:spcBef>
                <a:spcPts val="1336"/>
              </a:spcBef>
              <a:tabLst>
                <a:tab pos="955889" algn="l"/>
                <a:tab pos="1025985" algn="l"/>
              </a:tabLst>
            </a:pPr>
            <a:r>
              <a:rPr sz="1687" spc="-7" dirty="0">
                <a:solidFill>
                  <a:srgbClr val="005493"/>
                </a:solidFill>
                <a:latin typeface="Lucida Sans"/>
                <a:cs typeface="Lucida Sans"/>
              </a:rPr>
              <a:t>Internet.</a:t>
            </a:r>
            <a:r>
              <a:rPr sz="1687" dirty="0">
                <a:solidFill>
                  <a:srgbClr val="005493"/>
                </a:solidFill>
                <a:latin typeface="Lucida Sans"/>
                <a:cs typeface="Lucida Sans"/>
              </a:rPr>
              <a:t>		</a:t>
            </a:r>
            <a:r>
              <a:rPr sz="1687" u="sng" dirty="0">
                <a:latin typeface="Lucida Sans"/>
                <a:cs typeface="Lucida Sans"/>
              </a:rPr>
              <a:t>Web</a:t>
            </a:r>
            <a:r>
              <a:rPr sz="1687" u="sng" spc="-56" dirty="0">
                <a:latin typeface="Lucida Sans"/>
                <a:cs typeface="Lucida Sans"/>
              </a:rPr>
              <a:t> </a:t>
            </a:r>
            <a:r>
              <a:rPr sz="1687" u="sng" dirty="0">
                <a:latin typeface="Lucida Sans"/>
                <a:cs typeface="Lucida Sans"/>
              </a:rPr>
              <a:t>search</a:t>
            </a:r>
            <a:r>
              <a:rPr sz="1687" dirty="0">
                <a:latin typeface="Lucida Sans"/>
                <a:cs typeface="Lucida Sans"/>
              </a:rPr>
              <a:t>,</a:t>
            </a:r>
            <a:r>
              <a:rPr sz="1687" spc="-53" dirty="0">
                <a:latin typeface="Lucida Sans"/>
                <a:cs typeface="Lucida Sans"/>
              </a:rPr>
              <a:t> </a:t>
            </a:r>
            <a:r>
              <a:rPr sz="1687" dirty="0">
                <a:latin typeface="Lucida Sans"/>
                <a:cs typeface="Lucida Sans"/>
              </a:rPr>
              <a:t>packet</a:t>
            </a:r>
            <a:r>
              <a:rPr sz="1687" spc="-53" dirty="0">
                <a:latin typeface="Lucida Sans"/>
                <a:cs typeface="Lucida Sans"/>
              </a:rPr>
              <a:t> </a:t>
            </a:r>
            <a:r>
              <a:rPr sz="1687" dirty="0">
                <a:latin typeface="Lucida Sans"/>
                <a:cs typeface="Lucida Sans"/>
              </a:rPr>
              <a:t>routing,</a:t>
            </a:r>
            <a:r>
              <a:rPr sz="1687" spc="-53" dirty="0">
                <a:latin typeface="Lucida Sans"/>
                <a:cs typeface="Lucida Sans"/>
              </a:rPr>
              <a:t> </a:t>
            </a:r>
            <a:r>
              <a:rPr sz="1687" dirty="0">
                <a:latin typeface="Lucida Sans"/>
                <a:cs typeface="Lucida Sans"/>
              </a:rPr>
              <a:t>distributed</a:t>
            </a:r>
            <a:r>
              <a:rPr sz="1687" spc="-53" dirty="0">
                <a:latin typeface="Lucida Sans"/>
                <a:cs typeface="Lucida Sans"/>
              </a:rPr>
              <a:t> </a:t>
            </a:r>
            <a:r>
              <a:rPr sz="1687" dirty="0">
                <a:latin typeface="Lucida Sans"/>
                <a:cs typeface="Lucida Sans"/>
              </a:rPr>
              <a:t>file</a:t>
            </a:r>
            <a:r>
              <a:rPr sz="1687" spc="-53" dirty="0">
                <a:latin typeface="Lucida Sans"/>
                <a:cs typeface="Lucida Sans"/>
              </a:rPr>
              <a:t> </a:t>
            </a:r>
            <a:r>
              <a:rPr sz="1687" dirty="0">
                <a:latin typeface="Lucida Sans"/>
                <a:cs typeface="Lucida Sans"/>
              </a:rPr>
              <a:t>sharing,</a:t>
            </a:r>
            <a:r>
              <a:rPr sz="1687" spc="-53" dirty="0">
                <a:latin typeface="Lucida Sans"/>
                <a:cs typeface="Lucida Sans"/>
              </a:rPr>
              <a:t> </a:t>
            </a:r>
            <a:r>
              <a:rPr sz="1687" spc="-18" dirty="0">
                <a:latin typeface="Lucida Sans"/>
                <a:cs typeface="Lucida Sans"/>
              </a:rPr>
              <a:t>... </a:t>
            </a:r>
            <a:r>
              <a:rPr sz="1687" spc="-7" dirty="0">
                <a:solidFill>
                  <a:srgbClr val="005493"/>
                </a:solidFill>
                <a:latin typeface="Lucida Sans"/>
                <a:cs typeface="Lucida Sans"/>
              </a:rPr>
              <a:t>Biology.</a:t>
            </a:r>
            <a:r>
              <a:rPr sz="1687" dirty="0">
                <a:solidFill>
                  <a:srgbClr val="005493"/>
                </a:solidFill>
                <a:latin typeface="Lucida Sans"/>
                <a:cs typeface="Lucida Sans"/>
              </a:rPr>
              <a:t>	</a:t>
            </a:r>
            <a:r>
              <a:rPr sz="1687" dirty="0">
                <a:latin typeface="Lucida Sans"/>
                <a:cs typeface="Lucida Sans"/>
              </a:rPr>
              <a:t>Human</a:t>
            </a:r>
            <a:r>
              <a:rPr sz="1687" spc="-67" dirty="0">
                <a:latin typeface="Lucida Sans"/>
                <a:cs typeface="Lucida Sans"/>
              </a:rPr>
              <a:t> </a:t>
            </a:r>
            <a:r>
              <a:rPr sz="1687" dirty="0">
                <a:latin typeface="Lucida Sans"/>
                <a:cs typeface="Lucida Sans"/>
              </a:rPr>
              <a:t>genome</a:t>
            </a:r>
            <a:r>
              <a:rPr sz="1687" spc="-63" dirty="0">
                <a:latin typeface="Lucida Sans"/>
                <a:cs typeface="Lucida Sans"/>
              </a:rPr>
              <a:t> </a:t>
            </a:r>
            <a:r>
              <a:rPr sz="1687" dirty="0">
                <a:latin typeface="Lucida Sans"/>
                <a:cs typeface="Lucida Sans"/>
              </a:rPr>
              <a:t>project,</a:t>
            </a:r>
            <a:r>
              <a:rPr sz="1687" spc="-63" dirty="0">
                <a:latin typeface="Lucida Sans"/>
                <a:cs typeface="Lucida Sans"/>
              </a:rPr>
              <a:t> </a:t>
            </a:r>
            <a:r>
              <a:rPr sz="1687" dirty="0">
                <a:latin typeface="Lucida Sans"/>
                <a:cs typeface="Lucida Sans"/>
              </a:rPr>
              <a:t>protein</a:t>
            </a:r>
            <a:r>
              <a:rPr sz="1687" spc="-63" dirty="0">
                <a:latin typeface="Lucida Sans"/>
                <a:cs typeface="Lucida Sans"/>
              </a:rPr>
              <a:t> </a:t>
            </a:r>
            <a:r>
              <a:rPr sz="1687" dirty="0">
                <a:latin typeface="Lucida Sans"/>
                <a:cs typeface="Lucida Sans"/>
              </a:rPr>
              <a:t>folding,</a:t>
            </a:r>
            <a:r>
              <a:rPr sz="1687" spc="-63" dirty="0">
                <a:latin typeface="Lucida Sans"/>
                <a:cs typeface="Lucida Sans"/>
              </a:rPr>
              <a:t> </a:t>
            </a:r>
            <a:r>
              <a:rPr sz="1687" spc="-18" dirty="0">
                <a:latin typeface="Lucida Sans"/>
                <a:cs typeface="Lucida Sans"/>
              </a:rPr>
              <a:t>...</a:t>
            </a:r>
            <a:endParaRPr sz="1687" dirty="0">
              <a:latin typeface="Lucida Sans"/>
              <a:cs typeface="Lucida Sans"/>
            </a:endParaRPr>
          </a:p>
          <a:p>
            <a:pPr marL="8929" marR="924636">
              <a:lnSpc>
                <a:spcPct val="159700"/>
              </a:lnSpc>
              <a:tabLst>
                <a:tab pos="1020627" algn="l"/>
                <a:tab pos="1356371" algn="l"/>
                <a:tab pos="2204215" algn="l"/>
              </a:tabLst>
            </a:pPr>
            <a:r>
              <a:rPr sz="1687" spc="-7" dirty="0">
                <a:solidFill>
                  <a:srgbClr val="005493"/>
                </a:solidFill>
                <a:latin typeface="Lucida Sans"/>
                <a:cs typeface="Lucida Sans"/>
              </a:rPr>
              <a:t>Computers.</a:t>
            </a:r>
            <a:r>
              <a:rPr sz="1687" dirty="0">
                <a:solidFill>
                  <a:srgbClr val="005493"/>
                </a:solidFill>
                <a:latin typeface="Lucida Sans"/>
                <a:cs typeface="Lucida Sans"/>
              </a:rPr>
              <a:t>	</a:t>
            </a:r>
            <a:r>
              <a:rPr sz="1687" dirty="0">
                <a:latin typeface="Lucida Sans"/>
                <a:cs typeface="Lucida Sans"/>
              </a:rPr>
              <a:t>Circuit layout,</a:t>
            </a:r>
            <a:r>
              <a:rPr sz="1687" spc="4" dirty="0">
                <a:latin typeface="Lucida Sans"/>
                <a:cs typeface="Lucida Sans"/>
              </a:rPr>
              <a:t> </a:t>
            </a:r>
            <a:r>
              <a:rPr sz="1687" dirty="0">
                <a:latin typeface="Lucida Sans"/>
                <a:cs typeface="Lucida Sans"/>
              </a:rPr>
              <a:t>file</a:t>
            </a:r>
            <a:r>
              <a:rPr sz="1687" spc="4" dirty="0">
                <a:latin typeface="Lucida Sans"/>
                <a:cs typeface="Lucida Sans"/>
              </a:rPr>
              <a:t> </a:t>
            </a:r>
            <a:r>
              <a:rPr sz="1687" dirty="0">
                <a:latin typeface="Lucida Sans"/>
                <a:cs typeface="Lucida Sans"/>
              </a:rPr>
              <a:t>system,</a:t>
            </a:r>
            <a:r>
              <a:rPr sz="1687" spc="4" dirty="0">
                <a:latin typeface="Lucida Sans"/>
                <a:cs typeface="Lucida Sans"/>
              </a:rPr>
              <a:t> </a:t>
            </a:r>
            <a:r>
              <a:rPr sz="1687" dirty="0">
                <a:latin typeface="Lucida Sans"/>
                <a:cs typeface="Lucida Sans"/>
              </a:rPr>
              <a:t>compilers,</a:t>
            </a:r>
            <a:r>
              <a:rPr sz="1687" spc="4" dirty="0">
                <a:latin typeface="Lucida Sans"/>
                <a:cs typeface="Lucida Sans"/>
              </a:rPr>
              <a:t> </a:t>
            </a:r>
            <a:r>
              <a:rPr sz="1687" spc="-18" dirty="0">
                <a:latin typeface="Lucida Sans"/>
                <a:cs typeface="Lucida Sans"/>
              </a:rPr>
              <a:t>... </a:t>
            </a:r>
            <a:r>
              <a:rPr sz="1687" dirty="0">
                <a:solidFill>
                  <a:srgbClr val="005493"/>
                </a:solidFill>
                <a:latin typeface="Lucida Sans"/>
                <a:cs typeface="Lucida Sans"/>
              </a:rPr>
              <a:t>Computer</a:t>
            </a:r>
            <a:r>
              <a:rPr sz="1687" spc="-91" dirty="0">
                <a:solidFill>
                  <a:srgbClr val="005493"/>
                </a:solidFill>
                <a:latin typeface="Lucida Sans"/>
                <a:cs typeface="Lucida Sans"/>
              </a:rPr>
              <a:t> </a:t>
            </a:r>
            <a:r>
              <a:rPr sz="1687" spc="-7" dirty="0">
                <a:solidFill>
                  <a:srgbClr val="005493"/>
                </a:solidFill>
                <a:latin typeface="Lucida Sans"/>
                <a:cs typeface="Lucida Sans"/>
              </a:rPr>
              <a:t>graphics.</a:t>
            </a:r>
            <a:r>
              <a:rPr sz="1687" dirty="0">
                <a:solidFill>
                  <a:srgbClr val="005493"/>
                </a:solidFill>
                <a:latin typeface="Lucida Sans"/>
                <a:cs typeface="Lucida Sans"/>
              </a:rPr>
              <a:t>	</a:t>
            </a:r>
            <a:r>
              <a:rPr sz="1687" dirty="0">
                <a:latin typeface="Lucida Sans"/>
                <a:cs typeface="Lucida Sans"/>
              </a:rPr>
              <a:t>Movies,</a:t>
            </a:r>
            <a:r>
              <a:rPr sz="1687" spc="11" dirty="0">
                <a:latin typeface="Lucida Sans"/>
                <a:cs typeface="Lucida Sans"/>
              </a:rPr>
              <a:t> </a:t>
            </a:r>
            <a:r>
              <a:rPr sz="1687" dirty="0">
                <a:latin typeface="Lucida Sans"/>
                <a:cs typeface="Lucida Sans"/>
              </a:rPr>
              <a:t>video</a:t>
            </a:r>
            <a:r>
              <a:rPr sz="1687" spc="11" dirty="0">
                <a:latin typeface="Lucida Sans"/>
                <a:cs typeface="Lucida Sans"/>
              </a:rPr>
              <a:t> </a:t>
            </a:r>
            <a:r>
              <a:rPr sz="1687" dirty="0">
                <a:latin typeface="Lucida Sans"/>
                <a:cs typeface="Lucida Sans"/>
              </a:rPr>
              <a:t>games,</a:t>
            </a:r>
            <a:r>
              <a:rPr sz="1687" spc="11" dirty="0">
                <a:latin typeface="Lucida Sans"/>
                <a:cs typeface="Lucida Sans"/>
              </a:rPr>
              <a:t> </a:t>
            </a:r>
            <a:r>
              <a:rPr sz="1687" dirty="0">
                <a:latin typeface="Lucida Sans"/>
                <a:cs typeface="Lucida Sans"/>
              </a:rPr>
              <a:t>virtual</a:t>
            </a:r>
            <a:r>
              <a:rPr sz="1687" spc="11" dirty="0">
                <a:latin typeface="Lucida Sans"/>
                <a:cs typeface="Lucida Sans"/>
              </a:rPr>
              <a:t> </a:t>
            </a:r>
            <a:r>
              <a:rPr sz="1687" spc="-14" dirty="0">
                <a:latin typeface="Lucida Sans"/>
                <a:cs typeface="Lucida Sans"/>
              </a:rPr>
              <a:t>reality,</a:t>
            </a:r>
            <a:r>
              <a:rPr sz="1687" spc="14" dirty="0">
                <a:latin typeface="Lucida Sans"/>
                <a:cs typeface="Lucida Sans"/>
              </a:rPr>
              <a:t> </a:t>
            </a:r>
            <a:r>
              <a:rPr sz="1687" spc="-18" dirty="0">
                <a:latin typeface="Lucida Sans"/>
                <a:cs typeface="Lucida Sans"/>
              </a:rPr>
              <a:t>... </a:t>
            </a:r>
            <a:r>
              <a:rPr sz="1687" spc="-7" dirty="0">
                <a:solidFill>
                  <a:srgbClr val="005493"/>
                </a:solidFill>
                <a:latin typeface="Lucida Sans"/>
                <a:cs typeface="Lucida Sans"/>
              </a:rPr>
              <a:t>Security.</a:t>
            </a:r>
            <a:r>
              <a:rPr sz="1687" dirty="0">
                <a:solidFill>
                  <a:srgbClr val="005493"/>
                </a:solidFill>
                <a:latin typeface="Lucida Sans"/>
                <a:cs typeface="Lucida Sans"/>
              </a:rPr>
              <a:t>	</a:t>
            </a:r>
            <a:r>
              <a:rPr sz="1687" dirty="0">
                <a:latin typeface="Lucida Sans"/>
                <a:cs typeface="Lucida Sans"/>
              </a:rPr>
              <a:t>Cell</a:t>
            </a:r>
            <a:r>
              <a:rPr sz="1687" spc="-14" dirty="0">
                <a:latin typeface="Lucida Sans"/>
                <a:cs typeface="Lucida Sans"/>
              </a:rPr>
              <a:t> </a:t>
            </a:r>
            <a:r>
              <a:rPr sz="1687" dirty="0">
                <a:latin typeface="Lucida Sans"/>
                <a:cs typeface="Lucida Sans"/>
              </a:rPr>
              <a:t>phones</a:t>
            </a:r>
            <a:r>
              <a:rPr sz="1687" u="sng" dirty="0">
                <a:latin typeface="Lucida Sans"/>
                <a:cs typeface="Lucida Sans"/>
              </a:rPr>
              <a:t>,</a:t>
            </a:r>
            <a:r>
              <a:rPr sz="1687" u="sng" spc="-14" dirty="0">
                <a:latin typeface="Lucida Sans"/>
                <a:cs typeface="Lucida Sans"/>
              </a:rPr>
              <a:t> </a:t>
            </a:r>
            <a:r>
              <a:rPr sz="1687" u="sng" dirty="0">
                <a:latin typeface="Lucida Sans"/>
                <a:cs typeface="Lucida Sans"/>
              </a:rPr>
              <a:t>e-commerce</a:t>
            </a:r>
            <a:r>
              <a:rPr sz="1687" dirty="0">
                <a:latin typeface="Lucida Sans"/>
                <a:cs typeface="Lucida Sans"/>
              </a:rPr>
              <a:t>,</a:t>
            </a:r>
            <a:r>
              <a:rPr sz="1687" spc="-14" dirty="0">
                <a:latin typeface="Lucida Sans"/>
                <a:cs typeface="Lucida Sans"/>
              </a:rPr>
              <a:t> </a:t>
            </a:r>
            <a:r>
              <a:rPr sz="1687" dirty="0">
                <a:latin typeface="Lucida Sans"/>
                <a:cs typeface="Lucida Sans"/>
              </a:rPr>
              <a:t>voting</a:t>
            </a:r>
            <a:r>
              <a:rPr sz="1687" spc="-14" dirty="0">
                <a:latin typeface="Lucida Sans"/>
                <a:cs typeface="Lucida Sans"/>
              </a:rPr>
              <a:t> </a:t>
            </a:r>
            <a:r>
              <a:rPr sz="1687" dirty="0">
                <a:latin typeface="Lucida Sans"/>
                <a:cs typeface="Lucida Sans"/>
              </a:rPr>
              <a:t>machines,</a:t>
            </a:r>
            <a:r>
              <a:rPr sz="1687" spc="-11" dirty="0">
                <a:latin typeface="Lucida Sans"/>
                <a:cs typeface="Lucida Sans"/>
              </a:rPr>
              <a:t> </a:t>
            </a:r>
            <a:r>
              <a:rPr sz="1687" spc="-18" dirty="0">
                <a:latin typeface="Lucida Sans"/>
                <a:cs typeface="Lucida Sans"/>
              </a:rPr>
              <a:t>...</a:t>
            </a:r>
            <a:endParaRPr sz="1687" dirty="0">
              <a:latin typeface="Lucida Sans"/>
              <a:cs typeface="Lucida Sans"/>
            </a:endParaRPr>
          </a:p>
          <a:p>
            <a:pPr marL="8929">
              <a:spcBef>
                <a:spcPts val="1209"/>
              </a:spcBef>
              <a:tabLst>
                <a:tab pos="1367979" algn="l"/>
              </a:tabLst>
            </a:pPr>
            <a:r>
              <a:rPr sz="1687" spc="-7" dirty="0">
                <a:solidFill>
                  <a:srgbClr val="005493"/>
                </a:solidFill>
                <a:latin typeface="Lucida Sans"/>
                <a:cs typeface="Lucida Sans"/>
              </a:rPr>
              <a:t>Multimedia.</a:t>
            </a:r>
            <a:r>
              <a:rPr sz="1687" dirty="0">
                <a:solidFill>
                  <a:srgbClr val="005493"/>
                </a:solidFill>
                <a:latin typeface="Lucida Sans"/>
                <a:cs typeface="Lucida Sans"/>
              </a:rPr>
              <a:t>	</a:t>
            </a:r>
            <a:r>
              <a:rPr sz="1687" dirty="0">
                <a:latin typeface="Lucida Sans"/>
                <a:cs typeface="Lucida Sans"/>
              </a:rPr>
              <a:t>MP3,</a:t>
            </a:r>
            <a:r>
              <a:rPr sz="1687" spc="-11" dirty="0">
                <a:latin typeface="Lucida Sans"/>
                <a:cs typeface="Lucida Sans"/>
              </a:rPr>
              <a:t> </a:t>
            </a:r>
            <a:r>
              <a:rPr sz="1687" dirty="0">
                <a:latin typeface="Lucida Sans"/>
                <a:cs typeface="Lucida Sans"/>
              </a:rPr>
              <a:t>JPG,</a:t>
            </a:r>
            <a:r>
              <a:rPr sz="1687" spc="-7" dirty="0">
                <a:latin typeface="Lucida Sans"/>
                <a:cs typeface="Lucida Sans"/>
              </a:rPr>
              <a:t> </a:t>
            </a:r>
            <a:r>
              <a:rPr sz="1687" dirty="0">
                <a:latin typeface="Lucida Sans"/>
                <a:cs typeface="Lucida Sans"/>
              </a:rPr>
              <a:t>DivX,</a:t>
            </a:r>
            <a:r>
              <a:rPr sz="1687" spc="-7" dirty="0">
                <a:latin typeface="Lucida Sans"/>
                <a:cs typeface="Lucida Sans"/>
              </a:rPr>
              <a:t> </a:t>
            </a:r>
            <a:r>
              <a:rPr sz="1687" spc="-39" dirty="0">
                <a:latin typeface="Lucida Sans"/>
                <a:cs typeface="Lucida Sans"/>
              </a:rPr>
              <a:t>HDTV,</a:t>
            </a:r>
            <a:r>
              <a:rPr sz="1687" spc="-7" dirty="0">
                <a:latin typeface="Lucida Sans"/>
                <a:cs typeface="Lucida Sans"/>
              </a:rPr>
              <a:t> </a:t>
            </a:r>
            <a:r>
              <a:rPr sz="1687" dirty="0">
                <a:latin typeface="Lucida Sans"/>
                <a:cs typeface="Lucida Sans"/>
              </a:rPr>
              <a:t>face</a:t>
            </a:r>
            <a:r>
              <a:rPr sz="1687" spc="-7" dirty="0">
                <a:latin typeface="Lucida Sans"/>
                <a:cs typeface="Lucida Sans"/>
              </a:rPr>
              <a:t> </a:t>
            </a:r>
            <a:r>
              <a:rPr sz="1687" dirty="0">
                <a:latin typeface="Lucida Sans"/>
                <a:cs typeface="Lucida Sans"/>
              </a:rPr>
              <a:t>recognition,</a:t>
            </a:r>
            <a:r>
              <a:rPr sz="1687" spc="-7" dirty="0">
                <a:latin typeface="Lucida Sans"/>
                <a:cs typeface="Lucida Sans"/>
              </a:rPr>
              <a:t> </a:t>
            </a:r>
            <a:r>
              <a:rPr sz="1687" spc="-18" dirty="0">
                <a:latin typeface="Lucida Sans"/>
                <a:cs typeface="Lucida Sans"/>
              </a:rPr>
              <a:t>...</a:t>
            </a:r>
            <a:endParaRPr sz="1687" dirty="0">
              <a:latin typeface="Lucida Sans"/>
              <a:cs typeface="Lucida Sans"/>
            </a:endParaRPr>
          </a:p>
          <a:p>
            <a:pPr marL="8929" marR="3572">
              <a:lnSpc>
                <a:spcPct val="159700"/>
              </a:lnSpc>
              <a:tabLst>
                <a:tab pos="976427" algn="l"/>
                <a:tab pos="1846147" algn="l"/>
              </a:tabLst>
            </a:pPr>
            <a:r>
              <a:rPr sz="1687" dirty="0">
                <a:solidFill>
                  <a:srgbClr val="005493"/>
                </a:solidFill>
                <a:latin typeface="Lucida Sans"/>
                <a:cs typeface="Lucida Sans"/>
              </a:rPr>
              <a:t>Social</a:t>
            </a:r>
            <a:r>
              <a:rPr sz="1687" spc="-4" dirty="0">
                <a:solidFill>
                  <a:srgbClr val="005493"/>
                </a:solidFill>
                <a:latin typeface="Lucida Sans"/>
                <a:cs typeface="Lucida Sans"/>
              </a:rPr>
              <a:t> </a:t>
            </a:r>
            <a:r>
              <a:rPr sz="1687" spc="-7" dirty="0">
                <a:solidFill>
                  <a:srgbClr val="005493"/>
                </a:solidFill>
                <a:latin typeface="Lucida Sans"/>
                <a:cs typeface="Lucida Sans"/>
              </a:rPr>
              <a:t>networks.</a:t>
            </a:r>
            <a:r>
              <a:rPr sz="1687" dirty="0">
                <a:solidFill>
                  <a:srgbClr val="005493"/>
                </a:solidFill>
                <a:latin typeface="Lucida Sans"/>
                <a:cs typeface="Lucida Sans"/>
              </a:rPr>
              <a:t>	</a:t>
            </a:r>
            <a:r>
              <a:rPr sz="1687" u="sng" dirty="0">
                <a:latin typeface="Lucida Sans"/>
                <a:cs typeface="Lucida Sans"/>
              </a:rPr>
              <a:t>Recommendations</a:t>
            </a:r>
            <a:r>
              <a:rPr sz="1687" dirty="0">
                <a:latin typeface="Lucida Sans"/>
                <a:cs typeface="Lucida Sans"/>
              </a:rPr>
              <a:t>,</a:t>
            </a:r>
            <a:r>
              <a:rPr sz="1687" spc="4" dirty="0">
                <a:latin typeface="Lucida Sans"/>
                <a:cs typeface="Lucida Sans"/>
              </a:rPr>
              <a:t> </a:t>
            </a:r>
            <a:r>
              <a:rPr sz="1687" dirty="0">
                <a:latin typeface="Lucida Sans"/>
                <a:cs typeface="Lucida Sans"/>
              </a:rPr>
              <a:t>news</a:t>
            </a:r>
            <a:r>
              <a:rPr sz="1687" spc="4" dirty="0">
                <a:latin typeface="Lucida Sans"/>
                <a:cs typeface="Lucida Sans"/>
              </a:rPr>
              <a:t> </a:t>
            </a:r>
            <a:r>
              <a:rPr sz="1687" dirty="0">
                <a:latin typeface="Lucida Sans"/>
                <a:cs typeface="Lucida Sans"/>
              </a:rPr>
              <a:t>feeds,</a:t>
            </a:r>
            <a:r>
              <a:rPr sz="1687" spc="7" dirty="0">
                <a:latin typeface="Lucida Sans"/>
                <a:cs typeface="Lucida Sans"/>
              </a:rPr>
              <a:t> </a:t>
            </a:r>
            <a:r>
              <a:rPr sz="1687" dirty="0">
                <a:latin typeface="Lucida Sans"/>
                <a:cs typeface="Lucida Sans"/>
              </a:rPr>
              <a:t>advertisements,</a:t>
            </a:r>
            <a:r>
              <a:rPr sz="1687" spc="4" dirty="0">
                <a:latin typeface="Lucida Sans"/>
                <a:cs typeface="Lucida Sans"/>
              </a:rPr>
              <a:t> </a:t>
            </a:r>
            <a:r>
              <a:rPr sz="1687" spc="-18" dirty="0">
                <a:latin typeface="Lucida Sans"/>
                <a:cs typeface="Lucida Sans"/>
              </a:rPr>
              <a:t>... </a:t>
            </a:r>
            <a:r>
              <a:rPr sz="1687" spc="-7" dirty="0">
                <a:solidFill>
                  <a:srgbClr val="005493"/>
                </a:solidFill>
                <a:latin typeface="Lucida Sans"/>
                <a:cs typeface="Lucida Sans"/>
              </a:rPr>
              <a:t>Physics.</a:t>
            </a:r>
            <a:r>
              <a:rPr sz="1687" dirty="0">
                <a:solidFill>
                  <a:srgbClr val="005493"/>
                </a:solidFill>
                <a:latin typeface="Lucida Sans"/>
                <a:cs typeface="Lucida Sans"/>
              </a:rPr>
              <a:t>	</a:t>
            </a:r>
            <a:r>
              <a:rPr sz="1687" dirty="0">
                <a:latin typeface="Lucida Sans"/>
                <a:cs typeface="Lucida Sans"/>
              </a:rPr>
              <a:t>N-body</a:t>
            </a:r>
            <a:r>
              <a:rPr sz="1687" spc="-32" dirty="0">
                <a:latin typeface="Lucida Sans"/>
                <a:cs typeface="Lucida Sans"/>
              </a:rPr>
              <a:t> </a:t>
            </a:r>
            <a:r>
              <a:rPr sz="1687" dirty="0">
                <a:latin typeface="Lucida Sans"/>
                <a:cs typeface="Lucida Sans"/>
              </a:rPr>
              <a:t>simulation,</a:t>
            </a:r>
            <a:r>
              <a:rPr sz="1687" spc="-28" dirty="0">
                <a:latin typeface="Lucida Sans"/>
                <a:cs typeface="Lucida Sans"/>
              </a:rPr>
              <a:t> </a:t>
            </a:r>
            <a:r>
              <a:rPr sz="1687" dirty="0">
                <a:latin typeface="Lucida Sans"/>
                <a:cs typeface="Lucida Sans"/>
              </a:rPr>
              <a:t>particle</a:t>
            </a:r>
            <a:r>
              <a:rPr sz="1687" spc="-28" dirty="0">
                <a:latin typeface="Lucida Sans"/>
                <a:cs typeface="Lucida Sans"/>
              </a:rPr>
              <a:t> </a:t>
            </a:r>
            <a:r>
              <a:rPr sz="1687" dirty="0">
                <a:latin typeface="Lucida Sans"/>
                <a:cs typeface="Lucida Sans"/>
              </a:rPr>
              <a:t>collision</a:t>
            </a:r>
            <a:r>
              <a:rPr sz="1687" spc="-28" dirty="0">
                <a:latin typeface="Lucida Sans"/>
                <a:cs typeface="Lucida Sans"/>
              </a:rPr>
              <a:t> </a:t>
            </a:r>
            <a:r>
              <a:rPr sz="1687" dirty="0">
                <a:latin typeface="Lucida Sans"/>
                <a:cs typeface="Lucida Sans"/>
              </a:rPr>
              <a:t>simulation,</a:t>
            </a:r>
            <a:r>
              <a:rPr sz="1687" spc="-28" dirty="0">
                <a:latin typeface="Lucida Sans"/>
                <a:cs typeface="Lucida Sans"/>
              </a:rPr>
              <a:t> </a:t>
            </a:r>
            <a:r>
              <a:rPr sz="1687" spc="-18" dirty="0">
                <a:latin typeface="Lucida Sans"/>
                <a:cs typeface="Lucida Sans"/>
              </a:rPr>
              <a:t>...</a:t>
            </a:r>
            <a:endParaRPr sz="1687" dirty="0">
              <a:latin typeface="Lucida Sans"/>
              <a:cs typeface="Lucida Sans"/>
            </a:endParaRPr>
          </a:p>
          <a:p>
            <a:pPr marL="279489">
              <a:spcBef>
                <a:spcPts val="1209"/>
              </a:spcBef>
            </a:pPr>
            <a:r>
              <a:rPr sz="1687" spc="-650" dirty="0">
                <a:latin typeface="Lucida Sans Unicode"/>
                <a:cs typeface="Lucida Sans Unicode"/>
              </a:rPr>
              <a:t>⋮</a:t>
            </a:r>
            <a:endParaRPr sz="1687" dirty="0">
              <a:latin typeface="Lucida Sans Unicode"/>
              <a:cs typeface="Lucida Sans Unicode"/>
            </a:endParaRPr>
          </a:p>
        </p:txBody>
      </p:sp>
      <p:sp>
        <p:nvSpPr>
          <p:cNvPr id="3" name="object 3"/>
          <p:cNvSpPr txBox="1">
            <a:spLocks noGrp="1"/>
          </p:cNvSpPr>
          <p:nvPr>
            <p:ph type="title"/>
          </p:nvPr>
        </p:nvSpPr>
        <p:spPr>
          <a:xfrm>
            <a:off x="513754" y="195338"/>
            <a:ext cx="7730654"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spc="109" dirty="0"/>
              <a:t>Why</a:t>
            </a:r>
            <a:r>
              <a:rPr spc="-49" dirty="0"/>
              <a:t> </a:t>
            </a:r>
            <a:r>
              <a:rPr dirty="0"/>
              <a:t>study</a:t>
            </a:r>
            <a:r>
              <a:rPr spc="-49" dirty="0"/>
              <a:t> </a:t>
            </a:r>
            <a:r>
              <a:rPr spc="-7" dirty="0"/>
              <a:t>algorithms?</a:t>
            </a:r>
          </a:p>
        </p:txBody>
      </p:sp>
      <p:pic>
        <p:nvPicPr>
          <p:cNvPr id="4" name="object 4"/>
          <p:cNvPicPr/>
          <p:nvPr/>
        </p:nvPicPr>
        <p:blipFill>
          <a:blip r:embed="rId2" cstate="print"/>
          <a:stretch>
            <a:fillRect/>
          </a:stretch>
        </p:blipFill>
        <p:spPr>
          <a:xfrm>
            <a:off x="3214688" y="5338613"/>
            <a:ext cx="794742" cy="1357647"/>
          </a:xfrm>
          <a:prstGeom prst="rect">
            <a:avLst/>
          </a:prstGeom>
        </p:spPr>
      </p:pic>
      <p:pic>
        <p:nvPicPr>
          <p:cNvPr id="5" name="object 5"/>
          <p:cNvPicPr/>
          <p:nvPr/>
        </p:nvPicPr>
        <p:blipFill>
          <a:blip r:embed="rId3" cstate="print"/>
          <a:stretch>
            <a:fillRect/>
          </a:stretch>
        </p:blipFill>
        <p:spPr>
          <a:xfrm>
            <a:off x="4125516" y="5339953"/>
            <a:ext cx="1446609" cy="1285875"/>
          </a:xfrm>
          <a:prstGeom prst="rect">
            <a:avLst/>
          </a:prstGeom>
        </p:spPr>
      </p:pic>
      <p:pic>
        <p:nvPicPr>
          <p:cNvPr id="6" name="object 6"/>
          <p:cNvPicPr/>
          <p:nvPr/>
        </p:nvPicPr>
        <p:blipFill>
          <a:blip r:embed="rId4" cstate="print"/>
          <a:stretch>
            <a:fillRect/>
          </a:stretch>
        </p:blipFill>
        <p:spPr>
          <a:xfrm>
            <a:off x="5688211" y="5357813"/>
            <a:ext cx="1723430" cy="1285875"/>
          </a:xfrm>
          <a:prstGeom prst="rect">
            <a:avLst/>
          </a:prstGeom>
        </p:spPr>
      </p:pic>
      <p:pic>
        <p:nvPicPr>
          <p:cNvPr id="7" name="object 7"/>
          <p:cNvPicPr/>
          <p:nvPr/>
        </p:nvPicPr>
        <p:blipFill>
          <a:blip r:embed="rId5" cstate="print"/>
          <a:stretch>
            <a:fillRect/>
          </a:stretch>
        </p:blipFill>
        <p:spPr>
          <a:xfrm>
            <a:off x="1980162" y="5311513"/>
            <a:ext cx="1116954" cy="1330523"/>
          </a:xfrm>
          <a:prstGeom prst="rect">
            <a:avLst/>
          </a:prstGeom>
        </p:spPr>
      </p:pic>
      <p:pic>
        <p:nvPicPr>
          <p:cNvPr id="8" name="object 8"/>
          <p:cNvPicPr/>
          <p:nvPr/>
        </p:nvPicPr>
        <p:blipFill>
          <a:blip r:embed="rId6" cstate="print"/>
          <a:stretch>
            <a:fillRect/>
          </a:stretch>
        </p:blipFill>
        <p:spPr>
          <a:xfrm>
            <a:off x="2578779" y="5262473"/>
            <a:ext cx="42957" cy="2220"/>
          </a:xfrm>
          <a:prstGeom prst="rect">
            <a:avLst/>
          </a:prstGeom>
        </p:spPr>
      </p:pic>
      <p:pic>
        <p:nvPicPr>
          <p:cNvPr id="9" name="object 9"/>
          <p:cNvPicPr/>
          <p:nvPr/>
        </p:nvPicPr>
        <p:blipFill>
          <a:blip r:embed="rId7" cstate="print"/>
          <a:stretch>
            <a:fillRect/>
          </a:stretch>
        </p:blipFill>
        <p:spPr>
          <a:xfrm>
            <a:off x="7527727" y="5357812"/>
            <a:ext cx="1100708" cy="1268016"/>
          </a:xfrm>
          <a:prstGeom prst="rect">
            <a:avLst/>
          </a:prstGeom>
        </p:spPr>
      </p:pic>
      <p:pic>
        <p:nvPicPr>
          <p:cNvPr id="10" name="object 10"/>
          <p:cNvPicPr/>
          <p:nvPr/>
        </p:nvPicPr>
        <p:blipFill>
          <a:blip r:embed="rId8" cstate="print"/>
          <a:stretch>
            <a:fillRect/>
          </a:stretch>
        </p:blipFill>
        <p:spPr>
          <a:xfrm>
            <a:off x="669727" y="5331023"/>
            <a:ext cx="1196578" cy="1294805"/>
          </a:xfrm>
          <a:prstGeom prst="rect">
            <a:avLst/>
          </a:prstGeom>
        </p:spPr>
      </p:pic>
    </p:spTree>
    <p:extLst>
      <p:ext uri="{BB962C8B-B14F-4D97-AF65-F5344CB8AC3E}">
        <p14:creationId xmlns:p14="http://schemas.microsoft.com/office/powerpoint/2010/main" val="462863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1650" y="1302752"/>
            <a:ext cx="1924348" cy="268640"/>
          </a:xfrm>
          <a:prstGeom prst="rect">
            <a:avLst/>
          </a:prstGeom>
        </p:spPr>
        <p:txBody>
          <a:bodyPr vert="horz" wrap="square" lIns="0" tIns="8930" rIns="0" bIns="0" rtlCol="0">
            <a:spAutoFit/>
          </a:bodyPr>
          <a:lstStyle/>
          <a:p>
            <a:pPr marL="8929">
              <a:spcBef>
                <a:spcPts val="70"/>
              </a:spcBef>
            </a:pPr>
            <a:r>
              <a:rPr sz="1687" dirty="0">
                <a:solidFill>
                  <a:srgbClr val="005493"/>
                </a:solidFill>
                <a:latin typeface="Lucida Sans"/>
                <a:cs typeface="Lucida Sans"/>
              </a:rPr>
              <a:t>For</a:t>
            </a:r>
            <a:r>
              <a:rPr sz="1687" spc="-32" dirty="0">
                <a:solidFill>
                  <a:srgbClr val="005493"/>
                </a:solidFill>
                <a:latin typeface="Lucida Sans"/>
                <a:cs typeface="Lucida Sans"/>
              </a:rPr>
              <a:t> </a:t>
            </a:r>
            <a:r>
              <a:rPr sz="1687" dirty="0">
                <a:solidFill>
                  <a:srgbClr val="005493"/>
                </a:solidFill>
                <a:latin typeface="Lucida Sans"/>
                <a:cs typeface="Lucida Sans"/>
              </a:rPr>
              <a:t>fun</a:t>
            </a:r>
            <a:r>
              <a:rPr sz="1687" spc="-32" dirty="0">
                <a:solidFill>
                  <a:srgbClr val="005493"/>
                </a:solidFill>
                <a:latin typeface="Lucida Sans"/>
                <a:cs typeface="Lucida Sans"/>
              </a:rPr>
              <a:t> </a:t>
            </a:r>
            <a:r>
              <a:rPr sz="1687" dirty="0">
                <a:solidFill>
                  <a:srgbClr val="005493"/>
                </a:solidFill>
                <a:latin typeface="Lucida Sans"/>
                <a:cs typeface="Lucida Sans"/>
              </a:rPr>
              <a:t>and</a:t>
            </a:r>
            <a:r>
              <a:rPr sz="1687" spc="-32" dirty="0">
                <a:solidFill>
                  <a:srgbClr val="005493"/>
                </a:solidFill>
                <a:latin typeface="Lucida Sans"/>
                <a:cs typeface="Lucida Sans"/>
              </a:rPr>
              <a:t> </a:t>
            </a:r>
            <a:r>
              <a:rPr sz="1687" spc="-7" dirty="0">
                <a:solidFill>
                  <a:srgbClr val="005493"/>
                </a:solidFill>
                <a:latin typeface="Lucida Sans"/>
                <a:cs typeface="Lucida Sans"/>
              </a:rPr>
              <a:t>profit.</a:t>
            </a:r>
            <a:endParaRPr sz="1687" dirty="0">
              <a:latin typeface="Lucida Sans"/>
              <a:cs typeface="Lucida Sans"/>
            </a:endParaRPr>
          </a:p>
        </p:txBody>
      </p:sp>
      <p:grpSp>
        <p:nvGrpSpPr>
          <p:cNvPr id="6" name="object 6"/>
          <p:cNvGrpSpPr/>
          <p:nvPr/>
        </p:nvGrpSpPr>
        <p:grpSpPr>
          <a:xfrm>
            <a:off x="7017474" y="4761550"/>
            <a:ext cx="1964531" cy="803672"/>
            <a:chOff x="3746500" y="8089900"/>
            <a:chExt cx="2794000" cy="1143000"/>
          </a:xfrm>
        </p:grpSpPr>
        <p:sp>
          <p:nvSpPr>
            <p:cNvPr id="7" name="object 7"/>
            <p:cNvSpPr/>
            <p:nvPr/>
          </p:nvSpPr>
          <p:spPr>
            <a:xfrm>
              <a:off x="3746500" y="8089900"/>
              <a:ext cx="2794000" cy="1143000"/>
            </a:xfrm>
            <a:custGeom>
              <a:avLst/>
              <a:gdLst/>
              <a:ahLst/>
              <a:cxnLst/>
              <a:rect l="l" t="t" r="r" b="b"/>
              <a:pathLst>
                <a:path w="2794000" h="1143000">
                  <a:moveTo>
                    <a:pt x="0" y="0"/>
                  </a:moveTo>
                  <a:lnTo>
                    <a:pt x="2794000" y="0"/>
                  </a:lnTo>
                  <a:lnTo>
                    <a:pt x="2794000" y="1143000"/>
                  </a:lnTo>
                  <a:lnTo>
                    <a:pt x="0" y="1143000"/>
                  </a:lnTo>
                  <a:lnTo>
                    <a:pt x="0" y="0"/>
                  </a:lnTo>
                  <a:close/>
                </a:path>
              </a:pathLst>
            </a:custGeom>
            <a:solidFill>
              <a:srgbClr val="FFFFFF"/>
            </a:solidFill>
          </p:spPr>
          <p:txBody>
            <a:bodyPr wrap="square" lIns="0" tIns="0" rIns="0" bIns="0" rtlCol="0"/>
            <a:lstStyle/>
            <a:p>
              <a:endParaRPr sz="2109"/>
            </a:p>
          </p:txBody>
        </p:sp>
        <p:sp>
          <p:nvSpPr>
            <p:cNvPr id="8" name="object 8"/>
            <p:cNvSpPr/>
            <p:nvPr/>
          </p:nvSpPr>
          <p:spPr>
            <a:xfrm>
              <a:off x="4064000" y="8559812"/>
              <a:ext cx="2159000" cy="269875"/>
            </a:xfrm>
            <a:custGeom>
              <a:avLst/>
              <a:gdLst/>
              <a:ahLst/>
              <a:cxnLst/>
              <a:rect l="l" t="t" r="r" b="b"/>
              <a:pathLst>
                <a:path w="2159000" h="269875">
                  <a:moveTo>
                    <a:pt x="182626" y="263944"/>
                  </a:moveTo>
                  <a:lnTo>
                    <a:pt x="172796" y="222440"/>
                  </a:lnTo>
                  <a:lnTo>
                    <a:pt x="172720" y="221399"/>
                  </a:lnTo>
                  <a:lnTo>
                    <a:pt x="172135" y="209994"/>
                  </a:lnTo>
                  <a:lnTo>
                    <a:pt x="171754" y="197535"/>
                  </a:lnTo>
                  <a:lnTo>
                    <a:pt x="171627" y="188328"/>
                  </a:lnTo>
                  <a:lnTo>
                    <a:pt x="171564" y="143141"/>
                  </a:lnTo>
                  <a:lnTo>
                    <a:pt x="171488" y="99809"/>
                  </a:lnTo>
                  <a:lnTo>
                    <a:pt x="171196" y="83223"/>
                  </a:lnTo>
                  <a:lnTo>
                    <a:pt x="170053" y="66598"/>
                  </a:lnTo>
                  <a:lnTo>
                    <a:pt x="168656" y="57378"/>
                  </a:lnTo>
                  <a:lnTo>
                    <a:pt x="168059" y="53428"/>
                  </a:lnTo>
                  <a:lnTo>
                    <a:pt x="141109" y="16814"/>
                  </a:lnTo>
                  <a:lnTo>
                    <a:pt x="89471" y="5740"/>
                  </a:lnTo>
                  <a:lnTo>
                    <a:pt x="71843" y="6921"/>
                  </a:lnTo>
                  <a:lnTo>
                    <a:pt x="32270" y="23253"/>
                  </a:lnTo>
                  <a:lnTo>
                    <a:pt x="9842" y="60731"/>
                  </a:lnTo>
                  <a:lnTo>
                    <a:pt x="5524" y="77660"/>
                  </a:lnTo>
                  <a:lnTo>
                    <a:pt x="51650" y="88734"/>
                  </a:lnTo>
                  <a:lnTo>
                    <a:pt x="54444" y="80429"/>
                  </a:lnTo>
                  <a:lnTo>
                    <a:pt x="57416" y="73520"/>
                  </a:lnTo>
                  <a:lnTo>
                    <a:pt x="60731" y="67983"/>
                  </a:lnTo>
                  <a:lnTo>
                    <a:pt x="64566" y="63842"/>
                  </a:lnTo>
                  <a:lnTo>
                    <a:pt x="69176" y="59207"/>
                  </a:lnTo>
                  <a:lnTo>
                    <a:pt x="76555" y="57378"/>
                  </a:lnTo>
                  <a:lnTo>
                    <a:pt x="85775" y="57378"/>
                  </a:lnTo>
                  <a:lnTo>
                    <a:pt x="119214" y="76276"/>
                  </a:lnTo>
                  <a:lnTo>
                    <a:pt x="120815" y="92417"/>
                  </a:lnTo>
                  <a:lnTo>
                    <a:pt x="120815" y="99809"/>
                  </a:lnTo>
                  <a:lnTo>
                    <a:pt x="120815" y="143141"/>
                  </a:lnTo>
                  <a:lnTo>
                    <a:pt x="120040" y="183667"/>
                  </a:lnTo>
                  <a:lnTo>
                    <a:pt x="93967" y="219684"/>
                  </a:lnTo>
                  <a:lnTo>
                    <a:pt x="80238" y="222440"/>
                  </a:lnTo>
                  <a:lnTo>
                    <a:pt x="71945" y="222440"/>
                  </a:lnTo>
                  <a:lnTo>
                    <a:pt x="64566" y="219671"/>
                  </a:lnTo>
                  <a:lnTo>
                    <a:pt x="59956" y="212280"/>
                  </a:lnTo>
                  <a:lnTo>
                    <a:pt x="54419" y="205854"/>
                  </a:lnTo>
                  <a:lnTo>
                    <a:pt x="51650" y="197535"/>
                  </a:lnTo>
                  <a:lnTo>
                    <a:pt x="51650" y="188328"/>
                  </a:lnTo>
                  <a:lnTo>
                    <a:pt x="79959" y="156044"/>
                  </a:lnTo>
                  <a:lnTo>
                    <a:pt x="99682" y="150533"/>
                  </a:lnTo>
                  <a:lnTo>
                    <a:pt x="108254" y="147866"/>
                  </a:lnTo>
                  <a:lnTo>
                    <a:pt x="115277" y="145376"/>
                  </a:lnTo>
                  <a:lnTo>
                    <a:pt x="120815" y="143141"/>
                  </a:lnTo>
                  <a:lnTo>
                    <a:pt x="120815" y="99809"/>
                  </a:lnTo>
                  <a:lnTo>
                    <a:pt x="112522" y="103416"/>
                  </a:lnTo>
                  <a:lnTo>
                    <a:pt x="101447" y="107289"/>
                  </a:lnTo>
                  <a:lnTo>
                    <a:pt x="87617" y="111340"/>
                  </a:lnTo>
                  <a:lnTo>
                    <a:pt x="71018" y="115468"/>
                  </a:lnTo>
                  <a:lnTo>
                    <a:pt x="58572" y="119087"/>
                  </a:lnTo>
                  <a:lnTo>
                    <a:pt x="22948" y="136347"/>
                  </a:lnTo>
                  <a:lnTo>
                    <a:pt x="1955" y="174828"/>
                  </a:lnTo>
                  <a:lnTo>
                    <a:pt x="0" y="194779"/>
                  </a:lnTo>
                  <a:lnTo>
                    <a:pt x="1054" y="210540"/>
                  </a:lnTo>
                  <a:lnTo>
                    <a:pt x="17526" y="249199"/>
                  </a:lnTo>
                  <a:lnTo>
                    <a:pt x="64566" y="269468"/>
                  </a:lnTo>
                  <a:lnTo>
                    <a:pt x="72847" y="268947"/>
                  </a:lnTo>
                  <a:lnTo>
                    <a:pt x="111480" y="250786"/>
                  </a:lnTo>
                  <a:lnTo>
                    <a:pt x="125437" y="236270"/>
                  </a:lnTo>
                  <a:lnTo>
                    <a:pt x="125437" y="238137"/>
                  </a:lnTo>
                  <a:lnTo>
                    <a:pt x="126365" y="240880"/>
                  </a:lnTo>
                  <a:lnTo>
                    <a:pt x="127292" y="244576"/>
                  </a:lnTo>
                  <a:lnTo>
                    <a:pt x="129133" y="252882"/>
                  </a:lnTo>
                  <a:lnTo>
                    <a:pt x="130962" y="259321"/>
                  </a:lnTo>
                  <a:lnTo>
                    <a:pt x="131889" y="263944"/>
                  </a:lnTo>
                  <a:lnTo>
                    <a:pt x="182626" y="263944"/>
                  </a:lnTo>
                  <a:close/>
                </a:path>
                <a:path w="2159000" h="269875">
                  <a:moveTo>
                    <a:pt x="521119" y="102552"/>
                  </a:moveTo>
                  <a:lnTo>
                    <a:pt x="518007" y="59905"/>
                  </a:lnTo>
                  <a:lnTo>
                    <a:pt x="500545" y="23952"/>
                  </a:lnTo>
                  <a:lnTo>
                    <a:pt x="456552" y="5740"/>
                  </a:lnTo>
                  <a:lnTo>
                    <a:pt x="448411" y="6413"/>
                  </a:lnTo>
                  <a:lnTo>
                    <a:pt x="410667" y="28333"/>
                  </a:lnTo>
                  <a:lnTo>
                    <a:pt x="397522" y="46316"/>
                  </a:lnTo>
                  <a:lnTo>
                    <a:pt x="392493" y="36639"/>
                  </a:lnTo>
                  <a:lnTo>
                    <a:pt x="359714" y="8394"/>
                  </a:lnTo>
                  <a:lnTo>
                    <a:pt x="342188" y="5740"/>
                  </a:lnTo>
                  <a:lnTo>
                    <a:pt x="325412" y="8318"/>
                  </a:lnTo>
                  <a:lnTo>
                    <a:pt x="309676" y="16002"/>
                  </a:lnTo>
                  <a:lnTo>
                    <a:pt x="294970" y="28689"/>
                  </a:lnTo>
                  <a:lnTo>
                    <a:pt x="281317" y="46316"/>
                  </a:lnTo>
                  <a:lnTo>
                    <a:pt x="281317" y="12192"/>
                  </a:lnTo>
                  <a:lnTo>
                    <a:pt x="233337" y="12192"/>
                  </a:lnTo>
                  <a:lnTo>
                    <a:pt x="233337" y="263944"/>
                  </a:lnTo>
                  <a:lnTo>
                    <a:pt x="285000" y="263944"/>
                  </a:lnTo>
                  <a:lnTo>
                    <a:pt x="285000" y="141300"/>
                  </a:lnTo>
                  <a:lnTo>
                    <a:pt x="285330" y="124536"/>
                  </a:lnTo>
                  <a:lnTo>
                    <a:pt x="292036" y="82397"/>
                  </a:lnTo>
                  <a:lnTo>
                    <a:pt x="316369" y="57391"/>
                  </a:lnTo>
                  <a:lnTo>
                    <a:pt x="331127" y="57391"/>
                  </a:lnTo>
                  <a:lnTo>
                    <a:pt x="350723" y="95529"/>
                  </a:lnTo>
                  <a:lnTo>
                    <a:pt x="351409" y="125615"/>
                  </a:lnTo>
                  <a:lnTo>
                    <a:pt x="351409" y="263944"/>
                  </a:lnTo>
                  <a:lnTo>
                    <a:pt x="403059" y="263944"/>
                  </a:lnTo>
                  <a:lnTo>
                    <a:pt x="403059" y="143141"/>
                  </a:lnTo>
                  <a:lnTo>
                    <a:pt x="403390" y="126365"/>
                  </a:lnTo>
                  <a:lnTo>
                    <a:pt x="410095" y="82791"/>
                  </a:lnTo>
                  <a:lnTo>
                    <a:pt x="434428" y="57391"/>
                  </a:lnTo>
                  <a:lnTo>
                    <a:pt x="441807" y="57391"/>
                  </a:lnTo>
                  <a:lnTo>
                    <a:pt x="468083" y="89077"/>
                  </a:lnTo>
                  <a:lnTo>
                    <a:pt x="469468" y="120078"/>
                  </a:lnTo>
                  <a:lnTo>
                    <a:pt x="469468" y="263944"/>
                  </a:lnTo>
                  <a:lnTo>
                    <a:pt x="521119" y="263944"/>
                  </a:lnTo>
                  <a:lnTo>
                    <a:pt x="521119" y="102552"/>
                  </a:lnTo>
                  <a:close/>
                </a:path>
                <a:path w="2159000" h="269875">
                  <a:moveTo>
                    <a:pt x="741565" y="263944"/>
                  </a:moveTo>
                  <a:lnTo>
                    <a:pt x="738441" y="255130"/>
                  </a:lnTo>
                  <a:lnTo>
                    <a:pt x="735914" y="246659"/>
                  </a:lnTo>
                  <a:lnTo>
                    <a:pt x="733907" y="238531"/>
                  </a:lnTo>
                  <a:lnTo>
                    <a:pt x="733450" y="236270"/>
                  </a:lnTo>
                  <a:lnTo>
                    <a:pt x="732332" y="230746"/>
                  </a:lnTo>
                  <a:lnTo>
                    <a:pt x="729665" y="189230"/>
                  </a:lnTo>
                  <a:lnTo>
                    <a:pt x="729767" y="164350"/>
                  </a:lnTo>
                  <a:lnTo>
                    <a:pt x="730021" y="143141"/>
                  </a:lnTo>
                  <a:lnTo>
                    <a:pt x="730389" y="111340"/>
                  </a:lnTo>
                  <a:lnTo>
                    <a:pt x="730427" y="99809"/>
                  </a:lnTo>
                  <a:lnTo>
                    <a:pt x="730123" y="83223"/>
                  </a:lnTo>
                  <a:lnTo>
                    <a:pt x="728992" y="66598"/>
                  </a:lnTo>
                  <a:lnTo>
                    <a:pt x="727595" y="57378"/>
                  </a:lnTo>
                  <a:lnTo>
                    <a:pt x="726998" y="53428"/>
                  </a:lnTo>
                  <a:lnTo>
                    <a:pt x="700062" y="16814"/>
                  </a:lnTo>
                  <a:lnTo>
                    <a:pt x="648411" y="5740"/>
                  </a:lnTo>
                  <a:lnTo>
                    <a:pt x="630783" y="6921"/>
                  </a:lnTo>
                  <a:lnTo>
                    <a:pt x="591210" y="23253"/>
                  </a:lnTo>
                  <a:lnTo>
                    <a:pt x="568388" y="60731"/>
                  </a:lnTo>
                  <a:lnTo>
                    <a:pt x="563549" y="77660"/>
                  </a:lnTo>
                  <a:lnTo>
                    <a:pt x="610603" y="88734"/>
                  </a:lnTo>
                  <a:lnTo>
                    <a:pt x="613384" y="80429"/>
                  </a:lnTo>
                  <a:lnTo>
                    <a:pt x="616343" y="73520"/>
                  </a:lnTo>
                  <a:lnTo>
                    <a:pt x="619658" y="67983"/>
                  </a:lnTo>
                  <a:lnTo>
                    <a:pt x="623506" y="63842"/>
                  </a:lnTo>
                  <a:lnTo>
                    <a:pt x="628116" y="59207"/>
                  </a:lnTo>
                  <a:lnTo>
                    <a:pt x="635495" y="57378"/>
                  </a:lnTo>
                  <a:lnTo>
                    <a:pt x="644728" y="57378"/>
                  </a:lnTo>
                  <a:lnTo>
                    <a:pt x="677811" y="76276"/>
                  </a:lnTo>
                  <a:lnTo>
                    <a:pt x="679767" y="92417"/>
                  </a:lnTo>
                  <a:lnTo>
                    <a:pt x="679767" y="99809"/>
                  </a:lnTo>
                  <a:lnTo>
                    <a:pt x="679767" y="143141"/>
                  </a:lnTo>
                  <a:lnTo>
                    <a:pt x="678599" y="183667"/>
                  </a:lnTo>
                  <a:lnTo>
                    <a:pt x="652551" y="219684"/>
                  </a:lnTo>
                  <a:lnTo>
                    <a:pt x="639178" y="222440"/>
                  </a:lnTo>
                  <a:lnTo>
                    <a:pt x="630885" y="222440"/>
                  </a:lnTo>
                  <a:lnTo>
                    <a:pt x="623506" y="219671"/>
                  </a:lnTo>
                  <a:lnTo>
                    <a:pt x="617956" y="212280"/>
                  </a:lnTo>
                  <a:lnTo>
                    <a:pt x="613346" y="205854"/>
                  </a:lnTo>
                  <a:lnTo>
                    <a:pt x="610603" y="197535"/>
                  </a:lnTo>
                  <a:lnTo>
                    <a:pt x="610603" y="188328"/>
                  </a:lnTo>
                  <a:lnTo>
                    <a:pt x="638759" y="156044"/>
                  </a:lnTo>
                  <a:lnTo>
                    <a:pt x="658622" y="150533"/>
                  </a:lnTo>
                  <a:lnTo>
                    <a:pt x="667194" y="147866"/>
                  </a:lnTo>
                  <a:lnTo>
                    <a:pt x="674217" y="145376"/>
                  </a:lnTo>
                  <a:lnTo>
                    <a:pt x="679767" y="143141"/>
                  </a:lnTo>
                  <a:lnTo>
                    <a:pt x="679767" y="99809"/>
                  </a:lnTo>
                  <a:lnTo>
                    <a:pt x="671474" y="103416"/>
                  </a:lnTo>
                  <a:lnTo>
                    <a:pt x="660400" y="107289"/>
                  </a:lnTo>
                  <a:lnTo>
                    <a:pt x="646557" y="111340"/>
                  </a:lnTo>
                  <a:lnTo>
                    <a:pt x="629958" y="115468"/>
                  </a:lnTo>
                  <a:lnTo>
                    <a:pt x="616991" y="119087"/>
                  </a:lnTo>
                  <a:lnTo>
                    <a:pt x="581888" y="136347"/>
                  </a:lnTo>
                  <a:lnTo>
                    <a:pt x="560895" y="174828"/>
                  </a:lnTo>
                  <a:lnTo>
                    <a:pt x="558939" y="194779"/>
                  </a:lnTo>
                  <a:lnTo>
                    <a:pt x="559981" y="210540"/>
                  </a:lnTo>
                  <a:lnTo>
                    <a:pt x="575551" y="249199"/>
                  </a:lnTo>
                  <a:lnTo>
                    <a:pt x="609130" y="268249"/>
                  </a:lnTo>
                  <a:lnTo>
                    <a:pt x="623506" y="269468"/>
                  </a:lnTo>
                  <a:lnTo>
                    <a:pt x="631786" y="268947"/>
                  </a:lnTo>
                  <a:lnTo>
                    <a:pt x="670433" y="250786"/>
                  </a:lnTo>
                  <a:lnTo>
                    <a:pt x="684377" y="236270"/>
                  </a:lnTo>
                  <a:lnTo>
                    <a:pt x="684377" y="238137"/>
                  </a:lnTo>
                  <a:lnTo>
                    <a:pt x="685304" y="240880"/>
                  </a:lnTo>
                  <a:lnTo>
                    <a:pt x="685304" y="244576"/>
                  </a:lnTo>
                  <a:lnTo>
                    <a:pt x="688073" y="252882"/>
                  </a:lnTo>
                  <a:lnTo>
                    <a:pt x="688987" y="259321"/>
                  </a:lnTo>
                  <a:lnTo>
                    <a:pt x="690841" y="263944"/>
                  </a:lnTo>
                  <a:lnTo>
                    <a:pt x="741565" y="263944"/>
                  </a:lnTo>
                  <a:close/>
                </a:path>
                <a:path w="2159000" h="269875">
                  <a:moveTo>
                    <a:pt x="1182738" y="137604"/>
                  </a:moveTo>
                  <a:lnTo>
                    <a:pt x="1175702" y="85686"/>
                  </a:lnTo>
                  <a:lnTo>
                    <a:pt x="1154163" y="43548"/>
                  </a:lnTo>
                  <a:lnTo>
                    <a:pt x="1129258" y="20142"/>
                  </a:lnTo>
                  <a:lnTo>
                    <a:pt x="1129258" y="137604"/>
                  </a:lnTo>
                  <a:lnTo>
                    <a:pt x="1128534" y="155232"/>
                  </a:lnTo>
                  <a:lnTo>
                    <a:pt x="1116342" y="195694"/>
                  </a:lnTo>
                  <a:lnTo>
                    <a:pt x="1082217" y="215074"/>
                  </a:lnTo>
                  <a:lnTo>
                    <a:pt x="1072349" y="213868"/>
                  </a:lnTo>
                  <a:lnTo>
                    <a:pt x="1042035" y="184416"/>
                  </a:lnTo>
                  <a:lnTo>
                    <a:pt x="1034262" y="137604"/>
                  </a:lnTo>
                  <a:lnTo>
                    <a:pt x="1035126" y="119976"/>
                  </a:lnTo>
                  <a:lnTo>
                    <a:pt x="1048092" y="80429"/>
                  </a:lnTo>
                  <a:lnTo>
                    <a:pt x="1082217" y="60147"/>
                  </a:lnTo>
                  <a:lnTo>
                    <a:pt x="1091704" y="61506"/>
                  </a:lnTo>
                  <a:lnTo>
                    <a:pt x="1122248" y="91300"/>
                  </a:lnTo>
                  <a:lnTo>
                    <a:pt x="1129258" y="137604"/>
                  </a:lnTo>
                  <a:lnTo>
                    <a:pt x="1129258" y="20142"/>
                  </a:lnTo>
                  <a:lnTo>
                    <a:pt x="1122337" y="15303"/>
                  </a:lnTo>
                  <a:lnTo>
                    <a:pt x="1103312" y="8140"/>
                  </a:lnTo>
                  <a:lnTo>
                    <a:pt x="1082217" y="5740"/>
                  </a:lnTo>
                  <a:lnTo>
                    <a:pt x="1068031" y="6781"/>
                  </a:lnTo>
                  <a:lnTo>
                    <a:pt x="1029652" y="22352"/>
                  </a:lnTo>
                  <a:lnTo>
                    <a:pt x="1001102" y="55410"/>
                  </a:lnTo>
                  <a:lnTo>
                    <a:pt x="984567" y="101523"/>
                  </a:lnTo>
                  <a:lnTo>
                    <a:pt x="981684" y="134848"/>
                  </a:lnTo>
                  <a:lnTo>
                    <a:pt x="982395" y="155625"/>
                  </a:lnTo>
                  <a:lnTo>
                    <a:pt x="993660" y="208610"/>
                  </a:lnTo>
                  <a:lnTo>
                    <a:pt x="1019873" y="245186"/>
                  </a:lnTo>
                  <a:lnTo>
                    <a:pt x="1056157" y="265785"/>
                  </a:lnTo>
                  <a:lnTo>
                    <a:pt x="1082217" y="269468"/>
                  </a:lnTo>
                  <a:lnTo>
                    <a:pt x="1102804" y="267208"/>
                  </a:lnTo>
                  <a:lnTo>
                    <a:pt x="1121651" y="260362"/>
                  </a:lnTo>
                  <a:lnTo>
                    <a:pt x="1138770" y="248856"/>
                  </a:lnTo>
                  <a:lnTo>
                    <a:pt x="1154163" y="232587"/>
                  </a:lnTo>
                  <a:lnTo>
                    <a:pt x="1164996" y="215074"/>
                  </a:lnTo>
                  <a:lnTo>
                    <a:pt x="1166799" y="212166"/>
                  </a:lnTo>
                  <a:lnTo>
                    <a:pt x="1175715" y="189585"/>
                  </a:lnTo>
                  <a:lnTo>
                    <a:pt x="1180998" y="164757"/>
                  </a:lnTo>
                  <a:lnTo>
                    <a:pt x="1182738" y="137604"/>
                  </a:lnTo>
                  <a:close/>
                </a:path>
                <a:path w="2159000" h="269875">
                  <a:moveTo>
                    <a:pt x="1395514" y="107175"/>
                  </a:moveTo>
                  <a:lnTo>
                    <a:pt x="1392732" y="61988"/>
                  </a:lnTo>
                  <a:lnTo>
                    <a:pt x="1373720" y="23139"/>
                  </a:lnTo>
                  <a:lnTo>
                    <a:pt x="1338681" y="6261"/>
                  </a:lnTo>
                  <a:lnTo>
                    <a:pt x="1330020" y="5740"/>
                  </a:lnTo>
                  <a:lnTo>
                    <a:pt x="1311503" y="8496"/>
                  </a:lnTo>
                  <a:lnTo>
                    <a:pt x="1294638" y="16687"/>
                  </a:lnTo>
                  <a:lnTo>
                    <a:pt x="1279321" y="30238"/>
                  </a:lnTo>
                  <a:lnTo>
                    <a:pt x="1265466" y="49072"/>
                  </a:lnTo>
                  <a:lnTo>
                    <a:pt x="1265466" y="12192"/>
                  </a:lnTo>
                  <a:lnTo>
                    <a:pt x="1218438" y="12192"/>
                  </a:lnTo>
                  <a:lnTo>
                    <a:pt x="1218438" y="263944"/>
                  </a:lnTo>
                  <a:lnTo>
                    <a:pt x="1269161" y="263944"/>
                  </a:lnTo>
                  <a:lnTo>
                    <a:pt x="1269161" y="149593"/>
                  </a:lnTo>
                  <a:lnTo>
                    <a:pt x="1269492" y="130403"/>
                  </a:lnTo>
                  <a:lnTo>
                    <a:pt x="1273759" y="91490"/>
                  </a:lnTo>
                  <a:lnTo>
                    <a:pt x="1299476" y="59575"/>
                  </a:lnTo>
                  <a:lnTo>
                    <a:pt x="1312494" y="57378"/>
                  </a:lnTo>
                  <a:lnTo>
                    <a:pt x="1318945" y="57378"/>
                  </a:lnTo>
                  <a:lnTo>
                    <a:pt x="1342301" y="90246"/>
                  </a:lnTo>
                  <a:lnTo>
                    <a:pt x="1343850" y="135763"/>
                  </a:lnTo>
                  <a:lnTo>
                    <a:pt x="1343850" y="263944"/>
                  </a:lnTo>
                  <a:lnTo>
                    <a:pt x="1395514" y="263944"/>
                  </a:lnTo>
                  <a:lnTo>
                    <a:pt x="1395514" y="107175"/>
                  </a:lnTo>
                  <a:close/>
                </a:path>
                <a:path w="2159000" h="269875">
                  <a:moveTo>
                    <a:pt x="1467777" y="214934"/>
                  </a:moveTo>
                  <a:lnTo>
                    <a:pt x="1429639" y="214934"/>
                  </a:lnTo>
                  <a:lnTo>
                    <a:pt x="1429639" y="263944"/>
                  </a:lnTo>
                  <a:lnTo>
                    <a:pt x="1467777" y="263944"/>
                  </a:lnTo>
                  <a:lnTo>
                    <a:pt x="1467777" y="214934"/>
                  </a:lnTo>
                  <a:close/>
                </a:path>
                <a:path w="2159000" h="269875">
                  <a:moveTo>
                    <a:pt x="1646313" y="175247"/>
                  </a:moveTo>
                  <a:lnTo>
                    <a:pt x="1613344" y="169608"/>
                  </a:lnTo>
                  <a:lnTo>
                    <a:pt x="1610677" y="184810"/>
                  </a:lnTo>
                  <a:lnTo>
                    <a:pt x="1606969" y="197980"/>
                  </a:lnTo>
                  <a:lnTo>
                    <a:pt x="1580807" y="230009"/>
                  </a:lnTo>
                  <a:lnTo>
                    <a:pt x="1562442" y="233654"/>
                  </a:lnTo>
                  <a:lnTo>
                    <a:pt x="1550949" y="232232"/>
                  </a:lnTo>
                  <a:lnTo>
                    <a:pt x="1515986" y="196875"/>
                  </a:lnTo>
                  <a:lnTo>
                    <a:pt x="1507871" y="159092"/>
                  </a:lnTo>
                  <a:lnTo>
                    <a:pt x="1506829" y="134721"/>
                  </a:lnTo>
                  <a:lnTo>
                    <a:pt x="1507871" y="110909"/>
                  </a:lnTo>
                  <a:lnTo>
                    <a:pt x="1515986" y="73520"/>
                  </a:lnTo>
                  <a:lnTo>
                    <a:pt x="1541475" y="42506"/>
                  </a:lnTo>
                  <a:lnTo>
                    <a:pt x="1564322" y="36741"/>
                  </a:lnTo>
                  <a:lnTo>
                    <a:pt x="1572590" y="37465"/>
                  </a:lnTo>
                  <a:lnTo>
                    <a:pt x="1603425" y="65951"/>
                  </a:lnTo>
                  <a:lnTo>
                    <a:pt x="1610499" y="88569"/>
                  </a:lnTo>
                  <a:lnTo>
                    <a:pt x="1642541" y="81965"/>
                  </a:lnTo>
                  <a:lnTo>
                    <a:pt x="1625714" y="33337"/>
                  </a:lnTo>
                  <a:lnTo>
                    <a:pt x="1592961" y="5524"/>
                  </a:lnTo>
                  <a:lnTo>
                    <a:pt x="1563382" y="0"/>
                  </a:lnTo>
                  <a:lnTo>
                    <a:pt x="1550835" y="1041"/>
                  </a:lnTo>
                  <a:lnTo>
                    <a:pt x="1515325" y="16027"/>
                  </a:lnTo>
                  <a:lnTo>
                    <a:pt x="1489075" y="48475"/>
                  </a:lnTo>
                  <a:lnTo>
                    <a:pt x="1475270" y="96926"/>
                  </a:lnTo>
                  <a:lnTo>
                    <a:pt x="1472907" y="135674"/>
                  </a:lnTo>
                  <a:lnTo>
                    <a:pt x="1474355" y="166255"/>
                  </a:lnTo>
                  <a:lnTo>
                    <a:pt x="1486420" y="216115"/>
                  </a:lnTo>
                  <a:lnTo>
                    <a:pt x="1511033" y="250393"/>
                  </a:lnTo>
                  <a:lnTo>
                    <a:pt x="1563382" y="269455"/>
                  </a:lnTo>
                  <a:lnTo>
                    <a:pt x="1578952" y="268020"/>
                  </a:lnTo>
                  <a:lnTo>
                    <a:pt x="1618043" y="244970"/>
                  </a:lnTo>
                  <a:lnTo>
                    <a:pt x="1642427" y="196088"/>
                  </a:lnTo>
                  <a:lnTo>
                    <a:pt x="1646313" y="175247"/>
                  </a:lnTo>
                  <a:close/>
                </a:path>
                <a:path w="2159000" h="269875">
                  <a:moveTo>
                    <a:pt x="1848942" y="131902"/>
                  </a:moveTo>
                  <a:lnTo>
                    <a:pt x="1847354" y="102565"/>
                  </a:lnTo>
                  <a:lnTo>
                    <a:pt x="1842579" y="76669"/>
                  </a:lnTo>
                  <a:lnTo>
                    <a:pt x="1834629" y="54140"/>
                  </a:lnTo>
                  <a:lnTo>
                    <a:pt x="1824583" y="36753"/>
                  </a:lnTo>
                  <a:lnTo>
                    <a:pt x="1823491" y="34861"/>
                  </a:lnTo>
                  <a:lnTo>
                    <a:pt x="1814029" y="24955"/>
                  </a:lnTo>
                  <a:lnTo>
                    <a:pt x="1814029" y="134721"/>
                  </a:lnTo>
                  <a:lnTo>
                    <a:pt x="1813153" y="157632"/>
                  </a:lnTo>
                  <a:lnTo>
                    <a:pt x="1805317" y="195414"/>
                  </a:lnTo>
                  <a:lnTo>
                    <a:pt x="1778965" y="227774"/>
                  </a:lnTo>
                  <a:lnTo>
                    <a:pt x="1755635" y="233654"/>
                  </a:lnTo>
                  <a:lnTo>
                    <a:pt x="1743595" y="232206"/>
                  </a:lnTo>
                  <a:lnTo>
                    <a:pt x="1706740" y="195402"/>
                  </a:lnTo>
                  <a:lnTo>
                    <a:pt x="1698269" y="158026"/>
                  </a:lnTo>
                  <a:lnTo>
                    <a:pt x="1697202" y="134721"/>
                  </a:lnTo>
                  <a:lnTo>
                    <a:pt x="1698269" y="111582"/>
                  </a:lnTo>
                  <a:lnTo>
                    <a:pt x="1714169" y="61252"/>
                  </a:lnTo>
                  <a:lnTo>
                    <a:pt x="1755635" y="36753"/>
                  </a:lnTo>
                  <a:lnTo>
                    <a:pt x="1767827" y="38328"/>
                  </a:lnTo>
                  <a:lnTo>
                    <a:pt x="1805330" y="74853"/>
                  </a:lnTo>
                  <a:lnTo>
                    <a:pt x="1813991" y="131902"/>
                  </a:lnTo>
                  <a:lnTo>
                    <a:pt x="1814029" y="134721"/>
                  </a:lnTo>
                  <a:lnTo>
                    <a:pt x="1814029" y="24955"/>
                  </a:lnTo>
                  <a:lnTo>
                    <a:pt x="1809178" y="19875"/>
                  </a:lnTo>
                  <a:lnTo>
                    <a:pt x="1793100" y="8953"/>
                  </a:lnTo>
                  <a:lnTo>
                    <a:pt x="1775256" y="2260"/>
                  </a:lnTo>
                  <a:lnTo>
                    <a:pt x="1755635" y="0"/>
                  </a:lnTo>
                  <a:lnTo>
                    <a:pt x="1737969" y="1917"/>
                  </a:lnTo>
                  <a:lnTo>
                    <a:pt x="1693430" y="29210"/>
                  </a:lnTo>
                  <a:lnTo>
                    <a:pt x="1670100" y="72783"/>
                  </a:lnTo>
                  <a:lnTo>
                    <a:pt x="1662315" y="134721"/>
                  </a:lnTo>
                  <a:lnTo>
                    <a:pt x="1663928" y="165849"/>
                  </a:lnTo>
                  <a:lnTo>
                    <a:pt x="1677047" y="216090"/>
                  </a:lnTo>
                  <a:lnTo>
                    <a:pt x="1702498" y="250393"/>
                  </a:lnTo>
                  <a:lnTo>
                    <a:pt x="1755635" y="269468"/>
                  </a:lnTo>
                  <a:lnTo>
                    <a:pt x="1768716" y="268566"/>
                  </a:lnTo>
                  <a:lnTo>
                    <a:pt x="1814309" y="245745"/>
                  </a:lnTo>
                  <a:lnTo>
                    <a:pt x="1824647" y="233654"/>
                  </a:lnTo>
                  <a:lnTo>
                    <a:pt x="1831263" y="223520"/>
                  </a:lnTo>
                  <a:lnTo>
                    <a:pt x="1837639" y="210108"/>
                  </a:lnTo>
                  <a:lnTo>
                    <a:pt x="1842579" y="194183"/>
                  </a:lnTo>
                  <a:lnTo>
                    <a:pt x="1846110" y="175958"/>
                  </a:lnTo>
                  <a:lnTo>
                    <a:pt x="1848231" y="155257"/>
                  </a:lnTo>
                  <a:lnTo>
                    <a:pt x="1848942" y="131902"/>
                  </a:lnTo>
                  <a:close/>
                </a:path>
                <a:path w="2159000" h="269875">
                  <a:moveTo>
                    <a:pt x="2158987" y="86677"/>
                  </a:moveTo>
                  <a:lnTo>
                    <a:pt x="2154872" y="48526"/>
                  </a:lnTo>
                  <a:lnTo>
                    <a:pt x="2134324" y="12319"/>
                  </a:lnTo>
                  <a:lnTo>
                    <a:pt x="2097735" y="0"/>
                  </a:lnTo>
                  <a:lnTo>
                    <a:pt x="2079536" y="2819"/>
                  </a:lnTo>
                  <a:lnTo>
                    <a:pt x="2063102" y="11303"/>
                  </a:lnTo>
                  <a:lnTo>
                    <a:pt x="2048433" y="25438"/>
                  </a:lnTo>
                  <a:lnTo>
                    <a:pt x="2035543" y="45224"/>
                  </a:lnTo>
                  <a:lnTo>
                    <a:pt x="2032177" y="35179"/>
                  </a:lnTo>
                  <a:lnTo>
                    <a:pt x="1999615" y="3289"/>
                  </a:lnTo>
                  <a:lnTo>
                    <a:pt x="1979930" y="0"/>
                  </a:lnTo>
                  <a:lnTo>
                    <a:pt x="1970227" y="711"/>
                  </a:lnTo>
                  <a:lnTo>
                    <a:pt x="1929980" y="25565"/>
                  </a:lnTo>
                  <a:lnTo>
                    <a:pt x="1918665" y="42392"/>
                  </a:lnTo>
                  <a:lnTo>
                    <a:pt x="1918665" y="6591"/>
                  </a:lnTo>
                  <a:lnTo>
                    <a:pt x="1888515" y="6591"/>
                  </a:lnTo>
                  <a:lnTo>
                    <a:pt x="1888515" y="263817"/>
                  </a:lnTo>
                  <a:lnTo>
                    <a:pt x="1922449" y="263817"/>
                  </a:lnTo>
                  <a:lnTo>
                    <a:pt x="1922449" y="130022"/>
                  </a:lnTo>
                  <a:lnTo>
                    <a:pt x="1922805" y="113411"/>
                  </a:lnTo>
                  <a:lnTo>
                    <a:pt x="1931301" y="67665"/>
                  </a:lnTo>
                  <a:lnTo>
                    <a:pt x="1964956" y="39179"/>
                  </a:lnTo>
                  <a:lnTo>
                    <a:pt x="1972398" y="38633"/>
                  </a:lnTo>
                  <a:lnTo>
                    <a:pt x="1980895" y="39509"/>
                  </a:lnTo>
                  <a:lnTo>
                    <a:pt x="2005139" y="70904"/>
                  </a:lnTo>
                  <a:lnTo>
                    <a:pt x="2007247" y="96100"/>
                  </a:lnTo>
                  <a:lnTo>
                    <a:pt x="2007247" y="263817"/>
                  </a:lnTo>
                  <a:lnTo>
                    <a:pt x="2041194" y="263817"/>
                  </a:lnTo>
                  <a:lnTo>
                    <a:pt x="2041194" y="114007"/>
                  </a:lnTo>
                  <a:lnTo>
                    <a:pt x="2042083" y="95618"/>
                  </a:lnTo>
                  <a:lnTo>
                    <a:pt x="2055317" y="56527"/>
                  </a:lnTo>
                  <a:lnTo>
                    <a:pt x="2090204" y="38633"/>
                  </a:lnTo>
                  <a:lnTo>
                    <a:pt x="2097735" y="38633"/>
                  </a:lnTo>
                  <a:lnTo>
                    <a:pt x="2123478" y="70624"/>
                  </a:lnTo>
                  <a:lnTo>
                    <a:pt x="2125078" y="101752"/>
                  </a:lnTo>
                  <a:lnTo>
                    <a:pt x="2125078" y="263817"/>
                  </a:lnTo>
                  <a:lnTo>
                    <a:pt x="2158987" y="263817"/>
                  </a:lnTo>
                  <a:lnTo>
                    <a:pt x="2158987" y="86677"/>
                  </a:lnTo>
                  <a:close/>
                </a:path>
              </a:pathLst>
            </a:custGeom>
            <a:solidFill>
              <a:srgbClr val="000000"/>
            </a:solidFill>
          </p:spPr>
          <p:txBody>
            <a:bodyPr wrap="square" lIns="0" tIns="0" rIns="0" bIns="0" rtlCol="0"/>
            <a:lstStyle/>
            <a:p>
              <a:endParaRPr sz="2109"/>
            </a:p>
          </p:txBody>
        </p:sp>
        <p:sp>
          <p:nvSpPr>
            <p:cNvPr id="9" name="object 9"/>
            <p:cNvSpPr/>
            <p:nvPr/>
          </p:nvSpPr>
          <p:spPr>
            <a:xfrm>
              <a:off x="4249513" y="8817213"/>
              <a:ext cx="755015" cy="174625"/>
            </a:xfrm>
            <a:custGeom>
              <a:avLst/>
              <a:gdLst/>
              <a:ahLst/>
              <a:cxnLst/>
              <a:rect l="l" t="t" r="r" b="b"/>
              <a:pathLst>
                <a:path w="755014" h="174625">
                  <a:moveTo>
                    <a:pt x="11465" y="24097"/>
                  </a:moveTo>
                  <a:lnTo>
                    <a:pt x="621" y="27699"/>
                  </a:lnTo>
                  <a:lnTo>
                    <a:pt x="0" y="36500"/>
                  </a:lnTo>
                  <a:lnTo>
                    <a:pt x="14024" y="49884"/>
                  </a:lnTo>
                  <a:lnTo>
                    <a:pt x="63473" y="82093"/>
                  </a:lnTo>
                  <a:lnTo>
                    <a:pt x="110711" y="109546"/>
                  </a:lnTo>
                  <a:lnTo>
                    <a:pt x="157070" y="132212"/>
                  </a:lnTo>
                  <a:lnTo>
                    <a:pt x="203884" y="150056"/>
                  </a:lnTo>
                  <a:lnTo>
                    <a:pt x="252485" y="163046"/>
                  </a:lnTo>
                  <a:lnTo>
                    <a:pt x="304207" y="171150"/>
                  </a:lnTo>
                  <a:lnTo>
                    <a:pt x="360383" y="174333"/>
                  </a:lnTo>
                  <a:lnTo>
                    <a:pt x="415471" y="173060"/>
                  </a:lnTo>
                  <a:lnTo>
                    <a:pt x="467538" y="167640"/>
                  </a:lnTo>
                  <a:lnTo>
                    <a:pt x="517596" y="157722"/>
                  </a:lnTo>
                  <a:lnTo>
                    <a:pt x="566656" y="142950"/>
                  </a:lnTo>
                  <a:lnTo>
                    <a:pt x="615728" y="122973"/>
                  </a:lnTo>
                  <a:lnTo>
                    <a:pt x="635759" y="112761"/>
                  </a:lnTo>
                  <a:lnTo>
                    <a:pt x="367349" y="112761"/>
                  </a:lnTo>
                  <a:lnTo>
                    <a:pt x="318569" y="109455"/>
                  </a:lnTo>
                  <a:lnTo>
                    <a:pt x="270932" y="101362"/>
                  </a:lnTo>
                  <a:lnTo>
                    <a:pt x="223815" y="89545"/>
                  </a:lnTo>
                  <a:lnTo>
                    <a:pt x="176597" y="75069"/>
                  </a:lnTo>
                  <a:lnTo>
                    <a:pt x="79364" y="42389"/>
                  </a:lnTo>
                  <a:lnTo>
                    <a:pt x="28105" y="26311"/>
                  </a:lnTo>
                  <a:lnTo>
                    <a:pt x="11465" y="24097"/>
                  </a:lnTo>
                  <a:close/>
                </a:path>
                <a:path w="755014" h="174625">
                  <a:moveTo>
                    <a:pt x="754253" y="45257"/>
                  </a:moveTo>
                  <a:lnTo>
                    <a:pt x="682228" y="45257"/>
                  </a:lnTo>
                  <a:lnTo>
                    <a:pt x="693626" y="47113"/>
                  </a:lnTo>
                  <a:lnTo>
                    <a:pt x="702306" y="51675"/>
                  </a:lnTo>
                  <a:lnTo>
                    <a:pt x="704961" y="58921"/>
                  </a:lnTo>
                  <a:lnTo>
                    <a:pt x="703222" y="69372"/>
                  </a:lnTo>
                  <a:lnTo>
                    <a:pt x="699772" y="79481"/>
                  </a:lnTo>
                  <a:lnTo>
                    <a:pt x="697292" y="85700"/>
                  </a:lnTo>
                  <a:lnTo>
                    <a:pt x="689355" y="104914"/>
                  </a:lnTo>
                  <a:lnTo>
                    <a:pt x="680951" y="126526"/>
                  </a:lnTo>
                  <a:lnTo>
                    <a:pt x="678096" y="144282"/>
                  </a:lnTo>
                  <a:lnTo>
                    <a:pt x="686919" y="151638"/>
                  </a:lnTo>
                  <a:lnTo>
                    <a:pt x="711402" y="133204"/>
                  </a:lnTo>
                  <a:lnTo>
                    <a:pt x="737574" y="90755"/>
                  </a:lnTo>
                  <a:lnTo>
                    <a:pt x="754253" y="45257"/>
                  </a:lnTo>
                  <a:close/>
                </a:path>
                <a:path w="755014" h="174625">
                  <a:moveTo>
                    <a:pt x="676131" y="64181"/>
                  </a:moveTo>
                  <a:lnTo>
                    <a:pt x="653441" y="64229"/>
                  </a:lnTo>
                  <a:lnTo>
                    <a:pt x="602627" y="74538"/>
                  </a:lnTo>
                  <a:lnTo>
                    <a:pt x="508441" y="96075"/>
                  </a:lnTo>
                  <a:lnTo>
                    <a:pt x="462613" y="104914"/>
                  </a:lnTo>
                  <a:lnTo>
                    <a:pt x="415991" y="110875"/>
                  </a:lnTo>
                  <a:lnTo>
                    <a:pt x="367349" y="112761"/>
                  </a:lnTo>
                  <a:lnTo>
                    <a:pt x="635759" y="112761"/>
                  </a:lnTo>
                  <a:lnTo>
                    <a:pt x="665824" y="97435"/>
                  </a:lnTo>
                  <a:lnTo>
                    <a:pt x="681174" y="84710"/>
                  </a:lnTo>
                  <a:lnTo>
                    <a:pt x="684992" y="72317"/>
                  </a:lnTo>
                  <a:lnTo>
                    <a:pt x="676131" y="64181"/>
                  </a:lnTo>
                  <a:close/>
                </a:path>
                <a:path w="755014" h="174625">
                  <a:moveTo>
                    <a:pt x="731659" y="0"/>
                  </a:moveTo>
                  <a:lnTo>
                    <a:pt x="670959" y="6665"/>
                  </a:lnTo>
                  <a:lnTo>
                    <a:pt x="630372" y="17769"/>
                  </a:lnTo>
                  <a:lnTo>
                    <a:pt x="604922" y="42042"/>
                  </a:lnTo>
                  <a:lnTo>
                    <a:pt x="610350" y="48432"/>
                  </a:lnTo>
                  <a:lnTo>
                    <a:pt x="620756" y="49796"/>
                  </a:lnTo>
                  <a:lnTo>
                    <a:pt x="633142" y="48534"/>
                  </a:lnTo>
                  <a:lnTo>
                    <a:pt x="644510" y="47043"/>
                  </a:lnTo>
                  <a:lnTo>
                    <a:pt x="666420" y="45452"/>
                  </a:lnTo>
                  <a:lnTo>
                    <a:pt x="682228" y="45257"/>
                  </a:lnTo>
                  <a:lnTo>
                    <a:pt x="754253" y="45257"/>
                  </a:lnTo>
                  <a:lnTo>
                    <a:pt x="754871" y="43569"/>
                  </a:lnTo>
                  <a:lnTo>
                    <a:pt x="752732" y="10927"/>
                  </a:lnTo>
                  <a:lnTo>
                    <a:pt x="731659" y="0"/>
                  </a:lnTo>
                  <a:close/>
                </a:path>
              </a:pathLst>
            </a:custGeom>
            <a:solidFill>
              <a:srgbClr val="F3A02D"/>
            </a:solidFill>
          </p:spPr>
          <p:txBody>
            <a:bodyPr wrap="square" lIns="0" tIns="0" rIns="0" bIns="0" rtlCol="0"/>
            <a:lstStyle/>
            <a:p>
              <a:endParaRPr sz="2109"/>
            </a:p>
          </p:txBody>
        </p:sp>
        <p:pic>
          <p:nvPicPr>
            <p:cNvPr id="10" name="object 10"/>
            <p:cNvPicPr/>
            <p:nvPr/>
          </p:nvPicPr>
          <p:blipFill>
            <a:blip r:embed="rId2" cstate="print"/>
            <a:stretch>
              <a:fillRect/>
            </a:stretch>
          </p:blipFill>
          <p:spPr>
            <a:xfrm>
              <a:off x="4859432" y="8571994"/>
              <a:ext cx="174322" cy="251750"/>
            </a:xfrm>
            <a:prstGeom prst="rect">
              <a:avLst/>
            </a:prstGeom>
          </p:spPr>
        </p:pic>
      </p:grpSp>
      <p:grpSp>
        <p:nvGrpSpPr>
          <p:cNvPr id="11" name="object 11"/>
          <p:cNvGrpSpPr/>
          <p:nvPr/>
        </p:nvGrpSpPr>
        <p:grpSpPr>
          <a:xfrm>
            <a:off x="409760" y="4855367"/>
            <a:ext cx="1964531" cy="955477"/>
            <a:chOff x="635000" y="7861300"/>
            <a:chExt cx="2794000" cy="1358900"/>
          </a:xfrm>
        </p:grpSpPr>
        <p:sp>
          <p:nvSpPr>
            <p:cNvPr id="12" name="object 12"/>
            <p:cNvSpPr/>
            <p:nvPr/>
          </p:nvSpPr>
          <p:spPr>
            <a:xfrm>
              <a:off x="635000" y="7861299"/>
              <a:ext cx="2794000" cy="1358900"/>
            </a:xfrm>
            <a:custGeom>
              <a:avLst/>
              <a:gdLst/>
              <a:ahLst/>
              <a:cxnLst/>
              <a:rect l="l" t="t" r="r" b="b"/>
              <a:pathLst>
                <a:path w="2794000" h="1358900">
                  <a:moveTo>
                    <a:pt x="2794000" y="0"/>
                  </a:moveTo>
                  <a:lnTo>
                    <a:pt x="0" y="0"/>
                  </a:lnTo>
                  <a:lnTo>
                    <a:pt x="0" y="1143000"/>
                  </a:lnTo>
                  <a:lnTo>
                    <a:pt x="114300" y="1143000"/>
                  </a:lnTo>
                  <a:lnTo>
                    <a:pt x="114300" y="1358900"/>
                  </a:lnTo>
                  <a:lnTo>
                    <a:pt x="2565400" y="1358900"/>
                  </a:lnTo>
                  <a:lnTo>
                    <a:pt x="2565400" y="1143000"/>
                  </a:lnTo>
                  <a:lnTo>
                    <a:pt x="2794000" y="1143000"/>
                  </a:lnTo>
                  <a:lnTo>
                    <a:pt x="2794000" y="0"/>
                  </a:lnTo>
                  <a:close/>
                </a:path>
              </a:pathLst>
            </a:custGeom>
            <a:solidFill>
              <a:srgbClr val="FFFFFF"/>
            </a:solidFill>
          </p:spPr>
          <p:txBody>
            <a:bodyPr wrap="square" lIns="0" tIns="0" rIns="0" bIns="0" rtlCol="0"/>
            <a:lstStyle/>
            <a:p>
              <a:endParaRPr sz="2109"/>
            </a:p>
          </p:txBody>
        </p:sp>
        <p:sp>
          <p:nvSpPr>
            <p:cNvPr id="13" name="object 13"/>
            <p:cNvSpPr/>
            <p:nvPr/>
          </p:nvSpPr>
          <p:spPr>
            <a:xfrm>
              <a:off x="803097" y="8455634"/>
              <a:ext cx="2336800" cy="472440"/>
            </a:xfrm>
            <a:custGeom>
              <a:avLst/>
              <a:gdLst/>
              <a:ahLst/>
              <a:cxnLst/>
              <a:rect l="l" t="t" r="r" b="b"/>
              <a:pathLst>
                <a:path w="2336800" h="472440">
                  <a:moveTo>
                    <a:pt x="669404" y="93662"/>
                  </a:moveTo>
                  <a:lnTo>
                    <a:pt x="392658" y="93662"/>
                  </a:lnTo>
                  <a:lnTo>
                    <a:pt x="392658" y="137134"/>
                  </a:lnTo>
                  <a:lnTo>
                    <a:pt x="487006" y="137134"/>
                  </a:lnTo>
                  <a:lnTo>
                    <a:pt x="356412" y="251853"/>
                  </a:lnTo>
                  <a:lnTo>
                    <a:pt x="227012" y="82080"/>
                  </a:lnTo>
                  <a:lnTo>
                    <a:pt x="323113" y="82080"/>
                  </a:lnTo>
                  <a:lnTo>
                    <a:pt x="323113" y="34264"/>
                  </a:lnTo>
                  <a:lnTo>
                    <a:pt x="0" y="34264"/>
                  </a:lnTo>
                  <a:lnTo>
                    <a:pt x="0" y="82080"/>
                  </a:lnTo>
                  <a:lnTo>
                    <a:pt x="104355" y="82080"/>
                  </a:lnTo>
                  <a:lnTo>
                    <a:pt x="278193" y="311988"/>
                  </a:lnTo>
                  <a:lnTo>
                    <a:pt x="278193" y="426923"/>
                  </a:lnTo>
                  <a:lnTo>
                    <a:pt x="172427" y="426923"/>
                  </a:lnTo>
                  <a:lnTo>
                    <a:pt x="172427" y="471817"/>
                  </a:lnTo>
                  <a:lnTo>
                    <a:pt x="494080" y="471817"/>
                  </a:lnTo>
                  <a:lnTo>
                    <a:pt x="494080" y="426923"/>
                  </a:lnTo>
                  <a:lnTo>
                    <a:pt x="392658" y="426923"/>
                  </a:lnTo>
                  <a:lnTo>
                    <a:pt x="392658" y="297154"/>
                  </a:lnTo>
                  <a:lnTo>
                    <a:pt x="574573" y="137134"/>
                  </a:lnTo>
                  <a:lnTo>
                    <a:pt x="669404" y="137134"/>
                  </a:lnTo>
                  <a:lnTo>
                    <a:pt x="669404" y="93662"/>
                  </a:lnTo>
                  <a:close/>
                </a:path>
                <a:path w="2336800" h="472440">
                  <a:moveTo>
                    <a:pt x="886371" y="403821"/>
                  </a:moveTo>
                  <a:lnTo>
                    <a:pt x="837412" y="403821"/>
                  </a:lnTo>
                  <a:lnTo>
                    <a:pt x="802398" y="333883"/>
                  </a:lnTo>
                  <a:lnTo>
                    <a:pt x="784479" y="298081"/>
                  </a:lnTo>
                  <a:lnTo>
                    <a:pt x="762101" y="253365"/>
                  </a:lnTo>
                  <a:lnTo>
                    <a:pt x="739228" y="207670"/>
                  </a:lnTo>
                  <a:lnTo>
                    <a:pt x="794270" y="207670"/>
                  </a:lnTo>
                  <a:lnTo>
                    <a:pt x="794270" y="173558"/>
                  </a:lnTo>
                  <a:lnTo>
                    <a:pt x="715886" y="173558"/>
                  </a:lnTo>
                  <a:lnTo>
                    <a:pt x="715886" y="298081"/>
                  </a:lnTo>
                  <a:lnTo>
                    <a:pt x="670902" y="298081"/>
                  </a:lnTo>
                  <a:lnTo>
                    <a:pt x="693521" y="253365"/>
                  </a:lnTo>
                  <a:lnTo>
                    <a:pt x="715886" y="298081"/>
                  </a:lnTo>
                  <a:lnTo>
                    <a:pt x="715886" y="173558"/>
                  </a:lnTo>
                  <a:lnTo>
                    <a:pt x="622846" y="173558"/>
                  </a:lnTo>
                  <a:lnTo>
                    <a:pt x="622846" y="207670"/>
                  </a:lnTo>
                  <a:lnTo>
                    <a:pt x="647928" y="207670"/>
                  </a:lnTo>
                  <a:lnTo>
                    <a:pt x="560755" y="379945"/>
                  </a:lnTo>
                  <a:lnTo>
                    <a:pt x="506006" y="379945"/>
                  </a:lnTo>
                  <a:lnTo>
                    <a:pt x="506006" y="425983"/>
                  </a:lnTo>
                  <a:lnTo>
                    <a:pt x="667181" y="425983"/>
                  </a:lnTo>
                  <a:lnTo>
                    <a:pt x="667181" y="379945"/>
                  </a:lnTo>
                  <a:lnTo>
                    <a:pt x="629488" y="379945"/>
                  </a:lnTo>
                  <a:lnTo>
                    <a:pt x="652780" y="333883"/>
                  </a:lnTo>
                  <a:lnTo>
                    <a:pt x="733818" y="333883"/>
                  </a:lnTo>
                  <a:lnTo>
                    <a:pt x="768807" y="403821"/>
                  </a:lnTo>
                  <a:lnTo>
                    <a:pt x="714946" y="403821"/>
                  </a:lnTo>
                  <a:lnTo>
                    <a:pt x="714946" y="449033"/>
                  </a:lnTo>
                  <a:lnTo>
                    <a:pt x="886371" y="449033"/>
                  </a:lnTo>
                  <a:lnTo>
                    <a:pt x="886371" y="403821"/>
                  </a:lnTo>
                  <a:close/>
                </a:path>
                <a:path w="2336800" h="472440">
                  <a:moveTo>
                    <a:pt x="1312125" y="335305"/>
                  </a:moveTo>
                  <a:lnTo>
                    <a:pt x="1265859" y="335305"/>
                  </a:lnTo>
                  <a:lnTo>
                    <a:pt x="1265859" y="334035"/>
                  </a:lnTo>
                  <a:lnTo>
                    <a:pt x="1265859" y="312445"/>
                  </a:lnTo>
                  <a:lnTo>
                    <a:pt x="1265859" y="114325"/>
                  </a:lnTo>
                  <a:lnTo>
                    <a:pt x="1311922" y="114325"/>
                  </a:lnTo>
                  <a:lnTo>
                    <a:pt x="1311922" y="104165"/>
                  </a:lnTo>
                  <a:lnTo>
                    <a:pt x="1311922" y="68605"/>
                  </a:lnTo>
                  <a:lnTo>
                    <a:pt x="1128585" y="68605"/>
                  </a:lnTo>
                  <a:lnTo>
                    <a:pt x="1128585" y="104165"/>
                  </a:lnTo>
                  <a:lnTo>
                    <a:pt x="1128585" y="114325"/>
                  </a:lnTo>
                  <a:lnTo>
                    <a:pt x="1196771" y="114325"/>
                  </a:lnTo>
                  <a:lnTo>
                    <a:pt x="1196771" y="127025"/>
                  </a:lnTo>
                  <a:lnTo>
                    <a:pt x="1196771" y="148615"/>
                  </a:lnTo>
                  <a:lnTo>
                    <a:pt x="1196771" y="196875"/>
                  </a:lnTo>
                  <a:lnTo>
                    <a:pt x="1196771" y="219735"/>
                  </a:lnTo>
                  <a:lnTo>
                    <a:pt x="1001496" y="219735"/>
                  </a:lnTo>
                  <a:lnTo>
                    <a:pt x="1001496" y="196875"/>
                  </a:lnTo>
                  <a:lnTo>
                    <a:pt x="1001496" y="148615"/>
                  </a:lnTo>
                  <a:lnTo>
                    <a:pt x="1082522" y="148615"/>
                  </a:lnTo>
                  <a:lnTo>
                    <a:pt x="1082522" y="127025"/>
                  </a:lnTo>
                  <a:lnTo>
                    <a:pt x="1082522" y="114325"/>
                  </a:lnTo>
                  <a:lnTo>
                    <a:pt x="1082522" y="104165"/>
                  </a:lnTo>
                  <a:lnTo>
                    <a:pt x="852246" y="104165"/>
                  </a:lnTo>
                  <a:lnTo>
                    <a:pt x="852246" y="114325"/>
                  </a:lnTo>
                  <a:lnTo>
                    <a:pt x="852246" y="127025"/>
                  </a:lnTo>
                  <a:lnTo>
                    <a:pt x="852246" y="148615"/>
                  </a:lnTo>
                  <a:lnTo>
                    <a:pt x="921334" y="148615"/>
                  </a:lnTo>
                  <a:lnTo>
                    <a:pt x="921334" y="334035"/>
                  </a:lnTo>
                  <a:lnTo>
                    <a:pt x="853287" y="334035"/>
                  </a:lnTo>
                  <a:lnTo>
                    <a:pt x="853287" y="335305"/>
                  </a:lnTo>
                  <a:lnTo>
                    <a:pt x="853287" y="378485"/>
                  </a:lnTo>
                  <a:lnTo>
                    <a:pt x="853287" y="379755"/>
                  </a:lnTo>
                  <a:lnTo>
                    <a:pt x="1071079" y="379755"/>
                  </a:lnTo>
                  <a:lnTo>
                    <a:pt x="1071079" y="378485"/>
                  </a:lnTo>
                  <a:lnTo>
                    <a:pt x="1071079" y="335305"/>
                  </a:lnTo>
                  <a:lnTo>
                    <a:pt x="1071079" y="334035"/>
                  </a:lnTo>
                  <a:lnTo>
                    <a:pt x="1001496" y="334035"/>
                  </a:lnTo>
                  <a:lnTo>
                    <a:pt x="1001496" y="312445"/>
                  </a:lnTo>
                  <a:lnTo>
                    <a:pt x="1001496" y="264185"/>
                  </a:lnTo>
                  <a:lnTo>
                    <a:pt x="1179029" y="264185"/>
                  </a:lnTo>
                  <a:lnTo>
                    <a:pt x="1179029" y="242595"/>
                  </a:lnTo>
                  <a:lnTo>
                    <a:pt x="1248117" y="242595"/>
                  </a:lnTo>
                  <a:lnTo>
                    <a:pt x="1248117" y="264185"/>
                  </a:lnTo>
                  <a:lnTo>
                    <a:pt x="1196771" y="264185"/>
                  </a:lnTo>
                  <a:lnTo>
                    <a:pt x="1196771" y="312445"/>
                  </a:lnTo>
                  <a:lnTo>
                    <a:pt x="1196771" y="334035"/>
                  </a:lnTo>
                  <a:lnTo>
                    <a:pt x="1196771" y="335305"/>
                  </a:lnTo>
                  <a:lnTo>
                    <a:pt x="1130084" y="335305"/>
                  </a:lnTo>
                  <a:lnTo>
                    <a:pt x="1130084" y="378485"/>
                  </a:lnTo>
                  <a:lnTo>
                    <a:pt x="1312125" y="378485"/>
                  </a:lnTo>
                  <a:lnTo>
                    <a:pt x="1312125" y="335305"/>
                  </a:lnTo>
                  <a:close/>
                </a:path>
                <a:path w="2336800" h="472440">
                  <a:moveTo>
                    <a:pt x="1693506" y="239141"/>
                  </a:moveTo>
                  <a:lnTo>
                    <a:pt x="1683473" y="200520"/>
                  </a:lnTo>
                  <a:lnTo>
                    <a:pt x="1661363" y="166890"/>
                  </a:lnTo>
                  <a:lnTo>
                    <a:pt x="1652765" y="159600"/>
                  </a:lnTo>
                  <a:lnTo>
                    <a:pt x="1636966" y="146189"/>
                  </a:lnTo>
                  <a:lnTo>
                    <a:pt x="1636966" y="243763"/>
                  </a:lnTo>
                  <a:lnTo>
                    <a:pt x="1630400" y="281190"/>
                  </a:lnTo>
                  <a:lnTo>
                    <a:pt x="1606765" y="313258"/>
                  </a:lnTo>
                  <a:lnTo>
                    <a:pt x="1569707" y="336613"/>
                  </a:lnTo>
                  <a:lnTo>
                    <a:pt x="1522907" y="347916"/>
                  </a:lnTo>
                  <a:lnTo>
                    <a:pt x="1474901" y="344411"/>
                  </a:lnTo>
                  <a:lnTo>
                    <a:pt x="1434528" y="327406"/>
                  </a:lnTo>
                  <a:lnTo>
                    <a:pt x="1405978" y="299618"/>
                  </a:lnTo>
                  <a:lnTo>
                    <a:pt x="1393393" y="263753"/>
                  </a:lnTo>
                  <a:lnTo>
                    <a:pt x="1399946" y="226314"/>
                  </a:lnTo>
                  <a:lnTo>
                    <a:pt x="1423593" y="194246"/>
                  </a:lnTo>
                  <a:lnTo>
                    <a:pt x="1460652" y="170891"/>
                  </a:lnTo>
                  <a:lnTo>
                    <a:pt x="1507464" y="159600"/>
                  </a:lnTo>
                  <a:lnTo>
                    <a:pt x="1555470" y="163106"/>
                  </a:lnTo>
                  <a:lnTo>
                    <a:pt x="1595831" y="180098"/>
                  </a:lnTo>
                  <a:lnTo>
                    <a:pt x="1624393" y="207899"/>
                  </a:lnTo>
                  <a:lnTo>
                    <a:pt x="1636966" y="243763"/>
                  </a:lnTo>
                  <a:lnTo>
                    <a:pt x="1636966" y="146189"/>
                  </a:lnTo>
                  <a:lnTo>
                    <a:pt x="1629105" y="139509"/>
                  </a:lnTo>
                  <a:lnTo>
                    <a:pt x="1588643" y="119634"/>
                  </a:lnTo>
                  <a:lnTo>
                    <a:pt x="1541894" y="108521"/>
                  </a:lnTo>
                  <a:lnTo>
                    <a:pt x="1490789" y="107403"/>
                  </a:lnTo>
                  <a:lnTo>
                    <a:pt x="1440535" y="116840"/>
                  </a:lnTo>
                  <a:lnTo>
                    <a:pt x="1396212" y="135432"/>
                  </a:lnTo>
                  <a:lnTo>
                    <a:pt x="1359522" y="161645"/>
                  </a:lnTo>
                  <a:lnTo>
                    <a:pt x="1332166" y="193929"/>
                  </a:lnTo>
                  <a:lnTo>
                    <a:pt x="1315847" y="230708"/>
                  </a:lnTo>
                  <a:lnTo>
                    <a:pt x="1312265" y="270459"/>
                  </a:lnTo>
                  <a:lnTo>
                    <a:pt x="1322285" y="309067"/>
                  </a:lnTo>
                  <a:lnTo>
                    <a:pt x="1344383" y="342696"/>
                  </a:lnTo>
                  <a:lnTo>
                    <a:pt x="1376641" y="370065"/>
                  </a:lnTo>
                  <a:lnTo>
                    <a:pt x="1417104" y="389928"/>
                  </a:lnTo>
                  <a:lnTo>
                    <a:pt x="1463865" y="401040"/>
                  </a:lnTo>
                  <a:lnTo>
                    <a:pt x="1514970" y="402145"/>
                  </a:lnTo>
                  <a:lnTo>
                    <a:pt x="1565211" y="392722"/>
                  </a:lnTo>
                  <a:lnTo>
                    <a:pt x="1609521" y="374129"/>
                  </a:lnTo>
                  <a:lnTo>
                    <a:pt x="1646212" y="347916"/>
                  </a:lnTo>
                  <a:lnTo>
                    <a:pt x="1673567" y="315645"/>
                  </a:lnTo>
                  <a:lnTo>
                    <a:pt x="1689900" y="278866"/>
                  </a:lnTo>
                  <a:lnTo>
                    <a:pt x="1693506" y="239141"/>
                  </a:lnTo>
                  <a:close/>
                </a:path>
                <a:path w="2336800" h="472440">
                  <a:moveTo>
                    <a:pt x="2160549" y="199910"/>
                  </a:moveTo>
                  <a:lnTo>
                    <a:pt x="2132279" y="131673"/>
                  </a:lnTo>
                  <a:lnTo>
                    <a:pt x="2103958" y="104140"/>
                  </a:lnTo>
                  <a:lnTo>
                    <a:pt x="2093163" y="97536"/>
                  </a:lnTo>
                  <a:lnTo>
                    <a:pt x="2093163" y="204190"/>
                  </a:lnTo>
                  <a:lnTo>
                    <a:pt x="2085708" y="247510"/>
                  </a:lnTo>
                  <a:lnTo>
                    <a:pt x="2058822" y="284632"/>
                  </a:lnTo>
                  <a:lnTo>
                    <a:pt x="2016696" y="311658"/>
                  </a:lnTo>
                  <a:lnTo>
                    <a:pt x="1963483" y="324726"/>
                  </a:lnTo>
                  <a:lnTo>
                    <a:pt x="1908898" y="320675"/>
                  </a:lnTo>
                  <a:lnTo>
                    <a:pt x="1863001" y="301002"/>
                  </a:lnTo>
                  <a:lnTo>
                    <a:pt x="1830539" y="268846"/>
                  </a:lnTo>
                  <a:lnTo>
                    <a:pt x="1816239" y="227342"/>
                  </a:lnTo>
                  <a:lnTo>
                    <a:pt x="1823694" y="184010"/>
                  </a:lnTo>
                  <a:lnTo>
                    <a:pt x="1850580" y="146888"/>
                  </a:lnTo>
                  <a:lnTo>
                    <a:pt x="1892706" y="119862"/>
                  </a:lnTo>
                  <a:lnTo>
                    <a:pt x="1945919" y="106794"/>
                  </a:lnTo>
                  <a:lnTo>
                    <a:pt x="2000504" y="110858"/>
                  </a:lnTo>
                  <a:lnTo>
                    <a:pt x="2046401" y="130530"/>
                  </a:lnTo>
                  <a:lnTo>
                    <a:pt x="2078863" y="162687"/>
                  </a:lnTo>
                  <a:lnTo>
                    <a:pt x="2093163" y="204190"/>
                  </a:lnTo>
                  <a:lnTo>
                    <a:pt x="2093163" y="97536"/>
                  </a:lnTo>
                  <a:lnTo>
                    <a:pt x="2068029" y="82118"/>
                  </a:lnTo>
                  <a:lnTo>
                    <a:pt x="2025891" y="66484"/>
                  </a:lnTo>
                  <a:lnTo>
                    <a:pt x="1978939" y="58077"/>
                  </a:lnTo>
                  <a:lnTo>
                    <a:pt x="1928545" y="57746"/>
                  </a:lnTo>
                  <a:lnTo>
                    <a:pt x="1871040" y="67919"/>
                  </a:lnTo>
                  <a:lnTo>
                    <a:pt x="1820329" y="87998"/>
                  </a:lnTo>
                  <a:lnTo>
                    <a:pt x="1778342" y="116281"/>
                  </a:lnTo>
                  <a:lnTo>
                    <a:pt x="1747037" y="151117"/>
                  </a:lnTo>
                  <a:lnTo>
                    <a:pt x="1728355" y="190817"/>
                  </a:lnTo>
                  <a:lnTo>
                    <a:pt x="1724253" y="233705"/>
                  </a:lnTo>
                  <a:lnTo>
                    <a:pt x="1733181" y="269709"/>
                  </a:lnTo>
                  <a:lnTo>
                    <a:pt x="1780832" y="329438"/>
                  </a:lnTo>
                  <a:lnTo>
                    <a:pt x="1816760" y="351447"/>
                  </a:lnTo>
                  <a:lnTo>
                    <a:pt x="1858899" y="367080"/>
                  </a:lnTo>
                  <a:lnTo>
                    <a:pt x="1905863" y="375488"/>
                  </a:lnTo>
                  <a:lnTo>
                    <a:pt x="1956244" y="375818"/>
                  </a:lnTo>
                  <a:lnTo>
                    <a:pt x="2013750" y="365645"/>
                  </a:lnTo>
                  <a:lnTo>
                    <a:pt x="2064461" y="345579"/>
                  </a:lnTo>
                  <a:lnTo>
                    <a:pt x="2106447" y="317296"/>
                  </a:lnTo>
                  <a:lnTo>
                    <a:pt x="2137753" y="282473"/>
                  </a:lnTo>
                  <a:lnTo>
                    <a:pt x="2156434" y="242798"/>
                  </a:lnTo>
                  <a:lnTo>
                    <a:pt x="2160549" y="199910"/>
                  </a:lnTo>
                  <a:close/>
                </a:path>
                <a:path w="2336800" h="472440">
                  <a:moveTo>
                    <a:pt x="2266378" y="334975"/>
                  </a:moveTo>
                  <a:lnTo>
                    <a:pt x="2198725" y="334975"/>
                  </a:lnTo>
                  <a:lnTo>
                    <a:pt x="2198725" y="381596"/>
                  </a:lnTo>
                  <a:lnTo>
                    <a:pt x="2198725" y="403796"/>
                  </a:lnTo>
                  <a:lnTo>
                    <a:pt x="2266378" y="403796"/>
                  </a:lnTo>
                  <a:lnTo>
                    <a:pt x="2266378" y="381596"/>
                  </a:lnTo>
                  <a:lnTo>
                    <a:pt x="2266378" y="334975"/>
                  </a:lnTo>
                  <a:close/>
                </a:path>
                <a:path w="2336800" h="472440">
                  <a:moveTo>
                    <a:pt x="2336393" y="11468"/>
                  </a:moveTo>
                  <a:lnTo>
                    <a:pt x="2209025" y="0"/>
                  </a:lnTo>
                  <a:lnTo>
                    <a:pt x="2211324" y="298272"/>
                  </a:lnTo>
                  <a:lnTo>
                    <a:pt x="2268677" y="299415"/>
                  </a:lnTo>
                  <a:lnTo>
                    <a:pt x="2336393" y="11468"/>
                  </a:lnTo>
                  <a:close/>
                </a:path>
              </a:pathLst>
            </a:custGeom>
            <a:solidFill>
              <a:srgbClr val="9EA5AB"/>
            </a:solidFill>
          </p:spPr>
          <p:txBody>
            <a:bodyPr wrap="square" lIns="0" tIns="0" rIns="0" bIns="0" rtlCol="0"/>
            <a:lstStyle/>
            <a:p>
              <a:endParaRPr sz="2109"/>
            </a:p>
          </p:txBody>
        </p:sp>
        <p:sp>
          <p:nvSpPr>
            <p:cNvPr id="14" name="object 14"/>
            <p:cNvSpPr/>
            <p:nvPr/>
          </p:nvSpPr>
          <p:spPr>
            <a:xfrm>
              <a:off x="785342" y="8433434"/>
              <a:ext cx="2336800" cy="472440"/>
            </a:xfrm>
            <a:custGeom>
              <a:avLst/>
              <a:gdLst/>
              <a:ahLst/>
              <a:cxnLst/>
              <a:rect l="l" t="t" r="r" b="b"/>
              <a:pathLst>
                <a:path w="2336800" h="472440">
                  <a:moveTo>
                    <a:pt x="669391" y="93675"/>
                  </a:moveTo>
                  <a:lnTo>
                    <a:pt x="392645" y="93675"/>
                  </a:lnTo>
                  <a:lnTo>
                    <a:pt x="392645" y="137134"/>
                  </a:lnTo>
                  <a:lnTo>
                    <a:pt x="486994" y="137134"/>
                  </a:lnTo>
                  <a:lnTo>
                    <a:pt x="356412" y="251841"/>
                  </a:lnTo>
                  <a:lnTo>
                    <a:pt x="227012" y="82067"/>
                  </a:lnTo>
                  <a:lnTo>
                    <a:pt x="323100" y="82067"/>
                  </a:lnTo>
                  <a:lnTo>
                    <a:pt x="323100" y="34264"/>
                  </a:lnTo>
                  <a:lnTo>
                    <a:pt x="0" y="34264"/>
                  </a:lnTo>
                  <a:lnTo>
                    <a:pt x="0" y="82067"/>
                  </a:lnTo>
                  <a:lnTo>
                    <a:pt x="104355" y="82067"/>
                  </a:lnTo>
                  <a:lnTo>
                    <a:pt x="278180" y="311975"/>
                  </a:lnTo>
                  <a:lnTo>
                    <a:pt x="278180" y="426923"/>
                  </a:lnTo>
                  <a:lnTo>
                    <a:pt x="172427" y="426923"/>
                  </a:lnTo>
                  <a:lnTo>
                    <a:pt x="172427" y="471817"/>
                  </a:lnTo>
                  <a:lnTo>
                    <a:pt x="494068" y="471817"/>
                  </a:lnTo>
                  <a:lnTo>
                    <a:pt x="494068" y="426923"/>
                  </a:lnTo>
                  <a:lnTo>
                    <a:pt x="392645" y="426923"/>
                  </a:lnTo>
                  <a:lnTo>
                    <a:pt x="392645" y="297154"/>
                  </a:lnTo>
                  <a:lnTo>
                    <a:pt x="574573" y="137134"/>
                  </a:lnTo>
                  <a:lnTo>
                    <a:pt x="669391" y="137134"/>
                  </a:lnTo>
                  <a:lnTo>
                    <a:pt x="669391" y="93675"/>
                  </a:lnTo>
                  <a:close/>
                </a:path>
                <a:path w="2336800" h="472440">
                  <a:moveTo>
                    <a:pt x="886358" y="403821"/>
                  </a:moveTo>
                  <a:lnTo>
                    <a:pt x="837399" y="403821"/>
                  </a:lnTo>
                  <a:lnTo>
                    <a:pt x="802398" y="333883"/>
                  </a:lnTo>
                  <a:lnTo>
                    <a:pt x="784466" y="298069"/>
                  </a:lnTo>
                  <a:lnTo>
                    <a:pt x="762101" y="253390"/>
                  </a:lnTo>
                  <a:lnTo>
                    <a:pt x="739216" y="207670"/>
                  </a:lnTo>
                  <a:lnTo>
                    <a:pt x="794258" y="207670"/>
                  </a:lnTo>
                  <a:lnTo>
                    <a:pt x="794258" y="173558"/>
                  </a:lnTo>
                  <a:lnTo>
                    <a:pt x="715873" y="173558"/>
                  </a:lnTo>
                  <a:lnTo>
                    <a:pt x="715873" y="298069"/>
                  </a:lnTo>
                  <a:lnTo>
                    <a:pt x="670902" y="298069"/>
                  </a:lnTo>
                  <a:lnTo>
                    <a:pt x="693508" y="253390"/>
                  </a:lnTo>
                  <a:lnTo>
                    <a:pt x="715873" y="298069"/>
                  </a:lnTo>
                  <a:lnTo>
                    <a:pt x="715873" y="173558"/>
                  </a:lnTo>
                  <a:lnTo>
                    <a:pt x="622833" y="173558"/>
                  </a:lnTo>
                  <a:lnTo>
                    <a:pt x="622833" y="207670"/>
                  </a:lnTo>
                  <a:lnTo>
                    <a:pt x="647915" y="207670"/>
                  </a:lnTo>
                  <a:lnTo>
                    <a:pt x="560755" y="379933"/>
                  </a:lnTo>
                  <a:lnTo>
                    <a:pt x="505993" y="379933"/>
                  </a:lnTo>
                  <a:lnTo>
                    <a:pt x="505993" y="426008"/>
                  </a:lnTo>
                  <a:lnTo>
                    <a:pt x="667181" y="426008"/>
                  </a:lnTo>
                  <a:lnTo>
                    <a:pt x="667181" y="379933"/>
                  </a:lnTo>
                  <a:lnTo>
                    <a:pt x="629475" y="379933"/>
                  </a:lnTo>
                  <a:lnTo>
                    <a:pt x="652780" y="333883"/>
                  </a:lnTo>
                  <a:lnTo>
                    <a:pt x="733806" y="333883"/>
                  </a:lnTo>
                  <a:lnTo>
                    <a:pt x="768794" y="403821"/>
                  </a:lnTo>
                  <a:lnTo>
                    <a:pt x="714933" y="403821"/>
                  </a:lnTo>
                  <a:lnTo>
                    <a:pt x="714933" y="449021"/>
                  </a:lnTo>
                  <a:lnTo>
                    <a:pt x="886358" y="449021"/>
                  </a:lnTo>
                  <a:lnTo>
                    <a:pt x="886358" y="403821"/>
                  </a:lnTo>
                  <a:close/>
                </a:path>
                <a:path w="2336800" h="472440">
                  <a:moveTo>
                    <a:pt x="1312113" y="334645"/>
                  </a:moveTo>
                  <a:lnTo>
                    <a:pt x="1265872" y="334645"/>
                  </a:lnTo>
                  <a:lnTo>
                    <a:pt x="1265872" y="264795"/>
                  </a:lnTo>
                  <a:lnTo>
                    <a:pt x="1265872" y="219075"/>
                  </a:lnTo>
                  <a:lnTo>
                    <a:pt x="1265872" y="149225"/>
                  </a:lnTo>
                  <a:lnTo>
                    <a:pt x="1265872" y="114935"/>
                  </a:lnTo>
                  <a:lnTo>
                    <a:pt x="1311922" y="114935"/>
                  </a:lnTo>
                  <a:lnTo>
                    <a:pt x="1311922" y="103505"/>
                  </a:lnTo>
                  <a:lnTo>
                    <a:pt x="1311922" y="69215"/>
                  </a:lnTo>
                  <a:lnTo>
                    <a:pt x="1128560" y="69215"/>
                  </a:lnTo>
                  <a:lnTo>
                    <a:pt x="1128560" y="103505"/>
                  </a:lnTo>
                  <a:lnTo>
                    <a:pt x="1128560" y="114935"/>
                  </a:lnTo>
                  <a:lnTo>
                    <a:pt x="1196784" y="114935"/>
                  </a:lnTo>
                  <a:lnTo>
                    <a:pt x="1196784" y="149225"/>
                  </a:lnTo>
                  <a:lnTo>
                    <a:pt x="1196784" y="219075"/>
                  </a:lnTo>
                  <a:lnTo>
                    <a:pt x="1001496" y="219075"/>
                  </a:lnTo>
                  <a:lnTo>
                    <a:pt x="1001496" y="149225"/>
                  </a:lnTo>
                  <a:lnTo>
                    <a:pt x="1082509" y="149225"/>
                  </a:lnTo>
                  <a:lnTo>
                    <a:pt x="1082509" y="114935"/>
                  </a:lnTo>
                  <a:lnTo>
                    <a:pt x="1082509" y="103505"/>
                  </a:lnTo>
                  <a:lnTo>
                    <a:pt x="852246" y="103505"/>
                  </a:lnTo>
                  <a:lnTo>
                    <a:pt x="852246" y="114935"/>
                  </a:lnTo>
                  <a:lnTo>
                    <a:pt x="852246" y="149225"/>
                  </a:lnTo>
                  <a:lnTo>
                    <a:pt x="921334" y="149225"/>
                  </a:lnTo>
                  <a:lnTo>
                    <a:pt x="921334" y="219075"/>
                  </a:lnTo>
                  <a:lnTo>
                    <a:pt x="921334" y="264795"/>
                  </a:lnTo>
                  <a:lnTo>
                    <a:pt x="921334" y="334645"/>
                  </a:lnTo>
                  <a:lnTo>
                    <a:pt x="853287" y="334645"/>
                  </a:lnTo>
                  <a:lnTo>
                    <a:pt x="853287" y="379095"/>
                  </a:lnTo>
                  <a:lnTo>
                    <a:pt x="853287" y="380365"/>
                  </a:lnTo>
                  <a:lnTo>
                    <a:pt x="1071079" y="380365"/>
                  </a:lnTo>
                  <a:lnTo>
                    <a:pt x="1071079" y="379095"/>
                  </a:lnTo>
                  <a:lnTo>
                    <a:pt x="1071079" y="334645"/>
                  </a:lnTo>
                  <a:lnTo>
                    <a:pt x="1001496" y="334645"/>
                  </a:lnTo>
                  <a:lnTo>
                    <a:pt x="1001496" y="264795"/>
                  </a:lnTo>
                  <a:lnTo>
                    <a:pt x="1196784" y="264795"/>
                  </a:lnTo>
                  <a:lnTo>
                    <a:pt x="1196784" y="334645"/>
                  </a:lnTo>
                  <a:lnTo>
                    <a:pt x="1130071" y="334645"/>
                  </a:lnTo>
                  <a:lnTo>
                    <a:pt x="1130071" y="379095"/>
                  </a:lnTo>
                  <a:lnTo>
                    <a:pt x="1312113" y="379095"/>
                  </a:lnTo>
                  <a:lnTo>
                    <a:pt x="1312113" y="334645"/>
                  </a:lnTo>
                  <a:close/>
                </a:path>
                <a:path w="2336800" h="472440">
                  <a:moveTo>
                    <a:pt x="1693481" y="239141"/>
                  </a:moveTo>
                  <a:lnTo>
                    <a:pt x="1683461" y="200520"/>
                  </a:lnTo>
                  <a:lnTo>
                    <a:pt x="1661350" y="166890"/>
                  </a:lnTo>
                  <a:lnTo>
                    <a:pt x="1652752" y="159588"/>
                  </a:lnTo>
                  <a:lnTo>
                    <a:pt x="1636979" y="146202"/>
                  </a:lnTo>
                  <a:lnTo>
                    <a:pt x="1636979" y="243763"/>
                  </a:lnTo>
                  <a:lnTo>
                    <a:pt x="1630413" y="281190"/>
                  </a:lnTo>
                  <a:lnTo>
                    <a:pt x="1606765" y="313270"/>
                  </a:lnTo>
                  <a:lnTo>
                    <a:pt x="1569707" y="336626"/>
                  </a:lnTo>
                  <a:lnTo>
                    <a:pt x="1522895" y="347916"/>
                  </a:lnTo>
                  <a:lnTo>
                    <a:pt x="1474889" y="344411"/>
                  </a:lnTo>
                  <a:lnTo>
                    <a:pt x="1434515" y="327406"/>
                  </a:lnTo>
                  <a:lnTo>
                    <a:pt x="1405966" y="299618"/>
                  </a:lnTo>
                  <a:lnTo>
                    <a:pt x="1393393" y="263753"/>
                  </a:lnTo>
                  <a:lnTo>
                    <a:pt x="1399946" y="226314"/>
                  </a:lnTo>
                  <a:lnTo>
                    <a:pt x="1423593" y="194246"/>
                  </a:lnTo>
                  <a:lnTo>
                    <a:pt x="1460652" y="170891"/>
                  </a:lnTo>
                  <a:lnTo>
                    <a:pt x="1507451" y="159588"/>
                  </a:lnTo>
                  <a:lnTo>
                    <a:pt x="1555457" y="163106"/>
                  </a:lnTo>
                  <a:lnTo>
                    <a:pt x="1595831" y="180111"/>
                  </a:lnTo>
                  <a:lnTo>
                    <a:pt x="1624393" y="207899"/>
                  </a:lnTo>
                  <a:lnTo>
                    <a:pt x="1636979" y="243763"/>
                  </a:lnTo>
                  <a:lnTo>
                    <a:pt x="1636979" y="146202"/>
                  </a:lnTo>
                  <a:lnTo>
                    <a:pt x="1629092" y="139509"/>
                  </a:lnTo>
                  <a:lnTo>
                    <a:pt x="1588630" y="119634"/>
                  </a:lnTo>
                  <a:lnTo>
                    <a:pt x="1541881" y="108521"/>
                  </a:lnTo>
                  <a:lnTo>
                    <a:pt x="1490776" y="107416"/>
                  </a:lnTo>
                  <a:lnTo>
                    <a:pt x="1440522" y="116840"/>
                  </a:lnTo>
                  <a:lnTo>
                    <a:pt x="1396199" y="135432"/>
                  </a:lnTo>
                  <a:lnTo>
                    <a:pt x="1359522" y="161645"/>
                  </a:lnTo>
                  <a:lnTo>
                    <a:pt x="1332166" y="193916"/>
                  </a:lnTo>
                  <a:lnTo>
                    <a:pt x="1315847" y="230708"/>
                  </a:lnTo>
                  <a:lnTo>
                    <a:pt x="1312252" y="270446"/>
                  </a:lnTo>
                  <a:lnTo>
                    <a:pt x="1322285" y="309067"/>
                  </a:lnTo>
                  <a:lnTo>
                    <a:pt x="1344383" y="342684"/>
                  </a:lnTo>
                  <a:lnTo>
                    <a:pt x="1376629" y="370052"/>
                  </a:lnTo>
                  <a:lnTo>
                    <a:pt x="1417104" y="389928"/>
                  </a:lnTo>
                  <a:lnTo>
                    <a:pt x="1463852" y="401027"/>
                  </a:lnTo>
                  <a:lnTo>
                    <a:pt x="1514957" y="402132"/>
                  </a:lnTo>
                  <a:lnTo>
                    <a:pt x="1565198" y="392709"/>
                  </a:lnTo>
                  <a:lnTo>
                    <a:pt x="1609509" y="374116"/>
                  </a:lnTo>
                  <a:lnTo>
                    <a:pt x="1646199" y="347916"/>
                  </a:lnTo>
                  <a:lnTo>
                    <a:pt x="1673555" y="315645"/>
                  </a:lnTo>
                  <a:lnTo>
                    <a:pt x="1689887" y="278879"/>
                  </a:lnTo>
                  <a:lnTo>
                    <a:pt x="1693481" y="239141"/>
                  </a:lnTo>
                  <a:close/>
                </a:path>
                <a:path w="2336800" h="472440">
                  <a:moveTo>
                    <a:pt x="2160549" y="199910"/>
                  </a:moveTo>
                  <a:lnTo>
                    <a:pt x="2132279" y="131673"/>
                  </a:lnTo>
                  <a:lnTo>
                    <a:pt x="2103958" y="104140"/>
                  </a:lnTo>
                  <a:lnTo>
                    <a:pt x="2093175" y="97536"/>
                  </a:lnTo>
                  <a:lnTo>
                    <a:pt x="2093175" y="204190"/>
                  </a:lnTo>
                  <a:lnTo>
                    <a:pt x="2085708" y="247523"/>
                  </a:lnTo>
                  <a:lnTo>
                    <a:pt x="2058822" y="284632"/>
                  </a:lnTo>
                  <a:lnTo>
                    <a:pt x="2016696" y="311658"/>
                  </a:lnTo>
                  <a:lnTo>
                    <a:pt x="1963483" y="324726"/>
                  </a:lnTo>
                  <a:lnTo>
                    <a:pt x="1908898" y="320675"/>
                  </a:lnTo>
                  <a:lnTo>
                    <a:pt x="1863001" y="301002"/>
                  </a:lnTo>
                  <a:lnTo>
                    <a:pt x="1830527" y="268846"/>
                  </a:lnTo>
                  <a:lnTo>
                    <a:pt x="1816227" y="227342"/>
                  </a:lnTo>
                  <a:lnTo>
                    <a:pt x="1823681" y="184010"/>
                  </a:lnTo>
                  <a:lnTo>
                    <a:pt x="1850567" y="146888"/>
                  </a:lnTo>
                  <a:lnTo>
                    <a:pt x="1892706" y="119862"/>
                  </a:lnTo>
                  <a:lnTo>
                    <a:pt x="1945919" y="106794"/>
                  </a:lnTo>
                  <a:lnTo>
                    <a:pt x="2000504" y="110845"/>
                  </a:lnTo>
                  <a:lnTo>
                    <a:pt x="2046389" y="130530"/>
                  </a:lnTo>
                  <a:lnTo>
                    <a:pt x="2078863" y="162687"/>
                  </a:lnTo>
                  <a:lnTo>
                    <a:pt x="2093175" y="204190"/>
                  </a:lnTo>
                  <a:lnTo>
                    <a:pt x="2093175" y="97536"/>
                  </a:lnTo>
                  <a:lnTo>
                    <a:pt x="2068029" y="82118"/>
                  </a:lnTo>
                  <a:lnTo>
                    <a:pt x="2025891" y="66484"/>
                  </a:lnTo>
                  <a:lnTo>
                    <a:pt x="1978926" y="58077"/>
                  </a:lnTo>
                  <a:lnTo>
                    <a:pt x="1928545" y="57746"/>
                  </a:lnTo>
                  <a:lnTo>
                    <a:pt x="1871040" y="67919"/>
                  </a:lnTo>
                  <a:lnTo>
                    <a:pt x="1820316" y="87985"/>
                  </a:lnTo>
                  <a:lnTo>
                    <a:pt x="1778330" y="116281"/>
                  </a:lnTo>
                  <a:lnTo>
                    <a:pt x="1747024" y="151104"/>
                  </a:lnTo>
                  <a:lnTo>
                    <a:pt x="1728343" y="190804"/>
                  </a:lnTo>
                  <a:lnTo>
                    <a:pt x="1724240" y="233680"/>
                  </a:lnTo>
                  <a:lnTo>
                    <a:pt x="1733169" y="269709"/>
                  </a:lnTo>
                  <a:lnTo>
                    <a:pt x="1780819" y="329438"/>
                  </a:lnTo>
                  <a:lnTo>
                    <a:pt x="1816747" y="351447"/>
                  </a:lnTo>
                  <a:lnTo>
                    <a:pt x="1858886" y="367080"/>
                  </a:lnTo>
                  <a:lnTo>
                    <a:pt x="1905850" y="375488"/>
                  </a:lnTo>
                  <a:lnTo>
                    <a:pt x="1956231" y="375818"/>
                  </a:lnTo>
                  <a:lnTo>
                    <a:pt x="2013737" y="365645"/>
                  </a:lnTo>
                  <a:lnTo>
                    <a:pt x="2064448" y="345579"/>
                  </a:lnTo>
                  <a:lnTo>
                    <a:pt x="2106434" y="317309"/>
                  </a:lnTo>
                  <a:lnTo>
                    <a:pt x="2137753" y="282486"/>
                  </a:lnTo>
                  <a:lnTo>
                    <a:pt x="2156434" y="242785"/>
                  </a:lnTo>
                  <a:lnTo>
                    <a:pt x="2160549" y="199910"/>
                  </a:lnTo>
                  <a:close/>
                </a:path>
                <a:path w="2336800" h="472440">
                  <a:moveTo>
                    <a:pt x="2266391" y="334975"/>
                  </a:moveTo>
                  <a:lnTo>
                    <a:pt x="2198700" y="334975"/>
                  </a:lnTo>
                  <a:lnTo>
                    <a:pt x="2198700" y="403796"/>
                  </a:lnTo>
                  <a:lnTo>
                    <a:pt x="2266391" y="403796"/>
                  </a:lnTo>
                  <a:lnTo>
                    <a:pt x="2266391" y="334975"/>
                  </a:lnTo>
                  <a:close/>
                </a:path>
                <a:path w="2336800" h="472440">
                  <a:moveTo>
                    <a:pt x="2336368" y="11468"/>
                  </a:moveTo>
                  <a:lnTo>
                    <a:pt x="2209038" y="0"/>
                  </a:lnTo>
                  <a:lnTo>
                    <a:pt x="2211324" y="298272"/>
                  </a:lnTo>
                  <a:lnTo>
                    <a:pt x="2268677" y="299415"/>
                  </a:lnTo>
                  <a:lnTo>
                    <a:pt x="2336368" y="11468"/>
                  </a:lnTo>
                  <a:close/>
                </a:path>
              </a:pathLst>
            </a:custGeom>
            <a:solidFill>
              <a:srgbClr val="EE2B53"/>
            </a:solidFill>
          </p:spPr>
          <p:txBody>
            <a:bodyPr wrap="square" lIns="0" tIns="0" rIns="0" bIns="0" rtlCol="0"/>
            <a:lstStyle/>
            <a:p>
              <a:endParaRPr sz="2109"/>
            </a:p>
          </p:txBody>
        </p:sp>
        <p:pic>
          <p:nvPicPr>
            <p:cNvPr id="15" name="object 15"/>
            <p:cNvPicPr/>
            <p:nvPr/>
          </p:nvPicPr>
          <p:blipFill>
            <a:blip r:embed="rId3" cstate="print"/>
            <a:stretch>
              <a:fillRect/>
            </a:stretch>
          </p:blipFill>
          <p:spPr>
            <a:xfrm>
              <a:off x="3089215" y="8775828"/>
              <a:ext cx="75126" cy="74134"/>
            </a:xfrm>
            <a:prstGeom prst="rect">
              <a:avLst/>
            </a:prstGeom>
          </p:spPr>
        </p:pic>
      </p:grpSp>
      <p:sp>
        <p:nvSpPr>
          <p:cNvPr id="16" name="object 16"/>
          <p:cNvSpPr txBox="1">
            <a:spLocks noGrp="1"/>
          </p:cNvSpPr>
          <p:nvPr>
            <p:ph type="title"/>
          </p:nvPr>
        </p:nvSpPr>
        <p:spPr>
          <a:xfrm>
            <a:off x="507893" y="20866"/>
            <a:ext cx="6716391" cy="907821"/>
          </a:xfrm>
          <a:prstGeom prst="rect">
            <a:avLst/>
          </a:prstGeom>
        </p:spPr>
        <p:txBody>
          <a:bodyPr vert="horz" wrap="square" lIns="0" tIns="258961" rIns="0" bIns="0" numCol="1" rtlCol="0" anchor="t" anchorCtr="0" compatLnSpc="1">
            <a:prstTxWarp prst="textNoShape">
              <a:avLst/>
            </a:prstTxWarp>
            <a:spAutoFit/>
          </a:bodyPr>
          <a:lstStyle/>
          <a:p>
            <a:pPr marL="8929">
              <a:spcBef>
                <a:spcPts val="70"/>
              </a:spcBef>
            </a:pPr>
            <a:r>
              <a:rPr spc="109" dirty="0"/>
              <a:t>Why</a:t>
            </a:r>
            <a:r>
              <a:rPr spc="-49" dirty="0"/>
              <a:t> </a:t>
            </a:r>
            <a:r>
              <a:rPr dirty="0"/>
              <a:t>study</a:t>
            </a:r>
            <a:r>
              <a:rPr spc="-49" dirty="0"/>
              <a:t> </a:t>
            </a:r>
            <a:r>
              <a:rPr spc="-7" dirty="0"/>
              <a:t>algorithms?</a:t>
            </a:r>
          </a:p>
        </p:txBody>
      </p:sp>
      <p:grpSp>
        <p:nvGrpSpPr>
          <p:cNvPr id="17" name="object 17"/>
          <p:cNvGrpSpPr/>
          <p:nvPr/>
        </p:nvGrpSpPr>
        <p:grpSpPr>
          <a:xfrm>
            <a:off x="5740874" y="4868380"/>
            <a:ext cx="1072455" cy="1107281"/>
            <a:chOff x="8152466" y="4483100"/>
            <a:chExt cx="1525270" cy="1574800"/>
          </a:xfrm>
        </p:grpSpPr>
        <p:sp>
          <p:nvSpPr>
            <p:cNvPr id="18" name="object 18"/>
            <p:cNvSpPr/>
            <p:nvPr/>
          </p:nvSpPr>
          <p:spPr>
            <a:xfrm>
              <a:off x="8152466" y="4483100"/>
              <a:ext cx="1525270" cy="1574800"/>
            </a:xfrm>
            <a:custGeom>
              <a:avLst/>
              <a:gdLst/>
              <a:ahLst/>
              <a:cxnLst/>
              <a:rect l="l" t="t" r="r" b="b"/>
              <a:pathLst>
                <a:path w="1525270" h="1574800">
                  <a:moveTo>
                    <a:pt x="1524933" y="0"/>
                  </a:moveTo>
                  <a:lnTo>
                    <a:pt x="0" y="0"/>
                  </a:lnTo>
                  <a:lnTo>
                    <a:pt x="0" y="1574800"/>
                  </a:lnTo>
                  <a:lnTo>
                    <a:pt x="1524933" y="1574800"/>
                  </a:lnTo>
                  <a:lnTo>
                    <a:pt x="1524933" y="0"/>
                  </a:lnTo>
                  <a:close/>
                </a:path>
              </a:pathLst>
            </a:custGeom>
            <a:solidFill>
              <a:srgbClr val="FFFFFF"/>
            </a:solidFill>
          </p:spPr>
          <p:txBody>
            <a:bodyPr wrap="square" lIns="0" tIns="0" rIns="0" bIns="0" rtlCol="0"/>
            <a:lstStyle/>
            <a:p>
              <a:endParaRPr sz="2109"/>
            </a:p>
          </p:txBody>
        </p:sp>
        <p:sp>
          <p:nvSpPr>
            <p:cNvPr id="19" name="object 19"/>
            <p:cNvSpPr/>
            <p:nvPr/>
          </p:nvSpPr>
          <p:spPr>
            <a:xfrm>
              <a:off x="8378000" y="4610404"/>
              <a:ext cx="984250" cy="844550"/>
            </a:xfrm>
            <a:custGeom>
              <a:avLst/>
              <a:gdLst/>
              <a:ahLst/>
              <a:cxnLst/>
              <a:rect l="l" t="t" r="r" b="b"/>
              <a:pathLst>
                <a:path w="984250" h="844550">
                  <a:moveTo>
                    <a:pt x="352018" y="0"/>
                  </a:moveTo>
                  <a:lnTo>
                    <a:pt x="0" y="0"/>
                  </a:lnTo>
                  <a:lnTo>
                    <a:pt x="1168" y="843203"/>
                  </a:lnTo>
                  <a:lnTo>
                    <a:pt x="13550" y="814578"/>
                  </a:lnTo>
                  <a:lnTo>
                    <a:pt x="92887" y="625043"/>
                  </a:lnTo>
                  <a:lnTo>
                    <a:pt x="352018" y="0"/>
                  </a:lnTo>
                  <a:close/>
                </a:path>
                <a:path w="984250" h="844550">
                  <a:moveTo>
                    <a:pt x="718134" y="844372"/>
                  </a:moveTo>
                  <a:lnTo>
                    <a:pt x="488137" y="321030"/>
                  </a:lnTo>
                  <a:lnTo>
                    <a:pt x="482295" y="335673"/>
                  </a:lnTo>
                  <a:lnTo>
                    <a:pt x="441261" y="431761"/>
                  </a:lnTo>
                  <a:lnTo>
                    <a:pt x="385102" y="561403"/>
                  </a:lnTo>
                  <a:lnTo>
                    <a:pt x="342671" y="657987"/>
                  </a:lnTo>
                  <a:lnTo>
                    <a:pt x="335597" y="673061"/>
                  </a:lnTo>
                  <a:lnTo>
                    <a:pt x="497535" y="673061"/>
                  </a:lnTo>
                  <a:lnTo>
                    <a:pt x="508215" y="699973"/>
                  </a:lnTo>
                  <a:lnTo>
                    <a:pt x="556831" y="817054"/>
                  </a:lnTo>
                  <a:lnTo>
                    <a:pt x="567931" y="844372"/>
                  </a:lnTo>
                  <a:lnTo>
                    <a:pt x="718134" y="844372"/>
                  </a:lnTo>
                  <a:close/>
                </a:path>
                <a:path w="984250" h="844550">
                  <a:moveTo>
                    <a:pt x="984008" y="0"/>
                  </a:moveTo>
                  <a:lnTo>
                    <a:pt x="620001" y="0"/>
                  </a:lnTo>
                  <a:lnTo>
                    <a:pt x="927011" y="712978"/>
                  </a:lnTo>
                  <a:lnTo>
                    <a:pt x="983754" y="843648"/>
                  </a:lnTo>
                  <a:lnTo>
                    <a:pt x="984008" y="0"/>
                  </a:lnTo>
                  <a:close/>
                </a:path>
              </a:pathLst>
            </a:custGeom>
            <a:solidFill>
              <a:srgbClr val="ED1C24"/>
            </a:solidFill>
          </p:spPr>
          <p:txBody>
            <a:bodyPr wrap="square" lIns="0" tIns="0" rIns="0" bIns="0" rtlCol="0"/>
            <a:lstStyle/>
            <a:p>
              <a:endParaRPr sz="2109"/>
            </a:p>
          </p:txBody>
        </p:sp>
        <p:sp>
          <p:nvSpPr>
            <p:cNvPr id="20" name="object 20"/>
            <p:cNvSpPr/>
            <p:nvPr/>
          </p:nvSpPr>
          <p:spPr>
            <a:xfrm>
              <a:off x="8388007" y="5586856"/>
              <a:ext cx="985519" cy="344170"/>
            </a:xfrm>
            <a:custGeom>
              <a:avLst/>
              <a:gdLst/>
              <a:ahLst/>
              <a:cxnLst/>
              <a:rect l="l" t="t" r="r" b="b"/>
              <a:pathLst>
                <a:path w="985520" h="344170">
                  <a:moveTo>
                    <a:pt x="211162" y="334670"/>
                  </a:moveTo>
                  <a:lnTo>
                    <a:pt x="196532" y="272034"/>
                  </a:lnTo>
                  <a:lnTo>
                    <a:pt x="183235" y="215150"/>
                  </a:lnTo>
                  <a:lnTo>
                    <a:pt x="153962" y="89890"/>
                  </a:lnTo>
                  <a:lnTo>
                    <a:pt x="132956" y="0"/>
                  </a:lnTo>
                  <a:lnTo>
                    <a:pt x="129971" y="0"/>
                  </a:lnTo>
                  <a:lnTo>
                    <a:pt x="129971" y="215150"/>
                  </a:lnTo>
                  <a:lnTo>
                    <a:pt x="80810" y="215150"/>
                  </a:lnTo>
                  <a:lnTo>
                    <a:pt x="105397" y="89890"/>
                  </a:lnTo>
                  <a:lnTo>
                    <a:pt x="129971" y="215150"/>
                  </a:lnTo>
                  <a:lnTo>
                    <a:pt x="129971" y="0"/>
                  </a:lnTo>
                  <a:lnTo>
                    <a:pt x="78206" y="0"/>
                  </a:lnTo>
                  <a:lnTo>
                    <a:pt x="0" y="334670"/>
                  </a:lnTo>
                  <a:lnTo>
                    <a:pt x="56972" y="334670"/>
                  </a:lnTo>
                  <a:lnTo>
                    <a:pt x="70015" y="272034"/>
                  </a:lnTo>
                  <a:lnTo>
                    <a:pt x="140766" y="272034"/>
                  </a:lnTo>
                  <a:lnTo>
                    <a:pt x="154178" y="334670"/>
                  </a:lnTo>
                  <a:lnTo>
                    <a:pt x="211162" y="334670"/>
                  </a:lnTo>
                  <a:close/>
                </a:path>
                <a:path w="985520" h="344170">
                  <a:moveTo>
                    <a:pt x="384365" y="0"/>
                  </a:moveTo>
                  <a:lnTo>
                    <a:pt x="336308" y="0"/>
                  </a:lnTo>
                  <a:lnTo>
                    <a:pt x="336308" y="213233"/>
                  </a:lnTo>
                  <a:lnTo>
                    <a:pt x="335064" y="241604"/>
                  </a:lnTo>
                  <a:lnTo>
                    <a:pt x="330263" y="268147"/>
                  </a:lnTo>
                  <a:lnTo>
                    <a:pt x="320294" y="287794"/>
                  </a:lnTo>
                  <a:lnTo>
                    <a:pt x="303542" y="295465"/>
                  </a:lnTo>
                  <a:lnTo>
                    <a:pt x="286321" y="287045"/>
                  </a:lnTo>
                  <a:lnTo>
                    <a:pt x="276402" y="266179"/>
                  </a:lnTo>
                  <a:lnTo>
                    <a:pt x="271856" y="239395"/>
                  </a:lnTo>
                  <a:lnTo>
                    <a:pt x="270776" y="213233"/>
                  </a:lnTo>
                  <a:lnTo>
                    <a:pt x="273951" y="171894"/>
                  </a:lnTo>
                  <a:lnTo>
                    <a:pt x="281990" y="147129"/>
                  </a:lnTo>
                  <a:lnTo>
                    <a:pt x="292608" y="135102"/>
                  </a:lnTo>
                  <a:lnTo>
                    <a:pt x="303542" y="131953"/>
                  </a:lnTo>
                  <a:lnTo>
                    <a:pt x="314325" y="135102"/>
                  </a:lnTo>
                  <a:lnTo>
                    <a:pt x="324954" y="147129"/>
                  </a:lnTo>
                  <a:lnTo>
                    <a:pt x="333082" y="171894"/>
                  </a:lnTo>
                  <a:lnTo>
                    <a:pt x="336308" y="213233"/>
                  </a:lnTo>
                  <a:lnTo>
                    <a:pt x="336308" y="0"/>
                  </a:lnTo>
                  <a:lnTo>
                    <a:pt x="334086" y="0"/>
                  </a:lnTo>
                  <a:lnTo>
                    <a:pt x="334086" y="108521"/>
                  </a:lnTo>
                  <a:lnTo>
                    <a:pt x="324129" y="96634"/>
                  </a:lnTo>
                  <a:lnTo>
                    <a:pt x="314579" y="88633"/>
                  </a:lnTo>
                  <a:lnTo>
                    <a:pt x="303961" y="84124"/>
                  </a:lnTo>
                  <a:lnTo>
                    <a:pt x="290880" y="82702"/>
                  </a:lnTo>
                  <a:lnTo>
                    <a:pt x="255714" y="94208"/>
                  </a:lnTo>
                  <a:lnTo>
                    <a:pt x="233527" y="124180"/>
                  </a:lnTo>
                  <a:lnTo>
                    <a:pt x="221957" y="165811"/>
                  </a:lnTo>
                  <a:lnTo>
                    <a:pt x="218630" y="212280"/>
                  </a:lnTo>
                  <a:lnTo>
                    <a:pt x="222732" y="263474"/>
                  </a:lnTo>
                  <a:lnTo>
                    <a:pt x="235534" y="305257"/>
                  </a:lnTo>
                  <a:lnTo>
                    <a:pt x="257746" y="333425"/>
                  </a:lnTo>
                  <a:lnTo>
                    <a:pt x="290131" y="343750"/>
                  </a:lnTo>
                  <a:lnTo>
                    <a:pt x="305155" y="340995"/>
                  </a:lnTo>
                  <a:lnTo>
                    <a:pt x="318071" y="333235"/>
                  </a:lnTo>
                  <a:lnTo>
                    <a:pt x="328472" y="321157"/>
                  </a:lnTo>
                  <a:lnTo>
                    <a:pt x="335940" y="305498"/>
                  </a:lnTo>
                  <a:lnTo>
                    <a:pt x="337794" y="305498"/>
                  </a:lnTo>
                  <a:lnTo>
                    <a:pt x="339293" y="334670"/>
                  </a:lnTo>
                  <a:lnTo>
                    <a:pt x="384365" y="334670"/>
                  </a:lnTo>
                  <a:lnTo>
                    <a:pt x="384365" y="305498"/>
                  </a:lnTo>
                  <a:lnTo>
                    <a:pt x="384365" y="295465"/>
                  </a:lnTo>
                  <a:lnTo>
                    <a:pt x="384365" y="131953"/>
                  </a:lnTo>
                  <a:lnTo>
                    <a:pt x="384365" y="108521"/>
                  </a:lnTo>
                  <a:lnTo>
                    <a:pt x="384365" y="0"/>
                  </a:lnTo>
                  <a:close/>
                </a:path>
                <a:path w="985520" h="344170">
                  <a:moveTo>
                    <a:pt x="590334" y="212750"/>
                  </a:moveTo>
                  <a:lnTo>
                    <a:pt x="585279" y="160769"/>
                  </a:lnTo>
                  <a:lnTo>
                    <a:pt x="569760" y="119583"/>
                  </a:lnTo>
                  <a:lnTo>
                    <a:pt x="538187" y="91186"/>
                  </a:lnTo>
                  <a:lnTo>
                    <a:pt x="538187" y="212750"/>
                  </a:lnTo>
                  <a:lnTo>
                    <a:pt x="536054" y="251815"/>
                  </a:lnTo>
                  <a:lnTo>
                    <a:pt x="529717" y="277177"/>
                  </a:lnTo>
                  <a:lnTo>
                    <a:pt x="519341" y="290868"/>
                  </a:lnTo>
                  <a:lnTo>
                    <a:pt x="505053" y="294970"/>
                  </a:lnTo>
                  <a:lnTo>
                    <a:pt x="493433" y="292150"/>
                  </a:lnTo>
                  <a:lnTo>
                    <a:pt x="482752" y="280581"/>
                  </a:lnTo>
                  <a:lnTo>
                    <a:pt x="474941" y="255651"/>
                  </a:lnTo>
                  <a:lnTo>
                    <a:pt x="471906" y="212750"/>
                  </a:lnTo>
                  <a:lnTo>
                    <a:pt x="474941" y="170599"/>
                  </a:lnTo>
                  <a:lnTo>
                    <a:pt x="482752" y="145935"/>
                  </a:lnTo>
                  <a:lnTo>
                    <a:pt x="493433" y="134353"/>
                  </a:lnTo>
                  <a:lnTo>
                    <a:pt x="505053" y="131470"/>
                  </a:lnTo>
                  <a:lnTo>
                    <a:pt x="518388" y="134899"/>
                  </a:lnTo>
                  <a:lnTo>
                    <a:pt x="528878" y="147370"/>
                  </a:lnTo>
                  <a:lnTo>
                    <a:pt x="535736" y="172224"/>
                  </a:lnTo>
                  <a:lnTo>
                    <a:pt x="538187" y="212750"/>
                  </a:lnTo>
                  <a:lnTo>
                    <a:pt x="538187" y="91186"/>
                  </a:lnTo>
                  <a:lnTo>
                    <a:pt x="466737" y="92468"/>
                  </a:lnTo>
                  <a:lnTo>
                    <a:pt x="424764" y="160769"/>
                  </a:lnTo>
                  <a:lnTo>
                    <a:pt x="419760" y="212750"/>
                  </a:lnTo>
                  <a:lnTo>
                    <a:pt x="424815" y="265290"/>
                  </a:lnTo>
                  <a:lnTo>
                    <a:pt x="440334" y="306755"/>
                  </a:lnTo>
                  <a:lnTo>
                    <a:pt x="466902" y="333971"/>
                  </a:lnTo>
                  <a:lnTo>
                    <a:pt x="505053" y="343738"/>
                  </a:lnTo>
                  <a:lnTo>
                    <a:pt x="543039" y="333971"/>
                  </a:lnTo>
                  <a:lnTo>
                    <a:pt x="569620" y="306755"/>
                  </a:lnTo>
                  <a:lnTo>
                    <a:pt x="574052" y="294970"/>
                  </a:lnTo>
                  <a:lnTo>
                    <a:pt x="585228" y="265290"/>
                  </a:lnTo>
                  <a:lnTo>
                    <a:pt x="590334" y="212750"/>
                  </a:lnTo>
                  <a:close/>
                </a:path>
                <a:path w="985520" h="344170">
                  <a:moveTo>
                    <a:pt x="791044" y="212280"/>
                  </a:moveTo>
                  <a:lnTo>
                    <a:pt x="787184" y="160972"/>
                  </a:lnTo>
                  <a:lnTo>
                    <a:pt x="778217" y="131470"/>
                  </a:lnTo>
                  <a:lnTo>
                    <a:pt x="774700" y="119888"/>
                  </a:lnTo>
                  <a:lnTo>
                    <a:pt x="767702" y="111391"/>
                  </a:lnTo>
                  <a:lnTo>
                    <a:pt x="752221" y="92595"/>
                  </a:lnTo>
                  <a:lnTo>
                    <a:pt x="738898" y="88709"/>
                  </a:lnTo>
                  <a:lnTo>
                    <a:pt x="738898" y="212763"/>
                  </a:lnTo>
                  <a:lnTo>
                    <a:pt x="737654" y="241134"/>
                  </a:lnTo>
                  <a:lnTo>
                    <a:pt x="732840" y="267665"/>
                  </a:lnTo>
                  <a:lnTo>
                    <a:pt x="722871" y="287312"/>
                  </a:lnTo>
                  <a:lnTo>
                    <a:pt x="706120" y="294982"/>
                  </a:lnTo>
                  <a:lnTo>
                    <a:pt x="688898" y="286562"/>
                  </a:lnTo>
                  <a:lnTo>
                    <a:pt x="678980" y="265696"/>
                  </a:lnTo>
                  <a:lnTo>
                    <a:pt x="674446" y="238912"/>
                  </a:lnTo>
                  <a:lnTo>
                    <a:pt x="673354" y="212763"/>
                  </a:lnTo>
                  <a:lnTo>
                    <a:pt x="676529" y="171411"/>
                  </a:lnTo>
                  <a:lnTo>
                    <a:pt x="684568" y="146646"/>
                  </a:lnTo>
                  <a:lnTo>
                    <a:pt x="695185" y="134620"/>
                  </a:lnTo>
                  <a:lnTo>
                    <a:pt x="706120" y="131470"/>
                  </a:lnTo>
                  <a:lnTo>
                    <a:pt x="716902" y="134620"/>
                  </a:lnTo>
                  <a:lnTo>
                    <a:pt x="727544" y="146646"/>
                  </a:lnTo>
                  <a:lnTo>
                    <a:pt x="735660" y="171411"/>
                  </a:lnTo>
                  <a:lnTo>
                    <a:pt x="738898" y="212763"/>
                  </a:lnTo>
                  <a:lnTo>
                    <a:pt x="738898" y="88709"/>
                  </a:lnTo>
                  <a:lnTo>
                    <a:pt x="718413" y="82715"/>
                  </a:lnTo>
                  <a:lnTo>
                    <a:pt x="707847" y="83832"/>
                  </a:lnTo>
                  <a:lnTo>
                    <a:pt x="696163" y="88087"/>
                  </a:lnTo>
                  <a:lnTo>
                    <a:pt x="684898" y="96824"/>
                  </a:lnTo>
                  <a:lnTo>
                    <a:pt x="675589" y="111391"/>
                  </a:lnTo>
                  <a:lnTo>
                    <a:pt x="675589" y="0"/>
                  </a:lnTo>
                  <a:lnTo>
                    <a:pt x="624928" y="0"/>
                  </a:lnTo>
                  <a:lnTo>
                    <a:pt x="624928" y="334657"/>
                  </a:lnTo>
                  <a:lnTo>
                    <a:pt x="670001" y="334657"/>
                  </a:lnTo>
                  <a:lnTo>
                    <a:pt x="671487" y="305498"/>
                  </a:lnTo>
                  <a:lnTo>
                    <a:pt x="672973" y="305498"/>
                  </a:lnTo>
                  <a:lnTo>
                    <a:pt x="681596" y="322973"/>
                  </a:lnTo>
                  <a:lnTo>
                    <a:pt x="691692" y="334835"/>
                  </a:lnTo>
                  <a:lnTo>
                    <a:pt x="703872" y="341604"/>
                  </a:lnTo>
                  <a:lnTo>
                    <a:pt x="718781" y="343750"/>
                  </a:lnTo>
                  <a:lnTo>
                    <a:pt x="752538" y="333489"/>
                  </a:lnTo>
                  <a:lnTo>
                    <a:pt x="774839" y="305498"/>
                  </a:lnTo>
                  <a:lnTo>
                    <a:pt x="777976" y="294982"/>
                  </a:lnTo>
                  <a:lnTo>
                    <a:pt x="787234" y="263677"/>
                  </a:lnTo>
                  <a:lnTo>
                    <a:pt x="791044" y="212280"/>
                  </a:lnTo>
                  <a:close/>
                </a:path>
                <a:path w="985520" h="344170">
                  <a:moveTo>
                    <a:pt x="985100" y="217525"/>
                  </a:moveTo>
                  <a:lnTo>
                    <a:pt x="982027" y="190271"/>
                  </a:lnTo>
                  <a:lnTo>
                    <a:pt x="977188" y="147447"/>
                  </a:lnTo>
                  <a:lnTo>
                    <a:pt x="969403" y="131470"/>
                  </a:lnTo>
                  <a:lnTo>
                    <a:pt x="957262" y="106553"/>
                  </a:lnTo>
                  <a:lnTo>
                    <a:pt x="932967" y="88836"/>
                  </a:lnTo>
                  <a:lnTo>
                    <a:pt x="932967" y="190271"/>
                  </a:lnTo>
                  <a:lnTo>
                    <a:pt x="868908" y="190271"/>
                  </a:lnTo>
                  <a:lnTo>
                    <a:pt x="870331" y="173418"/>
                  </a:lnTo>
                  <a:lnTo>
                    <a:pt x="875245" y="154063"/>
                  </a:lnTo>
                  <a:lnTo>
                    <a:pt x="885456" y="138112"/>
                  </a:lnTo>
                  <a:lnTo>
                    <a:pt x="902804" y="131470"/>
                  </a:lnTo>
                  <a:lnTo>
                    <a:pt x="914374" y="133731"/>
                  </a:lnTo>
                  <a:lnTo>
                    <a:pt x="923607" y="142405"/>
                  </a:lnTo>
                  <a:lnTo>
                    <a:pt x="929970" y="160312"/>
                  </a:lnTo>
                  <a:lnTo>
                    <a:pt x="932967" y="190271"/>
                  </a:lnTo>
                  <a:lnTo>
                    <a:pt x="932967" y="88836"/>
                  </a:lnTo>
                  <a:lnTo>
                    <a:pt x="931062" y="87439"/>
                  </a:lnTo>
                  <a:lnTo>
                    <a:pt x="904290" y="82702"/>
                  </a:lnTo>
                  <a:lnTo>
                    <a:pt x="868146" y="91325"/>
                  </a:lnTo>
                  <a:lnTo>
                    <a:pt x="840562" y="116535"/>
                  </a:lnTo>
                  <a:lnTo>
                    <a:pt x="822947" y="157340"/>
                  </a:lnTo>
                  <a:lnTo>
                    <a:pt x="816762" y="212750"/>
                  </a:lnTo>
                  <a:lnTo>
                    <a:pt x="825512" y="283641"/>
                  </a:lnTo>
                  <a:lnTo>
                    <a:pt x="847077" y="323062"/>
                  </a:lnTo>
                  <a:lnTo>
                    <a:pt x="874433" y="340080"/>
                  </a:lnTo>
                  <a:lnTo>
                    <a:pt x="900569" y="343738"/>
                  </a:lnTo>
                  <a:lnTo>
                    <a:pt x="923099" y="341693"/>
                  </a:lnTo>
                  <a:lnTo>
                    <a:pt x="946746" y="331673"/>
                  </a:lnTo>
                  <a:lnTo>
                    <a:pt x="967600" y="307848"/>
                  </a:lnTo>
                  <a:lnTo>
                    <a:pt x="971791" y="294970"/>
                  </a:lnTo>
                  <a:lnTo>
                    <a:pt x="981760" y="264388"/>
                  </a:lnTo>
                  <a:lnTo>
                    <a:pt x="931100" y="264388"/>
                  </a:lnTo>
                  <a:lnTo>
                    <a:pt x="926261" y="280657"/>
                  </a:lnTo>
                  <a:lnTo>
                    <a:pt x="919467" y="289902"/>
                  </a:lnTo>
                  <a:lnTo>
                    <a:pt x="911415" y="294030"/>
                  </a:lnTo>
                  <a:lnTo>
                    <a:pt x="902804" y="294970"/>
                  </a:lnTo>
                  <a:lnTo>
                    <a:pt x="891527" y="293039"/>
                  </a:lnTo>
                  <a:lnTo>
                    <a:pt x="880541" y="284467"/>
                  </a:lnTo>
                  <a:lnTo>
                    <a:pt x="872210" y="265137"/>
                  </a:lnTo>
                  <a:lnTo>
                    <a:pt x="868908" y="230911"/>
                  </a:lnTo>
                  <a:lnTo>
                    <a:pt x="985100" y="230911"/>
                  </a:lnTo>
                  <a:lnTo>
                    <a:pt x="985100" y="217525"/>
                  </a:lnTo>
                  <a:close/>
                </a:path>
              </a:pathLst>
            </a:custGeom>
            <a:solidFill>
              <a:srgbClr val="231F20"/>
            </a:solidFill>
          </p:spPr>
          <p:txBody>
            <a:bodyPr wrap="square" lIns="0" tIns="0" rIns="0" bIns="0" rtlCol="0"/>
            <a:lstStyle/>
            <a:p>
              <a:endParaRPr sz="2109"/>
            </a:p>
          </p:txBody>
        </p:sp>
        <p:pic>
          <p:nvPicPr>
            <p:cNvPr id="21" name="object 21"/>
            <p:cNvPicPr/>
            <p:nvPr/>
          </p:nvPicPr>
          <p:blipFill>
            <a:blip r:embed="rId4" cstate="print"/>
            <a:stretch>
              <a:fillRect/>
            </a:stretch>
          </p:blipFill>
          <p:spPr>
            <a:xfrm>
              <a:off x="9387642" y="4610403"/>
              <a:ext cx="207688" cy="103136"/>
            </a:xfrm>
            <a:prstGeom prst="rect">
              <a:avLst/>
            </a:prstGeom>
          </p:spPr>
        </p:pic>
      </p:grpSp>
      <p:grpSp>
        <p:nvGrpSpPr>
          <p:cNvPr id="22" name="object 22"/>
          <p:cNvGrpSpPr/>
          <p:nvPr/>
        </p:nvGrpSpPr>
        <p:grpSpPr>
          <a:xfrm>
            <a:off x="3066161" y="2860459"/>
            <a:ext cx="1151930" cy="1410891"/>
            <a:chOff x="4305300" y="1231900"/>
            <a:chExt cx="1638300" cy="2006600"/>
          </a:xfrm>
        </p:grpSpPr>
        <p:sp>
          <p:nvSpPr>
            <p:cNvPr id="23" name="object 23"/>
            <p:cNvSpPr/>
            <p:nvPr/>
          </p:nvSpPr>
          <p:spPr>
            <a:xfrm>
              <a:off x="4305300" y="1231900"/>
              <a:ext cx="1638300" cy="2006600"/>
            </a:xfrm>
            <a:custGeom>
              <a:avLst/>
              <a:gdLst/>
              <a:ahLst/>
              <a:cxnLst/>
              <a:rect l="l" t="t" r="r" b="b"/>
              <a:pathLst>
                <a:path w="1638300" h="2006600">
                  <a:moveTo>
                    <a:pt x="0" y="0"/>
                  </a:moveTo>
                  <a:lnTo>
                    <a:pt x="1638300" y="0"/>
                  </a:lnTo>
                  <a:lnTo>
                    <a:pt x="1638300" y="2006600"/>
                  </a:lnTo>
                  <a:lnTo>
                    <a:pt x="0" y="2006600"/>
                  </a:lnTo>
                  <a:lnTo>
                    <a:pt x="0" y="0"/>
                  </a:lnTo>
                  <a:close/>
                </a:path>
              </a:pathLst>
            </a:custGeom>
            <a:solidFill>
              <a:srgbClr val="FFFFFF"/>
            </a:solidFill>
          </p:spPr>
          <p:txBody>
            <a:bodyPr wrap="square" lIns="0" tIns="0" rIns="0" bIns="0" rtlCol="0"/>
            <a:lstStyle/>
            <a:p>
              <a:endParaRPr sz="2109"/>
            </a:p>
          </p:txBody>
        </p:sp>
        <p:pic>
          <p:nvPicPr>
            <p:cNvPr id="24" name="object 24"/>
            <p:cNvPicPr/>
            <p:nvPr/>
          </p:nvPicPr>
          <p:blipFill>
            <a:blip r:embed="rId5" cstate="print"/>
            <a:stretch>
              <a:fillRect/>
            </a:stretch>
          </p:blipFill>
          <p:spPr>
            <a:xfrm>
              <a:off x="4535369" y="2815183"/>
              <a:ext cx="1208953" cy="226838"/>
            </a:xfrm>
            <a:prstGeom prst="rect">
              <a:avLst/>
            </a:prstGeom>
          </p:spPr>
        </p:pic>
        <p:pic>
          <p:nvPicPr>
            <p:cNvPr id="25" name="object 25"/>
            <p:cNvPicPr/>
            <p:nvPr/>
          </p:nvPicPr>
          <p:blipFill>
            <a:blip r:embed="rId6" cstate="print"/>
            <a:stretch>
              <a:fillRect/>
            </a:stretch>
          </p:blipFill>
          <p:spPr>
            <a:xfrm>
              <a:off x="5489291" y="2449526"/>
              <a:ext cx="92444" cy="92577"/>
            </a:xfrm>
            <a:prstGeom prst="rect">
              <a:avLst/>
            </a:prstGeom>
          </p:spPr>
        </p:pic>
        <p:sp>
          <p:nvSpPr>
            <p:cNvPr id="26" name="object 26"/>
            <p:cNvSpPr/>
            <p:nvPr/>
          </p:nvSpPr>
          <p:spPr>
            <a:xfrm>
              <a:off x="4696978" y="1787030"/>
              <a:ext cx="841375" cy="751205"/>
            </a:xfrm>
            <a:custGeom>
              <a:avLst/>
              <a:gdLst/>
              <a:ahLst/>
              <a:cxnLst/>
              <a:rect l="l" t="t" r="r" b="b"/>
              <a:pathLst>
                <a:path w="841375" h="751205">
                  <a:moveTo>
                    <a:pt x="624122" y="0"/>
                  </a:moveTo>
                  <a:lnTo>
                    <a:pt x="566215" y="6571"/>
                  </a:lnTo>
                  <a:lnTo>
                    <a:pt x="520419" y="21027"/>
                  </a:lnTo>
                  <a:lnTo>
                    <a:pt x="479703" y="35483"/>
                  </a:lnTo>
                  <a:lnTo>
                    <a:pt x="437033" y="42054"/>
                  </a:lnTo>
                  <a:lnTo>
                    <a:pt x="391776" y="35496"/>
                  </a:lnTo>
                  <a:lnTo>
                    <a:pt x="348117" y="21069"/>
                  </a:lnTo>
                  <a:lnTo>
                    <a:pt x="301975" y="6641"/>
                  </a:lnTo>
                  <a:lnTo>
                    <a:pt x="249266" y="83"/>
                  </a:lnTo>
                  <a:lnTo>
                    <a:pt x="203910" y="5456"/>
                  </a:lnTo>
                  <a:lnTo>
                    <a:pt x="159045" y="21152"/>
                  </a:lnTo>
                  <a:lnTo>
                    <a:pt x="116300" y="46534"/>
                  </a:lnTo>
                  <a:lnTo>
                    <a:pt x="77304" y="80967"/>
                  </a:lnTo>
                  <a:lnTo>
                    <a:pt x="43689" y="123816"/>
                  </a:lnTo>
                  <a:lnTo>
                    <a:pt x="13220" y="192555"/>
                  </a:lnTo>
                  <a:lnTo>
                    <a:pt x="4408" y="232688"/>
                  </a:lnTo>
                  <a:lnTo>
                    <a:pt x="0" y="275899"/>
                  </a:lnTo>
                  <a:lnTo>
                    <a:pt x="85" y="321614"/>
                  </a:lnTo>
                  <a:lnTo>
                    <a:pt x="4754" y="369257"/>
                  </a:lnTo>
                  <a:lnTo>
                    <a:pt x="14099" y="418256"/>
                  </a:lnTo>
                  <a:lnTo>
                    <a:pt x="28210" y="468036"/>
                  </a:lnTo>
                  <a:lnTo>
                    <a:pt x="47178" y="518022"/>
                  </a:lnTo>
                  <a:lnTo>
                    <a:pt x="71094" y="567641"/>
                  </a:lnTo>
                  <a:lnTo>
                    <a:pt x="100049" y="616319"/>
                  </a:lnTo>
                  <a:lnTo>
                    <a:pt x="126515" y="654411"/>
                  </a:lnTo>
                  <a:lnTo>
                    <a:pt x="156460" y="690640"/>
                  </a:lnTo>
                  <a:lnTo>
                    <a:pt x="190031" y="721264"/>
                  </a:lnTo>
                  <a:lnTo>
                    <a:pt x="227378" y="742538"/>
                  </a:lnTo>
                  <a:lnTo>
                    <a:pt x="268649" y="750719"/>
                  </a:lnTo>
                  <a:lnTo>
                    <a:pt x="309915" y="744572"/>
                  </a:lnTo>
                  <a:lnTo>
                    <a:pt x="344713" y="730414"/>
                  </a:lnTo>
                  <a:lnTo>
                    <a:pt x="383802" y="716048"/>
                  </a:lnTo>
                  <a:lnTo>
                    <a:pt x="437943" y="709277"/>
                  </a:lnTo>
                  <a:lnTo>
                    <a:pt x="491795" y="715610"/>
                  </a:lnTo>
                  <a:lnTo>
                    <a:pt x="530284" y="729965"/>
                  </a:lnTo>
                  <a:lnTo>
                    <a:pt x="564487" y="744295"/>
                  </a:lnTo>
                  <a:lnTo>
                    <a:pt x="605483" y="750554"/>
                  </a:lnTo>
                  <a:lnTo>
                    <a:pt x="647077" y="741580"/>
                  </a:lnTo>
                  <a:lnTo>
                    <a:pt x="685181" y="718415"/>
                  </a:lnTo>
                  <a:lnTo>
                    <a:pt x="719653" y="685535"/>
                  </a:lnTo>
                  <a:lnTo>
                    <a:pt x="750354" y="647414"/>
                  </a:lnTo>
                  <a:lnTo>
                    <a:pt x="777143" y="608530"/>
                  </a:lnTo>
                  <a:lnTo>
                    <a:pt x="811413" y="551320"/>
                  </a:lnTo>
                  <a:lnTo>
                    <a:pt x="840746" y="489658"/>
                  </a:lnTo>
                  <a:lnTo>
                    <a:pt x="801939" y="470437"/>
                  </a:lnTo>
                  <a:lnTo>
                    <a:pt x="769154" y="445108"/>
                  </a:lnTo>
                  <a:lnTo>
                    <a:pt x="742571" y="414777"/>
                  </a:lnTo>
                  <a:lnTo>
                    <a:pt x="722370" y="380552"/>
                  </a:lnTo>
                  <a:lnTo>
                    <a:pt x="708732" y="343539"/>
                  </a:lnTo>
                  <a:lnTo>
                    <a:pt x="701837" y="304847"/>
                  </a:lnTo>
                  <a:lnTo>
                    <a:pt x="701865" y="265583"/>
                  </a:lnTo>
                  <a:lnTo>
                    <a:pt x="708997" y="226853"/>
                  </a:lnTo>
                  <a:lnTo>
                    <a:pt x="723413" y="189765"/>
                  </a:lnTo>
                  <a:lnTo>
                    <a:pt x="745294" y="155425"/>
                  </a:lnTo>
                  <a:lnTo>
                    <a:pt x="774819" y="124942"/>
                  </a:lnTo>
                  <a:lnTo>
                    <a:pt x="812170" y="99423"/>
                  </a:lnTo>
                  <a:lnTo>
                    <a:pt x="770901" y="57307"/>
                  </a:lnTo>
                  <a:lnTo>
                    <a:pt x="724279" y="26083"/>
                  </a:lnTo>
                  <a:lnTo>
                    <a:pt x="674590" y="6674"/>
                  </a:lnTo>
                  <a:lnTo>
                    <a:pt x="624122" y="0"/>
                  </a:lnTo>
                  <a:close/>
                </a:path>
              </a:pathLst>
            </a:custGeom>
            <a:solidFill>
              <a:srgbClr val="231F20"/>
            </a:solidFill>
          </p:spPr>
          <p:txBody>
            <a:bodyPr wrap="square" lIns="0" tIns="0" rIns="0" bIns="0" rtlCol="0"/>
            <a:lstStyle/>
            <a:p>
              <a:endParaRPr sz="2109"/>
            </a:p>
          </p:txBody>
        </p:sp>
        <p:pic>
          <p:nvPicPr>
            <p:cNvPr id="27" name="object 27"/>
            <p:cNvPicPr/>
            <p:nvPr/>
          </p:nvPicPr>
          <p:blipFill>
            <a:blip r:embed="rId7" cstate="print"/>
            <a:stretch>
              <a:fillRect/>
            </a:stretch>
          </p:blipFill>
          <p:spPr>
            <a:xfrm>
              <a:off x="5101764" y="1557561"/>
              <a:ext cx="200729" cy="235840"/>
            </a:xfrm>
            <a:prstGeom prst="rect">
              <a:avLst/>
            </a:prstGeom>
          </p:spPr>
        </p:pic>
      </p:grpSp>
      <p:grpSp>
        <p:nvGrpSpPr>
          <p:cNvPr id="28" name="object 28"/>
          <p:cNvGrpSpPr/>
          <p:nvPr/>
        </p:nvGrpSpPr>
        <p:grpSpPr>
          <a:xfrm>
            <a:off x="409760" y="3895043"/>
            <a:ext cx="1902023" cy="839391"/>
            <a:chOff x="635000" y="2553583"/>
            <a:chExt cx="2705100" cy="1193800"/>
          </a:xfrm>
        </p:grpSpPr>
        <p:sp>
          <p:nvSpPr>
            <p:cNvPr id="29" name="object 29"/>
            <p:cNvSpPr/>
            <p:nvPr/>
          </p:nvSpPr>
          <p:spPr>
            <a:xfrm>
              <a:off x="635000" y="2553583"/>
              <a:ext cx="2705100" cy="1193800"/>
            </a:xfrm>
            <a:custGeom>
              <a:avLst/>
              <a:gdLst/>
              <a:ahLst/>
              <a:cxnLst/>
              <a:rect l="l" t="t" r="r" b="b"/>
              <a:pathLst>
                <a:path w="2705100" h="1193800">
                  <a:moveTo>
                    <a:pt x="2705100" y="0"/>
                  </a:moveTo>
                  <a:lnTo>
                    <a:pt x="0" y="0"/>
                  </a:lnTo>
                  <a:lnTo>
                    <a:pt x="0" y="1193799"/>
                  </a:lnTo>
                  <a:lnTo>
                    <a:pt x="2705100" y="1193799"/>
                  </a:lnTo>
                  <a:lnTo>
                    <a:pt x="2705100" y="0"/>
                  </a:lnTo>
                  <a:close/>
                </a:path>
              </a:pathLst>
            </a:custGeom>
            <a:solidFill>
              <a:srgbClr val="FFFFFF"/>
            </a:solidFill>
          </p:spPr>
          <p:txBody>
            <a:bodyPr wrap="square" lIns="0" tIns="0" rIns="0" bIns="0" rtlCol="0"/>
            <a:lstStyle/>
            <a:p>
              <a:endParaRPr sz="2109"/>
            </a:p>
          </p:txBody>
        </p:sp>
        <p:sp>
          <p:nvSpPr>
            <p:cNvPr id="30" name="object 30"/>
            <p:cNvSpPr/>
            <p:nvPr/>
          </p:nvSpPr>
          <p:spPr>
            <a:xfrm>
              <a:off x="3104959" y="2978530"/>
              <a:ext cx="116205" cy="46355"/>
            </a:xfrm>
            <a:custGeom>
              <a:avLst/>
              <a:gdLst/>
              <a:ahLst/>
              <a:cxnLst/>
              <a:rect l="l" t="t" r="r" b="b"/>
              <a:pathLst>
                <a:path w="116205" h="46355">
                  <a:moveTo>
                    <a:pt x="115798" y="44843"/>
                  </a:moveTo>
                  <a:lnTo>
                    <a:pt x="107886" y="3670"/>
                  </a:lnTo>
                  <a:lnTo>
                    <a:pt x="108661" y="2730"/>
                  </a:lnTo>
                  <a:lnTo>
                    <a:pt x="111594" y="0"/>
                  </a:lnTo>
                  <a:lnTo>
                    <a:pt x="91211" y="0"/>
                  </a:lnTo>
                  <a:lnTo>
                    <a:pt x="85623" y="3619"/>
                  </a:lnTo>
                  <a:lnTo>
                    <a:pt x="91211" y="3365"/>
                  </a:lnTo>
                  <a:lnTo>
                    <a:pt x="93865" y="3365"/>
                  </a:lnTo>
                  <a:lnTo>
                    <a:pt x="93865" y="5321"/>
                  </a:lnTo>
                  <a:lnTo>
                    <a:pt x="80543" y="35763"/>
                  </a:lnTo>
                  <a:lnTo>
                    <a:pt x="77609" y="29146"/>
                  </a:lnTo>
                  <a:lnTo>
                    <a:pt x="75399" y="22936"/>
                  </a:lnTo>
                  <a:lnTo>
                    <a:pt x="70637" y="11379"/>
                  </a:lnTo>
                  <a:lnTo>
                    <a:pt x="65430" y="0"/>
                  </a:lnTo>
                  <a:lnTo>
                    <a:pt x="50228" y="0"/>
                  </a:lnTo>
                  <a:lnTo>
                    <a:pt x="46418" y="2349"/>
                  </a:lnTo>
                  <a:lnTo>
                    <a:pt x="47434" y="0"/>
                  </a:lnTo>
                  <a:lnTo>
                    <a:pt x="3365" y="0"/>
                  </a:lnTo>
                  <a:lnTo>
                    <a:pt x="0" y="7734"/>
                  </a:lnTo>
                  <a:lnTo>
                    <a:pt x="3365" y="6464"/>
                  </a:lnTo>
                  <a:lnTo>
                    <a:pt x="5524" y="3175"/>
                  </a:lnTo>
                  <a:lnTo>
                    <a:pt x="9398" y="3048"/>
                  </a:lnTo>
                  <a:lnTo>
                    <a:pt x="17132" y="3048"/>
                  </a:lnTo>
                  <a:lnTo>
                    <a:pt x="17221" y="4305"/>
                  </a:lnTo>
                  <a:lnTo>
                    <a:pt x="17221" y="10604"/>
                  </a:lnTo>
                  <a:lnTo>
                    <a:pt x="16878" y="16078"/>
                  </a:lnTo>
                  <a:lnTo>
                    <a:pt x="16700" y="21539"/>
                  </a:lnTo>
                  <a:lnTo>
                    <a:pt x="16649" y="40398"/>
                  </a:lnTo>
                  <a:lnTo>
                    <a:pt x="13639" y="44843"/>
                  </a:lnTo>
                  <a:lnTo>
                    <a:pt x="34798" y="44843"/>
                  </a:lnTo>
                  <a:lnTo>
                    <a:pt x="38925" y="42811"/>
                  </a:lnTo>
                  <a:lnTo>
                    <a:pt x="33553" y="42240"/>
                  </a:lnTo>
                  <a:lnTo>
                    <a:pt x="30619" y="42049"/>
                  </a:lnTo>
                  <a:lnTo>
                    <a:pt x="29718" y="41478"/>
                  </a:lnTo>
                  <a:lnTo>
                    <a:pt x="29400" y="36576"/>
                  </a:lnTo>
                  <a:lnTo>
                    <a:pt x="29413" y="30670"/>
                  </a:lnTo>
                  <a:lnTo>
                    <a:pt x="30175" y="3048"/>
                  </a:lnTo>
                  <a:lnTo>
                    <a:pt x="39001" y="2984"/>
                  </a:lnTo>
                  <a:lnTo>
                    <a:pt x="42494" y="3048"/>
                  </a:lnTo>
                  <a:lnTo>
                    <a:pt x="42494" y="4749"/>
                  </a:lnTo>
                  <a:lnTo>
                    <a:pt x="41808" y="7734"/>
                  </a:lnTo>
                  <a:lnTo>
                    <a:pt x="44665" y="6464"/>
                  </a:lnTo>
                  <a:lnTo>
                    <a:pt x="46024" y="3276"/>
                  </a:lnTo>
                  <a:lnTo>
                    <a:pt x="52730" y="3175"/>
                  </a:lnTo>
                  <a:lnTo>
                    <a:pt x="53340" y="4013"/>
                  </a:lnTo>
                  <a:lnTo>
                    <a:pt x="53340" y="5651"/>
                  </a:lnTo>
                  <a:lnTo>
                    <a:pt x="51701" y="22161"/>
                  </a:lnTo>
                  <a:lnTo>
                    <a:pt x="49580" y="40462"/>
                  </a:lnTo>
                  <a:lnTo>
                    <a:pt x="49022" y="42049"/>
                  </a:lnTo>
                  <a:lnTo>
                    <a:pt x="46736" y="44843"/>
                  </a:lnTo>
                  <a:lnTo>
                    <a:pt x="58547" y="44843"/>
                  </a:lnTo>
                  <a:lnTo>
                    <a:pt x="61798" y="42862"/>
                  </a:lnTo>
                  <a:lnTo>
                    <a:pt x="53733" y="41783"/>
                  </a:lnTo>
                  <a:lnTo>
                    <a:pt x="53428" y="41402"/>
                  </a:lnTo>
                  <a:lnTo>
                    <a:pt x="53428" y="38938"/>
                  </a:lnTo>
                  <a:lnTo>
                    <a:pt x="56222" y="9271"/>
                  </a:lnTo>
                  <a:lnTo>
                    <a:pt x="60667" y="19507"/>
                  </a:lnTo>
                  <a:lnTo>
                    <a:pt x="65049" y="30187"/>
                  </a:lnTo>
                  <a:lnTo>
                    <a:pt x="71120" y="45910"/>
                  </a:lnTo>
                  <a:lnTo>
                    <a:pt x="73812" y="44907"/>
                  </a:lnTo>
                  <a:lnTo>
                    <a:pt x="81038" y="42494"/>
                  </a:lnTo>
                  <a:lnTo>
                    <a:pt x="82892" y="42049"/>
                  </a:lnTo>
                  <a:lnTo>
                    <a:pt x="82194" y="40144"/>
                  </a:lnTo>
                  <a:lnTo>
                    <a:pt x="83223" y="37033"/>
                  </a:lnTo>
                  <a:lnTo>
                    <a:pt x="90754" y="19875"/>
                  </a:lnTo>
                  <a:lnTo>
                    <a:pt x="92786" y="14909"/>
                  </a:lnTo>
                  <a:lnTo>
                    <a:pt x="95402" y="9271"/>
                  </a:lnTo>
                  <a:lnTo>
                    <a:pt x="95834" y="13779"/>
                  </a:lnTo>
                  <a:lnTo>
                    <a:pt x="96215" y="21272"/>
                  </a:lnTo>
                  <a:lnTo>
                    <a:pt x="98120" y="42113"/>
                  </a:lnTo>
                  <a:lnTo>
                    <a:pt x="102971" y="45796"/>
                  </a:lnTo>
                  <a:lnTo>
                    <a:pt x="110147" y="45796"/>
                  </a:lnTo>
                  <a:lnTo>
                    <a:pt x="115798" y="44843"/>
                  </a:lnTo>
                  <a:close/>
                </a:path>
              </a:pathLst>
            </a:custGeom>
            <a:solidFill>
              <a:srgbClr val="6D6E71"/>
            </a:solidFill>
          </p:spPr>
          <p:txBody>
            <a:bodyPr wrap="square" lIns="0" tIns="0" rIns="0" bIns="0" rtlCol="0"/>
            <a:lstStyle/>
            <a:p>
              <a:endParaRPr sz="2109"/>
            </a:p>
          </p:txBody>
        </p:sp>
        <p:sp>
          <p:nvSpPr>
            <p:cNvPr id="31" name="object 31"/>
            <p:cNvSpPr/>
            <p:nvPr/>
          </p:nvSpPr>
          <p:spPr>
            <a:xfrm>
              <a:off x="2773417" y="2980101"/>
              <a:ext cx="340360" cy="391160"/>
            </a:xfrm>
            <a:custGeom>
              <a:avLst/>
              <a:gdLst/>
              <a:ahLst/>
              <a:cxnLst/>
              <a:rect l="l" t="t" r="r" b="b"/>
              <a:pathLst>
                <a:path w="340360" h="391160">
                  <a:moveTo>
                    <a:pt x="186187" y="0"/>
                  </a:moveTo>
                  <a:lnTo>
                    <a:pt x="143319" y="5160"/>
                  </a:lnTo>
                  <a:lnTo>
                    <a:pt x="100698" y="20687"/>
                  </a:lnTo>
                  <a:lnTo>
                    <a:pt x="61691" y="46648"/>
                  </a:lnTo>
                  <a:lnTo>
                    <a:pt x="29661" y="83111"/>
                  </a:lnTo>
                  <a:lnTo>
                    <a:pt x="7976" y="130144"/>
                  </a:lnTo>
                  <a:lnTo>
                    <a:pt x="0" y="187815"/>
                  </a:lnTo>
                  <a:lnTo>
                    <a:pt x="4840" y="234634"/>
                  </a:lnTo>
                  <a:lnTo>
                    <a:pt x="19818" y="281220"/>
                  </a:lnTo>
                  <a:lnTo>
                    <a:pt x="45618" y="323990"/>
                  </a:lnTo>
                  <a:lnTo>
                    <a:pt x="82927" y="359364"/>
                  </a:lnTo>
                  <a:lnTo>
                    <a:pt x="142785" y="386499"/>
                  </a:lnTo>
                  <a:lnTo>
                    <a:pt x="191056" y="391079"/>
                  </a:lnTo>
                  <a:lnTo>
                    <a:pt x="209888" y="390380"/>
                  </a:lnTo>
                  <a:lnTo>
                    <a:pt x="249705" y="383187"/>
                  </a:lnTo>
                  <a:lnTo>
                    <a:pt x="290052" y="364762"/>
                  </a:lnTo>
                  <a:lnTo>
                    <a:pt x="296745" y="360991"/>
                  </a:lnTo>
                  <a:lnTo>
                    <a:pt x="309676" y="348796"/>
                  </a:lnTo>
                  <a:lnTo>
                    <a:pt x="240652" y="348796"/>
                  </a:lnTo>
                  <a:lnTo>
                    <a:pt x="195524" y="341712"/>
                  </a:lnTo>
                  <a:lnTo>
                    <a:pt x="154183" y="321007"/>
                  </a:lnTo>
                  <a:lnTo>
                    <a:pt x="118658" y="287503"/>
                  </a:lnTo>
                  <a:lnTo>
                    <a:pt x="90978" y="242022"/>
                  </a:lnTo>
                  <a:lnTo>
                    <a:pt x="73172" y="185386"/>
                  </a:lnTo>
                  <a:lnTo>
                    <a:pt x="104563" y="182930"/>
                  </a:lnTo>
                  <a:lnTo>
                    <a:pt x="72344" y="182930"/>
                  </a:lnTo>
                  <a:lnTo>
                    <a:pt x="71616" y="171967"/>
                  </a:lnTo>
                  <a:lnTo>
                    <a:pt x="70820" y="161083"/>
                  </a:lnTo>
                  <a:lnTo>
                    <a:pt x="70180" y="150352"/>
                  </a:lnTo>
                  <a:lnTo>
                    <a:pt x="79951" y="85143"/>
                  </a:lnTo>
                  <a:lnTo>
                    <a:pt x="104464" y="50411"/>
                  </a:lnTo>
                  <a:lnTo>
                    <a:pt x="163410" y="26832"/>
                  </a:lnTo>
                  <a:lnTo>
                    <a:pt x="274743" y="26832"/>
                  </a:lnTo>
                  <a:lnTo>
                    <a:pt x="269927" y="22776"/>
                  </a:lnTo>
                  <a:lnTo>
                    <a:pt x="250665" y="12693"/>
                  </a:lnTo>
                  <a:lnTo>
                    <a:pt x="229877" y="5588"/>
                  </a:lnTo>
                  <a:lnTo>
                    <a:pt x="208179" y="1384"/>
                  </a:lnTo>
                  <a:lnTo>
                    <a:pt x="186187" y="0"/>
                  </a:lnTo>
                  <a:close/>
                </a:path>
                <a:path w="340360" h="391160">
                  <a:moveTo>
                    <a:pt x="339857" y="320335"/>
                  </a:moveTo>
                  <a:lnTo>
                    <a:pt x="318522" y="330626"/>
                  </a:lnTo>
                  <a:lnTo>
                    <a:pt x="295432" y="339760"/>
                  </a:lnTo>
                  <a:lnTo>
                    <a:pt x="269754" y="346297"/>
                  </a:lnTo>
                  <a:lnTo>
                    <a:pt x="240652" y="348796"/>
                  </a:lnTo>
                  <a:lnTo>
                    <a:pt x="309676" y="348796"/>
                  </a:lnTo>
                  <a:lnTo>
                    <a:pt x="339857" y="320335"/>
                  </a:lnTo>
                  <a:close/>
                </a:path>
                <a:path w="340360" h="391160">
                  <a:moveTo>
                    <a:pt x="274743" y="26832"/>
                  </a:moveTo>
                  <a:lnTo>
                    <a:pt x="163410" y="26832"/>
                  </a:lnTo>
                  <a:lnTo>
                    <a:pt x="194513" y="33184"/>
                  </a:lnTo>
                  <a:lnTo>
                    <a:pt x="220126" y="49597"/>
                  </a:lnTo>
                  <a:lnTo>
                    <a:pt x="237505" y="72106"/>
                  </a:lnTo>
                  <a:lnTo>
                    <a:pt x="243908" y="96748"/>
                  </a:lnTo>
                  <a:lnTo>
                    <a:pt x="242395" y="104186"/>
                  </a:lnTo>
                  <a:lnTo>
                    <a:pt x="237909" y="109866"/>
                  </a:lnTo>
                  <a:lnTo>
                    <a:pt x="230527" y="114478"/>
                  </a:lnTo>
                  <a:lnTo>
                    <a:pt x="220331" y="118711"/>
                  </a:lnTo>
                  <a:lnTo>
                    <a:pt x="72344" y="182930"/>
                  </a:lnTo>
                  <a:lnTo>
                    <a:pt x="104563" y="182930"/>
                  </a:lnTo>
                  <a:lnTo>
                    <a:pt x="135776" y="180488"/>
                  </a:lnTo>
                  <a:lnTo>
                    <a:pt x="326820" y="103261"/>
                  </a:lnTo>
                  <a:lnTo>
                    <a:pt x="321255" y="86564"/>
                  </a:lnTo>
                  <a:lnTo>
                    <a:pt x="311493" y="66060"/>
                  </a:lnTo>
                  <a:lnTo>
                    <a:pt x="295170" y="44035"/>
                  </a:lnTo>
                  <a:lnTo>
                    <a:pt x="274743" y="26832"/>
                  </a:lnTo>
                  <a:close/>
                </a:path>
              </a:pathLst>
            </a:custGeom>
            <a:solidFill>
              <a:srgbClr val="EF3E35"/>
            </a:solidFill>
          </p:spPr>
          <p:txBody>
            <a:bodyPr wrap="square" lIns="0" tIns="0" rIns="0" bIns="0" rtlCol="0"/>
            <a:lstStyle/>
            <a:p>
              <a:endParaRPr sz="2109"/>
            </a:p>
          </p:txBody>
        </p:sp>
        <p:sp>
          <p:nvSpPr>
            <p:cNvPr id="32" name="object 32"/>
            <p:cNvSpPr/>
            <p:nvPr/>
          </p:nvSpPr>
          <p:spPr>
            <a:xfrm>
              <a:off x="2576652" y="2784963"/>
              <a:ext cx="207645" cy="574040"/>
            </a:xfrm>
            <a:custGeom>
              <a:avLst/>
              <a:gdLst/>
              <a:ahLst/>
              <a:cxnLst/>
              <a:rect l="l" t="t" r="r" b="b"/>
              <a:pathLst>
                <a:path w="207644" h="574039">
                  <a:moveTo>
                    <a:pt x="177233" y="0"/>
                  </a:moveTo>
                  <a:lnTo>
                    <a:pt x="60991" y="0"/>
                  </a:lnTo>
                  <a:lnTo>
                    <a:pt x="0" y="29273"/>
                  </a:lnTo>
                  <a:lnTo>
                    <a:pt x="63418" y="29273"/>
                  </a:lnTo>
                  <a:lnTo>
                    <a:pt x="62426" y="59674"/>
                  </a:lnTo>
                  <a:lnTo>
                    <a:pt x="59527" y="127491"/>
                  </a:lnTo>
                  <a:lnTo>
                    <a:pt x="57260" y="211336"/>
                  </a:lnTo>
                  <a:lnTo>
                    <a:pt x="56339" y="262297"/>
                  </a:lnTo>
                  <a:lnTo>
                    <a:pt x="55396" y="357386"/>
                  </a:lnTo>
                  <a:lnTo>
                    <a:pt x="55293" y="530940"/>
                  </a:lnTo>
                  <a:lnTo>
                    <a:pt x="54490" y="541097"/>
                  </a:lnTo>
                  <a:lnTo>
                    <a:pt x="51319" y="549426"/>
                  </a:lnTo>
                  <a:lnTo>
                    <a:pt x="44642" y="559275"/>
                  </a:lnTo>
                  <a:lnTo>
                    <a:pt x="33317" y="573995"/>
                  </a:lnTo>
                  <a:lnTo>
                    <a:pt x="177233" y="573995"/>
                  </a:lnTo>
                  <a:lnTo>
                    <a:pt x="207336" y="556130"/>
                  </a:lnTo>
                  <a:lnTo>
                    <a:pt x="165865" y="552061"/>
                  </a:lnTo>
                  <a:lnTo>
                    <a:pt x="149457" y="549398"/>
                  </a:lnTo>
                  <a:lnTo>
                    <a:pt x="139533" y="543530"/>
                  </a:lnTo>
                  <a:lnTo>
                    <a:pt x="134643" y="532170"/>
                  </a:lnTo>
                  <a:lnTo>
                    <a:pt x="133336" y="513033"/>
                  </a:lnTo>
                  <a:lnTo>
                    <a:pt x="133474" y="258060"/>
                  </a:lnTo>
                  <a:lnTo>
                    <a:pt x="134044" y="195783"/>
                  </a:lnTo>
                  <a:lnTo>
                    <a:pt x="135279" y="139362"/>
                  </a:lnTo>
                  <a:lnTo>
                    <a:pt x="137411" y="89769"/>
                  </a:lnTo>
                  <a:lnTo>
                    <a:pt x="140675" y="47980"/>
                  </a:lnTo>
                  <a:lnTo>
                    <a:pt x="161347" y="9675"/>
                  </a:lnTo>
                  <a:lnTo>
                    <a:pt x="177233" y="0"/>
                  </a:lnTo>
                  <a:close/>
                </a:path>
              </a:pathLst>
            </a:custGeom>
            <a:solidFill>
              <a:srgbClr val="2FB457"/>
            </a:solidFill>
          </p:spPr>
          <p:txBody>
            <a:bodyPr wrap="square" lIns="0" tIns="0" rIns="0" bIns="0" rtlCol="0"/>
            <a:lstStyle/>
            <a:p>
              <a:endParaRPr sz="2109"/>
            </a:p>
          </p:txBody>
        </p:sp>
        <p:sp>
          <p:nvSpPr>
            <p:cNvPr id="33" name="object 33"/>
            <p:cNvSpPr/>
            <p:nvPr/>
          </p:nvSpPr>
          <p:spPr>
            <a:xfrm>
              <a:off x="2183936" y="2990679"/>
              <a:ext cx="405765" cy="619760"/>
            </a:xfrm>
            <a:custGeom>
              <a:avLst/>
              <a:gdLst/>
              <a:ahLst/>
              <a:cxnLst/>
              <a:rect l="l" t="t" r="r" b="b"/>
              <a:pathLst>
                <a:path w="405764" h="619760">
                  <a:moveTo>
                    <a:pt x="273226" y="279693"/>
                  </a:moveTo>
                  <a:lnTo>
                    <a:pt x="201651" y="279693"/>
                  </a:lnTo>
                  <a:lnTo>
                    <a:pt x="198662" y="286804"/>
                  </a:lnTo>
                  <a:lnTo>
                    <a:pt x="196055" y="294004"/>
                  </a:lnTo>
                  <a:lnTo>
                    <a:pt x="194211" y="301977"/>
                  </a:lnTo>
                  <a:lnTo>
                    <a:pt x="193512" y="311409"/>
                  </a:lnTo>
                  <a:lnTo>
                    <a:pt x="195722" y="328611"/>
                  </a:lnTo>
                  <a:lnTo>
                    <a:pt x="201439" y="342992"/>
                  </a:lnTo>
                  <a:lnTo>
                    <a:pt x="209290" y="355394"/>
                  </a:lnTo>
                  <a:lnTo>
                    <a:pt x="217902" y="366660"/>
                  </a:lnTo>
                  <a:lnTo>
                    <a:pt x="185299" y="369188"/>
                  </a:lnTo>
                  <a:lnTo>
                    <a:pt x="145451" y="374686"/>
                  </a:lnTo>
                  <a:lnTo>
                    <a:pt x="103010" y="385517"/>
                  </a:lnTo>
                  <a:lnTo>
                    <a:pt x="62632" y="404046"/>
                  </a:lnTo>
                  <a:lnTo>
                    <a:pt x="13317" y="453357"/>
                  </a:lnTo>
                  <a:lnTo>
                    <a:pt x="0" y="503279"/>
                  </a:lnTo>
                  <a:lnTo>
                    <a:pt x="6862" y="538473"/>
                  </a:lnTo>
                  <a:lnTo>
                    <a:pt x="27580" y="570196"/>
                  </a:lnTo>
                  <a:lnTo>
                    <a:pt x="62347" y="595949"/>
                  </a:lnTo>
                  <a:lnTo>
                    <a:pt x="111358" y="613233"/>
                  </a:lnTo>
                  <a:lnTo>
                    <a:pt x="174805" y="619550"/>
                  </a:lnTo>
                  <a:lnTo>
                    <a:pt x="239203" y="613474"/>
                  </a:lnTo>
                  <a:lnTo>
                    <a:pt x="292400" y="596693"/>
                  </a:lnTo>
                  <a:lnTo>
                    <a:pt x="311092" y="585363"/>
                  </a:lnTo>
                  <a:lnTo>
                    <a:pt x="214660" y="585363"/>
                  </a:lnTo>
                  <a:lnTo>
                    <a:pt x="155599" y="577982"/>
                  </a:lnTo>
                  <a:lnTo>
                    <a:pt x="110486" y="557416"/>
                  </a:lnTo>
                  <a:lnTo>
                    <a:pt x="81684" y="526034"/>
                  </a:lnTo>
                  <a:lnTo>
                    <a:pt x="71558" y="486200"/>
                  </a:lnTo>
                  <a:lnTo>
                    <a:pt x="79968" y="449666"/>
                  </a:lnTo>
                  <a:lnTo>
                    <a:pt x="123007" y="410164"/>
                  </a:lnTo>
                  <a:lnTo>
                    <a:pt x="168199" y="395612"/>
                  </a:lnTo>
                  <a:lnTo>
                    <a:pt x="215240" y="389868"/>
                  </a:lnTo>
                  <a:lnTo>
                    <a:pt x="226856" y="389437"/>
                  </a:lnTo>
                  <a:lnTo>
                    <a:pt x="359261" y="389437"/>
                  </a:lnTo>
                  <a:lnTo>
                    <a:pt x="346119" y="374623"/>
                  </a:lnTo>
                  <a:lnTo>
                    <a:pt x="320349" y="352023"/>
                  </a:lnTo>
                  <a:lnTo>
                    <a:pt x="291089" y="329274"/>
                  </a:lnTo>
                  <a:lnTo>
                    <a:pt x="284021" y="323241"/>
                  </a:lnTo>
                  <a:lnTo>
                    <a:pt x="277174" y="315756"/>
                  </a:lnTo>
                  <a:lnTo>
                    <a:pt x="272000" y="306287"/>
                  </a:lnTo>
                  <a:lnTo>
                    <a:pt x="269953" y="294302"/>
                  </a:lnTo>
                  <a:lnTo>
                    <a:pt x="272026" y="282020"/>
                  </a:lnTo>
                  <a:lnTo>
                    <a:pt x="273226" y="279693"/>
                  </a:lnTo>
                  <a:close/>
                </a:path>
                <a:path w="405764" h="619760">
                  <a:moveTo>
                    <a:pt x="359261" y="389437"/>
                  </a:moveTo>
                  <a:lnTo>
                    <a:pt x="239038" y="389437"/>
                  </a:lnTo>
                  <a:lnTo>
                    <a:pt x="245549" y="390237"/>
                  </a:lnTo>
                  <a:lnTo>
                    <a:pt x="285478" y="419701"/>
                  </a:lnTo>
                  <a:lnTo>
                    <a:pt x="313049" y="444818"/>
                  </a:lnTo>
                  <a:lnTo>
                    <a:pt x="329030" y="469477"/>
                  </a:lnTo>
                  <a:lnTo>
                    <a:pt x="334186" y="497568"/>
                  </a:lnTo>
                  <a:lnTo>
                    <a:pt x="326487" y="532552"/>
                  </a:lnTo>
                  <a:lnTo>
                    <a:pt x="303694" y="560369"/>
                  </a:lnTo>
                  <a:lnTo>
                    <a:pt x="266266" y="578734"/>
                  </a:lnTo>
                  <a:lnTo>
                    <a:pt x="214660" y="585363"/>
                  </a:lnTo>
                  <a:lnTo>
                    <a:pt x="311092" y="585363"/>
                  </a:lnTo>
                  <a:lnTo>
                    <a:pt x="334170" y="571373"/>
                  </a:lnTo>
                  <a:lnTo>
                    <a:pt x="364286" y="539684"/>
                  </a:lnTo>
                  <a:lnTo>
                    <a:pt x="382522" y="503791"/>
                  </a:lnTo>
                  <a:lnTo>
                    <a:pt x="388651" y="465865"/>
                  </a:lnTo>
                  <a:lnTo>
                    <a:pt x="383011" y="428646"/>
                  </a:lnTo>
                  <a:lnTo>
                    <a:pt x="367920" y="399198"/>
                  </a:lnTo>
                  <a:lnTo>
                    <a:pt x="359261" y="389437"/>
                  </a:lnTo>
                  <a:close/>
                </a:path>
                <a:path w="405764" h="619760">
                  <a:moveTo>
                    <a:pt x="405702" y="0"/>
                  </a:moveTo>
                  <a:lnTo>
                    <a:pt x="238238" y="0"/>
                  </a:lnTo>
                  <a:lnTo>
                    <a:pt x="203496" y="1612"/>
                  </a:lnTo>
                  <a:lnTo>
                    <a:pt x="128823" y="21603"/>
                  </a:lnTo>
                  <a:lnTo>
                    <a:pt x="92707" y="44710"/>
                  </a:lnTo>
                  <a:lnTo>
                    <a:pt x="53579" y="96436"/>
                  </a:lnTo>
                  <a:lnTo>
                    <a:pt x="40669" y="153654"/>
                  </a:lnTo>
                  <a:lnTo>
                    <a:pt x="46431" y="191278"/>
                  </a:lnTo>
                  <a:lnTo>
                    <a:pt x="63356" y="225979"/>
                  </a:lnTo>
                  <a:lnTo>
                    <a:pt x="90895" y="254634"/>
                  </a:lnTo>
                  <a:lnTo>
                    <a:pt x="128503" y="274118"/>
                  </a:lnTo>
                  <a:lnTo>
                    <a:pt x="175633" y="281307"/>
                  </a:lnTo>
                  <a:lnTo>
                    <a:pt x="181873" y="281167"/>
                  </a:lnTo>
                  <a:lnTo>
                    <a:pt x="188337" y="280800"/>
                  </a:lnTo>
                  <a:lnTo>
                    <a:pt x="201651" y="279693"/>
                  </a:lnTo>
                  <a:lnTo>
                    <a:pt x="273226" y="279693"/>
                  </a:lnTo>
                  <a:lnTo>
                    <a:pt x="277377" y="271640"/>
                  </a:lnTo>
                  <a:lnTo>
                    <a:pt x="284708" y="262635"/>
                  </a:lnTo>
                  <a:lnTo>
                    <a:pt x="288736" y="258530"/>
                  </a:lnTo>
                  <a:lnTo>
                    <a:pt x="213846" y="258530"/>
                  </a:lnTo>
                  <a:lnTo>
                    <a:pt x="168462" y="243577"/>
                  </a:lnTo>
                  <a:lnTo>
                    <a:pt x="136799" y="206596"/>
                  </a:lnTo>
                  <a:lnTo>
                    <a:pt x="118248" y="159403"/>
                  </a:lnTo>
                  <a:lnTo>
                    <a:pt x="112200" y="113813"/>
                  </a:lnTo>
                  <a:lnTo>
                    <a:pt x="113052" y="97898"/>
                  </a:lnTo>
                  <a:lnTo>
                    <a:pt x="130107" y="53651"/>
                  </a:lnTo>
                  <a:lnTo>
                    <a:pt x="171037" y="28723"/>
                  </a:lnTo>
                  <a:lnTo>
                    <a:pt x="187013" y="26818"/>
                  </a:lnTo>
                  <a:lnTo>
                    <a:pt x="358019" y="26818"/>
                  </a:lnTo>
                  <a:lnTo>
                    <a:pt x="405702" y="0"/>
                  </a:lnTo>
                  <a:close/>
                </a:path>
                <a:path w="405764" h="619760">
                  <a:moveTo>
                    <a:pt x="358019" y="26818"/>
                  </a:moveTo>
                  <a:lnTo>
                    <a:pt x="187013" y="26818"/>
                  </a:lnTo>
                  <a:lnTo>
                    <a:pt x="231493" y="41961"/>
                  </a:lnTo>
                  <a:lnTo>
                    <a:pt x="263545" y="79667"/>
                  </a:lnTo>
                  <a:lnTo>
                    <a:pt x="282944" y="128348"/>
                  </a:lnTo>
                  <a:lnTo>
                    <a:pt x="289460" y="176418"/>
                  </a:lnTo>
                  <a:lnTo>
                    <a:pt x="288914" y="189235"/>
                  </a:lnTo>
                  <a:lnTo>
                    <a:pt x="269153" y="235781"/>
                  </a:lnTo>
                  <a:lnTo>
                    <a:pt x="229227" y="256803"/>
                  </a:lnTo>
                  <a:lnTo>
                    <a:pt x="213846" y="258530"/>
                  </a:lnTo>
                  <a:lnTo>
                    <a:pt x="288736" y="258530"/>
                  </a:lnTo>
                  <a:lnTo>
                    <a:pt x="292717" y="254473"/>
                  </a:lnTo>
                  <a:lnTo>
                    <a:pt x="317785" y="233576"/>
                  </a:lnTo>
                  <a:lnTo>
                    <a:pt x="339659" y="209250"/>
                  </a:lnTo>
                  <a:lnTo>
                    <a:pt x="355134" y="178672"/>
                  </a:lnTo>
                  <a:lnTo>
                    <a:pt x="361005" y="139018"/>
                  </a:lnTo>
                  <a:lnTo>
                    <a:pt x="354615" y="97973"/>
                  </a:lnTo>
                  <a:lnTo>
                    <a:pt x="339156" y="66761"/>
                  </a:lnTo>
                  <a:lnTo>
                    <a:pt x="320195" y="44238"/>
                  </a:lnTo>
                  <a:lnTo>
                    <a:pt x="303298" y="29259"/>
                  </a:lnTo>
                  <a:lnTo>
                    <a:pt x="353679" y="29259"/>
                  </a:lnTo>
                  <a:lnTo>
                    <a:pt x="358019" y="26818"/>
                  </a:lnTo>
                  <a:close/>
                </a:path>
              </a:pathLst>
            </a:custGeom>
            <a:solidFill>
              <a:srgbClr val="0075BF"/>
            </a:solidFill>
          </p:spPr>
          <p:txBody>
            <a:bodyPr wrap="square" lIns="0" tIns="0" rIns="0" bIns="0" rtlCol="0"/>
            <a:lstStyle/>
            <a:p>
              <a:endParaRPr sz="2109"/>
            </a:p>
          </p:txBody>
        </p:sp>
        <p:sp>
          <p:nvSpPr>
            <p:cNvPr id="34" name="object 34"/>
            <p:cNvSpPr/>
            <p:nvPr/>
          </p:nvSpPr>
          <p:spPr>
            <a:xfrm>
              <a:off x="1784757" y="2980096"/>
              <a:ext cx="405130" cy="389890"/>
            </a:xfrm>
            <a:custGeom>
              <a:avLst/>
              <a:gdLst/>
              <a:ahLst/>
              <a:cxnLst/>
              <a:rect l="l" t="t" r="r" b="b"/>
              <a:pathLst>
                <a:path w="405130" h="389889">
                  <a:moveTo>
                    <a:pt x="210562" y="0"/>
                  </a:moveTo>
                  <a:lnTo>
                    <a:pt x="159990" y="5355"/>
                  </a:lnTo>
                  <a:lnTo>
                    <a:pt x="114779" y="20540"/>
                  </a:lnTo>
                  <a:lnTo>
                    <a:pt x="75811" y="44230"/>
                  </a:lnTo>
                  <a:lnTo>
                    <a:pt x="43966" y="75103"/>
                  </a:lnTo>
                  <a:lnTo>
                    <a:pt x="20128" y="111834"/>
                  </a:lnTo>
                  <a:lnTo>
                    <a:pt x="5179" y="153102"/>
                  </a:lnTo>
                  <a:lnTo>
                    <a:pt x="0" y="197581"/>
                  </a:lnTo>
                  <a:lnTo>
                    <a:pt x="4204" y="236878"/>
                  </a:lnTo>
                  <a:lnTo>
                    <a:pt x="16714" y="275435"/>
                  </a:lnTo>
                  <a:lnTo>
                    <a:pt x="37373" y="311319"/>
                  </a:lnTo>
                  <a:lnTo>
                    <a:pt x="66023" y="342595"/>
                  </a:lnTo>
                  <a:lnTo>
                    <a:pt x="102510" y="367329"/>
                  </a:lnTo>
                  <a:lnTo>
                    <a:pt x="146677" y="383588"/>
                  </a:lnTo>
                  <a:lnTo>
                    <a:pt x="198367" y="389437"/>
                  </a:lnTo>
                  <a:lnTo>
                    <a:pt x="251539" y="383529"/>
                  </a:lnTo>
                  <a:lnTo>
                    <a:pt x="297273" y="367056"/>
                  </a:lnTo>
                  <a:lnTo>
                    <a:pt x="300309" y="365047"/>
                  </a:lnTo>
                  <a:lnTo>
                    <a:pt x="217060" y="365047"/>
                  </a:lnTo>
                  <a:lnTo>
                    <a:pt x="172669" y="354860"/>
                  </a:lnTo>
                  <a:lnTo>
                    <a:pt x="137513" y="327715"/>
                  </a:lnTo>
                  <a:lnTo>
                    <a:pt x="111072" y="288736"/>
                  </a:lnTo>
                  <a:lnTo>
                    <a:pt x="92828" y="243048"/>
                  </a:lnTo>
                  <a:lnTo>
                    <a:pt x="82262" y="195775"/>
                  </a:lnTo>
                  <a:lnTo>
                    <a:pt x="78938" y="153102"/>
                  </a:lnTo>
                  <a:lnTo>
                    <a:pt x="78948" y="150279"/>
                  </a:lnTo>
                  <a:lnTo>
                    <a:pt x="85667" y="100009"/>
                  </a:lnTo>
                  <a:lnTo>
                    <a:pt x="116255" y="52851"/>
                  </a:lnTo>
                  <a:lnTo>
                    <a:pt x="150093" y="32628"/>
                  </a:lnTo>
                  <a:lnTo>
                    <a:pt x="189414" y="25204"/>
                  </a:lnTo>
                  <a:lnTo>
                    <a:pt x="307974" y="25204"/>
                  </a:lnTo>
                  <a:lnTo>
                    <a:pt x="301361" y="20832"/>
                  </a:lnTo>
                  <a:lnTo>
                    <a:pt x="258962" y="5466"/>
                  </a:lnTo>
                  <a:lnTo>
                    <a:pt x="210562" y="0"/>
                  </a:lnTo>
                  <a:close/>
                </a:path>
                <a:path w="405130" h="389889">
                  <a:moveTo>
                    <a:pt x="307974" y="25204"/>
                  </a:moveTo>
                  <a:lnTo>
                    <a:pt x="189414" y="25204"/>
                  </a:lnTo>
                  <a:lnTo>
                    <a:pt x="234419" y="35653"/>
                  </a:lnTo>
                  <a:lnTo>
                    <a:pt x="269216" y="63266"/>
                  </a:lnTo>
                  <a:lnTo>
                    <a:pt x="294709" y="102442"/>
                  </a:lnTo>
                  <a:lnTo>
                    <a:pt x="311801" y="147581"/>
                  </a:lnTo>
                  <a:lnTo>
                    <a:pt x="321394" y="193080"/>
                  </a:lnTo>
                  <a:lnTo>
                    <a:pt x="324391" y="233339"/>
                  </a:lnTo>
                  <a:lnTo>
                    <a:pt x="323325" y="257163"/>
                  </a:lnTo>
                  <a:lnTo>
                    <a:pt x="312047" y="302978"/>
                  </a:lnTo>
                  <a:lnTo>
                    <a:pt x="283615" y="341056"/>
                  </a:lnTo>
                  <a:lnTo>
                    <a:pt x="240771" y="362230"/>
                  </a:lnTo>
                  <a:lnTo>
                    <a:pt x="217060" y="365047"/>
                  </a:lnTo>
                  <a:lnTo>
                    <a:pt x="300309" y="365047"/>
                  </a:lnTo>
                  <a:lnTo>
                    <a:pt x="335298" y="341894"/>
                  </a:lnTo>
                  <a:lnTo>
                    <a:pt x="365344" y="309920"/>
                  </a:lnTo>
                  <a:lnTo>
                    <a:pt x="387140" y="273009"/>
                  </a:lnTo>
                  <a:lnTo>
                    <a:pt x="400417" y="233038"/>
                  </a:lnTo>
                  <a:lnTo>
                    <a:pt x="404902" y="191884"/>
                  </a:lnTo>
                  <a:lnTo>
                    <a:pt x="400409" y="150279"/>
                  </a:lnTo>
                  <a:lnTo>
                    <a:pt x="387282" y="110821"/>
                  </a:lnTo>
                  <a:lnTo>
                    <a:pt x="366048" y="75060"/>
                  </a:lnTo>
                  <a:lnTo>
                    <a:pt x="337231" y="44547"/>
                  </a:lnTo>
                  <a:lnTo>
                    <a:pt x="307974" y="25204"/>
                  </a:lnTo>
                  <a:close/>
                </a:path>
              </a:pathLst>
            </a:custGeom>
            <a:solidFill>
              <a:srgbClr val="FFDF1B"/>
            </a:solidFill>
          </p:spPr>
          <p:txBody>
            <a:bodyPr wrap="square" lIns="0" tIns="0" rIns="0" bIns="0" rtlCol="0"/>
            <a:lstStyle/>
            <a:p>
              <a:endParaRPr sz="2109"/>
            </a:p>
          </p:txBody>
        </p:sp>
        <p:sp>
          <p:nvSpPr>
            <p:cNvPr id="35" name="object 35"/>
            <p:cNvSpPr/>
            <p:nvPr/>
          </p:nvSpPr>
          <p:spPr>
            <a:xfrm>
              <a:off x="1352209" y="2980096"/>
              <a:ext cx="405130" cy="389890"/>
            </a:xfrm>
            <a:custGeom>
              <a:avLst/>
              <a:gdLst/>
              <a:ahLst/>
              <a:cxnLst/>
              <a:rect l="l" t="t" r="r" b="b"/>
              <a:pathLst>
                <a:path w="405130" h="389889">
                  <a:moveTo>
                    <a:pt x="210577" y="0"/>
                  </a:moveTo>
                  <a:lnTo>
                    <a:pt x="160000" y="5355"/>
                  </a:lnTo>
                  <a:lnTo>
                    <a:pt x="114786" y="20540"/>
                  </a:lnTo>
                  <a:lnTo>
                    <a:pt x="75814" y="44230"/>
                  </a:lnTo>
                  <a:lnTo>
                    <a:pt x="43968" y="75103"/>
                  </a:lnTo>
                  <a:lnTo>
                    <a:pt x="20129" y="111834"/>
                  </a:lnTo>
                  <a:lnTo>
                    <a:pt x="5179" y="153102"/>
                  </a:lnTo>
                  <a:lnTo>
                    <a:pt x="0" y="197581"/>
                  </a:lnTo>
                  <a:lnTo>
                    <a:pt x="4204" y="236878"/>
                  </a:lnTo>
                  <a:lnTo>
                    <a:pt x="16715" y="275435"/>
                  </a:lnTo>
                  <a:lnTo>
                    <a:pt x="37374" y="311319"/>
                  </a:lnTo>
                  <a:lnTo>
                    <a:pt x="66027" y="342595"/>
                  </a:lnTo>
                  <a:lnTo>
                    <a:pt x="102517" y="367329"/>
                  </a:lnTo>
                  <a:lnTo>
                    <a:pt x="146687" y="383588"/>
                  </a:lnTo>
                  <a:lnTo>
                    <a:pt x="198382" y="389437"/>
                  </a:lnTo>
                  <a:lnTo>
                    <a:pt x="251553" y="383529"/>
                  </a:lnTo>
                  <a:lnTo>
                    <a:pt x="297282" y="367056"/>
                  </a:lnTo>
                  <a:lnTo>
                    <a:pt x="300318" y="365047"/>
                  </a:lnTo>
                  <a:lnTo>
                    <a:pt x="217089" y="365047"/>
                  </a:lnTo>
                  <a:lnTo>
                    <a:pt x="172691" y="354860"/>
                  </a:lnTo>
                  <a:lnTo>
                    <a:pt x="137528" y="327715"/>
                  </a:lnTo>
                  <a:lnTo>
                    <a:pt x="111081" y="288736"/>
                  </a:lnTo>
                  <a:lnTo>
                    <a:pt x="92833" y="243048"/>
                  </a:lnTo>
                  <a:lnTo>
                    <a:pt x="82264" y="195775"/>
                  </a:lnTo>
                  <a:lnTo>
                    <a:pt x="78939" y="153102"/>
                  </a:lnTo>
                  <a:lnTo>
                    <a:pt x="78949" y="150279"/>
                  </a:lnTo>
                  <a:lnTo>
                    <a:pt x="85668" y="100009"/>
                  </a:lnTo>
                  <a:lnTo>
                    <a:pt x="116257" y="52851"/>
                  </a:lnTo>
                  <a:lnTo>
                    <a:pt x="150107" y="32628"/>
                  </a:lnTo>
                  <a:lnTo>
                    <a:pt x="189443" y="25204"/>
                  </a:lnTo>
                  <a:lnTo>
                    <a:pt x="307976" y="25204"/>
                  </a:lnTo>
                  <a:lnTo>
                    <a:pt x="301364" y="20832"/>
                  </a:lnTo>
                  <a:lnTo>
                    <a:pt x="258971" y="5466"/>
                  </a:lnTo>
                  <a:lnTo>
                    <a:pt x="210577" y="0"/>
                  </a:lnTo>
                  <a:close/>
                </a:path>
                <a:path w="405130" h="389889">
                  <a:moveTo>
                    <a:pt x="307976" y="25204"/>
                  </a:moveTo>
                  <a:lnTo>
                    <a:pt x="189443" y="25204"/>
                  </a:lnTo>
                  <a:lnTo>
                    <a:pt x="234440" y="35653"/>
                  </a:lnTo>
                  <a:lnTo>
                    <a:pt x="269231" y="63266"/>
                  </a:lnTo>
                  <a:lnTo>
                    <a:pt x="294719" y="102442"/>
                  </a:lnTo>
                  <a:lnTo>
                    <a:pt x="311806" y="147581"/>
                  </a:lnTo>
                  <a:lnTo>
                    <a:pt x="321396" y="193080"/>
                  </a:lnTo>
                  <a:lnTo>
                    <a:pt x="324392" y="233339"/>
                  </a:lnTo>
                  <a:lnTo>
                    <a:pt x="323326" y="257163"/>
                  </a:lnTo>
                  <a:lnTo>
                    <a:pt x="312047" y="302978"/>
                  </a:lnTo>
                  <a:lnTo>
                    <a:pt x="283617" y="341056"/>
                  </a:lnTo>
                  <a:lnTo>
                    <a:pt x="240790" y="362230"/>
                  </a:lnTo>
                  <a:lnTo>
                    <a:pt x="217089" y="365047"/>
                  </a:lnTo>
                  <a:lnTo>
                    <a:pt x="300318" y="365047"/>
                  </a:lnTo>
                  <a:lnTo>
                    <a:pt x="335302" y="341894"/>
                  </a:lnTo>
                  <a:lnTo>
                    <a:pt x="365342" y="309920"/>
                  </a:lnTo>
                  <a:lnTo>
                    <a:pt x="387133" y="273009"/>
                  </a:lnTo>
                  <a:lnTo>
                    <a:pt x="400405" y="233038"/>
                  </a:lnTo>
                  <a:lnTo>
                    <a:pt x="404889" y="191884"/>
                  </a:lnTo>
                  <a:lnTo>
                    <a:pt x="400398" y="150279"/>
                  </a:lnTo>
                  <a:lnTo>
                    <a:pt x="387273" y="110821"/>
                  </a:lnTo>
                  <a:lnTo>
                    <a:pt x="366041" y="75060"/>
                  </a:lnTo>
                  <a:lnTo>
                    <a:pt x="337230" y="44547"/>
                  </a:lnTo>
                  <a:lnTo>
                    <a:pt x="307976" y="25204"/>
                  </a:lnTo>
                  <a:close/>
                </a:path>
              </a:pathLst>
            </a:custGeom>
            <a:solidFill>
              <a:srgbClr val="EF3E35"/>
            </a:solidFill>
          </p:spPr>
          <p:txBody>
            <a:bodyPr wrap="square" lIns="0" tIns="0" rIns="0" bIns="0" rtlCol="0"/>
            <a:lstStyle/>
            <a:p>
              <a:endParaRPr sz="2109"/>
            </a:p>
          </p:txBody>
        </p:sp>
        <p:sp>
          <p:nvSpPr>
            <p:cNvPr id="36" name="object 36"/>
            <p:cNvSpPr/>
            <p:nvPr/>
          </p:nvSpPr>
          <p:spPr>
            <a:xfrm>
              <a:off x="775343" y="2818270"/>
              <a:ext cx="554355" cy="561340"/>
            </a:xfrm>
            <a:custGeom>
              <a:avLst/>
              <a:gdLst/>
              <a:ahLst/>
              <a:cxnLst/>
              <a:rect l="l" t="t" r="r" b="b"/>
              <a:pathLst>
                <a:path w="554355" h="561339">
                  <a:moveTo>
                    <a:pt x="307943" y="0"/>
                  </a:moveTo>
                  <a:lnTo>
                    <a:pt x="252089" y="3989"/>
                  </a:lnTo>
                  <a:lnTo>
                    <a:pt x="201280" y="15452"/>
                  </a:lnTo>
                  <a:lnTo>
                    <a:pt x="155711" y="33629"/>
                  </a:lnTo>
                  <a:lnTo>
                    <a:pt x="115580" y="57761"/>
                  </a:lnTo>
                  <a:lnTo>
                    <a:pt x="81083" y="87088"/>
                  </a:lnTo>
                  <a:lnTo>
                    <a:pt x="52418" y="120851"/>
                  </a:lnTo>
                  <a:lnTo>
                    <a:pt x="29780" y="158292"/>
                  </a:lnTo>
                  <a:lnTo>
                    <a:pt x="13366" y="198650"/>
                  </a:lnTo>
                  <a:lnTo>
                    <a:pt x="3374" y="241167"/>
                  </a:lnTo>
                  <a:lnTo>
                    <a:pt x="0" y="285083"/>
                  </a:lnTo>
                  <a:lnTo>
                    <a:pt x="2450" y="322256"/>
                  </a:lnTo>
                  <a:lnTo>
                    <a:pt x="10005" y="360312"/>
                  </a:lnTo>
                  <a:lnTo>
                    <a:pt x="22964" y="398122"/>
                  </a:lnTo>
                  <a:lnTo>
                    <a:pt x="41631" y="434556"/>
                  </a:lnTo>
                  <a:lnTo>
                    <a:pt x="66307" y="468485"/>
                  </a:lnTo>
                  <a:lnTo>
                    <a:pt x="97295" y="498778"/>
                  </a:lnTo>
                  <a:lnTo>
                    <a:pt x="134896" y="524306"/>
                  </a:lnTo>
                  <a:lnTo>
                    <a:pt x="179413" y="543938"/>
                  </a:lnTo>
                  <a:lnTo>
                    <a:pt x="231147" y="556547"/>
                  </a:lnTo>
                  <a:lnTo>
                    <a:pt x="290401" y="561000"/>
                  </a:lnTo>
                  <a:lnTo>
                    <a:pt x="321521" y="559941"/>
                  </a:lnTo>
                  <a:lnTo>
                    <a:pt x="352429" y="557096"/>
                  </a:lnTo>
                  <a:lnTo>
                    <a:pt x="383766" y="552961"/>
                  </a:lnTo>
                  <a:lnTo>
                    <a:pt x="416172" y="548034"/>
                  </a:lnTo>
                  <a:lnTo>
                    <a:pt x="525173" y="522899"/>
                  </a:lnTo>
                  <a:lnTo>
                    <a:pt x="525173" y="429897"/>
                  </a:lnTo>
                  <a:lnTo>
                    <a:pt x="525646" y="411325"/>
                  </a:lnTo>
                  <a:lnTo>
                    <a:pt x="526688" y="393311"/>
                  </a:lnTo>
                  <a:lnTo>
                    <a:pt x="528218" y="387220"/>
                  </a:lnTo>
                  <a:lnTo>
                    <a:pt x="528990" y="385691"/>
                  </a:lnTo>
                  <a:lnTo>
                    <a:pt x="534323" y="381129"/>
                  </a:lnTo>
                  <a:lnTo>
                    <a:pt x="554139" y="362071"/>
                  </a:lnTo>
                  <a:lnTo>
                    <a:pt x="392539" y="362071"/>
                  </a:lnTo>
                  <a:lnTo>
                    <a:pt x="331562" y="394841"/>
                  </a:lnTo>
                  <a:lnTo>
                    <a:pt x="446653" y="388750"/>
                  </a:lnTo>
                  <a:lnTo>
                    <a:pt x="446653" y="511475"/>
                  </a:lnTo>
                  <a:lnTo>
                    <a:pt x="428745" y="518311"/>
                  </a:lnTo>
                  <a:lnTo>
                    <a:pt x="407976" y="524429"/>
                  </a:lnTo>
                  <a:lnTo>
                    <a:pt x="382345" y="528830"/>
                  </a:lnTo>
                  <a:lnTo>
                    <a:pt x="349848" y="530519"/>
                  </a:lnTo>
                  <a:lnTo>
                    <a:pt x="296836" y="525696"/>
                  </a:lnTo>
                  <a:lnTo>
                    <a:pt x="248790" y="511921"/>
                  </a:lnTo>
                  <a:lnTo>
                    <a:pt x="206050" y="490236"/>
                  </a:lnTo>
                  <a:lnTo>
                    <a:pt x="168954" y="461681"/>
                  </a:lnTo>
                  <a:lnTo>
                    <a:pt x="137843" y="427298"/>
                  </a:lnTo>
                  <a:lnTo>
                    <a:pt x="113054" y="388129"/>
                  </a:lnTo>
                  <a:lnTo>
                    <a:pt x="94928" y="345214"/>
                  </a:lnTo>
                  <a:lnTo>
                    <a:pt x="83804" y="299595"/>
                  </a:lnTo>
                  <a:lnTo>
                    <a:pt x="80020" y="252313"/>
                  </a:lnTo>
                  <a:lnTo>
                    <a:pt x="84153" y="204353"/>
                  </a:lnTo>
                  <a:lnTo>
                    <a:pt x="96076" y="160904"/>
                  </a:lnTo>
                  <a:lnTo>
                    <a:pt x="115075" y="122546"/>
                  </a:lnTo>
                  <a:lnTo>
                    <a:pt x="140434" y="89860"/>
                  </a:lnTo>
                  <a:lnTo>
                    <a:pt x="171439" y="63426"/>
                  </a:lnTo>
                  <a:lnTo>
                    <a:pt x="207376" y="43826"/>
                  </a:lnTo>
                  <a:lnTo>
                    <a:pt x="247530" y="31640"/>
                  </a:lnTo>
                  <a:lnTo>
                    <a:pt x="291187" y="27449"/>
                  </a:lnTo>
                  <a:lnTo>
                    <a:pt x="350961" y="35107"/>
                  </a:lnTo>
                  <a:lnTo>
                    <a:pt x="396740" y="53840"/>
                  </a:lnTo>
                  <a:lnTo>
                    <a:pt x="430518" y="77289"/>
                  </a:lnTo>
                  <a:lnTo>
                    <a:pt x="454288" y="99093"/>
                  </a:lnTo>
                  <a:lnTo>
                    <a:pt x="435244" y="129588"/>
                  </a:lnTo>
                  <a:lnTo>
                    <a:pt x="461908" y="123497"/>
                  </a:lnTo>
                  <a:lnTo>
                    <a:pt x="525173" y="63292"/>
                  </a:lnTo>
                  <a:lnTo>
                    <a:pt x="510416" y="53325"/>
                  </a:lnTo>
                  <a:lnTo>
                    <a:pt x="490014" y="41362"/>
                  </a:lnTo>
                  <a:lnTo>
                    <a:pt x="424564" y="16012"/>
                  </a:lnTo>
                  <a:lnTo>
                    <a:pt x="368254" y="4296"/>
                  </a:lnTo>
                  <a:lnTo>
                    <a:pt x="338492" y="1110"/>
                  </a:lnTo>
                  <a:lnTo>
                    <a:pt x="307943" y="0"/>
                  </a:lnTo>
                  <a:close/>
                </a:path>
              </a:pathLst>
            </a:custGeom>
            <a:solidFill>
              <a:srgbClr val="0075BF"/>
            </a:solidFill>
          </p:spPr>
          <p:txBody>
            <a:bodyPr wrap="square" lIns="0" tIns="0" rIns="0" bIns="0" rtlCol="0"/>
            <a:lstStyle/>
            <a:p>
              <a:endParaRPr sz="2109"/>
            </a:p>
          </p:txBody>
        </p:sp>
      </p:grpSp>
      <p:grpSp>
        <p:nvGrpSpPr>
          <p:cNvPr id="37" name="object 37"/>
          <p:cNvGrpSpPr/>
          <p:nvPr/>
        </p:nvGrpSpPr>
        <p:grpSpPr>
          <a:xfrm>
            <a:off x="7142489" y="3517475"/>
            <a:ext cx="1714500" cy="794742"/>
            <a:chOff x="6845300" y="8089900"/>
            <a:chExt cx="2438400" cy="1130300"/>
          </a:xfrm>
        </p:grpSpPr>
        <p:sp>
          <p:nvSpPr>
            <p:cNvPr id="38" name="object 38"/>
            <p:cNvSpPr/>
            <p:nvPr/>
          </p:nvSpPr>
          <p:spPr>
            <a:xfrm>
              <a:off x="6845300" y="8089900"/>
              <a:ext cx="2438400" cy="1130300"/>
            </a:xfrm>
            <a:custGeom>
              <a:avLst/>
              <a:gdLst/>
              <a:ahLst/>
              <a:cxnLst/>
              <a:rect l="l" t="t" r="r" b="b"/>
              <a:pathLst>
                <a:path w="2438400" h="1130300">
                  <a:moveTo>
                    <a:pt x="2438400" y="0"/>
                  </a:moveTo>
                  <a:lnTo>
                    <a:pt x="0" y="0"/>
                  </a:lnTo>
                  <a:lnTo>
                    <a:pt x="0" y="1130300"/>
                  </a:lnTo>
                  <a:lnTo>
                    <a:pt x="2438400" y="1130300"/>
                  </a:lnTo>
                  <a:lnTo>
                    <a:pt x="2438400" y="0"/>
                  </a:lnTo>
                  <a:close/>
                </a:path>
              </a:pathLst>
            </a:custGeom>
            <a:solidFill>
              <a:srgbClr val="FFFFFF"/>
            </a:solidFill>
          </p:spPr>
          <p:txBody>
            <a:bodyPr wrap="square" lIns="0" tIns="0" rIns="0" bIns="0" rtlCol="0"/>
            <a:lstStyle/>
            <a:p>
              <a:endParaRPr sz="2109"/>
            </a:p>
          </p:txBody>
        </p:sp>
        <p:sp>
          <p:nvSpPr>
            <p:cNvPr id="39" name="object 39"/>
            <p:cNvSpPr/>
            <p:nvPr/>
          </p:nvSpPr>
          <p:spPr>
            <a:xfrm>
              <a:off x="6961632" y="8487676"/>
              <a:ext cx="2149475" cy="360680"/>
            </a:xfrm>
            <a:custGeom>
              <a:avLst/>
              <a:gdLst/>
              <a:ahLst/>
              <a:cxnLst/>
              <a:rect l="l" t="t" r="r" b="b"/>
              <a:pathLst>
                <a:path w="2149475" h="360679">
                  <a:moveTo>
                    <a:pt x="456044" y="0"/>
                  </a:moveTo>
                  <a:lnTo>
                    <a:pt x="316725" y="0"/>
                  </a:lnTo>
                  <a:lnTo>
                    <a:pt x="223177" y="195770"/>
                  </a:lnTo>
                  <a:lnTo>
                    <a:pt x="216827" y="0"/>
                  </a:lnTo>
                  <a:lnTo>
                    <a:pt x="77851" y="0"/>
                  </a:lnTo>
                  <a:lnTo>
                    <a:pt x="0" y="350469"/>
                  </a:lnTo>
                  <a:lnTo>
                    <a:pt x="101892" y="350469"/>
                  </a:lnTo>
                  <a:lnTo>
                    <a:pt x="148666" y="162039"/>
                  </a:lnTo>
                  <a:lnTo>
                    <a:pt x="152336" y="350469"/>
                  </a:lnTo>
                  <a:lnTo>
                    <a:pt x="224853" y="350469"/>
                  </a:lnTo>
                  <a:lnTo>
                    <a:pt x="318719" y="162039"/>
                  </a:lnTo>
                  <a:lnTo>
                    <a:pt x="276961" y="350469"/>
                  </a:lnTo>
                  <a:lnTo>
                    <a:pt x="377863" y="350469"/>
                  </a:lnTo>
                  <a:lnTo>
                    <a:pt x="456044" y="0"/>
                  </a:lnTo>
                  <a:close/>
                </a:path>
                <a:path w="2149475" h="360679">
                  <a:moveTo>
                    <a:pt x="554583" y="90868"/>
                  </a:moveTo>
                  <a:lnTo>
                    <a:pt x="460044" y="90868"/>
                  </a:lnTo>
                  <a:lnTo>
                    <a:pt x="402247" y="350469"/>
                  </a:lnTo>
                  <a:lnTo>
                    <a:pt x="496798" y="350799"/>
                  </a:lnTo>
                  <a:lnTo>
                    <a:pt x="554583" y="90868"/>
                  </a:lnTo>
                  <a:close/>
                </a:path>
                <a:path w="2149475" h="360679">
                  <a:moveTo>
                    <a:pt x="574636" y="12"/>
                  </a:moveTo>
                  <a:lnTo>
                    <a:pt x="480428" y="12"/>
                  </a:lnTo>
                  <a:lnTo>
                    <a:pt x="468058" y="57124"/>
                  </a:lnTo>
                  <a:lnTo>
                    <a:pt x="561949" y="57124"/>
                  </a:lnTo>
                  <a:lnTo>
                    <a:pt x="574636" y="12"/>
                  </a:lnTo>
                  <a:close/>
                </a:path>
                <a:path w="2149475" h="360679">
                  <a:moveTo>
                    <a:pt x="820534" y="187439"/>
                  </a:moveTo>
                  <a:lnTo>
                    <a:pt x="820229" y="170357"/>
                  </a:lnTo>
                  <a:lnTo>
                    <a:pt x="810133" y="136271"/>
                  </a:lnTo>
                  <a:lnTo>
                    <a:pt x="778675" y="101866"/>
                  </a:lnTo>
                  <a:lnTo>
                    <a:pt x="714298" y="83858"/>
                  </a:lnTo>
                  <a:lnTo>
                    <a:pt x="671169" y="86448"/>
                  </a:lnTo>
                  <a:lnTo>
                    <a:pt x="633679" y="97802"/>
                  </a:lnTo>
                  <a:lnTo>
                    <a:pt x="576313" y="140627"/>
                  </a:lnTo>
                  <a:lnTo>
                    <a:pt x="543648" y="199923"/>
                  </a:lnTo>
                  <a:lnTo>
                    <a:pt x="537044" y="231876"/>
                  </a:lnTo>
                  <a:lnTo>
                    <a:pt x="537171" y="263296"/>
                  </a:lnTo>
                  <a:lnTo>
                    <a:pt x="558342" y="318338"/>
                  </a:lnTo>
                  <a:lnTo>
                    <a:pt x="608622" y="352653"/>
                  </a:lnTo>
                  <a:lnTo>
                    <a:pt x="645134" y="358165"/>
                  </a:lnTo>
                  <a:lnTo>
                    <a:pt x="711974" y="348602"/>
                  </a:lnTo>
                  <a:lnTo>
                    <a:pt x="758012" y="323418"/>
                  </a:lnTo>
                  <a:lnTo>
                    <a:pt x="786663" y="292671"/>
                  </a:lnTo>
                  <a:lnTo>
                    <a:pt x="805497" y="254571"/>
                  </a:lnTo>
                  <a:lnTo>
                    <a:pt x="707275" y="254571"/>
                  </a:lnTo>
                  <a:lnTo>
                    <a:pt x="703135" y="262394"/>
                  </a:lnTo>
                  <a:lnTo>
                    <a:pt x="694410" y="275285"/>
                  </a:lnTo>
                  <a:lnTo>
                    <a:pt x="680681" y="287185"/>
                  </a:lnTo>
                  <a:lnTo>
                    <a:pt x="661492" y="291998"/>
                  </a:lnTo>
                  <a:lnTo>
                    <a:pt x="635088" y="276428"/>
                  </a:lnTo>
                  <a:lnTo>
                    <a:pt x="629640" y="240398"/>
                  </a:lnTo>
                  <a:lnTo>
                    <a:pt x="640892" y="197510"/>
                  </a:lnTo>
                  <a:lnTo>
                    <a:pt x="664616" y="161404"/>
                  </a:lnTo>
                  <a:lnTo>
                    <a:pt x="696582" y="145669"/>
                  </a:lnTo>
                  <a:lnTo>
                    <a:pt x="713994" y="151396"/>
                  </a:lnTo>
                  <a:lnTo>
                    <a:pt x="721931" y="164922"/>
                  </a:lnTo>
                  <a:lnTo>
                    <a:pt x="723785" y="179260"/>
                  </a:lnTo>
                  <a:lnTo>
                    <a:pt x="722985" y="187439"/>
                  </a:lnTo>
                  <a:lnTo>
                    <a:pt x="820534" y="187439"/>
                  </a:lnTo>
                  <a:close/>
                </a:path>
                <a:path w="2149475" h="360679">
                  <a:moveTo>
                    <a:pt x="1527022" y="150799"/>
                  </a:moveTo>
                  <a:lnTo>
                    <a:pt x="1522996" y="132969"/>
                  </a:lnTo>
                  <a:lnTo>
                    <a:pt x="1520456" y="121742"/>
                  </a:lnTo>
                  <a:lnTo>
                    <a:pt x="1488833" y="93319"/>
                  </a:lnTo>
                  <a:lnTo>
                    <a:pt x="1414551" y="79857"/>
                  </a:lnTo>
                  <a:lnTo>
                    <a:pt x="1366723" y="83362"/>
                  </a:lnTo>
                  <a:lnTo>
                    <a:pt x="1325346" y="96431"/>
                  </a:lnTo>
                  <a:lnTo>
                    <a:pt x="1294739" y="120573"/>
                  </a:lnTo>
                  <a:lnTo>
                    <a:pt x="1279245" y="157353"/>
                  </a:lnTo>
                  <a:lnTo>
                    <a:pt x="1287983" y="200774"/>
                  </a:lnTo>
                  <a:lnTo>
                    <a:pt x="1319085" y="227558"/>
                  </a:lnTo>
                  <a:lnTo>
                    <a:pt x="1356575" y="241884"/>
                  </a:lnTo>
                  <a:lnTo>
                    <a:pt x="1384490" y="247891"/>
                  </a:lnTo>
                  <a:lnTo>
                    <a:pt x="1411465" y="259956"/>
                  </a:lnTo>
                  <a:lnTo>
                    <a:pt x="1417472" y="277672"/>
                  </a:lnTo>
                  <a:lnTo>
                    <a:pt x="1406563" y="293700"/>
                  </a:lnTo>
                  <a:lnTo>
                    <a:pt x="1382801" y="300685"/>
                  </a:lnTo>
                  <a:lnTo>
                    <a:pt x="1353096" y="294386"/>
                  </a:lnTo>
                  <a:lnTo>
                    <a:pt x="1341793" y="280847"/>
                  </a:lnTo>
                  <a:lnTo>
                    <a:pt x="1341158" y="271297"/>
                  </a:lnTo>
                  <a:lnTo>
                    <a:pt x="1340904" y="267385"/>
                  </a:lnTo>
                  <a:lnTo>
                    <a:pt x="1342301" y="261594"/>
                  </a:lnTo>
                  <a:lnTo>
                    <a:pt x="1342377" y="261277"/>
                  </a:lnTo>
                  <a:lnTo>
                    <a:pt x="1165974" y="261594"/>
                  </a:lnTo>
                  <a:lnTo>
                    <a:pt x="1252842" y="232867"/>
                  </a:lnTo>
                  <a:lnTo>
                    <a:pt x="1256182" y="231863"/>
                  </a:lnTo>
                  <a:lnTo>
                    <a:pt x="1257185" y="230200"/>
                  </a:lnTo>
                  <a:lnTo>
                    <a:pt x="1258862" y="218490"/>
                  </a:lnTo>
                  <a:lnTo>
                    <a:pt x="1259865" y="179197"/>
                  </a:lnTo>
                  <a:lnTo>
                    <a:pt x="1249705" y="142722"/>
                  </a:lnTo>
                  <a:lnTo>
                    <a:pt x="1248702" y="141325"/>
                  </a:lnTo>
                  <a:lnTo>
                    <a:pt x="1227886" y="112128"/>
                  </a:lnTo>
                  <a:lnTo>
                    <a:pt x="1193901" y="90487"/>
                  </a:lnTo>
                  <a:lnTo>
                    <a:pt x="1169314" y="85420"/>
                  </a:lnTo>
                  <a:lnTo>
                    <a:pt x="1169314" y="189103"/>
                  </a:lnTo>
                  <a:lnTo>
                    <a:pt x="1163269" y="226771"/>
                  </a:lnTo>
                  <a:lnTo>
                    <a:pt x="1146619" y="262255"/>
                  </a:lnTo>
                  <a:lnTo>
                    <a:pt x="1121689" y="287070"/>
                  </a:lnTo>
                  <a:lnTo>
                    <a:pt x="1090803" y="292658"/>
                  </a:lnTo>
                  <a:lnTo>
                    <a:pt x="1069365" y="276186"/>
                  </a:lnTo>
                  <a:lnTo>
                    <a:pt x="1063167" y="245033"/>
                  </a:lnTo>
                  <a:lnTo>
                    <a:pt x="1069682" y="207594"/>
                  </a:lnTo>
                  <a:lnTo>
                    <a:pt x="1086383" y="172237"/>
                  </a:lnTo>
                  <a:lnTo>
                    <a:pt x="1110754" y="147358"/>
                  </a:lnTo>
                  <a:lnTo>
                    <a:pt x="1140256" y="141325"/>
                  </a:lnTo>
                  <a:lnTo>
                    <a:pt x="1162418" y="157772"/>
                  </a:lnTo>
                  <a:lnTo>
                    <a:pt x="1169314" y="189103"/>
                  </a:lnTo>
                  <a:lnTo>
                    <a:pt x="1169314" y="85420"/>
                  </a:lnTo>
                  <a:lnTo>
                    <a:pt x="1147279" y="80860"/>
                  </a:lnTo>
                  <a:lnTo>
                    <a:pt x="1104811" y="83527"/>
                  </a:lnTo>
                  <a:lnTo>
                    <a:pt x="1067511" y="95008"/>
                  </a:lnTo>
                  <a:lnTo>
                    <a:pt x="1035672" y="113715"/>
                  </a:lnTo>
                  <a:lnTo>
                    <a:pt x="1009611" y="138137"/>
                  </a:lnTo>
                  <a:lnTo>
                    <a:pt x="1004531" y="145402"/>
                  </a:lnTo>
                  <a:lnTo>
                    <a:pt x="1019657" y="86537"/>
                  </a:lnTo>
                  <a:lnTo>
                    <a:pt x="975537" y="93548"/>
                  </a:lnTo>
                  <a:lnTo>
                    <a:pt x="941349" y="113144"/>
                  </a:lnTo>
                  <a:lnTo>
                    <a:pt x="932116" y="122948"/>
                  </a:lnTo>
                  <a:lnTo>
                    <a:pt x="939469" y="90868"/>
                  </a:lnTo>
                  <a:lnTo>
                    <a:pt x="854938" y="90868"/>
                  </a:lnTo>
                  <a:lnTo>
                    <a:pt x="796480" y="350799"/>
                  </a:lnTo>
                  <a:lnTo>
                    <a:pt x="885672" y="350799"/>
                  </a:lnTo>
                  <a:lnTo>
                    <a:pt x="906729" y="258267"/>
                  </a:lnTo>
                  <a:lnTo>
                    <a:pt x="928827" y="202488"/>
                  </a:lnTo>
                  <a:lnTo>
                    <a:pt x="957973" y="177203"/>
                  </a:lnTo>
                  <a:lnTo>
                    <a:pt x="984300" y="170637"/>
                  </a:lnTo>
                  <a:lnTo>
                    <a:pt x="987856" y="170751"/>
                  </a:lnTo>
                  <a:lnTo>
                    <a:pt x="976020" y="197866"/>
                  </a:lnTo>
                  <a:lnTo>
                    <a:pt x="969098" y="230085"/>
                  </a:lnTo>
                  <a:lnTo>
                    <a:pt x="976503" y="291490"/>
                  </a:lnTo>
                  <a:lnTo>
                    <a:pt x="1014260" y="338531"/>
                  </a:lnTo>
                  <a:lnTo>
                    <a:pt x="1084795" y="358813"/>
                  </a:lnTo>
                  <a:lnTo>
                    <a:pt x="1137869" y="352983"/>
                  </a:lnTo>
                  <a:lnTo>
                    <a:pt x="1182395" y="333971"/>
                  </a:lnTo>
                  <a:lnTo>
                    <a:pt x="1216952" y="305498"/>
                  </a:lnTo>
                  <a:lnTo>
                    <a:pt x="1225664" y="292658"/>
                  </a:lnTo>
                  <a:lnTo>
                    <a:pt x="1240142" y="271297"/>
                  </a:lnTo>
                  <a:lnTo>
                    <a:pt x="1241526" y="296354"/>
                  </a:lnTo>
                  <a:lnTo>
                    <a:pt x="1257185" y="324993"/>
                  </a:lnTo>
                  <a:lnTo>
                    <a:pt x="1296898" y="348996"/>
                  </a:lnTo>
                  <a:lnTo>
                    <a:pt x="1370444" y="360159"/>
                  </a:lnTo>
                  <a:lnTo>
                    <a:pt x="1438097" y="352209"/>
                  </a:lnTo>
                  <a:lnTo>
                    <a:pt x="1481124" y="330238"/>
                  </a:lnTo>
                  <a:lnTo>
                    <a:pt x="1505407" y="300685"/>
                  </a:lnTo>
                  <a:lnTo>
                    <a:pt x="1516773" y="256578"/>
                  </a:lnTo>
                  <a:lnTo>
                    <a:pt x="1504683" y="217157"/>
                  </a:lnTo>
                  <a:lnTo>
                    <a:pt x="1477441" y="195072"/>
                  </a:lnTo>
                  <a:lnTo>
                    <a:pt x="1441056" y="183438"/>
                  </a:lnTo>
                  <a:lnTo>
                    <a:pt x="1401521" y="175399"/>
                  </a:lnTo>
                  <a:lnTo>
                    <a:pt x="1378788" y="164973"/>
                  </a:lnTo>
                  <a:lnTo>
                    <a:pt x="1373251" y="150799"/>
                  </a:lnTo>
                  <a:lnTo>
                    <a:pt x="1382687" y="138328"/>
                  </a:lnTo>
                  <a:lnTo>
                    <a:pt x="1404874" y="132969"/>
                  </a:lnTo>
                  <a:lnTo>
                    <a:pt x="1426921" y="138188"/>
                  </a:lnTo>
                  <a:lnTo>
                    <a:pt x="1435684" y="149682"/>
                  </a:lnTo>
                  <a:lnTo>
                    <a:pt x="1436814" y="161163"/>
                  </a:lnTo>
                  <a:lnTo>
                    <a:pt x="1435938" y="166382"/>
                  </a:lnTo>
                  <a:lnTo>
                    <a:pt x="1526146" y="166382"/>
                  </a:lnTo>
                  <a:lnTo>
                    <a:pt x="1527022" y="150799"/>
                  </a:lnTo>
                  <a:close/>
                </a:path>
                <a:path w="2149475" h="360679">
                  <a:moveTo>
                    <a:pt x="1818576" y="210058"/>
                  </a:moveTo>
                  <a:lnTo>
                    <a:pt x="1818347" y="178498"/>
                  </a:lnTo>
                  <a:lnTo>
                    <a:pt x="1811032" y="148920"/>
                  </a:lnTo>
                  <a:lnTo>
                    <a:pt x="1806956" y="141655"/>
                  </a:lnTo>
                  <a:lnTo>
                    <a:pt x="1796389" y="122821"/>
                  </a:lnTo>
                  <a:lnTo>
                    <a:pt x="1774151" y="101714"/>
                  </a:lnTo>
                  <a:lnTo>
                    <a:pt x="1744065" y="87109"/>
                  </a:lnTo>
                  <a:lnTo>
                    <a:pt x="1728698" y="84467"/>
                  </a:lnTo>
                  <a:lnTo>
                    <a:pt x="1728698" y="189509"/>
                  </a:lnTo>
                  <a:lnTo>
                    <a:pt x="1722577" y="227228"/>
                  </a:lnTo>
                  <a:lnTo>
                    <a:pt x="1705762" y="262737"/>
                  </a:lnTo>
                  <a:lnTo>
                    <a:pt x="1680591" y="287515"/>
                  </a:lnTo>
                  <a:lnTo>
                    <a:pt x="1649412" y="292989"/>
                  </a:lnTo>
                  <a:lnTo>
                    <a:pt x="1627860" y="276606"/>
                  </a:lnTo>
                  <a:lnTo>
                    <a:pt x="1621650" y="245440"/>
                  </a:lnTo>
                  <a:lnTo>
                    <a:pt x="1628241" y="207924"/>
                  </a:lnTo>
                  <a:lnTo>
                    <a:pt x="1645107" y="172504"/>
                  </a:lnTo>
                  <a:lnTo>
                    <a:pt x="1669719" y="147599"/>
                  </a:lnTo>
                  <a:lnTo>
                    <a:pt x="1699526" y="141655"/>
                  </a:lnTo>
                  <a:lnTo>
                    <a:pt x="1721802" y="158127"/>
                  </a:lnTo>
                  <a:lnTo>
                    <a:pt x="1728698" y="189509"/>
                  </a:lnTo>
                  <a:lnTo>
                    <a:pt x="1728698" y="84467"/>
                  </a:lnTo>
                  <a:lnTo>
                    <a:pt x="1705876" y="80518"/>
                  </a:lnTo>
                  <a:lnTo>
                    <a:pt x="1663344" y="83235"/>
                  </a:lnTo>
                  <a:lnTo>
                    <a:pt x="1626019" y="94703"/>
                  </a:lnTo>
                  <a:lnTo>
                    <a:pt x="1568145" y="137706"/>
                  </a:lnTo>
                  <a:lnTo>
                    <a:pt x="1534642" y="197281"/>
                  </a:lnTo>
                  <a:lnTo>
                    <a:pt x="1527771" y="229438"/>
                  </a:lnTo>
                  <a:lnTo>
                    <a:pt x="1527886" y="261150"/>
                  </a:lnTo>
                  <a:lnTo>
                    <a:pt x="1550289" y="317055"/>
                  </a:lnTo>
                  <a:lnTo>
                    <a:pt x="1604200" y="352729"/>
                  </a:lnTo>
                  <a:lnTo>
                    <a:pt x="1643735" y="359156"/>
                  </a:lnTo>
                  <a:lnTo>
                    <a:pt x="1685823" y="356120"/>
                  </a:lnTo>
                  <a:lnTo>
                    <a:pt x="1722628" y="344474"/>
                  </a:lnTo>
                  <a:lnTo>
                    <a:pt x="1753920" y="325742"/>
                  </a:lnTo>
                  <a:lnTo>
                    <a:pt x="1779409" y="301421"/>
                  </a:lnTo>
                  <a:lnTo>
                    <a:pt x="1785175" y="292989"/>
                  </a:lnTo>
                  <a:lnTo>
                    <a:pt x="1798853" y="273024"/>
                  </a:lnTo>
                  <a:lnTo>
                    <a:pt x="1811997" y="242062"/>
                  </a:lnTo>
                  <a:lnTo>
                    <a:pt x="1818576" y="210058"/>
                  </a:lnTo>
                  <a:close/>
                </a:path>
                <a:path w="2149475" h="360679">
                  <a:moveTo>
                    <a:pt x="2148878" y="90868"/>
                  </a:moveTo>
                  <a:lnTo>
                    <a:pt x="2104453" y="90868"/>
                  </a:lnTo>
                  <a:lnTo>
                    <a:pt x="2117801" y="28067"/>
                  </a:lnTo>
                  <a:lnTo>
                    <a:pt x="2031606" y="28067"/>
                  </a:lnTo>
                  <a:lnTo>
                    <a:pt x="2017915" y="90868"/>
                  </a:lnTo>
                  <a:lnTo>
                    <a:pt x="1962797" y="90868"/>
                  </a:lnTo>
                  <a:lnTo>
                    <a:pt x="1983955" y="54330"/>
                  </a:lnTo>
                  <a:lnTo>
                    <a:pt x="1999869" y="52463"/>
                  </a:lnTo>
                  <a:lnTo>
                    <a:pt x="2010219" y="3352"/>
                  </a:lnTo>
                  <a:lnTo>
                    <a:pt x="1998243" y="2298"/>
                  </a:lnTo>
                  <a:lnTo>
                    <a:pt x="1969757" y="1714"/>
                  </a:lnTo>
                  <a:lnTo>
                    <a:pt x="1935949" y="5461"/>
                  </a:lnTo>
                  <a:lnTo>
                    <a:pt x="1894751" y="31483"/>
                  </a:lnTo>
                  <a:lnTo>
                    <a:pt x="1877885" y="67741"/>
                  </a:lnTo>
                  <a:lnTo>
                    <a:pt x="1871586" y="90868"/>
                  </a:lnTo>
                  <a:lnTo>
                    <a:pt x="1825155" y="90868"/>
                  </a:lnTo>
                  <a:lnTo>
                    <a:pt x="1811782" y="150672"/>
                  </a:lnTo>
                  <a:lnTo>
                    <a:pt x="1859546" y="150672"/>
                  </a:lnTo>
                  <a:lnTo>
                    <a:pt x="1816125" y="350469"/>
                  </a:lnTo>
                  <a:lnTo>
                    <a:pt x="1909000" y="350469"/>
                  </a:lnTo>
                  <a:lnTo>
                    <a:pt x="1952777" y="150672"/>
                  </a:lnTo>
                  <a:lnTo>
                    <a:pt x="2004555" y="151003"/>
                  </a:lnTo>
                  <a:lnTo>
                    <a:pt x="1975485" y="281978"/>
                  </a:lnTo>
                  <a:lnTo>
                    <a:pt x="1973160" y="304507"/>
                  </a:lnTo>
                  <a:lnTo>
                    <a:pt x="1976361" y="321068"/>
                  </a:lnTo>
                  <a:lnTo>
                    <a:pt x="1983143" y="332625"/>
                  </a:lnTo>
                  <a:lnTo>
                    <a:pt x="1991525" y="340106"/>
                  </a:lnTo>
                  <a:lnTo>
                    <a:pt x="2017991" y="348996"/>
                  </a:lnTo>
                  <a:lnTo>
                    <a:pt x="2051481" y="351256"/>
                  </a:lnTo>
                  <a:lnTo>
                    <a:pt x="2080209" y="350202"/>
                  </a:lnTo>
                  <a:lnTo>
                    <a:pt x="2092413" y="349123"/>
                  </a:lnTo>
                  <a:lnTo>
                    <a:pt x="2106777" y="289648"/>
                  </a:lnTo>
                  <a:lnTo>
                    <a:pt x="2100922" y="290169"/>
                  </a:lnTo>
                  <a:lnTo>
                    <a:pt x="2087778" y="290537"/>
                  </a:lnTo>
                  <a:lnTo>
                    <a:pt x="2073935" y="288950"/>
                  </a:lnTo>
                  <a:lnTo>
                    <a:pt x="2066023" y="283654"/>
                  </a:lnTo>
                  <a:lnTo>
                    <a:pt x="2063699" y="276631"/>
                  </a:lnTo>
                  <a:lnTo>
                    <a:pt x="2066023" y="270954"/>
                  </a:lnTo>
                  <a:lnTo>
                    <a:pt x="2067026" y="264617"/>
                  </a:lnTo>
                  <a:lnTo>
                    <a:pt x="2091410" y="150672"/>
                  </a:lnTo>
                  <a:lnTo>
                    <a:pt x="2135848" y="150672"/>
                  </a:lnTo>
                  <a:lnTo>
                    <a:pt x="2148878" y="90868"/>
                  </a:lnTo>
                  <a:close/>
                </a:path>
              </a:pathLst>
            </a:custGeom>
            <a:solidFill>
              <a:srgbClr val="231F20"/>
            </a:solidFill>
          </p:spPr>
          <p:txBody>
            <a:bodyPr wrap="square" lIns="0" tIns="0" rIns="0" bIns="0" rtlCol="0"/>
            <a:lstStyle/>
            <a:p>
              <a:endParaRPr sz="2109"/>
            </a:p>
          </p:txBody>
        </p:sp>
        <p:pic>
          <p:nvPicPr>
            <p:cNvPr id="40" name="object 40"/>
            <p:cNvPicPr/>
            <p:nvPr/>
          </p:nvPicPr>
          <p:blipFill>
            <a:blip r:embed="rId8" cstate="print"/>
            <a:stretch>
              <a:fillRect/>
            </a:stretch>
          </p:blipFill>
          <p:spPr>
            <a:xfrm>
              <a:off x="9128802" y="8578213"/>
              <a:ext cx="67656" cy="67153"/>
            </a:xfrm>
            <a:prstGeom prst="rect">
              <a:avLst/>
            </a:prstGeom>
          </p:spPr>
        </p:pic>
      </p:grpSp>
      <p:grpSp>
        <p:nvGrpSpPr>
          <p:cNvPr id="41" name="object 41"/>
          <p:cNvGrpSpPr/>
          <p:nvPr/>
        </p:nvGrpSpPr>
        <p:grpSpPr>
          <a:xfrm>
            <a:off x="5065196" y="3877184"/>
            <a:ext cx="1721644" cy="723305"/>
            <a:chOff x="7191502" y="3073400"/>
            <a:chExt cx="2448560" cy="1028700"/>
          </a:xfrm>
        </p:grpSpPr>
        <p:sp>
          <p:nvSpPr>
            <p:cNvPr id="42" name="object 42"/>
            <p:cNvSpPr/>
            <p:nvPr/>
          </p:nvSpPr>
          <p:spPr>
            <a:xfrm>
              <a:off x="7191502" y="3073400"/>
              <a:ext cx="2448560" cy="1028700"/>
            </a:xfrm>
            <a:custGeom>
              <a:avLst/>
              <a:gdLst/>
              <a:ahLst/>
              <a:cxnLst/>
              <a:rect l="l" t="t" r="r" b="b"/>
              <a:pathLst>
                <a:path w="2448559" h="1028700">
                  <a:moveTo>
                    <a:pt x="0" y="1028700"/>
                  </a:moveTo>
                  <a:lnTo>
                    <a:pt x="2448001" y="1028700"/>
                  </a:lnTo>
                  <a:lnTo>
                    <a:pt x="2448001" y="0"/>
                  </a:lnTo>
                  <a:lnTo>
                    <a:pt x="0" y="0"/>
                  </a:lnTo>
                  <a:lnTo>
                    <a:pt x="0" y="1028700"/>
                  </a:lnTo>
                  <a:close/>
                </a:path>
              </a:pathLst>
            </a:custGeom>
            <a:solidFill>
              <a:srgbClr val="FFFFFF"/>
            </a:solidFill>
          </p:spPr>
          <p:txBody>
            <a:bodyPr wrap="square" lIns="0" tIns="0" rIns="0" bIns="0" rtlCol="0"/>
            <a:lstStyle/>
            <a:p>
              <a:endParaRPr sz="2109"/>
            </a:p>
          </p:txBody>
        </p:sp>
        <p:sp>
          <p:nvSpPr>
            <p:cNvPr id="43" name="object 43"/>
            <p:cNvSpPr/>
            <p:nvPr/>
          </p:nvSpPr>
          <p:spPr>
            <a:xfrm>
              <a:off x="7227493" y="3251339"/>
              <a:ext cx="2376170" cy="585470"/>
            </a:xfrm>
            <a:custGeom>
              <a:avLst/>
              <a:gdLst/>
              <a:ahLst/>
              <a:cxnLst/>
              <a:rect l="l" t="t" r="r" b="b"/>
              <a:pathLst>
                <a:path w="2376170" h="585470">
                  <a:moveTo>
                    <a:pt x="2065502" y="0"/>
                  </a:moveTo>
                  <a:lnTo>
                    <a:pt x="310514" y="0"/>
                  </a:lnTo>
                  <a:lnTo>
                    <a:pt x="256689" y="3788"/>
                  </a:lnTo>
                  <a:lnTo>
                    <a:pt x="206903" y="14967"/>
                  </a:lnTo>
                  <a:lnTo>
                    <a:pt x="161539" y="32894"/>
                  </a:lnTo>
                  <a:lnTo>
                    <a:pt x="120980" y="56924"/>
                  </a:lnTo>
                  <a:lnTo>
                    <a:pt x="85610" y="86412"/>
                  </a:lnTo>
                  <a:lnTo>
                    <a:pt x="55812" y="120715"/>
                  </a:lnTo>
                  <a:lnTo>
                    <a:pt x="31969" y="159189"/>
                  </a:lnTo>
                  <a:lnTo>
                    <a:pt x="14463" y="201189"/>
                  </a:lnTo>
                  <a:lnTo>
                    <a:pt x="3679" y="246071"/>
                  </a:lnTo>
                  <a:lnTo>
                    <a:pt x="0" y="293192"/>
                  </a:lnTo>
                  <a:lnTo>
                    <a:pt x="3671" y="340264"/>
                  </a:lnTo>
                  <a:lnTo>
                    <a:pt x="14436" y="385029"/>
                  </a:lnTo>
                  <a:lnTo>
                    <a:pt x="31918" y="426864"/>
                  </a:lnTo>
                  <a:lnTo>
                    <a:pt x="55741" y="465147"/>
                  </a:lnTo>
                  <a:lnTo>
                    <a:pt x="85529" y="499252"/>
                  </a:lnTo>
                  <a:lnTo>
                    <a:pt x="120906" y="528558"/>
                  </a:lnTo>
                  <a:lnTo>
                    <a:pt x="161496" y="552441"/>
                  </a:lnTo>
                  <a:lnTo>
                    <a:pt x="206922" y="570277"/>
                  </a:lnTo>
                  <a:lnTo>
                    <a:pt x="256809" y="581444"/>
                  </a:lnTo>
                  <a:lnTo>
                    <a:pt x="310781" y="585317"/>
                  </a:lnTo>
                  <a:lnTo>
                    <a:pt x="2065210" y="585317"/>
                  </a:lnTo>
                  <a:lnTo>
                    <a:pt x="2119185" y="581444"/>
                  </a:lnTo>
                  <a:lnTo>
                    <a:pt x="2169075" y="570277"/>
                  </a:lnTo>
                  <a:lnTo>
                    <a:pt x="2214504" y="552441"/>
                  </a:lnTo>
                  <a:lnTo>
                    <a:pt x="2255095" y="528558"/>
                  </a:lnTo>
                  <a:lnTo>
                    <a:pt x="2290473" y="499252"/>
                  </a:lnTo>
                  <a:lnTo>
                    <a:pt x="2320262" y="465147"/>
                  </a:lnTo>
                  <a:lnTo>
                    <a:pt x="2344085" y="426864"/>
                  </a:lnTo>
                  <a:lnTo>
                    <a:pt x="2361567" y="385029"/>
                  </a:lnTo>
                  <a:lnTo>
                    <a:pt x="2372332" y="340264"/>
                  </a:lnTo>
                  <a:lnTo>
                    <a:pt x="2376004" y="293192"/>
                  </a:lnTo>
                  <a:lnTo>
                    <a:pt x="2372325" y="246071"/>
                  </a:lnTo>
                  <a:lnTo>
                    <a:pt x="2361542" y="201189"/>
                  </a:lnTo>
                  <a:lnTo>
                    <a:pt x="2344038" y="159189"/>
                  </a:lnTo>
                  <a:lnTo>
                    <a:pt x="2320196" y="120715"/>
                  </a:lnTo>
                  <a:lnTo>
                    <a:pt x="2290400" y="86412"/>
                  </a:lnTo>
                  <a:lnTo>
                    <a:pt x="2255032" y="56924"/>
                  </a:lnTo>
                  <a:lnTo>
                    <a:pt x="2214475" y="32894"/>
                  </a:lnTo>
                  <a:lnTo>
                    <a:pt x="2169113" y="14967"/>
                  </a:lnTo>
                  <a:lnTo>
                    <a:pt x="2119327" y="3788"/>
                  </a:lnTo>
                  <a:lnTo>
                    <a:pt x="2065502" y="0"/>
                  </a:lnTo>
                  <a:close/>
                </a:path>
              </a:pathLst>
            </a:custGeom>
            <a:solidFill>
              <a:srgbClr val="ED1B2D"/>
            </a:solidFill>
          </p:spPr>
          <p:txBody>
            <a:bodyPr wrap="square" lIns="0" tIns="0" rIns="0" bIns="0" rtlCol="0"/>
            <a:lstStyle/>
            <a:p>
              <a:endParaRPr sz="2109"/>
            </a:p>
          </p:txBody>
        </p:sp>
        <p:sp>
          <p:nvSpPr>
            <p:cNvPr id="44" name="object 44"/>
            <p:cNvSpPr/>
            <p:nvPr/>
          </p:nvSpPr>
          <p:spPr>
            <a:xfrm>
              <a:off x="7300823" y="3323361"/>
              <a:ext cx="2229485" cy="441959"/>
            </a:xfrm>
            <a:custGeom>
              <a:avLst/>
              <a:gdLst/>
              <a:ahLst/>
              <a:cxnLst/>
              <a:rect l="l" t="t" r="r" b="b"/>
              <a:pathLst>
                <a:path w="2229484" h="441960">
                  <a:moveTo>
                    <a:pt x="1991283" y="0"/>
                  </a:moveTo>
                  <a:lnTo>
                    <a:pt x="238023" y="0"/>
                  </a:lnTo>
                  <a:lnTo>
                    <a:pt x="185451" y="4561"/>
                  </a:lnTo>
                  <a:lnTo>
                    <a:pt x="138611" y="17462"/>
                  </a:lnTo>
                  <a:lnTo>
                    <a:pt x="97898" y="37822"/>
                  </a:lnTo>
                  <a:lnTo>
                    <a:pt x="63704" y="64763"/>
                  </a:lnTo>
                  <a:lnTo>
                    <a:pt x="36424" y="97408"/>
                  </a:lnTo>
                  <a:lnTo>
                    <a:pt x="16451" y="134877"/>
                  </a:lnTo>
                  <a:lnTo>
                    <a:pt x="4178" y="176293"/>
                  </a:lnTo>
                  <a:lnTo>
                    <a:pt x="0" y="220776"/>
                  </a:lnTo>
                  <a:lnTo>
                    <a:pt x="4154" y="265280"/>
                  </a:lnTo>
                  <a:lnTo>
                    <a:pt x="16370" y="306766"/>
                  </a:lnTo>
                  <a:lnTo>
                    <a:pt x="36273" y="344327"/>
                  </a:lnTo>
                  <a:lnTo>
                    <a:pt x="63490" y="377056"/>
                  </a:lnTo>
                  <a:lnTo>
                    <a:pt x="97647" y="404046"/>
                  </a:lnTo>
                  <a:lnTo>
                    <a:pt x="138370" y="424391"/>
                  </a:lnTo>
                  <a:lnTo>
                    <a:pt x="185287" y="437183"/>
                  </a:lnTo>
                  <a:lnTo>
                    <a:pt x="238023" y="441515"/>
                  </a:lnTo>
                  <a:lnTo>
                    <a:pt x="1991283" y="441515"/>
                  </a:lnTo>
                  <a:lnTo>
                    <a:pt x="2044021" y="437183"/>
                  </a:lnTo>
                  <a:lnTo>
                    <a:pt x="2090944" y="424391"/>
                  </a:lnTo>
                  <a:lnTo>
                    <a:pt x="2131675" y="404046"/>
                  </a:lnTo>
                  <a:lnTo>
                    <a:pt x="2165842" y="377056"/>
                  </a:lnTo>
                  <a:lnTo>
                    <a:pt x="2193068" y="344327"/>
                  </a:lnTo>
                  <a:lnTo>
                    <a:pt x="2212979" y="306766"/>
                  </a:lnTo>
                  <a:lnTo>
                    <a:pt x="2225200" y="265280"/>
                  </a:lnTo>
                  <a:lnTo>
                    <a:pt x="2229357" y="220776"/>
                  </a:lnTo>
                  <a:lnTo>
                    <a:pt x="2225179" y="176293"/>
                  </a:lnTo>
                  <a:lnTo>
                    <a:pt x="2212904" y="134877"/>
                  </a:lnTo>
                  <a:lnTo>
                    <a:pt x="2192927" y="97408"/>
                  </a:lnTo>
                  <a:lnTo>
                    <a:pt x="2165642" y="64763"/>
                  </a:lnTo>
                  <a:lnTo>
                    <a:pt x="2131441" y="37822"/>
                  </a:lnTo>
                  <a:lnTo>
                    <a:pt x="2090719" y="17462"/>
                  </a:lnTo>
                  <a:lnTo>
                    <a:pt x="2043868" y="4561"/>
                  </a:lnTo>
                  <a:lnTo>
                    <a:pt x="1991283" y="0"/>
                  </a:lnTo>
                  <a:close/>
                </a:path>
              </a:pathLst>
            </a:custGeom>
            <a:solidFill>
              <a:srgbClr val="FFFFFF"/>
            </a:solidFill>
          </p:spPr>
          <p:txBody>
            <a:bodyPr wrap="square" lIns="0" tIns="0" rIns="0" bIns="0" rtlCol="0"/>
            <a:lstStyle/>
            <a:p>
              <a:endParaRPr sz="2109"/>
            </a:p>
          </p:txBody>
        </p:sp>
        <p:sp>
          <p:nvSpPr>
            <p:cNvPr id="45" name="object 45"/>
            <p:cNvSpPr/>
            <p:nvPr/>
          </p:nvSpPr>
          <p:spPr>
            <a:xfrm>
              <a:off x="7463193" y="3405682"/>
              <a:ext cx="880744" cy="276225"/>
            </a:xfrm>
            <a:custGeom>
              <a:avLst/>
              <a:gdLst/>
              <a:ahLst/>
              <a:cxnLst/>
              <a:rect l="l" t="t" r="r" b="b"/>
              <a:pathLst>
                <a:path w="880745" h="276225">
                  <a:moveTo>
                    <a:pt x="289725" y="50"/>
                  </a:moveTo>
                  <a:lnTo>
                    <a:pt x="204584" y="50"/>
                  </a:lnTo>
                  <a:lnTo>
                    <a:pt x="204635" y="192189"/>
                  </a:lnTo>
                  <a:lnTo>
                    <a:pt x="85839" y="50"/>
                  </a:lnTo>
                  <a:lnTo>
                    <a:pt x="25" y="50"/>
                  </a:lnTo>
                  <a:lnTo>
                    <a:pt x="0" y="275628"/>
                  </a:lnTo>
                  <a:lnTo>
                    <a:pt x="85293" y="275628"/>
                  </a:lnTo>
                  <a:lnTo>
                    <a:pt x="85293" y="83477"/>
                  </a:lnTo>
                  <a:lnTo>
                    <a:pt x="204698" y="275628"/>
                  </a:lnTo>
                  <a:lnTo>
                    <a:pt x="289725" y="275628"/>
                  </a:lnTo>
                  <a:lnTo>
                    <a:pt x="289725" y="50"/>
                  </a:lnTo>
                  <a:close/>
                </a:path>
                <a:path w="880745" h="276225">
                  <a:moveTo>
                    <a:pt x="420052" y="92392"/>
                  </a:moveTo>
                  <a:lnTo>
                    <a:pt x="337185" y="92392"/>
                  </a:lnTo>
                  <a:lnTo>
                    <a:pt x="337185" y="275628"/>
                  </a:lnTo>
                  <a:lnTo>
                    <a:pt x="420052" y="275628"/>
                  </a:lnTo>
                  <a:lnTo>
                    <a:pt x="420052" y="92392"/>
                  </a:lnTo>
                  <a:close/>
                </a:path>
                <a:path w="880745" h="276225">
                  <a:moveTo>
                    <a:pt x="420052" y="0"/>
                  </a:moveTo>
                  <a:lnTo>
                    <a:pt x="337007" y="0"/>
                  </a:lnTo>
                  <a:lnTo>
                    <a:pt x="337007" y="56349"/>
                  </a:lnTo>
                  <a:lnTo>
                    <a:pt x="420052" y="56349"/>
                  </a:lnTo>
                  <a:lnTo>
                    <a:pt x="420052" y="0"/>
                  </a:lnTo>
                  <a:close/>
                </a:path>
                <a:path w="880745" h="276225">
                  <a:moveTo>
                    <a:pt x="880668" y="65227"/>
                  </a:moveTo>
                  <a:lnTo>
                    <a:pt x="835787" y="65227"/>
                  </a:lnTo>
                  <a:lnTo>
                    <a:pt x="835787" y="28397"/>
                  </a:lnTo>
                  <a:lnTo>
                    <a:pt x="752881" y="28397"/>
                  </a:lnTo>
                  <a:lnTo>
                    <a:pt x="752881" y="65227"/>
                  </a:lnTo>
                  <a:lnTo>
                    <a:pt x="707872" y="65227"/>
                  </a:lnTo>
                  <a:lnTo>
                    <a:pt x="707872" y="93167"/>
                  </a:lnTo>
                  <a:lnTo>
                    <a:pt x="752868" y="93167"/>
                  </a:lnTo>
                  <a:lnTo>
                    <a:pt x="752868" y="276047"/>
                  </a:lnTo>
                  <a:lnTo>
                    <a:pt x="835812" y="276047"/>
                  </a:lnTo>
                  <a:lnTo>
                    <a:pt x="835812" y="93167"/>
                  </a:lnTo>
                  <a:lnTo>
                    <a:pt x="880668" y="93167"/>
                  </a:lnTo>
                  <a:lnTo>
                    <a:pt x="880668" y="65227"/>
                  </a:lnTo>
                  <a:close/>
                </a:path>
              </a:pathLst>
            </a:custGeom>
            <a:solidFill>
              <a:srgbClr val="ED1B2D"/>
            </a:solidFill>
          </p:spPr>
          <p:txBody>
            <a:bodyPr wrap="square" lIns="0" tIns="0" rIns="0" bIns="0" rtlCol="0"/>
            <a:lstStyle/>
            <a:p>
              <a:endParaRPr sz="2109"/>
            </a:p>
          </p:txBody>
        </p:sp>
        <p:pic>
          <p:nvPicPr>
            <p:cNvPr id="46" name="object 46"/>
            <p:cNvPicPr/>
            <p:nvPr/>
          </p:nvPicPr>
          <p:blipFill>
            <a:blip r:embed="rId9" cstate="print"/>
            <a:stretch>
              <a:fillRect/>
            </a:stretch>
          </p:blipFill>
          <p:spPr>
            <a:xfrm>
              <a:off x="9131376" y="3485540"/>
              <a:ext cx="242163" cy="205790"/>
            </a:xfrm>
            <a:prstGeom prst="rect">
              <a:avLst/>
            </a:prstGeom>
          </p:spPr>
        </p:pic>
        <p:sp>
          <p:nvSpPr>
            <p:cNvPr id="47" name="object 47"/>
            <p:cNvSpPr/>
            <p:nvPr/>
          </p:nvSpPr>
          <p:spPr>
            <a:xfrm>
              <a:off x="8870327" y="3405733"/>
              <a:ext cx="234315" cy="281305"/>
            </a:xfrm>
            <a:custGeom>
              <a:avLst/>
              <a:gdLst/>
              <a:ahLst/>
              <a:cxnLst/>
              <a:rect l="l" t="t" r="r" b="b"/>
              <a:pathLst>
                <a:path w="234315" h="281304">
                  <a:moveTo>
                    <a:pt x="105359" y="85051"/>
                  </a:moveTo>
                  <a:lnTo>
                    <a:pt x="63709" y="91024"/>
                  </a:lnTo>
                  <a:lnTo>
                    <a:pt x="30291" y="112909"/>
                  </a:lnTo>
                  <a:lnTo>
                    <a:pt x="8066" y="144852"/>
                  </a:lnTo>
                  <a:lnTo>
                    <a:pt x="0" y="181000"/>
                  </a:lnTo>
                  <a:lnTo>
                    <a:pt x="7805" y="221589"/>
                  </a:lnTo>
                  <a:lnTo>
                    <a:pt x="44668" y="265143"/>
                  </a:lnTo>
                  <a:lnTo>
                    <a:pt x="102955" y="280741"/>
                  </a:lnTo>
                  <a:lnTo>
                    <a:pt x="127729" y="276272"/>
                  </a:lnTo>
                  <a:lnTo>
                    <a:pt x="152082" y="264985"/>
                  </a:lnTo>
                  <a:lnTo>
                    <a:pt x="234048" y="264985"/>
                  </a:lnTo>
                  <a:lnTo>
                    <a:pt x="234048" y="251244"/>
                  </a:lnTo>
                  <a:lnTo>
                    <a:pt x="120396" y="251244"/>
                  </a:lnTo>
                  <a:lnTo>
                    <a:pt x="109743" y="249644"/>
                  </a:lnTo>
                  <a:lnTo>
                    <a:pt x="99186" y="244003"/>
                  </a:lnTo>
                  <a:lnTo>
                    <a:pt x="91106" y="233054"/>
                  </a:lnTo>
                  <a:lnTo>
                    <a:pt x="87883" y="215531"/>
                  </a:lnTo>
                  <a:lnTo>
                    <a:pt x="87883" y="150266"/>
                  </a:lnTo>
                  <a:lnTo>
                    <a:pt x="91106" y="132764"/>
                  </a:lnTo>
                  <a:lnTo>
                    <a:pt x="99186" y="121872"/>
                  </a:lnTo>
                  <a:lnTo>
                    <a:pt x="109743" y="116290"/>
                  </a:lnTo>
                  <a:lnTo>
                    <a:pt x="120396" y="114719"/>
                  </a:lnTo>
                  <a:lnTo>
                    <a:pt x="234048" y="114719"/>
                  </a:lnTo>
                  <a:lnTo>
                    <a:pt x="234048" y="101396"/>
                  </a:lnTo>
                  <a:lnTo>
                    <a:pt x="152260" y="101396"/>
                  </a:lnTo>
                  <a:lnTo>
                    <a:pt x="142097" y="95953"/>
                  </a:lnTo>
                  <a:lnTo>
                    <a:pt x="131205" y="91090"/>
                  </a:lnTo>
                  <a:lnTo>
                    <a:pt x="119115" y="87295"/>
                  </a:lnTo>
                  <a:lnTo>
                    <a:pt x="105359" y="85051"/>
                  </a:lnTo>
                  <a:close/>
                </a:path>
                <a:path w="234315" h="281304">
                  <a:moveTo>
                    <a:pt x="234048" y="264985"/>
                  </a:moveTo>
                  <a:lnTo>
                    <a:pt x="152082" y="264985"/>
                  </a:lnTo>
                  <a:lnTo>
                    <a:pt x="152133" y="275526"/>
                  </a:lnTo>
                  <a:lnTo>
                    <a:pt x="234048" y="275526"/>
                  </a:lnTo>
                  <a:lnTo>
                    <a:pt x="234048" y="264985"/>
                  </a:lnTo>
                  <a:close/>
                </a:path>
                <a:path w="234315" h="281304">
                  <a:moveTo>
                    <a:pt x="234048" y="114719"/>
                  </a:moveTo>
                  <a:lnTo>
                    <a:pt x="120396" y="114719"/>
                  </a:lnTo>
                  <a:lnTo>
                    <a:pt x="130916" y="116290"/>
                  </a:lnTo>
                  <a:lnTo>
                    <a:pt x="141470" y="121872"/>
                  </a:lnTo>
                  <a:lnTo>
                    <a:pt x="149601" y="132764"/>
                  </a:lnTo>
                  <a:lnTo>
                    <a:pt x="152857" y="150266"/>
                  </a:lnTo>
                  <a:lnTo>
                    <a:pt x="152857" y="215531"/>
                  </a:lnTo>
                  <a:lnTo>
                    <a:pt x="149601" y="233054"/>
                  </a:lnTo>
                  <a:lnTo>
                    <a:pt x="141470" y="244003"/>
                  </a:lnTo>
                  <a:lnTo>
                    <a:pt x="130916" y="249644"/>
                  </a:lnTo>
                  <a:lnTo>
                    <a:pt x="120396" y="251244"/>
                  </a:lnTo>
                  <a:lnTo>
                    <a:pt x="234048" y="251244"/>
                  </a:lnTo>
                  <a:lnTo>
                    <a:pt x="234048" y="114719"/>
                  </a:lnTo>
                  <a:close/>
                </a:path>
                <a:path w="234315" h="281304">
                  <a:moveTo>
                    <a:pt x="234048" y="0"/>
                  </a:moveTo>
                  <a:lnTo>
                    <a:pt x="152260" y="0"/>
                  </a:lnTo>
                  <a:lnTo>
                    <a:pt x="152260" y="101396"/>
                  </a:lnTo>
                  <a:lnTo>
                    <a:pt x="234048" y="101396"/>
                  </a:lnTo>
                  <a:lnTo>
                    <a:pt x="234048" y="0"/>
                  </a:lnTo>
                  <a:close/>
                </a:path>
              </a:pathLst>
            </a:custGeom>
            <a:solidFill>
              <a:srgbClr val="ED1B2D"/>
            </a:solidFill>
          </p:spPr>
          <p:txBody>
            <a:bodyPr wrap="square" lIns="0" tIns="0" rIns="0" bIns="0" rtlCol="0"/>
            <a:lstStyle/>
            <a:p>
              <a:endParaRPr sz="2109"/>
            </a:p>
          </p:txBody>
        </p:sp>
        <p:pic>
          <p:nvPicPr>
            <p:cNvPr id="48" name="object 48"/>
            <p:cNvPicPr/>
            <p:nvPr/>
          </p:nvPicPr>
          <p:blipFill>
            <a:blip r:embed="rId10" cstate="print"/>
            <a:stretch>
              <a:fillRect/>
            </a:stretch>
          </p:blipFill>
          <p:spPr>
            <a:xfrm>
              <a:off x="7928813" y="3489591"/>
              <a:ext cx="241795" cy="191668"/>
            </a:xfrm>
            <a:prstGeom prst="rect">
              <a:avLst/>
            </a:prstGeom>
          </p:spPr>
        </p:pic>
        <p:pic>
          <p:nvPicPr>
            <p:cNvPr id="49" name="object 49"/>
            <p:cNvPicPr/>
            <p:nvPr/>
          </p:nvPicPr>
          <p:blipFill>
            <a:blip r:embed="rId11" cstate="print"/>
            <a:stretch>
              <a:fillRect/>
            </a:stretch>
          </p:blipFill>
          <p:spPr>
            <a:xfrm>
              <a:off x="8602281" y="3489591"/>
              <a:ext cx="241744" cy="191668"/>
            </a:xfrm>
            <a:prstGeom prst="rect">
              <a:avLst/>
            </a:prstGeom>
          </p:spPr>
        </p:pic>
        <p:pic>
          <p:nvPicPr>
            <p:cNvPr id="50" name="object 50"/>
            <p:cNvPicPr/>
            <p:nvPr/>
          </p:nvPicPr>
          <p:blipFill>
            <a:blip r:embed="rId12" cstate="print"/>
            <a:stretch>
              <a:fillRect/>
            </a:stretch>
          </p:blipFill>
          <p:spPr>
            <a:xfrm>
              <a:off x="8332914" y="3486543"/>
              <a:ext cx="244259" cy="205790"/>
            </a:xfrm>
            <a:prstGeom prst="rect">
              <a:avLst/>
            </a:prstGeom>
          </p:spPr>
        </p:pic>
        <p:pic>
          <p:nvPicPr>
            <p:cNvPr id="51" name="object 51"/>
            <p:cNvPicPr/>
            <p:nvPr/>
          </p:nvPicPr>
          <p:blipFill>
            <a:blip r:embed="rId13" cstate="print"/>
            <a:stretch>
              <a:fillRect/>
            </a:stretch>
          </p:blipFill>
          <p:spPr>
            <a:xfrm>
              <a:off x="9335516" y="3385515"/>
              <a:ext cx="110210" cy="108788"/>
            </a:xfrm>
            <a:prstGeom prst="rect">
              <a:avLst/>
            </a:prstGeom>
          </p:spPr>
        </p:pic>
      </p:grpSp>
      <p:grpSp>
        <p:nvGrpSpPr>
          <p:cNvPr id="69" name="object 69"/>
          <p:cNvGrpSpPr/>
          <p:nvPr/>
        </p:nvGrpSpPr>
        <p:grpSpPr>
          <a:xfrm>
            <a:off x="5090502" y="2831024"/>
            <a:ext cx="1799779" cy="651867"/>
            <a:chOff x="6622057" y="1511300"/>
            <a:chExt cx="2559685" cy="927100"/>
          </a:xfrm>
        </p:grpSpPr>
        <p:sp>
          <p:nvSpPr>
            <p:cNvPr id="70" name="object 70"/>
            <p:cNvSpPr/>
            <p:nvPr/>
          </p:nvSpPr>
          <p:spPr>
            <a:xfrm>
              <a:off x="6622057" y="1511300"/>
              <a:ext cx="2559685" cy="927100"/>
            </a:xfrm>
            <a:custGeom>
              <a:avLst/>
              <a:gdLst/>
              <a:ahLst/>
              <a:cxnLst/>
              <a:rect l="l" t="t" r="r" b="b"/>
              <a:pathLst>
                <a:path w="2559684" h="927100">
                  <a:moveTo>
                    <a:pt x="0" y="927100"/>
                  </a:moveTo>
                  <a:lnTo>
                    <a:pt x="2559086" y="927100"/>
                  </a:lnTo>
                  <a:lnTo>
                    <a:pt x="2559086" y="0"/>
                  </a:lnTo>
                  <a:lnTo>
                    <a:pt x="0" y="0"/>
                  </a:lnTo>
                  <a:lnTo>
                    <a:pt x="0" y="927100"/>
                  </a:lnTo>
                  <a:close/>
                </a:path>
              </a:pathLst>
            </a:custGeom>
            <a:solidFill>
              <a:srgbClr val="00549E"/>
            </a:solidFill>
          </p:spPr>
          <p:txBody>
            <a:bodyPr wrap="square" lIns="0" tIns="0" rIns="0" bIns="0" rtlCol="0"/>
            <a:lstStyle/>
            <a:p>
              <a:endParaRPr sz="2109"/>
            </a:p>
          </p:txBody>
        </p:sp>
        <p:sp>
          <p:nvSpPr>
            <p:cNvPr id="71" name="object 71"/>
            <p:cNvSpPr/>
            <p:nvPr/>
          </p:nvSpPr>
          <p:spPr>
            <a:xfrm>
              <a:off x="6899021" y="1764067"/>
              <a:ext cx="2078989" cy="411480"/>
            </a:xfrm>
            <a:custGeom>
              <a:avLst/>
              <a:gdLst/>
              <a:ahLst/>
              <a:cxnLst/>
              <a:rect l="l" t="t" r="r" b="b"/>
              <a:pathLst>
                <a:path w="2078990" h="411480">
                  <a:moveTo>
                    <a:pt x="189839" y="133350"/>
                  </a:moveTo>
                  <a:lnTo>
                    <a:pt x="126225" y="133350"/>
                  </a:lnTo>
                  <a:lnTo>
                    <a:pt x="126326" y="98247"/>
                  </a:lnTo>
                  <a:lnTo>
                    <a:pt x="127012" y="86131"/>
                  </a:lnTo>
                  <a:lnTo>
                    <a:pt x="130479" y="77343"/>
                  </a:lnTo>
                  <a:lnTo>
                    <a:pt x="138874" y="71970"/>
                  </a:lnTo>
                  <a:lnTo>
                    <a:pt x="154330" y="70154"/>
                  </a:lnTo>
                  <a:lnTo>
                    <a:pt x="189420" y="70154"/>
                  </a:lnTo>
                  <a:lnTo>
                    <a:pt x="189420" y="0"/>
                  </a:lnTo>
                  <a:lnTo>
                    <a:pt x="133261" y="0"/>
                  </a:lnTo>
                  <a:lnTo>
                    <a:pt x="90551" y="6210"/>
                  </a:lnTo>
                  <a:lnTo>
                    <a:pt x="62357" y="24168"/>
                  </a:lnTo>
                  <a:lnTo>
                    <a:pt x="46812" y="52857"/>
                  </a:lnTo>
                  <a:lnTo>
                    <a:pt x="42049" y="91236"/>
                  </a:lnTo>
                  <a:lnTo>
                    <a:pt x="42049" y="133350"/>
                  </a:lnTo>
                  <a:lnTo>
                    <a:pt x="0" y="133350"/>
                  </a:lnTo>
                  <a:lnTo>
                    <a:pt x="0" y="203504"/>
                  </a:lnTo>
                  <a:lnTo>
                    <a:pt x="42049" y="203504"/>
                  </a:lnTo>
                  <a:lnTo>
                    <a:pt x="42049" y="407009"/>
                  </a:lnTo>
                  <a:lnTo>
                    <a:pt x="126225" y="407009"/>
                  </a:lnTo>
                  <a:lnTo>
                    <a:pt x="126225" y="203504"/>
                  </a:lnTo>
                  <a:lnTo>
                    <a:pt x="182384" y="203504"/>
                  </a:lnTo>
                  <a:lnTo>
                    <a:pt x="189839" y="133350"/>
                  </a:lnTo>
                  <a:close/>
                </a:path>
                <a:path w="2078990" h="411480">
                  <a:moveTo>
                    <a:pt x="413867" y="308749"/>
                  </a:moveTo>
                  <a:lnTo>
                    <a:pt x="413804" y="240474"/>
                  </a:lnTo>
                  <a:lnTo>
                    <a:pt x="409041" y="191643"/>
                  </a:lnTo>
                  <a:lnTo>
                    <a:pt x="355244" y="139319"/>
                  </a:lnTo>
                  <a:lnTo>
                    <a:pt x="296100" y="133350"/>
                  </a:lnTo>
                  <a:lnTo>
                    <a:pt x="217462" y="133350"/>
                  </a:lnTo>
                  <a:lnTo>
                    <a:pt x="210413" y="203504"/>
                  </a:lnTo>
                  <a:lnTo>
                    <a:pt x="282371" y="203504"/>
                  </a:lnTo>
                  <a:lnTo>
                    <a:pt x="308330" y="205257"/>
                  </a:lnTo>
                  <a:lnTo>
                    <a:pt x="322529" y="211264"/>
                  </a:lnTo>
                  <a:lnTo>
                    <a:pt x="328472" y="222631"/>
                  </a:lnTo>
                  <a:lnTo>
                    <a:pt x="329679" y="240474"/>
                  </a:lnTo>
                  <a:lnTo>
                    <a:pt x="329679" y="252577"/>
                  </a:lnTo>
                  <a:lnTo>
                    <a:pt x="329679" y="308749"/>
                  </a:lnTo>
                  <a:lnTo>
                    <a:pt x="329679" y="339458"/>
                  </a:lnTo>
                  <a:lnTo>
                    <a:pt x="320573" y="343662"/>
                  </a:lnTo>
                  <a:lnTo>
                    <a:pt x="311467" y="347306"/>
                  </a:lnTo>
                  <a:lnTo>
                    <a:pt x="301498" y="349859"/>
                  </a:lnTo>
                  <a:lnTo>
                    <a:pt x="289788" y="350824"/>
                  </a:lnTo>
                  <a:lnTo>
                    <a:pt x="279400" y="349338"/>
                  </a:lnTo>
                  <a:lnTo>
                    <a:pt x="272148" y="344919"/>
                  </a:lnTo>
                  <a:lnTo>
                    <a:pt x="267906" y="337629"/>
                  </a:lnTo>
                  <a:lnTo>
                    <a:pt x="266522" y="327507"/>
                  </a:lnTo>
                  <a:lnTo>
                    <a:pt x="268020" y="318046"/>
                  </a:lnTo>
                  <a:lnTo>
                    <a:pt x="272656" y="312331"/>
                  </a:lnTo>
                  <a:lnTo>
                    <a:pt x="280619" y="309511"/>
                  </a:lnTo>
                  <a:lnTo>
                    <a:pt x="292112" y="308749"/>
                  </a:lnTo>
                  <a:lnTo>
                    <a:pt x="329679" y="308749"/>
                  </a:lnTo>
                  <a:lnTo>
                    <a:pt x="329679" y="252577"/>
                  </a:lnTo>
                  <a:lnTo>
                    <a:pt x="271500" y="252577"/>
                  </a:lnTo>
                  <a:lnTo>
                    <a:pt x="233464" y="256578"/>
                  </a:lnTo>
                  <a:lnTo>
                    <a:pt x="205511" y="269582"/>
                  </a:lnTo>
                  <a:lnTo>
                    <a:pt x="188277" y="293090"/>
                  </a:lnTo>
                  <a:lnTo>
                    <a:pt x="182384" y="328599"/>
                  </a:lnTo>
                  <a:lnTo>
                    <a:pt x="187464" y="361416"/>
                  </a:lnTo>
                  <a:lnTo>
                    <a:pt x="202501" y="387311"/>
                  </a:lnTo>
                  <a:lnTo>
                    <a:pt x="227190" y="404304"/>
                  </a:lnTo>
                  <a:lnTo>
                    <a:pt x="261213" y="410413"/>
                  </a:lnTo>
                  <a:lnTo>
                    <a:pt x="277075" y="409689"/>
                  </a:lnTo>
                  <a:lnTo>
                    <a:pt x="295998" y="406755"/>
                  </a:lnTo>
                  <a:lnTo>
                    <a:pt x="317398" y="400507"/>
                  </a:lnTo>
                  <a:lnTo>
                    <a:pt x="340690" y="389813"/>
                  </a:lnTo>
                  <a:lnTo>
                    <a:pt x="343725" y="407543"/>
                  </a:lnTo>
                  <a:lnTo>
                    <a:pt x="413867" y="407543"/>
                  </a:lnTo>
                  <a:lnTo>
                    <a:pt x="413867" y="389813"/>
                  </a:lnTo>
                  <a:lnTo>
                    <a:pt x="413867" y="350824"/>
                  </a:lnTo>
                  <a:lnTo>
                    <a:pt x="413867" y="308749"/>
                  </a:lnTo>
                  <a:close/>
                </a:path>
                <a:path w="2078990" h="411480">
                  <a:moveTo>
                    <a:pt x="652386" y="140258"/>
                  </a:moveTo>
                  <a:lnTo>
                    <a:pt x="626059" y="134937"/>
                  </a:lnTo>
                  <a:lnTo>
                    <a:pt x="603834" y="131610"/>
                  </a:lnTo>
                  <a:lnTo>
                    <a:pt x="584835" y="129895"/>
                  </a:lnTo>
                  <a:lnTo>
                    <a:pt x="568172" y="129400"/>
                  </a:lnTo>
                  <a:lnTo>
                    <a:pt x="510336" y="137909"/>
                  </a:lnTo>
                  <a:lnTo>
                    <a:pt x="471170" y="161759"/>
                  </a:lnTo>
                  <a:lnTo>
                    <a:pt x="448945" y="198488"/>
                  </a:lnTo>
                  <a:lnTo>
                    <a:pt x="441921" y="245592"/>
                  </a:lnTo>
                  <a:lnTo>
                    <a:pt x="441921" y="294728"/>
                  </a:lnTo>
                  <a:lnTo>
                    <a:pt x="448945" y="341807"/>
                  </a:lnTo>
                  <a:lnTo>
                    <a:pt x="471170" y="378485"/>
                  </a:lnTo>
                  <a:lnTo>
                    <a:pt x="510336" y="402310"/>
                  </a:lnTo>
                  <a:lnTo>
                    <a:pt x="568172" y="410806"/>
                  </a:lnTo>
                  <a:lnTo>
                    <a:pt x="584835" y="410311"/>
                  </a:lnTo>
                  <a:lnTo>
                    <a:pt x="603834" y="408609"/>
                  </a:lnTo>
                  <a:lnTo>
                    <a:pt x="626059" y="405282"/>
                  </a:lnTo>
                  <a:lnTo>
                    <a:pt x="652386" y="399973"/>
                  </a:lnTo>
                  <a:lnTo>
                    <a:pt x="652386" y="340728"/>
                  </a:lnTo>
                  <a:lnTo>
                    <a:pt x="652386" y="331571"/>
                  </a:lnTo>
                  <a:lnTo>
                    <a:pt x="624852" y="336169"/>
                  </a:lnTo>
                  <a:lnTo>
                    <a:pt x="605294" y="338963"/>
                  </a:lnTo>
                  <a:lnTo>
                    <a:pt x="589978" y="340360"/>
                  </a:lnTo>
                  <a:lnTo>
                    <a:pt x="575195" y="340728"/>
                  </a:lnTo>
                  <a:lnTo>
                    <a:pt x="551599" y="338924"/>
                  </a:lnTo>
                  <a:lnTo>
                    <a:pt x="536486" y="332562"/>
                  </a:lnTo>
                  <a:lnTo>
                    <a:pt x="528447" y="320192"/>
                  </a:lnTo>
                  <a:lnTo>
                    <a:pt x="526072" y="300380"/>
                  </a:lnTo>
                  <a:lnTo>
                    <a:pt x="526072" y="239826"/>
                  </a:lnTo>
                  <a:lnTo>
                    <a:pt x="528447" y="220040"/>
                  </a:lnTo>
                  <a:lnTo>
                    <a:pt x="536486" y="207670"/>
                  </a:lnTo>
                  <a:lnTo>
                    <a:pt x="551599" y="201307"/>
                  </a:lnTo>
                  <a:lnTo>
                    <a:pt x="575195" y="199504"/>
                  </a:lnTo>
                  <a:lnTo>
                    <a:pt x="589978" y="199885"/>
                  </a:lnTo>
                  <a:lnTo>
                    <a:pt x="605294" y="201269"/>
                  </a:lnTo>
                  <a:lnTo>
                    <a:pt x="624852" y="204050"/>
                  </a:lnTo>
                  <a:lnTo>
                    <a:pt x="652386" y="208635"/>
                  </a:lnTo>
                  <a:lnTo>
                    <a:pt x="652386" y="199504"/>
                  </a:lnTo>
                  <a:lnTo>
                    <a:pt x="652386" y="140258"/>
                  </a:lnTo>
                  <a:close/>
                </a:path>
                <a:path w="2078990" h="411480">
                  <a:moveTo>
                    <a:pt x="915758" y="238556"/>
                  </a:moveTo>
                  <a:lnTo>
                    <a:pt x="910145" y="195948"/>
                  </a:lnTo>
                  <a:lnTo>
                    <a:pt x="890866" y="161264"/>
                  </a:lnTo>
                  <a:lnTo>
                    <a:pt x="854227" y="137934"/>
                  </a:lnTo>
                  <a:lnTo>
                    <a:pt x="831596" y="134594"/>
                  </a:lnTo>
                  <a:lnTo>
                    <a:pt x="831596" y="227660"/>
                  </a:lnTo>
                  <a:lnTo>
                    <a:pt x="831596" y="238556"/>
                  </a:lnTo>
                  <a:lnTo>
                    <a:pt x="761415" y="238556"/>
                  </a:lnTo>
                  <a:lnTo>
                    <a:pt x="761415" y="227660"/>
                  </a:lnTo>
                  <a:lnTo>
                    <a:pt x="762889" y="213982"/>
                  </a:lnTo>
                  <a:lnTo>
                    <a:pt x="768248" y="202831"/>
                  </a:lnTo>
                  <a:lnTo>
                    <a:pt x="778979" y="195326"/>
                  </a:lnTo>
                  <a:lnTo>
                    <a:pt x="796531" y="192570"/>
                  </a:lnTo>
                  <a:lnTo>
                    <a:pt x="814057" y="195326"/>
                  </a:lnTo>
                  <a:lnTo>
                    <a:pt x="824776" y="202831"/>
                  </a:lnTo>
                  <a:lnTo>
                    <a:pt x="830135" y="213982"/>
                  </a:lnTo>
                  <a:lnTo>
                    <a:pt x="831596" y="227660"/>
                  </a:lnTo>
                  <a:lnTo>
                    <a:pt x="831596" y="134594"/>
                  </a:lnTo>
                  <a:lnTo>
                    <a:pt x="738835" y="138023"/>
                  </a:lnTo>
                  <a:lnTo>
                    <a:pt x="702183" y="161480"/>
                  </a:lnTo>
                  <a:lnTo>
                    <a:pt x="682879" y="196189"/>
                  </a:lnTo>
                  <a:lnTo>
                    <a:pt x="677265" y="238556"/>
                  </a:lnTo>
                  <a:lnTo>
                    <a:pt x="677265" y="294728"/>
                  </a:lnTo>
                  <a:lnTo>
                    <a:pt x="684288" y="341807"/>
                  </a:lnTo>
                  <a:lnTo>
                    <a:pt x="706526" y="378485"/>
                  </a:lnTo>
                  <a:lnTo>
                    <a:pt x="745705" y="402310"/>
                  </a:lnTo>
                  <a:lnTo>
                    <a:pt x="803579" y="410806"/>
                  </a:lnTo>
                  <a:lnTo>
                    <a:pt x="831494" y="410311"/>
                  </a:lnTo>
                  <a:lnTo>
                    <a:pt x="855865" y="408609"/>
                  </a:lnTo>
                  <a:lnTo>
                    <a:pt x="880364" y="405282"/>
                  </a:lnTo>
                  <a:lnTo>
                    <a:pt x="908723" y="399973"/>
                  </a:lnTo>
                  <a:lnTo>
                    <a:pt x="908723" y="340728"/>
                  </a:lnTo>
                  <a:lnTo>
                    <a:pt x="908723" y="331571"/>
                  </a:lnTo>
                  <a:lnTo>
                    <a:pt x="879767" y="336169"/>
                  </a:lnTo>
                  <a:lnTo>
                    <a:pt x="856005" y="338963"/>
                  </a:lnTo>
                  <a:lnTo>
                    <a:pt x="834059" y="340360"/>
                  </a:lnTo>
                  <a:lnTo>
                    <a:pt x="810539" y="340728"/>
                  </a:lnTo>
                  <a:lnTo>
                    <a:pt x="786955" y="338924"/>
                  </a:lnTo>
                  <a:lnTo>
                    <a:pt x="771842" y="332562"/>
                  </a:lnTo>
                  <a:lnTo>
                    <a:pt x="763790" y="320192"/>
                  </a:lnTo>
                  <a:lnTo>
                    <a:pt x="761415" y="300380"/>
                  </a:lnTo>
                  <a:lnTo>
                    <a:pt x="761415" y="294728"/>
                  </a:lnTo>
                  <a:lnTo>
                    <a:pt x="915758" y="294728"/>
                  </a:lnTo>
                  <a:lnTo>
                    <a:pt x="915758" y="238556"/>
                  </a:lnTo>
                  <a:close/>
                </a:path>
                <a:path w="2078990" h="411480">
                  <a:moveTo>
                    <a:pt x="1189342" y="227660"/>
                  </a:moveTo>
                  <a:lnTo>
                    <a:pt x="1186942" y="199644"/>
                  </a:lnTo>
                  <a:lnTo>
                    <a:pt x="1185837" y="186753"/>
                  </a:lnTo>
                  <a:lnTo>
                    <a:pt x="1171829" y="155816"/>
                  </a:lnTo>
                  <a:lnTo>
                    <a:pt x="1147102" y="139573"/>
                  </a:lnTo>
                  <a:lnTo>
                    <a:pt x="1142022" y="136232"/>
                  </a:lnTo>
                  <a:lnTo>
                    <a:pt x="1105192" y="131292"/>
                  </a:lnTo>
                  <a:lnTo>
                    <a:pt x="1105192" y="234657"/>
                  </a:lnTo>
                  <a:lnTo>
                    <a:pt x="1105192" y="296583"/>
                  </a:lnTo>
                  <a:lnTo>
                    <a:pt x="1103668" y="314744"/>
                  </a:lnTo>
                  <a:lnTo>
                    <a:pt x="1097229" y="329057"/>
                  </a:lnTo>
                  <a:lnTo>
                    <a:pt x="1083056" y="338416"/>
                  </a:lnTo>
                  <a:lnTo>
                    <a:pt x="1058341" y="341782"/>
                  </a:lnTo>
                  <a:lnTo>
                    <a:pt x="1050480" y="341757"/>
                  </a:lnTo>
                  <a:lnTo>
                    <a:pt x="1043419" y="341630"/>
                  </a:lnTo>
                  <a:lnTo>
                    <a:pt x="1036243" y="341274"/>
                  </a:lnTo>
                  <a:lnTo>
                    <a:pt x="1028039" y="340588"/>
                  </a:lnTo>
                  <a:lnTo>
                    <a:pt x="1028039" y="210985"/>
                  </a:lnTo>
                  <a:lnTo>
                    <a:pt x="1037488" y="206806"/>
                  </a:lnTo>
                  <a:lnTo>
                    <a:pt x="1047343" y="203174"/>
                  </a:lnTo>
                  <a:lnTo>
                    <a:pt x="1058062" y="200609"/>
                  </a:lnTo>
                  <a:lnTo>
                    <a:pt x="1070114" y="199644"/>
                  </a:lnTo>
                  <a:lnTo>
                    <a:pt x="1087678" y="202387"/>
                  </a:lnTo>
                  <a:lnTo>
                    <a:pt x="1098384" y="209880"/>
                  </a:lnTo>
                  <a:lnTo>
                    <a:pt x="1103731" y="221005"/>
                  </a:lnTo>
                  <a:lnTo>
                    <a:pt x="1105192" y="234657"/>
                  </a:lnTo>
                  <a:lnTo>
                    <a:pt x="1105192" y="131292"/>
                  </a:lnTo>
                  <a:lnTo>
                    <a:pt x="1091158" y="129400"/>
                  </a:lnTo>
                  <a:lnTo>
                    <a:pt x="1074813" y="130035"/>
                  </a:lnTo>
                  <a:lnTo>
                    <a:pt x="1058379" y="131953"/>
                  </a:lnTo>
                  <a:lnTo>
                    <a:pt x="1042555" y="135128"/>
                  </a:lnTo>
                  <a:lnTo>
                    <a:pt x="1028039" y="139573"/>
                  </a:lnTo>
                  <a:lnTo>
                    <a:pt x="1028039" y="7048"/>
                  </a:lnTo>
                  <a:lnTo>
                    <a:pt x="943902" y="21043"/>
                  </a:lnTo>
                  <a:lnTo>
                    <a:pt x="943902" y="399973"/>
                  </a:lnTo>
                  <a:lnTo>
                    <a:pt x="974826" y="404609"/>
                  </a:lnTo>
                  <a:lnTo>
                    <a:pt x="1001318" y="407962"/>
                  </a:lnTo>
                  <a:lnTo>
                    <a:pt x="1027010" y="409981"/>
                  </a:lnTo>
                  <a:lnTo>
                    <a:pt x="1055509" y="410667"/>
                  </a:lnTo>
                  <a:lnTo>
                    <a:pt x="1113536" y="405104"/>
                  </a:lnTo>
                  <a:lnTo>
                    <a:pt x="1152245" y="389394"/>
                  </a:lnTo>
                  <a:lnTo>
                    <a:pt x="1175321" y="365010"/>
                  </a:lnTo>
                  <a:lnTo>
                    <a:pt x="1183500" y="341782"/>
                  </a:lnTo>
                  <a:lnTo>
                    <a:pt x="1186459" y="333387"/>
                  </a:lnTo>
                  <a:lnTo>
                    <a:pt x="1189304" y="296583"/>
                  </a:lnTo>
                  <a:lnTo>
                    <a:pt x="1189342" y="227660"/>
                  </a:lnTo>
                  <a:close/>
                </a:path>
                <a:path w="2078990" h="411480">
                  <a:moveTo>
                    <a:pt x="1459039" y="242239"/>
                  </a:moveTo>
                  <a:lnTo>
                    <a:pt x="1453807" y="200520"/>
                  </a:lnTo>
                  <a:lnTo>
                    <a:pt x="1434871" y="164477"/>
                  </a:lnTo>
                  <a:lnTo>
                    <a:pt x="1397393" y="139153"/>
                  </a:lnTo>
                  <a:lnTo>
                    <a:pt x="1374800" y="135610"/>
                  </a:lnTo>
                  <a:lnTo>
                    <a:pt x="1374800" y="234657"/>
                  </a:lnTo>
                  <a:lnTo>
                    <a:pt x="1374800" y="305612"/>
                  </a:lnTo>
                  <a:lnTo>
                    <a:pt x="1372793" y="319316"/>
                  </a:lnTo>
                  <a:lnTo>
                    <a:pt x="1366240" y="330479"/>
                  </a:lnTo>
                  <a:lnTo>
                    <a:pt x="1354328" y="337985"/>
                  </a:lnTo>
                  <a:lnTo>
                    <a:pt x="1336268" y="340728"/>
                  </a:lnTo>
                  <a:lnTo>
                    <a:pt x="1318158" y="337985"/>
                  </a:lnTo>
                  <a:lnTo>
                    <a:pt x="1306245" y="330479"/>
                  </a:lnTo>
                  <a:lnTo>
                    <a:pt x="1299705" y="319316"/>
                  </a:lnTo>
                  <a:lnTo>
                    <a:pt x="1297711" y="305612"/>
                  </a:lnTo>
                  <a:lnTo>
                    <a:pt x="1297711" y="234657"/>
                  </a:lnTo>
                  <a:lnTo>
                    <a:pt x="1299705" y="221005"/>
                  </a:lnTo>
                  <a:lnTo>
                    <a:pt x="1306245" y="209880"/>
                  </a:lnTo>
                  <a:lnTo>
                    <a:pt x="1318158" y="202387"/>
                  </a:lnTo>
                  <a:lnTo>
                    <a:pt x="1336268" y="199644"/>
                  </a:lnTo>
                  <a:lnTo>
                    <a:pt x="1354328" y="202387"/>
                  </a:lnTo>
                  <a:lnTo>
                    <a:pt x="1366240" y="209880"/>
                  </a:lnTo>
                  <a:lnTo>
                    <a:pt x="1372793" y="221005"/>
                  </a:lnTo>
                  <a:lnTo>
                    <a:pt x="1374800" y="234657"/>
                  </a:lnTo>
                  <a:lnTo>
                    <a:pt x="1374800" y="135610"/>
                  </a:lnTo>
                  <a:lnTo>
                    <a:pt x="1336548" y="129590"/>
                  </a:lnTo>
                  <a:lnTo>
                    <a:pt x="1275588" y="139153"/>
                  </a:lnTo>
                  <a:lnTo>
                    <a:pt x="1237957" y="164477"/>
                  </a:lnTo>
                  <a:lnTo>
                    <a:pt x="1218869" y="200520"/>
                  </a:lnTo>
                  <a:lnTo>
                    <a:pt x="1213561" y="242239"/>
                  </a:lnTo>
                  <a:lnTo>
                    <a:pt x="1213561" y="297472"/>
                  </a:lnTo>
                  <a:lnTo>
                    <a:pt x="1218869" y="339204"/>
                  </a:lnTo>
                  <a:lnTo>
                    <a:pt x="1237957" y="375246"/>
                  </a:lnTo>
                  <a:lnTo>
                    <a:pt x="1275588" y="400570"/>
                  </a:lnTo>
                  <a:lnTo>
                    <a:pt x="1336548" y="410133"/>
                  </a:lnTo>
                  <a:lnTo>
                    <a:pt x="1397393" y="400570"/>
                  </a:lnTo>
                  <a:lnTo>
                    <a:pt x="1434871" y="375246"/>
                  </a:lnTo>
                  <a:lnTo>
                    <a:pt x="1452994" y="340728"/>
                  </a:lnTo>
                  <a:lnTo>
                    <a:pt x="1453807" y="339204"/>
                  </a:lnTo>
                  <a:lnTo>
                    <a:pt x="1459039" y="297472"/>
                  </a:lnTo>
                  <a:lnTo>
                    <a:pt x="1459039" y="242239"/>
                  </a:lnTo>
                  <a:close/>
                </a:path>
                <a:path w="2078990" h="411480">
                  <a:moveTo>
                    <a:pt x="1728520" y="242239"/>
                  </a:moveTo>
                  <a:lnTo>
                    <a:pt x="1723288" y="200520"/>
                  </a:lnTo>
                  <a:lnTo>
                    <a:pt x="1722818" y="199644"/>
                  </a:lnTo>
                  <a:lnTo>
                    <a:pt x="1704352" y="164477"/>
                  </a:lnTo>
                  <a:lnTo>
                    <a:pt x="1666887" y="139153"/>
                  </a:lnTo>
                  <a:lnTo>
                    <a:pt x="1644396" y="135623"/>
                  </a:lnTo>
                  <a:lnTo>
                    <a:pt x="1644396" y="234657"/>
                  </a:lnTo>
                  <a:lnTo>
                    <a:pt x="1644396" y="305612"/>
                  </a:lnTo>
                  <a:lnTo>
                    <a:pt x="1642376" y="319316"/>
                  </a:lnTo>
                  <a:lnTo>
                    <a:pt x="1635785" y="330479"/>
                  </a:lnTo>
                  <a:lnTo>
                    <a:pt x="1623834" y="337985"/>
                  </a:lnTo>
                  <a:lnTo>
                    <a:pt x="1605749" y="340728"/>
                  </a:lnTo>
                  <a:lnTo>
                    <a:pt x="1587677" y="337985"/>
                  </a:lnTo>
                  <a:lnTo>
                    <a:pt x="1575790" y="330479"/>
                  </a:lnTo>
                  <a:lnTo>
                    <a:pt x="1569250" y="319316"/>
                  </a:lnTo>
                  <a:lnTo>
                    <a:pt x="1567256" y="305612"/>
                  </a:lnTo>
                  <a:lnTo>
                    <a:pt x="1567256" y="234657"/>
                  </a:lnTo>
                  <a:lnTo>
                    <a:pt x="1569250" y="221005"/>
                  </a:lnTo>
                  <a:lnTo>
                    <a:pt x="1575790" y="209880"/>
                  </a:lnTo>
                  <a:lnTo>
                    <a:pt x="1587677" y="202387"/>
                  </a:lnTo>
                  <a:lnTo>
                    <a:pt x="1605749" y="199644"/>
                  </a:lnTo>
                  <a:lnTo>
                    <a:pt x="1623834" y="202387"/>
                  </a:lnTo>
                  <a:lnTo>
                    <a:pt x="1635785" y="209880"/>
                  </a:lnTo>
                  <a:lnTo>
                    <a:pt x="1642376" y="221005"/>
                  </a:lnTo>
                  <a:lnTo>
                    <a:pt x="1644396" y="234657"/>
                  </a:lnTo>
                  <a:lnTo>
                    <a:pt x="1644396" y="135623"/>
                  </a:lnTo>
                  <a:lnTo>
                    <a:pt x="1606054" y="129590"/>
                  </a:lnTo>
                  <a:lnTo>
                    <a:pt x="1545094" y="139153"/>
                  </a:lnTo>
                  <a:lnTo>
                    <a:pt x="1507451" y="164477"/>
                  </a:lnTo>
                  <a:lnTo>
                    <a:pt x="1488351" y="200520"/>
                  </a:lnTo>
                  <a:lnTo>
                    <a:pt x="1483042" y="242239"/>
                  </a:lnTo>
                  <a:lnTo>
                    <a:pt x="1483042" y="297472"/>
                  </a:lnTo>
                  <a:lnTo>
                    <a:pt x="1488351" y="339204"/>
                  </a:lnTo>
                  <a:lnTo>
                    <a:pt x="1507451" y="375246"/>
                  </a:lnTo>
                  <a:lnTo>
                    <a:pt x="1545094" y="400570"/>
                  </a:lnTo>
                  <a:lnTo>
                    <a:pt x="1606054" y="410133"/>
                  </a:lnTo>
                  <a:lnTo>
                    <a:pt x="1666887" y="400570"/>
                  </a:lnTo>
                  <a:lnTo>
                    <a:pt x="1704352" y="375246"/>
                  </a:lnTo>
                  <a:lnTo>
                    <a:pt x="1722475" y="340728"/>
                  </a:lnTo>
                  <a:lnTo>
                    <a:pt x="1723288" y="339204"/>
                  </a:lnTo>
                  <a:lnTo>
                    <a:pt x="1728520" y="297472"/>
                  </a:lnTo>
                  <a:lnTo>
                    <a:pt x="1728520" y="242239"/>
                  </a:lnTo>
                  <a:close/>
                </a:path>
                <a:path w="2078990" h="411480">
                  <a:moveTo>
                    <a:pt x="2005152" y="133350"/>
                  </a:moveTo>
                  <a:lnTo>
                    <a:pt x="1913928" y="133350"/>
                  </a:lnTo>
                  <a:lnTo>
                    <a:pt x="1836801" y="255511"/>
                  </a:lnTo>
                  <a:lnTo>
                    <a:pt x="1836801" y="7048"/>
                  </a:lnTo>
                  <a:lnTo>
                    <a:pt x="1752650" y="21043"/>
                  </a:lnTo>
                  <a:lnTo>
                    <a:pt x="1752650" y="407009"/>
                  </a:lnTo>
                  <a:lnTo>
                    <a:pt x="1836801" y="407009"/>
                  </a:lnTo>
                  <a:lnTo>
                    <a:pt x="1836801" y="278396"/>
                  </a:lnTo>
                  <a:lnTo>
                    <a:pt x="1913928" y="407009"/>
                  </a:lnTo>
                  <a:lnTo>
                    <a:pt x="2005152" y="407009"/>
                  </a:lnTo>
                  <a:lnTo>
                    <a:pt x="1927974" y="278396"/>
                  </a:lnTo>
                  <a:lnTo>
                    <a:pt x="1920925" y="266649"/>
                  </a:lnTo>
                  <a:lnTo>
                    <a:pt x="1927961" y="255511"/>
                  </a:lnTo>
                  <a:lnTo>
                    <a:pt x="2005152" y="133350"/>
                  </a:lnTo>
                  <a:close/>
                </a:path>
                <a:path w="2078990" h="411480">
                  <a:moveTo>
                    <a:pt x="2064473" y="400100"/>
                  </a:moveTo>
                  <a:lnTo>
                    <a:pt x="2064004" y="399173"/>
                  </a:lnTo>
                  <a:lnTo>
                    <a:pt x="2063305" y="397433"/>
                  </a:lnTo>
                  <a:lnTo>
                    <a:pt x="2062594" y="392722"/>
                  </a:lnTo>
                  <a:lnTo>
                    <a:pt x="2062073" y="388658"/>
                  </a:lnTo>
                  <a:lnTo>
                    <a:pt x="2061273" y="387616"/>
                  </a:lnTo>
                  <a:lnTo>
                    <a:pt x="2060321" y="386372"/>
                  </a:lnTo>
                  <a:lnTo>
                    <a:pt x="2057793" y="385902"/>
                  </a:lnTo>
                  <a:lnTo>
                    <a:pt x="2057793" y="385686"/>
                  </a:lnTo>
                  <a:lnTo>
                    <a:pt x="2060879" y="384733"/>
                  </a:lnTo>
                  <a:lnTo>
                    <a:pt x="2061629" y="384048"/>
                  </a:lnTo>
                  <a:lnTo>
                    <a:pt x="2063407" y="382422"/>
                  </a:lnTo>
                  <a:lnTo>
                    <a:pt x="2063407" y="375869"/>
                  </a:lnTo>
                  <a:lnTo>
                    <a:pt x="2062568" y="374015"/>
                  </a:lnTo>
                  <a:lnTo>
                    <a:pt x="2059051" y="371360"/>
                  </a:lnTo>
                  <a:lnTo>
                    <a:pt x="2058581" y="371221"/>
                  </a:lnTo>
                  <a:lnTo>
                    <a:pt x="2058581" y="382663"/>
                  </a:lnTo>
                  <a:lnTo>
                    <a:pt x="2055342" y="384048"/>
                  </a:lnTo>
                  <a:lnTo>
                    <a:pt x="2048192" y="384048"/>
                  </a:lnTo>
                  <a:lnTo>
                    <a:pt x="2048192" y="374256"/>
                  </a:lnTo>
                  <a:lnTo>
                    <a:pt x="2049005" y="374142"/>
                  </a:lnTo>
                  <a:lnTo>
                    <a:pt x="2050046" y="374015"/>
                  </a:lnTo>
                  <a:lnTo>
                    <a:pt x="2056739" y="374015"/>
                  </a:lnTo>
                  <a:lnTo>
                    <a:pt x="2058504" y="376440"/>
                  </a:lnTo>
                  <a:lnTo>
                    <a:pt x="2058581" y="382663"/>
                  </a:lnTo>
                  <a:lnTo>
                    <a:pt x="2058581" y="371221"/>
                  </a:lnTo>
                  <a:lnTo>
                    <a:pt x="2056168" y="370446"/>
                  </a:lnTo>
                  <a:lnTo>
                    <a:pt x="2048319" y="370446"/>
                  </a:lnTo>
                  <a:lnTo>
                    <a:pt x="2046020" y="370789"/>
                  </a:lnTo>
                  <a:lnTo>
                    <a:pt x="2043595" y="371119"/>
                  </a:lnTo>
                  <a:lnTo>
                    <a:pt x="2043595" y="400100"/>
                  </a:lnTo>
                  <a:lnTo>
                    <a:pt x="2048192" y="400100"/>
                  </a:lnTo>
                  <a:lnTo>
                    <a:pt x="2048192" y="387616"/>
                  </a:lnTo>
                  <a:lnTo>
                    <a:pt x="2055126" y="387616"/>
                  </a:lnTo>
                  <a:lnTo>
                    <a:pt x="2056980" y="389013"/>
                  </a:lnTo>
                  <a:lnTo>
                    <a:pt x="2057692" y="392925"/>
                  </a:lnTo>
                  <a:lnTo>
                    <a:pt x="2058225" y="396506"/>
                  </a:lnTo>
                  <a:lnTo>
                    <a:pt x="2058936" y="399173"/>
                  </a:lnTo>
                  <a:lnTo>
                    <a:pt x="2059622" y="400100"/>
                  </a:lnTo>
                  <a:lnTo>
                    <a:pt x="2064473" y="400100"/>
                  </a:lnTo>
                  <a:close/>
                </a:path>
                <a:path w="2078990" h="411480">
                  <a:moveTo>
                    <a:pt x="2078596" y="385089"/>
                  </a:moveTo>
                  <a:lnTo>
                    <a:pt x="2078570" y="384733"/>
                  </a:lnTo>
                  <a:lnTo>
                    <a:pt x="2076627" y="374840"/>
                  </a:lnTo>
                  <a:lnTo>
                    <a:pt x="2073808" y="370560"/>
                  </a:lnTo>
                  <a:lnTo>
                    <a:pt x="2073808" y="385686"/>
                  </a:lnTo>
                  <a:lnTo>
                    <a:pt x="2072297" y="393687"/>
                  </a:lnTo>
                  <a:lnTo>
                    <a:pt x="2067864" y="400685"/>
                  </a:lnTo>
                  <a:lnTo>
                    <a:pt x="2061273" y="405358"/>
                  </a:lnTo>
                  <a:lnTo>
                    <a:pt x="2053183" y="407009"/>
                  </a:lnTo>
                  <a:lnTo>
                    <a:pt x="2045055" y="405307"/>
                  </a:lnTo>
                  <a:lnTo>
                    <a:pt x="2038413" y="400621"/>
                  </a:lnTo>
                  <a:lnTo>
                    <a:pt x="2033943" y="393623"/>
                  </a:lnTo>
                  <a:lnTo>
                    <a:pt x="2032317" y="385089"/>
                  </a:lnTo>
                  <a:lnTo>
                    <a:pt x="2032342" y="384733"/>
                  </a:lnTo>
                  <a:lnTo>
                    <a:pt x="2033943" y="376440"/>
                  </a:lnTo>
                  <a:lnTo>
                    <a:pt x="2038400" y="369468"/>
                  </a:lnTo>
                  <a:lnTo>
                    <a:pt x="2045004" y="364782"/>
                  </a:lnTo>
                  <a:lnTo>
                    <a:pt x="2053043" y="363054"/>
                  </a:lnTo>
                  <a:lnTo>
                    <a:pt x="2053183" y="363054"/>
                  </a:lnTo>
                  <a:lnTo>
                    <a:pt x="2073808" y="385686"/>
                  </a:lnTo>
                  <a:lnTo>
                    <a:pt x="2073808" y="370560"/>
                  </a:lnTo>
                  <a:lnTo>
                    <a:pt x="2071204" y="366598"/>
                  </a:lnTo>
                  <a:lnTo>
                    <a:pt x="2066048" y="363054"/>
                  </a:lnTo>
                  <a:lnTo>
                    <a:pt x="2063127" y="361048"/>
                  </a:lnTo>
                  <a:lnTo>
                    <a:pt x="2053183" y="359016"/>
                  </a:lnTo>
                  <a:lnTo>
                    <a:pt x="2053043" y="359016"/>
                  </a:lnTo>
                  <a:lnTo>
                    <a:pt x="2027364" y="385089"/>
                  </a:lnTo>
                  <a:lnTo>
                    <a:pt x="2029358" y="395224"/>
                  </a:lnTo>
                  <a:lnTo>
                    <a:pt x="2034882" y="403504"/>
                  </a:lnTo>
                  <a:lnTo>
                    <a:pt x="2043049" y="409028"/>
                  </a:lnTo>
                  <a:lnTo>
                    <a:pt x="2053043" y="411048"/>
                  </a:lnTo>
                  <a:lnTo>
                    <a:pt x="2063064" y="409028"/>
                  </a:lnTo>
                  <a:lnTo>
                    <a:pt x="2066036" y="407009"/>
                  </a:lnTo>
                  <a:lnTo>
                    <a:pt x="2071192" y="403504"/>
                  </a:lnTo>
                  <a:lnTo>
                    <a:pt x="2076627" y="395224"/>
                  </a:lnTo>
                  <a:lnTo>
                    <a:pt x="2078596" y="385089"/>
                  </a:lnTo>
                  <a:close/>
                </a:path>
              </a:pathLst>
            </a:custGeom>
            <a:solidFill>
              <a:srgbClr val="FFFFFF"/>
            </a:solidFill>
          </p:spPr>
          <p:txBody>
            <a:bodyPr wrap="square" lIns="0" tIns="0" rIns="0" bIns="0" rtlCol="0"/>
            <a:lstStyle/>
            <a:p>
              <a:endParaRPr sz="2109"/>
            </a:p>
          </p:txBody>
        </p:sp>
      </p:grpSp>
      <p:grpSp>
        <p:nvGrpSpPr>
          <p:cNvPr id="94" name="object 94"/>
          <p:cNvGrpSpPr/>
          <p:nvPr/>
        </p:nvGrpSpPr>
        <p:grpSpPr>
          <a:xfrm>
            <a:off x="2996610" y="5344853"/>
            <a:ext cx="1720751" cy="696516"/>
            <a:chOff x="4308602" y="6527800"/>
            <a:chExt cx="2447290" cy="990600"/>
          </a:xfrm>
        </p:grpSpPr>
        <p:sp>
          <p:nvSpPr>
            <p:cNvPr id="95" name="object 95"/>
            <p:cNvSpPr/>
            <p:nvPr/>
          </p:nvSpPr>
          <p:spPr>
            <a:xfrm>
              <a:off x="4308602" y="6527800"/>
              <a:ext cx="2447290" cy="990600"/>
            </a:xfrm>
            <a:custGeom>
              <a:avLst/>
              <a:gdLst/>
              <a:ahLst/>
              <a:cxnLst/>
              <a:rect l="l" t="t" r="r" b="b"/>
              <a:pathLst>
                <a:path w="2447290" h="990600">
                  <a:moveTo>
                    <a:pt x="0" y="990600"/>
                  </a:moveTo>
                  <a:lnTo>
                    <a:pt x="2447290" y="990600"/>
                  </a:lnTo>
                  <a:lnTo>
                    <a:pt x="2447290" y="0"/>
                  </a:lnTo>
                  <a:lnTo>
                    <a:pt x="0" y="0"/>
                  </a:lnTo>
                  <a:lnTo>
                    <a:pt x="0" y="990600"/>
                  </a:lnTo>
                  <a:close/>
                </a:path>
              </a:pathLst>
            </a:custGeom>
            <a:solidFill>
              <a:srgbClr val="FFFFFF"/>
            </a:solidFill>
          </p:spPr>
          <p:txBody>
            <a:bodyPr wrap="square" lIns="0" tIns="0" rIns="0" bIns="0" rtlCol="0"/>
            <a:lstStyle/>
            <a:p>
              <a:endParaRPr sz="2109"/>
            </a:p>
          </p:txBody>
        </p:sp>
        <p:sp>
          <p:nvSpPr>
            <p:cNvPr id="96" name="object 96"/>
            <p:cNvSpPr/>
            <p:nvPr/>
          </p:nvSpPr>
          <p:spPr>
            <a:xfrm>
              <a:off x="4344594" y="6936587"/>
              <a:ext cx="2376170" cy="301625"/>
            </a:xfrm>
            <a:custGeom>
              <a:avLst/>
              <a:gdLst/>
              <a:ahLst/>
              <a:cxnLst/>
              <a:rect l="l" t="t" r="r" b="b"/>
              <a:pathLst>
                <a:path w="2376170" h="301625">
                  <a:moveTo>
                    <a:pt x="483400" y="152514"/>
                  </a:moveTo>
                  <a:lnTo>
                    <a:pt x="477113" y="105486"/>
                  </a:lnTo>
                  <a:lnTo>
                    <a:pt x="459092" y="64643"/>
                  </a:lnTo>
                  <a:lnTo>
                    <a:pt x="448068" y="52184"/>
                  </a:lnTo>
                  <a:lnTo>
                    <a:pt x="434924" y="37338"/>
                  </a:lnTo>
                  <a:lnTo>
                    <a:pt x="434924" y="152514"/>
                  </a:lnTo>
                  <a:lnTo>
                    <a:pt x="428993" y="191579"/>
                  </a:lnTo>
                  <a:lnTo>
                    <a:pt x="411797" y="223469"/>
                  </a:lnTo>
                  <a:lnTo>
                    <a:pt x="384200" y="244983"/>
                  </a:lnTo>
                  <a:lnTo>
                    <a:pt x="347116" y="252857"/>
                  </a:lnTo>
                  <a:lnTo>
                    <a:pt x="136283" y="252857"/>
                  </a:lnTo>
                  <a:lnTo>
                    <a:pt x="99187" y="244983"/>
                  </a:lnTo>
                  <a:lnTo>
                    <a:pt x="71589" y="223469"/>
                  </a:lnTo>
                  <a:lnTo>
                    <a:pt x="54394" y="191579"/>
                  </a:lnTo>
                  <a:lnTo>
                    <a:pt x="48475" y="152514"/>
                  </a:lnTo>
                  <a:lnTo>
                    <a:pt x="54394" y="113461"/>
                  </a:lnTo>
                  <a:lnTo>
                    <a:pt x="71589" y="81572"/>
                  </a:lnTo>
                  <a:lnTo>
                    <a:pt x="99187" y="60071"/>
                  </a:lnTo>
                  <a:lnTo>
                    <a:pt x="136283" y="52184"/>
                  </a:lnTo>
                  <a:lnTo>
                    <a:pt x="347116" y="52184"/>
                  </a:lnTo>
                  <a:lnTo>
                    <a:pt x="384200" y="60071"/>
                  </a:lnTo>
                  <a:lnTo>
                    <a:pt x="411797" y="81572"/>
                  </a:lnTo>
                  <a:lnTo>
                    <a:pt x="428993" y="113461"/>
                  </a:lnTo>
                  <a:lnTo>
                    <a:pt x="434924" y="152514"/>
                  </a:lnTo>
                  <a:lnTo>
                    <a:pt x="434924" y="37338"/>
                  </a:lnTo>
                  <a:lnTo>
                    <a:pt x="430580" y="32423"/>
                  </a:lnTo>
                  <a:lnTo>
                    <a:pt x="392836" y="11303"/>
                  </a:lnTo>
                  <a:lnTo>
                    <a:pt x="347116" y="3708"/>
                  </a:lnTo>
                  <a:lnTo>
                    <a:pt x="136283" y="3708"/>
                  </a:lnTo>
                  <a:lnTo>
                    <a:pt x="90551" y="11303"/>
                  </a:lnTo>
                  <a:lnTo>
                    <a:pt x="52806" y="32423"/>
                  </a:lnTo>
                  <a:lnTo>
                    <a:pt x="24295" y="64643"/>
                  </a:lnTo>
                  <a:lnTo>
                    <a:pt x="6273" y="105486"/>
                  </a:lnTo>
                  <a:lnTo>
                    <a:pt x="0" y="152514"/>
                  </a:lnTo>
                  <a:lnTo>
                    <a:pt x="6273" y="199555"/>
                  </a:lnTo>
                  <a:lnTo>
                    <a:pt x="24295" y="240411"/>
                  </a:lnTo>
                  <a:lnTo>
                    <a:pt x="52806" y="272630"/>
                  </a:lnTo>
                  <a:lnTo>
                    <a:pt x="90551" y="293751"/>
                  </a:lnTo>
                  <a:lnTo>
                    <a:pt x="136283" y="301332"/>
                  </a:lnTo>
                  <a:lnTo>
                    <a:pt x="347116" y="301332"/>
                  </a:lnTo>
                  <a:lnTo>
                    <a:pt x="392836" y="293751"/>
                  </a:lnTo>
                  <a:lnTo>
                    <a:pt x="430580" y="272630"/>
                  </a:lnTo>
                  <a:lnTo>
                    <a:pt x="448068" y="252857"/>
                  </a:lnTo>
                  <a:lnTo>
                    <a:pt x="459092" y="240411"/>
                  </a:lnTo>
                  <a:lnTo>
                    <a:pt x="477113" y="199555"/>
                  </a:lnTo>
                  <a:lnTo>
                    <a:pt x="483400" y="152514"/>
                  </a:lnTo>
                  <a:close/>
                </a:path>
                <a:path w="2376170" h="301625">
                  <a:moveTo>
                    <a:pt x="850950" y="301091"/>
                  </a:moveTo>
                  <a:lnTo>
                    <a:pt x="725627" y="180530"/>
                  </a:lnTo>
                  <a:lnTo>
                    <a:pt x="760653" y="180428"/>
                  </a:lnTo>
                  <a:lnTo>
                    <a:pt x="795032" y="173494"/>
                  </a:lnTo>
                  <a:lnTo>
                    <a:pt x="823112" y="154559"/>
                  </a:lnTo>
                  <a:lnTo>
                    <a:pt x="842048" y="126466"/>
                  </a:lnTo>
                  <a:lnTo>
                    <a:pt x="848995" y="92075"/>
                  </a:lnTo>
                  <a:lnTo>
                    <a:pt x="842048" y="57696"/>
                  </a:lnTo>
                  <a:lnTo>
                    <a:pt x="823112" y="29603"/>
                  </a:lnTo>
                  <a:lnTo>
                    <a:pt x="795032" y="10668"/>
                  </a:lnTo>
                  <a:lnTo>
                    <a:pt x="760653" y="3721"/>
                  </a:lnTo>
                  <a:lnTo>
                    <a:pt x="512597" y="3619"/>
                  </a:lnTo>
                  <a:lnTo>
                    <a:pt x="512597" y="301421"/>
                  </a:lnTo>
                  <a:lnTo>
                    <a:pt x="567143" y="301421"/>
                  </a:lnTo>
                  <a:lnTo>
                    <a:pt x="567143" y="52197"/>
                  </a:lnTo>
                  <a:lnTo>
                    <a:pt x="760653" y="52197"/>
                  </a:lnTo>
                  <a:lnTo>
                    <a:pt x="776173" y="55333"/>
                  </a:lnTo>
                  <a:lnTo>
                    <a:pt x="788835" y="63881"/>
                  </a:lnTo>
                  <a:lnTo>
                    <a:pt x="797382" y="76555"/>
                  </a:lnTo>
                  <a:lnTo>
                    <a:pt x="800519" y="92075"/>
                  </a:lnTo>
                  <a:lnTo>
                    <a:pt x="797382" y="107594"/>
                  </a:lnTo>
                  <a:lnTo>
                    <a:pt x="788835" y="120269"/>
                  </a:lnTo>
                  <a:lnTo>
                    <a:pt x="776173" y="128816"/>
                  </a:lnTo>
                  <a:lnTo>
                    <a:pt x="760653" y="131940"/>
                  </a:lnTo>
                  <a:lnTo>
                    <a:pt x="605485" y="131940"/>
                  </a:lnTo>
                  <a:lnTo>
                    <a:pt x="780516" y="301091"/>
                  </a:lnTo>
                  <a:lnTo>
                    <a:pt x="850950" y="301091"/>
                  </a:lnTo>
                  <a:close/>
                </a:path>
                <a:path w="2376170" h="301625">
                  <a:moveTo>
                    <a:pt x="1278242" y="301421"/>
                  </a:moveTo>
                  <a:lnTo>
                    <a:pt x="1098372" y="17614"/>
                  </a:lnTo>
                  <a:lnTo>
                    <a:pt x="1087170" y="7264"/>
                  </a:lnTo>
                  <a:lnTo>
                    <a:pt x="1072388" y="3898"/>
                  </a:lnTo>
                  <a:lnTo>
                    <a:pt x="1057325" y="7569"/>
                  </a:lnTo>
                  <a:lnTo>
                    <a:pt x="1045298" y="18364"/>
                  </a:lnTo>
                  <a:lnTo>
                    <a:pt x="866914" y="301421"/>
                  </a:lnTo>
                  <a:lnTo>
                    <a:pt x="925880" y="301421"/>
                  </a:lnTo>
                  <a:lnTo>
                    <a:pt x="979690" y="215912"/>
                  </a:lnTo>
                  <a:lnTo>
                    <a:pt x="1094689" y="215912"/>
                  </a:lnTo>
                  <a:lnTo>
                    <a:pt x="1124915" y="167259"/>
                  </a:lnTo>
                  <a:lnTo>
                    <a:pt x="1009916" y="167259"/>
                  </a:lnTo>
                  <a:lnTo>
                    <a:pt x="1072578" y="69215"/>
                  </a:lnTo>
                  <a:lnTo>
                    <a:pt x="1219263" y="301421"/>
                  </a:lnTo>
                  <a:lnTo>
                    <a:pt x="1278242" y="301421"/>
                  </a:lnTo>
                  <a:close/>
                </a:path>
                <a:path w="2376170" h="301625">
                  <a:moveTo>
                    <a:pt x="1625765" y="3568"/>
                  </a:moveTo>
                  <a:lnTo>
                    <a:pt x="1389545" y="3708"/>
                  </a:lnTo>
                  <a:lnTo>
                    <a:pt x="1343812" y="11303"/>
                  </a:lnTo>
                  <a:lnTo>
                    <a:pt x="1306068" y="32423"/>
                  </a:lnTo>
                  <a:lnTo>
                    <a:pt x="1277556" y="64643"/>
                  </a:lnTo>
                  <a:lnTo>
                    <a:pt x="1259535" y="105486"/>
                  </a:lnTo>
                  <a:lnTo>
                    <a:pt x="1253261" y="152514"/>
                  </a:lnTo>
                  <a:lnTo>
                    <a:pt x="1259535" y="199555"/>
                  </a:lnTo>
                  <a:lnTo>
                    <a:pt x="1277556" y="240411"/>
                  </a:lnTo>
                  <a:lnTo>
                    <a:pt x="1306068" y="272630"/>
                  </a:lnTo>
                  <a:lnTo>
                    <a:pt x="1343812" y="293751"/>
                  </a:lnTo>
                  <a:lnTo>
                    <a:pt x="1389545" y="301332"/>
                  </a:lnTo>
                  <a:lnTo>
                    <a:pt x="1589354" y="301104"/>
                  </a:lnTo>
                  <a:lnTo>
                    <a:pt x="1620647" y="252857"/>
                  </a:lnTo>
                  <a:lnTo>
                    <a:pt x="1391018" y="252857"/>
                  </a:lnTo>
                  <a:lnTo>
                    <a:pt x="1353921" y="244983"/>
                  </a:lnTo>
                  <a:lnTo>
                    <a:pt x="1326324" y="223469"/>
                  </a:lnTo>
                  <a:lnTo>
                    <a:pt x="1309128" y="191579"/>
                  </a:lnTo>
                  <a:lnTo>
                    <a:pt x="1303210" y="152514"/>
                  </a:lnTo>
                  <a:lnTo>
                    <a:pt x="1309128" y="113461"/>
                  </a:lnTo>
                  <a:lnTo>
                    <a:pt x="1326324" y="81572"/>
                  </a:lnTo>
                  <a:lnTo>
                    <a:pt x="1353921" y="60071"/>
                  </a:lnTo>
                  <a:lnTo>
                    <a:pt x="1391018" y="52184"/>
                  </a:lnTo>
                  <a:lnTo>
                    <a:pt x="1595577" y="52184"/>
                  </a:lnTo>
                  <a:lnTo>
                    <a:pt x="1625765" y="3568"/>
                  </a:lnTo>
                  <a:close/>
                </a:path>
                <a:path w="2376170" h="301625">
                  <a:moveTo>
                    <a:pt x="1923173" y="252768"/>
                  </a:moveTo>
                  <a:lnTo>
                    <a:pt x="1712341" y="252768"/>
                  </a:lnTo>
                  <a:lnTo>
                    <a:pt x="1712341" y="3619"/>
                  </a:lnTo>
                  <a:lnTo>
                    <a:pt x="1663700" y="3619"/>
                  </a:lnTo>
                  <a:lnTo>
                    <a:pt x="1663700" y="301421"/>
                  </a:lnTo>
                  <a:lnTo>
                    <a:pt x="1892211" y="301421"/>
                  </a:lnTo>
                  <a:lnTo>
                    <a:pt x="1923173" y="252768"/>
                  </a:lnTo>
                  <a:close/>
                </a:path>
                <a:path w="2376170" h="301625">
                  <a:moveTo>
                    <a:pt x="2296960" y="3568"/>
                  </a:moveTo>
                  <a:lnTo>
                    <a:pt x="2060765" y="3708"/>
                  </a:lnTo>
                  <a:lnTo>
                    <a:pt x="2015020" y="11303"/>
                  </a:lnTo>
                  <a:lnTo>
                    <a:pt x="1977275" y="32423"/>
                  </a:lnTo>
                  <a:lnTo>
                    <a:pt x="1948776" y="64643"/>
                  </a:lnTo>
                  <a:lnTo>
                    <a:pt x="1930755" y="105486"/>
                  </a:lnTo>
                  <a:lnTo>
                    <a:pt x="1924481" y="152514"/>
                  </a:lnTo>
                  <a:lnTo>
                    <a:pt x="1930755" y="199555"/>
                  </a:lnTo>
                  <a:lnTo>
                    <a:pt x="1948776" y="240411"/>
                  </a:lnTo>
                  <a:lnTo>
                    <a:pt x="1977275" y="272630"/>
                  </a:lnTo>
                  <a:lnTo>
                    <a:pt x="2015020" y="293751"/>
                  </a:lnTo>
                  <a:lnTo>
                    <a:pt x="2060765" y="301332"/>
                  </a:lnTo>
                  <a:lnTo>
                    <a:pt x="2260574" y="301104"/>
                  </a:lnTo>
                  <a:lnTo>
                    <a:pt x="2291867" y="252857"/>
                  </a:lnTo>
                  <a:lnTo>
                    <a:pt x="2062238" y="252857"/>
                  </a:lnTo>
                  <a:lnTo>
                    <a:pt x="2030031" y="247065"/>
                  </a:lnTo>
                  <a:lnTo>
                    <a:pt x="2004707" y="231000"/>
                  </a:lnTo>
                  <a:lnTo>
                    <a:pt x="1986775" y="206692"/>
                  </a:lnTo>
                  <a:lnTo>
                    <a:pt x="1976729" y="176110"/>
                  </a:lnTo>
                  <a:lnTo>
                    <a:pt x="2234361" y="176110"/>
                  </a:lnTo>
                  <a:lnTo>
                    <a:pt x="2265324" y="127457"/>
                  </a:lnTo>
                  <a:lnTo>
                    <a:pt x="1976729" y="127457"/>
                  </a:lnTo>
                  <a:lnTo>
                    <a:pt x="1987080" y="97510"/>
                  </a:lnTo>
                  <a:lnTo>
                    <a:pt x="2005152" y="73660"/>
                  </a:lnTo>
                  <a:lnTo>
                    <a:pt x="2030387" y="57886"/>
                  </a:lnTo>
                  <a:lnTo>
                    <a:pt x="2062238" y="52184"/>
                  </a:lnTo>
                  <a:lnTo>
                    <a:pt x="2266797" y="52184"/>
                  </a:lnTo>
                  <a:lnTo>
                    <a:pt x="2296960" y="3568"/>
                  </a:lnTo>
                  <a:close/>
                </a:path>
                <a:path w="2376170" h="301625">
                  <a:moveTo>
                    <a:pt x="2362162" y="41897"/>
                  </a:moveTo>
                  <a:lnTo>
                    <a:pt x="2353576" y="28613"/>
                  </a:lnTo>
                  <a:lnTo>
                    <a:pt x="2353449" y="28397"/>
                  </a:lnTo>
                  <a:lnTo>
                    <a:pt x="2357945" y="27838"/>
                  </a:lnTo>
                  <a:lnTo>
                    <a:pt x="2361387" y="25450"/>
                  </a:lnTo>
                  <a:lnTo>
                    <a:pt x="2361387" y="24676"/>
                  </a:lnTo>
                  <a:lnTo>
                    <a:pt x="2361387" y="15189"/>
                  </a:lnTo>
                  <a:lnTo>
                    <a:pt x="2361387" y="13919"/>
                  </a:lnTo>
                  <a:lnTo>
                    <a:pt x="2357805" y="11239"/>
                  </a:lnTo>
                  <a:lnTo>
                    <a:pt x="2356535" y="11239"/>
                  </a:lnTo>
                  <a:lnTo>
                    <a:pt x="2356535" y="15887"/>
                  </a:lnTo>
                  <a:lnTo>
                    <a:pt x="2356535" y="24396"/>
                  </a:lnTo>
                  <a:lnTo>
                    <a:pt x="2353018" y="24676"/>
                  </a:lnTo>
                  <a:lnTo>
                    <a:pt x="2343531" y="24676"/>
                  </a:lnTo>
                  <a:lnTo>
                    <a:pt x="2343531" y="15189"/>
                  </a:lnTo>
                  <a:lnTo>
                    <a:pt x="2353094" y="15189"/>
                  </a:lnTo>
                  <a:lnTo>
                    <a:pt x="2356535" y="15887"/>
                  </a:lnTo>
                  <a:lnTo>
                    <a:pt x="2356535" y="11239"/>
                  </a:lnTo>
                  <a:lnTo>
                    <a:pt x="2338895" y="11239"/>
                  </a:lnTo>
                  <a:lnTo>
                    <a:pt x="2338895" y="41897"/>
                  </a:lnTo>
                  <a:lnTo>
                    <a:pt x="2343531" y="41897"/>
                  </a:lnTo>
                  <a:lnTo>
                    <a:pt x="2343531" y="28613"/>
                  </a:lnTo>
                  <a:lnTo>
                    <a:pt x="2348877" y="28613"/>
                  </a:lnTo>
                  <a:lnTo>
                    <a:pt x="2356955" y="41897"/>
                  </a:lnTo>
                  <a:lnTo>
                    <a:pt x="2362162" y="41897"/>
                  </a:lnTo>
                  <a:close/>
                </a:path>
                <a:path w="2376170" h="301625">
                  <a:moveTo>
                    <a:pt x="2376005" y="26504"/>
                  </a:moveTo>
                  <a:lnTo>
                    <a:pt x="2373833" y="15925"/>
                  </a:lnTo>
                  <a:lnTo>
                    <a:pt x="2370658" y="11353"/>
                  </a:lnTo>
                  <a:lnTo>
                    <a:pt x="2370658" y="26504"/>
                  </a:lnTo>
                  <a:lnTo>
                    <a:pt x="2368981" y="35382"/>
                  </a:lnTo>
                  <a:lnTo>
                    <a:pt x="2364409" y="42418"/>
                  </a:lnTo>
                  <a:lnTo>
                    <a:pt x="2357577" y="47053"/>
                  </a:lnTo>
                  <a:lnTo>
                    <a:pt x="2349144" y="48717"/>
                  </a:lnTo>
                  <a:lnTo>
                    <a:pt x="2340622" y="47053"/>
                  </a:lnTo>
                  <a:lnTo>
                    <a:pt x="2333752" y="42418"/>
                  </a:lnTo>
                  <a:lnTo>
                    <a:pt x="2329154" y="35382"/>
                  </a:lnTo>
                  <a:lnTo>
                    <a:pt x="2327491" y="26504"/>
                  </a:lnTo>
                  <a:lnTo>
                    <a:pt x="2329154" y="17754"/>
                  </a:lnTo>
                  <a:lnTo>
                    <a:pt x="2333752" y="10756"/>
                  </a:lnTo>
                  <a:lnTo>
                    <a:pt x="2340622" y="6121"/>
                  </a:lnTo>
                  <a:lnTo>
                    <a:pt x="2349144" y="4432"/>
                  </a:lnTo>
                  <a:lnTo>
                    <a:pt x="2357577" y="6121"/>
                  </a:lnTo>
                  <a:lnTo>
                    <a:pt x="2364409" y="10756"/>
                  </a:lnTo>
                  <a:lnTo>
                    <a:pt x="2368981" y="17754"/>
                  </a:lnTo>
                  <a:lnTo>
                    <a:pt x="2370658" y="26504"/>
                  </a:lnTo>
                  <a:lnTo>
                    <a:pt x="2370658" y="11353"/>
                  </a:lnTo>
                  <a:lnTo>
                    <a:pt x="2368004" y="7531"/>
                  </a:lnTo>
                  <a:lnTo>
                    <a:pt x="2363216" y="4432"/>
                  </a:lnTo>
                  <a:lnTo>
                    <a:pt x="2359444" y="2006"/>
                  </a:lnTo>
                  <a:lnTo>
                    <a:pt x="2349144" y="0"/>
                  </a:lnTo>
                  <a:lnTo>
                    <a:pt x="2338755" y="2006"/>
                  </a:lnTo>
                  <a:lnTo>
                    <a:pt x="2330158" y="7531"/>
                  </a:lnTo>
                  <a:lnTo>
                    <a:pt x="2324316" y="15925"/>
                  </a:lnTo>
                  <a:lnTo>
                    <a:pt x="2322157" y="26504"/>
                  </a:lnTo>
                  <a:lnTo>
                    <a:pt x="2324316" y="37172"/>
                  </a:lnTo>
                  <a:lnTo>
                    <a:pt x="2330158" y="45605"/>
                  </a:lnTo>
                  <a:lnTo>
                    <a:pt x="2338755" y="51155"/>
                  </a:lnTo>
                  <a:lnTo>
                    <a:pt x="2349144" y="53149"/>
                  </a:lnTo>
                  <a:lnTo>
                    <a:pt x="2359444" y="51155"/>
                  </a:lnTo>
                  <a:lnTo>
                    <a:pt x="2363203" y="48717"/>
                  </a:lnTo>
                  <a:lnTo>
                    <a:pt x="2368004" y="45605"/>
                  </a:lnTo>
                  <a:lnTo>
                    <a:pt x="2373833" y="37172"/>
                  </a:lnTo>
                  <a:lnTo>
                    <a:pt x="2376005" y="26504"/>
                  </a:lnTo>
                  <a:close/>
                </a:path>
              </a:pathLst>
            </a:custGeom>
            <a:solidFill>
              <a:srgbClr val="EF3E27"/>
            </a:solidFill>
          </p:spPr>
          <p:txBody>
            <a:bodyPr wrap="square" lIns="0" tIns="0" rIns="0" bIns="0" rtlCol="0"/>
            <a:lstStyle/>
            <a:p>
              <a:endParaRPr sz="2109"/>
            </a:p>
          </p:txBody>
        </p:sp>
      </p:grpSp>
      <p:sp>
        <p:nvSpPr>
          <p:cNvPr id="97" name="object 97"/>
          <p:cNvSpPr/>
          <p:nvPr/>
        </p:nvSpPr>
        <p:spPr>
          <a:xfrm>
            <a:off x="2848312" y="4368318"/>
            <a:ext cx="1428750" cy="553641"/>
          </a:xfrm>
          <a:custGeom>
            <a:avLst/>
            <a:gdLst/>
            <a:ahLst/>
            <a:cxnLst/>
            <a:rect l="l" t="t" r="r" b="b"/>
            <a:pathLst>
              <a:path w="2032000" h="787400">
                <a:moveTo>
                  <a:pt x="410433" y="719494"/>
                </a:moveTo>
                <a:lnTo>
                  <a:pt x="0" y="719494"/>
                </a:lnTo>
                <a:lnTo>
                  <a:pt x="0" y="780616"/>
                </a:lnTo>
                <a:lnTo>
                  <a:pt x="410433" y="780616"/>
                </a:lnTo>
                <a:lnTo>
                  <a:pt x="410433" y="719494"/>
                </a:lnTo>
                <a:close/>
              </a:path>
              <a:path w="2032000" h="787400">
                <a:moveTo>
                  <a:pt x="410433" y="617710"/>
                </a:moveTo>
                <a:lnTo>
                  <a:pt x="0" y="617710"/>
                </a:lnTo>
                <a:lnTo>
                  <a:pt x="0" y="685556"/>
                </a:lnTo>
                <a:lnTo>
                  <a:pt x="410433" y="685556"/>
                </a:lnTo>
                <a:lnTo>
                  <a:pt x="410433" y="617710"/>
                </a:lnTo>
                <a:close/>
              </a:path>
              <a:path w="2032000" h="787400">
                <a:moveTo>
                  <a:pt x="296053" y="515894"/>
                </a:moveTo>
                <a:lnTo>
                  <a:pt x="114359" y="515894"/>
                </a:lnTo>
                <a:lnTo>
                  <a:pt x="114359" y="583772"/>
                </a:lnTo>
                <a:lnTo>
                  <a:pt x="296053" y="583772"/>
                </a:lnTo>
                <a:lnTo>
                  <a:pt x="296053" y="515894"/>
                </a:lnTo>
                <a:close/>
              </a:path>
              <a:path w="2032000" h="787400">
                <a:moveTo>
                  <a:pt x="296053" y="414047"/>
                </a:moveTo>
                <a:lnTo>
                  <a:pt x="114359" y="414047"/>
                </a:lnTo>
                <a:lnTo>
                  <a:pt x="114359" y="481956"/>
                </a:lnTo>
                <a:lnTo>
                  <a:pt x="296053" y="481956"/>
                </a:lnTo>
                <a:lnTo>
                  <a:pt x="296053" y="414047"/>
                </a:lnTo>
                <a:close/>
              </a:path>
              <a:path w="2032000" h="787400">
                <a:moveTo>
                  <a:pt x="296053" y="305478"/>
                </a:moveTo>
                <a:lnTo>
                  <a:pt x="114359" y="305478"/>
                </a:lnTo>
                <a:lnTo>
                  <a:pt x="114359" y="373354"/>
                </a:lnTo>
                <a:lnTo>
                  <a:pt x="296053" y="373354"/>
                </a:lnTo>
                <a:lnTo>
                  <a:pt x="296053" y="305478"/>
                </a:lnTo>
                <a:close/>
              </a:path>
              <a:path w="2032000" h="787400">
                <a:moveTo>
                  <a:pt x="296053" y="210436"/>
                </a:moveTo>
                <a:lnTo>
                  <a:pt x="114359" y="210436"/>
                </a:lnTo>
                <a:lnTo>
                  <a:pt x="114359" y="271508"/>
                </a:lnTo>
                <a:lnTo>
                  <a:pt x="296053" y="271508"/>
                </a:lnTo>
                <a:lnTo>
                  <a:pt x="296053" y="210436"/>
                </a:lnTo>
                <a:close/>
              </a:path>
              <a:path w="2032000" h="787400">
                <a:moveTo>
                  <a:pt x="410433" y="101846"/>
                </a:moveTo>
                <a:lnTo>
                  <a:pt x="0" y="101846"/>
                </a:lnTo>
                <a:lnTo>
                  <a:pt x="0" y="169712"/>
                </a:lnTo>
                <a:lnTo>
                  <a:pt x="410433" y="169712"/>
                </a:lnTo>
                <a:lnTo>
                  <a:pt x="410433" y="101846"/>
                </a:lnTo>
                <a:close/>
              </a:path>
              <a:path w="2032000" h="787400">
                <a:moveTo>
                  <a:pt x="1042921" y="719505"/>
                </a:moveTo>
                <a:lnTo>
                  <a:pt x="457508" y="719505"/>
                </a:lnTo>
                <a:lnTo>
                  <a:pt x="457508" y="780616"/>
                </a:lnTo>
                <a:lnTo>
                  <a:pt x="888131" y="780616"/>
                </a:lnTo>
                <a:lnTo>
                  <a:pt x="932187" y="776797"/>
                </a:lnTo>
                <a:lnTo>
                  <a:pt x="973093" y="765340"/>
                </a:lnTo>
                <a:lnTo>
                  <a:pt x="1010216" y="746243"/>
                </a:lnTo>
                <a:lnTo>
                  <a:pt x="1042921" y="719505"/>
                </a:lnTo>
                <a:close/>
              </a:path>
              <a:path w="2032000" h="787400">
                <a:moveTo>
                  <a:pt x="1096712" y="617710"/>
                </a:moveTo>
                <a:lnTo>
                  <a:pt x="457508" y="617710"/>
                </a:lnTo>
                <a:lnTo>
                  <a:pt x="457508" y="685556"/>
                </a:lnTo>
                <a:lnTo>
                  <a:pt x="1069826" y="685556"/>
                </a:lnTo>
                <a:lnTo>
                  <a:pt x="1078761" y="669239"/>
                </a:lnTo>
                <a:lnTo>
                  <a:pt x="1085795" y="651644"/>
                </a:lnTo>
                <a:lnTo>
                  <a:pt x="1091566" y="634043"/>
                </a:lnTo>
                <a:lnTo>
                  <a:pt x="1096712" y="617710"/>
                </a:lnTo>
                <a:close/>
              </a:path>
              <a:path w="2032000" h="787400">
                <a:moveTo>
                  <a:pt x="746836" y="515894"/>
                </a:moveTo>
                <a:lnTo>
                  <a:pt x="571919" y="515894"/>
                </a:lnTo>
                <a:lnTo>
                  <a:pt x="571919" y="583772"/>
                </a:lnTo>
                <a:lnTo>
                  <a:pt x="746836" y="583772"/>
                </a:lnTo>
                <a:lnTo>
                  <a:pt x="746836" y="515894"/>
                </a:lnTo>
                <a:close/>
              </a:path>
              <a:path w="2032000" h="787400">
                <a:moveTo>
                  <a:pt x="1083289" y="515894"/>
                </a:moveTo>
                <a:lnTo>
                  <a:pt x="908352" y="515894"/>
                </a:lnTo>
                <a:lnTo>
                  <a:pt x="908352" y="583772"/>
                </a:lnTo>
                <a:lnTo>
                  <a:pt x="1096712" y="583772"/>
                </a:lnTo>
                <a:lnTo>
                  <a:pt x="1095556" y="564561"/>
                </a:lnTo>
                <a:lnTo>
                  <a:pt x="1092511" y="547269"/>
                </a:lnTo>
                <a:lnTo>
                  <a:pt x="1088211" y="531258"/>
                </a:lnTo>
                <a:lnTo>
                  <a:pt x="1083289" y="515894"/>
                </a:lnTo>
                <a:close/>
              </a:path>
              <a:path w="2032000" h="787400">
                <a:moveTo>
                  <a:pt x="1015994" y="414047"/>
                </a:moveTo>
                <a:lnTo>
                  <a:pt x="571919" y="414047"/>
                </a:lnTo>
                <a:lnTo>
                  <a:pt x="571919" y="481956"/>
                </a:lnTo>
                <a:lnTo>
                  <a:pt x="1069826" y="481956"/>
                </a:lnTo>
                <a:lnTo>
                  <a:pt x="1058575" y="462752"/>
                </a:lnTo>
                <a:lnTo>
                  <a:pt x="1045429" y="445453"/>
                </a:lnTo>
                <a:lnTo>
                  <a:pt x="1031022" y="429428"/>
                </a:lnTo>
                <a:lnTo>
                  <a:pt x="1015994" y="414047"/>
                </a:lnTo>
                <a:close/>
              </a:path>
              <a:path w="2032000" h="787400">
                <a:moveTo>
                  <a:pt x="1063100" y="305478"/>
                </a:moveTo>
                <a:lnTo>
                  <a:pt x="571919" y="305478"/>
                </a:lnTo>
                <a:lnTo>
                  <a:pt x="571919" y="373354"/>
                </a:lnTo>
                <a:lnTo>
                  <a:pt x="1009267" y="373354"/>
                </a:lnTo>
                <a:lnTo>
                  <a:pt x="1024290" y="357974"/>
                </a:lnTo>
                <a:lnTo>
                  <a:pt x="1038695" y="341960"/>
                </a:lnTo>
                <a:lnTo>
                  <a:pt x="1051844" y="324674"/>
                </a:lnTo>
                <a:lnTo>
                  <a:pt x="1063100" y="305478"/>
                </a:lnTo>
                <a:close/>
              </a:path>
              <a:path w="2032000" h="787400">
                <a:moveTo>
                  <a:pt x="746836" y="210436"/>
                </a:moveTo>
                <a:lnTo>
                  <a:pt x="571919" y="210436"/>
                </a:lnTo>
                <a:lnTo>
                  <a:pt x="571919" y="271508"/>
                </a:lnTo>
                <a:lnTo>
                  <a:pt x="746836" y="271508"/>
                </a:lnTo>
                <a:lnTo>
                  <a:pt x="746836" y="210436"/>
                </a:lnTo>
                <a:close/>
              </a:path>
              <a:path w="2032000" h="787400">
                <a:moveTo>
                  <a:pt x="1089985" y="210437"/>
                </a:moveTo>
                <a:lnTo>
                  <a:pt x="908352" y="210437"/>
                </a:lnTo>
                <a:lnTo>
                  <a:pt x="908352" y="271508"/>
                </a:lnTo>
                <a:lnTo>
                  <a:pt x="1083289" y="271508"/>
                </a:lnTo>
                <a:lnTo>
                  <a:pt x="1084335" y="256242"/>
                </a:lnTo>
                <a:lnTo>
                  <a:pt x="1088938" y="225709"/>
                </a:lnTo>
                <a:lnTo>
                  <a:pt x="1089985" y="210437"/>
                </a:lnTo>
                <a:close/>
              </a:path>
              <a:path w="2032000" h="787400">
                <a:moveTo>
                  <a:pt x="1063100" y="101846"/>
                </a:moveTo>
                <a:lnTo>
                  <a:pt x="457508" y="101846"/>
                </a:lnTo>
                <a:lnTo>
                  <a:pt x="457508" y="169712"/>
                </a:lnTo>
                <a:lnTo>
                  <a:pt x="1083289" y="169712"/>
                </a:lnTo>
                <a:lnTo>
                  <a:pt x="1082028" y="150503"/>
                </a:lnTo>
                <a:lnTo>
                  <a:pt x="1078243" y="133212"/>
                </a:lnTo>
                <a:lnTo>
                  <a:pt x="1071934" y="117204"/>
                </a:lnTo>
                <a:lnTo>
                  <a:pt x="1063100" y="101846"/>
                </a:lnTo>
                <a:close/>
              </a:path>
              <a:path w="2032000" h="787400">
                <a:moveTo>
                  <a:pt x="861246" y="0"/>
                </a:moveTo>
                <a:lnTo>
                  <a:pt x="457508" y="0"/>
                </a:lnTo>
                <a:lnTo>
                  <a:pt x="457508" y="61111"/>
                </a:lnTo>
                <a:lnTo>
                  <a:pt x="1029427" y="61111"/>
                </a:lnTo>
                <a:lnTo>
                  <a:pt x="999377" y="37249"/>
                </a:lnTo>
                <a:lnTo>
                  <a:pt x="960486" y="17832"/>
                </a:lnTo>
                <a:lnTo>
                  <a:pt x="914021" y="4777"/>
                </a:lnTo>
                <a:lnTo>
                  <a:pt x="861246" y="0"/>
                </a:lnTo>
                <a:close/>
              </a:path>
              <a:path w="2032000" h="787400">
                <a:moveTo>
                  <a:pt x="1426438" y="719494"/>
                </a:moveTo>
                <a:lnTo>
                  <a:pt x="1143836" y="719494"/>
                </a:lnTo>
                <a:lnTo>
                  <a:pt x="1143836" y="780616"/>
                </a:lnTo>
                <a:lnTo>
                  <a:pt x="1426438" y="780616"/>
                </a:lnTo>
                <a:lnTo>
                  <a:pt x="1426438" y="719494"/>
                </a:lnTo>
                <a:close/>
              </a:path>
              <a:path w="2032000" h="787400">
                <a:moveTo>
                  <a:pt x="1426438" y="617710"/>
                </a:moveTo>
                <a:lnTo>
                  <a:pt x="1143836" y="617710"/>
                </a:lnTo>
                <a:lnTo>
                  <a:pt x="1143836" y="685556"/>
                </a:lnTo>
                <a:lnTo>
                  <a:pt x="1426438" y="685556"/>
                </a:lnTo>
                <a:lnTo>
                  <a:pt x="1426438" y="617710"/>
                </a:lnTo>
                <a:close/>
              </a:path>
              <a:path w="2032000" h="787400">
                <a:moveTo>
                  <a:pt x="1426438" y="515894"/>
                </a:moveTo>
                <a:lnTo>
                  <a:pt x="1258227" y="515894"/>
                </a:lnTo>
                <a:lnTo>
                  <a:pt x="1258227" y="583772"/>
                </a:lnTo>
                <a:lnTo>
                  <a:pt x="1426438" y="583772"/>
                </a:lnTo>
                <a:lnTo>
                  <a:pt x="1426438" y="515894"/>
                </a:lnTo>
                <a:close/>
              </a:path>
              <a:path w="2032000" h="787400">
                <a:moveTo>
                  <a:pt x="1426438" y="414047"/>
                </a:moveTo>
                <a:lnTo>
                  <a:pt x="1258227" y="414047"/>
                </a:lnTo>
                <a:lnTo>
                  <a:pt x="1258227" y="481956"/>
                </a:lnTo>
                <a:lnTo>
                  <a:pt x="1426438" y="481956"/>
                </a:lnTo>
                <a:lnTo>
                  <a:pt x="1426438" y="414047"/>
                </a:lnTo>
                <a:close/>
              </a:path>
              <a:path w="2032000" h="787400">
                <a:moveTo>
                  <a:pt x="1621566" y="719505"/>
                </a:moveTo>
                <a:lnTo>
                  <a:pt x="1567745" y="719505"/>
                </a:lnTo>
                <a:lnTo>
                  <a:pt x="1594650" y="787402"/>
                </a:lnTo>
                <a:lnTo>
                  <a:pt x="1621566" y="719505"/>
                </a:lnTo>
                <a:close/>
              </a:path>
              <a:path w="2032000" h="787400">
                <a:moveTo>
                  <a:pt x="1655177" y="617710"/>
                </a:moveTo>
                <a:lnTo>
                  <a:pt x="1527365" y="617710"/>
                </a:lnTo>
                <a:lnTo>
                  <a:pt x="1554281" y="685556"/>
                </a:lnTo>
                <a:lnTo>
                  <a:pt x="1635029" y="685556"/>
                </a:lnTo>
                <a:lnTo>
                  <a:pt x="1655177" y="617710"/>
                </a:lnTo>
                <a:close/>
              </a:path>
              <a:path w="2032000" h="787400">
                <a:moveTo>
                  <a:pt x="1688849" y="515894"/>
                </a:moveTo>
                <a:lnTo>
                  <a:pt x="1493723" y="515894"/>
                </a:lnTo>
                <a:lnTo>
                  <a:pt x="1513881" y="583772"/>
                </a:lnTo>
                <a:lnTo>
                  <a:pt x="1668661" y="583772"/>
                </a:lnTo>
                <a:lnTo>
                  <a:pt x="1688849" y="515894"/>
                </a:lnTo>
                <a:close/>
              </a:path>
              <a:path w="2032000" h="787400">
                <a:moveTo>
                  <a:pt x="1729188" y="414047"/>
                </a:moveTo>
                <a:lnTo>
                  <a:pt x="1453324" y="414047"/>
                </a:lnTo>
                <a:lnTo>
                  <a:pt x="1480259" y="481956"/>
                </a:lnTo>
                <a:lnTo>
                  <a:pt x="1702302" y="481956"/>
                </a:lnTo>
                <a:lnTo>
                  <a:pt x="1729188" y="414047"/>
                </a:lnTo>
                <a:close/>
              </a:path>
              <a:path w="2032000" h="787400">
                <a:moveTo>
                  <a:pt x="2032000" y="719494"/>
                </a:moveTo>
                <a:lnTo>
                  <a:pt x="1756135" y="719494"/>
                </a:lnTo>
                <a:lnTo>
                  <a:pt x="1756135" y="780616"/>
                </a:lnTo>
                <a:lnTo>
                  <a:pt x="2032000" y="780616"/>
                </a:lnTo>
                <a:lnTo>
                  <a:pt x="2032000" y="719494"/>
                </a:lnTo>
                <a:close/>
              </a:path>
              <a:path w="2032000" h="787400">
                <a:moveTo>
                  <a:pt x="2032000" y="617710"/>
                </a:moveTo>
                <a:lnTo>
                  <a:pt x="1756135" y="617710"/>
                </a:lnTo>
                <a:lnTo>
                  <a:pt x="1756135" y="685556"/>
                </a:lnTo>
                <a:lnTo>
                  <a:pt x="2032000" y="685556"/>
                </a:lnTo>
                <a:lnTo>
                  <a:pt x="2032000" y="617710"/>
                </a:lnTo>
                <a:close/>
              </a:path>
              <a:path w="2032000" h="787400">
                <a:moveTo>
                  <a:pt x="1924347" y="515894"/>
                </a:moveTo>
                <a:lnTo>
                  <a:pt x="1756135" y="515894"/>
                </a:lnTo>
                <a:lnTo>
                  <a:pt x="1756135" y="583772"/>
                </a:lnTo>
                <a:lnTo>
                  <a:pt x="1924347" y="583772"/>
                </a:lnTo>
                <a:lnTo>
                  <a:pt x="1924347" y="515894"/>
                </a:lnTo>
                <a:close/>
              </a:path>
              <a:path w="2032000" h="787400">
                <a:moveTo>
                  <a:pt x="1924347" y="414047"/>
                </a:moveTo>
                <a:lnTo>
                  <a:pt x="1756135" y="414047"/>
                </a:lnTo>
                <a:lnTo>
                  <a:pt x="1756135" y="481956"/>
                </a:lnTo>
                <a:lnTo>
                  <a:pt x="1924347" y="481956"/>
                </a:lnTo>
                <a:lnTo>
                  <a:pt x="1924347" y="414047"/>
                </a:lnTo>
                <a:close/>
              </a:path>
              <a:path w="2032000" h="787400">
                <a:moveTo>
                  <a:pt x="2032000" y="0"/>
                </a:moveTo>
                <a:lnTo>
                  <a:pt x="1715766" y="0"/>
                </a:lnTo>
                <a:lnTo>
                  <a:pt x="1695577" y="61111"/>
                </a:lnTo>
                <a:lnTo>
                  <a:pt x="2032000" y="61111"/>
                </a:lnTo>
                <a:lnTo>
                  <a:pt x="2032000" y="0"/>
                </a:lnTo>
                <a:close/>
              </a:path>
              <a:path w="2032000" h="787400">
                <a:moveTo>
                  <a:pt x="2032000" y="101846"/>
                </a:moveTo>
                <a:lnTo>
                  <a:pt x="1675397" y="101846"/>
                </a:lnTo>
                <a:lnTo>
                  <a:pt x="1655177" y="169712"/>
                </a:lnTo>
                <a:lnTo>
                  <a:pt x="2032000" y="169712"/>
                </a:lnTo>
                <a:lnTo>
                  <a:pt x="2032000" y="101846"/>
                </a:lnTo>
                <a:close/>
              </a:path>
              <a:path w="2032000" h="787400">
                <a:moveTo>
                  <a:pt x="1924347" y="210437"/>
                </a:moveTo>
                <a:lnTo>
                  <a:pt x="1641755" y="210437"/>
                </a:lnTo>
                <a:lnTo>
                  <a:pt x="1614839" y="271508"/>
                </a:lnTo>
                <a:lnTo>
                  <a:pt x="1924347" y="271508"/>
                </a:lnTo>
                <a:lnTo>
                  <a:pt x="1924347" y="210437"/>
                </a:lnTo>
                <a:close/>
              </a:path>
              <a:path w="2032000" h="787400">
                <a:moveTo>
                  <a:pt x="1574460" y="305478"/>
                </a:moveTo>
                <a:lnTo>
                  <a:pt x="1258227" y="305478"/>
                </a:lnTo>
                <a:lnTo>
                  <a:pt x="1258227" y="373354"/>
                </a:lnTo>
                <a:lnTo>
                  <a:pt x="1426438" y="373354"/>
                </a:lnTo>
                <a:lnTo>
                  <a:pt x="1426438" y="332630"/>
                </a:lnTo>
                <a:lnTo>
                  <a:pt x="1582137" y="332630"/>
                </a:lnTo>
                <a:lnTo>
                  <a:pt x="1574460" y="305478"/>
                </a:lnTo>
                <a:close/>
              </a:path>
              <a:path w="2032000" h="787400">
                <a:moveTo>
                  <a:pt x="1582137" y="332630"/>
                </a:moveTo>
                <a:lnTo>
                  <a:pt x="1426438" y="332630"/>
                </a:lnTo>
                <a:lnTo>
                  <a:pt x="1439861" y="373354"/>
                </a:lnTo>
                <a:lnTo>
                  <a:pt x="1742672" y="373354"/>
                </a:lnTo>
                <a:lnTo>
                  <a:pt x="1749405" y="352987"/>
                </a:lnTo>
                <a:lnTo>
                  <a:pt x="1587892" y="352987"/>
                </a:lnTo>
                <a:lnTo>
                  <a:pt x="1582137" y="332630"/>
                </a:lnTo>
                <a:close/>
              </a:path>
              <a:path w="2032000" h="787400">
                <a:moveTo>
                  <a:pt x="1924347" y="332630"/>
                </a:moveTo>
                <a:lnTo>
                  <a:pt x="1756135" y="332630"/>
                </a:lnTo>
                <a:lnTo>
                  <a:pt x="1756135" y="373354"/>
                </a:lnTo>
                <a:lnTo>
                  <a:pt x="1924347" y="373354"/>
                </a:lnTo>
                <a:lnTo>
                  <a:pt x="1924347" y="332630"/>
                </a:lnTo>
                <a:close/>
              </a:path>
              <a:path w="2032000" h="787400">
                <a:moveTo>
                  <a:pt x="1924347" y="305478"/>
                </a:moveTo>
                <a:lnTo>
                  <a:pt x="1608113" y="305478"/>
                </a:lnTo>
                <a:lnTo>
                  <a:pt x="1587892" y="352987"/>
                </a:lnTo>
                <a:lnTo>
                  <a:pt x="1749405" y="352987"/>
                </a:lnTo>
                <a:lnTo>
                  <a:pt x="1756135" y="332630"/>
                </a:lnTo>
                <a:lnTo>
                  <a:pt x="1924347" y="332630"/>
                </a:lnTo>
                <a:lnTo>
                  <a:pt x="1924347" y="305478"/>
                </a:lnTo>
                <a:close/>
              </a:path>
              <a:path w="2032000" h="787400">
                <a:moveTo>
                  <a:pt x="1534102" y="210437"/>
                </a:moveTo>
                <a:lnTo>
                  <a:pt x="1258227" y="210437"/>
                </a:lnTo>
                <a:lnTo>
                  <a:pt x="1258227" y="271508"/>
                </a:lnTo>
                <a:lnTo>
                  <a:pt x="1561007" y="271508"/>
                </a:lnTo>
                <a:lnTo>
                  <a:pt x="1534102" y="210437"/>
                </a:lnTo>
                <a:close/>
              </a:path>
              <a:path w="2032000" h="787400">
                <a:moveTo>
                  <a:pt x="1500450" y="101846"/>
                </a:moveTo>
                <a:lnTo>
                  <a:pt x="1143836" y="101846"/>
                </a:lnTo>
                <a:lnTo>
                  <a:pt x="1143836" y="169712"/>
                </a:lnTo>
                <a:lnTo>
                  <a:pt x="1520619" y="169712"/>
                </a:lnTo>
                <a:lnTo>
                  <a:pt x="1500450" y="101846"/>
                </a:lnTo>
                <a:close/>
              </a:path>
              <a:path w="2032000" h="787400">
                <a:moveTo>
                  <a:pt x="1460050" y="0"/>
                </a:moveTo>
                <a:lnTo>
                  <a:pt x="1143836" y="0"/>
                </a:lnTo>
                <a:lnTo>
                  <a:pt x="1143836" y="61111"/>
                </a:lnTo>
                <a:lnTo>
                  <a:pt x="1480259" y="61111"/>
                </a:lnTo>
                <a:lnTo>
                  <a:pt x="1460050" y="0"/>
                </a:lnTo>
                <a:close/>
              </a:path>
              <a:path w="2032000" h="787400">
                <a:moveTo>
                  <a:pt x="410433" y="0"/>
                </a:moveTo>
                <a:lnTo>
                  <a:pt x="0" y="0"/>
                </a:lnTo>
                <a:lnTo>
                  <a:pt x="0" y="61122"/>
                </a:lnTo>
                <a:lnTo>
                  <a:pt x="410433" y="61122"/>
                </a:lnTo>
                <a:lnTo>
                  <a:pt x="410433" y="0"/>
                </a:lnTo>
                <a:close/>
              </a:path>
            </a:pathLst>
          </a:custGeom>
          <a:solidFill>
            <a:srgbClr val="0F82B5"/>
          </a:solidFill>
        </p:spPr>
        <p:txBody>
          <a:bodyPr wrap="square" lIns="0" tIns="0" rIns="0" bIns="0" rtlCol="0"/>
          <a:lstStyle/>
          <a:p>
            <a:endParaRPr sz="2109"/>
          </a:p>
        </p:txBody>
      </p:sp>
      <p:pic>
        <p:nvPicPr>
          <p:cNvPr id="27650" name="Picture 2" descr="https://img2.baidu.com/it/u=1352789486,1393133683&amp;fm=253&amp;fmt=auto&amp;app=120&amp;f=JPEG?w=563&amp;h=37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76743" y="408941"/>
            <a:ext cx="2176590" cy="1438173"/>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https://img2.baidu.com/it/u=1812168762,3601428225&amp;fm=253&amp;fmt=auto&amp;app=120&amp;f=JPEG?w=693&amp;h=500"/>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2311783" y="1670556"/>
            <a:ext cx="1896855" cy="1368582"/>
          </a:xfrm>
          <a:prstGeom prst="rect">
            <a:avLst/>
          </a:prstGeom>
          <a:noFill/>
          <a:extLst>
            <a:ext uri="{909E8E84-426E-40DD-AFC4-6F175D3DCCD1}">
              <a14:hiddenFill xmlns:a14="http://schemas.microsoft.com/office/drawing/2010/main">
                <a:solidFill>
                  <a:srgbClr val="FFFFFF"/>
                </a:solidFill>
              </a14:hiddenFill>
            </a:ext>
          </a:extLst>
        </p:spPr>
      </p:pic>
      <p:pic>
        <p:nvPicPr>
          <p:cNvPr id="27654" name="Picture 6" descr="https://img1.baidu.com/it/u=1079110151,2035991842&amp;fm=253&amp;fmt=auto&amp;app=120&amp;f=JPEG?w=627&amp;h=4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2235" y="2348899"/>
            <a:ext cx="2507679" cy="1671786"/>
          </a:xfrm>
          <a:prstGeom prst="rect">
            <a:avLst/>
          </a:prstGeom>
          <a:noFill/>
          <a:extLst>
            <a:ext uri="{909E8E84-426E-40DD-AFC4-6F175D3DCCD1}">
              <a14:hiddenFill xmlns:a14="http://schemas.microsoft.com/office/drawing/2010/main">
                <a:solidFill>
                  <a:srgbClr val="FFFFFF"/>
                </a:solidFill>
              </a14:hiddenFill>
            </a:ext>
          </a:extLst>
        </p:spPr>
      </p:pic>
      <p:pic>
        <p:nvPicPr>
          <p:cNvPr id="27656" name="Picture 8" descr="https://img1.baidu.com/it/u=769304819,2983494976&amp;fm=253&amp;fmt=auto&amp;app=120&amp;f=JPEG?w=1247&amp;h=504"/>
          <p:cNvPicPr>
            <a:picLocks noChangeAspect="1" noChangeArrowheads="1"/>
          </p:cNvPicPr>
          <p:nvPr/>
        </p:nvPicPr>
        <p:blipFill>
          <a:blip r:embed="rId17" cstate="hqprint">
            <a:extLst>
              <a:ext uri="{28A0092B-C50C-407E-A947-70E740481C1C}">
                <a14:useLocalDpi xmlns:a14="http://schemas.microsoft.com/office/drawing/2010/main" val="0"/>
              </a:ext>
            </a:extLst>
          </a:blip>
          <a:srcRect/>
          <a:stretch>
            <a:fillRect/>
          </a:stretch>
        </p:blipFill>
        <p:spPr bwMode="auto">
          <a:xfrm>
            <a:off x="421491" y="1848347"/>
            <a:ext cx="2204666" cy="891060"/>
          </a:xfrm>
          <a:prstGeom prst="rect">
            <a:avLst/>
          </a:prstGeom>
          <a:noFill/>
          <a:extLst>
            <a:ext uri="{909E8E84-426E-40DD-AFC4-6F175D3DCCD1}">
              <a14:hiddenFill xmlns:a14="http://schemas.microsoft.com/office/drawing/2010/main">
                <a:solidFill>
                  <a:srgbClr val="FFFFFF"/>
                </a:solidFill>
              </a14:hiddenFill>
            </a:ext>
          </a:extLst>
        </p:spPr>
      </p:pic>
      <p:pic>
        <p:nvPicPr>
          <p:cNvPr id="100" name="图片 99"/>
          <p:cNvPicPr>
            <a:picLocks noChangeAspect="1"/>
          </p:cNvPicPr>
          <p:nvPr/>
        </p:nvPicPr>
        <p:blipFill>
          <a:blip r:embed="rId18"/>
          <a:stretch>
            <a:fillRect/>
          </a:stretch>
        </p:blipFill>
        <p:spPr>
          <a:xfrm>
            <a:off x="5285242" y="1697973"/>
            <a:ext cx="3630309" cy="905794"/>
          </a:xfrm>
          <a:prstGeom prst="rect">
            <a:avLst/>
          </a:prstGeom>
        </p:spPr>
      </p:pic>
      <p:pic>
        <p:nvPicPr>
          <p:cNvPr id="3" name="Picture 2" descr="https://img1.baidu.com/it/u=3859271858,3793384271&amp;fm=253&amp;app=138&amp;size=w931&amp;n=0&amp;f=JPEG&amp;fmt=auto?sec=1740157200&amp;t=d680c7a267f0cc592fdcc0fc6587a4ff"/>
          <p:cNvPicPr>
            <a:picLocks noChangeAspect="1" noChangeArrowheads="1"/>
          </p:cNvPicPr>
          <p:nvPr/>
        </p:nvPicPr>
        <p:blipFill>
          <a:blip r:embed="rId19" cstate="hqprint">
            <a:extLst>
              <a:ext uri="{28A0092B-C50C-407E-A947-70E740481C1C}">
                <a14:useLocalDpi xmlns:a14="http://schemas.microsoft.com/office/drawing/2010/main" val="0"/>
              </a:ext>
            </a:extLst>
          </a:blip>
          <a:srcRect/>
          <a:stretch>
            <a:fillRect/>
          </a:stretch>
        </p:blipFill>
        <p:spPr bwMode="auto">
          <a:xfrm>
            <a:off x="3767313" y="884631"/>
            <a:ext cx="1480280" cy="148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514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471" y="100853"/>
            <a:ext cx="8875059" cy="6656294"/>
          </a:xfrm>
          <a:custGeom>
            <a:avLst/>
            <a:gdLst/>
            <a:ahLst/>
            <a:cxnLst/>
            <a:rect l="l" t="t" r="r" b="b"/>
            <a:pathLst>
              <a:path w="10058400" h="7543800">
                <a:moveTo>
                  <a:pt x="0" y="0"/>
                </a:moveTo>
                <a:lnTo>
                  <a:pt x="10058400" y="0"/>
                </a:lnTo>
                <a:lnTo>
                  <a:pt x="10058400" y="7543800"/>
                </a:lnTo>
                <a:lnTo>
                  <a:pt x="0" y="7543800"/>
                </a:lnTo>
                <a:lnTo>
                  <a:pt x="0" y="0"/>
                </a:lnTo>
                <a:close/>
              </a:path>
            </a:pathLst>
          </a:custGeom>
          <a:solidFill>
            <a:srgbClr val="F5F5F5"/>
          </a:solidFill>
        </p:spPr>
        <p:txBody>
          <a:bodyPr wrap="square" lIns="0" tIns="0" rIns="0" bIns="0" rtlCol="0"/>
          <a:lstStyle/>
          <a:p>
            <a:endParaRPr sz="2647"/>
          </a:p>
        </p:txBody>
      </p:sp>
      <p:sp>
        <p:nvSpPr>
          <p:cNvPr id="3" name="object 3"/>
          <p:cNvSpPr/>
          <p:nvPr/>
        </p:nvSpPr>
        <p:spPr>
          <a:xfrm>
            <a:off x="2652554" y="100853"/>
            <a:ext cx="54909" cy="153521"/>
          </a:xfrm>
          <a:custGeom>
            <a:avLst/>
            <a:gdLst/>
            <a:ahLst/>
            <a:cxnLst/>
            <a:rect l="l" t="t" r="r" b="b"/>
            <a:pathLst>
              <a:path w="62230" h="173990">
                <a:moveTo>
                  <a:pt x="61977" y="0"/>
                </a:moveTo>
                <a:lnTo>
                  <a:pt x="0" y="86044"/>
                </a:lnTo>
                <a:lnTo>
                  <a:pt x="56886" y="173499"/>
                </a:lnTo>
              </a:path>
            </a:pathLst>
          </a:custGeom>
          <a:ln w="12150">
            <a:solidFill>
              <a:srgbClr val="6D6E71"/>
            </a:solidFill>
          </a:ln>
        </p:spPr>
        <p:txBody>
          <a:bodyPr wrap="square" lIns="0" tIns="0" rIns="0" bIns="0" rtlCol="0"/>
          <a:lstStyle/>
          <a:p>
            <a:endParaRPr sz="2647"/>
          </a:p>
        </p:txBody>
      </p:sp>
      <p:sp>
        <p:nvSpPr>
          <p:cNvPr id="4" name="object 4"/>
          <p:cNvSpPr/>
          <p:nvPr/>
        </p:nvSpPr>
        <p:spPr>
          <a:xfrm>
            <a:off x="5196939" y="100853"/>
            <a:ext cx="142315" cy="164726"/>
          </a:xfrm>
          <a:custGeom>
            <a:avLst/>
            <a:gdLst/>
            <a:ahLst/>
            <a:cxnLst/>
            <a:rect l="l" t="t" r="r" b="b"/>
            <a:pathLst>
              <a:path w="161289" h="186690">
                <a:moveTo>
                  <a:pt x="0" y="160402"/>
                </a:moveTo>
                <a:lnTo>
                  <a:pt x="65637" y="186621"/>
                </a:lnTo>
                <a:lnTo>
                  <a:pt x="87540" y="182271"/>
                </a:lnTo>
                <a:lnTo>
                  <a:pt x="109394" y="64150"/>
                </a:lnTo>
                <a:lnTo>
                  <a:pt x="157552" y="68573"/>
                </a:lnTo>
                <a:lnTo>
                  <a:pt x="161269" y="0"/>
                </a:lnTo>
              </a:path>
            </a:pathLst>
          </a:custGeom>
          <a:ln w="12152">
            <a:solidFill>
              <a:srgbClr val="6D6E71"/>
            </a:solidFill>
          </a:ln>
        </p:spPr>
        <p:txBody>
          <a:bodyPr wrap="square" lIns="0" tIns="0" rIns="0" bIns="0" rtlCol="0"/>
          <a:lstStyle/>
          <a:p>
            <a:endParaRPr sz="2647"/>
          </a:p>
        </p:txBody>
      </p:sp>
      <p:sp>
        <p:nvSpPr>
          <p:cNvPr id="5" name="object 5"/>
          <p:cNvSpPr/>
          <p:nvPr/>
        </p:nvSpPr>
        <p:spPr>
          <a:xfrm>
            <a:off x="6370707" y="100853"/>
            <a:ext cx="77321" cy="192180"/>
          </a:xfrm>
          <a:custGeom>
            <a:avLst/>
            <a:gdLst/>
            <a:ahLst/>
            <a:cxnLst/>
            <a:rect l="l" t="t" r="r" b="b"/>
            <a:pathLst>
              <a:path w="87629" h="217804">
                <a:moveTo>
                  <a:pt x="0" y="217263"/>
                </a:moveTo>
                <a:lnTo>
                  <a:pt x="13127" y="177922"/>
                </a:lnTo>
                <a:lnTo>
                  <a:pt x="8751" y="151654"/>
                </a:lnTo>
                <a:lnTo>
                  <a:pt x="87515" y="116662"/>
                </a:lnTo>
                <a:lnTo>
                  <a:pt x="87514" y="2915"/>
                </a:lnTo>
                <a:lnTo>
                  <a:pt x="81673" y="0"/>
                </a:lnTo>
              </a:path>
            </a:pathLst>
          </a:custGeom>
          <a:ln w="12150">
            <a:solidFill>
              <a:srgbClr val="6D6E71"/>
            </a:solidFill>
          </a:ln>
        </p:spPr>
        <p:txBody>
          <a:bodyPr wrap="square" lIns="0" tIns="0" rIns="0" bIns="0" rtlCol="0"/>
          <a:lstStyle/>
          <a:p>
            <a:endParaRPr sz="2647"/>
          </a:p>
        </p:txBody>
      </p:sp>
      <p:sp>
        <p:nvSpPr>
          <p:cNvPr id="6" name="object 6"/>
          <p:cNvSpPr/>
          <p:nvPr/>
        </p:nvSpPr>
        <p:spPr>
          <a:xfrm>
            <a:off x="6019331" y="100853"/>
            <a:ext cx="77321" cy="25773"/>
          </a:xfrm>
          <a:custGeom>
            <a:avLst/>
            <a:gdLst/>
            <a:ahLst/>
            <a:cxnLst/>
            <a:rect l="l" t="t" r="r" b="b"/>
            <a:pathLst>
              <a:path w="87629" h="29210">
                <a:moveTo>
                  <a:pt x="0" y="29183"/>
                </a:moveTo>
                <a:lnTo>
                  <a:pt x="78740" y="29183"/>
                </a:lnTo>
                <a:lnTo>
                  <a:pt x="87572" y="0"/>
                </a:lnTo>
              </a:path>
            </a:pathLst>
          </a:custGeom>
          <a:ln w="12154">
            <a:solidFill>
              <a:srgbClr val="6D6E71"/>
            </a:solidFill>
          </a:ln>
        </p:spPr>
        <p:txBody>
          <a:bodyPr wrap="square" lIns="0" tIns="0" rIns="0" bIns="0" rtlCol="0"/>
          <a:lstStyle/>
          <a:p>
            <a:endParaRPr sz="2647"/>
          </a:p>
        </p:txBody>
      </p:sp>
      <p:sp>
        <p:nvSpPr>
          <p:cNvPr id="7" name="object 7"/>
          <p:cNvSpPr/>
          <p:nvPr/>
        </p:nvSpPr>
        <p:spPr>
          <a:xfrm>
            <a:off x="2831621" y="100853"/>
            <a:ext cx="25773" cy="22412"/>
          </a:xfrm>
          <a:custGeom>
            <a:avLst/>
            <a:gdLst/>
            <a:ahLst/>
            <a:cxnLst/>
            <a:rect l="l" t="t" r="r" b="b"/>
            <a:pathLst>
              <a:path w="29210" h="25400">
                <a:moveTo>
                  <a:pt x="28974" y="24833"/>
                </a:moveTo>
                <a:lnTo>
                  <a:pt x="0" y="0"/>
                </a:lnTo>
              </a:path>
            </a:pathLst>
          </a:custGeom>
          <a:ln w="12152">
            <a:solidFill>
              <a:srgbClr val="6D6E71"/>
            </a:solidFill>
          </a:ln>
        </p:spPr>
        <p:txBody>
          <a:bodyPr wrap="square" lIns="0" tIns="0" rIns="0" bIns="0" rtlCol="0"/>
          <a:lstStyle/>
          <a:p>
            <a:endParaRPr sz="2647"/>
          </a:p>
        </p:txBody>
      </p:sp>
      <p:sp>
        <p:nvSpPr>
          <p:cNvPr id="8" name="object 8"/>
          <p:cNvSpPr/>
          <p:nvPr/>
        </p:nvSpPr>
        <p:spPr>
          <a:xfrm>
            <a:off x="4494234" y="100853"/>
            <a:ext cx="11206" cy="25773"/>
          </a:xfrm>
          <a:custGeom>
            <a:avLst/>
            <a:gdLst/>
            <a:ahLst/>
            <a:cxnLst/>
            <a:rect l="l" t="t" r="r" b="b"/>
            <a:pathLst>
              <a:path w="12700" h="29210">
                <a:moveTo>
                  <a:pt x="0" y="29183"/>
                </a:moveTo>
                <a:lnTo>
                  <a:pt x="12164" y="0"/>
                </a:lnTo>
              </a:path>
            </a:pathLst>
          </a:custGeom>
          <a:ln w="12150">
            <a:solidFill>
              <a:srgbClr val="6D6E71"/>
            </a:solidFill>
          </a:ln>
        </p:spPr>
        <p:txBody>
          <a:bodyPr wrap="square" lIns="0" tIns="0" rIns="0" bIns="0" rtlCol="0"/>
          <a:lstStyle/>
          <a:p>
            <a:endParaRPr sz="2647"/>
          </a:p>
        </p:txBody>
      </p:sp>
      <p:sp>
        <p:nvSpPr>
          <p:cNvPr id="9" name="object 9"/>
          <p:cNvSpPr/>
          <p:nvPr/>
        </p:nvSpPr>
        <p:spPr>
          <a:xfrm>
            <a:off x="7679567" y="100853"/>
            <a:ext cx="62193" cy="41462"/>
          </a:xfrm>
          <a:custGeom>
            <a:avLst/>
            <a:gdLst/>
            <a:ahLst/>
            <a:cxnLst/>
            <a:rect l="l" t="t" r="r" b="b"/>
            <a:pathLst>
              <a:path w="70484" h="46989">
                <a:moveTo>
                  <a:pt x="0" y="33557"/>
                </a:moveTo>
                <a:lnTo>
                  <a:pt x="70036" y="46654"/>
                </a:lnTo>
                <a:lnTo>
                  <a:pt x="63552" y="0"/>
                </a:lnTo>
              </a:path>
            </a:pathLst>
          </a:custGeom>
          <a:ln w="12153">
            <a:solidFill>
              <a:srgbClr val="6D6E71"/>
            </a:solidFill>
          </a:ln>
        </p:spPr>
        <p:txBody>
          <a:bodyPr wrap="square" lIns="0" tIns="0" rIns="0" bIns="0" rtlCol="0"/>
          <a:lstStyle/>
          <a:p>
            <a:endParaRPr sz="2647"/>
          </a:p>
        </p:txBody>
      </p:sp>
      <p:sp>
        <p:nvSpPr>
          <p:cNvPr id="10" name="object 10"/>
          <p:cNvSpPr/>
          <p:nvPr/>
        </p:nvSpPr>
        <p:spPr>
          <a:xfrm>
            <a:off x="2357571" y="100853"/>
            <a:ext cx="117662" cy="33618"/>
          </a:xfrm>
          <a:custGeom>
            <a:avLst/>
            <a:gdLst/>
            <a:ahLst/>
            <a:cxnLst/>
            <a:rect l="l" t="t" r="r" b="b"/>
            <a:pathLst>
              <a:path w="133350" h="38100">
                <a:moveTo>
                  <a:pt x="133025" y="37882"/>
                </a:moveTo>
                <a:lnTo>
                  <a:pt x="105918" y="0"/>
                </a:lnTo>
              </a:path>
              <a:path w="133350" h="38100">
                <a:moveTo>
                  <a:pt x="49586" y="0"/>
                </a:moveTo>
                <a:lnTo>
                  <a:pt x="14854" y="20410"/>
                </a:lnTo>
                <a:lnTo>
                  <a:pt x="0" y="0"/>
                </a:lnTo>
              </a:path>
            </a:pathLst>
          </a:custGeom>
          <a:ln w="12152">
            <a:solidFill>
              <a:srgbClr val="6D6E71"/>
            </a:solidFill>
          </a:ln>
        </p:spPr>
        <p:txBody>
          <a:bodyPr wrap="square" lIns="0" tIns="0" rIns="0" bIns="0" rtlCol="0"/>
          <a:lstStyle/>
          <a:p>
            <a:endParaRPr sz="2647"/>
          </a:p>
        </p:txBody>
      </p:sp>
      <p:sp>
        <p:nvSpPr>
          <p:cNvPr id="11" name="object 11"/>
          <p:cNvSpPr/>
          <p:nvPr/>
        </p:nvSpPr>
        <p:spPr>
          <a:xfrm>
            <a:off x="134471" y="250081"/>
            <a:ext cx="35859" cy="10085"/>
          </a:xfrm>
          <a:custGeom>
            <a:avLst/>
            <a:gdLst/>
            <a:ahLst/>
            <a:cxnLst/>
            <a:rect l="l" t="t" r="r" b="b"/>
            <a:pathLst>
              <a:path w="40640" h="11429">
                <a:moveTo>
                  <a:pt x="0" y="11042"/>
                </a:moveTo>
                <a:lnTo>
                  <a:pt x="40158" y="0"/>
                </a:lnTo>
              </a:path>
            </a:pathLst>
          </a:custGeom>
          <a:ln w="12154">
            <a:solidFill>
              <a:srgbClr val="6D6E71"/>
            </a:solidFill>
          </a:ln>
        </p:spPr>
        <p:txBody>
          <a:bodyPr wrap="square" lIns="0" tIns="0" rIns="0" bIns="0" rtlCol="0"/>
          <a:lstStyle/>
          <a:p>
            <a:endParaRPr sz="2647"/>
          </a:p>
        </p:txBody>
      </p:sp>
      <p:sp>
        <p:nvSpPr>
          <p:cNvPr id="12" name="object 12"/>
          <p:cNvSpPr/>
          <p:nvPr/>
        </p:nvSpPr>
        <p:spPr>
          <a:xfrm>
            <a:off x="6521266" y="100853"/>
            <a:ext cx="63313" cy="164726"/>
          </a:xfrm>
          <a:custGeom>
            <a:avLst/>
            <a:gdLst/>
            <a:ahLst/>
            <a:cxnLst/>
            <a:rect l="l" t="t" r="r" b="b"/>
            <a:pathLst>
              <a:path w="71754" h="186690">
                <a:moveTo>
                  <a:pt x="0" y="186621"/>
                </a:moveTo>
                <a:lnTo>
                  <a:pt x="61284" y="86044"/>
                </a:lnTo>
                <a:lnTo>
                  <a:pt x="71281" y="0"/>
                </a:lnTo>
              </a:path>
            </a:pathLst>
          </a:custGeom>
          <a:ln w="12150">
            <a:solidFill>
              <a:srgbClr val="6D6E71"/>
            </a:solidFill>
          </a:ln>
        </p:spPr>
        <p:txBody>
          <a:bodyPr wrap="square" lIns="0" tIns="0" rIns="0" bIns="0" rtlCol="0"/>
          <a:lstStyle/>
          <a:p>
            <a:endParaRPr sz="2647"/>
          </a:p>
        </p:txBody>
      </p:sp>
      <p:sp>
        <p:nvSpPr>
          <p:cNvPr id="13" name="object 13"/>
          <p:cNvSpPr/>
          <p:nvPr/>
        </p:nvSpPr>
        <p:spPr>
          <a:xfrm>
            <a:off x="4669200" y="100853"/>
            <a:ext cx="26334" cy="14568"/>
          </a:xfrm>
          <a:custGeom>
            <a:avLst/>
            <a:gdLst/>
            <a:ahLst/>
            <a:cxnLst/>
            <a:rect l="l" t="t" r="r" b="b"/>
            <a:pathLst>
              <a:path w="29845" h="16510">
                <a:moveTo>
                  <a:pt x="0" y="0"/>
                </a:moveTo>
                <a:lnTo>
                  <a:pt x="29271" y="16036"/>
                </a:lnTo>
              </a:path>
            </a:pathLst>
          </a:custGeom>
          <a:ln w="12153">
            <a:solidFill>
              <a:srgbClr val="6D6E71"/>
            </a:solidFill>
          </a:ln>
        </p:spPr>
        <p:txBody>
          <a:bodyPr wrap="square" lIns="0" tIns="0" rIns="0" bIns="0" rtlCol="0"/>
          <a:lstStyle/>
          <a:p>
            <a:endParaRPr sz="2647"/>
          </a:p>
        </p:txBody>
      </p:sp>
      <p:sp>
        <p:nvSpPr>
          <p:cNvPr id="14" name="object 14"/>
          <p:cNvSpPr/>
          <p:nvPr/>
        </p:nvSpPr>
        <p:spPr>
          <a:xfrm>
            <a:off x="2073402" y="100853"/>
            <a:ext cx="170329" cy="161365"/>
          </a:xfrm>
          <a:custGeom>
            <a:avLst/>
            <a:gdLst/>
            <a:ahLst/>
            <a:cxnLst/>
            <a:rect l="l" t="t" r="r" b="b"/>
            <a:pathLst>
              <a:path w="193039" h="182879">
                <a:moveTo>
                  <a:pt x="179409" y="182271"/>
                </a:moveTo>
                <a:lnTo>
                  <a:pt x="192512" y="116662"/>
                </a:lnTo>
                <a:lnTo>
                  <a:pt x="109395" y="20410"/>
                </a:lnTo>
                <a:lnTo>
                  <a:pt x="0" y="37882"/>
                </a:lnTo>
                <a:lnTo>
                  <a:pt x="13384" y="0"/>
                </a:lnTo>
              </a:path>
            </a:pathLst>
          </a:custGeom>
          <a:ln w="12152">
            <a:solidFill>
              <a:srgbClr val="6D6E71"/>
            </a:solidFill>
          </a:ln>
        </p:spPr>
        <p:txBody>
          <a:bodyPr wrap="square" lIns="0" tIns="0" rIns="0" bIns="0" rtlCol="0"/>
          <a:lstStyle/>
          <a:p>
            <a:endParaRPr sz="2647"/>
          </a:p>
        </p:txBody>
      </p:sp>
      <p:sp>
        <p:nvSpPr>
          <p:cNvPr id="15" name="object 15"/>
          <p:cNvSpPr/>
          <p:nvPr/>
        </p:nvSpPr>
        <p:spPr>
          <a:xfrm>
            <a:off x="6994512" y="100853"/>
            <a:ext cx="322169" cy="161365"/>
          </a:xfrm>
          <a:custGeom>
            <a:avLst/>
            <a:gdLst/>
            <a:ahLst/>
            <a:cxnLst/>
            <a:rect l="l" t="t" r="r" b="b"/>
            <a:pathLst>
              <a:path w="365125" h="182879">
                <a:moveTo>
                  <a:pt x="365096" y="156052"/>
                </a:moveTo>
                <a:lnTo>
                  <a:pt x="347592" y="160402"/>
                </a:lnTo>
                <a:lnTo>
                  <a:pt x="316986" y="182271"/>
                </a:lnTo>
                <a:lnTo>
                  <a:pt x="198815" y="151654"/>
                </a:lnTo>
                <a:lnTo>
                  <a:pt x="85018" y="55402"/>
                </a:lnTo>
                <a:lnTo>
                  <a:pt x="0" y="0"/>
                </a:lnTo>
              </a:path>
            </a:pathLst>
          </a:custGeom>
          <a:ln w="12154">
            <a:solidFill>
              <a:srgbClr val="6D6E71"/>
            </a:solidFill>
          </a:ln>
        </p:spPr>
        <p:txBody>
          <a:bodyPr wrap="square" lIns="0" tIns="0" rIns="0" bIns="0" rtlCol="0"/>
          <a:lstStyle/>
          <a:p>
            <a:endParaRPr sz="2647"/>
          </a:p>
        </p:txBody>
      </p:sp>
      <p:sp>
        <p:nvSpPr>
          <p:cNvPr id="16" name="object 16"/>
          <p:cNvSpPr/>
          <p:nvPr/>
        </p:nvSpPr>
        <p:spPr>
          <a:xfrm>
            <a:off x="5085852" y="100854"/>
            <a:ext cx="26334" cy="133910"/>
          </a:xfrm>
          <a:custGeom>
            <a:avLst/>
            <a:gdLst/>
            <a:ahLst/>
            <a:cxnLst/>
            <a:rect l="l" t="t" r="r" b="b"/>
            <a:pathLst>
              <a:path w="29845" h="151765">
                <a:moveTo>
                  <a:pt x="29679" y="151654"/>
                </a:moveTo>
                <a:lnTo>
                  <a:pt x="20927" y="125386"/>
                </a:lnTo>
                <a:lnTo>
                  <a:pt x="0" y="0"/>
                </a:lnTo>
              </a:path>
            </a:pathLst>
          </a:custGeom>
          <a:ln w="12150">
            <a:solidFill>
              <a:srgbClr val="6D6E71"/>
            </a:solidFill>
          </a:ln>
        </p:spPr>
        <p:txBody>
          <a:bodyPr wrap="square" lIns="0" tIns="0" rIns="0" bIns="0" rtlCol="0"/>
          <a:lstStyle/>
          <a:p>
            <a:endParaRPr sz="2647"/>
          </a:p>
        </p:txBody>
      </p:sp>
      <p:sp>
        <p:nvSpPr>
          <p:cNvPr id="17" name="object 17"/>
          <p:cNvSpPr/>
          <p:nvPr/>
        </p:nvSpPr>
        <p:spPr>
          <a:xfrm>
            <a:off x="1223982" y="100853"/>
            <a:ext cx="448235" cy="249891"/>
          </a:xfrm>
          <a:custGeom>
            <a:avLst/>
            <a:gdLst/>
            <a:ahLst/>
            <a:cxnLst/>
            <a:rect l="l" t="t" r="r" b="b"/>
            <a:pathLst>
              <a:path w="508000" h="283210">
                <a:moveTo>
                  <a:pt x="0" y="212841"/>
                </a:moveTo>
                <a:lnTo>
                  <a:pt x="21903" y="208515"/>
                </a:lnTo>
                <a:lnTo>
                  <a:pt x="56885" y="186621"/>
                </a:lnTo>
                <a:lnTo>
                  <a:pt x="105017" y="77272"/>
                </a:lnTo>
                <a:lnTo>
                  <a:pt x="258146" y="51052"/>
                </a:lnTo>
                <a:lnTo>
                  <a:pt x="241925" y="0"/>
                </a:lnTo>
              </a:path>
              <a:path w="508000" h="283210">
                <a:moveTo>
                  <a:pt x="297531" y="282848"/>
                </a:moveTo>
                <a:lnTo>
                  <a:pt x="284428" y="256580"/>
                </a:lnTo>
                <a:lnTo>
                  <a:pt x="323810" y="243483"/>
                </a:lnTo>
                <a:lnTo>
                  <a:pt x="341309" y="94792"/>
                </a:lnTo>
                <a:lnTo>
                  <a:pt x="507567" y="55402"/>
                </a:lnTo>
                <a:lnTo>
                  <a:pt x="501055" y="0"/>
                </a:lnTo>
              </a:path>
            </a:pathLst>
          </a:custGeom>
          <a:ln w="12152">
            <a:solidFill>
              <a:srgbClr val="6D6E71"/>
            </a:solidFill>
          </a:ln>
        </p:spPr>
        <p:txBody>
          <a:bodyPr wrap="square" lIns="0" tIns="0" rIns="0" bIns="0" rtlCol="0"/>
          <a:lstStyle/>
          <a:p>
            <a:endParaRPr sz="2647"/>
          </a:p>
        </p:txBody>
      </p:sp>
      <p:sp>
        <p:nvSpPr>
          <p:cNvPr id="18" name="object 18"/>
          <p:cNvSpPr/>
          <p:nvPr/>
        </p:nvSpPr>
        <p:spPr>
          <a:xfrm>
            <a:off x="938266" y="100853"/>
            <a:ext cx="127747" cy="245969"/>
          </a:xfrm>
          <a:custGeom>
            <a:avLst/>
            <a:gdLst/>
            <a:ahLst/>
            <a:cxnLst/>
            <a:rect l="l" t="t" r="r" b="b"/>
            <a:pathLst>
              <a:path w="144780" h="278765">
                <a:moveTo>
                  <a:pt x="122500" y="278474"/>
                </a:moveTo>
                <a:lnTo>
                  <a:pt x="144378" y="164751"/>
                </a:lnTo>
                <a:lnTo>
                  <a:pt x="0" y="86044"/>
                </a:lnTo>
                <a:lnTo>
                  <a:pt x="11937" y="0"/>
                </a:lnTo>
              </a:path>
            </a:pathLst>
          </a:custGeom>
          <a:ln w="12150">
            <a:solidFill>
              <a:srgbClr val="6D6E71"/>
            </a:solidFill>
          </a:ln>
        </p:spPr>
        <p:txBody>
          <a:bodyPr wrap="square" lIns="0" tIns="0" rIns="0" bIns="0" rtlCol="0"/>
          <a:lstStyle/>
          <a:p>
            <a:endParaRPr sz="2647"/>
          </a:p>
        </p:txBody>
      </p:sp>
      <p:sp>
        <p:nvSpPr>
          <p:cNvPr id="19" name="object 19"/>
          <p:cNvSpPr/>
          <p:nvPr/>
        </p:nvSpPr>
        <p:spPr>
          <a:xfrm>
            <a:off x="5733799" y="100853"/>
            <a:ext cx="15688" cy="72278"/>
          </a:xfrm>
          <a:custGeom>
            <a:avLst/>
            <a:gdLst/>
            <a:ahLst/>
            <a:cxnLst/>
            <a:rect l="l" t="t" r="r" b="b"/>
            <a:pathLst>
              <a:path w="17779" h="81914">
                <a:moveTo>
                  <a:pt x="17323" y="81670"/>
                </a:moveTo>
                <a:lnTo>
                  <a:pt x="4170" y="11662"/>
                </a:lnTo>
                <a:lnTo>
                  <a:pt x="0" y="0"/>
                </a:lnTo>
              </a:path>
            </a:pathLst>
          </a:custGeom>
          <a:ln w="12150">
            <a:solidFill>
              <a:srgbClr val="6D6E71"/>
            </a:solidFill>
          </a:ln>
        </p:spPr>
        <p:txBody>
          <a:bodyPr wrap="square" lIns="0" tIns="0" rIns="0" bIns="0" rtlCol="0"/>
          <a:lstStyle/>
          <a:p>
            <a:endParaRPr sz="2647"/>
          </a:p>
        </p:txBody>
      </p:sp>
      <p:sp>
        <p:nvSpPr>
          <p:cNvPr id="20" name="object 20"/>
          <p:cNvSpPr/>
          <p:nvPr/>
        </p:nvSpPr>
        <p:spPr>
          <a:xfrm>
            <a:off x="548311" y="504801"/>
            <a:ext cx="66115" cy="366993"/>
          </a:xfrm>
          <a:custGeom>
            <a:avLst/>
            <a:gdLst/>
            <a:ahLst/>
            <a:cxnLst/>
            <a:rect l="l" t="t" r="r" b="b"/>
            <a:pathLst>
              <a:path w="74929" h="415925">
                <a:moveTo>
                  <a:pt x="30602" y="0"/>
                </a:moveTo>
                <a:lnTo>
                  <a:pt x="74360" y="21894"/>
                </a:lnTo>
                <a:lnTo>
                  <a:pt x="43757" y="253690"/>
                </a:lnTo>
                <a:lnTo>
                  <a:pt x="0" y="345519"/>
                </a:lnTo>
                <a:lnTo>
                  <a:pt x="4376" y="415551"/>
                </a:lnTo>
              </a:path>
            </a:pathLst>
          </a:custGeom>
          <a:ln w="12150">
            <a:solidFill>
              <a:srgbClr val="6D6E71"/>
            </a:solidFill>
          </a:ln>
        </p:spPr>
        <p:txBody>
          <a:bodyPr wrap="square" lIns="0" tIns="0" rIns="0" bIns="0" rtlCol="0"/>
          <a:lstStyle/>
          <a:p>
            <a:endParaRPr sz="2647"/>
          </a:p>
        </p:txBody>
      </p:sp>
      <p:sp>
        <p:nvSpPr>
          <p:cNvPr id="21" name="object 21"/>
          <p:cNvSpPr/>
          <p:nvPr/>
        </p:nvSpPr>
        <p:spPr>
          <a:xfrm>
            <a:off x="9003879" y="663936"/>
            <a:ext cx="6163" cy="34178"/>
          </a:xfrm>
          <a:custGeom>
            <a:avLst/>
            <a:gdLst/>
            <a:ahLst/>
            <a:cxnLst/>
            <a:rect l="l" t="t" r="r" b="b"/>
            <a:pathLst>
              <a:path w="6984" h="38734">
                <a:moveTo>
                  <a:pt x="0" y="38345"/>
                </a:moveTo>
                <a:lnTo>
                  <a:pt x="6404" y="0"/>
                </a:lnTo>
              </a:path>
            </a:pathLst>
          </a:custGeom>
          <a:ln w="12150">
            <a:solidFill>
              <a:srgbClr val="6D6E71"/>
            </a:solidFill>
          </a:ln>
        </p:spPr>
        <p:txBody>
          <a:bodyPr wrap="square" lIns="0" tIns="0" rIns="0" bIns="0" rtlCol="0"/>
          <a:lstStyle/>
          <a:p>
            <a:endParaRPr sz="2647"/>
          </a:p>
        </p:txBody>
      </p:sp>
      <p:sp>
        <p:nvSpPr>
          <p:cNvPr id="22" name="object 22"/>
          <p:cNvSpPr/>
          <p:nvPr/>
        </p:nvSpPr>
        <p:spPr>
          <a:xfrm>
            <a:off x="8540601" y="254040"/>
            <a:ext cx="468966" cy="532840"/>
          </a:xfrm>
          <a:custGeom>
            <a:avLst/>
            <a:gdLst/>
            <a:ahLst/>
            <a:cxnLst/>
            <a:rect l="l" t="t" r="r" b="b"/>
            <a:pathLst>
              <a:path w="531495" h="603885">
                <a:moveTo>
                  <a:pt x="531452" y="392402"/>
                </a:moveTo>
                <a:lnTo>
                  <a:pt x="472585" y="362950"/>
                </a:lnTo>
                <a:lnTo>
                  <a:pt x="459408" y="319186"/>
                </a:lnTo>
                <a:lnTo>
                  <a:pt x="498813" y="227357"/>
                </a:lnTo>
                <a:lnTo>
                  <a:pt x="529443" y="135504"/>
                </a:lnTo>
                <a:lnTo>
                  <a:pt x="531452" y="73210"/>
                </a:lnTo>
              </a:path>
              <a:path w="531495" h="603885">
                <a:moveTo>
                  <a:pt x="531452" y="0"/>
                </a:moveTo>
                <a:lnTo>
                  <a:pt x="350009" y="8659"/>
                </a:lnTo>
                <a:lnTo>
                  <a:pt x="376289" y="61171"/>
                </a:lnTo>
                <a:lnTo>
                  <a:pt x="236287" y="74268"/>
                </a:lnTo>
                <a:lnTo>
                  <a:pt x="249391" y="118008"/>
                </a:lnTo>
                <a:lnTo>
                  <a:pt x="262520" y="227357"/>
                </a:lnTo>
              </a:path>
              <a:path w="531495" h="603885">
                <a:moveTo>
                  <a:pt x="0" y="603494"/>
                </a:moveTo>
                <a:lnTo>
                  <a:pt x="131273" y="590396"/>
                </a:lnTo>
                <a:lnTo>
                  <a:pt x="275675" y="524787"/>
                </a:lnTo>
                <a:lnTo>
                  <a:pt x="319407" y="411015"/>
                </a:lnTo>
                <a:lnTo>
                  <a:pt x="358838" y="402316"/>
                </a:lnTo>
                <a:lnTo>
                  <a:pt x="433179" y="463527"/>
                </a:lnTo>
                <a:lnTo>
                  <a:pt x="450707" y="481047"/>
                </a:lnTo>
                <a:lnTo>
                  <a:pt x="525096" y="502893"/>
                </a:lnTo>
                <a:lnTo>
                  <a:pt x="531452" y="500703"/>
                </a:lnTo>
              </a:path>
            </a:pathLst>
          </a:custGeom>
          <a:ln w="12152">
            <a:solidFill>
              <a:srgbClr val="6D6E71"/>
            </a:solidFill>
          </a:ln>
        </p:spPr>
        <p:txBody>
          <a:bodyPr wrap="square" lIns="0" tIns="0" rIns="0" bIns="0" rtlCol="0"/>
          <a:lstStyle/>
          <a:p>
            <a:endParaRPr sz="2647"/>
          </a:p>
        </p:txBody>
      </p:sp>
      <p:sp>
        <p:nvSpPr>
          <p:cNvPr id="39" name="object 39"/>
          <p:cNvSpPr txBox="1"/>
          <p:nvPr/>
        </p:nvSpPr>
        <p:spPr>
          <a:xfrm>
            <a:off x="803157" y="2068152"/>
            <a:ext cx="6876410" cy="3798739"/>
          </a:xfrm>
          <a:prstGeom prst="rect">
            <a:avLst/>
          </a:prstGeom>
        </p:spPr>
        <p:txBody>
          <a:bodyPr vert="horz" wrap="square" lIns="0" tIns="117101" rIns="0" bIns="0" rtlCol="0">
            <a:spAutoFit/>
          </a:bodyPr>
          <a:lstStyle/>
          <a:p>
            <a:pPr marL="226931" indent="-215725">
              <a:lnSpc>
                <a:spcPct val="150000"/>
              </a:lnSpc>
              <a:spcBef>
                <a:spcPts val="922"/>
              </a:spcBef>
              <a:buFont typeface="Tahoma"/>
              <a:buChar char="‣"/>
              <a:tabLst>
                <a:tab pos="226931" algn="l"/>
              </a:tabLst>
            </a:pPr>
            <a:r>
              <a:rPr lang="en-US" sz="2800" b="1" i="1" spc="-9" dirty="0">
                <a:latin typeface="Calibri"/>
                <a:cs typeface="Calibri"/>
              </a:rPr>
              <a:t>Why study algorithms?</a:t>
            </a:r>
          </a:p>
          <a:p>
            <a:pPr marL="226931" indent="-215725">
              <a:lnSpc>
                <a:spcPct val="150000"/>
              </a:lnSpc>
              <a:spcBef>
                <a:spcPts val="922"/>
              </a:spcBef>
              <a:buFont typeface="Tahoma"/>
              <a:buChar char="‣"/>
              <a:tabLst>
                <a:tab pos="226931" algn="l"/>
              </a:tabLst>
            </a:pPr>
            <a:r>
              <a:rPr lang="en-US" altLang="zh-CN" sz="2800" b="1" i="1" spc="-9" dirty="0">
                <a:solidFill>
                  <a:srgbClr val="FF0000"/>
                </a:solidFill>
                <a:latin typeface="Calibri"/>
                <a:cs typeface="Calibri"/>
              </a:rPr>
              <a:t>Course overview</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1.1 Algorithm and program</a:t>
            </a:r>
          </a:p>
          <a:p>
            <a:pPr marL="226931" indent="-215725">
              <a:lnSpc>
                <a:spcPct val="150000"/>
              </a:lnSpc>
              <a:spcBef>
                <a:spcPts val="922"/>
              </a:spcBef>
              <a:buFont typeface="Tahoma"/>
              <a:buChar char="‣"/>
              <a:tabLst>
                <a:tab pos="226931" algn="l"/>
              </a:tabLst>
            </a:pPr>
            <a:r>
              <a:rPr lang="en-US" sz="2800" b="1" i="1" dirty="0">
                <a:latin typeface="Calibri"/>
                <a:cs typeface="Calibri"/>
              </a:rPr>
              <a:t>1.2 </a:t>
            </a:r>
            <a:r>
              <a:rPr lang="en-US" altLang="zh-CN" sz="2800" b="1" i="1" dirty="0">
                <a:latin typeface="Calibri"/>
                <a:cs typeface="Calibri"/>
              </a:rPr>
              <a:t>A</a:t>
            </a:r>
            <a:r>
              <a:rPr lang="en-US" sz="2800" b="1" i="1" dirty="0">
                <a:latin typeface="Calibri"/>
                <a:cs typeface="Calibri"/>
              </a:rPr>
              <a:t>lgorithm complexity analysis</a:t>
            </a:r>
            <a:endParaRPr sz="2800" b="1" dirty="0">
              <a:latin typeface="Calibri"/>
              <a:cs typeface="Calibri"/>
            </a:endParaRPr>
          </a:p>
          <a:p>
            <a:pPr marL="226931" indent="-215725">
              <a:lnSpc>
                <a:spcPct val="150000"/>
              </a:lnSpc>
              <a:spcBef>
                <a:spcPts val="838"/>
              </a:spcBef>
              <a:buFont typeface="Tahoma"/>
              <a:buChar char="‣"/>
              <a:tabLst>
                <a:tab pos="226931" algn="l"/>
              </a:tabLst>
            </a:pPr>
            <a:r>
              <a:rPr lang="en-US" sz="2800" b="1" i="1" dirty="0">
                <a:latin typeface="Calibri"/>
                <a:cs typeface="Calibri"/>
              </a:rPr>
              <a:t>1.3 NP hard </a:t>
            </a:r>
            <a:r>
              <a:rPr sz="2800" b="1" i="1" dirty="0">
                <a:latin typeface="Calibri"/>
                <a:cs typeface="Calibri"/>
              </a:rPr>
              <a:t>theory</a:t>
            </a:r>
            <a:r>
              <a:rPr sz="2800" b="1" i="1" spc="190" dirty="0">
                <a:latin typeface="Calibri"/>
                <a:cs typeface="Calibri"/>
              </a:rPr>
              <a:t> </a:t>
            </a:r>
            <a:r>
              <a:rPr sz="2800" b="1" i="1" dirty="0">
                <a:latin typeface="Calibri"/>
                <a:cs typeface="Calibri"/>
              </a:rPr>
              <a:t>of</a:t>
            </a:r>
            <a:r>
              <a:rPr sz="2800" b="1" i="1" spc="190" dirty="0">
                <a:latin typeface="Calibri"/>
                <a:cs typeface="Calibri"/>
              </a:rPr>
              <a:t> </a:t>
            </a:r>
            <a:r>
              <a:rPr sz="2800" b="1" i="1" spc="-9" dirty="0">
                <a:latin typeface="Calibri"/>
                <a:cs typeface="Calibri"/>
              </a:rPr>
              <a:t>algorithms</a:t>
            </a:r>
            <a:endParaRPr sz="2800" b="1" dirty="0">
              <a:latin typeface="Calibri"/>
              <a:cs typeface="Calibri"/>
            </a:endParaRPr>
          </a:p>
        </p:txBody>
      </p:sp>
      <p:sp>
        <p:nvSpPr>
          <p:cNvPr id="41" name="标题 40"/>
          <p:cNvSpPr>
            <a:spLocks noGrp="1"/>
          </p:cNvSpPr>
          <p:nvPr>
            <p:ph type="title"/>
          </p:nvPr>
        </p:nvSpPr>
        <p:spPr>
          <a:xfrm>
            <a:off x="420599" y="866694"/>
            <a:ext cx="8229600" cy="1139825"/>
          </a:xfrm>
        </p:spPr>
        <p:txBody>
          <a:bodyPr/>
          <a:lstStyle/>
          <a:p>
            <a:r>
              <a:rPr lang="en-US" altLang="zh-CN" sz="4400" b="1" spc="176" dirty="0">
                <a:latin typeface="微软雅黑" panose="020B0503020204020204" pitchFamily="34" charset="-122"/>
                <a:ea typeface="微软雅黑" panose="020B0503020204020204" pitchFamily="34" charset="-122"/>
                <a:cs typeface="Calibri"/>
              </a:rPr>
              <a:t>1</a:t>
            </a:r>
            <a:r>
              <a:rPr lang="zh-CN" altLang="en-US" sz="4400" b="1" spc="176" dirty="0">
                <a:latin typeface="微软雅黑" panose="020B0503020204020204" pitchFamily="34" charset="-122"/>
                <a:ea typeface="微软雅黑" panose="020B0503020204020204" pitchFamily="34" charset="-122"/>
                <a:cs typeface="Calibri"/>
              </a:rPr>
              <a:t>、 算法概述</a:t>
            </a:r>
            <a:r>
              <a:rPr lang="zh-CN" altLang="en-US" sz="4400" dirty="0">
                <a:latin typeface="微软雅黑" panose="020B0503020204020204" pitchFamily="34" charset="-122"/>
                <a:ea typeface="微软雅黑" panose="020B0503020204020204" pitchFamily="34" charset="-122"/>
                <a:cs typeface="Century Gothic"/>
              </a:rPr>
              <a:t/>
            </a:r>
            <a:br>
              <a:rPr lang="zh-CN" altLang="en-US" sz="4400" dirty="0">
                <a:latin typeface="微软雅黑" panose="020B0503020204020204" pitchFamily="34" charset="-122"/>
                <a:ea typeface="微软雅黑" panose="020B0503020204020204" pitchFamily="34" charset="-122"/>
                <a:cs typeface="Century Gothic"/>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0811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08F35F62-B337-E8D7-C516-ED3DD6689AD4}"/>
              </a:ext>
            </a:extLst>
          </p:cNvPr>
          <p:cNvSpPr>
            <a:spLocks noGrp="1" noChangeArrowheads="1"/>
          </p:cNvSpPr>
          <p:nvPr>
            <p:ph type="title"/>
            <p:custDataLst>
              <p:tags r:id="rId2"/>
            </p:custDataLst>
          </p:nvPr>
        </p:nvSpPr>
        <p:spPr/>
        <p:txBody>
          <a:bodyPr/>
          <a:lstStyle/>
          <a:p>
            <a:r>
              <a:rPr lang="zh-CN" altLang="en-US">
                <a:latin typeface="微软雅黑" panose="020B0503020204020204" pitchFamily="34" charset="-122"/>
                <a:ea typeface="微软雅黑" panose="020B0503020204020204" pitchFamily="34" charset="-122"/>
              </a:rPr>
              <a:t>课程目标</a:t>
            </a:r>
            <a:endParaRPr lang="zh-CN" altLang="zh-CN">
              <a:latin typeface="微软雅黑" panose="020B0503020204020204" pitchFamily="34" charset="-122"/>
              <a:ea typeface="微软雅黑" panose="020B0503020204020204" pitchFamily="34" charset="-122"/>
            </a:endParaRPr>
          </a:p>
        </p:txBody>
      </p:sp>
      <p:sp>
        <p:nvSpPr>
          <p:cNvPr id="6147" name="Content Placeholder 4">
            <a:extLst>
              <a:ext uri="{FF2B5EF4-FFF2-40B4-BE49-F238E27FC236}">
                <a16:creationId xmlns:a16="http://schemas.microsoft.com/office/drawing/2014/main" id="{A1BE2FE9-7A01-840E-F006-64B3CB434260}"/>
              </a:ext>
            </a:extLst>
          </p:cNvPr>
          <p:cNvSpPr>
            <a:spLocks noGrp="1"/>
          </p:cNvSpPr>
          <p:nvPr>
            <p:ph idx="1"/>
            <p:custDataLst>
              <p:tags r:id="rId3"/>
            </p:custDataLst>
          </p:nvPr>
        </p:nvSpPr>
        <p:spPr>
          <a:xfrm>
            <a:off x="487771" y="1268760"/>
            <a:ext cx="8229600" cy="4530725"/>
          </a:xfrm>
        </p:spPr>
        <p:txBody>
          <a:bodyPr/>
          <a:lstStyle/>
          <a:p>
            <a:pPr>
              <a:lnSpc>
                <a:spcPct val="200000"/>
              </a:lnSpc>
              <a:defRPr/>
            </a:pPr>
            <a:r>
              <a:rPr lang="zh-CN" altLang="zh-CN" dirty="0">
                <a:latin typeface="微软雅黑" panose="020B0503020204020204" pitchFamily="34" charset="-122"/>
                <a:ea typeface="微软雅黑" panose="020B0503020204020204" pitchFamily="34" charset="-122"/>
              </a:rPr>
              <a:t>了解计算机应用中的各种常用算法</a:t>
            </a:r>
            <a:endParaRPr lang="en-US" altLang="zh-CN" dirty="0">
              <a:latin typeface="微软雅黑" panose="020B0503020204020204" pitchFamily="34" charset="-122"/>
              <a:ea typeface="微软雅黑" panose="020B0503020204020204" pitchFamily="34" charset="-122"/>
            </a:endParaRPr>
          </a:p>
          <a:p>
            <a:pPr>
              <a:lnSpc>
                <a:spcPct val="200000"/>
              </a:lnSpc>
              <a:defRPr/>
            </a:pPr>
            <a:r>
              <a:rPr lang="zh-CN" altLang="zh-CN" dirty="0">
                <a:latin typeface="微软雅黑" panose="020B0503020204020204" pitchFamily="34" charset="-122"/>
                <a:ea typeface="微软雅黑" panose="020B0503020204020204" pitchFamily="34" charset="-122"/>
              </a:rPr>
              <a:t>掌握设计各种算法的基本原理、方法和技巧</a:t>
            </a:r>
            <a:endParaRPr lang="en-US" altLang="zh-CN" dirty="0">
              <a:latin typeface="微软雅黑" panose="020B0503020204020204" pitchFamily="34" charset="-122"/>
              <a:ea typeface="微软雅黑" panose="020B0503020204020204" pitchFamily="34" charset="-122"/>
            </a:endParaRPr>
          </a:p>
          <a:p>
            <a:pPr>
              <a:lnSpc>
                <a:spcPct val="200000"/>
              </a:lnSpc>
              <a:defRPr/>
            </a:pPr>
            <a:r>
              <a:rPr lang="zh-CN" altLang="zh-CN" dirty="0">
                <a:latin typeface="微软雅黑" panose="020B0503020204020204" pitchFamily="34" charset="-122"/>
                <a:ea typeface="微软雅黑" panose="020B0503020204020204" pitchFamily="34" charset="-122"/>
              </a:rPr>
              <a:t>能运用所学到的知识熟练地分析各种算法，并能指出解决同一问题的各种算法的好坏。</a:t>
            </a:r>
          </a:p>
        </p:txBody>
      </p:sp>
      <p:sp>
        <p:nvSpPr>
          <p:cNvPr id="2" name="矩形 1"/>
          <p:cNvSpPr/>
          <p:nvPr/>
        </p:nvSpPr>
        <p:spPr>
          <a:xfrm>
            <a:off x="3203848" y="5589240"/>
            <a:ext cx="4758031" cy="55399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algn="r"/>
            <a:r>
              <a:rPr lang="en-US" altLang="zh-CN" b="1" dirty="0">
                <a:solidFill>
                  <a:schemeClr val="tx1"/>
                </a:solidFill>
                <a:latin typeface="微软雅黑" panose="020B0503020204020204" pitchFamily="34" charset="-122"/>
                <a:ea typeface="微软雅黑" panose="020B0503020204020204" pitchFamily="34" charset="-122"/>
              </a:rPr>
              <a:t> </a:t>
            </a:r>
            <a:r>
              <a:rPr lang="zh-CN" altLang="en-US" b="1" dirty="0">
                <a:solidFill>
                  <a:schemeClr val="tx1"/>
                </a:solidFill>
                <a:latin typeface="微软雅黑" panose="020B0503020204020204" pitchFamily="34" charset="-122"/>
                <a:ea typeface="微软雅黑" panose="020B0503020204020204" pitchFamily="34" charset="-122"/>
              </a:rPr>
              <a:t>算法好坏的标准是什么？</a:t>
            </a:r>
          </a:p>
        </p:txBody>
      </p:sp>
    </p:spTree>
    <p:custDataLst>
      <p:tags r:id="rId1"/>
    </p:custDataLst>
    <p:extLst>
      <p:ext uri="{BB962C8B-B14F-4D97-AF65-F5344CB8AC3E}">
        <p14:creationId xmlns:p14="http://schemas.microsoft.com/office/powerpoint/2010/main" val="297784783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7FD7F80F-C921-B190-DCBE-EAB66A9745C3}"/>
              </a:ext>
            </a:extLst>
          </p:cNvPr>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教材</a:t>
            </a:r>
          </a:p>
        </p:txBody>
      </p:sp>
      <p:sp>
        <p:nvSpPr>
          <p:cNvPr id="9219" name="内容占位符 2">
            <a:extLst>
              <a:ext uri="{FF2B5EF4-FFF2-40B4-BE49-F238E27FC236}">
                <a16:creationId xmlns:a16="http://schemas.microsoft.com/office/drawing/2014/main" id="{2F8444D5-1DCA-4F19-186C-D4971E70BFEB}"/>
              </a:ext>
            </a:extLst>
          </p:cNvPr>
          <p:cNvSpPr>
            <a:spLocks noGrp="1" noChangeArrowheads="1"/>
          </p:cNvSpPr>
          <p:nvPr>
            <p:ph idx="1"/>
          </p:nvPr>
        </p:nvSpPr>
        <p:spPr>
          <a:xfrm>
            <a:off x="455613" y="1471613"/>
            <a:ext cx="8229600" cy="4530725"/>
          </a:xfrm>
        </p:spPr>
        <p:txBody>
          <a:bodyPr/>
          <a:lstStyle/>
          <a:p>
            <a:r>
              <a:rPr lang="zh-CN" altLang="en-US" dirty="0">
                <a:latin typeface="微软雅黑" panose="020B0503020204020204" pitchFamily="34" charset="-122"/>
                <a:ea typeface="微软雅黑" panose="020B0503020204020204" pitchFamily="34" charset="-122"/>
              </a:rPr>
              <a:t>王晓东，</a:t>
            </a:r>
            <a:r>
              <a:rPr lang="zh-CN" altLang="en-US" b="1" dirty="0">
                <a:latin typeface="微软雅黑" panose="020B0503020204020204" pitchFamily="34" charset="-122"/>
                <a:ea typeface="微软雅黑" panose="020B0503020204020204" pitchFamily="34" charset="-122"/>
              </a:rPr>
              <a:t>计算机算法设计与分析（第</a:t>
            </a: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版）</a:t>
            </a: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，电子工业出版社，</a:t>
            </a:r>
            <a:r>
              <a:rPr lang="en-US" altLang="zh-CN" dirty="0">
                <a:latin typeface="微软雅黑" panose="020B0503020204020204" pitchFamily="34" charset="-122"/>
                <a:ea typeface="微软雅黑" panose="020B0503020204020204" pitchFamily="34" charset="-122"/>
              </a:rPr>
              <a:t>2018</a:t>
            </a:r>
          </a:p>
        </p:txBody>
      </p:sp>
      <p:pic>
        <p:nvPicPr>
          <p:cNvPr id="9220" name="图片 1">
            <a:extLst>
              <a:ext uri="{FF2B5EF4-FFF2-40B4-BE49-F238E27FC236}">
                <a16:creationId xmlns:a16="http://schemas.microsoft.com/office/drawing/2014/main" id="{910B65D3-C3BD-781E-2C2F-B57CAB3F38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636912"/>
            <a:ext cx="2278063"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2626157"/>
            <a:ext cx="2266950"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37965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60863816-2505-E9AE-6D7B-3A743EB6AE78}"/>
              </a:ext>
            </a:extLst>
          </p:cNvPr>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参考教材</a:t>
            </a:r>
          </a:p>
        </p:txBody>
      </p:sp>
      <p:sp>
        <p:nvSpPr>
          <p:cNvPr id="10243" name="内容占位符 2">
            <a:extLst>
              <a:ext uri="{FF2B5EF4-FFF2-40B4-BE49-F238E27FC236}">
                <a16:creationId xmlns:a16="http://schemas.microsoft.com/office/drawing/2014/main" id="{CE9DD0F9-AC74-9AC4-4AC8-B771DCF5E140}"/>
              </a:ext>
            </a:extLst>
          </p:cNvPr>
          <p:cNvSpPr>
            <a:spLocks noGrp="1" noChangeArrowheads="1"/>
          </p:cNvSpPr>
          <p:nvPr>
            <p:ph idx="1"/>
          </p:nvPr>
        </p:nvSpPr>
        <p:spPr>
          <a:xfrm>
            <a:off x="455613" y="1268413"/>
            <a:ext cx="8229600" cy="4530725"/>
          </a:xfrm>
        </p:spPr>
        <p:txBody>
          <a:bodyPr/>
          <a:lstStyle/>
          <a:p>
            <a:r>
              <a:rPr lang="en-US" altLang="zh-CN" sz="2500" dirty="0"/>
              <a:t>Thomas H. </a:t>
            </a:r>
            <a:r>
              <a:rPr lang="en-US" altLang="zh-CN" sz="2500" dirty="0" err="1"/>
              <a:t>Cormen,Charles</a:t>
            </a:r>
            <a:r>
              <a:rPr lang="en-US" altLang="zh-CN" sz="2500" dirty="0"/>
              <a:t> E. </a:t>
            </a:r>
            <a:r>
              <a:rPr lang="en-US" altLang="zh-CN" sz="2500" dirty="0" err="1"/>
              <a:t>Leiserson</a:t>
            </a:r>
            <a:r>
              <a:rPr lang="en-US" altLang="zh-CN" sz="2500" dirty="0"/>
              <a:t>, Ronald L. </a:t>
            </a:r>
            <a:r>
              <a:rPr lang="en-US" altLang="zh-CN" sz="2500" dirty="0" err="1"/>
              <a:t>Rivest</a:t>
            </a:r>
            <a:r>
              <a:rPr lang="en-US" altLang="zh-CN" sz="2500" dirty="0"/>
              <a:t>, Clifford Stein</a:t>
            </a:r>
            <a:r>
              <a:rPr lang="zh-CN" altLang="en-US" sz="2500" dirty="0"/>
              <a:t>，</a:t>
            </a:r>
            <a:r>
              <a:rPr lang="en-US" altLang="zh-CN" sz="2500" dirty="0"/>
              <a:t>Introduction to Algorithms</a:t>
            </a:r>
            <a:r>
              <a:rPr lang="zh-CN" altLang="en-US" sz="2500" dirty="0"/>
              <a:t>，</a:t>
            </a:r>
            <a:r>
              <a:rPr lang="en-US" altLang="zh-CN" sz="2500" dirty="0"/>
              <a:t>Third Edition</a:t>
            </a:r>
            <a:r>
              <a:rPr lang="zh-CN" altLang="en-US" sz="2500" dirty="0"/>
              <a:t>，</a:t>
            </a:r>
            <a:r>
              <a:rPr lang="en-US" altLang="zh-CN" sz="2500" dirty="0"/>
              <a:t>The MIT Press </a:t>
            </a:r>
            <a:endParaRPr lang="zh-CN" altLang="en-US" sz="2500" dirty="0"/>
          </a:p>
        </p:txBody>
      </p:sp>
      <p:sp>
        <p:nvSpPr>
          <p:cNvPr id="10244" name="灯片编号占位符 3">
            <a:extLst>
              <a:ext uri="{FF2B5EF4-FFF2-40B4-BE49-F238E27FC236}">
                <a16:creationId xmlns:a16="http://schemas.microsoft.com/office/drawing/2014/main" id="{37C2F7B8-C42E-7E2C-0B67-A674950A4E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0C24ECAF-52E5-40F9-94D1-00E93CFC8C15}" type="slidenum">
              <a:rPr lang="en-US" altLang="zh-CN" sz="1200">
                <a:solidFill>
                  <a:schemeClr val="tx1"/>
                </a:solidFill>
                <a:latin typeface="Garamond" pitchFamily="18" charset="0"/>
                <a:ea typeface="宋体" panose="02010600030101010101" pitchFamily="2" charset="-122"/>
              </a:rPr>
              <a:pPr/>
              <a:t>14</a:t>
            </a:fld>
            <a:endParaRPr lang="en-US" altLang="zh-CN" sz="1200">
              <a:solidFill>
                <a:schemeClr val="tx1"/>
              </a:solidFill>
              <a:latin typeface="Garamond" pitchFamily="18" charset="0"/>
              <a:ea typeface="宋体" panose="02010600030101010101" pitchFamily="2" charset="-122"/>
            </a:endParaRPr>
          </a:p>
        </p:txBody>
      </p:sp>
      <p:pic>
        <p:nvPicPr>
          <p:cNvPr id="10245" name="图片 4">
            <a:extLst>
              <a:ext uri="{FF2B5EF4-FFF2-40B4-BE49-F238E27FC236}">
                <a16:creationId xmlns:a16="http://schemas.microsoft.com/office/drawing/2014/main" id="{7DF5FEC9-9D99-EB90-CF40-E52C529E330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53396" y="2830761"/>
            <a:ext cx="24955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图片 1">
            <a:extLst>
              <a:ext uri="{FF2B5EF4-FFF2-40B4-BE49-F238E27FC236}">
                <a16:creationId xmlns:a16="http://schemas.microsoft.com/office/drawing/2014/main" id="{6436DC38-6211-9832-D6A9-6AB9E1D05F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846388"/>
            <a:ext cx="2620963"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4"/>
          <a:stretch>
            <a:fillRect/>
          </a:stretch>
        </p:blipFill>
        <p:spPr>
          <a:xfrm>
            <a:off x="6135503" y="2836863"/>
            <a:ext cx="2573746" cy="3228776"/>
          </a:xfrm>
          <a:prstGeom prst="rect">
            <a:avLst/>
          </a:prstGeom>
        </p:spPr>
      </p:pic>
      <p:sp>
        <p:nvSpPr>
          <p:cNvPr id="8" name="矩形 7"/>
          <p:cNvSpPr/>
          <p:nvPr/>
        </p:nvSpPr>
        <p:spPr>
          <a:xfrm>
            <a:off x="3652702" y="6318612"/>
            <a:ext cx="4392488" cy="400110"/>
          </a:xfrm>
          <a:prstGeom prst="rect">
            <a:avLst/>
          </a:prstGeom>
        </p:spPr>
        <p:txBody>
          <a:bodyPr wrap="square">
            <a:spAutoFit/>
          </a:bodyPr>
          <a:lstStyle/>
          <a:p>
            <a:r>
              <a:rPr lang="zh-CN" altLang="en-US" sz="2000" dirty="0"/>
              <a:t>https://algs4.cs.princeton.edu/home/</a:t>
            </a:r>
          </a:p>
        </p:txBody>
      </p:sp>
    </p:spTree>
    <p:extLst>
      <p:ext uri="{BB962C8B-B14F-4D97-AF65-F5344CB8AC3E}">
        <p14:creationId xmlns:p14="http://schemas.microsoft.com/office/powerpoint/2010/main" val="1212255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952" y="343855"/>
            <a:ext cx="7886700" cy="1325563"/>
          </a:xfrm>
        </p:spPr>
        <p:txBody>
          <a:bodyPr/>
          <a:lstStyle/>
          <a:p>
            <a:r>
              <a:rPr lang="zh-CN" altLang="en-US" dirty="0">
                <a:latin typeface="微软雅黑" panose="020B0503020204020204" pitchFamily="34" charset="-122"/>
                <a:ea typeface="微软雅黑" panose="020B0503020204020204" pitchFamily="34" charset="-122"/>
              </a:rPr>
              <a:t>课程知识图谱</a:t>
            </a:r>
            <a:endParaRPr lang="en-US" dirty="0">
              <a:latin typeface="微软雅黑" panose="020B0503020204020204" pitchFamily="34" charset="-122"/>
              <a:ea typeface="微软雅黑" panose="020B0503020204020204" pitchFamily="34" charset="-122"/>
            </a:endParaRPr>
          </a:p>
        </p:txBody>
      </p:sp>
      <p:sp>
        <p:nvSpPr>
          <p:cNvPr id="39" name="圆角矩形 38">
            <a:extLst>
              <a:ext uri="{FF2B5EF4-FFF2-40B4-BE49-F238E27FC236}">
                <a16:creationId xmlns:a16="http://schemas.microsoft.com/office/drawing/2014/main" id="{7205D6D9-F488-A94D-9A7A-CC9AD5B5E300}"/>
              </a:ext>
            </a:extLst>
          </p:cNvPr>
          <p:cNvSpPr/>
          <p:nvPr/>
        </p:nvSpPr>
        <p:spPr>
          <a:xfrm>
            <a:off x="663057" y="1340768"/>
            <a:ext cx="8085407" cy="551974"/>
          </a:xfrm>
          <a:prstGeom prst="roundRect">
            <a:avLst/>
          </a:prstGeom>
          <a:ln>
            <a:gradFill>
              <a:gsLst>
                <a:gs pos="53000">
                  <a:srgbClr val="C779D0"/>
                </a:gs>
                <a:gs pos="0">
                  <a:srgbClr val="FEA958"/>
                </a:gs>
                <a:gs pos="100000">
                  <a:srgbClr val="4BC0C8"/>
                </a:gs>
              </a:gsLst>
              <a:lin ang="0" scaled="0"/>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algn="ctr" defTabSz="685800" eaLnBrk="1" fontAlgn="auto" hangingPunct="1">
              <a:spcBef>
                <a:spcPts val="0"/>
              </a:spcBef>
              <a:spcAft>
                <a:spcPts val="0"/>
              </a:spcAft>
            </a:pPr>
            <a:endParaRPr lang="zh-CN" altLang="en-US" sz="1800" b="1">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sym typeface="+mn-ea"/>
            </a:endParaRPr>
          </a:p>
        </p:txBody>
      </p:sp>
      <p:sp>
        <p:nvSpPr>
          <p:cNvPr id="42" name="文本框 41">
            <a:extLst>
              <a:ext uri="{FF2B5EF4-FFF2-40B4-BE49-F238E27FC236}">
                <a16:creationId xmlns:a16="http://schemas.microsoft.com/office/drawing/2014/main" id="{5D99095C-EBC8-F4CE-A6B0-D7BFAAB1EE23}"/>
              </a:ext>
            </a:extLst>
          </p:cNvPr>
          <p:cNvSpPr txBox="1"/>
          <p:nvPr>
            <p:custDataLst>
              <p:tags r:id="rId1"/>
            </p:custDataLst>
          </p:nvPr>
        </p:nvSpPr>
        <p:spPr>
          <a:xfrm>
            <a:off x="1809302" y="1439848"/>
            <a:ext cx="1698839"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算法概述</a:t>
            </a:r>
            <a:endParaRPr lang="en-US" altLang="zh-CN"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endParaRPr>
          </a:p>
        </p:txBody>
      </p:sp>
      <p:sp>
        <p:nvSpPr>
          <p:cNvPr id="43" name="文本框 42">
            <a:extLst>
              <a:ext uri="{FF2B5EF4-FFF2-40B4-BE49-F238E27FC236}">
                <a16:creationId xmlns:a16="http://schemas.microsoft.com/office/drawing/2014/main" id="{C66AC1DD-9A1C-409E-9A17-B8CD6B25033B}"/>
              </a:ext>
            </a:extLst>
          </p:cNvPr>
          <p:cNvSpPr txBox="1"/>
          <p:nvPr>
            <p:custDataLst>
              <p:tags r:id="rId2"/>
            </p:custDataLst>
          </p:nvPr>
        </p:nvSpPr>
        <p:spPr>
          <a:xfrm>
            <a:off x="846981" y="1478881"/>
            <a:ext cx="1071027"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44" name="文本框 43">
            <a:extLst>
              <a:ext uri="{FF2B5EF4-FFF2-40B4-BE49-F238E27FC236}">
                <a16:creationId xmlns:a16="http://schemas.microsoft.com/office/drawing/2014/main" id="{6146046C-1E1F-6D90-C455-AE1E155C1F33}"/>
              </a:ext>
            </a:extLst>
          </p:cNvPr>
          <p:cNvSpPr txBox="1"/>
          <p:nvPr>
            <p:custDataLst>
              <p:tags r:id="rId3"/>
            </p:custDataLst>
          </p:nvPr>
        </p:nvSpPr>
        <p:spPr>
          <a:xfrm>
            <a:off x="3370925" y="1420539"/>
            <a:ext cx="221676" cy="369332"/>
          </a:xfrm>
          <a:prstGeom prst="rect">
            <a:avLst/>
          </a:prstGeom>
          <a:noFill/>
        </p:spPr>
        <p:txBody>
          <a:bodyPr wrap="square" rtlCol="0">
            <a:spAutoFit/>
          </a:bodyPr>
          <a:lstStyle/>
          <a:p>
            <a:pPr defTabSz="685800" eaLnBrk="1" fontAlgn="auto" hangingPunct="1">
              <a:spcBef>
                <a:spcPts val="0"/>
              </a:spcBef>
              <a:spcAft>
                <a:spcPts val="0"/>
              </a:spcAft>
            </a:pPr>
            <a:r>
              <a:rPr lang="en-US" altLang="zh-CN" sz="1800" dirty="0">
                <a:solidFill>
                  <a:srgbClr val="FFC000">
                    <a:lumMod val="60000"/>
                    <a:lumOff val="40000"/>
                  </a:srgbClr>
                </a:solidFill>
                <a:latin typeface="微软雅黑" panose="020B0503020204020204" pitchFamily="34" charset="-122"/>
                <a:ea typeface="微软雅黑" panose="020B0503020204020204" pitchFamily="34" charset="-122"/>
                <a:sym typeface="+mn-ea"/>
              </a:rPr>
              <a:t>|</a:t>
            </a:r>
          </a:p>
        </p:txBody>
      </p:sp>
      <p:sp>
        <p:nvSpPr>
          <p:cNvPr id="52" name="文本框 51">
            <a:extLst>
              <a:ext uri="{FF2B5EF4-FFF2-40B4-BE49-F238E27FC236}">
                <a16:creationId xmlns:a16="http://schemas.microsoft.com/office/drawing/2014/main" id="{C6CB07E1-9619-0FA8-2210-ED57E838A355}"/>
              </a:ext>
            </a:extLst>
          </p:cNvPr>
          <p:cNvSpPr txBox="1"/>
          <p:nvPr/>
        </p:nvSpPr>
        <p:spPr>
          <a:xfrm>
            <a:off x="4153071" y="1382319"/>
            <a:ext cx="4040440" cy="355759"/>
          </a:xfrm>
          <a:prstGeom prst="rect">
            <a:avLst/>
          </a:prstGeom>
          <a:noFill/>
        </p:spPr>
        <p:txBody>
          <a:bodyPr wrap="square" rtlCol="0">
            <a:noAutofit/>
          </a:bodyPr>
          <a:lstStyle/>
          <a:p>
            <a:pPr defTabSz="685800" eaLnBrk="1" fontAlgn="auto" hangingPunct="1">
              <a:lnSpc>
                <a:spcPct val="150000"/>
              </a:lnSpc>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算法设计、算法复杂性分析</a:t>
            </a:r>
          </a:p>
        </p:txBody>
      </p:sp>
      <p:sp>
        <p:nvSpPr>
          <p:cNvPr id="53" name="圆角矩形 3">
            <a:extLst>
              <a:ext uri="{FF2B5EF4-FFF2-40B4-BE49-F238E27FC236}">
                <a16:creationId xmlns:a16="http://schemas.microsoft.com/office/drawing/2014/main" id="{A7863E63-CFD6-7418-8E98-B5221F4BCC34}"/>
              </a:ext>
            </a:extLst>
          </p:cNvPr>
          <p:cNvSpPr/>
          <p:nvPr/>
        </p:nvSpPr>
        <p:spPr>
          <a:xfrm>
            <a:off x="492834" y="2158491"/>
            <a:ext cx="8085406" cy="2947927"/>
          </a:xfrm>
          <a:prstGeom prst="roundRect">
            <a:avLst/>
          </a:prstGeom>
          <a:ln>
            <a:gradFill>
              <a:gsLst>
                <a:gs pos="0">
                  <a:srgbClr val="70E1F5"/>
                </a:gs>
                <a:gs pos="97000">
                  <a:srgbClr val="FFD194"/>
                </a:gs>
              </a:gsLst>
              <a:lin ang="10800000" scaled="0"/>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algn="ctr" defTabSz="685800" eaLnBrk="1" fontAlgn="auto" hangingPunct="1">
              <a:spcBef>
                <a:spcPts val="0"/>
              </a:spcBef>
              <a:spcAft>
                <a:spcPts val="0"/>
              </a:spcAft>
            </a:pPr>
            <a:endParaRPr lang="zh-CN" altLang="en-US" sz="1800" b="1">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sym typeface="+mn-ea"/>
            </a:endParaRPr>
          </a:p>
        </p:txBody>
      </p:sp>
      <p:sp>
        <p:nvSpPr>
          <p:cNvPr id="54" name="圆角矩形 3">
            <a:extLst>
              <a:ext uri="{FF2B5EF4-FFF2-40B4-BE49-F238E27FC236}">
                <a16:creationId xmlns:a16="http://schemas.microsoft.com/office/drawing/2014/main" id="{0290ED9A-5157-5C7C-5825-D386A8E73399}"/>
              </a:ext>
            </a:extLst>
          </p:cNvPr>
          <p:cNvSpPr/>
          <p:nvPr/>
        </p:nvSpPr>
        <p:spPr>
          <a:xfrm>
            <a:off x="841275" y="2279287"/>
            <a:ext cx="2866629" cy="2615510"/>
          </a:xfrm>
          <a:prstGeom prst="roundRect">
            <a:avLst/>
          </a:prstGeom>
          <a:ln>
            <a:gradFill>
              <a:gsLst>
                <a:gs pos="0">
                  <a:srgbClr val="70E1F5"/>
                </a:gs>
                <a:gs pos="97000">
                  <a:srgbClr val="FFD194"/>
                </a:gs>
              </a:gsLst>
              <a:lin ang="0" scaled="0"/>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algn="ctr" defTabSz="685800" eaLnBrk="1" fontAlgn="auto" hangingPunct="1">
              <a:spcBef>
                <a:spcPts val="0"/>
              </a:spcBef>
              <a:spcAft>
                <a:spcPts val="0"/>
              </a:spcAft>
            </a:pPr>
            <a:endParaRPr lang="zh-CN" altLang="en-US" sz="1800" b="1">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sym typeface="+mn-ea"/>
            </a:endParaRPr>
          </a:p>
        </p:txBody>
      </p:sp>
      <p:sp>
        <p:nvSpPr>
          <p:cNvPr id="55" name="圆角矩形 3">
            <a:extLst>
              <a:ext uri="{FF2B5EF4-FFF2-40B4-BE49-F238E27FC236}">
                <a16:creationId xmlns:a16="http://schemas.microsoft.com/office/drawing/2014/main" id="{89445978-A618-9DC8-B260-9066C1C68052}"/>
              </a:ext>
            </a:extLst>
          </p:cNvPr>
          <p:cNvSpPr/>
          <p:nvPr/>
        </p:nvSpPr>
        <p:spPr>
          <a:xfrm>
            <a:off x="4083888" y="2281747"/>
            <a:ext cx="1972506" cy="2641064"/>
          </a:xfrm>
          <a:prstGeom prst="roundRect">
            <a:avLst/>
          </a:prstGeom>
          <a:ln>
            <a:gradFill>
              <a:gsLst>
                <a:gs pos="0">
                  <a:srgbClr val="70E1F5"/>
                </a:gs>
                <a:gs pos="97000">
                  <a:srgbClr val="FFD194"/>
                </a:gs>
              </a:gsLst>
              <a:lin ang="0" scaled="0"/>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algn="ctr" defTabSz="685800" eaLnBrk="1" fontAlgn="auto" hangingPunct="1">
              <a:spcBef>
                <a:spcPts val="0"/>
              </a:spcBef>
              <a:spcAft>
                <a:spcPts val="0"/>
              </a:spcAft>
            </a:pPr>
            <a:endParaRPr lang="zh-CN" altLang="en-US" sz="1800" b="1">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sym typeface="+mn-ea"/>
            </a:endParaRPr>
          </a:p>
        </p:txBody>
      </p:sp>
      <p:sp>
        <p:nvSpPr>
          <p:cNvPr id="56" name="文本框 55">
            <a:extLst>
              <a:ext uri="{FF2B5EF4-FFF2-40B4-BE49-F238E27FC236}">
                <a16:creationId xmlns:a16="http://schemas.microsoft.com/office/drawing/2014/main" id="{88CFE964-2D21-163A-DD7E-23DE86BE9D1E}"/>
              </a:ext>
            </a:extLst>
          </p:cNvPr>
          <p:cNvSpPr txBox="1"/>
          <p:nvPr>
            <p:custDataLst>
              <p:tags r:id="rId4"/>
            </p:custDataLst>
          </p:nvPr>
        </p:nvSpPr>
        <p:spPr>
          <a:xfrm>
            <a:off x="1540261" y="2379607"/>
            <a:ext cx="1830663"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算法设计策略</a:t>
            </a:r>
          </a:p>
        </p:txBody>
      </p:sp>
      <p:sp>
        <p:nvSpPr>
          <p:cNvPr id="57" name="文本框 56">
            <a:extLst>
              <a:ext uri="{FF2B5EF4-FFF2-40B4-BE49-F238E27FC236}">
                <a16:creationId xmlns:a16="http://schemas.microsoft.com/office/drawing/2014/main" id="{5C3628DE-60AC-52BC-2555-6480B1FC248A}"/>
              </a:ext>
            </a:extLst>
          </p:cNvPr>
          <p:cNvSpPr txBox="1"/>
          <p:nvPr>
            <p:custDataLst>
              <p:tags r:id="rId5"/>
            </p:custDataLst>
          </p:nvPr>
        </p:nvSpPr>
        <p:spPr>
          <a:xfrm>
            <a:off x="4370658" y="2403698"/>
            <a:ext cx="1216245"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经典问题</a:t>
            </a:r>
          </a:p>
        </p:txBody>
      </p:sp>
      <p:pic>
        <p:nvPicPr>
          <p:cNvPr id="58" name="图片 57">
            <a:extLst>
              <a:ext uri="{FF2B5EF4-FFF2-40B4-BE49-F238E27FC236}">
                <a16:creationId xmlns:a16="http://schemas.microsoft.com/office/drawing/2014/main" id="{AD2C8A98-6AA5-58E3-FDEB-1825341F0F9B}"/>
              </a:ext>
            </a:extLst>
          </p:cNvPr>
          <p:cNvPicPr>
            <a:picLocks noChangeAspect="1"/>
          </p:cNvPicPr>
          <p:nvPr/>
        </p:nvPicPr>
        <p:blipFill>
          <a:blip r:embed="rId25">
            <a:clrChange>
              <a:clrFrom>
                <a:srgbClr val="FEFEFE">
                  <a:alpha val="100000"/>
                </a:srgbClr>
              </a:clrFrom>
              <a:clrTo>
                <a:srgbClr val="FEFEFE">
                  <a:alpha val="100000"/>
                  <a:alpha val="0"/>
                </a:srgbClr>
              </a:clrTo>
            </a:clrChange>
          </a:blip>
          <a:stretch>
            <a:fillRect/>
          </a:stretch>
        </p:blipFill>
        <p:spPr>
          <a:xfrm rot="5400000">
            <a:off x="3190185" y="1996082"/>
            <a:ext cx="400050" cy="368141"/>
          </a:xfrm>
          <a:prstGeom prst="rect">
            <a:avLst/>
          </a:prstGeom>
        </p:spPr>
      </p:pic>
      <p:pic>
        <p:nvPicPr>
          <p:cNvPr id="59" name="图片 58">
            <a:extLst>
              <a:ext uri="{FF2B5EF4-FFF2-40B4-BE49-F238E27FC236}">
                <a16:creationId xmlns:a16="http://schemas.microsoft.com/office/drawing/2014/main" id="{E94A58C8-3419-7545-4464-FE6BAFDC15DE}"/>
              </a:ext>
            </a:extLst>
          </p:cNvPr>
          <p:cNvPicPr>
            <a:picLocks noChangeAspect="1"/>
          </p:cNvPicPr>
          <p:nvPr/>
        </p:nvPicPr>
        <p:blipFill>
          <a:blip r:embed="rId25">
            <a:clrChange>
              <a:clrFrom>
                <a:srgbClr val="FEFEFE">
                  <a:alpha val="100000"/>
                </a:srgbClr>
              </a:clrFrom>
              <a:clrTo>
                <a:srgbClr val="FEFEFE">
                  <a:alpha val="100000"/>
                  <a:alpha val="0"/>
                </a:srgbClr>
              </a:clrTo>
            </a:clrChange>
          </a:blip>
          <a:stretch>
            <a:fillRect/>
          </a:stretch>
        </p:blipFill>
        <p:spPr>
          <a:xfrm rot="5400000">
            <a:off x="6157337" y="1901944"/>
            <a:ext cx="400050" cy="368141"/>
          </a:xfrm>
          <a:prstGeom prst="rect">
            <a:avLst/>
          </a:prstGeom>
        </p:spPr>
      </p:pic>
      <p:sp>
        <p:nvSpPr>
          <p:cNvPr id="60" name="文本框 59">
            <a:extLst>
              <a:ext uri="{FF2B5EF4-FFF2-40B4-BE49-F238E27FC236}">
                <a16:creationId xmlns:a16="http://schemas.microsoft.com/office/drawing/2014/main" id="{93ED8394-6CE6-B1E1-C77E-E4D70C39B047}"/>
              </a:ext>
            </a:extLst>
          </p:cNvPr>
          <p:cNvSpPr txBox="1"/>
          <p:nvPr>
            <p:custDataLst>
              <p:tags r:id="rId6"/>
            </p:custDataLst>
          </p:nvPr>
        </p:nvSpPr>
        <p:spPr>
          <a:xfrm>
            <a:off x="4255323" y="2766728"/>
            <a:ext cx="1562857" cy="369332"/>
          </a:xfrm>
          <a:prstGeom prst="rect">
            <a:avLst/>
          </a:prstGeom>
          <a:noFill/>
        </p:spPr>
        <p:txBody>
          <a:bodyPr wrap="square" rtlCol="0">
            <a:spAutoFit/>
          </a:bodyPr>
          <a:lstStyle>
            <a:defPPr>
              <a:defRPr lang="en-US"/>
            </a:defPPr>
            <a:lvl1pPr defTabSz="685800" eaLnBrk="1" fontAlgn="auto" hangingPunct="1">
              <a:spcBef>
                <a:spcPts val="0"/>
              </a:spcBef>
              <a:spcAft>
                <a:spcPts val="0"/>
              </a:spcAft>
              <a:defRPr sz="1500">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defRPr>
            </a:lvl1pPr>
          </a:lstStyle>
          <a:p>
            <a:r>
              <a:rPr lang="zh-CN" altLang="en-US" sz="1800" b="1" dirty="0">
                <a:ln w="6600">
                  <a:solidFill>
                    <a:schemeClr val="accent2"/>
                  </a:solidFill>
                  <a:prstDash val="solid"/>
                </a:ln>
                <a:solidFill>
                  <a:srgbClr val="FFFFFF"/>
                </a:solidFill>
                <a:effectLst>
                  <a:outerShdw dist="38100" dir="2700000" algn="tl" rotWithShape="0">
                    <a:schemeClr val="accent2"/>
                  </a:outerShdw>
                </a:effectLst>
                <a:sym typeface="+mn-ea"/>
              </a:rPr>
              <a:t>排序与查找</a:t>
            </a:r>
          </a:p>
        </p:txBody>
      </p:sp>
      <p:sp>
        <p:nvSpPr>
          <p:cNvPr id="61" name="圆角矩形 3">
            <a:extLst>
              <a:ext uri="{FF2B5EF4-FFF2-40B4-BE49-F238E27FC236}">
                <a16:creationId xmlns:a16="http://schemas.microsoft.com/office/drawing/2014/main" id="{EC097727-A6A0-A5F6-01E0-63846F14590E}"/>
              </a:ext>
            </a:extLst>
          </p:cNvPr>
          <p:cNvSpPr/>
          <p:nvPr/>
        </p:nvSpPr>
        <p:spPr>
          <a:xfrm>
            <a:off x="492834" y="5381519"/>
            <a:ext cx="8076860" cy="585043"/>
          </a:xfrm>
          <a:prstGeom prst="roundRect">
            <a:avLst/>
          </a:prstGeom>
          <a:ln>
            <a:gradFill>
              <a:gsLst>
                <a:gs pos="53000">
                  <a:srgbClr val="C779D0"/>
                </a:gs>
                <a:gs pos="0">
                  <a:srgbClr val="FEA958"/>
                </a:gs>
                <a:gs pos="100000">
                  <a:srgbClr val="4BC0C8"/>
                </a:gs>
              </a:gsLst>
              <a:lin ang="0" scaled="0"/>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algn="ctr" defTabSz="685800" eaLnBrk="1" fontAlgn="auto" hangingPunct="1">
              <a:spcBef>
                <a:spcPts val="0"/>
              </a:spcBef>
              <a:spcAft>
                <a:spcPts val="0"/>
              </a:spcAft>
            </a:pPr>
            <a:endParaRPr lang="zh-CN" altLang="en-US" sz="1800" b="1">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sym typeface="+mn-ea"/>
            </a:endParaRPr>
          </a:p>
        </p:txBody>
      </p:sp>
      <p:sp>
        <p:nvSpPr>
          <p:cNvPr id="62" name="文本框 61">
            <a:extLst>
              <a:ext uri="{FF2B5EF4-FFF2-40B4-BE49-F238E27FC236}">
                <a16:creationId xmlns:a16="http://schemas.microsoft.com/office/drawing/2014/main" id="{AFB4A400-5E05-A8DB-7991-112CD9DC8CAC}"/>
              </a:ext>
            </a:extLst>
          </p:cNvPr>
          <p:cNvSpPr txBox="1"/>
          <p:nvPr>
            <p:custDataLst>
              <p:tags r:id="rId7"/>
            </p:custDataLst>
          </p:nvPr>
        </p:nvSpPr>
        <p:spPr>
          <a:xfrm>
            <a:off x="1303752" y="5493358"/>
            <a:ext cx="2067173"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线性规划与网络流</a:t>
            </a:r>
            <a:endParaRPr lang="en-US" altLang="zh-CN"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endParaRPr>
          </a:p>
        </p:txBody>
      </p:sp>
      <p:sp>
        <p:nvSpPr>
          <p:cNvPr id="63" name="文本框 62">
            <a:extLst>
              <a:ext uri="{FF2B5EF4-FFF2-40B4-BE49-F238E27FC236}">
                <a16:creationId xmlns:a16="http://schemas.microsoft.com/office/drawing/2014/main" id="{D6F3A590-1F08-F430-3F5D-D2D408EB782E}"/>
              </a:ext>
            </a:extLst>
          </p:cNvPr>
          <p:cNvSpPr txBox="1"/>
          <p:nvPr>
            <p:custDataLst>
              <p:tags r:id="rId8"/>
            </p:custDataLst>
          </p:nvPr>
        </p:nvSpPr>
        <p:spPr>
          <a:xfrm>
            <a:off x="588103" y="5493358"/>
            <a:ext cx="833040"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64" name="文本框 63">
            <a:extLst>
              <a:ext uri="{FF2B5EF4-FFF2-40B4-BE49-F238E27FC236}">
                <a16:creationId xmlns:a16="http://schemas.microsoft.com/office/drawing/2014/main" id="{BCB64A55-0858-97F0-54B5-F3D8095488A5}"/>
              </a:ext>
            </a:extLst>
          </p:cNvPr>
          <p:cNvSpPr txBox="1"/>
          <p:nvPr/>
        </p:nvSpPr>
        <p:spPr>
          <a:xfrm>
            <a:off x="3657407" y="5433656"/>
            <a:ext cx="7811857" cy="507831"/>
          </a:xfrm>
          <a:prstGeom prst="rect">
            <a:avLst/>
          </a:prstGeom>
          <a:noFill/>
        </p:spPr>
        <p:txBody>
          <a:bodyPr wrap="square" rtlCol="0">
            <a:spAutoFit/>
          </a:bodyPr>
          <a:lstStyle/>
          <a:p>
            <a:pPr defTabSz="685800" eaLnBrk="1" fontAlgn="auto" hangingPunct="1">
              <a:lnSpc>
                <a:spcPct val="150000"/>
              </a:lnSpc>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线性规划问题   单纯形算法  最大网络流问题</a:t>
            </a:r>
          </a:p>
        </p:txBody>
      </p:sp>
      <p:sp>
        <p:nvSpPr>
          <p:cNvPr id="65" name="文本框 64">
            <a:extLst>
              <a:ext uri="{FF2B5EF4-FFF2-40B4-BE49-F238E27FC236}">
                <a16:creationId xmlns:a16="http://schemas.microsoft.com/office/drawing/2014/main" id="{C18DB566-63BC-5D26-18EF-2F18DA83A7F6}"/>
              </a:ext>
            </a:extLst>
          </p:cNvPr>
          <p:cNvSpPr txBox="1"/>
          <p:nvPr>
            <p:custDataLst>
              <p:tags r:id="rId9"/>
            </p:custDataLst>
          </p:nvPr>
        </p:nvSpPr>
        <p:spPr>
          <a:xfrm>
            <a:off x="3299344" y="5437862"/>
            <a:ext cx="221676" cy="369332"/>
          </a:xfrm>
          <a:prstGeom prst="rect">
            <a:avLst/>
          </a:prstGeom>
          <a:noFill/>
        </p:spPr>
        <p:txBody>
          <a:bodyPr wrap="square" rtlCol="0">
            <a:spAutoFit/>
          </a:bodyPr>
          <a:lstStyle/>
          <a:p>
            <a:pPr defTabSz="685800" eaLnBrk="1" fontAlgn="auto" hangingPunct="1">
              <a:spcBef>
                <a:spcPts val="0"/>
              </a:spcBef>
              <a:spcAft>
                <a:spcPts val="0"/>
              </a:spcAft>
            </a:pPr>
            <a:r>
              <a:rPr lang="en-US" altLang="zh-CN" sz="1800" dirty="0">
                <a:solidFill>
                  <a:srgbClr val="FFC000">
                    <a:lumMod val="60000"/>
                    <a:lumOff val="40000"/>
                  </a:srgbClr>
                </a:solidFill>
                <a:latin typeface="微软雅黑" panose="020B0503020204020204" pitchFamily="34" charset="-122"/>
                <a:ea typeface="微软雅黑" panose="020B0503020204020204" pitchFamily="34" charset="-122"/>
                <a:sym typeface="+mn-ea"/>
              </a:rPr>
              <a:t>|</a:t>
            </a:r>
          </a:p>
        </p:txBody>
      </p:sp>
      <p:sp>
        <p:nvSpPr>
          <p:cNvPr id="66" name="矩形 65"/>
          <p:cNvSpPr/>
          <p:nvPr/>
        </p:nvSpPr>
        <p:spPr>
          <a:xfrm>
            <a:off x="1809302" y="2883619"/>
            <a:ext cx="4572000" cy="369332"/>
          </a:xfrm>
          <a:prstGeom prst="rect">
            <a:avLst/>
          </a:prstGeom>
        </p:spPr>
        <p:txBody>
          <a:bodyPr>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递归与分治策略</a:t>
            </a:r>
          </a:p>
        </p:txBody>
      </p:sp>
      <p:sp>
        <p:nvSpPr>
          <p:cNvPr id="67" name="文本框 66">
            <a:extLst>
              <a:ext uri="{FF2B5EF4-FFF2-40B4-BE49-F238E27FC236}">
                <a16:creationId xmlns:a16="http://schemas.microsoft.com/office/drawing/2014/main" id="{88CFE964-2D21-163A-DD7E-23DE86BE9D1E}"/>
              </a:ext>
            </a:extLst>
          </p:cNvPr>
          <p:cNvSpPr txBox="1"/>
          <p:nvPr>
            <p:custDataLst>
              <p:tags r:id="rId10"/>
            </p:custDataLst>
          </p:nvPr>
        </p:nvSpPr>
        <p:spPr>
          <a:xfrm>
            <a:off x="950092" y="3311923"/>
            <a:ext cx="832554"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68" name="矩形 67"/>
          <p:cNvSpPr/>
          <p:nvPr/>
        </p:nvSpPr>
        <p:spPr>
          <a:xfrm>
            <a:off x="1809302" y="3301019"/>
            <a:ext cx="1342105" cy="369332"/>
          </a:xfrm>
          <a:prstGeom prst="rect">
            <a:avLst/>
          </a:prstGeom>
        </p:spPr>
        <p:txBody>
          <a:bodyPr wrap="square">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动态规划</a:t>
            </a:r>
          </a:p>
        </p:txBody>
      </p:sp>
      <p:sp>
        <p:nvSpPr>
          <p:cNvPr id="69" name="文本框 68">
            <a:extLst>
              <a:ext uri="{FF2B5EF4-FFF2-40B4-BE49-F238E27FC236}">
                <a16:creationId xmlns:a16="http://schemas.microsoft.com/office/drawing/2014/main" id="{93ED8394-6CE6-B1E1-C77E-E4D70C39B047}"/>
              </a:ext>
            </a:extLst>
          </p:cNvPr>
          <p:cNvSpPr txBox="1"/>
          <p:nvPr>
            <p:custDataLst>
              <p:tags r:id="rId11"/>
            </p:custDataLst>
          </p:nvPr>
        </p:nvSpPr>
        <p:spPr>
          <a:xfrm>
            <a:off x="4242747" y="3510221"/>
            <a:ext cx="1583258" cy="369332"/>
          </a:xfrm>
          <a:prstGeom prst="rect">
            <a:avLst/>
          </a:prstGeom>
          <a:noFill/>
        </p:spPr>
        <p:txBody>
          <a:bodyPr wrap="square" rtlCol="0">
            <a:spAutoFit/>
          </a:bodyPr>
          <a:lstStyle>
            <a:defPPr>
              <a:defRPr lang="en-US"/>
            </a:defPPr>
            <a:lvl1pPr defTabSz="685800" eaLnBrk="1" fontAlgn="auto" hangingPunct="1">
              <a:spcBef>
                <a:spcPts val="0"/>
              </a:spcBef>
              <a:spcAft>
                <a:spcPts val="0"/>
              </a:spcAft>
              <a:defRPr sz="1500">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defRPr>
            </a:lvl1pPr>
          </a:lstStyle>
          <a:p>
            <a:r>
              <a:rPr lang="zh-CN" altLang="en-US" sz="1800" b="1" dirty="0">
                <a:ln w="6600">
                  <a:solidFill>
                    <a:schemeClr val="accent2"/>
                  </a:solidFill>
                  <a:prstDash val="solid"/>
                </a:ln>
                <a:solidFill>
                  <a:srgbClr val="FFFFFF"/>
                </a:solidFill>
                <a:effectLst>
                  <a:outerShdw dist="38100" dir="2700000" algn="tl" rotWithShape="0">
                    <a:schemeClr val="accent2"/>
                  </a:outerShdw>
                </a:effectLst>
                <a:sym typeface="+mn-ea"/>
              </a:rPr>
              <a:t>背包与装载</a:t>
            </a:r>
          </a:p>
        </p:txBody>
      </p:sp>
      <p:sp>
        <p:nvSpPr>
          <p:cNvPr id="70" name="文本框 69">
            <a:extLst>
              <a:ext uri="{FF2B5EF4-FFF2-40B4-BE49-F238E27FC236}">
                <a16:creationId xmlns:a16="http://schemas.microsoft.com/office/drawing/2014/main" id="{93ED8394-6CE6-B1E1-C77E-E4D70C39B047}"/>
              </a:ext>
            </a:extLst>
          </p:cNvPr>
          <p:cNvSpPr txBox="1"/>
          <p:nvPr>
            <p:custDataLst>
              <p:tags r:id="rId12"/>
            </p:custDataLst>
          </p:nvPr>
        </p:nvSpPr>
        <p:spPr>
          <a:xfrm>
            <a:off x="4242747" y="3826340"/>
            <a:ext cx="1841840" cy="369332"/>
          </a:xfrm>
          <a:prstGeom prst="rect">
            <a:avLst/>
          </a:prstGeom>
          <a:noFill/>
        </p:spPr>
        <p:txBody>
          <a:bodyPr wrap="square" rtlCol="0">
            <a:spAutoFit/>
          </a:bodyPr>
          <a:lstStyle>
            <a:defPPr>
              <a:defRPr lang="en-US"/>
            </a:defPPr>
            <a:lvl1pPr defTabSz="685800" eaLnBrk="1" fontAlgn="auto" hangingPunct="1">
              <a:spcBef>
                <a:spcPts val="0"/>
              </a:spcBef>
              <a:spcAft>
                <a:spcPts val="0"/>
              </a:spcAft>
              <a:defRPr sz="1500">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defRPr>
            </a:lvl1pPr>
          </a:lstStyle>
          <a:p>
            <a:r>
              <a:rPr lang="zh-CN" altLang="en-US" sz="1800" b="1" dirty="0">
                <a:ln w="6600">
                  <a:solidFill>
                    <a:schemeClr val="accent2"/>
                  </a:solidFill>
                  <a:prstDash val="solid"/>
                </a:ln>
                <a:solidFill>
                  <a:srgbClr val="FFFFFF"/>
                </a:solidFill>
                <a:effectLst>
                  <a:outerShdw dist="38100" dir="2700000" algn="tl" rotWithShape="0">
                    <a:schemeClr val="accent2"/>
                  </a:outerShdw>
                </a:effectLst>
                <a:sym typeface="+mn-ea"/>
              </a:rPr>
              <a:t>日程安排与调度</a:t>
            </a:r>
          </a:p>
        </p:txBody>
      </p:sp>
      <p:sp>
        <p:nvSpPr>
          <p:cNvPr id="71" name="文本框 70">
            <a:extLst>
              <a:ext uri="{FF2B5EF4-FFF2-40B4-BE49-F238E27FC236}">
                <a16:creationId xmlns:a16="http://schemas.microsoft.com/office/drawing/2014/main" id="{93ED8394-6CE6-B1E1-C77E-E4D70C39B047}"/>
              </a:ext>
            </a:extLst>
          </p:cNvPr>
          <p:cNvSpPr txBox="1"/>
          <p:nvPr>
            <p:custDataLst>
              <p:tags r:id="rId13"/>
            </p:custDataLst>
          </p:nvPr>
        </p:nvSpPr>
        <p:spPr>
          <a:xfrm>
            <a:off x="4242747" y="4205639"/>
            <a:ext cx="1626785" cy="369332"/>
          </a:xfrm>
          <a:prstGeom prst="rect">
            <a:avLst/>
          </a:prstGeom>
          <a:noFill/>
        </p:spPr>
        <p:txBody>
          <a:bodyPr wrap="square" rtlCol="0">
            <a:spAutoFit/>
          </a:bodyPr>
          <a:lstStyle>
            <a:defPPr>
              <a:defRPr lang="en-US"/>
            </a:defPPr>
            <a:lvl1pPr defTabSz="685800" eaLnBrk="1" fontAlgn="auto" hangingPunct="1">
              <a:spcBef>
                <a:spcPts val="0"/>
              </a:spcBef>
              <a:spcAft>
                <a:spcPts val="0"/>
              </a:spcAft>
              <a:defRPr sz="1500">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defRPr>
            </a:lvl1pPr>
          </a:lstStyle>
          <a:p>
            <a:r>
              <a:rPr lang="zh-CN" altLang="en-US" sz="1800" b="1" dirty="0">
                <a:ln w="6600">
                  <a:solidFill>
                    <a:schemeClr val="accent2"/>
                  </a:solidFill>
                  <a:prstDash val="solid"/>
                </a:ln>
                <a:solidFill>
                  <a:srgbClr val="FFFFFF"/>
                </a:solidFill>
                <a:effectLst>
                  <a:outerShdw dist="38100" dir="2700000" algn="tl" rotWithShape="0">
                    <a:schemeClr val="accent2"/>
                  </a:outerShdw>
                </a:effectLst>
                <a:sym typeface="+mn-ea"/>
              </a:rPr>
              <a:t>搜索问题</a:t>
            </a:r>
          </a:p>
        </p:txBody>
      </p:sp>
      <p:sp>
        <p:nvSpPr>
          <p:cNvPr id="72" name="圆角矩形 3">
            <a:extLst>
              <a:ext uri="{FF2B5EF4-FFF2-40B4-BE49-F238E27FC236}">
                <a16:creationId xmlns:a16="http://schemas.microsoft.com/office/drawing/2014/main" id="{89445978-A618-9DC8-B260-9066C1C68052}"/>
              </a:ext>
            </a:extLst>
          </p:cNvPr>
          <p:cNvSpPr/>
          <p:nvPr/>
        </p:nvSpPr>
        <p:spPr>
          <a:xfrm>
            <a:off x="6647709" y="2310849"/>
            <a:ext cx="1747943" cy="2540056"/>
          </a:xfrm>
          <a:prstGeom prst="roundRect">
            <a:avLst/>
          </a:prstGeom>
          <a:ln>
            <a:gradFill>
              <a:gsLst>
                <a:gs pos="0">
                  <a:srgbClr val="70E1F5"/>
                </a:gs>
                <a:gs pos="97000">
                  <a:srgbClr val="FFD194"/>
                </a:gs>
              </a:gsLst>
              <a:lin ang="0" scaled="0"/>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algn="ctr" defTabSz="685800" eaLnBrk="1" fontAlgn="auto" hangingPunct="1">
              <a:spcBef>
                <a:spcPts val="0"/>
              </a:spcBef>
              <a:spcAft>
                <a:spcPts val="0"/>
              </a:spcAft>
            </a:pPr>
            <a:endParaRPr lang="zh-CN" altLang="en-US" sz="1800" b="1">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sym typeface="+mn-ea"/>
            </a:endParaRPr>
          </a:p>
        </p:txBody>
      </p:sp>
      <p:sp>
        <p:nvSpPr>
          <p:cNvPr id="73" name="文本框 72">
            <a:extLst>
              <a:ext uri="{FF2B5EF4-FFF2-40B4-BE49-F238E27FC236}">
                <a16:creationId xmlns:a16="http://schemas.microsoft.com/office/drawing/2014/main" id="{88CFE964-2D21-163A-DD7E-23DE86BE9D1E}"/>
              </a:ext>
            </a:extLst>
          </p:cNvPr>
          <p:cNvSpPr txBox="1"/>
          <p:nvPr>
            <p:custDataLst>
              <p:tags r:id="rId14"/>
            </p:custDataLst>
          </p:nvPr>
        </p:nvSpPr>
        <p:spPr>
          <a:xfrm>
            <a:off x="950092" y="2904301"/>
            <a:ext cx="832554"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74" name="文本框 73">
            <a:extLst>
              <a:ext uri="{FF2B5EF4-FFF2-40B4-BE49-F238E27FC236}">
                <a16:creationId xmlns:a16="http://schemas.microsoft.com/office/drawing/2014/main" id="{88CFE964-2D21-163A-DD7E-23DE86BE9D1E}"/>
              </a:ext>
            </a:extLst>
          </p:cNvPr>
          <p:cNvSpPr txBox="1"/>
          <p:nvPr>
            <p:custDataLst>
              <p:tags r:id="rId15"/>
            </p:custDataLst>
          </p:nvPr>
        </p:nvSpPr>
        <p:spPr>
          <a:xfrm>
            <a:off x="950092" y="3693349"/>
            <a:ext cx="832554"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75" name="矩形 74"/>
          <p:cNvSpPr/>
          <p:nvPr/>
        </p:nvSpPr>
        <p:spPr>
          <a:xfrm>
            <a:off x="1809302" y="3682445"/>
            <a:ext cx="1342105" cy="369332"/>
          </a:xfrm>
          <a:prstGeom prst="rect">
            <a:avLst/>
          </a:prstGeom>
        </p:spPr>
        <p:txBody>
          <a:bodyPr wrap="square">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贪心算法</a:t>
            </a:r>
          </a:p>
        </p:txBody>
      </p:sp>
      <p:sp>
        <p:nvSpPr>
          <p:cNvPr id="76" name="文本框 75">
            <a:extLst>
              <a:ext uri="{FF2B5EF4-FFF2-40B4-BE49-F238E27FC236}">
                <a16:creationId xmlns:a16="http://schemas.microsoft.com/office/drawing/2014/main" id="{88CFE964-2D21-163A-DD7E-23DE86BE9D1E}"/>
              </a:ext>
            </a:extLst>
          </p:cNvPr>
          <p:cNvSpPr txBox="1"/>
          <p:nvPr>
            <p:custDataLst>
              <p:tags r:id="rId16"/>
            </p:custDataLst>
          </p:nvPr>
        </p:nvSpPr>
        <p:spPr>
          <a:xfrm>
            <a:off x="950092" y="4042631"/>
            <a:ext cx="832554"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77" name="矩形 76"/>
          <p:cNvSpPr/>
          <p:nvPr/>
        </p:nvSpPr>
        <p:spPr>
          <a:xfrm>
            <a:off x="1809302" y="4031727"/>
            <a:ext cx="1342105" cy="369332"/>
          </a:xfrm>
          <a:prstGeom prst="rect">
            <a:avLst/>
          </a:prstGeom>
        </p:spPr>
        <p:txBody>
          <a:bodyPr wrap="square">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回溯法</a:t>
            </a:r>
          </a:p>
        </p:txBody>
      </p:sp>
      <p:sp>
        <p:nvSpPr>
          <p:cNvPr id="78" name="文本框 77">
            <a:extLst>
              <a:ext uri="{FF2B5EF4-FFF2-40B4-BE49-F238E27FC236}">
                <a16:creationId xmlns:a16="http://schemas.microsoft.com/office/drawing/2014/main" id="{88CFE964-2D21-163A-DD7E-23DE86BE9D1E}"/>
              </a:ext>
            </a:extLst>
          </p:cNvPr>
          <p:cNvSpPr txBox="1"/>
          <p:nvPr>
            <p:custDataLst>
              <p:tags r:id="rId17"/>
            </p:custDataLst>
          </p:nvPr>
        </p:nvSpPr>
        <p:spPr>
          <a:xfrm>
            <a:off x="950092" y="4362243"/>
            <a:ext cx="832554"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章</a:t>
            </a:r>
          </a:p>
        </p:txBody>
      </p:sp>
      <p:sp>
        <p:nvSpPr>
          <p:cNvPr id="79" name="矩形 78"/>
          <p:cNvSpPr/>
          <p:nvPr/>
        </p:nvSpPr>
        <p:spPr>
          <a:xfrm>
            <a:off x="1809302" y="4351339"/>
            <a:ext cx="1342105" cy="369332"/>
          </a:xfrm>
          <a:prstGeom prst="rect">
            <a:avLst/>
          </a:prstGeom>
        </p:spPr>
        <p:txBody>
          <a:bodyPr wrap="square">
            <a:spAutoFit/>
          </a:bodyPr>
          <a:lstStyle/>
          <a:p>
            <a:pPr defTabSz="685800" eaLnBrk="1" fontAlgn="auto" hangingPunct="1">
              <a:spcBef>
                <a:spcPts val="0"/>
              </a:spcBef>
              <a:spcAft>
                <a:spcPts val="0"/>
              </a:spcAft>
            </a:pPr>
            <a:r>
              <a:rPr lang="zh-CN" altLang="en-US" sz="1800"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sym typeface="+mn-ea"/>
              </a:rPr>
              <a:t>分支限界法</a:t>
            </a:r>
          </a:p>
        </p:txBody>
      </p:sp>
      <p:sp>
        <p:nvSpPr>
          <p:cNvPr id="80" name="文本框 79">
            <a:extLst>
              <a:ext uri="{FF2B5EF4-FFF2-40B4-BE49-F238E27FC236}">
                <a16:creationId xmlns:a16="http://schemas.microsoft.com/office/drawing/2014/main" id="{93ED8394-6CE6-B1E1-C77E-E4D70C39B047}"/>
              </a:ext>
            </a:extLst>
          </p:cNvPr>
          <p:cNvSpPr txBox="1"/>
          <p:nvPr>
            <p:custDataLst>
              <p:tags r:id="rId18"/>
            </p:custDataLst>
          </p:nvPr>
        </p:nvSpPr>
        <p:spPr>
          <a:xfrm>
            <a:off x="4242747" y="3130122"/>
            <a:ext cx="1258643" cy="369332"/>
          </a:xfrm>
          <a:prstGeom prst="rect">
            <a:avLst/>
          </a:prstGeom>
          <a:noFill/>
        </p:spPr>
        <p:txBody>
          <a:bodyPr wrap="square" rtlCol="0">
            <a:spAutoFit/>
          </a:bodyPr>
          <a:lstStyle>
            <a:defPPr>
              <a:defRPr lang="en-US"/>
            </a:defPPr>
            <a:lvl1pPr defTabSz="685800" eaLnBrk="1" fontAlgn="auto" hangingPunct="1">
              <a:spcBef>
                <a:spcPts val="0"/>
              </a:spcBef>
              <a:spcAft>
                <a:spcPts val="0"/>
              </a:spcAft>
              <a:defRPr sz="1500">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defRPr>
            </a:lvl1pPr>
          </a:lstStyle>
          <a:p>
            <a:r>
              <a:rPr lang="zh-CN" altLang="en-US" sz="1800" b="1" dirty="0">
                <a:ln w="6600">
                  <a:solidFill>
                    <a:schemeClr val="accent2"/>
                  </a:solidFill>
                  <a:prstDash val="solid"/>
                </a:ln>
                <a:solidFill>
                  <a:srgbClr val="FFFFFF"/>
                </a:solidFill>
                <a:effectLst>
                  <a:outerShdw dist="38100" dir="2700000" algn="tl" rotWithShape="0">
                    <a:schemeClr val="accent2"/>
                  </a:outerShdw>
                </a:effectLst>
                <a:sym typeface="+mn-ea"/>
              </a:rPr>
              <a:t>矩阵运算</a:t>
            </a:r>
          </a:p>
        </p:txBody>
      </p:sp>
      <p:sp>
        <p:nvSpPr>
          <p:cNvPr id="81" name="文本框 80">
            <a:extLst>
              <a:ext uri="{FF2B5EF4-FFF2-40B4-BE49-F238E27FC236}">
                <a16:creationId xmlns:a16="http://schemas.microsoft.com/office/drawing/2014/main" id="{5C3628DE-60AC-52BC-2555-6480B1FC248A}"/>
              </a:ext>
            </a:extLst>
          </p:cNvPr>
          <p:cNvSpPr txBox="1"/>
          <p:nvPr>
            <p:custDataLst>
              <p:tags r:id="rId19"/>
            </p:custDataLst>
          </p:nvPr>
        </p:nvSpPr>
        <p:spPr>
          <a:xfrm>
            <a:off x="6884836" y="2405527"/>
            <a:ext cx="1215555" cy="369332"/>
          </a:xfrm>
          <a:prstGeom prst="rect">
            <a:avLst/>
          </a:prstGeom>
          <a:noFill/>
        </p:spPr>
        <p:txBody>
          <a:bodyPr wrap="square" rtlCol="0">
            <a:spAutoFit/>
          </a:bodyPr>
          <a:lstStyle/>
          <a:p>
            <a:pPr defTabSz="685800" eaLnBrk="1" fontAlgn="auto" hangingPunct="1">
              <a:spcBef>
                <a:spcPts val="0"/>
              </a:spcBef>
              <a:spcAft>
                <a:spcPts val="0"/>
              </a:spcAft>
            </a:pPr>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算法分析</a:t>
            </a:r>
          </a:p>
        </p:txBody>
      </p:sp>
      <p:sp>
        <p:nvSpPr>
          <p:cNvPr id="82" name="文本框 81">
            <a:extLst>
              <a:ext uri="{FF2B5EF4-FFF2-40B4-BE49-F238E27FC236}">
                <a16:creationId xmlns:a16="http://schemas.microsoft.com/office/drawing/2014/main" id="{93ED8394-6CE6-B1E1-C77E-E4D70C39B047}"/>
              </a:ext>
            </a:extLst>
          </p:cNvPr>
          <p:cNvSpPr txBox="1"/>
          <p:nvPr>
            <p:custDataLst>
              <p:tags r:id="rId20"/>
            </p:custDataLst>
          </p:nvPr>
        </p:nvSpPr>
        <p:spPr>
          <a:xfrm>
            <a:off x="4242747" y="4518737"/>
            <a:ext cx="1626785" cy="369332"/>
          </a:xfrm>
          <a:prstGeom prst="rect">
            <a:avLst/>
          </a:prstGeom>
          <a:noFill/>
        </p:spPr>
        <p:txBody>
          <a:bodyPr wrap="square" rtlCol="0">
            <a:spAutoFit/>
          </a:bodyPr>
          <a:lstStyle>
            <a:defPPr>
              <a:defRPr lang="en-US"/>
            </a:defPPr>
            <a:lvl1pPr defTabSz="685800" eaLnBrk="1" fontAlgn="auto" hangingPunct="1">
              <a:spcBef>
                <a:spcPts val="0"/>
              </a:spcBef>
              <a:spcAft>
                <a:spcPts val="0"/>
              </a:spcAft>
              <a:defRPr sz="1500">
                <a:gradFill>
                  <a:gsLst>
                    <a:gs pos="53000">
                      <a:srgbClr val="C779D0"/>
                    </a:gs>
                    <a:gs pos="0">
                      <a:srgbClr val="FEA958"/>
                    </a:gs>
                    <a:gs pos="100000">
                      <a:srgbClr val="4BC0C8"/>
                    </a:gs>
                  </a:gsLst>
                  <a:lin ang="0" scaled="1"/>
                  <a:tileRect/>
                </a:gradFill>
                <a:latin typeface="微软雅黑" panose="020B0503020204020204" pitchFamily="34" charset="-122"/>
                <a:ea typeface="微软雅黑" panose="020B0503020204020204" pitchFamily="34" charset="-122"/>
              </a:defRPr>
            </a:lvl1pPr>
          </a:lstStyle>
          <a:p>
            <a:r>
              <a:rPr lang="zh-CN" altLang="en-US" sz="1800" b="1" dirty="0">
                <a:ln w="6600">
                  <a:solidFill>
                    <a:schemeClr val="accent2"/>
                  </a:solidFill>
                  <a:prstDash val="solid"/>
                </a:ln>
                <a:solidFill>
                  <a:srgbClr val="FFFFFF"/>
                </a:solidFill>
                <a:effectLst>
                  <a:outerShdw dist="38100" dir="2700000" algn="tl" rotWithShape="0">
                    <a:schemeClr val="accent2"/>
                  </a:outerShdw>
                </a:effectLst>
                <a:sym typeface="+mn-ea"/>
              </a:rPr>
              <a:t>最短路径</a:t>
            </a:r>
          </a:p>
        </p:txBody>
      </p:sp>
      <p:sp>
        <p:nvSpPr>
          <p:cNvPr id="83" name="矩形 82"/>
          <p:cNvSpPr/>
          <p:nvPr/>
        </p:nvSpPr>
        <p:spPr>
          <a:xfrm>
            <a:off x="6767297" y="3091008"/>
            <a:ext cx="1527982" cy="1477328"/>
          </a:xfrm>
          <a:prstGeom prst="rect">
            <a:avLst/>
          </a:prstGeom>
        </p:spPr>
        <p:txBody>
          <a:bodyPr wrap="none">
            <a:spAutoFit/>
          </a:bodyPr>
          <a:lstStyle/>
          <a:p>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正确性证明</a:t>
            </a:r>
            <a:endPar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时间复杂度</a:t>
            </a:r>
            <a:r>
              <a:rPr lang="en-US" altLang="zh-CN" sz="1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O</a:t>
            </a:r>
          </a:p>
          <a:p>
            <a:endParaRPr lang="en-US" altLang="zh-CN" sz="1800" b="1" dirty="0">
              <a:solidFill>
                <a:prstClr val="black"/>
              </a:solidFill>
              <a:latin typeface="微软雅黑" panose="020B0503020204020204" pitchFamily="34" charset="-122"/>
              <a:ea typeface="微软雅黑" panose="020B0503020204020204" pitchFamily="34" charset="-122"/>
            </a:endParaRPr>
          </a:p>
          <a:p>
            <a:r>
              <a:rPr lang="zh-CN" altLang="en-US" sz="1800" b="1" dirty="0">
                <a:solidFill>
                  <a:prstClr val="black"/>
                </a:solidFill>
                <a:latin typeface="微软雅黑" panose="020B0503020204020204" pitchFamily="34" charset="-122"/>
                <a:ea typeface="微软雅黑" panose="020B0503020204020204" pitchFamily="34" charset="-122"/>
              </a:rPr>
              <a:t>空间复杂度</a:t>
            </a:r>
            <a:endParaRPr lang="zh-CN" altLang="en-US" sz="1800" dirty="0"/>
          </a:p>
        </p:txBody>
      </p:sp>
      <p:pic>
        <p:nvPicPr>
          <p:cNvPr id="84" name="图片 83">
            <a:extLst>
              <a:ext uri="{FF2B5EF4-FFF2-40B4-BE49-F238E27FC236}">
                <a16:creationId xmlns:a16="http://schemas.microsoft.com/office/drawing/2014/main" id="{F0BBDEAB-8CE6-360C-22AF-F918F9C3613B}"/>
              </a:ext>
            </a:extLst>
          </p:cNvPr>
          <p:cNvPicPr>
            <a:picLocks noChangeAspect="1"/>
          </p:cNvPicPr>
          <p:nvPr/>
        </p:nvPicPr>
        <p:blipFill>
          <a:blip r:embed="rId25">
            <a:clrChange>
              <a:clrFrom>
                <a:srgbClr val="FEFEFE">
                  <a:alpha val="100000"/>
                </a:srgbClr>
              </a:clrFrom>
              <a:clrTo>
                <a:srgbClr val="FEFEFE">
                  <a:alpha val="100000"/>
                  <a:alpha val="0"/>
                </a:srgbClr>
              </a:clrTo>
            </a:clrChange>
          </a:blip>
          <a:stretch>
            <a:fillRect/>
          </a:stretch>
        </p:blipFill>
        <p:spPr>
          <a:xfrm rot="5400000">
            <a:off x="3636135" y="4970143"/>
            <a:ext cx="533400" cy="490855"/>
          </a:xfrm>
          <a:prstGeom prst="rect">
            <a:avLst/>
          </a:prstGeom>
        </p:spPr>
      </p:pic>
      <p:pic>
        <p:nvPicPr>
          <p:cNvPr id="85" name="图片 84"/>
          <p:cNvPicPr>
            <a:picLocks noChangeAspect="1"/>
          </p:cNvPicPr>
          <p:nvPr>
            <p:custDataLst>
              <p:tags r:id="rId21"/>
            </p:custDataLst>
          </p:nvPr>
        </p:nvPicPr>
        <p:blipFill>
          <a:blip r:embed="rId25">
            <a:clrChange>
              <a:clrFrom>
                <a:srgbClr val="FEFEFE">
                  <a:alpha val="100000"/>
                </a:srgbClr>
              </a:clrFrom>
              <a:clrTo>
                <a:srgbClr val="FEFEFE">
                  <a:alpha val="100000"/>
                  <a:alpha val="0"/>
                </a:srgbClr>
              </a:clrTo>
            </a:clrChange>
          </a:blip>
          <a:stretch>
            <a:fillRect/>
          </a:stretch>
        </p:blipFill>
        <p:spPr>
          <a:xfrm>
            <a:off x="3578173" y="3518700"/>
            <a:ext cx="533400" cy="490855"/>
          </a:xfrm>
          <a:prstGeom prst="rect">
            <a:avLst/>
          </a:prstGeom>
        </p:spPr>
      </p:pic>
      <p:pic>
        <p:nvPicPr>
          <p:cNvPr id="86" name="图片 85"/>
          <p:cNvPicPr>
            <a:picLocks noChangeAspect="1"/>
          </p:cNvPicPr>
          <p:nvPr>
            <p:custDataLst>
              <p:tags r:id="rId22"/>
            </p:custDataLst>
          </p:nvPr>
        </p:nvPicPr>
        <p:blipFill>
          <a:blip r:embed="rId25">
            <a:clrChange>
              <a:clrFrom>
                <a:srgbClr val="FEFEFE">
                  <a:alpha val="100000"/>
                </a:srgbClr>
              </a:clrFrom>
              <a:clrTo>
                <a:srgbClr val="FEFEFE">
                  <a:alpha val="100000"/>
                  <a:alpha val="0"/>
                </a:srgbClr>
              </a:clrTo>
            </a:clrChange>
          </a:blip>
          <a:stretch>
            <a:fillRect/>
          </a:stretch>
        </p:blipFill>
        <p:spPr>
          <a:xfrm>
            <a:off x="6064219" y="3556717"/>
            <a:ext cx="533400" cy="490855"/>
          </a:xfrm>
          <a:prstGeom prst="rect">
            <a:avLst/>
          </a:prstGeom>
        </p:spPr>
      </p:pic>
    </p:spTree>
    <p:extLst>
      <p:ext uri="{BB962C8B-B14F-4D97-AF65-F5344CB8AC3E}">
        <p14:creationId xmlns:p14="http://schemas.microsoft.com/office/powerpoint/2010/main" val="3391131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01913AA7-826F-1E98-B91D-402A355907F3}"/>
              </a:ext>
            </a:extLst>
          </p:cNvPr>
          <p:cNvSpPr>
            <a:spLocks noGrp="1" noChangeArrowheads="1"/>
          </p:cNvSpPr>
          <p:nvPr>
            <p:ph type="title"/>
          </p:nvPr>
        </p:nvSpPr>
        <p:spPr/>
        <p:txBody>
          <a:bodyPr/>
          <a:lstStyle/>
          <a:p>
            <a:r>
              <a:rPr lang="zh-CN" altLang="en-US">
                <a:latin typeface="微软雅黑" panose="020B0503020204020204" pitchFamily="34" charset="-122"/>
                <a:ea typeface="微软雅黑" panose="020B0503020204020204" pitchFamily="34" charset="-122"/>
              </a:rPr>
              <a:t>课程考核</a:t>
            </a:r>
          </a:p>
        </p:txBody>
      </p:sp>
      <p:sp>
        <p:nvSpPr>
          <p:cNvPr id="11267" name="内容占位符 2">
            <a:extLst>
              <a:ext uri="{FF2B5EF4-FFF2-40B4-BE49-F238E27FC236}">
                <a16:creationId xmlns:a16="http://schemas.microsoft.com/office/drawing/2014/main" id="{FEED91AF-241C-30AD-8E29-4733812B1D05}"/>
              </a:ext>
            </a:extLst>
          </p:cNvPr>
          <p:cNvSpPr>
            <a:spLocks noGrp="1" noChangeArrowheads="1"/>
          </p:cNvSpPr>
          <p:nvPr>
            <p:ph idx="1"/>
          </p:nvPr>
        </p:nvSpPr>
        <p:spPr>
          <a:xfrm>
            <a:off x="1259632" y="1556792"/>
            <a:ext cx="8229600" cy="4205064"/>
          </a:xfrm>
        </p:spPr>
        <p:txBody>
          <a:bodyPr/>
          <a:lstStyle/>
          <a:p>
            <a:pPr>
              <a:lnSpc>
                <a:spcPct val="200000"/>
              </a:lnSpc>
            </a:pPr>
            <a:r>
              <a:rPr lang="zh-CN" altLang="en-US" dirty="0">
                <a:latin typeface="微软雅黑" panose="020B0503020204020204" pitchFamily="34" charset="-122"/>
                <a:ea typeface="微软雅黑" panose="020B0503020204020204" pitchFamily="34" charset="-122"/>
              </a:rPr>
              <a:t>考勤         </a:t>
            </a:r>
            <a:r>
              <a:rPr lang="en-US" altLang="zh-CN" dirty="0">
                <a:latin typeface="微软雅黑" panose="020B0503020204020204" pitchFamily="34" charset="-122"/>
                <a:ea typeface="微软雅黑" panose="020B0503020204020204" pitchFamily="34" charset="-122"/>
              </a:rPr>
              <a:t>10%</a:t>
            </a:r>
          </a:p>
          <a:p>
            <a:pPr>
              <a:lnSpc>
                <a:spcPct val="200000"/>
              </a:lnSpc>
            </a:pPr>
            <a:r>
              <a:rPr lang="zh-CN" altLang="en-US" dirty="0">
                <a:latin typeface="微软雅黑" panose="020B0503020204020204" pitchFamily="34" charset="-122"/>
                <a:ea typeface="微软雅黑" panose="020B0503020204020204" pitchFamily="34" charset="-122"/>
              </a:rPr>
              <a:t>平时作业  </a:t>
            </a:r>
            <a:r>
              <a:rPr lang="en-US" altLang="zh-CN" dirty="0">
                <a:latin typeface="微软雅黑" panose="020B0503020204020204" pitchFamily="34" charset="-122"/>
                <a:ea typeface="微软雅黑" panose="020B0503020204020204" pitchFamily="34" charset="-122"/>
              </a:rPr>
              <a:t>30%</a:t>
            </a:r>
          </a:p>
          <a:p>
            <a:pPr>
              <a:lnSpc>
                <a:spcPct val="200000"/>
              </a:lnSpc>
            </a:pPr>
            <a:r>
              <a:rPr lang="zh-CN" altLang="en-US" dirty="0">
                <a:latin typeface="微软雅黑" panose="020B0503020204020204" pitchFamily="34" charset="-122"/>
                <a:ea typeface="微软雅黑" panose="020B0503020204020204" pitchFamily="34" charset="-122"/>
              </a:rPr>
              <a:t>期中成绩  </a:t>
            </a:r>
            <a:r>
              <a:rPr lang="en-US" altLang="zh-CN" dirty="0">
                <a:latin typeface="微软雅黑" panose="020B0503020204020204" pitchFamily="34" charset="-122"/>
                <a:ea typeface="微软雅黑" panose="020B0503020204020204" pitchFamily="34" charset="-122"/>
              </a:rPr>
              <a:t>10%</a:t>
            </a:r>
          </a:p>
          <a:p>
            <a:pPr>
              <a:lnSpc>
                <a:spcPct val="200000"/>
              </a:lnSpc>
            </a:pPr>
            <a:r>
              <a:rPr lang="zh-CN" altLang="en-US" dirty="0">
                <a:latin typeface="微软雅黑" panose="020B0503020204020204" pitchFamily="34" charset="-122"/>
                <a:ea typeface="微软雅黑" panose="020B0503020204020204" pitchFamily="34" charset="-122"/>
              </a:rPr>
              <a:t>期末考试   </a:t>
            </a:r>
            <a:r>
              <a:rPr lang="en-US" altLang="zh-CN" dirty="0">
                <a:latin typeface="微软雅黑" panose="020B0503020204020204" pitchFamily="34" charset="-122"/>
                <a:ea typeface="微软雅黑" panose="020B0503020204020204" pitchFamily="34" charset="-122"/>
              </a:rPr>
              <a:t>50%</a:t>
            </a:r>
            <a:endParaRPr lang="zh-CN" altLang="en-US" dirty="0">
              <a:latin typeface="微软雅黑" panose="020B0503020204020204" pitchFamily="34" charset="-122"/>
              <a:ea typeface="微软雅黑" panose="020B0503020204020204" pitchFamily="34" charset="-122"/>
            </a:endParaRPr>
          </a:p>
        </p:txBody>
      </p:sp>
      <p:sp>
        <p:nvSpPr>
          <p:cNvPr id="11268" name="灯片编号占位符 3">
            <a:extLst>
              <a:ext uri="{FF2B5EF4-FFF2-40B4-BE49-F238E27FC236}">
                <a16:creationId xmlns:a16="http://schemas.microsoft.com/office/drawing/2014/main" id="{B259A3AB-9E8E-372E-5209-4D632E36494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9129ECF8-74E7-45A9-ABAE-DDC13605A629}" type="slidenum">
              <a:rPr lang="en-US" altLang="zh-CN" sz="1200">
                <a:solidFill>
                  <a:schemeClr val="tx1"/>
                </a:solidFill>
                <a:latin typeface="Garamond" pitchFamily="18" charset="0"/>
                <a:ea typeface="宋体" panose="02010600030101010101" pitchFamily="2" charset="-122"/>
              </a:rPr>
              <a:pPr/>
              <a:t>16</a:t>
            </a:fld>
            <a:endParaRPr lang="en-US" altLang="zh-CN" sz="1200">
              <a:solidFill>
                <a:schemeClr val="tx1"/>
              </a:solidFill>
              <a:latin typeface="Garamond" pitchFamily="18" charset="0"/>
              <a:ea typeface="宋体" panose="02010600030101010101" pitchFamily="2" charset="-122"/>
            </a:endParaRPr>
          </a:p>
        </p:txBody>
      </p:sp>
    </p:spTree>
    <p:extLst>
      <p:ext uri="{BB962C8B-B14F-4D97-AF65-F5344CB8AC3E}">
        <p14:creationId xmlns:p14="http://schemas.microsoft.com/office/powerpoint/2010/main" val="3173637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2828E8B7-CDC0-C4CF-AC9C-2A71A4705572}"/>
              </a:ext>
            </a:extLst>
          </p:cNvPr>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作业要求</a:t>
            </a:r>
          </a:p>
        </p:txBody>
      </p:sp>
      <p:sp>
        <p:nvSpPr>
          <p:cNvPr id="12291" name="灯片编号占位符 3">
            <a:extLst>
              <a:ext uri="{FF2B5EF4-FFF2-40B4-BE49-F238E27FC236}">
                <a16:creationId xmlns:a16="http://schemas.microsoft.com/office/drawing/2014/main" id="{A974C82D-5822-36C2-BEFA-1199AE16D19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8BE76B6B-0CA5-4962-B9C8-0AC17763D0A3}" type="slidenum">
              <a:rPr lang="en-US" altLang="zh-CN" sz="1200">
                <a:solidFill>
                  <a:schemeClr val="tx1"/>
                </a:solidFill>
                <a:latin typeface="Garamond" pitchFamily="18" charset="0"/>
                <a:ea typeface="宋体" panose="02010600030101010101" pitchFamily="2" charset="-122"/>
              </a:rPr>
              <a:pPr/>
              <a:t>17</a:t>
            </a:fld>
            <a:endParaRPr lang="en-US" altLang="zh-CN" sz="1200">
              <a:solidFill>
                <a:schemeClr val="tx1"/>
              </a:solidFill>
              <a:latin typeface="Garamond" pitchFamily="18" charset="0"/>
              <a:ea typeface="宋体" panose="02010600030101010101" pitchFamily="2" charset="-122"/>
            </a:endParaRPr>
          </a:p>
        </p:txBody>
      </p:sp>
      <p:sp>
        <p:nvSpPr>
          <p:cNvPr id="6" name="内容占位符 2">
            <a:extLst>
              <a:ext uri="{FF2B5EF4-FFF2-40B4-BE49-F238E27FC236}">
                <a16:creationId xmlns:a16="http://schemas.microsoft.com/office/drawing/2014/main" id="{3B699B2F-116A-5620-38DB-8773D28D75EF}"/>
              </a:ext>
            </a:extLst>
          </p:cNvPr>
          <p:cNvSpPr txBox="1">
            <a:spLocks noChangeArrowheads="1"/>
          </p:cNvSpPr>
          <p:nvPr/>
        </p:nvSpPr>
        <p:spPr bwMode="auto">
          <a:xfrm>
            <a:off x="683568" y="1196752"/>
            <a:ext cx="8610600" cy="4975225"/>
          </a:xfrm>
          <a:prstGeom prst="rect">
            <a:avLst/>
          </a:prstGeom>
          <a:noFill/>
          <a:ln>
            <a:noFill/>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defRPr/>
            </a:pPr>
            <a:r>
              <a:rPr lang="zh-CN" altLang="en-US" kern="0" dirty="0">
                <a:latin typeface="微软雅黑" panose="020B0503020204020204" pitchFamily="34" charset="-122"/>
                <a:ea typeface="微软雅黑" panose="020B0503020204020204" pitchFamily="34" charset="-122"/>
              </a:rPr>
              <a:t>题目类型：算法</a:t>
            </a:r>
            <a:r>
              <a:rPr lang="zh-CN" altLang="en-US" kern="0" dirty="0">
                <a:solidFill>
                  <a:srgbClr val="FF0000"/>
                </a:solidFill>
                <a:latin typeface="微软雅黑" panose="020B0503020204020204" pitchFamily="34" charset="-122"/>
                <a:ea typeface="微软雅黑" panose="020B0503020204020204" pitchFamily="34" charset="-122"/>
              </a:rPr>
              <a:t>分析</a:t>
            </a:r>
            <a:r>
              <a:rPr lang="zh-CN" altLang="en-US" kern="0" dirty="0">
                <a:latin typeface="微软雅黑" panose="020B0503020204020204" pitchFamily="34" charset="-122"/>
                <a:ea typeface="微软雅黑" panose="020B0503020204020204" pitchFamily="34" charset="-122"/>
              </a:rPr>
              <a:t>题、算法</a:t>
            </a:r>
            <a:r>
              <a:rPr lang="zh-CN" altLang="en-US" kern="0" dirty="0">
                <a:solidFill>
                  <a:srgbClr val="FF0000"/>
                </a:solidFill>
                <a:latin typeface="微软雅黑" panose="020B0503020204020204" pitchFamily="34" charset="-122"/>
                <a:ea typeface="微软雅黑" panose="020B0503020204020204" pitchFamily="34" charset="-122"/>
              </a:rPr>
              <a:t>实现</a:t>
            </a:r>
            <a:r>
              <a:rPr lang="zh-CN" altLang="en-US" kern="0" dirty="0">
                <a:latin typeface="微软雅黑" panose="020B0503020204020204" pitchFamily="34" charset="-122"/>
                <a:ea typeface="微软雅黑" panose="020B0503020204020204" pitchFamily="34" charset="-122"/>
              </a:rPr>
              <a:t>题</a:t>
            </a:r>
            <a:endParaRPr lang="en-US" altLang="zh-CN" kern="0" dirty="0">
              <a:latin typeface="微软雅黑" panose="020B0503020204020204" pitchFamily="34" charset="-122"/>
              <a:ea typeface="微软雅黑" panose="020B0503020204020204" pitchFamily="34" charset="-122"/>
            </a:endParaRPr>
          </a:p>
          <a:p>
            <a:pPr>
              <a:lnSpc>
                <a:spcPct val="150000"/>
              </a:lnSpc>
              <a:defRPr/>
            </a:pPr>
            <a:r>
              <a:rPr lang="zh-CN" altLang="en-US" kern="0" dirty="0">
                <a:latin typeface="微软雅黑" panose="020B0503020204020204" pitchFamily="34" charset="-122"/>
                <a:ea typeface="微软雅黑" panose="020B0503020204020204" pitchFamily="34" charset="-122"/>
              </a:rPr>
              <a:t>提交要求：</a:t>
            </a:r>
            <a:endParaRPr lang="en-US" altLang="zh-CN" kern="0" dirty="0">
              <a:latin typeface="微软雅黑" panose="020B0503020204020204" pitchFamily="34" charset="-122"/>
              <a:ea typeface="微软雅黑" panose="020B0503020204020204" pitchFamily="34" charset="-122"/>
            </a:endParaRPr>
          </a:p>
          <a:p>
            <a:pPr lvl="1">
              <a:lnSpc>
                <a:spcPct val="150000"/>
              </a:lnSpc>
              <a:defRPr/>
            </a:pPr>
            <a:r>
              <a:rPr lang="zh-CN" altLang="en-US" kern="0" dirty="0">
                <a:solidFill>
                  <a:srgbClr val="FF0000"/>
                </a:solidFill>
                <a:latin typeface="微软雅黑" panose="020B0503020204020204" pitchFamily="34" charset="-122"/>
                <a:ea typeface="微软雅黑" panose="020B0503020204020204" pitchFamily="34" charset="-122"/>
              </a:rPr>
              <a:t>算法设计与分析报告（必须）</a:t>
            </a:r>
            <a:r>
              <a:rPr lang="zh-CN" altLang="en-US" kern="0" dirty="0">
                <a:latin typeface="微软雅黑" panose="020B0503020204020204" pitchFamily="34" charset="-122"/>
                <a:ea typeface="微软雅黑" panose="020B0503020204020204" pitchFamily="34" charset="-122"/>
              </a:rPr>
              <a:t>：</a:t>
            </a:r>
            <a:endParaRPr lang="en-US" altLang="zh-CN" kern="0" dirty="0">
              <a:latin typeface="微软雅黑" panose="020B0503020204020204" pitchFamily="34" charset="-122"/>
              <a:ea typeface="微软雅黑" panose="020B0503020204020204" pitchFamily="34" charset="-122"/>
            </a:endParaRPr>
          </a:p>
          <a:p>
            <a:pPr lvl="2">
              <a:lnSpc>
                <a:spcPct val="150000"/>
              </a:lnSpc>
              <a:defRPr/>
            </a:pPr>
            <a:r>
              <a:rPr lang="zh-CN" altLang="en-US" kern="0" dirty="0">
                <a:latin typeface="微软雅黑" panose="020B0503020204020204" pitchFamily="34" charset="-122"/>
                <a:ea typeface="微软雅黑" panose="020B0503020204020204" pitchFamily="34" charset="-122"/>
              </a:rPr>
              <a:t>问题分析、算法思想、算法伪代码、复杂度分析等；</a:t>
            </a:r>
            <a:endParaRPr lang="en-US" altLang="zh-CN" kern="0" dirty="0">
              <a:latin typeface="微软雅黑" panose="020B0503020204020204" pitchFamily="34" charset="-122"/>
              <a:ea typeface="微软雅黑" panose="020B0503020204020204" pitchFamily="34" charset="-122"/>
            </a:endParaRPr>
          </a:p>
          <a:p>
            <a:pPr lvl="1">
              <a:lnSpc>
                <a:spcPct val="150000"/>
              </a:lnSpc>
              <a:defRPr/>
            </a:pPr>
            <a:r>
              <a:rPr lang="zh-CN" altLang="en-US" kern="0" dirty="0">
                <a:latin typeface="微软雅黑" panose="020B0503020204020204" pitchFamily="34" charset="-122"/>
                <a:ea typeface="微软雅黑" panose="020B0503020204020204" pitchFamily="34" charset="-122"/>
              </a:rPr>
              <a:t>算法实现题，除了报告，还需提交</a:t>
            </a:r>
            <a:r>
              <a:rPr lang="en-US" altLang="zh-CN" kern="0" dirty="0"/>
              <a:t>*.</a:t>
            </a:r>
            <a:r>
              <a:rPr lang="en-US" altLang="zh-CN" kern="0" dirty="0" err="1"/>
              <a:t>cpp</a:t>
            </a:r>
            <a:r>
              <a:rPr lang="en-US" altLang="zh-CN" kern="0" dirty="0"/>
              <a:t>, *.h</a:t>
            </a:r>
            <a:r>
              <a:rPr lang="zh-CN" altLang="en-US" kern="0" dirty="0">
                <a:latin typeface="微软雅黑" panose="020B0503020204020204" pitchFamily="34" charset="-122"/>
                <a:ea typeface="微软雅黑" panose="020B0503020204020204" pitchFamily="34" charset="-122"/>
              </a:rPr>
              <a:t>等文件</a:t>
            </a:r>
            <a:endParaRPr lang="en-US" altLang="zh-CN" kern="0" dirty="0">
              <a:latin typeface="微软雅黑" panose="020B0503020204020204" pitchFamily="34" charset="-122"/>
              <a:ea typeface="微软雅黑" panose="020B0503020204020204" pitchFamily="34" charset="-122"/>
            </a:endParaRPr>
          </a:p>
          <a:p>
            <a:pPr>
              <a:lnSpc>
                <a:spcPct val="150000"/>
              </a:lnSpc>
              <a:defRPr/>
            </a:pPr>
            <a:r>
              <a:rPr lang="zh-CN" altLang="en-US" kern="0" dirty="0">
                <a:latin typeface="微软雅黑" panose="020B0503020204020204" pitchFamily="34" charset="-122"/>
                <a:ea typeface="微软雅黑" panose="020B0503020204020204" pitchFamily="34" charset="-122"/>
              </a:rPr>
              <a:t>命名格式：</a:t>
            </a:r>
            <a:r>
              <a:rPr lang="zh-CN" altLang="en-US" kern="0" dirty="0">
                <a:solidFill>
                  <a:srgbClr val="FF0000"/>
                </a:solidFill>
                <a:latin typeface="微软雅黑" panose="020B0503020204020204" pitchFamily="34" charset="-122"/>
                <a:ea typeface="微软雅黑" panose="020B0503020204020204" pitchFamily="34" charset="-122"/>
              </a:rPr>
              <a:t>学号</a:t>
            </a:r>
            <a:r>
              <a:rPr lang="en-US" altLang="zh-CN" kern="0" dirty="0">
                <a:solidFill>
                  <a:srgbClr val="FF0000"/>
                </a:solidFill>
                <a:latin typeface="微软雅黑" panose="020B0503020204020204" pitchFamily="34" charset="-122"/>
                <a:ea typeface="微软雅黑" panose="020B0503020204020204" pitchFamily="34" charset="-122"/>
              </a:rPr>
              <a:t>+</a:t>
            </a:r>
            <a:r>
              <a:rPr lang="zh-CN" altLang="en-US" kern="0" dirty="0">
                <a:solidFill>
                  <a:srgbClr val="FF0000"/>
                </a:solidFill>
                <a:latin typeface="微软雅黑" panose="020B0503020204020204" pitchFamily="34" charset="-122"/>
                <a:ea typeface="微软雅黑" panose="020B0503020204020204" pitchFamily="34" charset="-122"/>
              </a:rPr>
              <a:t>姓名</a:t>
            </a:r>
            <a:r>
              <a:rPr lang="en-US" altLang="zh-CN" kern="0" dirty="0" smtClean="0">
                <a:solidFill>
                  <a:srgbClr val="FF0000"/>
                </a:solidFill>
                <a:latin typeface="微软雅黑" panose="020B0503020204020204" pitchFamily="34" charset="-122"/>
                <a:ea typeface="微软雅黑" panose="020B0503020204020204" pitchFamily="34" charset="-122"/>
              </a:rPr>
              <a:t>+</a:t>
            </a:r>
            <a:r>
              <a:rPr lang="zh-CN" altLang="en-US" kern="0" dirty="0" smtClean="0">
                <a:solidFill>
                  <a:srgbClr val="FF0000"/>
                </a:solidFill>
                <a:latin typeface="微软雅黑" panose="020B0503020204020204" pitchFamily="34" charset="-122"/>
                <a:ea typeface="微软雅黑" panose="020B0503020204020204" pitchFamily="34" charset="-122"/>
              </a:rPr>
              <a:t>第</a:t>
            </a:r>
            <a:r>
              <a:rPr lang="en-US" altLang="zh-CN" kern="0" dirty="0" smtClean="0">
                <a:solidFill>
                  <a:srgbClr val="FF0000"/>
                </a:solidFill>
                <a:latin typeface="微软雅黑" panose="020B0503020204020204" pitchFamily="34" charset="-122"/>
                <a:ea typeface="微软雅黑" panose="020B0503020204020204" pitchFamily="34" charset="-122"/>
              </a:rPr>
              <a:t>*</a:t>
            </a:r>
            <a:r>
              <a:rPr lang="zh-CN" altLang="en-US" kern="0" dirty="0" smtClean="0">
                <a:solidFill>
                  <a:srgbClr val="FF0000"/>
                </a:solidFill>
                <a:latin typeface="微软雅黑" panose="020B0503020204020204" pitchFamily="34" charset="-122"/>
                <a:ea typeface="微软雅黑" panose="020B0503020204020204" pitchFamily="34" charset="-122"/>
              </a:rPr>
              <a:t>章</a:t>
            </a:r>
            <a:r>
              <a:rPr lang="en-US" altLang="zh-CN" kern="0" dirty="0" smtClean="0">
                <a:solidFill>
                  <a:srgbClr val="FF0000"/>
                </a:solidFill>
                <a:latin typeface="微软雅黑" panose="020B0503020204020204" pitchFamily="34" charset="-122"/>
                <a:ea typeface="微软雅黑" panose="020B0503020204020204" pitchFamily="34" charset="-122"/>
              </a:rPr>
              <a:t>.pdf</a:t>
            </a:r>
            <a:r>
              <a:rPr lang="zh-CN" altLang="en-US" kern="0" dirty="0">
                <a:latin typeface="微软雅黑" panose="020B0503020204020204" pitchFamily="34" charset="-122"/>
                <a:ea typeface="微软雅黑" panose="020B0503020204020204" pitchFamily="34" charset="-122"/>
              </a:rPr>
              <a:t>。</a:t>
            </a:r>
            <a:endParaRPr lang="en-US" altLang="zh-CN" kern="0" dirty="0">
              <a:latin typeface="微软雅黑" panose="020B0503020204020204" pitchFamily="34" charset="-122"/>
              <a:ea typeface="微软雅黑" panose="020B0503020204020204" pitchFamily="34" charset="-122"/>
            </a:endParaRPr>
          </a:p>
          <a:p>
            <a:pPr>
              <a:lnSpc>
                <a:spcPct val="150000"/>
              </a:lnSpc>
              <a:defRPr/>
            </a:pPr>
            <a:r>
              <a:rPr lang="zh-CN" altLang="en-US" kern="0" dirty="0">
                <a:latin typeface="微软雅黑" panose="020B0503020204020204" pitchFamily="34" charset="-122"/>
                <a:ea typeface="微软雅黑" panose="020B0503020204020204" pitchFamily="34" charset="-122"/>
              </a:rPr>
              <a:t>截止前</a:t>
            </a:r>
            <a:r>
              <a:rPr lang="zh-CN" altLang="en-US" kern="0" dirty="0">
                <a:solidFill>
                  <a:srgbClr val="FF0000"/>
                </a:solidFill>
                <a:latin typeface="微软雅黑" panose="020B0503020204020204" pitchFamily="34" charset="-122"/>
                <a:ea typeface="微软雅黑" panose="020B0503020204020204" pitchFamily="34" charset="-122"/>
              </a:rPr>
              <a:t>提交至</a:t>
            </a:r>
            <a:r>
              <a:rPr lang="en-US" altLang="zh-CN" kern="0" dirty="0">
                <a:solidFill>
                  <a:srgbClr val="FF0000"/>
                </a:solidFill>
                <a:latin typeface="微软雅黑" panose="020B0503020204020204" pitchFamily="34" charset="-122"/>
                <a:ea typeface="微软雅黑" panose="020B0503020204020204" pitchFamily="34" charset="-122"/>
              </a:rPr>
              <a:t>Canvas</a:t>
            </a:r>
          </a:p>
        </p:txBody>
      </p:sp>
      <p:sp>
        <p:nvSpPr>
          <p:cNvPr id="5" name="矩形 4"/>
          <p:cNvSpPr/>
          <p:nvPr/>
        </p:nvSpPr>
        <p:spPr>
          <a:xfrm>
            <a:off x="3899426" y="6372389"/>
            <a:ext cx="4787374" cy="400110"/>
          </a:xfrm>
          <a:prstGeom prst="rect">
            <a:avLst/>
          </a:prstGeom>
        </p:spPr>
        <p:txBody>
          <a:bodyPr wrap="square">
            <a:spAutoFit/>
          </a:bodyPr>
          <a:lstStyle/>
          <a:p>
            <a:r>
              <a:rPr lang="zh-CN" altLang="en-US" sz="2000" dirty="0"/>
              <a:t>https://leetcode.cn/problemset/all/</a:t>
            </a:r>
          </a:p>
        </p:txBody>
      </p:sp>
    </p:spTree>
    <p:extLst>
      <p:ext uri="{BB962C8B-B14F-4D97-AF65-F5344CB8AC3E}">
        <p14:creationId xmlns:p14="http://schemas.microsoft.com/office/powerpoint/2010/main" val="1833088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a:extLst>
              <a:ext uri="{FF2B5EF4-FFF2-40B4-BE49-F238E27FC236}">
                <a16:creationId xmlns:a16="http://schemas.microsoft.com/office/drawing/2014/main" id="{BD304A61-8C7F-EF5F-28AD-6630EF7AC3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832F01C-6BFD-4B96-BD72-917583C2D781}" type="slidenum">
              <a:rPr lang="en-US" altLang="zh-CN" sz="1200">
                <a:solidFill>
                  <a:schemeClr val="tx1"/>
                </a:solidFill>
                <a:latin typeface="Garamond" pitchFamily="18" charset="0"/>
                <a:ea typeface="宋体" panose="02010600030101010101" pitchFamily="2" charset="-122"/>
              </a:rPr>
              <a:pPr/>
              <a:t>18</a:t>
            </a:fld>
            <a:endParaRPr lang="en-US" altLang="zh-CN" sz="1200">
              <a:solidFill>
                <a:schemeClr val="tx1"/>
              </a:solidFill>
              <a:latin typeface="Garamond" pitchFamily="18" charset="0"/>
              <a:ea typeface="宋体" panose="02010600030101010101" pitchFamily="2" charset="-122"/>
            </a:endParaRPr>
          </a:p>
        </p:txBody>
      </p:sp>
      <p:pic>
        <p:nvPicPr>
          <p:cNvPr id="15363" name="图片 4">
            <a:extLst>
              <a:ext uri="{FF2B5EF4-FFF2-40B4-BE49-F238E27FC236}">
                <a16:creationId xmlns:a16="http://schemas.microsoft.com/office/drawing/2014/main" id="{08C9F892-47DA-ECF1-F3FB-BBF724E2DE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268413"/>
            <a:ext cx="79248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标题 1">
            <a:extLst>
              <a:ext uri="{FF2B5EF4-FFF2-40B4-BE49-F238E27FC236}">
                <a16:creationId xmlns:a16="http://schemas.microsoft.com/office/drawing/2014/main" id="{0DF69B0B-0E26-4902-49B1-098B5A3BCDC2}"/>
              </a:ext>
            </a:extLst>
          </p:cNvPr>
          <p:cNvSpPr>
            <a:spLocks noGrp="1" noChangeArrowheads="1"/>
          </p:cNvSpPr>
          <p:nvPr>
            <p:ph type="title"/>
          </p:nvPr>
        </p:nvSpPr>
        <p:spPr/>
        <p:txBody>
          <a:bodyPr/>
          <a:lstStyle/>
          <a:p>
            <a:r>
              <a:rPr lang="zh-CN" altLang="en-US"/>
              <a:t>伪代码示例（选择排序）</a:t>
            </a:r>
          </a:p>
        </p:txBody>
      </p:sp>
      <p:pic>
        <p:nvPicPr>
          <p:cNvPr id="15365" name="图片 6">
            <a:extLst>
              <a:ext uri="{FF2B5EF4-FFF2-40B4-BE49-F238E27FC236}">
                <a16:creationId xmlns:a16="http://schemas.microsoft.com/office/drawing/2014/main" id="{87635FF1-BC12-AE90-2D64-933A7D907CF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16463" y="4399053"/>
            <a:ext cx="4248025" cy="157312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97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471" y="100853"/>
            <a:ext cx="8875059" cy="6656294"/>
          </a:xfrm>
          <a:custGeom>
            <a:avLst/>
            <a:gdLst/>
            <a:ahLst/>
            <a:cxnLst/>
            <a:rect l="l" t="t" r="r" b="b"/>
            <a:pathLst>
              <a:path w="10058400" h="7543800">
                <a:moveTo>
                  <a:pt x="0" y="0"/>
                </a:moveTo>
                <a:lnTo>
                  <a:pt x="10058400" y="0"/>
                </a:lnTo>
                <a:lnTo>
                  <a:pt x="10058400" y="7543800"/>
                </a:lnTo>
                <a:lnTo>
                  <a:pt x="0" y="7543800"/>
                </a:lnTo>
                <a:lnTo>
                  <a:pt x="0" y="0"/>
                </a:lnTo>
                <a:close/>
              </a:path>
            </a:pathLst>
          </a:custGeom>
          <a:solidFill>
            <a:srgbClr val="F5F5F5"/>
          </a:solidFill>
        </p:spPr>
        <p:txBody>
          <a:bodyPr wrap="square" lIns="0" tIns="0" rIns="0" bIns="0" rtlCol="0"/>
          <a:lstStyle/>
          <a:p>
            <a:endParaRPr sz="2647"/>
          </a:p>
        </p:txBody>
      </p:sp>
      <p:sp>
        <p:nvSpPr>
          <p:cNvPr id="3" name="object 3"/>
          <p:cNvSpPr/>
          <p:nvPr/>
        </p:nvSpPr>
        <p:spPr>
          <a:xfrm>
            <a:off x="2652554" y="100853"/>
            <a:ext cx="54909" cy="153521"/>
          </a:xfrm>
          <a:custGeom>
            <a:avLst/>
            <a:gdLst/>
            <a:ahLst/>
            <a:cxnLst/>
            <a:rect l="l" t="t" r="r" b="b"/>
            <a:pathLst>
              <a:path w="62230" h="173990">
                <a:moveTo>
                  <a:pt x="61977" y="0"/>
                </a:moveTo>
                <a:lnTo>
                  <a:pt x="0" y="86044"/>
                </a:lnTo>
                <a:lnTo>
                  <a:pt x="56886" y="173499"/>
                </a:lnTo>
              </a:path>
            </a:pathLst>
          </a:custGeom>
          <a:ln w="12150">
            <a:solidFill>
              <a:srgbClr val="6D6E71"/>
            </a:solidFill>
          </a:ln>
        </p:spPr>
        <p:txBody>
          <a:bodyPr wrap="square" lIns="0" tIns="0" rIns="0" bIns="0" rtlCol="0"/>
          <a:lstStyle/>
          <a:p>
            <a:endParaRPr sz="2647"/>
          </a:p>
        </p:txBody>
      </p:sp>
      <p:sp>
        <p:nvSpPr>
          <p:cNvPr id="4" name="object 4"/>
          <p:cNvSpPr/>
          <p:nvPr/>
        </p:nvSpPr>
        <p:spPr>
          <a:xfrm>
            <a:off x="5196939" y="100853"/>
            <a:ext cx="142315" cy="164726"/>
          </a:xfrm>
          <a:custGeom>
            <a:avLst/>
            <a:gdLst/>
            <a:ahLst/>
            <a:cxnLst/>
            <a:rect l="l" t="t" r="r" b="b"/>
            <a:pathLst>
              <a:path w="161289" h="186690">
                <a:moveTo>
                  <a:pt x="0" y="160402"/>
                </a:moveTo>
                <a:lnTo>
                  <a:pt x="65637" y="186621"/>
                </a:lnTo>
                <a:lnTo>
                  <a:pt x="87540" y="182271"/>
                </a:lnTo>
                <a:lnTo>
                  <a:pt x="109394" y="64150"/>
                </a:lnTo>
                <a:lnTo>
                  <a:pt x="157552" y="68573"/>
                </a:lnTo>
                <a:lnTo>
                  <a:pt x="161269" y="0"/>
                </a:lnTo>
              </a:path>
            </a:pathLst>
          </a:custGeom>
          <a:ln w="12152">
            <a:solidFill>
              <a:srgbClr val="6D6E71"/>
            </a:solidFill>
          </a:ln>
        </p:spPr>
        <p:txBody>
          <a:bodyPr wrap="square" lIns="0" tIns="0" rIns="0" bIns="0" rtlCol="0"/>
          <a:lstStyle/>
          <a:p>
            <a:endParaRPr sz="2647"/>
          </a:p>
        </p:txBody>
      </p:sp>
      <p:sp>
        <p:nvSpPr>
          <p:cNvPr id="5" name="object 5"/>
          <p:cNvSpPr/>
          <p:nvPr/>
        </p:nvSpPr>
        <p:spPr>
          <a:xfrm>
            <a:off x="6370707" y="100853"/>
            <a:ext cx="77321" cy="192180"/>
          </a:xfrm>
          <a:custGeom>
            <a:avLst/>
            <a:gdLst/>
            <a:ahLst/>
            <a:cxnLst/>
            <a:rect l="l" t="t" r="r" b="b"/>
            <a:pathLst>
              <a:path w="87629" h="217804">
                <a:moveTo>
                  <a:pt x="0" y="217263"/>
                </a:moveTo>
                <a:lnTo>
                  <a:pt x="13127" y="177922"/>
                </a:lnTo>
                <a:lnTo>
                  <a:pt x="8751" y="151654"/>
                </a:lnTo>
                <a:lnTo>
                  <a:pt x="87515" y="116662"/>
                </a:lnTo>
                <a:lnTo>
                  <a:pt x="87514" y="2915"/>
                </a:lnTo>
                <a:lnTo>
                  <a:pt x="81673" y="0"/>
                </a:lnTo>
              </a:path>
            </a:pathLst>
          </a:custGeom>
          <a:ln w="12150">
            <a:solidFill>
              <a:srgbClr val="6D6E71"/>
            </a:solidFill>
          </a:ln>
        </p:spPr>
        <p:txBody>
          <a:bodyPr wrap="square" lIns="0" tIns="0" rIns="0" bIns="0" rtlCol="0"/>
          <a:lstStyle/>
          <a:p>
            <a:endParaRPr sz="2647"/>
          </a:p>
        </p:txBody>
      </p:sp>
      <p:sp>
        <p:nvSpPr>
          <p:cNvPr id="6" name="object 6"/>
          <p:cNvSpPr/>
          <p:nvPr/>
        </p:nvSpPr>
        <p:spPr>
          <a:xfrm>
            <a:off x="6019331" y="100853"/>
            <a:ext cx="77321" cy="25773"/>
          </a:xfrm>
          <a:custGeom>
            <a:avLst/>
            <a:gdLst/>
            <a:ahLst/>
            <a:cxnLst/>
            <a:rect l="l" t="t" r="r" b="b"/>
            <a:pathLst>
              <a:path w="87629" h="29210">
                <a:moveTo>
                  <a:pt x="0" y="29183"/>
                </a:moveTo>
                <a:lnTo>
                  <a:pt x="78740" y="29183"/>
                </a:lnTo>
                <a:lnTo>
                  <a:pt x="87572" y="0"/>
                </a:lnTo>
              </a:path>
            </a:pathLst>
          </a:custGeom>
          <a:ln w="12154">
            <a:solidFill>
              <a:srgbClr val="6D6E71"/>
            </a:solidFill>
          </a:ln>
        </p:spPr>
        <p:txBody>
          <a:bodyPr wrap="square" lIns="0" tIns="0" rIns="0" bIns="0" rtlCol="0"/>
          <a:lstStyle/>
          <a:p>
            <a:endParaRPr sz="2647"/>
          </a:p>
        </p:txBody>
      </p:sp>
      <p:sp>
        <p:nvSpPr>
          <p:cNvPr id="7" name="object 7"/>
          <p:cNvSpPr/>
          <p:nvPr/>
        </p:nvSpPr>
        <p:spPr>
          <a:xfrm>
            <a:off x="2831621" y="100853"/>
            <a:ext cx="25773" cy="22412"/>
          </a:xfrm>
          <a:custGeom>
            <a:avLst/>
            <a:gdLst/>
            <a:ahLst/>
            <a:cxnLst/>
            <a:rect l="l" t="t" r="r" b="b"/>
            <a:pathLst>
              <a:path w="29210" h="25400">
                <a:moveTo>
                  <a:pt x="28974" y="24833"/>
                </a:moveTo>
                <a:lnTo>
                  <a:pt x="0" y="0"/>
                </a:lnTo>
              </a:path>
            </a:pathLst>
          </a:custGeom>
          <a:ln w="12152">
            <a:solidFill>
              <a:srgbClr val="6D6E71"/>
            </a:solidFill>
          </a:ln>
        </p:spPr>
        <p:txBody>
          <a:bodyPr wrap="square" lIns="0" tIns="0" rIns="0" bIns="0" rtlCol="0"/>
          <a:lstStyle/>
          <a:p>
            <a:endParaRPr sz="2647"/>
          </a:p>
        </p:txBody>
      </p:sp>
      <p:sp>
        <p:nvSpPr>
          <p:cNvPr id="8" name="object 8"/>
          <p:cNvSpPr/>
          <p:nvPr/>
        </p:nvSpPr>
        <p:spPr>
          <a:xfrm>
            <a:off x="4494234" y="100853"/>
            <a:ext cx="11206" cy="25773"/>
          </a:xfrm>
          <a:custGeom>
            <a:avLst/>
            <a:gdLst/>
            <a:ahLst/>
            <a:cxnLst/>
            <a:rect l="l" t="t" r="r" b="b"/>
            <a:pathLst>
              <a:path w="12700" h="29210">
                <a:moveTo>
                  <a:pt x="0" y="29183"/>
                </a:moveTo>
                <a:lnTo>
                  <a:pt x="12164" y="0"/>
                </a:lnTo>
              </a:path>
            </a:pathLst>
          </a:custGeom>
          <a:ln w="12150">
            <a:solidFill>
              <a:srgbClr val="6D6E71"/>
            </a:solidFill>
          </a:ln>
        </p:spPr>
        <p:txBody>
          <a:bodyPr wrap="square" lIns="0" tIns="0" rIns="0" bIns="0" rtlCol="0"/>
          <a:lstStyle/>
          <a:p>
            <a:endParaRPr sz="2647"/>
          </a:p>
        </p:txBody>
      </p:sp>
      <p:sp>
        <p:nvSpPr>
          <p:cNvPr id="9" name="object 9"/>
          <p:cNvSpPr/>
          <p:nvPr/>
        </p:nvSpPr>
        <p:spPr>
          <a:xfrm>
            <a:off x="7679567" y="100853"/>
            <a:ext cx="62193" cy="41462"/>
          </a:xfrm>
          <a:custGeom>
            <a:avLst/>
            <a:gdLst/>
            <a:ahLst/>
            <a:cxnLst/>
            <a:rect l="l" t="t" r="r" b="b"/>
            <a:pathLst>
              <a:path w="70484" h="46989">
                <a:moveTo>
                  <a:pt x="0" y="33557"/>
                </a:moveTo>
                <a:lnTo>
                  <a:pt x="70036" y="46654"/>
                </a:lnTo>
                <a:lnTo>
                  <a:pt x="63552" y="0"/>
                </a:lnTo>
              </a:path>
            </a:pathLst>
          </a:custGeom>
          <a:ln w="12153">
            <a:solidFill>
              <a:srgbClr val="6D6E71"/>
            </a:solidFill>
          </a:ln>
        </p:spPr>
        <p:txBody>
          <a:bodyPr wrap="square" lIns="0" tIns="0" rIns="0" bIns="0" rtlCol="0"/>
          <a:lstStyle/>
          <a:p>
            <a:endParaRPr sz="2647"/>
          </a:p>
        </p:txBody>
      </p:sp>
      <p:sp>
        <p:nvSpPr>
          <p:cNvPr id="10" name="object 10"/>
          <p:cNvSpPr/>
          <p:nvPr/>
        </p:nvSpPr>
        <p:spPr>
          <a:xfrm>
            <a:off x="2357571" y="100853"/>
            <a:ext cx="117662" cy="33618"/>
          </a:xfrm>
          <a:custGeom>
            <a:avLst/>
            <a:gdLst/>
            <a:ahLst/>
            <a:cxnLst/>
            <a:rect l="l" t="t" r="r" b="b"/>
            <a:pathLst>
              <a:path w="133350" h="38100">
                <a:moveTo>
                  <a:pt x="133025" y="37882"/>
                </a:moveTo>
                <a:lnTo>
                  <a:pt x="105918" y="0"/>
                </a:lnTo>
              </a:path>
              <a:path w="133350" h="38100">
                <a:moveTo>
                  <a:pt x="49586" y="0"/>
                </a:moveTo>
                <a:lnTo>
                  <a:pt x="14854" y="20410"/>
                </a:lnTo>
                <a:lnTo>
                  <a:pt x="0" y="0"/>
                </a:lnTo>
              </a:path>
            </a:pathLst>
          </a:custGeom>
          <a:ln w="12152">
            <a:solidFill>
              <a:srgbClr val="6D6E71"/>
            </a:solidFill>
          </a:ln>
        </p:spPr>
        <p:txBody>
          <a:bodyPr wrap="square" lIns="0" tIns="0" rIns="0" bIns="0" rtlCol="0"/>
          <a:lstStyle/>
          <a:p>
            <a:endParaRPr sz="2647"/>
          </a:p>
        </p:txBody>
      </p:sp>
      <p:sp>
        <p:nvSpPr>
          <p:cNvPr id="11" name="object 11"/>
          <p:cNvSpPr/>
          <p:nvPr/>
        </p:nvSpPr>
        <p:spPr>
          <a:xfrm>
            <a:off x="134471" y="250081"/>
            <a:ext cx="35859" cy="10085"/>
          </a:xfrm>
          <a:custGeom>
            <a:avLst/>
            <a:gdLst/>
            <a:ahLst/>
            <a:cxnLst/>
            <a:rect l="l" t="t" r="r" b="b"/>
            <a:pathLst>
              <a:path w="40640" h="11429">
                <a:moveTo>
                  <a:pt x="0" y="11042"/>
                </a:moveTo>
                <a:lnTo>
                  <a:pt x="40158" y="0"/>
                </a:lnTo>
              </a:path>
            </a:pathLst>
          </a:custGeom>
          <a:ln w="12154">
            <a:solidFill>
              <a:srgbClr val="6D6E71"/>
            </a:solidFill>
          </a:ln>
        </p:spPr>
        <p:txBody>
          <a:bodyPr wrap="square" lIns="0" tIns="0" rIns="0" bIns="0" rtlCol="0"/>
          <a:lstStyle/>
          <a:p>
            <a:endParaRPr sz="2647"/>
          </a:p>
        </p:txBody>
      </p:sp>
      <p:sp>
        <p:nvSpPr>
          <p:cNvPr id="12" name="object 12"/>
          <p:cNvSpPr/>
          <p:nvPr/>
        </p:nvSpPr>
        <p:spPr>
          <a:xfrm>
            <a:off x="6521266" y="100853"/>
            <a:ext cx="63313" cy="164726"/>
          </a:xfrm>
          <a:custGeom>
            <a:avLst/>
            <a:gdLst/>
            <a:ahLst/>
            <a:cxnLst/>
            <a:rect l="l" t="t" r="r" b="b"/>
            <a:pathLst>
              <a:path w="71754" h="186690">
                <a:moveTo>
                  <a:pt x="0" y="186621"/>
                </a:moveTo>
                <a:lnTo>
                  <a:pt x="61284" y="86044"/>
                </a:lnTo>
                <a:lnTo>
                  <a:pt x="71281" y="0"/>
                </a:lnTo>
              </a:path>
            </a:pathLst>
          </a:custGeom>
          <a:ln w="12150">
            <a:solidFill>
              <a:srgbClr val="6D6E71"/>
            </a:solidFill>
          </a:ln>
        </p:spPr>
        <p:txBody>
          <a:bodyPr wrap="square" lIns="0" tIns="0" rIns="0" bIns="0" rtlCol="0"/>
          <a:lstStyle/>
          <a:p>
            <a:endParaRPr sz="2647"/>
          </a:p>
        </p:txBody>
      </p:sp>
      <p:sp>
        <p:nvSpPr>
          <p:cNvPr id="13" name="object 13"/>
          <p:cNvSpPr/>
          <p:nvPr/>
        </p:nvSpPr>
        <p:spPr>
          <a:xfrm>
            <a:off x="4669200" y="100853"/>
            <a:ext cx="26334" cy="14568"/>
          </a:xfrm>
          <a:custGeom>
            <a:avLst/>
            <a:gdLst/>
            <a:ahLst/>
            <a:cxnLst/>
            <a:rect l="l" t="t" r="r" b="b"/>
            <a:pathLst>
              <a:path w="29845" h="16510">
                <a:moveTo>
                  <a:pt x="0" y="0"/>
                </a:moveTo>
                <a:lnTo>
                  <a:pt x="29271" y="16036"/>
                </a:lnTo>
              </a:path>
            </a:pathLst>
          </a:custGeom>
          <a:ln w="12153">
            <a:solidFill>
              <a:srgbClr val="6D6E71"/>
            </a:solidFill>
          </a:ln>
        </p:spPr>
        <p:txBody>
          <a:bodyPr wrap="square" lIns="0" tIns="0" rIns="0" bIns="0" rtlCol="0"/>
          <a:lstStyle/>
          <a:p>
            <a:endParaRPr sz="2647"/>
          </a:p>
        </p:txBody>
      </p:sp>
      <p:sp>
        <p:nvSpPr>
          <p:cNvPr id="14" name="object 14"/>
          <p:cNvSpPr/>
          <p:nvPr/>
        </p:nvSpPr>
        <p:spPr>
          <a:xfrm>
            <a:off x="2073402" y="100853"/>
            <a:ext cx="170329" cy="161365"/>
          </a:xfrm>
          <a:custGeom>
            <a:avLst/>
            <a:gdLst/>
            <a:ahLst/>
            <a:cxnLst/>
            <a:rect l="l" t="t" r="r" b="b"/>
            <a:pathLst>
              <a:path w="193039" h="182879">
                <a:moveTo>
                  <a:pt x="179409" y="182271"/>
                </a:moveTo>
                <a:lnTo>
                  <a:pt x="192512" y="116662"/>
                </a:lnTo>
                <a:lnTo>
                  <a:pt x="109395" y="20410"/>
                </a:lnTo>
                <a:lnTo>
                  <a:pt x="0" y="37882"/>
                </a:lnTo>
                <a:lnTo>
                  <a:pt x="13384" y="0"/>
                </a:lnTo>
              </a:path>
            </a:pathLst>
          </a:custGeom>
          <a:ln w="12152">
            <a:solidFill>
              <a:srgbClr val="6D6E71"/>
            </a:solidFill>
          </a:ln>
        </p:spPr>
        <p:txBody>
          <a:bodyPr wrap="square" lIns="0" tIns="0" rIns="0" bIns="0" rtlCol="0"/>
          <a:lstStyle/>
          <a:p>
            <a:endParaRPr sz="2647"/>
          </a:p>
        </p:txBody>
      </p:sp>
      <p:sp>
        <p:nvSpPr>
          <p:cNvPr id="15" name="object 15"/>
          <p:cNvSpPr/>
          <p:nvPr/>
        </p:nvSpPr>
        <p:spPr>
          <a:xfrm>
            <a:off x="6994512" y="100853"/>
            <a:ext cx="322169" cy="161365"/>
          </a:xfrm>
          <a:custGeom>
            <a:avLst/>
            <a:gdLst/>
            <a:ahLst/>
            <a:cxnLst/>
            <a:rect l="l" t="t" r="r" b="b"/>
            <a:pathLst>
              <a:path w="365125" h="182879">
                <a:moveTo>
                  <a:pt x="365096" y="156052"/>
                </a:moveTo>
                <a:lnTo>
                  <a:pt x="347592" y="160402"/>
                </a:lnTo>
                <a:lnTo>
                  <a:pt x="316986" y="182271"/>
                </a:lnTo>
                <a:lnTo>
                  <a:pt x="198815" y="151654"/>
                </a:lnTo>
                <a:lnTo>
                  <a:pt x="85018" y="55402"/>
                </a:lnTo>
                <a:lnTo>
                  <a:pt x="0" y="0"/>
                </a:lnTo>
              </a:path>
            </a:pathLst>
          </a:custGeom>
          <a:ln w="12154">
            <a:solidFill>
              <a:srgbClr val="6D6E71"/>
            </a:solidFill>
          </a:ln>
        </p:spPr>
        <p:txBody>
          <a:bodyPr wrap="square" lIns="0" tIns="0" rIns="0" bIns="0" rtlCol="0"/>
          <a:lstStyle/>
          <a:p>
            <a:endParaRPr sz="2647"/>
          </a:p>
        </p:txBody>
      </p:sp>
      <p:sp>
        <p:nvSpPr>
          <p:cNvPr id="16" name="object 16"/>
          <p:cNvSpPr/>
          <p:nvPr/>
        </p:nvSpPr>
        <p:spPr>
          <a:xfrm>
            <a:off x="5085852" y="100854"/>
            <a:ext cx="26334" cy="133910"/>
          </a:xfrm>
          <a:custGeom>
            <a:avLst/>
            <a:gdLst/>
            <a:ahLst/>
            <a:cxnLst/>
            <a:rect l="l" t="t" r="r" b="b"/>
            <a:pathLst>
              <a:path w="29845" h="151765">
                <a:moveTo>
                  <a:pt x="29679" y="151654"/>
                </a:moveTo>
                <a:lnTo>
                  <a:pt x="20927" y="125386"/>
                </a:lnTo>
                <a:lnTo>
                  <a:pt x="0" y="0"/>
                </a:lnTo>
              </a:path>
            </a:pathLst>
          </a:custGeom>
          <a:ln w="12150">
            <a:solidFill>
              <a:srgbClr val="6D6E71"/>
            </a:solidFill>
          </a:ln>
        </p:spPr>
        <p:txBody>
          <a:bodyPr wrap="square" lIns="0" tIns="0" rIns="0" bIns="0" rtlCol="0"/>
          <a:lstStyle/>
          <a:p>
            <a:endParaRPr sz="2647"/>
          </a:p>
        </p:txBody>
      </p:sp>
      <p:sp>
        <p:nvSpPr>
          <p:cNvPr id="17" name="object 17"/>
          <p:cNvSpPr/>
          <p:nvPr/>
        </p:nvSpPr>
        <p:spPr>
          <a:xfrm>
            <a:off x="1223982" y="100853"/>
            <a:ext cx="448235" cy="249891"/>
          </a:xfrm>
          <a:custGeom>
            <a:avLst/>
            <a:gdLst/>
            <a:ahLst/>
            <a:cxnLst/>
            <a:rect l="l" t="t" r="r" b="b"/>
            <a:pathLst>
              <a:path w="508000" h="283210">
                <a:moveTo>
                  <a:pt x="0" y="212841"/>
                </a:moveTo>
                <a:lnTo>
                  <a:pt x="21903" y="208515"/>
                </a:lnTo>
                <a:lnTo>
                  <a:pt x="56885" y="186621"/>
                </a:lnTo>
                <a:lnTo>
                  <a:pt x="105017" y="77272"/>
                </a:lnTo>
                <a:lnTo>
                  <a:pt x="258146" y="51052"/>
                </a:lnTo>
                <a:lnTo>
                  <a:pt x="241925" y="0"/>
                </a:lnTo>
              </a:path>
              <a:path w="508000" h="283210">
                <a:moveTo>
                  <a:pt x="297531" y="282848"/>
                </a:moveTo>
                <a:lnTo>
                  <a:pt x="284428" y="256580"/>
                </a:lnTo>
                <a:lnTo>
                  <a:pt x="323810" y="243483"/>
                </a:lnTo>
                <a:lnTo>
                  <a:pt x="341309" y="94792"/>
                </a:lnTo>
                <a:lnTo>
                  <a:pt x="507567" y="55402"/>
                </a:lnTo>
                <a:lnTo>
                  <a:pt x="501055" y="0"/>
                </a:lnTo>
              </a:path>
            </a:pathLst>
          </a:custGeom>
          <a:ln w="12152">
            <a:solidFill>
              <a:srgbClr val="6D6E71"/>
            </a:solidFill>
          </a:ln>
        </p:spPr>
        <p:txBody>
          <a:bodyPr wrap="square" lIns="0" tIns="0" rIns="0" bIns="0" rtlCol="0"/>
          <a:lstStyle/>
          <a:p>
            <a:endParaRPr sz="2647"/>
          </a:p>
        </p:txBody>
      </p:sp>
      <p:sp>
        <p:nvSpPr>
          <p:cNvPr id="18" name="object 18"/>
          <p:cNvSpPr/>
          <p:nvPr/>
        </p:nvSpPr>
        <p:spPr>
          <a:xfrm>
            <a:off x="938266" y="100853"/>
            <a:ext cx="127747" cy="245969"/>
          </a:xfrm>
          <a:custGeom>
            <a:avLst/>
            <a:gdLst/>
            <a:ahLst/>
            <a:cxnLst/>
            <a:rect l="l" t="t" r="r" b="b"/>
            <a:pathLst>
              <a:path w="144780" h="278765">
                <a:moveTo>
                  <a:pt x="122500" y="278474"/>
                </a:moveTo>
                <a:lnTo>
                  <a:pt x="144378" y="164751"/>
                </a:lnTo>
                <a:lnTo>
                  <a:pt x="0" y="86044"/>
                </a:lnTo>
                <a:lnTo>
                  <a:pt x="11937" y="0"/>
                </a:lnTo>
              </a:path>
            </a:pathLst>
          </a:custGeom>
          <a:ln w="12150">
            <a:solidFill>
              <a:srgbClr val="6D6E71"/>
            </a:solidFill>
          </a:ln>
        </p:spPr>
        <p:txBody>
          <a:bodyPr wrap="square" lIns="0" tIns="0" rIns="0" bIns="0" rtlCol="0"/>
          <a:lstStyle/>
          <a:p>
            <a:endParaRPr sz="2647"/>
          </a:p>
        </p:txBody>
      </p:sp>
      <p:sp>
        <p:nvSpPr>
          <p:cNvPr id="19" name="object 19"/>
          <p:cNvSpPr/>
          <p:nvPr/>
        </p:nvSpPr>
        <p:spPr>
          <a:xfrm>
            <a:off x="5733799" y="100853"/>
            <a:ext cx="15688" cy="72278"/>
          </a:xfrm>
          <a:custGeom>
            <a:avLst/>
            <a:gdLst/>
            <a:ahLst/>
            <a:cxnLst/>
            <a:rect l="l" t="t" r="r" b="b"/>
            <a:pathLst>
              <a:path w="17779" h="81914">
                <a:moveTo>
                  <a:pt x="17323" y="81670"/>
                </a:moveTo>
                <a:lnTo>
                  <a:pt x="4170" y="11662"/>
                </a:lnTo>
                <a:lnTo>
                  <a:pt x="0" y="0"/>
                </a:lnTo>
              </a:path>
            </a:pathLst>
          </a:custGeom>
          <a:ln w="12150">
            <a:solidFill>
              <a:srgbClr val="6D6E71"/>
            </a:solidFill>
          </a:ln>
        </p:spPr>
        <p:txBody>
          <a:bodyPr wrap="square" lIns="0" tIns="0" rIns="0" bIns="0" rtlCol="0"/>
          <a:lstStyle/>
          <a:p>
            <a:endParaRPr sz="2647"/>
          </a:p>
        </p:txBody>
      </p:sp>
      <p:sp>
        <p:nvSpPr>
          <p:cNvPr id="20" name="object 20"/>
          <p:cNvSpPr/>
          <p:nvPr/>
        </p:nvSpPr>
        <p:spPr>
          <a:xfrm>
            <a:off x="548311" y="504801"/>
            <a:ext cx="66115" cy="366993"/>
          </a:xfrm>
          <a:custGeom>
            <a:avLst/>
            <a:gdLst/>
            <a:ahLst/>
            <a:cxnLst/>
            <a:rect l="l" t="t" r="r" b="b"/>
            <a:pathLst>
              <a:path w="74929" h="415925">
                <a:moveTo>
                  <a:pt x="30602" y="0"/>
                </a:moveTo>
                <a:lnTo>
                  <a:pt x="74360" y="21894"/>
                </a:lnTo>
                <a:lnTo>
                  <a:pt x="43757" y="253690"/>
                </a:lnTo>
                <a:lnTo>
                  <a:pt x="0" y="345519"/>
                </a:lnTo>
                <a:lnTo>
                  <a:pt x="4376" y="415551"/>
                </a:lnTo>
              </a:path>
            </a:pathLst>
          </a:custGeom>
          <a:ln w="12150">
            <a:solidFill>
              <a:srgbClr val="6D6E71"/>
            </a:solidFill>
          </a:ln>
        </p:spPr>
        <p:txBody>
          <a:bodyPr wrap="square" lIns="0" tIns="0" rIns="0" bIns="0" rtlCol="0"/>
          <a:lstStyle/>
          <a:p>
            <a:endParaRPr sz="2647"/>
          </a:p>
        </p:txBody>
      </p:sp>
      <p:sp>
        <p:nvSpPr>
          <p:cNvPr id="21" name="object 21"/>
          <p:cNvSpPr/>
          <p:nvPr/>
        </p:nvSpPr>
        <p:spPr>
          <a:xfrm>
            <a:off x="9003879" y="663936"/>
            <a:ext cx="6163" cy="34178"/>
          </a:xfrm>
          <a:custGeom>
            <a:avLst/>
            <a:gdLst/>
            <a:ahLst/>
            <a:cxnLst/>
            <a:rect l="l" t="t" r="r" b="b"/>
            <a:pathLst>
              <a:path w="6984" h="38734">
                <a:moveTo>
                  <a:pt x="0" y="38345"/>
                </a:moveTo>
                <a:lnTo>
                  <a:pt x="6404" y="0"/>
                </a:lnTo>
              </a:path>
            </a:pathLst>
          </a:custGeom>
          <a:ln w="12150">
            <a:solidFill>
              <a:srgbClr val="6D6E71"/>
            </a:solidFill>
          </a:ln>
        </p:spPr>
        <p:txBody>
          <a:bodyPr wrap="square" lIns="0" tIns="0" rIns="0" bIns="0" rtlCol="0"/>
          <a:lstStyle/>
          <a:p>
            <a:endParaRPr sz="2647"/>
          </a:p>
        </p:txBody>
      </p:sp>
      <p:sp>
        <p:nvSpPr>
          <p:cNvPr id="22" name="object 22"/>
          <p:cNvSpPr/>
          <p:nvPr/>
        </p:nvSpPr>
        <p:spPr>
          <a:xfrm>
            <a:off x="8540601" y="254040"/>
            <a:ext cx="468966" cy="532840"/>
          </a:xfrm>
          <a:custGeom>
            <a:avLst/>
            <a:gdLst/>
            <a:ahLst/>
            <a:cxnLst/>
            <a:rect l="l" t="t" r="r" b="b"/>
            <a:pathLst>
              <a:path w="531495" h="603885">
                <a:moveTo>
                  <a:pt x="531452" y="392402"/>
                </a:moveTo>
                <a:lnTo>
                  <a:pt x="472585" y="362950"/>
                </a:lnTo>
                <a:lnTo>
                  <a:pt x="459408" y="319186"/>
                </a:lnTo>
                <a:lnTo>
                  <a:pt x="498813" y="227357"/>
                </a:lnTo>
                <a:lnTo>
                  <a:pt x="529443" y="135504"/>
                </a:lnTo>
                <a:lnTo>
                  <a:pt x="531452" y="73210"/>
                </a:lnTo>
              </a:path>
              <a:path w="531495" h="603885">
                <a:moveTo>
                  <a:pt x="531452" y="0"/>
                </a:moveTo>
                <a:lnTo>
                  <a:pt x="350009" y="8659"/>
                </a:lnTo>
                <a:lnTo>
                  <a:pt x="376289" y="61171"/>
                </a:lnTo>
                <a:lnTo>
                  <a:pt x="236287" y="74268"/>
                </a:lnTo>
                <a:lnTo>
                  <a:pt x="249391" y="118008"/>
                </a:lnTo>
                <a:lnTo>
                  <a:pt x="262520" y="227357"/>
                </a:lnTo>
              </a:path>
              <a:path w="531495" h="603885">
                <a:moveTo>
                  <a:pt x="0" y="603494"/>
                </a:moveTo>
                <a:lnTo>
                  <a:pt x="131273" y="590396"/>
                </a:lnTo>
                <a:lnTo>
                  <a:pt x="275675" y="524787"/>
                </a:lnTo>
                <a:lnTo>
                  <a:pt x="319407" y="411015"/>
                </a:lnTo>
                <a:lnTo>
                  <a:pt x="358838" y="402316"/>
                </a:lnTo>
                <a:lnTo>
                  <a:pt x="433179" y="463527"/>
                </a:lnTo>
                <a:lnTo>
                  <a:pt x="450707" y="481047"/>
                </a:lnTo>
                <a:lnTo>
                  <a:pt x="525096" y="502893"/>
                </a:lnTo>
                <a:lnTo>
                  <a:pt x="531452" y="500703"/>
                </a:lnTo>
              </a:path>
            </a:pathLst>
          </a:custGeom>
          <a:ln w="12152">
            <a:solidFill>
              <a:srgbClr val="6D6E71"/>
            </a:solidFill>
          </a:ln>
        </p:spPr>
        <p:txBody>
          <a:bodyPr wrap="square" lIns="0" tIns="0" rIns="0" bIns="0" rtlCol="0"/>
          <a:lstStyle/>
          <a:p>
            <a:endParaRPr sz="2647"/>
          </a:p>
        </p:txBody>
      </p:sp>
      <p:sp>
        <p:nvSpPr>
          <p:cNvPr id="39" name="object 39"/>
          <p:cNvSpPr txBox="1"/>
          <p:nvPr/>
        </p:nvSpPr>
        <p:spPr>
          <a:xfrm>
            <a:off x="803157" y="2068152"/>
            <a:ext cx="6876410" cy="3798739"/>
          </a:xfrm>
          <a:prstGeom prst="rect">
            <a:avLst/>
          </a:prstGeom>
        </p:spPr>
        <p:txBody>
          <a:bodyPr vert="horz" wrap="square" lIns="0" tIns="117101" rIns="0" bIns="0" rtlCol="0">
            <a:spAutoFit/>
          </a:bodyPr>
          <a:lstStyle/>
          <a:p>
            <a:pPr marL="226931" indent="-215725">
              <a:lnSpc>
                <a:spcPct val="150000"/>
              </a:lnSpc>
              <a:spcBef>
                <a:spcPts val="922"/>
              </a:spcBef>
              <a:buFont typeface="Tahoma"/>
              <a:buChar char="‣"/>
              <a:tabLst>
                <a:tab pos="226931" algn="l"/>
              </a:tabLst>
            </a:pPr>
            <a:r>
              <a:rPr lang="en-US" sz="2800" b="1" i="1" spc="-9" dirty="0">
                <a:latin typeface="Calibri"/>
                <a:cs typeface="Calibri"/>
              </a:rPr>
              <a:t>Why study algorithms?</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Course overview</a:t>
            </a:r>
          </a:p>
          <a:p>
            <a:pPr marL="226931" indent="-215725">
              <a:lnSpc>
                <a:spcPct val="150000"/>
              </a:lnSpc>
              <a:spcBef>
                <a:spcPts val="922"/>
              </a:spcBef>
              <a:buFont typeface="Tahoma"/>
              <a:buChar char="‣"/>
              <a:tabLst>
                <a:tab pos="226931" algn="l"/>
              </a:tabLst>
            </a:pPr>
            <a:r>
              <a:rPr lang="en-US" altLang="zh-CN" sz="2800" b="1" i="1" spc="-9" dirty="0">
                <a:solidFill>
                  <a:srgbClr val="FF0000"/>
                </a:solidFill>
                <a:latin typeface="Calibri"/>
                <a:cs typeface="Calibri"/>
              </a:rPr>
              <a:t>1.1 Algorithm and program</a:t>
            </a:r>
          </a:p>
          <a:p>
            <a:pPr marL="226931" indent="-215725">
              <a:lnSpc>
                <a:spcPct val="150000"/>
              </a:lnSpc>
              <a:spcBef>
                <a:spcPts val="922"/>
              </a:spcBef>
              <a:buFont typeface="Tahoma"/>
              <a:buChar char="‣"/>
              <a:tabLst>
                <a:tab pos="226931" algn="l"/>
              </a:tabLst>
            </a:pPr>
            <a:r>
              <a:rPr lang="en-US" sz="2800" b="1" i="1" dirty="0">
                <a:latin typeface="Calibri"/>
                <a:cs typeface="Calibri"/>
              </a:rPr>
              <a:t>1.2 </a:t>
            </a:r>
            <a:r>
              <a:rPr lang="en-US" altLang="zh-CN" sz="2800" b="1" i="1" dirty="0">
                <a:latin typeface="Calibri"/>
                <a:cs typeface="Calibri"/>
              </a:rPr>
              <a:t>A</a:t>
            </a:r>
            <a:r>
              <a:rPr lang="en-US" sz="2800" b="1" i="1" dirty="0">
                <a:latin typeface="Calibri"/>
                <a:cs typeface="Calibri"/>
              </a:rPr>
              <a:t>lgorithm complexity analysis</a:t>
            </a:r>
            <a:endParaRPr sz="2800" b="1" dirty="0">
              <a:latin typeface="Calibri"/>
              <a:cs typeface="Calibri"/>
            </a:endParaRPr>
          </a:p>
          <a:p>
            <a:pPr marL="226931" indent="-215725">
              <a:lnSpc>
                <a:spcPct val="150000"/>
              </a:lnSpc>
              <a:spcBef>
                <a:spcPts val="838"/>
              </a:spcBef>
              <a:buFont typeface="Tahoma"/>
              <a:buChar char="‣"/>
              <a:tabLst>
                <a:tab pos="226931" algn="l"/>
              </a:tabLst>
            </a:pPr>
            <a:r>
              <a:rPr lang="en-US" sz="2800" b="1" i="1" dirty="0">
                <a:latin typeface="Calibri"/>
                <a:cs typeface="Calibri"/>
              </a:rPr>
              <a:t>1.3 NP hard </a:t>
            </a:r>
            <a:r>
              <a:rPr sz="2800" b="1" i="1" dirty="0">
                <a:latin typeface="Calibri"/>
                <a:cs typeface="Calibri"/>
              </a:rPr>
              <a:t>theory</a:t>
            </a:r>
            <a:r>
              <a:rPr sz="2800" b="1" i="1" spc="190" dirty="0">
                <a:latin typeface="Calibri"/>
                <a:cs typeface="Calibri"/>
              </a:rPr>
              <a:t> </a:t>
            </a:r>
            <a:r>
              <a:rPr sz="2800" b="1" i="1" dirty="0">
                <a:latin typeface="Calibri"/>
                <a:cs typeface="Calibri"/>
              </a:rPr>
              <a:t>of</a:t>
            </a:r>
            <a:r>
              <a:rPr sz="2800" b="1" i="1" spc="190" dirty="0">
                <a:latin typeface="Calibri"/>
                <a:cs typeface="Calibri"/>
              </a:rPr>
              <a:t> </a:t>
            </a:r>
            <a:r>
              <a:rPr sz="2800" b="1" i="1" spc="-9" dirty="0">
                <a:latin typeface="Calibri"/>
                <a:cs typeface="Calibri"/>
              </a:rPr>
              <a:t>algorithms</a:t>
            </a:r>
            <a:endParaRPr sz="2800" b="1" dirty="0">
              <a:latin typeface="Calibri"/>
              <a:cs typeface="Calibri"/>
            </a:endParaRPr>
          </a:p>
        </p:txBody>
      </p:sp>
      <p:sp>
        <p:nvSpPr>
          <p:cNvPr id="41" name="标题 40"/>
          <p:cNvSpPr>
            <a:spLocks noGrp="1"/>
          </p:cNvSpPr>
          <p:nvPr>
            <p:ph type="title"/>
          </p:nvPr>
        </p:nvSpPr>
        <p:spPr>
          <a:xfrm>
            <a:off x="420599" y="866694"/>
            <a:ext cx="8229600" cy="1139825"/>
          </a:xfrm>
        </p:spPr>
        <p:txBody>
          <a:bodyPr/>
          <a:lstStyle/>
          <a:p>
            <a:r>
              <a:rPr lang="en-US" altLang="zh-CN" sz="4400" b="1" spc="176" dirty="0">
                <a:latin typeface="微软雅黑" panose="020B0503020204020204" pitchFamily="34" charset="-122"/>
                <a:ea typeface="微软雅黑" panose="020B0503020204020204" pitchFamily="34" charset="-122"/>
                <a:cs typeface="Calibri"/>
              </a:rPr>
              <a:t>1</a:t>
            </a:r>
            <a:r>
              <a:rPr lang="zh-CN" altLang="en-US" sz="4400" b="1" spc="176" dirty="0">
                <a:latin typeface="微软雅黑" panose="020B0503020204020204" pitchFamily="34" charset="-122"/>
                <a:ea typeface="微软雅黑" panose="020B0503020204020204" pitchFamily="34" charset="-122"/>
                <a:cs typeface="Calibri"/>
              </a:rPr>
              <a:t>、 算法概述</a:t>
            </a:r>
            <a:r>
              <a:rPr lang="zh-CN" altLang="en-US" sz="4400" dirty="0">
                <a:latin typeface="微软雅黑" panose="020B0503020204020204" pitchFamily="34" charset="-122"/>
                <a:ea typeface="微软雅黑" panose="020B0503020204020204" pitchFamily="34" charset="-122"/>
                <a:cs typeface="Century Gothic"/>
              </a:rPr>
              <a:t/>
            </a:r>
            <a:br>
              <a:rPr lang="zh-CN" altLang="en-US" sz="4400" dirty="0">
                <a:latin typeface="微软雅黑" panose="020B0503020204020204" pitchFamily="34" charset="-122"/>
                <a:ea typeface="微软雅黑" panose="020B0503020204020204" pitchFamily="34" charset="-122"/>
                <a:cs typeface="Century Gothic"/>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8324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FF8FA41-66B6-E84A-463F-DA93D0E38E41}"/>
              </a:ext>
            </a:extLst>
          </p:cNvPr>
          <p:cNvSpPr>
            <a:spLocks noGrp="1" noChangeArrowheads="1"/>
          </p:cNvSpPr>
          <p:nvPr>
            <p:ph type="title"/>
          </p:nvPr>
        </p:nvSpPr>
        <p:spPr>
          <a:xfrm>
            <a:off x="428625" y="571500"/>
            <a:ext cx="8229600" cy="650875"/>
          </a:xfrm>
        </p:spPr>
        <p:txBody>
          <a:bodyPr/>
          <a:lstStyle/>
          <a:p>
            <a:r>
              <a:rPr lang="zh-CN" altLang="en-US" sz="3200" b="1" dirty="0">
                <a:solidFill>
                  <a:srgbClr val="3907F1"/>
                </a:solidFill>
                <a:latin typeface="微软雅黑" panose="020B0503020204020204" pitchFamily="34" charset="-122"/>
                <a:ea typeface="微软雅黑" panose="020B0503020204020204" pitchFamily="34" charset="-122"/>
              </a:rPr>
              <a:t>学习要点</a:t>
            </a:r>
            <a:r>
              <a:rPr lang="en-US" altLang="zh-CN" sz="3200" b="1" dirty="0">
                <a:solidFill>
                  <a:srgbClr val="3907F1"/>
                </a:solidFill>
                <a:latin typeface="微软雅黑" panose="020B0503020204020204" pitchFamily="34" charset="-122"/>
                <a:ea typeface="微软雅黑" panose="020B0503020204020204" pitchFamily="34" charset="-122"/>
              </a:rPr>
              <a:t>: </a:t>
            </a:r>
            <a:endParaRPr lang="zh-CN" altLang="en-US" sz="3200" b="1" dirty="0">
              <a:solidFill>
                <a:srgbClr val="0000FF"/>
              </a:solidFill>
              <a:latin typeface="微软雅黑" panose="020B0503020204020204" pitchFamily="34" charset="-122"/>
              <a:ea typeface="微软雅黑" panose="020B0503020204020204" pitchFamily="34" charset="-122"/>
            </a:endParaRPr>
          </a:p>
        </p:txBody>
      </p:sp>
      <p:sp>
        <p:nvSpPr>
          <p:cNvPr id="18435" name="Rectangle 3">
            <a:extLst>
              <a:ext uri="{FF2B5EF4-FFF2-40B4-BE49-F238E27FC236}">
                <a16:creationId xmlns:a16="http://schemas.microsoft.com/office/drawing/2014/main" id="{09457B0C-A228-C6EC-6ADE-88F972A5090E}"/>
              </a:ext>
            </a:extLst>
          </p:cNvPr>
          <p:cNvSpPr>
            <a:spLocks noGrp="1" noChangeArrowheads="1"/>
          </p:cNvSpPr>
          <p:nvPr>
            <p:ph type="body" idx="1"/>
          </p:nvPr>
        </p:nvSpPr>
        <p:spPr>
          <a:xfrm>
            <a:off x="638175" y="1700808"/>
            <a:ext cx="7810500" cy="4799013"/>
          </a:xfrm>
        </p:spPr>
        <p:txBody>
          <a:bodyPr/>
          <a:lstStyle/>
          <a:p>
            <a:pPr>
              <a:lnSpc>
                <a:spcPct val="150000"/>
              </a:lnSpc>
              <a:buFont typeface="Symbol" panose="05050102010706020507" pitchFamily="18" charset="2"/>
              <a:buChar char="·"/>
            </a:pPr>
            <a:r>
              <a:rPr lang="zh-CN" altLang="en-US" sz="3200" b="1" dirty="0">
                <a:latin typeface="微软雅黑" panose="020B0503020204020204" pitchFamily="34" charset="-122"/>
                <a:ea typeface="微软雅黑" panose="020B0503020204020204" pitchFamily="34" charset="-122"/>
              </a:rPr>
              <a:t>理解算法的概念。</a:t>
            </a:r>
          </a:p>
          <a:p>
            <a:pPr>
              <a:lnSpc>
                <a:spcPct val="150000"/>
              </a:lnSpc>
              <a:buFont typeface="Symbol" panose="05050102010706020507" pitchFamily="18" charset="2"/>
              <a:buChar char="·"/>
            </a:pPr>
            <a:r>
              <a:rPr lang="zh-CN" altLang="en-US" sz="3200" b="1" dirty="0">
                <a:latin typeface="微软雅黑" panose="020B0503020204020204" pitchFamily="34" charset="-122"/>
                <a:ea typeface="微软雅黑" panose="020B0503020204020204" pitchFamily="34" charset="-122"/>
              </a:rPr>
              <a:t>理解什么是程序，程序与算法的区别和内在联系。 </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0B8E690-2846-FA2A-CB32-C3A4AAA0E395}"/>
              </a:ext>
            </a:extLst>
          </p:cNvPr>
          <p:cNvSpPr>
            <a:spLocks noGrp="1" noChangeArrowheads="1"/>
          </p:cNvSpPr>
          <p:nvPr>
            <p:ph type="title"/>
          </p:nvPr>
        </p:nvSpPr>
        <p:spPr>
          <a:xfrm>
            <a:off x="457200" y="277813"/>
            <a:ext cx="8229600" cy="865187"/>
          </a:xfrm>
        </p:spPr>
        <p:txBody>
          <a:bodyPr/>
          <a:lstStyle/>
          <a:p>
            <a:r>
              <a:rPr lang="en-US" altLang="zh-CN" sz="2800" b="1" dirty="0">
                <a:solidFill>
                  <a:srgbClr val="0000FF"/>
                </a:solidFill>
                <a:latin typeface="微软雅黑" panose="020B0503020204020204" pitchFamily="34" charset="-122"/>
                <a:ea typeface="微软雅黑" panose="020B0503020204020204" pitchFamily="34" charset="-122"/>
              </a:rPr>
              <a:t>1.1 </a:t>
            </a:r>
            <a:r>
              <a:rPr lang="zh-CN" altLang="en-US" sz="2800" b="1" dirty="0">
                <a:solidFill>
                  <a:srgbClr val="0000FF"/>
                </a:solidFill>
                <a:latin typeface="微软雅黑" panose="020B0503020204020204" pitchFamily="34" charset="-122"/>
                <a:ea typeface="微软雅黑" panose="020B0503020204020204" pitchFamily="34" charset="-122"/>
              </a:rPr>
              <a:t>算法</a:t>
            </a:r>
            <a:r>
              <a:rPr lang="en-US" altLang="zh-CN" sz="2800" b="1" dirty="0">
                <a:solidFill>
                  <a:srgbClr val="0000FF"/>
                </a:solidFill>
                <a:latin typeface="微软雅黑" panose="020B0503020204020204" pitchFamily="34" charset="-122"/>
                <a:ea typeface="微软雅黑" panose="020B0503020204020204" pitchFamily="34" charset="-122"/>
              </a:rPr>
              <a:t>(Algorithm)</a:t>
            </a:r>
          </a:p>
        </p:txBody>
      </p:sp>
      <p:sp>
        <p:nvSpPr>
          <p:cNvPr id="19459" name="Rectangle 3">
            <a:extLst>
              <a:ext uri="{FF2B5EF4-FFF2-40B4-BE49-F238E27FC236}">
                <a16:creationId xmlns:a16="http://schemas.microsoft.com/office/drawing/2014/main" id="{5DB2E53B-12EE-A0FB-2C40-CD941A678FE7}"/>
              </a:ext>
            </a:extLst>
          </p:cNvPr>
          <p:cNvSpPr>
            <a:spLocks noGrp="1" noChangeArrowheads="1"/>
          </p:cNvSpPr>
          <p:nvPr>
            <p:ph type="body" idx="1"/>
          </p:nvPr>
        </p:nvSpPr>
        <p:spPr>
          <a:xfrm>
            <a:off x="330537" y="1268760"/>
            <a:ext cx="4978895" cy="4968875"/>
          </a:xfrm>
        </p:spPr>
        <p:txBody>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算法</a:t>
            </a:r>
            <a:r>
              <a:rPr lang="zh-CN" altLang="en-US" sz="2000" b="1" dirty="0">
                <a:latin typeface="微软雅黑" panose="020B0503020204020204" pitchFamily="34" charset="-122"/>
                <a:ea typeface="微软雅黑" panose="020B0503020204020204" pitchFamily="34" charset="-122"/>
              </a:rPr>
              <a:t>是指</a:t>
            </a:r>
            <a:r>
              <a:rPr lang="zh-CN" altLang="en-US" sz="2000" b="1" u="sng" dirty="0">
                <a:latin typeface="微软雅黑" panose="020B0503020204020204" pitchFamily="34" charset="-122"/>
                <a:ea typeface="微软雅黑" panose="020B0503020204020204" pitchFamily="34" charset="-122"/>
              </a:rPr>
              <a:t>解决问题</a:t>
            </a:r>
            <a:r>
              <a:rPr lang="zh-CN" altLang="en-US" sz="2000" b="1" dirty="0">
                <a:latin typeface="微软雅黑" panose="020B0503020204020204" pitchFamily="34" charset="-122"/>
                <a:ea typeface="微软雅黑" panose="020B0503020204020204" pitchFamily="34" charset="-122"/>
              </a:rPr>
              <a:t>的一种方法或一个过程。</a:t>
            </a:r>
            <a:r>
              <a:rPr lang="zh-CN" altLang="en-US" sz="2000" b="1" u="sng" dirty="0">
                <a:latin typeface="微软雅黑" panose="020B0503020204020204" pitchFamily="34" charset="-122"/>
                <a:ea typeface="微软雅黑" panose="020B0503020204020204" pitchFamily="34" charset="-122"/>
              </a:rPr>
              <a:t>算法是若干指令的有穷序列</a:t>
            </a:r>
            <a:r>
              <a:rPr lang="zh-CN" altLang="en-US" sz="2000" b="1" dirty="0">
                <a:latin typeface="微软雅黑" panose="020B0503020204020204" pitchFamily="34" charset="-122"/>
                <a:ea typeface="微软雅黑" panose="020B0503020204020204" pitchFamily="34" charset="-122"/>
              </a:rPr>
              <a:t>，满足性质：</a:t>
            </a:r>
          </a:p>
          <a:p>
            <a:pPr>
              <a:lnSpc>
                <a:spcPct val="150000"/>
              </a:lnSpc>
              <a:buFont typeface="Wingdings" panose="05000000000000000000" pitchFamily="2" charset="2"/>
              <a:buNone/>
            </a:pPr>
            <a:r>
              <a:rPr lang="en-US" altLang="zh-CN" sz="2000" b="1" dirty="0">
                <a:latin typeface="微软雅黑" panose="020B0503020204020204" pitchFamily="34" charset="-122"/>
                <a:ea typeface="微软雅黑" panose="020B0503020204020204" pitchFamily="34" charset="-122"/>
              </a:rPr>
              <a:t>(1)</a:t>
            </a:r>
            <a:r>
              <a:rPr lang="zh-CN" altLang="en-US" sz="2000" b="1" dirty="0">
                <a:solidFill>
                  <a:srgbClr val="3907F1"/>
                </a:solidFill>
                <a:latin typeface="微软雅黑" panose="020B0503020204020204" pitchFamily="34" charset="-122"/>
                <a:ea typeface="微软雅黑" panose="020B0503020204020204" pitchFamily="34" charset="-122"/>
              </a:rPr>
              <a:t>输入</a:t>
            </a:r>
            <a:r>
              <a:rPr lang="zh-CN" altLang="en-US" sz="2000" b="1" dirty="0">
                <a:latin typeface="微软雅黑" panose="020B0503020204020204" pitchFamily="34" charset="-122"/>
                <a:ea typeface="微软雅黑" panose="020B0503020204020204" pitchFamily="34" charset="-122"/>
              </a:rPr>
              <a:t>：有外部提供的量作为算法的输入</a:t>
            </a:r>
          </a:p>
          <a:p>
            <a:pPr>
              <a:lnSpc>
                <a:spcPct val="150000"/>
              </a:lnSpc>
              <a:buFont typeface="Wingdings" panose="05000000000000000000" pitchFamily="2" charset="2"/>
              <a:buNone/>
            </a:pPr>
            <a:r>
              <a:rPr lang="en-US" altLang="zh-CN" sz="2000" b="1" dirty="0">
                <a:latin typeface="微软雅黑" panose="020B0503020204020204" pitchFamily="34" charset="-122"/>
                <a:ea typeface="微软雅黑" panose="020B0503020204020204" pitchFamily="34" charset="-122"/>
              </a:rPr>
              <a:t>(2)</a:t>
            </a:r>
            <a:r>
              <a:rPr lang="zh-CN" altLang="en-US" sz="2000" b="1" dirty="0">
                <a:solidFill>
                  <a:srgbClr val="3907F1"/>
                </a:solidFill>
                <a:latin typeface="微软雅黑" panose="020B0503020204020204" pitchFamily="34" charset="-122"/>
                <a:ea typeface="微软雅黑" panose="020B0503020204020204" pitchFamily="34" charset="-122"/>
              </a:rPr>
              <a:t>输出</a:t>
            </a:r>
            <a:r>
              <a:rPr lang="zh-CN" altLang="en-US" sz="2000" b="1" dirty="0">
                <a:latin typeface="微软雅黑" panose="020B0503020204020204" pitchFamily="34" charset="-122"/>
                <a:ea typeface="微软雅黑" panose="020B0503020204020204" pitchFamily="34" charset="-122"/>
              </a:rPr>
              <a:t>：算法产生至少一个量作为输出</a:t>
            </a:r>
          </a:p>
          <a:p>
            <a:pPr>
              <a:lnSpc>
                <a:spcPct val="150000"/>
              </a:lnSpc>
              <a:buFont typeface="Wingdings" panose="05000000000000000000" pitchFamily="2" charset="2"/>
              <a:buNone/>
            </a:pPr>
            <a:r>
              <a:rPr lang="en-US" altLang="zh-CN" sz="2000" b="1" dirty="0">
                <a:latin typeface="微软雅黑" panose="020B0503020204020204" pitchFamily="34" charset="-122"/>
                <a:ea typeface="微软雅黑" panose="020B0503020204020204" pitchFamily="34" charset="-122"/>
              </a:rPr>
              <a:t>(3)</a:t>
            </a:r>
            <a:r>
              <a:rPr lang="zh-CN" altLang="en-US" sz="2000" b="1" dirty="0">
                <a:solidFill>
                  <a:srgbClr val="3907F1"/>
                </a:solidFill>
                <a:latin typeface="微软雅黑" panose="020B0503020204020204" pitchFamily="34" charset="-122"/>
                <a:ea typeface="微软雅黑" panose="020B0503020204020204" pitchFamily="34" charset="-122"/>
              </a:rPr>
              <a:t>确定性</a:t>
            </a:r>
            <a:r>
              <a:rPr lang="zh-CN" altLang="en-US" sz="2000" b="1" dirty="0">
                <a:latin typeface="微软雅黑" panose="020B0503020204020204" pitchFamily="34" charset="-122"/>
                <a:ea typeface="微软雅黑" panose="020B0503020204020204" pitchFamily="34" charset="-122"/>
              </a:rPr>
              <a:t>：组成算法的每条指令是清晰，无歧义的</a:t>
            </a:r>
          </a:p>
          <a:p>
            <a:pPr>
              <a:lnSpc>
                <a:spcPct val="150000"/>
              </a:lnSpc>
              <a:buFont typeface="Wingdings" panose="05000000000000000000" pitchFamily="2" charset="2"/>
              <a:buNone/>
            </a:pPr>
            <a:r>
              <a:rPr lang="en-US" altLang="zh-CN" sz="2000" b="1" dirty="0">
                <a:latin typeface="微软雅黑" panose="020B0503020204020204" pitchFamily="34" charset="-122"/>
                <a:ea typeface="微软雅黑" panose="020B0503020204020204" pitchFamily="34" charset="-122"/>
              </a:rPr>
              <a:t>(4)</a:t>
            </a:r>
            <a:r>
              <a:rPr lang="zh-CN" altLang="en-US" sz="2000" b="1" dirty="0">
                <a:solidFill>
                  <a:srgbClr val="3907F1"/>
                </a:solidFill>
                <a:latin typeface="微软雅黑" panose="020B0503020204020204" pitchFamily="34" charset="-122"/>
                <a:ea typeface="微软雅黑" panose="020B0503020204020204" pitchFamily="34" charset="-122"/>
              </a:rPr>
              <a:t>有限性</a:t>
            </a:r>
            <a:r>
              <a:rPr lang="zh-CN" altLang="en-US" sz="2000" b="1" dirty="0">
                <a:latin typeface="微软雅黑" panose="020B0503020204020204" pitchFamily="34" charset="-122"/>
                <a:ea typeface="微软雅黑" panose="020B0503020204020204" pitchFamily="34" charset="-122"/>
              </a:rPr>
              <a:t>：算法中每条指令的执行次数是有限，执行每条指令时间也是有限的。</a:t>
            </a:r>
          </a:p>
        </p:txBody>
      </p:sp>
      <p:pic>
        <p:nvPicPr>
          <p:cNvPr id="2" name="图片 1"/>
          <p:cNvPicPr>
            <a:picLocks noChangeAspect="1"/>
          </p:cNvPicPr>
          <p:nvPr/>
        </p:nvPicPr>
        <p:blipFill>
          <a:blip r:embed="rId3"/>
          <a:stretch>
            <a:fillRect/>
          </a:stretch>
        </p:blipFill>
        <p:spPr>
          <a:xfrm>
            <a:off x="5292080" y="1151231"/>
            <a:ext cx="3741837" cy="4496916"/>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7813"/>
            <a:ext cx="822960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0000FF"/>
                </a:solidFill>
                <a:latin typeface="微软雅黑" panose="020B0503020204020204" pitchFamily="34" charset="-122"/>
                <a:ea typeface="微软雅黑" panose="020B0503020204020204" pitchFamily="34" charset="-122"/>
                <a:cs typeface="宋体"/>
              </a:rPr>
              <a:t>1.1 </a:t>
            </a:r>
            <a:r>
              <a:rPr sz="2800" b="1" spc="-30" dirty="0" err="1">
                <a:solidFill>
                  <a:srgbClr val="0000FF"/>
                </a:solidFill>
                <a:latin typeface="微软雅黑" panose="020B0503020204020204" pitchFamily="34" charset="-122"/>
                <a:ea typeface="微软雅黑" panose="020B0503020204020204" pitchFamily="34" charset="-122"/>
                <a:cs typeface="宋体"/>
              </a:rPr>
              <a:t>算法</a:t>
            </a:r>
            <a:r>
              <a:rPr sz="2800" b="1" spc="-10" dirty="0">
                <a:solidFill>
                  <a:srgbClr val="0000FF"/>
                </a:solidFill>
                <a:latin typeface="微软雅黑" panose="020B0503020204020204" pitchFamily="34" charset="-122"/>
                <a:ea typeface="微软雅黑" panose="020B0503020204020204" pitchFamily="34" charset="-122"/>
                <a:cs typeface="Garamond"/>
              </a:rPr>
              <a:t>(Algorithm)</a:t>
            </a:r>
            <a:endParaRPr sz="2800" dirty="0">
              <a:latin typeface="微软雅黑" panose="020B0503020204020204" pitchFamily="34" charset="-122"/>
              <a:ea typeface="微软雅黑" panose="020B0503020204020204" pitchFamily="34" charset="-122"/>
              <a:cs typeface="Garamond"/>
            </a:endParaRPr>
          </a:p>
        </p:txBody>
      </p:sp>
      <p:sp>
        <p:nvSpPr>
          <p:cNvPr id="3" name="object 3"/>
          <p:cNvSpPr txBox="1"/>
          <p:nvPr/>
        </p:nvSpPr>
        <p:spPr>
          <a:xfrm>
            <a:off x="621790" y="1384553"/>
            <a:ext cx="8342697" cy="1687641"/>
          </a:xfrm>
          <a:prstGeom prst="rect">
            <a:avLst/>
          </a:prstGeom>
        </p:spPr>
        <p:txBody>
          <a:bodyPr vert="horz" wrap="square" lIns="0" tIns="12700" rIns="0" bIns="0" rtlCol="0">
            <a:spAutoFit/>
          </a:bodyPr>
          <a:lstStyle/>
          <a:p>
            <a:pPr marL="12700" marR="5080">
              <a:lnSpc>
                <a:spcPct val="150000"/>
              </a:lnSpc>
              <a:spcBef>
                <a:spcPts val="100"/>
              </a:spcBef>
            </a:pPr>
            <a:r>
              <a:rPr lang="zh-CN" altLang="en-US" sz="2400" b="1" dirty="0">
                <a:latin typeface="微软雅黑" panose="020B0503020204020204" pitchFamily="34" charset="-122"/>
                <a:ea typeface="微软雅黑" panose="020B0503020204020204" pitchFamily="34" charset="-122"/>
                <a:cs typeface="微软雅黑"/>
              </a:rPr>
              <a:t>例：</a:t>
            </a:r>
            <a:r>
              <a:rPr sz="2400" b="1" dirty="0" err="1">
                <a:solidFill>
                  <a:srgbClr val="000066"/>
                </a:solidFill>
                <a:latin typeface="微软雅黑" panose="020B0503020204020204" pitchFamily="34" charset="-122"/>
                <a:ea typeface="微软雅黑" panose="020B0503020204020204" pitchFamily="34" charset="-122"/>
                <a:cs typeface="微软雅黑"/>
              </a:rPr>
              <a:t>最大公约数</a:t>
            </a:r>
            <a:endParaRPr lang="en-US" sz="2400" b="1" dirty="0">
              <a:solidFill>
                <a:srgbClr val="000066"/>
              </a:solidFill>
              <a:latin typeface="微软雅黑" panose="020B0503020204020204" pitchFamily="34" charset="-122"/>
              <a:ea typeface="微软雅黑" panose="020B0503020204020204" pitchFamily="34" charset="-122"/>
              <a:cs typeface="微软雅黑"/>
            </a:endParaRPr>
          </a:p>
          <a:p>
            <a:pPr marL="12700" marR="5080">
              <a:lnSpc>
                <a:spcPct val="150000"/>
              </a:lnSpc>
              <a:spcBef>
                <a:spcPts val="100"/>
              </a:spcBef>
            </a:pPr>
            <a:r>
              <a:rPr lang="zh-CN" altLang="en-US" sz="2400" spc="-15" dirty="0">
                <a:latin typeface="微软雅黑" panose="020B0503020204020204" pitchFamily="34" charset="-122"/>
                <a:ea typeface="微软雅黑" panose="020B0503020204020204" pitchFamily="34" charset="-122"/>
                <a:cs typeface="微软雅黑"/>
              </a:rPr>
              <a:t>两个不全为 </a:t>
            </a:r>
            <a:r>
              <a:rPr lang="en-US" altLang="zh-CN" sz="2400" spc="-25" dirty="0">
                <a:latin typeface="微软雅黑" panose="020B0503020204020204" pitchFamily="34" charset="-122"/>
                <a:ea typeface="微软雅黑" panose="020B0503020204020204" pitchFamily="34" charset="-122"/>
                <a:cs typeface="Arial"/>
              </a:rPr>
              <a:t>0</a:t>
            </a:r>
            <a:r>
              <a:rPr lang="zh-CN" altLang="en-US" sz="2400" spc="-10" dirty="0">
                <a:latin typeface="微软雅黑" panose="020B0503020204020204" pitchFamily="34" charset="-122"/>
                <a:ea typeface="微软雅黑" panose="020B0503020204020204" pitchFamily="34" charset="-122"/>
                <a:cs typeface="微软雅黑"/>
              </a:rPr>
              <a:t>的非负整数 </a:t>
            </a:r>
            <a:r>
              <a:rPr lang="en-US" altLang="zh-CN" sz="2400" spc="-10" dirty="0">
                <a:latin typeface="微软雅黑" panose="020B0503020204020204" pitchFamily="34" charset="-122"/>
                <a:ea typeface="微软雅黑" panose="020B0503020204020204" pitchFamily="34" charset="-122"/>
                <a:cs typeface="Arial"/>
              </a:rPr>
              <a:t>m</a:t>
            </a:r>
            <a:r>
              <a:rPr lang="zh-CN" altLang="en-US" sz="2400" dirty="0">
                <a:latin typeface="微软雅黑" panose="020B0503020204020204" pitchFamily="34" charset="-122"/>
                <a:ea typeface="微软雅黑" panose="020B0503020204020204" pitchFamily="34" charset="-122"/>
                <a:cs typeface="微软雅黑"/>
              </a:rPr>
              <a:t>和</a:t>
            </a:r>
            <a:r>
              <a:rPr lang="en-US" altLang="zh-CN" sz="2400" spc="-10" dirty="0">
                <a:latin typeface="微软雅黑" panose="020B0503020204020204" pitchFamily="34" charset="-122"/>
                <a:ea typeface="微软雅黑" panose="020B0503020204020204" pitchFamily="34" charset="-122"/>
                <a:cs typeface="Arial"/>
              </a:rPr>
              <a:t>n</a:t>
            </a:r>
            <a:r>
              <a:rPr lang="zh-CN" altLang="en-US" sz="2400" spc="-5" dirty="0">
                <a:latin typeface="微软雅黑" panose="020B0503020204020204" pitchFamily="34" charset="-122"/>
                <a:ea typeface="微软雅黑" panose="020B0503020204020204" pitchFamily="34" charset="-122"/>
                <a:cs typeface="微软雅黑"/>
              </a:rPr>
              <a:t>的最大公约数是能够同时整除它们的最大正整数</a:t>
            </a:r>
            <a:r>
              <a:rPr lang="zh-CN" altLang="en-US" sz="2400" b="1" spc="-15" dirty="0">
                <a:latin typeface="微软雅黑" panose="020B0503020204020204" pitchFamily="34" charset="-122"/>
                <a:ea typeface="微软雅黑" panose="020B0503020204020204" pitchFamily="34" charset="-122"/>
                <a:cs typeface="Arial"/>
              </a:rPr>
              <a:t>，记为</a:t>
            </a:r>
            <a:r>
              <a:rPr sz="2400" spc="-10" dirty="0" err="1">
                <a:solidFill>
                  <a:srgbClr val="000066"/>
                </a:solidFill>
                <a:latin typeface="微软雅黑" panose="020B0503020204020204" pitchFamily="34" charset="-122"/>
                <a:ea typeface="微软雅黑" panose="020B0503020204020204" pitchFamily="34" charset="-122"/>
                <a:cs typeface="Arial"/>
              </a:rPr>
              <a:t>gcd</a:t>
            </a:r>
            <a:r>
              <a:rPr sz="2400" spc="-10" dirty="0">
                <a:solidFill>
                  <a:srgbClr val="000066"/>
                </a:solidFill>
                <a:latin typeface="微软雅黑" panose="020B0503020204020204" pitchFamily="34" charset="-122"/>
                <a:ea typeface="微软雅黑" panose="020B0503020204020204" pitchFamily="34" charset="-122"/>
                <a:cs typeface="Arial"/>
              </a:rPr>
              <a:t>(</a:t>
            </a:r>
            <a:r>
              <a:rPr sz="2400" spc="-10" dirty="0" err="1">
                <a:solidFill>
                  <a:srgbClr val="000066"/>
                </a:solidFill>
                <a:latin typeface="微软雅黑" panose="020B0503020204020204" pitchFamily="34" charset="-122"/>
                <a:ea typeface="微软雅黑" panose="020B0503020204020204" pitchFamily="34" charset="-122"/>
                <a:cs typeface="Arial"/>
              </a:rPr>
              <a:t>m,n</a:t>
            </a:r>
            <a:r>
              <a:rPr sz="2400" spc="-10" dirty="0">
                <a:solidFill>
                  <a:srgbClr val="000066"/>
                </a:solidFill>
                <a:latin typeface="微软雅黑" panose="020B0503020204020204" pitchFamily="34" charset="-122"/>
                <a:ea typeface="微软雅黑" panose="020B0503020204020204" pitchFamily="34" charset="-122"/>
                <a:cs typeface="Arial"/>
              </a:rPr>
              <a:t>)</a:t>
            </a:r>
            <a:endParaRPr sz="2400" spc="-5" dirty="0">
              <a:latin typeface="微软雅黑" panose="020B0503020204020204" pitchFamily="34" charset="-122"/>
              <a:ea typeface="微软雅黑" panose="020B0503020204020204" pitchFamily="34" charset="-122"/>
              <a:cs typeface="微软雅黑"/>
            </a:endParaRPr>
          </a:p>
        </p:txBody>
      </p:sp>
      <p:sp>
        <p:nvSpPr>
          <p:cNvPr id="4" name="矩形 3"/>
          <p:cNvSpPr/>
          <p:nvPr/>
        </p:nvSpPr>
        <p:spPr>
          <a:xfrm>
            <a:off x="-396552" y="3735223"/>
            <a:ext cx="8928992" cy="461665"/>
          </a:xfrm>
          <a:prstGeom prst="rect">
            <a:avLst/>
          </a:prstGeom>
        </p:spPr>
        <p:txBody>
          <a:bodyPr wrap="square">
            <a:spAutoFit/>
          </a:bodyPr>
          <a:lstStyle/>
          <a:p>
            <a:pPr marL="1009650" lvl="2">
              <a:spcBef>
                <a:spcPts val="1780"/>
              </a:spcBef>
            </a:pPr>
            <a:r>
              <a:rPr lang="en-US" altLang="zh-CN" sz="2400" dirty="0" err="1">
                <a:latin typeface="微软雅黑" panose="020B0503020204020204" pitchFamily="34" charset="-122"/>
                <a:ea typeface="微软雅黑" panose="020B0503020204020204" pitchFamily="34" charset="-122"/>
                <a:cs typeface="Arial"/>
              </a:rPr>
              <a:t>gcd</a:t>
            </a:r>
            <a:r>
              <a:rPr lang="en-US" altLang="zh-CN" sz="2400" dirty="0">
                <a:latin typeface="微软雅黑" panose="020B0503020204020204" pitchFamily="34" charset="-122"/>
                <a:ea typeface="微软雅黑" panose="020B0503020204020204" pitchFamily="34" charset="-122"/>
                <a:cs typeface="Arial"/>
              </a:rPr>
              <a:t>(60,24) = </a:t>
            </a:r>
            <a:r>
              <a:rPr lang="en-US" altLang="zh-CN" sz="2400" spc="-25" dirty="0">
                <a:latin typeface="微软雅黑" panose="020B0503020204020204" pitchFamily="34" charset="-122"/>
                <a:ea typeface="微软雅黑" panose="020B0503020204020204" pitchFamily="34" charset="-122"/>
                <a:cs typeface="Arial"/>
              </a:rPr>
              <a:t>12</a:t>
            </a:r>
            <a:endParaRPr lang="en-US" altLang="zh-CN" sz="2400" dirty="0">
              <a:latin typeface="微软雅黑" panose="020B0503020204020204" pitchFamily="34" charset="-122"/>
              <a:ea typeface="微软雅黑" panose="020B0503020204020204" pitchFamily="34" charset="-122"/>
              <a:cs typeface="Arial"/>
            </a:endParaRPr>
          </a:p>
        </p:txBody>
      </p:sp>
    </p:spTree>
    <p:extLst>
      <p:ext uri="{BB962C8B-B14F-4D97-AF65-F5344CB8AC3E}">
        <p14:creationId xmlns:p14="http://schemas.microsoft.com/office/powerpoint/2010/main" val="455752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290322"/>
            <a:ext cx="3748028" cy="443711"/>
          </a:xfrm>
          <a:prstGeom prst="rect">
            <a:avLst/>
          </a:prstGeom>
        </p:spPr>
        <p:txBody>
          <a:bodyPr vert="horz" wrap="square" lIns="0" tIns="12700" rIns="0" bIns="0" rtlCol="0">
            <a:spAutoFit/>
          </a:bodyPr>
          <a:lstStyle/>
          <a:p>
            <a:pPr marL="12700">
              <a:lnSpc>
                <a:spcPct val="100000"/>
              </a:lnSpc>
              <a:spcBef>
                <a:spcPts val="100"/>
              </a:spcBef>
            </a:pPr>
            <a:r>
              <a:rPr sz="2800" b="1" spc="-30" dirty="0">
                <a:solidFill>
                  <a:srgbClr val="0000FF"/>
                </a:solidFill>
                <a:latin typeface="微软雅黑" panose="020B0503020204020204" pitchFamily="34" charset="-122"/>
                <a:ea typeface="微软雅黑" panose="020B0503020204020204" pitchFamily="34" charset="-122"/>
                <a:cs typeface="宋体"/>
              </a:rPr>
              <a:t>算法</a:t>
            </a:r>
            <a:r>
              <a:rPr sz="2800" b="1" spc="-10" dirty="0">
                <a:solidFill>
                  <a:srgbClr val="0000FF"/>
                </a:solidFill>
                <a:latin typeface="微软雅黑" panose="020B0503020204020204" pitchFamily="34" charset="-122"/>
                <a:ea typeface="微软雅黑" panose="020B0503020204020204" pitchFamily="34" charset="-122"/>
                <a:cs typeface="Garamond"/>
              </a:rPr>
              <a:t>(Algorithm)</a:t>
            </a:r>
            <a:endParaRPr sz="2800" dirty="0">
              <a:latin typeface="微软雅黑" panose="020B0503020204020204" pitchFamily="34" charset="-122"/>
              <a:ea typeface="微软雅黑" panose="020B0503020204020204" pitchFamily="34" charset="-122"/>
              <a:cs typeface="Garamond"/>
            </a:endParaRPr>
          </a:p>
        </p:txBody>
      </p:sp>
      <p:sp>
        <p:nvSpPr>
          <p:cNvPr id="3" name="object 3"/>
          <p:cNvSpPr txBox="1"/>
          <p:nvPr/>
        </p:nvSpPr>
        <p:spPr>
          <a:xfrm>
            <a:off x="793191" y="3717032"/>
            <a:ext cx="4537075" cy="375103"/>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0" tIns="66675" rIns="0" bIns="0" rtlCol="0">
            <a:spAutoFit/>
          </a:bodyPr>
          <a:lstStyle/>
          <a:p>
            <a:pPr marL="153035">
              <a:lnSpc>
                <a:spcPct val="100000"/>
              </a:lnSpc>
              <a:spcBef>
                <a:spcPts val="525"/>
              </a:spcBef>
            </a:pPr>
            <a:r>
              <a:rPr sz="2000" b="1" spc="-10" dirty="0" err="1">
                <a:solidFill>
                  <a:srgbClr val="000066"/>
                </a:solidFill>
                <a:latin typeface="微软雅黑" panose="020B0503020204020204" pitchFamily="34" charset="-122"/>
                <a:ea typeface="微软雅黑" panose="020B0503020204020204" pitchFamily="34" charset="-122"/>
                <a:cs typeface="微软雅黑"/>
              </a:rPr>
              <a:t>第一步</a:t>
            </a:r>
            <a:r>
              <a:rPr sz="2000" spc="-10" dirty="0">
                <a:solidFill>
                  <a:srgbClr val="000066"/>
                </a:solidFill>
                <a:latin typeface="微软雅黑" panose="020B0503020204020204" pitchFamily="34" charset="-122"/>
                <a:ea typeface="微软雅黑" panose="020B0503020204020204" pitchFamily="34" charset="-122"/>
                <a:cs typeface="微软雅黑"/>
              </a:rPr>
              <a:t>∶</a:t>
            </a:r>
            <a:r>
              <a:rPr lang="zh-CN" altLang="en-US" sz="2000" spc="-10" dirty="0">
                <a:solidFill>
                  <a:srgbClr val="000066"/>
                </a:solidFill>
                <a:latin typeface="微软雅黑" panose="020B0503020204020204" pitchFamily="34" charset="-122"/>
                <a:ea typeface="微软雅黑" panose="020B0503020204020204" pitchFamily="34" charset="-122"/>
                <a:cs typeface="微软雅黑"/>
              </a:rPr>
              <a:t>计算</a:t>
            </a:r>
            <a:r>
              <a:rPr sz="2000" dirty="0">
                <a:solidFill>
                  <a:srgbClr val="000066"/>
                </a:solidFill>
                <a:latin typeface="微软雅黑" panose="020B0503020204020204" pitchFamily="34" charset="-122"/>
                <a:ea typeface="微软雅黑" panose="020B0503020204020204" pitchFamily="34" charset="-122"/>
                <a:cs typeface="Arial"/>
              </a:rPr>
              <a:t>m</a:t>
            </a:r>
            <a:r>
              <a:rPr sz="2000" spc="50" dirty="0">
                <a:solidFill>
                  <a:srgbClr val="000066"/>
                </a:solidFill>
                <a:latin typeface="微软雅黑" panose="020B0503020204020204" pitchFamily="34" charset="-122"/>
                <a:ea typeface="微软雅黑" panose="020B0503020204020204" pitchFamily="34" charset="-122"/>
                <a:cs typeface="Arial"/>
              </a:rPr>
              <a:t> </a:t>
            </a:r>
            <a:r>
              <a:rPr sz="2000" spc="-20" dirty="0">
                <a:solidFill>
                  <a:srgbClr val="000066"/>
                </a:solidFill>
                <a:latin typeface="微软雅黑" panose="020B0503020204020204" pitchFamily="34" charset="-122"/>
                <a:ea typeface="微软雅黑" panose="020B0503020204020204" pitchFamily="34" charset="-122"/>
                <a:cs typeface="微软雅黑"/>
              </a:rPr>
              <a:t>的所有质因数。</a:t>
            </a:r>
            <a:endParaRPr sz="2000" dirty="0">
              <a:latin typeface="微软雅黑" panose="020B0503020204020204" pitchFamily="34" charset="-122"/>
              <a:ea typeface="微软雅黑" panose="020B0503020204020204" pitchFamily="34" charset="-122"/>
              <a:cs typeface="微软雅黑"/>
            </a:endParaRPr>
          </a:p>
        </p:txBody>
      </p:sp>
      <p:sp>
        <p:nvSpPr>
          <p:cNvPr id="4" name="object 4"/>
          <p:cNvSpPr txBox="1"/>
          <p:nvPr/>
        </p:nvSpPr>
        <p:spPr>
          <a:xfrm>
            <a:off x="850076" y="4276806"/>
            <a:ext cx="7949565" cy="1141338"/>
          </a:xfrm>
          <a:prstGeom prst="rect">
            <a:avLst/>
          </a:prstGeom>
        </p:spPr>
        <p:txBody>
          <a:bodyPr vert="horz" wrap="square" lIns="0" tIns="12700" rIns="0" bIns="0" rtlCol="0">
            <a:spAutoFit/>
          </a:bodyPr>
          <a:lstStyle/>
          <a:p>
            <a:pPr marL="63500">
              <a:lnSpc>
                <a:spcPts val="2875"/>
              </a:lnSpc>
              <a:spcBef>
                <a:spcPts val="100"/>
              </a:spcBef>
            </a:pPr>
            <a:r>
              <a:rPr sz="2000" b="1" dirty="0" err="1">
                <a:solidFill>
                  <a:srgbClr val="000066"/>
                </a:solidFill>
                <a:latin typeface="微软雅黑" panose="020B0503020204020204" pitchFamily="34" charset="-122"/>
                <a:ea typeface="微软雅黑" panose="020B0503020204020204" pitchFamily="34" charset="-122"/>
                <a:cs typeface="微软雅黑"/>
              </a:rPr>
              <a:t>第二步</a:t>
            </a:r>
            <a:r>
              <a:rPr sz="2000" dirty="0">
                <a:solidFill>
                  <a:srgbClr val="000066"/>
                </a:solidFill>
                <a:latin typeface="微软雅黑" panose="020B0503020204020204" pitchFamily="34" charset="-122"/>
                <a:ea typeface="微软雅黑" panose="020B0503020204020204" pitchFamily="34" charset="-122"/>
                <a:cs typeface="微软雅黑"/>
              </a:rPr>
              <a:t>∶</a:t>
            </a:r>
            <a:r>
              <a:rPr lang="zh-CN" altLang="en-US" sz="2000" dirty="0">
                <a:solidFill>
                  <a:srgbClr val="000066"/>
                </a:solidFill>
                <a:latin typeface="微软雅黑" panose="020B0503020204020204" pitchFamily="34" charset="-122"/>
                <a:ea typeface="微软雅黑" panose="020B0503020204020204" pitchFamily="34" charset="-122"/>
                <a:cs typeface="微软雅黑"/>
              </a:rPr>
              <a:t>计算</a:t>
            </a:r>
            <a:r>
              <a:rPr sz="2000" spc="-10" dirty="0" err="1">
                <a:solidFill>
                  <a:srgbClr val="000066"/>
                </a:solidFill>
                <a:latin typeface="微软雅黑" panose="020B0503020204020204" pitchFamily="34" charset="-122"/>
                <a:ea typeface="微软雅黑" panose="020B0503020204020204" pitchFamily="34" charset="-122"/>
                <a:cs typeface="Arial"/>
              </a:rPr>
              <a:t>n</a:t>
            </a:r>
            <a:r>
              <a:rPr sz="2000" spc="-10" dirty="0" err="1">
                <a:solidFill>
                  <a:srgbClr val="000066"/>
                </a:solidFill>
                <a:latin typeface="微软雅黑" panose="020B0503020204020204" pitchFamily="34" charset="-122"/>
                <a:ea typeface="微软雅黑" panose="020B0503020204020204" pitchFamily="34" charset="-122"/>
                <a:cs typeface="微软雅黑"/>
              </a:rPr>
              <a:t>的所有质因数</a:t>
            </a:r>
            <a:r>
              <a:rPr sz="2000" spc="-10" dirty="0">
                <a:solidFill>
                  <a:srgbClr val="000066"/>
                </a:solidFill>
                <a:latin typeface="微软雅黑" panose="020B0503020204020204" pitchFamily="34" charset="-122"/>
                <a:ea typeface="微软雅黑" panose="020B0503020204020204" pitchFamily="34" charset="-122"/>
                <a:cs typeface="微软雅黑"/>
              </a:rPr>
              <a:t>。</a:t>
            </a:r>
            <a:endParaRPr lang="en-US" sz="2000" spc="-10" dirty="0">
              <a:solidFill>
                <a:srgbClr val="000066"/>
              </a:solidFill>
              <a:latin typeface="微软雅黑" panose="020B0503020204020204" pitchFamily="34" charset="-122"/>
              <a:ea typeface="微软雅黑" panose="020B0503020204020204" pitchFamily="34" charset="-122"/>
              <a:cs typeface="微软雅黑"/>
            </a:endParaRPr>
          </a:p>
          <a:p>
            <a:pPr marL="63500">
              <a:lnSpc>
                <a:spcPts val="2875"/>
              </a:lnSpc>
              <a:spcBef>
                <a:spcPts val="100"/>
              </a:spcBef>
            </a:pPr>
            <a:endParaRPr sz="2000" dirty="0">
              <a:latin typeface="微软雅黑" panose="020B0503020204020204" pitchFamily="34" charset="-122"/>
              <a:ea typeface="微软雅黑" panose="020B0503020204020204" pitchFamily="34" charset="-122"/>
              <a:cs typeface="微软雅黑"/>
            </a:endParaRPr>
          </a:p>
          <a:p>
            <a:pPr marL="63500">
              <a:lnSpc>
                <a:spcPts val="2875"/>
              </a:lnSpc>
            </a:pPr>
            <a:r>
              <a:rPr sz="2000" b="1" spc="-5" dirty="0" err="1">
                <a:solidFill>
                  <a:srgbClr val="000066"/>
                </a:solidFill>
                <a:latin typeface="微软雅黑" panose="020B0503020204020204" pitchFamily="34" charset="-122"/>
                <a:ea typeface="微软雅黑" panose="020B0503020204020204" pitchFamily="34" charset="-122"/>
                <a:cs typeface="微软雅黑"/>
              </a:rPr>
              <a:t>第三步</a:t>
            </a:r>
            <a:r>
              <a:rPr lang="zh-CN" altLang="en-US" sz="2000" b="1" spc="-5" dirty="0">
                <a:latin typeface="微软雅黑" panose="020B0503020204020204" pitchFamily="34" charset="-122"/>
                <a:ea typeface="微软雅黑" panose="020B0503020204020204" pitchFamily="34" charset="-122"/>
                <a:cs typeface="微软雅黑"/>
              </a:rPr>
              <a:t>：</a:t>
            </a:r>
            <a:r>
              <a:rPr sz="2000" spc="-5" dirty="0" err="1">
                <a:solidFill>
                  <a:srgbClr val="000066"/>
                </a:solidFill>
                <a:latin typeface="微软雅黑" panose="020B0503020204020204" pitchFamily="34" charset="-122"/>
                <a:ea typeface="微软雅黑" panose="020B0503020204020204" pitchFamily="34" charset="-122"/>
                <a:cs typeface="微软雅黑"/>
              </a:rPr>
              <a:t>从第一步和第二步求得的质因数分解式中找出所</a:t>
            </a:r>
            <a:r>
              <a:rPr sz="2000" dirty="0" err="1">
                <a:solidFill>
                  <a:srgbClr val="000066"/>
                </a:solidFill>
                <a:latin typeface="微软雅黑" panose="020B0503020204020204" pitchFamily="34" charset="-122"/>
                <a:ea typeface="微软雅黑" panose="020B0503020204020204" pitchFamily="34" charset="-122"/>
                <a:cs typeface="微软雅黑"/>
              </a:rPr>
              <a:t>有的公因数</a:t>
            </a:r>
            <a:r>
              <a:rPr sz="2000" spc="-50" dirty="0">
                <a:solidFill>
                  <a:srgbClr val="000066"/>
                </a:solidFill>
                <a:latin typeface="微软雅黑" panose="020B0503020204020204" pitchFamily="34" charset="-122"/>
                <a:ea typeface="微软雅黑" panose="020B0503020204020204" pitchFamily="34" charset="-122"/>
                <a:cs typeface="微软雅黑"/>
              </a:rPr>
              <a:t>。</a:t>
            </a:r>
            <a:endParaRPr sz="2000" dirty="0">
              <a:latin typeface="微软雅黑" panose="020B0503020204020204" pitchFamily="34" charset="-122"/>
              <a:ea typeface="微软雅黑" panose="020B0503020204020204" pitchFamily="34" charset="-122"/>
              <a:cs typeface="微软雅黑"/>
            </a:endParaRPr>
          </a:p>
        </p:txBody>
      </p:sp>
      <p:sp>
        <p:nvSpPr>
          <p:cNvPr id="5" name="object 5"/>
          <p:cNvSpPr txBox="1"/>
          <p:nvPr/>
        </p:nvSpPr>
        <p:spPr>
          <a:xfrm>
            <a:off x="827584" y="5733256"/>
            <a:ext cx="7715250" cy="327013"/>
          </a:xfrm>
          <a:prstGeom prst="rect">
            <a:avLst/>
          </a:prstGeom>
          <a:ln/>
        </p:spPr>
        <p:style>
          <a:lnRef idx="2">
            <a:schemeClr val="accent3"/>
          </a:lnRef>
          <a:fillRef idx="1">
            <a:schemeClr val="lt1"/>
          </a:fillRef>
          <a:effectRef idx="0">
            <a:schemeClr val="accent3"/>
          </a:effectRef>
          <a:fontRef idx="minor">
            <a:schemeClr val="dk1"/>
          </a:fontRef>
        </p:style>
        <p:txBody>
          <a:bodyPr vert="horz" wrap="square" lIns="0" tIns="19050" rIns="0" bIns="0" rtlCol="0">
            <a:spAutoFit/>
          </a:bodyPr>
          <a:lstStyle/>
          <a:p>
            <a:pPr marL="91440">
              <a:lnSpc>
                <a:spcPct val="100000"/>
              </a:lnSpc>
              <a:spcBef>
                <a:spcPts val="150"/>
              </a:spcBef>
            </a:pPr>
            <a:r>
              <a:rPr sz="2000" b="1" spc="-5" dirty="0" err="1">
                <a:solidFill>
                  <a:srgbClr val="000066"/>
                </a:solidFill>
                <a:latin typeface="微软雅黑" panose="020B0503020204020204" pitchFamily="34" charset="-122"/>
                <a:ea typeface="微软雅黑" panose="020B0503020204020204" pitchFamily="34" charset="-122"/>
                <a:cs typeface="微软雅黑"/>
              </a:rPr>
              <a:t>第四步：</a:t>
            </a:r>
            <a:r>
              <a:rPr sz="2000" spc="-5" dirty="0" err="1">
                <a:solidFill>
                  <a:srgbClr val="000066"/>
                </a:solidFill>
                <a:latin typeface="微软雅黑" panose="020B0503020204020204" pitchFamily="34" charset="-122"/>
                <a:ea typeface="微软雅黑" panose="020B0503020204020204" pitchFamily="34" charset="-122"/>
                <a:cs typeface="微软雅黑"/>
              </a:rPr>
              <a:t>将</a:t>
            </a:r>
            <a:r>
              <a:rPr lang="zh-CN" altLang="en-US" sz="2000" spc="-5" dirty="0">
                <a:solidFill>
                  <a:srgbClr val="000066"/>
                </a:solidFill>
                <a:latin typeface="微软雅黑" panose="020B0503020204020204" pitchFamily="34" charset="-122"/>
                <a:ea typeface="微软雅黑" panose="020B0503020204020204" pitchFamily="34" charset="-122"/>
                <a:cs typeface="微软雅黑"/>
              </a:rPr>
              <a:t>公</a:t>
            </a:r>
            <a:r>
              <a:rPr sz="2000" spc="-5" dirty="0" err="1">
                <a:solidFill>
                  <a:srgbClr val="000066"/>
                </a:solidFill>
                <a:latin typeface="微软雅黑" panose="020B0503020204020204" pitchFamily="34" charset="-122"/>
                <a:ea typeface="微软雅黑" panose="020B0503020204020204" pitchFamily="34" charset="-122"/>
                <a:cs typeface="微软雅黑"/>
              </a:rPr>
              <a:t>因数相乘，其结果作为给定</a:t>
            </a:r>
            <a:r>
              <a:rPr sz="2000" spc="-10" dirty="0" err="1">
                <a:solidFill>
                  <a:srgbClr val="000066"/>
                </a:solidFill>
                <a:latin typeface="微软雅黑" panose="020B0503020204020204" pitchFamily="34" charset="-122"/>
                <a:ea typeface="微软雅黑" panose="020B0503020204020204" pitchFamily="34" charset="-122"/>
                <a:cs typeface="微软雅黑"/>
              </a:rPr>
              <a:t>数字的最大公约数</a:t>
            </a:r>
            <a:r>
              <a:rPr sz="2000" spc="-10" dirty="0">
                <a:solidFill>
                  <a:srgbClr val="000066"/>
                </a:solidFill>
                <a:latin typeface="微软雅黑" panose="020B0503020204020204" pitchFamily="34" charset="-122"/>
                <a:ea typeface="微软雅黑" panose="020B0503020204020204" pitchFamily="34" charset="-122"/>
                <a:cs typeface="微软雅黑"/>
              </a:rPr>
              <a:t>。</a:t>
            </a:r>
            <a:endParaRPr sz="2000" dirty="0">
              <a:latin typeface="微软雅黑" panose="020B0503020204020204" pitchFamily="34" charset="-122"/>
              <a:ea typeface="微软雅黑" panose="020B0503020204020204" pitchFamily="34" charset="-122"/>
              <a:cs typeface="微软雅黑"/>
            </a:endParaRPr>
          </a:p>
        </p:txBody>
      </p:sp>
      <p:sp>
        <p:nvSpPr>
          <p:cNvPr id="6" name="object 6"/>
          <p:cNvSpPr txBox="1"/>
          <p:nvPr/>
        </p:nvSpPr>
        <p:spPr>
          <a:xfrm>
            <a:off x="535940" y="927748"/>
            <a:ext cx="7636460" cy="1816523"/>
          </a:xfrm>
          <a:prstGeom prst="rect">
            <a:avLst/>
          </a:prstGeom>
        </p:spPr>
        <p:txBody>
          <a:bodyPr vert="horz" wrap="square" lIns="0" tIns="254635" rIns="0" bIns="0" rtlCol="0">
            <a:spAutoFit/>
          </a:bodyPr>
          <a:lstStyle/>
          <a:p>
            <a:pPr marL="12700">
              <a:lnSpc>
                <a:spcPct val="100000"/>
              </a:lnSpc>
              <a:spcBef>
                <a:spcPts val="2005"/>
              </a:spcBef>
            </a:pPr>
            <a:r>
              <a:rPr lang="zh-CN" altLang="en-US" sz="2800" spc="-10" dirty="0">
                <a:solidFill>
                  <a:srgbClr val="000066"/>
                </a:solidFill>
                <a:latin typeface="微软雅黑" panose="020B0503020204020204" pitchFamily="34" charset="-122"/>
                <a:ea typeface="微软雅黑" panose="020B0503020204020204" pitchFamily="34" charset="-122"/>
                <a:cs typeface="微软雅黑"/>
              </a:rPr>
              <a:t>算法</a:t>
            </a:r>
            <a:r>
              <a:rPr lang="en-US" altLang="zh-CN" sz="2800" spc="-10" dirty="0">
                <a:solidFill>
                  <a:srgbClr val="000066"/>
                </a:solidFill>
                <a:latin typeface="微软雅黑" panose="020B0503020204020204" pitchFamily="34" charset="-122"/>
                <a:ea typeface="微软雅黑" panose="020B0503020204020204" pitchFamily="34" charset="-122"/>
                <a:cs typeface="微软雅黑"/>
              </a:rPr>
              <a:t>1</a:t>
            </a:r>
            <a:r>
              <a:rPr lang="zh-CN" altLang="en-US" sz="2800" spc="-10" dirty="0">
                <a:solidFill>
                  <a:srgbClr val="000066"/>
                </a:solidFill>
                <a:latin typeface="微软雅黑" panose="020B0503020204020204" pitchFamily="34" charset="-122"/>
                <a:ea typeface="微软雅黑" panose="020B0503020204020204" pitchFamily="34" charset="-122"/>
                <a:cs typeface="微软雅黑"/>
              </a:rPr>
              <a:t>：</a:t>
            </a:r>
            <a:r>
              <a:rPr sz="2800" spc="-10" dirty="0" err="1">
                <a:solidFill>
                  <a:srgbClr val="000066"/>
                </a:solidFill>
                <a:latin typeface="微软雅黑" panose="020B0503020204020204" pitchFamily="34" charset="-122"/>
                <a:ea typeface="微软雅黑" panose="020B0503020204020204" pitchFamily="34" charset="-122"/>
                <a:cs typeface="微软雅黑"/>
              </a:rPr>
              <a:t>中学时</a:t>
            </a:r>
            <a:r>
              <a:rPr lang="en-US" sz="2800" spc="-10" dirty="0">
                <a:solidFill>
                  <a:srgbClr val="000066"/>
                </a:solidFill>
                <a:latin typeface="微软雅黑" panose="020B0503020204020204" pitchFamily="34" charset="-122"/>
                <a:ea typeface="微软雅黑" panose="020B0503020204020204" pitchFamily="34" charset="-122"/>
                <a:cs typeface="Arial"/>
              </a:rPr>
              <a:t>: </a:t>
            </a:r>
            <a:r>
              <a:rPr lang="zh-CN" altLang="en-US" sz="2800" spc="-10" dirty="0">
                <a:solidFill>
                  <a:srgbClr val="000066"/>
                </a:solidFill>
                <a:latin typeface="微软雅黑" panose="020B0503020204020204" pitchFamily="34" charset="-122"/>
                <a:ea typeface="微软雅黑" panose="020B0503020204020204" pitchFamily="34" charset="-122"/>
                <a:cs typeface="Arial"/>
              </a:rPr>
              <a:t>基于因式分解</a:t>
            </a:r>
            <a:r>
              <a:rPr lang="zh-CN" altLang="en-US" sz="2800" spc="-10" dirty="0">
                <a:latin typeface="微软雅黑" panose="020B0503020204020204" pitchFamily="34" charset="-122"/>
                <a:ea typeface="微软雅黑" panose="020B0503020204020204" pitchFamily="34" charset="-122"/>
                <a:cs typeface="微软雅黑"/>
              </a:rPr>
              <a:t>计算 </a:t>
            </a:r>
            <a:r>
              <a:rPr lang="en-US" altLang="zh-CN" sz="2800" spc="-10" dirty="0" err="1">
                <a:latin typeface="微软雅黑" panose="020B0503020204020204" pitchFamily="34" charset="-122"/>
                <a:ea typeface="微软雅黑" panose="020B0503020204020204" pitchFamily="34" charset="-122"/>
                <a:cs typeface="Arial"/>
              </a:rPr>
              <a:t>gcd</a:t>
            </a:r>
            <a:r>
              <a:rPr lang="en-US" altLang="zh-CN" sz="2800" spc="-10" dirty="0">
                <a:latin typeface="微软雅黑" panose="020B0503020204020204" pitchFamily="34" charset="-122"/>
                <a:ea typeface="微软雅黑" panose="020B0503020204020204" pitchFamily="34" charset="-122"/>
                <a:cs typeface="Arial"/>
              </a:rPr>
              <a:t>(60,24):</a:t>
            </a:r>
            <a:endParaRPr sz="2800" dirty="0">
              <a:latin typeface="微软雅黑" panose="020B0503020204020204" pitchFamily="34" charset="-122"/>
              <a:ea typeface="微软雅黑" panose="020B0503020204020204" pitchFamily="34" charset="-122"/>
              <a:cs typeface="Arial"/>
            </a:endParaRPr>
          </a:p>
          <a:p>
            <a:pPr marL="469900" lvl="1">
              <a:spcBef>
                <a:spcPts val="1630"/>
              </a:spcBef>
            </a:pPr>
            <a:r>
              <a:rPr lang="en-US" sz="2000"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60</a:t>
            </a:r>
            <a:r>
              <a:rPr sz="2000" spc="-15"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a:t>
            </a:r>
            <a:r>
              <a:rPr sz="2000" spc="-15" dirty="0">
                <a:solidFill>
                  <a:srgbClr val="000066"/>
                </a:solidFill>
                <a:latin typeface="微软雅黑" panose="020B0503020204020204" pitchFamily="34" charset="-122"/>
                <a:ea typeface="微软雅黑" panose="020B0503020204020204" pitchFamily="34" charset="-122"/>
                <a:cs typeface="Arial"/>
              </a:rPr>
              <a:t> </a:t>
            </a:r>
            <a:r>
              <a:rPr sz="2000" spc="-10" dirty="0">
                <a:solidFill>
                  <a:srgbClr val="000066"/>
                </a:solidFill>
                <a:latin typeface="微软雅黑" panose="020B0503020204020204" pitchFamily="34" charset="-122"/>
                <a:ea typeface="微软雅黑" panose="020B0503020204020204" pitchFamily="34" charset="-122"/>
                <a:cs typeface="Arial"/>
              </a:rPr>
              <a:t>2</a:t>
            </a:r>
            <a:r>
              <a:rPr sz="2000" spc="-10" dirty="0">
                <a:solidFill>
                  <a:srgbClr val="000066"/>
                </a:solidFill>
                <a:latin typeface="微软雅黑" panose="020B0503020204020204" pitchFamily="34" charset="-122"/>
                <a:ea typeface="微软雅黑" panose="020B0503020204020204" pitchFamily="34" charset="-122"/>
                <a:cs typeface="微软雅黑"/>
              </a:rPr>
              <a:t>×</a:t>
            </a:r>
            <a:r>
              <a:rPr sz="2000" spc="-10" dirty="0">
                <a:solidFill>
                  <a:srgbClr val="000066"/>
                </a:solidFill>
                <a:latin typeface="微软雅黑" panose="020B0503020204020204" pitchFamily="34" charset="-122"/>
                <a:ea typeface="微软雅黑" panose="020B0503020204020204" pitchFamily="34" charset="-122"/>
                <a:cs typeface="Arial"/>
              </a:rPr>
              <a:t>2</a:t>
            </a:r>
            <a:r>
              <a:rPr sz="2000" spc="-10" dirty="0">
                <a:solidFill>
                  <a:srgbClr val="000066"/>
                </a:solidFill>
                <a:latin typeface="微软雅黑" panose="020B0503020204020204" pitchFamily="34" charset="-122"/>
                <a:ea typeface="微软雅黑" panose="020B0503020204020204" pitchFamily="34" charset="-122"/>
                <a:cs typeface="微软雅黑"/>
              </a:rPr>
              <a:t>×</a:t>
            </a:r>
            <a:r>
              <a:rPr sz="2000" spc="-10" dirty="0">
                <a:solidFill>
                  <a:srgbClr val="000066"/>
                </a:solidFill>
                <a:latin typeface="微软雅黑" panose="020B0503020204020204" pitchFamily="34" charset="-122"/>
                <a:ea typeface="微软雅黑" panose="020B0503020204020204" pitchFamily="34" charset="-122"/>
                <a:cs typeface="Arial"/>
              </a:rPr>
              <a:t>3</a:t>
            </a:r>
            <a:r>
              <a:rPr sz="2000" spc="-10" dirty="0">
                <a:solidFill>
                  <a:srgbClr val="000066"/>
                </a:solidFill>
                <a:latin typeface="微软雅黑" panose="020B0503020204020204" pitchFamily="34" charset="-122"/>
                <a:ea typeface="微软雅黑" panose="020B0503020204020204" pitchFamily="34" charset="-122"/>
                <a:cs typeface="微软雅黑"/>
              </a:rPr>
              <a:t>×</a:t>
            </a:r>
            <a:r>
              <a:rPr sz="2000" spc="-10" dirty="0">
                <a:solidFill>
                  <a:srgbClr val="000066"/>
                </a:solidFill>
                <a:latin typeface="微软雅黑" panose="020B0503020204020204" pitchFamily="34" charset="-122"/>
                <a:ea typeface="微软雅黑" panose="020B0503020204020204" pitchFamily="34" charset="-122"/>
                <a:cs typeface="Arial"/>
              </a:rPr>
              <a:t>5</a:t>
            </a:r>
            <a:endParaRPr sz="2000" dirty="0">
              <a:latin typeface="微软雅黑" panose="020B0503020204020204" pitchFamily="34" charset="-122"/>
              <a:ea typeface="微软雅黑" panose="020B0503020204020204" pitchFamily="34" charset="-122"/>
              <a:cs typeface="Arial"/>
            </a:endParaRPr>
          </a:p>
          <a:p>
            <a:pPr marL="469900" lvl="1"/>
            <a:r>
              <a:rPr lang="en-US" sz="2000"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24=</a:t>
            </a:r>
            <a:r>
              <a:rPr sz="2000" spc="-45" dirty="0">
                <a:solidFill>
                  <a:srgbClr val="000066"/>
                </a:solidFill>
                <a:latin typeface="微软雅黑" panose="020B0503020204020204" pitchFamily="34" charset="-122"/>
                <a:ea typeface="微软雅黑" panose="020B0503020204020204" pitchFamily="34" charset="-122"/>
                <a:cs typeface="Arial"/>
              </a:rPr>
              <a:t> </a:t>
            </a:r>
            <a:r>
              <a:rPr sz="2000" spc="-10" dirty="0">
                <a:solidFill>
                  <a:srgbClr val="000066"/>
                </a:solidFill>
                <a:latin typeface="微软雅黑" panose="020B0503020204020204" pitchFamily="34" charset="-122"/>
                <a:ea typeface="微软雅黑" panose="020B0503020204020204" pitchFamily="34" charset="-122"/>
                <a:cs typeface="Arial"/>
              </a:rPr>
              <a:t>2</a:t>
            </a:r>
            <a:r>
              <a:rPr sz="2000" spc="-10" dirty="0">
                <a:solidFill>
                  <a:srgbClr val="000066"/>
                </a:solidFill>
                <a:latin typeface="微软雅黑" panose="020B0503020204020204" pitchFamily="34" charset="-122"/>
                <a:ea typeface="微软雅黑" panose="020B0503020204020204" pitchFamily="34" charset="-122"/>
                <a:cs typeface="微软雅黑"/>
              </a:rPr>
              <a:t>×</a:t>
            </a:r>
            <a:r>
              <a:rPr sz="2000" spc="-10" dirty="0">
                <a:solidFill>
                  <a:srgbClr val="000066"/>
                </a:solidFill>
                <a:latin typeface="微软雅黑" panose="020B0503020204020204" pitchFamily="34" charset="-122"/>
                <a:ea typeface="微软雅黑" panose="020B0503020204020204" pitchFamily="34" charset="-122"/>
                <a:cs typeface="Arial"/>
              </a:rPr>
              <a:t>2</a:t>
            </a:r>
            <a:r>
              <a:rPr sz="2000" spc="-10" dirty="0">
                <a:solidFill>
                  <a:srgbClr val="000066"/>
                </a:solidFill>
                <a:latin typeface="微软雅黑" panose="020B0503020204020204" pitchFamily="34" charset="-122"/>
                <a:ea typeface="微软雅黑" panose="020B0503020204020204" pitchFamily="34" charset="-122"/>
                <a:cs typeface="微软雅黑"/>
              </a:rPr>
              <a:t>×</a:t>
            </a:r>
            <a:r>
              <a:rPr sz="2000" spc="-10" dirty="0">
                <a:solidFill>
                  <a:srgbClr val="000066"/>
                </a:solidFill>
                <a:latin typeface="微软雅黑" panose="020B0503020204020204" pitchFamily="34" charset="-122"/>
                <a:ea typeface="微软雅黑" panose="020B0503020204020204" pitchFamily="34" charset="-122"/>
                <a:cs typeface="Arial"/>
              </a:rPr>
              <a:t>2</a:t>
            </a:r>
            <a:r>
              <a:rPr sz="2000" spc="-10" dirty="0">
                <a:solidFill>
                  <a:srgbClr val="000066"/>
                </a:solidFill>
                <a:latin typeface="微软雅黑" panose="020B0503020204020204" pitchFamily="34" charset="-122"/>
                <a:ea typeface="微软雅黑" panose="020B0503020204020204" pitchFamily="34" charset="-122"/>
                <a:cs typeface="微软雅黑"/>
              </a:rPr>
              <a:t>×</a:t>
            </a:r>
            <a:r>
              <a:rPr sz="2000" spc="-10" dirty="0">
                <a:solidFill>
                  <a:srgbClr val="000066"/>
                </a:solidFill>
                <a:latin typeface="微软雅黑" panose="020B0503020204020204" pitchFamily="34" charset="-122"/>
                <a:ea typeface="微软雅黑" panose="020B0503020204020204" pitchFamily="34" charset="-122"/>
                <a:cs typeface="Arial"/>
              </a:rPr>
              <a:t>3</a:t>
            </a:r>
            <a:endParaRPr sz="2000" dirty="0">
              <a:latin typeface="微软雅黑" panose="020B0503020204020204" pitchFamily="34" charset="-122"/>
              <a:ea typeface="微软雅黑" panose="020B0503020204020204" pitchFamily="34" charset="-122"/>
              <a:cs typeface="Arial"/>
            </a:endParaRPr>
          </a:p>
          <a:p>
            <a:pPr marL="469900" lvl="1"/>
            <a:r>
              <a:rPr lang="en-US" sz="2000" dirty="0">
                <a:solidFill>
                  <a:srgbClr val="000066"/>
                </a:solidFill>
                <a:latin typeface="微软雅黑" panose="020B0503020204020204" pitchFamily="34" charset="-122"/>
                <a:ea typeface="微软雅黑" panose="020B0503020204020204" pitchFamily="34" charset="-122"/>
                <a:cs typeface="Arial"/>
              </a:rPr>
              <a:t>                         </a:t>
            </a:r>
            <a:r>
              <a:rPr sz="2000" dirty="0" err="1">
                <a:solidFill>
                  <a:srgbClr val="000066"/>
                </a:solidFill>
                <a:latin typeface="微软雅黑" panose="020B0503020204020204" pitchFamily="34" charset="-122"/>
                <a:ea typeface="微软雅黑" panose="020B0503020204020204" pitchFamily="34" charset="-122"/>
                <a:cs typeface="Arial"/>
              </a:rPr>
              <a:t>gcd</a:t>
            </a:r>
            <a:r>
              <a:rPr sz="2000" dirty="0">
                <a:solidFill>
                  <a:srgbClr val="000066"/>
                </a:solidFill>
                <a:latin typeface="微软雅黑" panose="020B0503020204020204" pitchFamily="34" charset="-122"/>
                <a:ea typeface="微软雅黑" panose="020B0503020204020204" pitchFamily="34" charset="-122"/>
                <a:cs typeface="Arial"/>
              </a:rPr>
              <a:t>(60,</a:t>
            </a:r>
            <a:r>
              <a:rPr sz="2000" spc="-35"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24)</a:t>
            </a:r>
            <a:r>
              <a:rPr sz="2000" spc="-35"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a:t>
            </a:r>
            <a:r>
              <a:rPr sz="2000" spc="-35"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2</a:t>
            </a:r>
            <a:r>
              <a:rPr sz="2000" dirty="0">
                <a:solidFill>
                  <a:srgbClr val="000066"/>
                </a:solidFill>
                <a:latin typeface="微软雅黑" panose="020B0503020204020204" pitchFamily="34" charset="-122"/>
                <a:ea typeface="微软雅黑" panose="020B0503020204020204" pitchFamily="34" charset="-122"/>
                <a:cs typeface="微软雅黑"/>
              </a:rPr>
              <a:t>×</a:t>
            </a:r>
            <a:r>
              <a:rPr sz="2000" dirty="0">
                <a:solidFill>
                  <a:srgbClr val="000066"/>
                </a:solidFill>
                <a:latin typeface="微软雅黑" panose="020B0503020204020204" pitchFamily="34" charset="-122"/>
                <a:ea typeface="微软雅黑" panose="020B0503020204020204" pitchFamily="34" charset="-122"/>
                <a:cs typeface="Arial"/>
              </a:rPr>
              <a:t>2</a:t>
            </a:r>
            <a:r>
              <a:rPr sz="2000" dirty="0">
                <a:solidFill>
                  <a:srgbClr val="000066"/>
                </a:solidFill>
                <a:latin typeface="微软雅黑" panose="020B0503020204020204" pitchFamily="34" charset="-122"/>
                <a:ea typeface="微软雅黑" panose="020B0503020204020204" pitchFamily="34" charset="-122"/>
                <a:cs typeface="微软雅黑"/>
              </a:rPr>
              <a:t>×</a:t>
            </a:r>
            <a:r>
              <a:rPr sz="2000" dirty="0">
                <a:solidFill>
                  <a:srgbClr val="000066"/>
                </a:solidFill>
                <a:latin typeface="微软雅黑" panose="020B0503020204020204" pitchFamily="34" charset="-122"/>
                <a:ea typeface="微软雅黑" panose="020B0503020204020204" pitchFamily="34" charset="-122"/>
                <a:cs typeface="Arial"/>
              </a:rPr>
              <a:t>3</a:t>
            </a:r>
            <a:r>
              <a:rPr sz="2000" spc="-35" dirty="0">
                <a:solidFill>
                  <a:srgbClr val="000066"/>
                </a:solidFill>
                <a:latin typeface="微软雅黑" panose="020B0503020204020204" pitchFamily="34" charset="-122"/>
                <a:ea typeface="微软雅黑" panose="020B0503020204020204" pitchFamily="34" charset="-122"/>
                <a:cs typeface="Arial"/>
              </a:rPr>
              <a:t> </a:t>
            </a:r>
            <a:r>
              <a:rPr sz="2000" dirty="0">
                <a:solidFill>
                  <a:srgbClr val="000066"/>
                </a:solidFill>
                <a:latin typeface="微软雅黑" panose="020B0503020204020204" pitchFamily="34" charset="-122"/>
                <a:ea typeface="微软雅黑" panose="020B0503020204020204" pitchFamily="34" charset="-122"/>
                <a:cs typeface="Arial"/>
              </a:rPr>
              <a:t>=</a:t>
            </a:r>
            <a:r>
              <a:rPr sz="2000" spc="-45" dirty="0">
                <a:solidFill>
                  <a:srgbClr val="000066"/>
                </a:solidFill>
                <a:latin typeface="微软雅黑" panose="020B0503020204020204" pitchFamily="34" charset="-122"/>
                <a:ea typeface="微软雅黑" panose="020B0503020204020204" pitchFamily="34" charset="-122"/>
                <a:cs typeface="Arial"/>
              </a:rPr>
              <a:t> </a:t>
            </a:r>
            <a:r>
              <a:rPr sz="2000" spc="-25" dirty="0">
                <a:solidFill>
                  <a:srgbClr val="000066"/>
                </a:solidFill>
                <a:latin typeface="微软雅黑" panose="020B0503020204020204" pitchFamily="34" charset="-122"/>
                <a:ea typeface="微软雅黑" panose="020B0503020204020204" pitchFamily="34" charset="-122"/>
                <a:cs typeface="Arial"/>
              </a:rPr>
              <a:t>12</a:t>
            </a:r>
            <a:endParaRPr sz="2000" dirty="0">
              <a:latin typeface="微软雅黑" panose="020B0503020204020204" pitchFamily="34" charset="-122"/>
              <a:ea typeface="微软雅黑" panose="020B0503020204020204" pitchFamily="34" charset="-122"/>
              <a:cs typeface="Arial"/>
            </a:endParaRPr>
          </a:p>
        </p:txBody>
      </p:sp>
    </p:spTree>
    <p:extLst>
      <p:ext uri="{BB962C8B-B14F-4D97-AF65-F5344CB8AC3E}">
        <p14:creationId xmlns:p14="http://schemas.microsoft.com/office/powerpoint/2010/main" val="3032127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7813"/>
            <a:ext cx="8229600" cy="443711"/>
          </a:xfrm>
          <a:prstGeom prst="rect">
            <a:avLst/>
          </a:prstGeom>
        </p:spPr>
        <p:txBody>
          <a:bodyPr vert="horz" wrap="square" lIns="0" tIns="12700" rIns="0" bIns="0" rtlCol="0">
            <a:spAutoFit/>
          </a:bodyPr>
          <a:lstStyle/>
          <a:p>
            <a:pPr marL="12700">
              <a:lnSpc>
                <a:spcPct val="100000"/>
              </a:lnSpc>
              <a:spcBef>
                <a:spcPts val="100"/>
              </a:spcBef>
            </a:pPr>
            <a:r>
              <a:rPr sz="2800" b="1" spc="-30" dirty="0">
                <a:solidFill>
                  <a:srgbClr val="0000FF"/>
                </a:solidFill>
                <a:latin typeface="微软雅黑" panose="020B0503020204020204" pitchFamily="34" charset="-122"/>
                <a:ea typeface="微软雅黑" panose="020B0503020204020204" pitchFamily="34" charset="-122"/>
                <a:cs typeface="宋体"/>
              </a:rPr>
              <a:t>算法</a:t>
            </a:r>
            <a:r>
              <a:rPr sz="2800" b="1" spc="-10" dirty="0">
                <a:solidFill>
                  <a:srgbClr val="0000FF"/>
                </a:solidFill>
                <a:latin typeface="微软雅黑" panose="020B0503020204020204" pitchFamily="34" charset="-122"/>
                <a:ea typeface="微软雅黑" panose="020B0503020204020204" pitchFamily="34" charset="-122"/>
                <a:cs typeface="Garamond"/>
              </a:rPr>
              <a:t>(Algorithm)</a:t>
            </a:r>
            <a:endParaRPr sz="2800" dirty="0">
              <a:latin typeface="微软雅黑" panose="020B0503020204020204" pitchFamily="34" charset="-122"/>
              <a:ea typeface="微软雅黑" panose="020B0503020204020204" pitchFamily="34" charset="-122"/>
              <a:cs typeface="Garamond"/>
            </a:endParaRPr>
          </a:p>
        </p:txBody>
      </p:sp>
      <p:sp>
        <p:nvSpPr>
          <p:cNvPr id="3" name="object 3"/>
          <p:cNvSpPr txBox="1"/>
          <p:nvPr/>
        </p:nvSpPr>
        <p:spPr>
          <a:xfrm>
            <a:off x="539552" y="1556792"/>
            <a:ext cx="8363272" cy="4416594"/>
          </a:xfrm>
          <a:prstGeom prst="rect">
            <a:avLst/>
          </a:prstGeom>
        </p:spPr>
        <p:txBody>
          <a:bodyPr vert="horz" wrap="square" lIns="0" tIns="12700" rIns="0" bIns="0" rtlCol="0">
            <a:spAutoFit/>
          </a:bodyPr>
          <a:lstStyle/>
          <a:p>
            <a:pPr marL="12700" marR="5080">
              <a:lnSpc>
                <a:spcPct val="150000"/>
              </a:lnSpc>
              <a:spcBef>
                <a:spcPts val="100"/>
              </a:spcBef>
            </a:pPr>
            <a:r>
              <a:rPr lang="zh-CN" altLang="en-US" sz="2400" spc="-10" dirty="0">
                <a:latin typeface="微软雅黑" panose="020B0503020204020204" pitchFamily="34" charset="-122"/>
                <a:ea typeface="微软雅黑" panose="020B0503020204020204" pitchFamily="34" charset="-122"/>
                <a:cs typeface="微软雅黑"/>
              </a:rPr>
              <a:t>算法</a:t>
            </a:r>
            <a:r>
              <a:rPr lang="en-US" altLang="zh-CN" sz="2400" spc="-10" dirty="0">
                <a:latin typeface="微软雅黑" panose="020B0503020204020204" pitchFamily="34" charset="-122"/>
                <a:ea typeface="微软雅黑" panose="020B0503020204020204" pitchFamily="34" charset="-122"/>
                <a:cs typeface="微软雅黑"/>
              </a:rPr>
              <a:t>2</a:t>
            </a:r>
            <a:r>
              <a:rPr lang="zh-CN" altLang="en-US" sz="2400" spc="-10" dirty="0">
                <a:latin typeface="微软雅黑" panose="020B0503020204020204" pitchFamily="34" charset="-122"/>
                <a:ea typeface="微软雅黑" panose="020B0503020204020204" pitchFamily="34" charset="-122"/>
                <a:cs typeface="微软雅黑"/>
              </a:rPr>
              <a:t>：</a:t>
            </a:r>
            <a:r>
              <a:rPr sz="2400" spc="-5" dirty="0" err="1">
                <a:solidFill>
                  <a:srgbClr val="000066"/>
                </a:solidFill>
                <a:latin typeface="微软雅黑" panose="020B0503020204020204" pitchFamily="34" charset="-122"/>
                <a:ea typeface="微软雅黑" panose="020B0503020204020204" pitchFamily="34" charset="-122"/>
                <a:cs typeface="微软雅黑"/>
              </a:rPr>
              <a:t>基于最大公约数的定义∶</a:t>
            </a:r>
            <a:r>
              <a:rPr sz="2400" spc="-10" dirty="0" err="1">
                <a:solidFill>
                  <a:srgbClr val="000066"/>
                </a:solidFill>
                <a:latin typeface="微软雅黑" panose="020B0503020204020204" pitchFamily="34" charset="-122"/>
                <a:ea typeface="微软雅黑" panose="020B0503020204020204" pitchFamily="34" charset="-122"/>
                <a:cs typeface="Arial"/>
              </a:rPr>
              <a:t>m</a:t>
            </a:r>
            <a:r>
              <a:rPr sz="2400" dirty="0" err="1">
                <a:solidFill>
                  <a:srgbClr val="000066"/>
                </a:solidFill>
                <a:latin typeface="微软雅黑" panose="020B0503020204020204" pitchFamily="34" charset="-122"/>
                <a:ea typeface="微软雅黑" panose="020B0503020204020204" pitchFamily="34" charset="-122"/>
                <a:cs typeface="微软雅黑"/>
              </a:rPr>
              <a:t>和</a:t>
            </a:r>
            <a:r>
              <a:rPr sz="2400" spc="-10" dirty="0" err="1">
                <a:solidFill>
                  <a:srgbClr val="000066"/>
                </a:solidFill>
                <a:latin typeface="微软雅黑" panose="020B0503020204020204" pitchFamily="34" charset="-122"/>
                <a:ea typeface="微软雅黑" panose="020B0503020204020204" pitchFamily="34" charset="-122"/>
                <a:cs typeface="Arial"/>
              </a:rPr>
              <a:t>n</a:t>
            </a:r>
            <a:r>
              <a:rPr sz="2400" spc="-5" dirty="0" err="1">
                <a:solidFill>
                  <a:srgbClr val="000066"/>
                </a:solidFill>
                <a:latin typeface="微软雅黑" panose="020B0503020204020204" pitchFamily="34" charset="-122"/>
                <a:ea typeface="微软雅黑" panose="020B0503020204020204" pitchFamily="34" charset="-122"/>
                <a:cs typeface="微软雅黑"/>
              </a:rPr>
              <a:t>的最大公约数就是能够同时整除它们的最大正整数</a:t>
            </a:r>
            <a:r>
              <a:rPr sz="2400" spc="-5" dirty="0">
                <a:solidFill>
                  <a:srgbClr val="000066"/>
                </a:solidFill>
                <a:latin typeface="微软雅黑" panose="020B0503020204020204" pitchFamily="34" charset="-122"/>
                <a:ea typeface="微软雅黑" panose="020B0503020204020204" pitchFamily="34" charset="-122"/>
                <a:cs typeface="微软雅黑"/>
              </a:rPr>
              <a:t>。</a:t>
            </a:r>
            <a:endParaRPr sz="2400" dirty="0">
              <a:latin typeface="微软雅黑" panose="020B0503020204020204" pitchFamily="34" charset="-122"/>
              <a:ea typeface="微软雅黑" panose="020B0503020204020204" pitchFamily="34" charset="-122"/>
              <a:cs typeface="微软雅黑"/>
            </a:endParaRPr>
          </a:p>
          <a:p>
            <a:pPr marL="579120" lvl="1">
              <a:lnSpc>
                <a:spcPct val="200000"/>
              </a:lnSpc>
              <a:spcBef>
                <a:spcPts val="2760"/>
              </a:spcBef>
            </a:pPr>
            <a:r>
              <a:rPr sz="2000" b="1" spc="-10" dirty="0">
                <a:solidFill>
                  <a:srgbClr val="000066"/>
                </a:solidFill>
                <a:latin typeface="微软雅黑" panose="020B0503020204020204" pitchFamily="34" charset="-122"/>
                <a:ea typeface="微软雅黑" panose="020B0503020204020204" pitchFamily="34" charset="-122"/>
                <a:cs typeface="微软雅黑"/>
              </a:rPr>
              <a:t>第一步∶</a:t>
            </a:r>
            <a:r>
              <a:rPr sz="2000" spc="-10" dirty="0">
                <a:solidFill>
                  <a:srgbClr val="000066"/>
                </a:solidFill>
                <a:latin typeface="微软雅黑" panose="020B0503020204020204" pitchFamily="34" charset="-122"/>
                <a:ea typeface="微软雅黑" panose="020B0503020204020204" pitchFamily="34" charset="-122"/>
                <a:cs typeface="微软雅黑"/>
              </a:rPr>
              <a:t>将 </a:t>
            </a:r>
            <a:r>
              <a:rPr sz="2000" spc="-10" dirty="0">
                <a:solidFill>
                  <a:srgbClr val="000066"/>
                </a:solidFill>
                <a:latin typeface="微软雅黑" panose="020B0503020204020204" pitchFamily="34" charset="-122"/>
                <a:ea typeface="微软雅黑" panose="020B0503020204020204" pitchFamily="34" charset="-122"/>
                <a:cs typeface="Arial"/>
              </a:rPr>
              <a:t>min{m,</a:t>
            </a:r>
            <a:r>
              <a:rPr lang="en-US" sz="2000" spc="-10" dirty="0">
                <a:solidFill>
                  <a:srgbClr val="000066"/>
                </a:solidFill>
                <a:latin typeface="微软雅黑" panose="020B0503020204020204" pitchFamily="34" charset="-122"/>
                <a:ea typeface="微软雅黑" panose="020B0503020204020204" pitchFamily="34" charset="-122"/>
                <a:cs typeface="Arial"/>
              </a:rPr>
              <a:t> </a:t>
            </a:r>
            <a:r>
              <a:rPr sz="2000" spc="-10" dirty="0">
                <a:solidFill>
                  <a:srgbClr val="000066"/>
                </a:solidFill>
                <a:latin typeface="微软雅黑" panose="020B0503020204020204" pitchFamily="34" charset="-122"/>
                <a:ea typeface="微软雅黑" panose="020B0503020204020204" pitchFamily="34" charset="-122"/>
                <a:cs typeface="Arial"/>
              </a:rPr>
              <a:t>n}</a:t>
            </a:r>
            <a:r>
              <a:rPr sz="2000" spc="-10" dirty="0">
                <a:solidFill>
                  <a:srgbClr val="000066"/>
                </a:solidFill>
                <a:latin typeface="微软雅黑" panose="020B0503020204020204" pitchFamily="34" charset="-122"/>
                <a:ea typeface="微软雅黑" panose="020B0503020204020204" pitchFamily="34" charset="-122"/>
                <a:cs typeface="微软雅黑"/>
              </a:rPr>
              <a:t>的值赋给 </a:t>
            </a:r>
            <a:r>
              <a:rPr sz="2000" spc="-10" dirty="0">
                <a:solidFill>
                  <a:srgbClr val="000066"/>
                </a:solidFill>
                <a:latin typeface="微软雅黑" panose="020B0503020204020204" pitchFamily="34" charset="-122"/>
                <a:ea typeface="微软雅黑" panose="020B0503020204020204" pitchFamily="34" charset="-122"/>
                <a:cs typeface="Arial"/>
              </a:rPr>
              <a:t>t</a:t>
            </a:r>
            <a:r>
              <a:rPr sz="2000" spc="-50" dirty="0">
                <a:solidFill>
                  <a:srgbClr val="000066"/>
                </a:solidFill>
                <a:latin typeface="微软雅黑" panose="020B0503020204020204" pitchFamily="34" charset="-122"/>
                <a:ea typeface="微软雅黑" panose="020B0503020204020204" pitchFamily="34" charset="-122"/>
                <a:cs typeface="微软雅黑"/>
              </a:rPr>
              <a:t>。</a:t>
            </a:r>
            <a:endParaRPr sz="2000" dirty="0">
              <a:latin typeface="微软雅黑" panose="020B0503020204020204" pitchFamily="34" charset="-122"/>
              <a:ea typeface="微软雅黑" panose="020B0503020204020204" pitchFamily="34" charset="-122"/>
              <a:cs typeface="微软雅黑"/>
            </a:endParaRPr>
          </a:p>
          <a:p>
            <a:pPr marL="579120" marR="250825" lvl="1">
              <a:lnSpc>
                <a:spcPct val="200000"/>
              </a:lnSpc>
              <a:spcBef>
                <a:spcPts val="5"/>
              </a:spcBef>
            </a:pPr>
            <a:r>
              <a:rPr sz="2000" b="1" spc="-10" dirty="0">
                <a:solidFill>
                  <a:srgbClr val="000066"/>
                </a:solidFill>
                <a:latin typeface="微软雅黑" panose="020B0503020204020204" pitchFamily="34" charset="-122"/>
                <a:ea typeface="微软雅黑" panose="020B0503020204020204" pitchFamily="34" charset="-122"/>
                <a:cs typeface="微软雅黑"/>
              </a:rPr>
              <a:t>第二步∶</a:t>
            </a:r>
            <a:r>
              <a:rPr sz="2000" spc="-10" dirty="0">
                <a:solidFill>
                  <a:srgbClr val="000066"/>
                </a:solidFill>
                <a:latin typeface="微软雅黑" panose="020B0503020204020204" pitchFamily="34" charset="-122"/>
                <a:ea typeface="微软雅黑" panose="020B0503020204020204" pitchFamily="34" charset="-122"/>
                <a:cs typeface="Arial"/>
              </a:rPr>
              <a:t>m</a:t>
            </a:r>
            <a:r>
              <a:rPr sz="2000" dirty="0">
                <a:solidFill>
                  <a:srgbClr val="000066"/>
                </a:solidFill>
                <a:latin typeface="微软雅黑" panose="020B0503020204020204" pitchFamily="34" charset="-122"/>
                <a:ea typeface="微软雅黑" panose="020B0503020204020204" pitchFamily="34" charset="-122"/>
                <a:cs typeface="微软雅黑"/>
              </a:rPr>
              <a:t>除以</a:t>
            </a:r>
            <a:r>
              <a:rPr sz="2000" spc="-10" dirty="0">
                <a:solidFill>
                  <a:srgbClr val="000066"/>
                </a:solidFill>
                <a:latin typeface="微软雅黑" panose="020B0503020204020204" pitchFamily="34" charset="-122"/>
                <a:ea typeface="微软雅黑" panose="020B0503020204020204" pitchFamily="34" charset="-122"/>
                <a:cs typeface="Arial"/>
              </a:rPr>
              <a:t>t</a:t>
            </a:r>
            <a:r>
              <a:rPr sz="2000" spc="-20" dirty="0">
                <a:solidFill>
                  <a:srgbClr val="000066"/>
                </a:solidFill>
                <a:latin typeface="微软雅黑" panose="020B0503020204020204" pitchFamily="34" charset="-122"/>
                <a:ea typeface="微软雅黑" panose="020B0503020204020204" pitchFamily="34" charset="-122"/>
                <a:cs typeface="微软雅黑"/>
              </a:rPr>
              <a:t>。如果余数为 </a:t>
            </a:r>
            <a:r>
              <a:rPr sz="2000" spc="-10" dirty="0">
                <a:solidFill>
                  <a:srgbClr val="000066"/>
                </a:solidFill>
                <a:latin typeface="微软雅黑" panose="020B0503020204020204" pitchFamily="34" charset="-122"/>
                <a:ea typeface="微软雅黑" panose="020B0503020204020204" pitchFamily="34" charset="-122"/>
                <a:cs typeface="Arial"/>
              </a:rPr>
              <a:t>0</a:t>
            </a:r>
            <a:r>
              <a:rPr sz="2000" spc="-5" dirty="0">
                <a:solidFill>
                  <a:srgbClr val="000066"/>
                </a:solidFill>
                <a:latin typeface="微软雅黑" panose="020B0503020204020204" pitchFamily="34" charset="-122"/>
                <a:ea typeface="微软雅黑" panose="020B0503020204020204" pitchFamily="34" charset="-122"/>
                <a:cs typeface="微软雅黑"/>
              </a:rPr>
              <a:t>，进入第三步</a:t>
            </a:r>
            <a:r>
              <a:rPr sz="2000" spc="-10" dirty="0">
                <a:solidFill>
                  <a:srgbClr val="000066"/>
                </a:solidFill>
                <a:latin typeface="微软雅黑" panose="020B0503020204020204" pitchFamily="34" charset="-122"/>
                <a:ea typeface="微软雅黑" panose="020B0503020204020204" pitchFamily="34" charset="-122"/>
                <a:cs typeface="Arial"/>
              </a:rPr>
              <a:t>;</a:t>
            </a:r>
            <a:r>
              <a:rPr sz="2000" spc="-20" dirty="0">
                <a:solidFill>
                  <a:srgbClr val="000066"/>
                </a:solidFill>
                <a:latin typeface="微软雅黑" panose="020B0503020204020204" pitchFamily="34" charset="-122"/>
                <a:ea typeface="微软雅黑" panose="020B0503020204020204" pitchFamily="34" charset="-122"/>
                <a:cs typeface="微软雅黑"/>
              </a:rPr>
              <a:t>否则</a:t>
            </a:r>
            <a:r>
              <a:rPr sz="2000" spc="-10" dirty="0">
                <a:solidFill>
                  <a:srgbClr val="000066"/>
                </a:solidFill>
                <a:latin typeface="微软雅黑" panose="020B0503020204020204" pitchFamily="34" charset="-122"/>
                <a:ea typeface="微软雅黑" panose="020B0503020204020204" pitchFamily="34" charset="-122"/>
                <a:cs typeface="微软雅黑"/>
              </a:rPr>
              <a:t>进入第四步。</a:t>
            </a:r>
            <a:endParaRPr sz="2000" dirty="0">
              <a:latin typeface="微软雅黑" panose="020B0503020204020204" pitchFamily="34" charset="-122"/>
              <a:ea typeface="微软雅黑" panose="020B0503020204020204" pitchFamily="34" charset="-122"/>
              <a:cs typeface="微软雅黑"/>
            </a:endParaRPr>
          </a:p>
          <a:p>
            <a:pPr marL="579120" lvl="1">
              <a:lnSpc>
                <a:spcPct val="200000"/>
              </a:lnSpc>
            </a:pPr>
            <a:r>
              <a:rPr sz="2000" b="1" spc="-10" dirty="0">
                <a:solidFill>
                  <a:srgbClr val="000066"/>
                </a:solidFill>
                <a:latin typeface="微软雅黑" panose="020B0503020204020204" pitchFamily="34" charset="-122"/>
                <a:ea typeface="微软雅黑" panose="020B0503020204020204" pitchFamily="34" charset="-122"/>
                <a:cs typeface="微软雅黑"/>
              </a:rPr>
              <a:t>第三步∶</a:t>
            </a:r>
            <a:r>
              <a:rPr sz="2000" spc="-10" dirty="0">
                <a:solidFill>
                  <a:srgbClr val="000066"/>
                </a:solidFill>
                <a:latin typeface="微软雅黑" panose="020B0503020204020204" pitchFamily="34" charset="-122"/>
                <a:ea typeface="微软雅黑" panose="020B0503020204020204" pitchFamily="34" charset="-122"/>
                <a:cs typeface="Arial"/>
              </a:rPr>
              <a:t>n</a:t>
            </a:r>
            <a:r>
              <a:rPr sz="2000" dirty="0">
                <a:solidFill>
                  <a:srgbClr val="000066"/>
                </a:solidFill>
                <a:latin typeface="微软雅黑" panose="020B0503020204020204" pitchFamily="34" charset="-122"/>
                <a:ea typeface="微软雅黑" panose="020B0503020204020204" pitchFamily="34" charset="-122"/>
                <a:cs typeface="微软雅黑"/>
              </a:rPr>
              <a:t>除以</a:t>
            </a:r>
            <a:r>
              <a:rPr sz="2000" spc="-10" dirty="0">
                <a:solidFill>
                  <a:srgbClr val="000066"/>
                </a:solidFill>
                <a:latin typeface="微软雅黑" panose="020B0503020204020204" pitchFamily="34" charset="-122"/>
                <a:ea typeface="微软雅黑" panose="020B0503020204020204" pitchFamily="34" charset="-122"/>
                <a:cs typeface="Arial"/>
              </a:rPr>
              <a:t>t</a:t>
            </a:r>
            <a:r>
              <a:rPr sz="2000" spc="-5" dirty="0">
                <a:solidFill>
                  <a:srgbClr val="000066"/>
                </a:solidFill>
                <a:latin typeface="微软雅黑" panose="020B0503020204020204" pitchFamily="34" charset="-122"/>
                <a:ea typeface="微软雅黑" panose="020B0503020204020204" pitchFamily="34" charset="-122"/>
                <a:cs typeface="微软雅黑"/>
              </a:rPr>
              <a:t>。如果余数为 </a:t>
            </a:r>
            <a:r>
              <a:rPr sz="2000" spc="-10" dirty="0">
                <a:solidFill>
                  <a:srgbClr val="000066"/>
                </a:solidFill>
                <a:latin typeface="微软雅黑" panose="020B0503020204020204" pitchFamily="34" charset="-122"/>
                <a:ea typeface="微软雅黑" panose="020B0503020204020204" pitchFamily="34" charset="-122"/>
                <a:cs typeface="Arial"/>
              </a:rPr>
              <a:t>0</a:t>
            </a:r>
            <a:r>
              <a:rPr sz="2000" spc="-5" dirty="0">
                <a:solidFill>
                  <a:srgbClr val="000066"/>
                </a:solidFill>
                <a:latin typeface="微软雅黑" panose="020B0503020204020204" pitchFamily="34" charset="-122"/>
                <a:ea typeface="微软雅黑" panose="020B0503020204020204" pitchFamily="34" charset="-122"/>
                <a:cs typeface="微软雅黑"/>
              </a:rPr>
              <a:t>，返回</a:t>
            </a:r>
            <a:r>
              <a:rPr sz="2000" spc="-10" dirty="0">
                <a:solidFill>
                  <a:srgbClr val="000066"/>
                </a:solidFill>
                <a:latin typeface="微软雅黑" panose="020B0503020204020204" pitchFamily="34" charset="-122"/>
                <a:ea typeface="微软雅黑" panose="020B0503020204020204" pitchFamily="34" charset="-122"/>
                <a:cs typeface="Arial"/>
              </a:rPr>
              <a:t>t</a:t>
            </a:r>
            <a:r>
              <a:rPr sz="2000" dirty="0">
                <a:solidFill>
                  <a:srgbClr val="000066"/>
                </a:solidFill>
                <a:latin typeface="微软雅黑" panose="020B0503020204020204" pitchFamily="34" charset="-122"/>
                <a:ea typeface="微软雅黑" panose="020B0503020204020204" pitchFamily="34" charset="-122"/>
                <a:cs typeface="微软雅黑"/>
              </a:rPr>
              <a:t>值作为结果</a:t>
            </a:r>
            <a:r>
              <a:rPr sz="2000" spc="-50" dirty="0">
                <a:solidFill>
                  <a:srgbClr val="000066"/>
                </a:solidFill>
                <a:latin typeface="微软雅黑" panose="020B0503020204020204" pitchFamily="34" charset="-122"/>
                <a:ea typeface="微软雅黑" panose="020B0503020204020204" pitchFamily="34" charset="-122"/>
                <a:cs typeface="Arial"/>
              </a:rPr>
              <a:t>;</a:t>
            </a:r>
            <a:r>
              <a:rPr lang="en-US" sz="2000" spc="-50" dirty="0">
                <a:solidFill>
                  <a:srgbClr val="000066"/>
                </a:solidFill>
                <a:latin typeface="微软雅黑" panose="020B0503020204020204" pitchFamily="34" charset="-122"/>
                <a:ea typeface="微软雅黑" panose="020B0503020204020204" pitchFamily="34" charset="-122"/>
                <a:cs typeface="Arial"/>
              </a:rPr>
              <a:t> </a:t>
            </a:r>
            <a:r>
              <a:rPr sz="2000" spc="-10" dirty="0" err="1">
                <a:solidFill>
                  <a:srgbClr val="000066"/>
                </a:solidFill>
                <a:latin typeface="微软雅黑" panose="020B0503020204020204" pitchFamily="34" charset="-122"/>
                <a:ea typeface="微软雅黑" panose="020B0503020204020204" pitchFamily="34" charset="-122"/>
                <a:cs typeface="微软雅黑"/>
              </a:rPr>
              <a:t>否则进入第四步</a:t>
            </a:r>
            <a:r>
              <a:rPr sz="2000" spc="-10" dirty="0">
                <a:solidFill>
                  <a:srgbClr val="000066"/>
                </a:solidFill>
                <a:latin typeface="微软雅黑" panose="020B0503020204020204" pitchFamily="34" charset="-122"/>
                <a:ea typeface="微软雅黑" panose="020B0503020204020204" pitchFamily="34" charset="-122"/>
                <a:cs typeface="微软雅黑"/>
              </a:rPr>
              <a:t>。</a:t>
            </a:r>
            <a:endParaRPr sz="2000" dirty="0">
              <a:latin typeface="微软雅黑" panose="020B0503020204020204" pitchFamily="34" charset="-122"/>
              <a:ea typeface="微软雅黑" panose="020B0503020204020204" pitchFamily="34" charset="-122"/>
              <a:cs typeface="微软雅黑"/>
            </a:endParaRPr>
          </a:p>
          <a:p>
            <a:pPr marL="579120" lvl="1">
              <a:lnSpc>
                <a:spcPct val="200000"/>
              </a:lnSpc>
            </a:pPr>
            <a:r>
              <a:rPr sz="2000" b="1" spc="-5" dirty="0">
                <a:solidFill>
                  <a:srgbClr val="000066"/>
                </a:solidFill>
                <a:latin typeface="微软雅黑" panose="020B0503020204020204" pitchFamily="34" charset="-122"/>
                <a:ea typeface="微软雅黑" panose="020B0503020204020204" pitchFamily="34" charset="-122"/>
                <a:cs typeface="微软雅黑"/>
              </a:rPr>
              <a:t>第四步</a:t>
            </a:r>
            <a:r>
              <a:rPr sz="2000" b="1" spc="-5" dirty="0">
                <a:solidFill>
                  <a:srgbClr val="000066"/>
                </a:solidFill>
                <a:latin typeface="微软雅黑" panose="020B0503020204020204" pitchFamily="34" charset="-122"/>
                <a:ea typeface="微软雅黑" panose="020B0503020204020204" pitchFamily="34" charset="-122"/>
                <a:cs typeface="Arial"/>
              </a:rPr>
              <a:t>: </a:t>
            </a:r>
            <a:r>
              <a:rPr sz="2000" spc="-25" dirty="0">
                <a:solidFill>
                  <a:srgbClr val="000066"/>
                </a:solidFill>
                <a:latin typeface="微软雅黑" panose="020B0503020204020204" pitchFamily="34" charset="-122"/>
                <a:ea typeface="微软雅黑" panose="020B0503020204020204" pitchFamily="34" charset="-122"/>
                <a:cs typeface="微软雅黑"/>
              </a:rPr>
              <a:t>把 </a:t>
            </a:r>
            <a:r>
              <a:rPr lang="en-US" altLang="zh-CN" sz="2000" spc="-10" dirty="0">
                <a:latin typeface="微软雅黑" panose="020B0503020204020204" pitchFamily="34" charset="-122"/>
                <a:ea typeface="微软雅黑" panose="020B0503020204020204" pitchFamily="34" charset="-122"/>
                <a:cs typeface="Arial"/>
              </a:rPr>
              <a:t>t </a:t>
            </a:r>
            <a:r>
              <a:rPr sz="2000" dirty="0">
                <a:solidFill>
                  <a:srgbClr val="000066"/>
                </a:solidFill>
                <a:latin typeface="微软雅黑" panose="020B0503020204020204" pitchFamily="34" charset="-122"/>
                <a:ea typeface="微软雅黑" panose="020B0503020204020204" pitchFamily="34" charset="-122"/>
                <a:cs typeface="微软雅黑"/>
              </a:rPr>
              <a:t>的值减</a:t>
            </a:r>
            <a:r>
              <a:rPr sz="2000" spc="-25" dirty="0">
                <a:solidFill>
                  <a:srgbClr val="000066"/>
                </a:solidFill>
                <a:latin typeface="微软雅黑" panose="020B0503020204020204" pitchFamily="34" charset="-122"/>
                <a:ea typeface="微软雅黑" panose="020B0503020204020204" pitchFamily="34" charset="-122"/>
                <a:cs typeface="Arial"/>
              </a:rPr>
              <a:t>1</a:t>
            </a:r>
            <a:r>
              <a:rPr sz="2000" spc="-10" dirty="0">
                <a:solidFill>
                  <a:srgbClr val="000066"/>
                </a:solidFill>
                <a:latin typeface="微软雅黑" panose="020B0503020204020204" pitchFamily="34" charset="-122"/>
                <a:ea typeface="微软雅黑" panose="020B0503020204020204" pitchFamily="34" charset="-122"/>
                <a:cs typeface="微软雅黑"/>
              </a:rPr>
              <a:t>。返回第二步。</a:t>
            </a:r>
            <a:endParaRPr sz="2000" dirty="0">
              <a:latin typeface="微软雅黑" panose="020B0503020204020204" pitchFamily="34" charset="-122"/>
              <a:ea typeface="微软雅黑" panose="020B0503020204020204" pitchFamily="34" charset="-122"/>
              <a:cs typeface="微软雅黑"/>
            </a:endParaRPr>
          </a:p>
          <a:p>
            <a:pPr lvl="1">
              <a:lnSpc>
                <a:spcPct val="150000"/>
              </a:lnSpc>
              <a:spcBef>
                <a:spcPts val="50"/>
              </a:spcBef>
            </a:pPr>
            <a:endParaRPr sz="2000" dirty="0">
              <a:latin typeface="微软雅黑" panose="020B0503020204020204" pitchFamily="34" charset="-122"/>
              <a:ea typeface="微软雅黑" panose="020B0503020204020204" pitchFamily="34" charset="-122"/>
              <a:cs typeface="微软雅黑"/>
            </a:endParaRPr>
          </a:p>
        </p:txBody>
      </p:sp>
    </p:spTree>
    <p:extLst>
      <p:ext uri="{BB962C8B-B14F-4D97-AF65-F5344CB8AC3E}">
        <p14:creationId xmlns:p14="http://schemas.microsoft.com/office/powerpoint/2010/main" val="2388757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7813"/>
            <a:ext cx="8229600" cy="443711"/>
          </a:xfrm>
          <a:prstGeom prst="rect">
            <a:avLst/>
          </a:prstGeom>
        </p:spPr>
        <p:txBody>
          <a:bodyPr vert="horz" wrap="square" lIns="0" tIns="12700" rIns="0" bIns="0" rtlCol="0">
            <a:spAutoFit/>
          </a:bodyPr>
          <a:lstStyle/>
          <a:p>
            <a:pPr marL="12700">
              <a:lnSpc>
                <a:spcPct val="100000"/>
              </a:lnSpc>
              <a:spcBef>
                <a:spcPts val="100"/>
              </a:spcBef>
            </a:pPr>
            <a:r>
              <a:rPr lang="en-US" sz="2800" b="1" spc="-30" dirty="0">
                <a:solidFill>
                  <a:srgbClr val="0000FF"/>
                </a:solidFill>
                <a:latin typeface="微软雅黑" panose="020B0503020204020204" pitchFamily="34" charset="-122"/>
                <a:ea typeface="微软雅黑" panose="020B0503020204020204" pitchFamily="34" charset="-122"/>
                <a:cs typeface="宋体"/>
              </a:rPr>
              <a:t>1.1 </a:t>
            </a:r>
            <a:r>
              <a:rPr sz="2800" b="1" spc="-30" dirty="0" err="1">
                <a:solidFill>
                  <a:srgbClr val="0000FF"/>
                </a:solidFill>
                <a:latin typeface="微软雅黑" panose="020B0503020204020204" pitchFamily="34" charset="-122"/>
                <a:ea typeface="微软雅黑" panose="020B0503020204020204" pitchFamily="34" charset="-122"/>
                <a:cs typeface="宋体"/>
              </a:rPr>
              <a:t>算法</a:t>
            </a:r>
            <a:r>
              <a:rPr sz="2800" b="1" spc="-10" dirty="0">
                <a:solidFill>
                  <a:srgbClr val="0000FF"/>
                </a:solidFill>
                <a:latin typeface="微软雅黑" panose="020B0503020204020204" pitchFamily="34" charset="-122"/>
                <a:ea typeface="微软雅黑" panose="020B0503020204020204" pitchFamily="34" charset="-122"/>
                <a:cs typeface="Garamond"/>
              </a:rPr>
              <a:t>(Algorithm)</a:t>
            </a:r>
            <a:endParaRPr sz="2800" dirty="0">
              <a:latin typeface="微软雅黑" panose="020B0503020204020204" pitchFamily="34" charset="-122"/>
              <a:ea typeface="微软雅黑" panose="020B0503020204020204" pitchFamily="34" charset="-122"/>
              <a:cs typeface="Garamond"/>
            </a:endParaRPr>
          </a:p>
        </p:txBody>
      </p:sp>
      <p:sp>
        <p:nvSpPr>
          <p:cNvPr id="3" name="object 3"/>
          <p:cNvSpPr txBox="1"/>
          <p:nvPr/>
        </p:nvSpPr>
        <p:spPr>
          <a:xfrm>
            <a:off x="621790" y="1384553"/>
            <a:ext cx="8126673" cy="4793620"/>
          </a:xfrm>
          <a:prstGeom prst="rect">
            <a:avLst/>
          </a:prstGeom>
        </p:spPr>
        <p:txBody>
          <a:bodyPr vert="horz" wrap="square" lIns="0" tIns="12700" rIns="0" bIns="0" rtlCol="0">
            <a:spAutoFit/>
          </a:bodyPr>
          <a:lstStyle/>
          <a:p>
            <a:pPr marL="12700" marR="5080">
              <a:lnSpc>
                <a:spcPct val="150000"/>
              </a:lnSpc>
              <a:spcBef>
                <a:spcPts val="100"/>
              </a:spcBef>
            </a:pPr>
            <a:r>
              <a:rPr lang="zh-CN" altLang="en-US" sz="3200" spc="-10" dirty="0">
                <a:latin typeface="微软雅黑" panose="020B0503020204020204" pitchFamily="34" charset="-122"/>
                <a:ea typeface="微软雅黑" panose="020B0503020204020204" pitchFamily="34" charset="-122"/>
                <a:cs typeface="微软雅黑"/>
              </a:rPr>
              <a:t>算法</a:t>
            </a:r>
            <a:r>
              <a:rPr lang="en-US" altLang="zh-CN" sz="3200" spc="-10" dirty="0">
                <a:latin typeface="微软雅黑" panose="020B0503020204020204" pitchFamily="34" charset="-122"/>
                <a:ea typeface="微软雅黑" panose="020B0503020204020204" pitchFamily="34" charset="-122"/>
                <a:cs typeface="微软雅黑"/>
              </a:rPr>
              <a:t>3</a:t>
            </a:r>
            <a:r>
              <a:rPr lang="zh-CN" altLang="en-US" sz="3200" spc="-10" dirty="0">
                <a:latin typeface="微软雅黑" panose="020B0503020204020204" pitchFamily="34" charset="-122"/>
                <a:ea typeface="微软雅黑" panose="020B0503020204020204" pitchFamily="34" charset="-122"/>
                <a:cs typeface="微软雅黑"/>
              </a:rPr>
              <a:t>：</a:t>
            </a:r>
            <a:r>
              <a:rPr lang="zh-CN" altLang="en-US" dirty="0">
                <a:latin typeface="微软雅黑" panose="020B0503020204020204" pitchFamily="34" charset="-122"/>
                <a:ea typeface="微软雅黑" panose="020B0503020204020204" pitchFamily="34" charset="-122"/>
              </a:rPr>
              <a:t>基于</a:t>
            </a:r>
            <a:r>
              <a:rPr lang="zh-CN" altLang="en-US" dirty="0">
                <a:solidFill>
                  <a:srgbClr val="FF0000"/>
                </a:solidFill>
                <a:latin typeface="微软雅黑" panose="020B0503020204020204" pitchFamily="34" charset="-122"/>
                <a:ea typeface="微软雅黑" panose="020B0503020204020204" pitchFamily="34" charset="-122"/>
              </a:rPr>
              <a:t>递归的思想</a:t>
            </a:r>
            <a:r>
              <a:rPr lang="zh-CN" altLang="en-US" dirty="0">
                <a:latin typeface="微软雅黑" panose="020B0503020204020204" pitchFamily="34" charset="-122"/>
                <a:ea typeface="微软雅黑" panose="020B0503020204020204" pitchFamily="34" charset="-122"/>
              </a:rPr>
              <a:t>设计的</a:t>
            </a:r>
            <a:r>
              <a:rPr lang="en-US" altLang="zh-CN" dirty="0" err="1">
                <a:latin typeface="微软雅黑" panose="020B0503020204020204" pitchFamily="34" charset="-122"/>
                <a:ea typeface="微软雅黑" panose="020B0503020204020204" pitchFamily="34" charset="-122"/>
              </a:rPr>
              <a:t>gcd</a:t>
            </a:r>
            <a:r>
              <a:rPr lang="zh-CN" altLang="en-US" dirty="0">
                <a:latin typeface="微软雅黑" panose="020B0503020204020204" pitchFamily="34" charset="-122"/>
                <a:ea typeface="微软雅黑" panose="020B0503020204020204" pitchFamily="34" charset="-122"/>
              </a:rPr>
              <a:t>算法</a:t>
            </a:r>
            <a:endParaRPr lang="en-US" altLang="zh-CN" dirty="0">
              <a:latin typeface="微软雅黑" panose="020B0503020204020204" pitchFamily="34" charset="-122"/>
              <a:ea typeface="微软雅黑" panose="020B0503020204020204" pitchFamily="34" charset="-122"/>
            </a:endParaRPr>
          </a:p>
          <a:p>
            <a:pPr marL="12700" marR="5080">
              <a:lnSpc>
                <a:spcPct val="150000"/>
              </a:lnSpc>
              <a:spcBef>
                <a:spcPts val="100"/>
              </a:spcBef>
            </a:pPr>
            <a:endParaRPr lang="en-US" altLang="zh-CN" dirty="0">
              <a:latin typeface="微软雅黑" panose="020B0503020204020204" pitchFamily="34" charset="-122"/>
              <a:ea typeface="微软雅黑" panose="020B0503020204020204" pitchFamily="34" charset="-122"/>
            </a:endParaRPr>
          </a:p>
          <a:p>
            <a:pPr marL="12700" marR="5080">
              <a:lnSpc>
                <a:spcPct val="150000"/>
              </a:lnSpc>
              <a:spcBef>
                <a:spcPts val="100"/>
              </a:spcBef>
            </a:pPr>
            <a:r>
              <a:rPr sz="2400" b="1" dirty="0" err="1">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欧几里</a:t>
            </a:r>
            <a:r>
              <a:rPr lang="zh-CN" altLang="en-US" sz="24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得</a:t>
            </a:r>
            <a:r>
              <a:rPr sz="2400" b="1" dirty="0" err="1">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算法</a:t>
            </a:r>
            <a:r>
              <a:rPr sz="2400" b="1" dirty="0" err="1">
                <a:solidFill>
                  <a:srgbClr val="000066"/>
                </a:solidFill>
                <a:latin typeface="微软雅黑" panose="020B0503020204020204" pitchFamily="34" charset="-122"/>
                <a:ea typeface="微软雅黑" panose="020B0503020204020204" pitchFamily="34" charset="-122"/>
                <a:cs typeface="微软雅黑"/>
              </a:rPr>
              <a:t>（</a:t>
            </a:r>
            <a:r>
              <a:rPr sz="2400" b="1" dirty="0" err="1">
                <a:solidFill>
                  <a:srgbClr val="000066"/>
                </a:solidFill>
                <a:latin typeface="微软雅黑" panose="020B0503020204020204" pitchFamily="34" charset="-122"/>
                <a:ea typeface="微软雅黑" panose="020B0503020204020204" pitchFamily="34" charset="-122"/>
                <a:cs typeface="Arial"/>
              </a:rPr>
              <a:t>Euclid's</a:t>
            </a:r>
            <a:r>
              <a:rPr sz="2400" b="1" spc="-25" dirty="0">
                <a:solidFill>
                  <a:srgbClr val="000066"/>
                </a:solidFill>
                <a:latin typeface="微软雅黑" panose="020B0503020204020204" pitchFamily="34" charset="-122"/>
                <a:ea typeface="微软雅黑" panose="020B0503020204020204" pitchFamily="34" charset="-122"/>
                <a:cs typeface="Arial"/>
              </a:rPr>
              <a:t> </a:t>
            </a:r>
            <a:r>
              <a:rPr sz="2400" b="1" spc="-10" dirty="0">
                <a:solidFill>
                  <a:srgbClr val="000066"/>
                </a:solidFill>
                <a:latin typeface="微软雅黑" panose="020B0503020204020204" pitchFamily="34" charset="-122"/>
                <a:ea typeface="微软雅黑" panose="020B0503020204020204" pitchFamily="34" charset="-122"/>
                <a:cs typeface="Arial"/>
              </a:rPr>
              <a:t>algorithm</a:t>
            </a:r>
            <a:r>
              <a:rPr sz="2400" b="1" spc="-10" dirty="0">
                <a:solidFill>
                  <a:srgbClr val="000066"/>
                </a:solidFill>
                <a:latin typeface="微软雅黑" panose="020B0503020204020204" pitchFamily="34" charset="-122"/>
                <a:ea typeface="微软雅黑" panose="020B0503020204020204" pitchFamily="34" charset="-122"/>
                <a:cs typeface="微软雅黑"/>
              </a:rPr>
              <a:t>）</a:t>
            </a:r>
            <a:endParaRPr sz="2400" dirty="0">
              <a:latin typeface="微软雅黑" panose="020B0503020204020204" pitchFamily="34" charset="-122"/>
              <a:ea typeface="微软雅黑" panose="020B0503020204020204" pitchFamily="34" charset="-122"/>
              <a:cs typeface="微软雅黑"/>
            </a:endParaRPr>
          </a:p>
          <a:p>
            <a:pPr marL="1009650" lvl="2">
              <a:spcBef>
                <a:spcPts val="1780"/>
              </a:spcBef>
            </a:pPr>
            <a:r>
              <a:rPr lang="en-US" altLang="zh-CN" sz="2400" spc="-10" dirty="0" err="1">
                <a:latin typeface="微软雅黑" panose="020B0503020204020204" pitchFamily="34" charset="-122"/>
                <a:ea typeface="微软雅黑" panose="020B0503020204020204" pitchFamily="34" charset="-122"/>
                <a:cs typeface="Arial"/>
              </a:rPr>
              <a:t>gcd</a:t>
            </a:r>
            <a:r>
              <a:rPr lang="en-US" altLang="zh-CN" sz="2400" spc="-10" dirty="0">
                <a:latin typeface="微软雅黑" panose="020B0503020204020204" pitchFamily="34" charset="-122"/>
                <a:ea typeface="微软雅黑" panose="020B0503020204020204" pitchFamily="34" charset="-122"/>
                <a:cs typeface="Arial"/>
              </a:rPr>
              <a:t>(m,0)=m</a:t>
            </a:r>
            <a:endParaRPr lang="en-US" altLang="zh-CN" sz="2400" dirty="0">
              <a:latin typeface="微软雅黑" panose="020B0503020204020204" pitchFamily="34" charset="-122"/>
              <a:ea typeface="微软雅黑" panose="020B0503020204020204" pitchFamily="34" charset="-122"/>
              <a:cs typeface="Arial"/>
            </a:endParaRPr>
          </a:p>
          <a:p>
            <a:pPr marL="1009650" lvl="2">
              <a:spcBef>
                <a:spcPts val="1780"/>
              </a:spcBef>
            </a:pPr>
            <a:r>
              <a:rPr sz="2400" dirty="0" err="1">
                <a:solidFill>
                  <a:srgbClr val="000066"/>
                </a:solidFill>
                <a:latin typeface="微软雅黑" panose="020B0503020204020204" pitchFamily="34" charset="-122"/>
                <a:ea typeface="微软雅黑" panose="020B0503020204020204" pitchFamily="34" charset="-122"/>
                <a:cs typeface="Arial"/>
              </a:rPr>
              <a:t>gcd</a:t>
            </a:r>
            <a:r>
              <a:rPr sz="2400" dirty="0">
                <a:solidFill>
                  <a:srgbClr val="000066"/>
                </a:solidFill>
                <a:latin typeface="微软雅黑" panose="020B0503020204020204" pitchFamily="34" charset="-122"/>
                <a:ea typeface="微软雅黑" panose="020B0503020204020204" pitchFamily="34" charset="-122"/>
                <a:cs typeface="Arial"/>
              </a:rPr>
              <a:t>(</a:t>
            </a:r>
            <a:r>
              <a:rPr sz="2400" dirty="0" err="1">
                <a:solidFill>
                  <a:srgbClr val="000066"/>
                </a:solidFill>
                <a:latin typeface="微软雅黑" panose="020B0503020204020204" pitchFamily="34" charset="-122"/>
                <a:ea typeface="微软雅黑" panose="020B0503020204020204" pitchFamily="34" charset="-122"/>
                <a:cs typeface="Arial"/>
              </a:rPr>
              <a:t>m,n</a:t>
            </a:r>
            <a:r>
              <a:rPr sz="2400" dirty="0">
                <a:solidFill>
                  <a:srgbClr val="000066"/>
                </a:solidFill>
                <a:latin typeface="微软雅黑" panose="020B0503020204020204" pitchFamily="34" charset="-122"/>
                <a:ea typeface="微软雅黑" panose="020B0503020204020204" pitchFamily="34" charset="-122"/>
                <a:cs typeface="Arial"/>
              </a:rPr>
              <a:t>)</a:t>
            </a:r>
            <a:r>
              <a:rPr sz="2400" spc="-20"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a:t>
            </a:r>
            <a:r>
              <a:rPr sz="2400" spc="-30" dirty="0">
                <a:solidFill>
                  <a:srgbClr val="000066"/>
                </a:solidFill>
                <a:latin typeface="微软雅黑" panose="020B0503020204020204" pitchFamily="34" charset="-122"/>
                <a:ea typeface="微软雅黑" panose="020B0503020204020204" pitchFamily="34" charset="-122"/>
                <a:cs typeface="Arial"/>
              </a:rPr>
              <a:t> </a:t>
            </a:r>
            <a:r>
              <a:rPr sz="2400" dirty="0" err="1">
                <a:solidFill>
                  <a:srgbClr val="000066"/>
                </a:solidFill>
                <a:latin typeface="微软雅黑" panose="020B0503020204020204" pitchFamily="34" charset="-122"/>
                <a:ea typeface="微软雅黑" panose="020B0503020204020204" pitchFamily="34" charset="-122"/>
                <a:cs typeface="Arial"/>
              </a:rPr>
              <a:t>gcd</a:t>
            </a:r>
            <a:r>
              <a:rPr sz="2400" dirty="0">
                <a:solidFill>
                  <a:srgbClr val="000066"/>
                </a:solidFill>
                <a:latin typeface="微软雅黑" panose="020B0503020204020204" pitchFamily="34" charset="-122"/>
                <a:ea typeface="微软雅黑" panose="020B0503020204020204" pitchFamily="34" charset="-122"/>
                <a:cs typeface="Arial"/>
              </a:rPr>
              <a:t>(n</a:t>
            </a:r>
            <a:r>
              <a:rPr lang="en-US" sz="2400" dirty="0">
                <a:solidFill>
                  <a:srgbClr val="000066"/>
                </a:solidFill>
                <a:latin typeface="微软雅黑" panose="020B0503020204020204" pitchFamily="34" charset="-122"/>
                <a:ea typeface="微软雅黑" panose="020B0503020204020204" pitchFamily="34" charset="-122"/>
                <a:cs typeface="微软雅黑"/>
              </a:rPr>
              <a:t>, </a:t>
            </a:r>
            <a:r>
              <a:rPr sz="2400" dirty="0">
                <a:solidFill>
                  <a:srgbClr val="000066"/>
                </a:solidFill>
                <a:latin typeface="微软雅黑" panose="020B0503020204020204" pitchFamily="34" charset="-122"/>
                <a:ea typeface="微软雅黑" panose="020B0503020204020204" pitchFamily="34" charset="-122"/>
                <a:cs typeface="Arial"/>
              </a:rPr>
              <a:t>m</a:t>
            </a:r>
            <a:r>
              <a:rPr sz="2400" spc="-15"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mod</a:t>
            </a:r>
            <a:r>
              <a:rPr sz="2400" spc="-20" dirty="0">
                <a:solidFill>
                  <a:srgbClr val="000066"/>
                </a:solidFill>
                <a:latin typeface="微软雅黑" panose="020B0503020204020204" pitchFamily="34" charset="-122"/>
                <a:ea typeface="微软雅黑" panose="020B0503020204020204" pitchFamily="34" charset="-122"/>
                <a:cs typeface="Arial"/>
              </a:rPr>
              <a:t> </a:t>
            </a:r>
            <a:r>
              <a:rPr sz="2400" spc="-25" dirty="0">
                <a:solidFill>
                  <a:srgbClr val="000066"/>
                </a:solidFill>
                <a:latin typeface="微软雅黑" panose="020B0503020204020204" pitchFamily="34" charset="-122"/>
                <a:ea typeface="微软雅黑" panose="020B0503020204020204" pitchFamily="34" charset="-122"/>
                <a:cs typeface="Arial"/>
              </a:rPr>
              <a:t>n)</a:t>
            </a:r>
            <a:endParaRPr lang="en-US" sz="2400" spc="-25" dirty="0">
              <a:solidFill>
                <a:srgbClr val="000066"/>
              </a:solidFill>
              <a:latin typeface="微软雅黑" panose="020B0503020204020204" pitchFamily="34" charset="-122"/>
              <a:ea typeface="微软雅黑" panose="020B0503020204020204" pitchFamily="34" charset="-122"/>
              <a:cs typeface="Arial"/>
            </a:endParaRPr>
          </a:p>
          <a:p>
            <a:pPr marL="1009650" lvl="2">
              <a:spcBef>
                <a:spcPts val="1780"/>
              </a:spcBef>
            </a:pPr>
            <a:r>
              <a:rPr lang="en-US" sz="2400" dirty="0">
                <a:latin typeface="微软雅黑" panose="020B0503020204020204" pitchFamily="34" charset="-122"/>
                <a:ea typeface="微软雅黑" panose="020B0503020204020204" pitchFamily="34" charset="-122"/>
                <a:cs typeface="Arial"/>
              </a:rPr>
              <a:t>//</a:t>
            </a:r>
            <a:r>
              <a:rPr sz="2400" dirty="0">
                <a:solidFill>
                  <a:srgbClr val="000066"/>
                </a:solidFill>
                <a:latin typeface="微软雅黑" panose="020B0503020204020204" pitchFamily="34" charset="-122"/>
                <a:ea typeface="微软雅黑" panose="020B0503020204020204" pitchFamily="34" charset="-122"/>
                <a:cs typeface="Arial"/>
              </a:rPr>
              <a:t>m</a:t>
            </a:r>
            <a:r>
              <a:rPr sz="2400" spc="-10"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mod</a:t>
            </a:r>
            <a:r>
              <a:rPr sz="2400" spc="-10"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n</a:t>
            </a:r>
            <a:r>
              <a:rPr lang="en-US" sz="2400" dirty="0">
                <a:solidFill>
                  <a:srgbClr val="000066"/>
                </a:solidFill>
                <a:latin typeface="微软雅黑" panose="020B0503020204020204" pitchFamily="34" charset="-122"/>
                <a:ea typeface="微软雅黑" panose="020B0503020204020204" pitchFamily="34" charset="-122"/>
                <a:cs typeface="Arial"/>
              </a:rPr>
              <a:t> </a:t>
            </a:r>
            <a:r>
              <a:rPr sz="2400" dirty="0" err="1">
                <a:solidFill>
                  <a:srgbClr val="000066"/>
                </a:solidFill>
                <a:latin typeface="微软雅黑" panose="020B0503020204020204" pitchFamily="34" charset="-122"/>
                <a:ea typeface="微软雅黑" panose="020B0503020204020204" pitchFamily="34" charset="-122"/>
                <a:cs typeface="微软雅黑"/>
              </a:rPr>
              <a:t>表示</a:t>
            </a:r>
            <a:r>
              <a:rPr sz="2400" spc="-10" dirty="0" err="1">
                <a:solidFill>
                  <a:srgbClr val="000066"/>
                </a:solidFill>
                <a:latin typeface="微软雅黑" panose="020B0503020204020204" pitchFamily="34" charset="-122"/>
                <a:ea typeface="微软雅黑" panose="020B0503020204020204" pitchFamily="34" charset="-122"/>
                <a:cs typeface="Arial"/>
              </a:rPr>
              <a:t>m</a:t>
            </a:r>
            <a:r>
              <a:rPr sz="2400" dirty="0" err="1">
                <a:solidFill>
                  <a:srgbClr val="000066"/>
                </a:solidFill>
                <a:latin typeface="微软雅黑" panose="020B0503020204020204" pitchFamily="34" charset="-122"/>
                <a:ea typeface="微软雅黑" panose="020B0503020204020204" pitchFamily="34" charset="-122"/>
                <a:cs typeface="微软雅黑"/>
              </a:rPr>
              <a:t>除以</a:t>
            </a:r>
            <a:r>
              <a:rPr sz="2400" spc="-10" dirty="0" err="1">
                <a:solidFill>
                  <a:srgbClr val="000066"/>
                </a:solidFill>
                <a:latin typeface="微软雅黑" panose="020B0503020204020204" pitchFamily="34" charset="-122"/>
                <a:ea typeface="微软雅黑" panose="020B0503020204020204" pitchFamily="34" charset="-122"/>
                <a:cs typeface="Arial"/>
              </a:rPr>
              <a:t>n</a:t>
            </a:r>
            <a:r>
              <a:rPr sz="2400" spc="-10" dirty="0" err="1">
                <a:solidFill>
                  <a:srgbClr val="000066"/>
                </a:solidFill>
                <a:latin typeface="微软雅黑" panose="020B0503020204020204" pitchFamily="34" charset="-122"/>
                <a:ea typeface="微软雅黑" panose="020B0503020204020204" pitchFamily="34" charset="-122"/>
                <a:cs typeface="微软雅黑"/>
              </a:rPr>
              <a:t>之后</a:t>
            </a:r>
            <a:r>
              <a:rPr lang="zh-CN" altLang="en-US" sz="2400" spc="-10" dirty="0">
                <a:solidFill>
                  <a:srgbClr val="000066"/>
                </a:solidFill>
                <a:latin typeface="微软雅黑" panose="020B0503020204020204" pitchFamily="34" charset="-122"/>
                <a:ea typeface="微软雅黑" panose="020B0503020204020204" pitchFamily="34" charset="-122"/>
                <a:cs typeface="微软雅黑"/>
              </a:rPr>
              <a:t>的余数</a:t>
            </a:r>
            <a:endParaRPr lang="en-US" altLang="zh-CN" sz="2400" spc="-10" dirty="0">
              <a:latin typeface="微软雅黑" panose="020B0503020204020204" pitchFamily="34" charset="-122"/>
              <a:ea typeface="微软雅黑" panose="020B0503020204020204" pitchFamily="34" charset="-122"/>
              <a:cs typeface="微软雅黑"/>
            </a:endParaRPr>
          </a:p>
          <a:p>
            <a:pPr marL="1009650" lvl="2">
              <a:spcBef>
                <a:spcPts val="1780"/>
              </a:spcBef>
            </a:pPr>
            <a:endParaRPr sz="2400" dirty="0">
              <a:latin typeface="微软雅黑" panose="020B0503020204020204" pitchFamily="34" charset="-122"/>
              <a:ea typeface="微软雅黑" panose="020B0503020204020204" pitchFamily="34" charset="-122"/>
              <a:cs typeface="Arial"/>
            </a:endParaRPr>
          </a:p>
          <a:p>
            <a:pPr marL="139700">
              <a:lnSpc>
                <a:spcPct val="100000"/>
              </a:lnSpc>
            </a:pPr>
            <a:endParaRPr lang="en-US" sz="2400" dirty="0">
              <a:solidFill>
                <a:srgbClr val="000066"/>
              </a:solidFill>
              <a:latin typeface="微软雅黑" panose="020B0503020204020204" pitchFamily="34" charset="-122"/>
              <a:ea typeface="微软雅黑" panose="020B0503020204020204" pitchFamily="34" charset="-122"/>
              <a:cs typeface="Arial"/>
            </a:endParaRPr>
          </a:p>
        </p:txBody>
      </p:sp>
      <p:sp>
        <p:nvSpPr>
          <p:cNvPr id="4" name="矩形 3"/>
          <p:cNvSpPr/>
          <p:nvPr/>
        </p:nvSpPr>
        <p:spPr>
          <a:xfrm>
            <a:off x="-396552" y="5661248"/>
            <a:ext cx="8928992" cy="461665"/>
          </a:xfrm>
          <a:prstGeom prst="rect">
            <a:avLst/>
          </a:prstGeom>
        </p:spPr>
        <p:txBody>
          <a:bodyPr wrap="square">
            <a:spAutoFit/>
          </a:bodyPr>
          <a:lstStyle/>
          <a:p>
            <a:pPr marL="1009650" lvl="2">
              <a:spcBef>
                <a:spcPts val="1780"/>
              </a:spcBef>
            </a:pPr>
            <a:r>
              <a:rPr lang="en-US" altLang="zh-CN" sz="2400" dirty="0" err="1">
                <a:latin typeface="Arial"/>
                <a:cs typeface="Arial"/>
              </a:rPr>
              <a:t>gcd</a:t>
            </a:r>
            <a:r>
              <a:rPr lang="en-US" altLang="zh-CN" sz="2400" dirty="0">
                <a:latin typeface="Arial"/>
                <a:cs typeface="Arial"/>
              </a:rPr>
              <a:t>(60,24)=</a:t>
            </a:r>
            <a:r>
              <a:rPr lang="en-US" altLang="zh-CN" sz="2400" spc="-100" dirty="0">
                <a:latin typeface="Arial"/>
                <a:cs typeface="Arial"/>
              </a:rPr>
              <a:t> </a:t>
            </a:r>
            <a:r>
              <a:rPr lang="en-US" altLang="zh-CN" sz="2400" dirty="0" err="1">
                <a:latin typeface="Arial"/>
                <a:cs typeface="Arial"/>
              </a:rPr>
              <a:t>gcd</a:t>
            </a:r>
            <a:r>
              <a:rPr lang="en-US" altLang="zh-CN" sz="2400" dirty="0">
                <a:latin typeface="Arial"/>
                <a:cs typeface="Arial"/>
              </a:rPr>
              <a:t>(24,</a:t>
            </a:r>
            <a:r>
              <a:rPr lang="en-US" altLang="zh-CN" sz="2400" spc="-100" dirty="0">
                <a:latin typeface="Arial"/>
                <a:cs typeface="Arial"/>
              </a:rPr>
              <a:t> </a:t>
            </a:r>
            <a:r>
              <a:rPr lang="en-US" altLang="zh-CN" sz="2400" dirty="0">
                <a:latin typeface="Arial"/>
                <a:cs typeface="Arial"/>
              </a:rPr>
              <a:t>12)=</a:t>
            </a:r>
            <a:r>
              <a:rPr lang="en-US" altLang="zh-CN" sz="2400" spc="-105" dirty="0">
                <a:latin typeface="Arial"/>
                <a:cs typeface="Arial"/>
              </a:rPr>
              <a:t> </a:t>
            </a:r>
            <a:r>
              <a:rPr lang="en-US" altLang="zh-CN" sz="2400" dirty="0" err="1">
                <a:latin typeface="Arial"/>
                <a:cs typeface="Arial"/>
              </a:rPr>
              <a:t>gcd</a:t>
            </a:r>
            <a:r>
              <a:rPr lang="en-US" altLang="zh-CN" sz="2400" dirty="0">
                <a:latin typeface="Arial"/>
                <a:cs typeface="Arial"/>
              </a:rPr>
              <a:t>(12,0)=</a:t>
            </a:r>
            <a:r>
              <a:rPr lang="en-US" altLang="zh-CN" sz="2400" spc="-90" dirty="0">
                <a:latin typeface="Arial"/>
                <a:cs typeface="Arial"/>
              </a:rPr>
              <a:t> </a:t>
            </a:r>
            <a:r>
              <a:rPr lang="en-US" altLang="zh-CN" sz="2400" spc="-25" dirty="0">
                <a:latin typeface="Arial"/>
                <a:cs typeface="Arial"/>
              </a:rPr>
              <a:t>12</a:t>
            </a:r>
            <a:endParaRPr lang="en-US" altLang="zh-CN" sz="2400" dirty="0">
              <a:latin typeface="Arial"/>
              <a:cs typeface="Arial"/>
            </a:endParaRPr>
          </a:p>
        </p:txBody>
      </p:sp>
    </p:spTree>
    <p:extLst>
      <p:ext uri="{BB962C8B-B14F-4D97-AF65-F5344CB8AC3E}">
        <p14:creationId xmlns:p14="http://schemas.microsoft.com/office/powerpoint/2010/main" val="1774015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77813"/>
            <a:ext cx="8229600" cy="443711"/>
          </a:xfrm>
          <a:prstGeom prst="rect">
            <a:avLst/>
          </a:prstGeom>
        </p:spPr>
        <p:txBody>
          <a:bodyPr vert="horz" wrap="square" lIns="0" tIns="12700" rIns="0" bIns="0" rtlCol="0">
            <a:spAutoFit/>
          </a:bodyPr>
          <a:lstStyle/>
          <a:p>
            <a:pPr marL="12700">
              <a:lnSpc>
                <a:spcPct val="100000"/>
              </a:lnSpc>
              <a:spcBef>
                <a:spcPts val="100"/>
              </a:spcBef>
            </a:pPr>
            <a:r>
              <a:rPr sz="2800" b="1" spc="-30" dirty="0">
                <a:solidFill>
                  <a:srgbClr val="0000FF"/>
                </a:solidFill>
                <a:latin typeface="微软雅黑" panose="020B0503020204020204" pitchFamily="34" charset="-122"/>
                <a:ea typeface="微软雅黑" panose="020B0503020204020204" pitchFamily="34" charset="-122"/>
                <a:cs typeface="宋体"/>
              </a:rPr>
              <a:t>算法</a:t>
            </a:r>
            <a:r>
              <a:rPr sz="2800" b="1" spc="-10" dirty="0">
                <a:solidFill>
                  <a:srgbClr val="0000FF"/>
                </a:solidFill>
                <a:latin typeface="微软雅黑" panose="020B0503020204020204" pitchFamily="34" charset="-122"/>
                <a:ea typeface="微软雅黑" panose="020B0503020204020204" pitchFamily="34" charset="-122"/>
                <a:cs typeface="Garamond"/>
              </a:rPr>
              <a:t>(Algorithm)</a:t>
            </a:r>
            <a:endParaRPr sz="2800" dirty="0">
              <a:latin typeface="微软雅黑" panose="020B0503020204020204" pitchFamily="34" charset="-122"/>
              <a:ea typeface="微软雅黑" panose="020B0503020204020204" pitchFamily="34" charset="-122"/>
              <a:cs typeface="Garamond"/>
            </a:endParaRPr>
          </a:p>
        </p:txBody>
      </p:sp>
      <p:sp>
        <p:nvSpPr>
          <p:cNvPr id="3" name="object 3"/>
          <p:cNvSpPr txBox="1"/>
          <p:nvPr/>
        </p:nvSpPr>
        <p:spPr>
          <a:xfrm>
            <a:off x="535940" y="1007618"/>
            <a:ext cx="8428548" cy="5573321"/>
          </a:xfrm>
          <a:prstGeom prst="rect">
            <a:avLst/>
          </a:prstGeom>
        </p:spPr>
        <p:txBody>
          <a:bodyPr vert="horz" wrap="square" lIns="0" tIns="106680" rIns="0" bIns="0" rtlCol="0">
            <a:spAutoFit/>
          </a:bodyPr>
          <a:lstStyle/>
          <a:p>
            <a:pPr marL="12700">
              <a:lnSpc>
                <a:spcPct val="100000"/>
              </a:lnSpc>
              <a:spcBef>
                <a:spcPts val="840"/>
              </a:spcBef>
            </a:pPr>
            <a:r>
              <a:rPr sz="2400" b="1"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欧几里得算法（</a:t>
            </a:r>
            <a:r>
              <a:rPr sz="2400" b="1"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Euclid's</a:t>
            </a:r>
            <a:r>
              <a:rPr sz="2400" b="1" spc="-25"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 </a:t>
            </a:r>
            <a:r>
              <a:rPr sz="2400" b="1" spc="-10"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algorithm</a:t>
            </a:r>
            <a:r>
              <a:rPr sz="2400" b="1" spc="-10"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a:t>
            </a:r>
            <a:endParaRPr sz="24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endParaRPr>
          </a:p>
          <a:p>
            <a:pPr marL="581025" lvl="1">
              <a:spcBef>
                <a:spcPts val="745"/>
              </a:spcBef>
            </a:pPr>
            <a:r>
              <a:rPr sz="2400" b="1" spc="-5" dirty="0">
                <a:solidFill>
                  <a:srgbClr val="000066"/>
                </a:solidFill>
                <a:latin typeface="微软雅黑" panose="020B0503020204020204" pitchFamily="34" charset="-122"/>
                <a:ea typeface="微软雅黑" panose="020B0503020204020204" pitchFamily="34" charset="-122"/>
                <a:cs typeface="微软雅黑"/>
              </a:rPr>
              <a:t>第一步∶</a:t>
            </a:r>
            <a:r>
              <a:rPr sz="2400" dirty="0">
                <a:solidFill>
                  <a:srgbClr val="000066"/>
                </a:solidFill>
                <a:latin typeface="微软雅黑" panose="020B0503020204020204" pitchFamily="34" charset="-122"/>
                <a:ea typeface="微软雅黑" panose="020B0503020204020204" pitchFamily="34" charset="-122"/>
                <a:cs typeface="微软雅黑"/>
              </a:rPr>
              <a:t>如果</a:t>
            </a:r>
            <a:r>
              <a:rPr sz="2400" spc="-10" dirty="0">
                <a:solidFill>
                  <a:srgbClr val="000066"/>
                </a:solidFill>
                <a:latin typeface="微软雅黑" panose="020B0503020204020204" pitchFamily="34" charset="-122"/>
                <a:ea typeface="微软雅黑" panose="020B0503020204020204" pitchFamily="34" charset="-122"/>
                <a:cs typeface="Arial"/>
              </a:rPr>
              <a:t>n=0</a:t>
            </a:r>
            <a:r>
              <a:rPr sz="2400" spc="-5" dirty="0">
                <a:solidFill>
                  <a:srgbClr val="000066"/>
                </a:solidFill>
                <a:latin typeface="微软雅黑" panose="020B0503020204020204" pitchFamily="34" charset="-122"/>
                <a:ea typeface="微软雅黑" panose="020B0503020204020204" pitchFamily="34" charset="-122"/>
                <a:cs typeface="微软雅黑"/>
              </a:rPr>
              <a:t>，返回</a:t>
            </a:r>
            <a:r>
              <a:rPr sz="2400" spc="-10" dirty="0">
                <a:solidFill>
                  <a:srgbClr val="000066"/>
                </a:solidFill>
                <a:latin typeface="微软雅黑" panose="020B0503020204020204" pitchFamily="34" charset="-122"/>
                <a:ea typeface="微软雅黑" panose="020B0503020204020204" pitchFamily="34" charset="-122"/>
                <a:cs typeface="Arial"/>
              </a:rPr>
              <a:t>m</a:t>
            </a:r>
            <a:r>
              <a:rPr sz="2400" dirty="0">
                <a:solidFill>
                  <a:srgbClr val="000066"/>
                </a:solidFill>
                <a:latin typeface="微软雅黑" panose="020B0503020204020204" pitchFamily="34" charset="-122"/>
                <a:ea typeface="微软雅黑" panose="020B0503020204020204" pitchFamily="34" charset="-122"/>
                <a:cs typeface="微软雅黑"/>
              </a:rPr>
              <a:t>的值作为结果，过程结束</a:t>
            </a:r>
            <a:r>
              <a:rPr sz="2400" spc="-50" dirty="0">
                <a:solidFill>
                  <a:srgbClr val="000066"/>
                </a:solidFill>
                <a:latin typeface="微软雅黑" panose="020B0503020204020204" pitchFamily="34" charset="-122"/>
                <a:ea typeface="微软雅黑" panose="020B0503020204020204" pitchFamily="34" charset="-122"/>
                <a:cs typeface="Arial"/>
              </a:rPr>
              <a:t>;</a:t>
            </a:r>
            <a:endParaRPr sz="2400" dirty="0">
              <a:latin typeface="微软雅黑" panose="020B0503020204020204" pitchFamily="34" charset="-122"/>
              <a:ea typeface="微软雅黑" panose="020B0503020204020204" pitchFamily="34" charset="-122"/>
              <a:cs typeface="Arial"/>
            </a:endParaRPr>
          </a:p>
          <a:p>
            <a:pPr marL="581025" lvl="1"/>
            <a:r>
              <a:rPr sz="2400" spc="-10" dirty="0">
                <a:solidFill>
                  <a:srgbClr val="000066"/>
                </a:solidFill>
                <a:latin typeface="微软雅黑" panose="020B0503020204020204" pitchFamily="34" charset="-122"/>
                <a:ea typeface="微软雅黑" panose="020B0503020204020204" pitchFamily="34" charset="-122"/>
                <a:cs typeface="微软雅黑"/>
              </a:rPr>
              <a:t>否则，进入第二步。</a:t>
            </a:r>
            <a:endParaRPr sz="2400" dirty="0">
              <a:latin typeface="微软雅黑" panose="020B0503020204020204" pitchFamily="34" charset="-122"/>
              <a:ea typeface="微软雅黑" panose="020B0503020204020204" pitchFamily="34" charset="-122"/>
              <a:cs typeface="微软雅黑"/>
            </a:endParaRPr>
          </a:p>
          <a:p>
            <a:pPr marL="581025" lvl="1"/>
            <a:r>
              <a:rPr sz="2400" b="1" spc="-10" dirty="0">
                <a:solidFill>
                  <a:srgbClr val="000066"/>
                </a:solidFill>
                <a:latin typeface="微软雅黑" panose="020B0503020204020204" pitchFamily="34" charset="-122"/>
                <a:ea typeface="微软雅黑" panose="020B0503020204020204" pitchFamily="34" charset="-122"/>
                <a:cs typeface="微软雅黑"/>
              </a:rPr>
              <a:t>第二步∶</a:t>
            </a:r>
            <a:r>
              <a:rPr sz="2400" dirty="0">
                <a:solidFill>
                  <a:srgbClr val="000066"/>
                </a:solidFill>
                <a:latin typeface="微软雅黑" panose="020B0503020204020204" pitchFamily="34" charset="-122"/>
                <a:ea typeface="微软雅黑" panose="020B0503020204020204" pitchFamily="34" charset="-122"/>
                <a:cs typeface="Arial"/>
              </a:rPr>
              <a:t>m</a:t>
            </a:r>
            <a:r>
              <a:rPr sz="2400" spc="15" dirty="0">
                <a:solidFill>
                  <a:srgbClr val="000066"/>
                </a:solidFill>
                <a:latin typeface="微软雅黑" panose="020B0503020204020204" pitchFamily="34" charset="-122"/>
                <a:ea typeface="微软雅黑" panose="020B0503020204020204" pitchFamily="34" charset="-122"/>
                <a:cs typeface="Arial"/>
              </a:rPr>
              <a:t> </a:t>
            </a:r>
            <a:r>
              <a:rPr sz="2400" spc="-10" dirty="0">
                <a:solidFill>
                  <a:srgbClr val="000066"/>
                </a:solidFill>
                <a:latin typeface="微软雅黑" panose="020B0503020204020204" pitchFamily="34" charset="-122"/>
                <a:ea typeface="微软雅黑" panose="020B0503020204020204" pitchFamily="34" charset="-122"/>
                <a:cs typeface="微软雅黑"/>
              </a:rPr>
              <a:t>除以</a:t>
            </a:r>
            <a:r>
              <a:rPr sz="2400" spc="-10" dirty="0">
                <a:solidFill>
                  <a:srgbClr val="000066"/>
                </a:solidFill>
                <a:latin typeface="微软雅黑" panose="020B0503020204020204" pitchFamily="34" charset="-122"/>
                <a:ea typeface="微软雅黑" panose="020B0503020204020204" pitchFamily="34" charset="-122"/>
                <a:cs typeface="Arial"/>
              </a:rPr>
              <a:t>n</a:t>
            </a:r>
            <a:r>
              <a:rPr sz="2400" spc="-15" dirty="0">
                <a:solidFill>
                  <a:srgbClr val="000066"/>
                </a:solidFill>
                <a:latin typeface="微软雅黑" panose="020B0503020204020204" pitchFamily="34" charset="-122"/>
                <a:ea typeface="微软雅黑" panose="020B0503020204020204" pitchFamily="34" charset="-122"/>
                <a:cs typeface="微软雅黑"/>
              </a:rPr>
              <a:t>，将余数赋给 </a:t>
            </a:r>
            <a:r>
              <a:rPr sz="2400" spc="-10" dirty="0">
                <a:solidFill>
                  <a:srgbClr val="000066"/>
                </a:solidFill>
                <a:latin typeface="微软雅黑" panose="020B0503020204020204" pitchFamily="34" charset="-122"/>
                <a:ea typeface="微软雅黑" panose="020B0503020204020204" pitchFamily="34" charset="-122"/>
                <a:cs typeface="Arial"/>
              </a:rPr>
              <a:t>r</a:t>
            </a:r>
            <a:r>
              <a:rPr sz="2400" spc="-50" dirty="0">
                <a:solidFill>
                  <a:srgbClr val="000066"/>
                </a:solidFill>
                <a:latin typeface="微软雅黑" panose="020B0503020204020204" pitchFamily="34" charset="-122"/>
                <a:ea typeface="微软雅黑" panose="020B0503020204020204" pitchFamily="34" charset="-122"/>
                <a:cs typeface="微软雅黑"/>
              </a:rPr>
              <a:t>。</a:t>
            </a:r>
            <a:endParaRPr sz="2400" dirty="0">
              <a:latin typeface="微软雅黑" panose="020B0503020204020204" pitchFamily="34" charset="-122"/>
              <a:ea typeface="微软雅黑" panose="020B0503020204020204" pitchFamily="34" charset="-122"/>
              <a:cs typeface="微软雅黑"/>
            </a:endParaRPr>
          </a:p>
          <a:p>
            <a:pPr marL="581025" lvl="1">
              <a:spcBef>
                <a:spcPts val="5"/>
              </a:spcBef>
            </a:pPr>
            <a:r>
              <a:rPr sz="2400" b="1" spc="-5" dirty="0">
                <a:solidFill>
                  <a:srgbClr val="000066"/>
                </a:solidFill>
                <a:latin typeface="微软雅黑" panose="020B0503020204020204" pitchFamily="34" charset="-122"/>
                <a:ea typeface="微软雅黑" panose="020B0503020204020204" pitchFamily="34" charset="-122"/>
                <a:cs typeface="微软雅黑"/>
              </a:rPr>
              <a:t>第三步∶</a:t>
            </a:r>
            <a:r>
              <a:rPr sz="2400" dirty="0">
                <a:solidFill>
                  <a:srgbClr val="000066"/>
                </a:solidFill>
                <a:latin typeface="微软雅黑" panose="020B0503020204020204" pitchFamily="34" charset="-122"/>
                <a:ea typeface="微软雅黑" panose="020B0503020204020204" pitchFamily="34" charset="-122"/>
                <a:cs typeface="微软雅黑"/>
              </a:rPr>
              <a:t>将</a:t>
            </a:r>
            <a:r>
              <a:rPr sz="2400" spc="-10" dirty="0">
                <a:solidFill>
                  <a:srgbClr val="000066"/>
                </a:solidFill>
                <a:latin typeface="微软雅黑" panose="020B0503020204020204" pitchFamily="34" charset="-122"/>
                <a:ea typeface="微软雅黑" panose="020B0503020204020204" pitchFamily="34" charset="-122"/>
                <a:cs typeface="Arial"/>
              </a:rPr>
              <a:t>n</a:t>
            </a:r>
            <a:r>
              <a:rPr sz="2400" dirty="0">
                <a:solidFill>
                  <a:srgbClr val="000066"/>
                </a:solidFill>
                <a:latin typeface="微软雅黑" panose="020B0503020204020204" pitchFamily="34" charset="-122"/>
                <a:ea typeface="微软雅黑" panose="020B0503020204020204" pitchFamily="34" charset="-122"/>
                <a:cs typeface="微软雅黑"/>
              </a:rPr>
              <a:t>的值赋给</a:t>
            </a:r>
            <a:r>
              <a:rPr sz="2400" spc="-10" dirty="0">
                <a:solidFill>
                  <a:srgbClr val="000066"/>
                </a:solidFill>
                <a:latin typeface="微软雅黑" panose="020B0503020204020204" pitchFamily="34" charset="-122"/>
                <a:ea typeface="微软雅黑" panose="020B0503020204020204" pitchFamily="34" charset="-122"/>
                <a:cs typeface="Arial"/>
              </a:rPr>
              <a:t>m</a:t>
            </a:r>
            <a:r>
              <a:rPr sz="2400" spc="-5" dirty="0">
                <a:solidFill>
                  <a:srgbClr val="000066"/>
                </a:solidFill>
                <a:latin typeface="微软雅黑" panose="020B0503020204020204" pitchFamily="34" charset="-122"/>
                <a:ea typeface="微软雅黑" panose="020B0503020204020204" pitchFamily="34" charset="-122"/>
                <a:cs typeface="微软雅黑"/>
              </a:rPr>
              <a:t>，将</a:t>
            </a:r>
            <a:r>
              <a:rPr sz="2400" spc="-10" dirty="0">
                <a:solidFill>
                  <a:srgbClr val="000066"/>
                </a:solidFill>
                <a:latin typeface="微软雅黑" panose="020B0503020204020204" pitchFamily="34" charset="-122"/>
                <a:ea typeface="微软雅黑" panose="020B0503020204020204" pitchFamily="34" charset="-122"/>
                <a:cs typeface="Arial"/>
              </a:rPr>
              <a:t>r</a:t>
            </a:r>
            <a:r>
              <a:rPr sz="2400" dirty="0">
                <a:solidFill>
                  <a:srgbClr val="000066"/>
                </a:solidFill>
                <a:latin typeface="微软雅黑" panose="020B0503020204020204" pitchFamily="34" charset="-122"/>
                <a:ea typeface="微软雅黑" panose="020B0503020204020204" pitchFamily="34" charset="-122"/>
                <a:cs typeface="微软雅黑"/>
              </a:rPr>
              <a:t>的值赋给 </a:t>
            </a:r>
            <a:r>
              <a:rPr sz="2400" spc="-10" dirty="0">
                <a:solidFill>
                  <a:srgbClr val="000066"/>
                </a:solidFill>
                <a:latin typeface="微软雅黑" panose="020B0503020204020204" pitchFamily="34" charset="-122"/>
                <a:ea typeface="微软雅黑" panose="020B0503020204020204" pitchFamily="34" charset="-122"/>
                <a:cs typeface="Arial"/>
              </a:rPr>
              <a:t>n</a:t>
            </a:r>
            <a:r>
              <a:rPr sz="2400" spc="-15" dirty="0">
                <a:solidFill>
                  <a:srgbClr val="000066"/>
                </a:solidFill>
                <a:latin typeface="微软雅黑" panose="020B0503020204020204" pitchFamily="34" charset="-122"/>
                <a:ea typeface="微软雅黑" panose="020B0503020204020204" pitchFamily="34" charset="-122"/>
                <a:cs typeface="微软雅黑"/>
              </a:rPr>
              <a:t>，返回第一步</a:t>
            </a:r>
            <a:endParaRPr sz="2400" dirty="0">
              <a:latin typeface="微软雅黑" panose="020B0503020204020204" pitchFamily="34" charset="-122"/>
              <a:ea typeface="微软雅黑" panose="020B0503020204020204" pitchFamily="34" charset="-122"/>
              <a:cs typeface="微软雅黑"/>
            </a:endParaRPr>
          </a:p>
          <a:p>
            <a:pPr marL="123825">
              <a:lnSpc>
                <a:spcPct val="100000"/>
              </a:lnSpc>
              <a:spcBef>
                <a:spcPts val="830"/>
              </a:spcBef>
            </a:pPr>
            <a:endParaRPr lang="en-US" sz="2400" spc="-20" dirty="0">
              <a:solidFill>
                <a:srgbClr val="000066"/>
              </a:solidFill>
              <a:latin typeface="微软雅黑" panose="020B0503020204020204" pitchFamily="34" charset="-122"/>
              <a:ea typeface="微软雅黑" panose="020B0503020204020204" pitchFamily="34" charset="-122"/>
              <a:cs typeface="微软雅黑"/>
            </a:endParaRPr>
          </a:p>
          <a:p>
            <a:pPr marL="123825">
              <a:lnSpc>
                <a:spcPct val="100000"/>
              </a:lnSpc>
              <a:spcBef>
                <a:spcPts val="830"/>
              </a:spcBef>
            </a:pPr>
            <a:r>
              <a:rPr sz="2400" b="1" spc="-20" dirty="0" err="1">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算法</a:t>
            </a:r>
            <a:r>
              <a:rPr sz="2400" b="1" spc="-20"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a:rPr>
              <a:t> </a:t>
            </a:r>
            <a:r>
              <a:rPr sz="2400" b="1" spc="-10"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Euclid(</a:t>
            </a:r>
            <a:r>
              <a:rPr sz="2400" b="1" spc="-10" dirty="0" err="1">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m,n</a:t>
            </a:r>
            <a:r>
              <a:rPr sz="2400" b="1" spc="-10"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a:t>
            </a:r>
            <a:r>
              <a:rPr lang="en-US" sz="2400" b="1" spc="-10" dirty="0">
                <a:solidFill>
                  <a:srgbClr val="00006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a:rPr>
              <a:t>  </a:t>
            </a:r>
            <a:r>
              <a:rPr sz="2400" spc="-10" dirty="0">
                <a:solidFill>
                  <a:srgbClr val="000066"/>
                </a:solidFill>
                <a:latin typeface="微软雅黑" panose="020B0503020204020204" pitchFamily="34" charset="-122"/>
                <a:ea typeface="微软雅黑" panose="020B0503020204020204" pitchFamily="34" charset="-122"/>
                <a:cs typeface="Arial"/>
              </a:rPr>
              <a:t>//</a:t>
            </a:r>
            <a:r>
              <a:rPr sz="2400" spc="-5" dirty="0">
                <a:solidFill>
                  <a:srgbClr val="000066"/>
                </a:solidFill>
                <a:latin typeface="微软雅黑" panose="020B0503020204020204" pitchFamily="34" charset="-122"/>
                <a:ea typeface="微软雅黑" panose="020B0503020204020204" pitchFamily="34" charset="-122"/>
                <a:cs typeface="微软雅黑"/>
              </a:rPr>
              <a:t>使用欧几里得算法计算 </a:t>
            </a:r>
            <a:r>
              <a:rPr sz="2400" spc="-10" dirty="0">
                <a:solidFill>
                  <a:srgbClr val="000066"/>
                </a:solidFill>
                <a:latin typeface="微软雅黑" panose="020B0503020204020204" pitchFamily="34" charset="-122"/>
                <a:ea typeface="微软雅黑" panose="020B0503020204020204" pitchFamily="34" charset="-122"/>
                <a:cs typeface="Arial"/>
              </a:rPr>
              <a:t>gcd(m,n)</a:t>
            </a:r>
            <a:endParaRPr sz="2400" dirty="0">
              <a:latin typeface="微软雅黑" panose="020B0503020204020204" pitchFamily="34" charset="-122"/>
              <a:ea typeface="微软雅黑" panose="020B0503020204020204" pitchFamily="34" charset="-122"/>
              <a:cs typeface="Arial"/>
            </a:endParaRPr>
          </a:p>
          <a:p>
            <a:pPr marL="581025" lvl="1"/>
            <a:r>
              <a:rPr sz="2400" spc="-10" dirty="0">
                <a:solidFill>
                  <a:srgbClr val="000066"/>
                </a:solidFill>
                <a:latin typeface="微软雅黑" panose="020B0503020204020204" pitchFamily="34" charset="-122"/>
                <a:ea typeface="微软雅黑" panose="020B0503020204020204" pitchFamily="34" charset="-122"/>
                <a:cs typeface="Arial"/>
              </a:rPr>
              <a:t>//</a:t>
            </a:r>
            <a:r>
              <a:rPr sz="2400" spc="-10" dirty="0">
                <a:solidFill>
                  <a:srgbClr val="000066"/>
                </a:solidFill>
                <a:latin typeface="微软雅黑" panose="020B0503020204020204" pitchFamily="34" charset="-122"/>
                <a:ea typeface="微软雅黑" panose="020B0503020204020204" pitchFamily="34" charset="-122"/>
                <a:cs typeface="微软雅黑"/>
              </a:rPr>
              <a:t>输入∶ 两个不全为</a:t>
            </a:r>
            <a:r>
              <a:rPr sz="2400" spc="-25" dirty="0">
                <a:solidFill>
                  <a:srgbClr val="000066"/>
                </a:solidFill>
                <a:latin typeface="微软雅黑" panose="020B0503020204020204" pitchFamily="34" charset="-122"/>
                <a:ea typeface="微软雅黑" panose="020B0503020204020204" pitchFamily="34" charset="-122"/>
                <a:cs typeface="Arial"/>
              </a:rPr>
              <a:t>0</a:t>
            </a:r>
            <a:r>
              <a:rPr sz="2400" dirty="0">
                <a:solidFill>
                  <a:srgbClr val="000066"/>
                </a:solidFill>
                <a:latin typeface="微软雅黑" panose="020B0503020204020204" pitchFamily="34" charset="-122"/>
                <a:ea typeface="微软雅黑" panose="020B0503020204020204" pitchFamily="34" charset="-122"/>
                <a:cs typeface="微软雅黑"/>
              </a:rPr>
              <a:t>的非负整数</a:t>
            </a:r>
            <a:r>
              <a:rPr sz="2400" spc="-25" dirty="0">
                <a:solidFill>
                  <a:srgbClr val="000066"/>
                </a:solidFill>
                <a:latin typeface="微软雅黑" panose="020B0503020204020204" pitchFamily="34" charset="-122"/>
                <a:ea typeface="微软雅黑" panose="020B0503020204020204" pitchFamily="34" charset="-122"/>
                <a:cs typeface="Arial"/>
              </a:rPr>
              <a:t>m,n</a:t>
            </a:r>
            <a:endParaRPr sz="2400" dirty="0">
              <a:latin typeface="微软雅黑" panose="020B0503020204020204" pitchFamily="34" charset="-122"/>
              <a:ea typeface="微软雅黑" panose="020B0503020204020204" pitchFamily="34" charset="-122"/>
              <a:cs typeface="Arial"/>
            </a:endParaRPr>
          </a:p>
          <a:p>
            <a:pPr marL="581025" lvl="1"/>
            <a:r>
              <a:rPr sz="2400" spc="-10" dirty="0">
                <a:solidFill>
                  <a:srgbClr val="000066"/>
                </a:solidFill>
                <a:latin typeface="微软雅黑" panose="020B0503020204020204" pitchFamily="34" charset="-122"/>
                <a:ea typeface="微软雅黑" panose="020B0503020204020204" pitchFamily="34" charset="-122"/>
                <a:cs typeface="Arial"/>
              </a:rPr>
              <a:t>//</a:t>
            </a:r>
            <a:r>
              <a:rPr sz="2400" spc="-10" dirty="0">
                <a:solidFill>
                  <a:srgbClr val="000066"/>
                </a:solidFill>
                <a:latin typeface="微软雅黑" panose="020B0503020204020204" pitchFamily="34" charset="-122"/>
                <a:ea typeface="微软雅黑" panose="020B0503020204020204" pitchFamily="34" charset="-122"/>
                <a:cs typeface="微软雅黑"/>
              </a:rPr>
              <a:t>输出∶ </a:t>
            </a:r>
            <a:r>
              <a:rPr sz="2400" spc="-10" dirty="0">
                <a:solidFill>
                  <a:srgbClr val="000066"/>
                </a:solidFill>
                <a:latin typeface="微软雅黑" panose="020B0503020204020204" pitchFamily="34" charset="-122"/>
                <a:ea typeface="微软雅黑" panose="020B0503020204020204" pitchFamily="34" charset="-122"/>
                <a:cs typeface="Arial"/>
              </a:rPr>
              <a:t>m</a:t>
            </a:r>
            <a:r>
              <a:rPr sz="2400" spc="-10" dirty="0">
                <a:solidFill>
                  <a:srgbClr val="000066"/>
                </a:solidFill>
                <a:latin typeface="微软雅黑" panose="020B0503020204020204" pitchFamily="34" charset="-122"/>
                <a:ea typeface="微软雅黑" panose="020B0503020204020204" pitchFamily="34" charset="-122"/>
                <a:cs typeface="微软雅黑"/>
              </a:rPr>
              <a:t>，</a:t>
            </a:r>
            <a:r>
              <a:rPr sz="2400" spc="-10" dirty="0">
                <a:solidFill>
                  <a:srgbClr val="000066"/>
                </a:solidFill>
                <a:latin typeface="微软雅黑" panose="020B0503020204020204" pitchFamily="34" charset="-122"/>
                <a:ea typeface="微软雅黑" panose="020B0503020204020204" pitchFamily="34" charset="-122"/>
                <a:cs typeface="Arial"/>
              </a:rPr>
              <a:t>n</a:t>
            </a:r>
            <a:r>
              <a:rPr sz="2400" spc="-10" dirty="0">
                <a:solidFill>
                  <a:srgbClr val="000066"/>
                </a:solidFill>
                <a:latin typeface="微软雅黑" panose="020B0503020204020204" pitchFamily="34" charset="-122"/>
                <a:ea typeface="微软雅黑" panose="020B0503020204020204" pitchFamily="34" charset="-122"/>
                <a:cs typeface="微软雅黑"/>
              </a:rPr>
              <a:t>的最大公约数</a:t>
            </a:r>
            <a:endParaRPr sz="2400" dirty="0">
              <a:latin typeface="微软雅黑" panose="020B0503020204020204" pitchFamily="34" charset="-122"/>
              <a:ea typeface="微软雅黑" panose="020B0503020204020204" pitchFamily="34" charset="-122"/>
              <a:cs typeface="微软雅黑"/>
            </a:endParaRPr>
          </a:p>
          <a:p>
            <a:pPr marL="581025" lvl="1">
              <a:spcBef>
                <a:spcPts val="15"/>
              </a:spcBef>
            </a:pPr>
            <a:r>
              <a:rPr sz="2400" b="1" dirty="0">
                <a:solidFill>
                  <a:srgbClr val="000066"/>
                </a:solidFill>
                <a:latin typeface="微软雅黑" panose="020B0503020204020204" pitchFamily="34" charset="-122"/>
                <a:ea typeface="微软雅黑" panose="020B0503020204020204" pitchFamily="34" charset="-122"/>
                <a:cs typeface="Arial"/>
              </a:rPr>
              <a:t>while</a:t>
            </a:r>
            <a:r>
              <a:rPr sz="2400" b="1" spc="-35"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n≠0</a:t>
            </a:r>
            <a:r>
              <a:rPr sz="2400" spc="-15" dirty="0">
                <a:solidFill>
                  <a:srgbClr val="000066"/>
                </a:solidFill>
                <a:latin typeface="微软雅黑" panose="020B0503020204020204" pitchFamily="34" charset="-122"/>
                <a:ea typeface="微软雅黑" panose="020B0503020204020204" pitchFamily="34" charset="-122"/>
                <a:cs typeface="Arial"/>
              </a:rPr>
              <a:t> </a:t>
            </a:r>
            <a:r>
              <a:rPr sz="2400" spc="-25" dirty="0">
                <a:solidFill>
                  <a:srgbClr val="000066"/>
                </a:solidFill>
                <a:latin typeface="微软雅黑" panose="020B0503020204020204" pitchFamily="34" charset="-122"/>
                <a:ea typeface="微软雅黑" panose="020B0503020204020204" pitchFamily="34" charset="-122"/>
                <a:cs typeface="Arial"/>
              </a:rPr>
              <a:t>do</a:t>
            </a:r>
            <a:endParaRPr sz="2400" dirty="0">
              <a:latin typeface="微软雅黑" panose="020B0503020204020204" pitchFamily="34" charset="-122"/>
              <a:ea typeface="微软雅黑" panose="020B0503020204020204" pitchFamily="34" charset="-122"/>
              <a:cs typeface="Arial"/>
            </a:endParaRPr>
          </a:p>
          <a:p>
            <a:pPr marL="1038225" lvl="1"/>
            <a:r>
              <a:rPr sz="2400" dirty="0">
                <a:solidFill>
                  <a:srgbClr val="000066"/>
                </a:solidFill>
                <a:latin typeface="微软雅黑" panose="020B0503020204020204" pitchFamily="34" charset="-122"/>
                <a:ea typeface="微软雅黑" panose="020B0503020204020204" pitchFamily="34" charset="-122"/>
                <a:cs typeface="Arial"/>
              </a:rPr>
              <a:t>r</a:t>
            </a:r>
            <a:r>
              <a:rPr sz="2400" spc="-10"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←m</a:t>
            </a:r>
            <a:r>
              <a:rPr sz="2400" spc="-5" dirty="0">
                <a:solidFill>
                  <a:srgbClr val="000066"/>
                </a:solidFill>
                <a:latin typeface="微软雅黑" panose="020B0503020204020204" pitchFamily="34" charset="-122"/>
                <a:ea typeface="微软雅黑" panose="020B0503020204020204" pitchFamily="34" charset="-122"/>
                <a:cs typeface="Arial"/>
              </a:rPr>
              <a:t> </a:t>
            </a:r>
            <a:r>
              <a:rPr sz="2400" dirty="0">
                <a:solidFill>
                  <a:srgbClr val="000066"/>
                </a:solidFill>
                <a:latin typeface="微软雅黑" panose="020B0503020204020204" pitchFamily="34" charset="-122"/>
                <a:ea typeface="微软雅黑" panose="020B0503020204020204" pitchFamily="34" charset="-122"/>
                <a:cs typeface="Arial"/>
              </a:rPr>
              <a:t>mod</a:t>
            </a:r>
            <a:r>
              <a:rPr sz="2400" spc="-10" dirty="0">
                <a:solidFill>
                  <a:srgbClr val="000066"/>
                </a:solidFill>
                <a:latin typeface="微软雅黑" panose="020B0503020204020204" pitchFamily="34" charset="-122"/>
                <a:ea typeface="微软雅黑" panose="020B0503020204020204" pitchFamily="34" charset="-122"/>
                <a:cs typeface="Arial"/>
              </a:rPr>
              <a:t> </a:t>
            </a:r>
            <a:r>
              <a:rPr sz="2400" spc="-50" dirty="0">
                <a:solidFill>
                  <a:srgbClr val="000066"/>
                </a:solidFill>
                <a:latin typeface="微软雅黑" panose="020B0503020204020204" pitchFamily="34" charset="-122"/>
                <a:ea typeface="微软雅黑" panose="020B0503020204020204" pitchFamily="34" charset="-122"/>
                <a:cs typeface="Arial"/>
              </a:rPr>
              <a:t>n</a:t>
            </a:r>
            <a:endParaRPr sz="2400" dirty="0">
              <a:latin typeface="微软雅黑" panose="020B0503020204020204" pitchFamily="34" charset="-122"/>
              <a:ea typeface="微软雅黑" panose="020B0503020204020204" pitchFamily="34" charset="-122"/>
              <a:cs typeface="Arial"/>
            </a:endParaRPr>
          </a:p>
          <a:p>
            <a:pPr marL="1038225" lvl="1"/>
            <a:r>
              <a:rPr sz="2400" dirty="0">
                <a:solidFill>
                  <a:srgbClr val="000066"/>
                </a:solidFill>
                <a:latin typeface="微软雅黑" panose="020B0503020204020204" pitchFamily="34" charset="-122"/>
                <a:ea typeface="微软雅黑" panose="020B0503020204020204" pitchFamily="34" charset="-122"/>
                <a:cs typeface="Arial"/>
              </a:rPr>
              <a:t>m</a:t>
            </a:r>
            <a:r>
              <a:rPr sz="2400" spc="-5" dirty="0">
                <a:solidFill>
                  <a:srgbClr val="000066"/>
                </a:solidFill>
                <a:latin typeface="微软雅黑" panose="020B0503020204020204" pitchFamily="34" charset="-122"/>
                <a:ea typeface="微软雅黑" panose="020B0503020204020204" pitchFamily="34" charset="-122"/>
                <a:cs typeface="Arial"/>
              </a:rPr>
              <a:t> </a:t>
            </a:r>
            <a:r>
              <a:rPr sz="2400" spc="-25" dirty="0">
                <a:solidFill>
                  <a:srgbClr val="000066"/>
                </a:solidFill>
                <a:latin typeface="微软雅黑" panose="020B0503020204020204" pitchFamily="34" charset="-122"/>
                <a:ea typeface="微软雅黑" panose="020B0503020204020204" pitchFamily="34" charset="-122"/>
                <a:cs typeface="Arial"/>
              </a:rPr>
              <a:t>←n</a:t>
            </a:r>
            <a:endParaRPr sz="2400" dirty="0">
              <a:latin typeface="微软雅黑" panose="020B0503020204020204" pitchFamily="34" charset="-122"/>
              <a:ea typeface="微软雅黑" panose="020B0503020204020204" pitchFamily="34" charset="-122"/>
              <a:cs typeface="Arial"/>
            </a:endParaRPr>
          </a:p>
          <a:p>
            <a:pPr marL="1038225" lvl="1">
              <a:spcBef>
                <a:spcPts val="5"/>
              </a:spcBef>
            </a:pPr>
            <a:r>
              <a:rPr sz="2400" dirty="0">
                <a:solidFill>
                  <a:srgbClr val="000066"/>
                </a:solidFill>
                <a:latin typeface="微软雅黑" panose="020B0503020204020204" pitchFamily="34" charset="-122"/>
                <a:ea typeface="微软雅黑" panose="020B0503020204020204" pitchFamily="34" charset="-122"/>
                <a:cs typeface="Arial"/>
              </a:rPr>
              <a:t>n</a:t>
            </a:r>
            <a:r>
              <a:rPr sz="2400" spc="-5" dirty="0">
                <a:solidFill>
                  <a:srgbClr val="000066"/>
                </a:solidFill>
                <a:latin typeface="微软雅黑" panose="020B0503020204020204" pitchFamily="34" charset="-122"/>
                <a:ea typeface="微软雅黑" panose="020B0503020204020204" pitchFamily="34" charset="-122"/>
                <a:cs typeface="Arial"/>
              </a:rPr>
              <a:t> </a:t>
            </a:r>
            <a:r>
              <a:rPr sz="2400" spc="-25" dirty="0">
                <a:solidFill>
                  <a:srgbClr val="000066"/>
                </a:solidFill>
                <a:latin typeface="微软雅黑" panose="020B0503020204020204" pitchFamily="34" charset="-122"/>
                <a:ea typeface="微软雅黑" panose="020B0503020204020204" pitchFamily="34" charset="-122"/>
                <a:cs typeface="Arial"/>
              </a:rPr>
              <a:t>←r</a:t>
            </a:r>
            <a:endParaRPr sz="2400" dirty="0">
              <a:latin typeface="微软雅黑" panose="020B0503020204020204" pitchFamily="34" charset="-122"/>
              <a:ea typeface="微软雅黑" panose="020B0503020204020204" pitchFamily="34" charset="-122"/>
              <a:cs typeface="Arial"/>
            </a:endParaRPr>
          </a:p>
          <a:p>
            <a:pPr marL="581025" lvl="1"/>
            <a:r>
              <a:rPr sz="2400" b="1" dirty="0">
                <a:solidFill>
                  <a:srgbClr val="000066"/>
                </a:solidFill>
                <a:latin typeface="微软雅黑" panose="020B0503020204020204" pitchFamily="34" charset="-122"/>
                <a:ea typeface="微软雅黑" panose="020B0503020204020204" pitchFamily="34" charset="-122"/>
                <a:cs typeface="Arial"/>
              </a:rPr>
              <a:t>return</a:t>
            </a:r>
            <a:r>
              <a:rPr sz="2400" b="1" spc="-5" dirty="0">
                <a:solidFill>
                  <a:srgbClr val="000066"/>
                </a:solidFill>
                <a:latin typeface="微软雅黑" panose="020B0503020204020204" pitchFamily="34" charset="-122"/>
                <a:ea typeface="微软雅黑" panose="020B0503020204020204" pitchFamily="34" charset="-122"/>
                <a:cs typeface="Arial"/>
              </a:rPr>
              <a:t> </a:t>
            </a:r>
            <a:r>
              <a:rPr sz="2400" spc="-50" dirty="0">
                <a:solidFill>
                  <a:srgbClr val="000066"/>
                </a:solidFill>
                <a:latin typeface="微软雅黑" panose="020B0503020204020204" pitchFamily="34" charset="-122"/>
                <a:ea typeface="微软雅黑" panose="020B0503020204020204" pitchFamily="34" charset="-122"/>
                <a:cs typeface="Arial"/>
              </a:rPr>
              <a:t>m</a:t>
            </a:r>
            <a:endParaRPr sz="2400" dirty="0">
              <a:latin typeface="微软雅黑" panose="020B0503020204020204" pitchFamily="34" charset="-122"/>
              <a:ea typeface="微软雅黑" panose="020B0503020204020204" pitchFamily="34" charset="-122"/>
              <a:cs typeface="Arial"/>
            </a:endParaRPr>
          </a:p>
        </p:txBody>
      </p:sp>
      <p:sp>
        <p:nvSpPr>
          <p:cNvPr id="4" name="矩形 3"/>
          <p:cNvSpPr/>
          <p:nvPr/>
        </p:nvSpPr>
        <p:spPr>
          <a:xfrm>
            <a:off x="4572000" y="6411662"/>
            <a:ext cx="4572000" cy="338554"/>
          </a:xfrm>
          <a:prstGeom prst="rect">
            <a:avLst/>
          </a:prstGeom>
        </p:spPr>
        <p:txBody>
          <a:bodyPr>
            <a:spAutoFit/>
          </a:bodyPr>
          <a:lstStyle/>
          <a:p>
            <a:r>
              <a:rPr lang="en-US" altLang="zh-CN" sz="1600" b="1" spc="-10" dirty="0">
                <a:effectLst>
                  <a:outerShdw blurRad="38100" dist="38100" dir="2700000" algn="tl">
                    <a:srgbClr val="000000">
                      <a:alpha val="43137"/>
                    </a:srgbClr>
                  </a:outerShdw>
                </a:effectLst>
                <a:latin typeface="Arial"/>
                <a:cs typeface="Arial"/>
              </a:rPr>
              <a:t>Euclid(m, n)</a:t>
            </a:r>
            <a:r>
              <a:rPr lang="zh-CN" altLang="en-US" sz="1500" dirty="0">
                <a:solidFill>
                  <a:schemeClr val="tx1"/>
                </a:solidFill>
                <a:latin typeface="Times New Roman" pitchFamily="18" charset="0"/>
                <a:ea typeface="宋体" pitchFamily="2" charset="-122"/>
              </a:rPr>
              <a:t>算法可以很容易地用于很大的数</a:t>
            </a:r>
            <a:endParaRPr lang="zh-CN" altLang="en-US" sz="1500" dirty="0"/>
          </a:p>
        </p:txBody>
      </p:sp>
    </p:spTree>
    <p:extLst>
      <p:ext uri="{BB962C8B-B14F-4D97-AF65-F5344CB8AC3E}">
        <p14:creationId xmlns:p14="http://schemas.microsoft.com/office/powerpoint/2010/main" val="2646633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1F8A300-35F6-1023-7E6D-EA3B723D0984}"/>
              </a:ext>
            </a:extLst>
          </p:cNvPr>
          <p:cNvSpPr>
            <a:spLocks noGrp="1" noChangeArrowheads="1"/>
          </p:cNvSpPr>
          <p:nvPr>
            <p:ph type="title"/>
          </p:nvPr>
        </p:nvSpPr>
        <p:spPr/>
        <p:txBody>
          <a:bodyPr/>
          <a:lstStyle/>
          <a:p>
            <a:r>
              <a:rPr lang="en-US" altLang="zh-CN" sz="2800" b="1" dirty="0">
                <a:solidFill>
                  <a:srgbClr val="0000FF"/>
                </a:solidFill>
              </a:rPr>
              <a:t>1.1 </a:t>
            </a:r>
            <a:r>
              <a:rPr lang="zh-CN" altLang="en-US" sz="2800" b="1" dirty="0">
                <a:solidFill>
                  <a:srgbClr val="0000FF"/>
                </a:solidFill>
              </a:rPr>
              <a:t>程序</a:t>
            </a:r>
            <a:r>
              <a:rPr lang="en-US" altLang="zh-CN" sz="2800" b="1" dirty="0">
                <a:solidFill>
                  <a:srgbClr val="0000FF"/>
                </a:solidFill>
              </a:rPr>
              <a:t>(Program)</a:t>
            </a:r>
          </a:p>
        </p:txBody>
      </p:sp>
      <p:sp>
        <p:nvSpPr>
          <p:cNvPr id="20483" name="Rectangle 3">
            <a:extLst>
              <a:ext uri="{FF2B5EF4-FFF2-40B4-BE49-F238E27FC236}">
                <a16:creationId xmlns:a16="http://schemas.microsoft.com/office/drawing/2014/main" id="{3E60BBE3-CD2E-AA19-EEBF-673964AAC825}"/>
              </a:ext>
            </a:extLst>
          </p:cNvPr>
          <p:cNvSpPr>
            <a:spLocks noGrp="1" noChangeArrowheads="1"/>
          </p:cNvSpPr>
          <p:nvPr>
            <p:ph type="body" idx="1"/>
          </p:nvPr>
        </p:nvSpPr>
        <p:spPr>
          <a:xfrm>
            <a:off x="287337" y="1268760"/>
            <a:ext cx="8569325" cy="4752975"/>
          </a:xfrm>
        </p:spPr>
        <p:txBody>
          <a:bodyPr/>
          <a:lstStyle/>
          <a:p>
            <a:pPr>
              <a:lnSpc>
                <a:spcPct val="150000"/>
              </a:lnSpc>
            </a:pPr>
            <a:r>
              <a:rPr lang="zh-CN" altLang="en-US" sz="2800" b="1" dirty="0"/>
              <a:t>程序是算法用某种程序设计语言的具体实现。</a:t>
            </a:r>
          </a:p>
          <a:p>
            <a:pPr>
              <a:lnSpc>
                <a:spcPct val="150000"/>
              </a:lnSpc>
            </a:pPr>
            <a:r>
              <a:rPr lang="zh-CN" altLang="en-US" sz="2800" b="1" dirty="0"/>
              <a:t>程序可以不满足算法的性质</a:t>
            </a:r>
            <a:r>
              <a:rPr lang="en-US" altLang="zh-CN" sz="2800" b="1" dirty="0"/>
              <a:t>(4)</a:t>
            </a:r>
            <a:r>
              <a:rPr lang="zh-CN" altLang="en-US" sz="2800" b="1" dirty="0"/>
              <a:t>：有限性。</a:t>
            </a:r>
          </a:p>
          <a:p>
            <a:pPr lvl="1">
              <a:lnSpc>
                <a:spcPct val="150000"/>
              </a:lnSpc>
            </a:pPr>
            <a:r>
              <a:rPr lang="zh-CN" altLang="en-US" sz="2400" b="1" dirty="0"/>
              <a:t>例如操作系统，是一个在无限循环中执行的程序，因而不是一个算法。</a:t>
            </a:r>
          </a:p>
          <a:p>
            <a:pPr lvl="1">
              <a:lnSpc>
                <a:spcPct val="150000"/>
              </a:lnSpc>
            </a:pPr>
            <a:r>
              <a:rPr lang="zh-CN" altLang="en-US" sz="2400" b="1" dirty="0"/>
              <a:t>操作系统的各种任务可看成是单独的问题，每一个问题由操作系统中的一个子程序通过特定的算法来实现。该子程序得到输出结果后便终止。</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Question</a:t>
            </a:r>
            <a:endParaRPr lang="zh-CN" alt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idx="1"/>
          </p:nvPr>
        </p:nvSpPr>
        <p:spPr/>
        <p:txBody>
          <a:bodyPr/>
          <a:lstStyle/>
          <a:p>
            <a:pPr>
              <a:lnSpc>
                <a:spcPct val="150000"/>
              </a:lnSpc>
            </a:pPr>
            <a:r>
              <a:rPr lang="zh-CN" altLang="en-US" dirty="0">
                <a:latin typeface="微软雅黑" panose="020B0503020204020204" pitchFamily="34" charset="-122"/>
                <a:ea typeface="微软雅黑" panose="020B0503020204020204" pitchFamily="34" charset="-122"/>
              </a:rPr>
              <a:t>具体问题：</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从</a:t>
            </a:r>
            <a:r>
              <a:rPr lang="en-US" altLang="zh-CN" dirty="0">
                <a:solidFill>
                  <a:srgbClr val="FF0000"/>
                </a:solidFill>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本书中找到某一本，用什么方法？</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通用问题：</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从</a:t>
            </a:r>
            <a:r>
              <a:rPr lang="en-US" altLang="zh-CN" dirty="0">
                <a:solidFill>
                  <a:srgbClr val="FF0000"/>
                </a:solidFill>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本书中找到某一本，用什么方法？</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927C07CA-9D7C-4A8B-8607-4F63859ACA51}" type="slidenum">
              <a:rPr lang="en-US" altLang="zh-CN" smtClean="0"/>
              <a:pPr>
                <a:defRPr/>
              </a:pPr>
              <a:t>28</a:t>
            </a:fld>
            <a:endParaRPr lang="en-US" altLang="zh-CN"/>
          </a:p>
        </p:txBody>
      </p:sp>
    </p:spTree>
    <p:extLst>
      <p:ext uri="{BB962C8B-B14F-4D97-AF65-F5344CB8AC3E}">
        <p14:creationId xmlns:p14="http://schemas.microsoft.com/office/powerpoint/2010/main" val="708112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solidFill>
                  <a:srgbClr val="262626"/>
                </a:solidFill>
                <a:latin typeface="微软雅黑" panose="020B0503020204020204" pitchFamily="34" charset="-122"/>
                <a:ea typeface="微软雅黑" panose="020B0503020204020204" pitchFamily="34" charset="-122"/>
              </a:rPr>
              <a:t>分治法找书算法 </a:t>
            </a:r>
            <a:endParaRPr lang="zh-CN" altLang="en-US"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pPr>
              <a:defRPr/>
            </a:pPr>
            <a:fld id="{927C07CA-9D7C-4A8B-8607-4F63859ACA51}" type="slidenum">
              <a:rPr lang="en-US" altLang="zh-CN" smtClean="0"/>
              <a:pPr>
                <a:defRPr/>
              </a:pPr>
              <a:t>29</a:t>
            </a:fld>
            <a:endParaRPr lang="en-US" altLang="zh-CN"/>
          </a:p>
        </p:txBody>
      </p:sp>
      <p:sp>
        <p:nvSpPr>
          <p:cNvPr id="5" name="矩形 4"/>
          <p:cNvSpPr/>
          <p:nvPr/>
        </p:nvSpPr>
        <p:spPr>
          <a:xfrm>
            <a:off x="640160" y="1196752"/>
            <a:ext cx="8046640" cy="4893647"/>
          </a:xfrm>
          <a:prstGeom prst="rect">
            <a:avLst/>
          </a:prstGeom>
        </p:spPr>
        <p:txBody>
          <a:bodyPr wrap="square">
            <a:spAutoFit/>
          </a:bodyPr>
          <a:lstStyle/>
          <a:p>
            <a:pPr>
              <a:lnSpc>
                <a:spcPct val="150000"/>
              </a:lnSpc>
              <a:buFont typeface="+mj-lt"/>
              <a:buAutoNum type="arabicPeriod"/>
            </a:pPr>
            <a:r>
              <a:rPr lang="zh-CN" altLang="en-US" sz="2600" dirty="0">
                <a:solidFill>
                  <a:srgbClr val="262626"/>
                </a:solidFill>
                <a:latin typeface="微软雅黑" panose="020B0503020204020204" pitchFamily="34" charset="-122"/>
                <a:ea typeface="微软雅黑" panose="020B0503020204020204" pitchFamily="34" charset="-122"/>
              </a:rPr>
              <a:t> </a:t>
            </a:r>
            <a:r>
              <a:rPr lang="zh-CN" altLang="en-US" sz="2600" u="sng" dirty="0">
                <a:solidFill>
                  <a:srgbClr val="262626"/>
                </a:solidFill>
                <a:latin typeface="微软雅黑" panose="020B0503020204020204" pitchFamily="34" charset="-122"/>
                <a:ea typeface="微软雅黑" panose="020B0503020204020204" pitchFamily="34" charset="-122"/>
              </a:rPr>
              <a:t>排序</a:t>
            </a:r>
            <a:r>
              <a:rPr lang="zh-CN" altLang="en-US" sz="2600" dirty="0">
                <a:solidFill>
                  <a:srgbClr val="262626"/>
                </a:solidFill>
                <a:latin typeface="微软雅黑" panose="020B0503020204020204" pitchFamily="34" charset="-122"/>
                <a:ea typeface="微软雅黑" panose="020B0503020204020204" pitchFamily="34" charset="-122"/>
              </a:rPr>
              <a:t>书籍</a:t>
            </a:r>
            <a:r>
              <a:rPr lang="en-US" altLang="zh-CN" sz="2600" dirty="0">
                <a:solidFill>
                  <a:srgbClr val="262626"/>
                </a:solidFill>
                <a:latin typeface="微软雅黑" panose="020B0503020204020204" pitchFamily="34" charset="-122"/>
                <a:ea typeface="微软雅黑" panose="020B0503020204020204" pitchFamily="34" charset="-122"/>
              </a:rPr>
              <a:t> </a:t>
            </a:r>
            <a:endParaRPr lang="zh-CN" altLang="en-US" sz="2600" dirty="0">
              <a:solidFill>
                <a:srgbClr val="262626"/>
              </a:solidFill>
              <a:latin typeface="微软雅黑" panose="020B0503020204020204" pitchFamily="34" charset="-122"/>
              <a:ea typeface="微软雅黑" panose="020B0503020204020204" pitchFamily="34" charset="-122"/>
            </a:endParaRPr>
          </a:p>
          <a:p>
            <a:pPr>
              <a:lnSpc>
                <a:spcPct val="150000"/>
              </a:lnSpc>
              <a:buFont typeface="+mj-lt"/>
              <a:buAutoNum type="arabicPeriod"/>
            </a:pPr>
            <a:r>
              <a:rPr lang="zh-CN" altLang="en-US" sz="2600" dirty="0">
                <a:solidFill>
                  <a:srgbClr val="262626"/>
                </a:solidFill>
                <a:latin typeface="微软雅黑" panose="020B0503020204020204" pitchFamily="34" charset="-122"/>
                <a:ea typeface="微软雅黑" panose="020B0503020204020204" pitchFamily="34" charset="-122"/>
              </a:rPr>
              <a:t> </a:t>
            </a:r>
            <a:r>
              <a:rPr lang="zh-CN" altLang="en-US" sz="2600" u="sng" dirty="0">
                <a:solidFill>
                  <a:srgbClr val="262626"/>
                </a:solidFill>
                <a:latin typeface="微软雅黑" panose="020B0503020204020204" pitchFamily="34" charset="-122"/>
                <a:ea typeface="微软雅黑" panose="020B0503020204020204" pitchFamily="34" charset="-122"/>
              </a:rPr>
              <a:t>确定中间书</a:t>
            </a:r>
          </a:p>
          <a:p>
            <a:pPr>
              <a:lnSpc>
                <a:spcPct val="150000"/>
              </a:lnSpc>
              <a:buFont typeface="+mj-lt"/>
              <a:buAutoNum type="arabicPeriod"/>
            </a:pPr>
            <a:r>
              <a:rPr lang="zh-CN" altLang="en-US" sz="2600" dirty="0">
                <a:solidFill>
                  <a:srgbClr val="262626"/>
                </a:solidFill>
                <a:latin typeface="微软雅黑" panose="020B0503020204020204" pitchFamily="34" charset="-122"/>
                <a:ea typeface="微软雅黑" panose="020B0503020204020204" pitchFamily="34" charset="-122"/>
              </a:rPr>
              <a:t> </a:t>
            </a:r>
            <a:r>
              <a:rPr lang="zh-CN" altLang="en-US" sz="2600" u="sng" dirty="0">
                <a:solidFill>
                  <a:srgbClr val="262626"/>
                </a:solidFill>
                <a:latin typeface="微软雅黑" panose="020B0503020204020204" pitchFamily="34" charset="-122"/>
                <a:ea typeface="微软雅黑" panose="020B0503020204020204" pitchFamily="34" charset="-122"/>
              </a:rPr>
              <a:t>比较目标书与中间书</a:t>
            </a:r>
            <a:r>
              <a:rPr lang="zh-CN" altLang="en-US" sz="2600" dirty="0">
                <a:solidFill>
                  <a:srgbClr val="262626"/>
                </a:solidFill>
                <a:latin typeface="微软雅黑" panose="020B0503020204020204" pitchFamily="34" charset="-122"/>
                <a:ea typeface="微软雅黑" panose="020B0503020204020204" pitchFamily="34" charset="-122"/>
              </a:rPr>
              <a:t>，确定目标书位于中间书的左边还是右边。</a:t>
            </a:r>
          </a:p>
          <a:p>
            <a:pPr>
              <a:lnSpc>
                <a:spcPct val="150000"/>
              </a:lnSpc>
              <a:buFont typeface="+mj-lt"/>
              <a:buAutoNum type="arabicPeriod"/>
            </a:pPr>
            <a:r>
              <a:rPr lang="zh-CN" altLang="en-US" sz="2600" dirty="0">
                <a:solidFill>
                  <a:srgbClr val="262626"/>
                </a:solidFill>
                <a:latin typeface="微软雅黑" panose="020B0503020204020204" pitchFamily="34" charset="-122"/>
                <a:ea typeface="微软雅黑" panose="020B0503020204020204" pitchFamily="34" charset="-122"/>
              </a:rPr>
              <a:t> 将当前的搜索范围缩小后，</a:t>
            </a:r>
            <a:r>
              <a:rPr lang="zh-CN" altLang="en-US" sz="2600" b="1" u="sng" dirty="0">
                <a:solidFill>
                  <a:srgbClr val="262626"/>
                </a:solidFill>
                <a:latin typeface="微软雅黑" panose="020B0503020204020204" pitchFamily="34" charset="-122"/>
                <a:ea typeface="微软雅黑" panose="020B0503020204020204" pitchFamily="34" charset="-122"/>
              </a:rPr>
              <a:t>重复上述步骤</a:t>
            </a:r>
            <a:r>
              <a:rPr lang="zh-CN" altLang="en-US" sz="2600" dirty="0">
                <a:solidFill>
                  <a:srgbClr val="262626"/>
                </a:solidFill>
                <a:latin typeface="微软雅黑" panose="020B0503020204020204" pitchFamily="34" charset="-122"/>
                <a:ea typeface="微软雅黑" panose="020B0503020204020204" pitchFamily="34" charset="-122"/>
              </a:rPr>
              <a:t>，直到找到目标书或确定其不存在。</a:t>
            </a:r>
          </a:p>
          <a:p>
            <a:pPr>
              <a:lnSpc>
                <a:spcPct val="150000"/>
              </a:lnSpc>
              <a:buFont typeface="+mj-lt"/>
              <a:buAutoNum type="arabicPeriod"/>
            </a:pPr>
            <a:r>
              <a:rPr lang="zh-CN" altLang="en-US" sz="2600" dirty="0">
                <a:solidFill>
                  <a:srgbClr val="262626"/>
                </a:solidFill>
                <a:latin typeface="微软雅黑" panose="020B0503020204020204" pitchFamily="34" charset="-122"/>
                <a:ea typeface="微软雅黑" panose="020B0503020204020204" pitchFamily="34" charset="-122"/>
              </a:rPr>
              <a:t> </a:t>
            </a:r>
            <a:r>
              <a:rPr lang="zh-CN" altLang="en-US" sz="2600" u="sng" dirty="0">
                <a:solidFill>
                  <a:srgbClr val="262626"/>
                </a:solidFill>
                <a:latin typeface="微软雅黑" panose="020B0503020204020204" pitchFamily="34" charset="-122"/>
                <a:ea typeface="微软雅黑" panose="020B0503020204020204" pitchFamily="34" charset="-122"/>
              </a:rPr>
              <a:t>当搜索范围缩小到单本书时</a:t>
            </a:r>
            <a:r>
              <a:rPr lang="zh-CN" altLang="en-US" sz="2600" dirty="0">
                <a:solidFill>
                  <a:srgbClr val="262626"/>
                </a:solidFill>
                <a:latin typeface="微软雅黑" panose="020B0503020204020204" pitchFamily="34" charset="-122"/>
                <a:ea typeface="微软雅黑" panose="020B0503020204020204" pitchFamily="34" charset="-122"/>
              </a:rPr>
              <a:t>，如果该书为目标书，则返回该书；否则，返回目标书不存在。</a:t>
            </a:r>
          </a:p>
        </p:txBody>
      </p:sp>
    </p:spTree>
    <p:extLst>
      <p:ext uri="{BB962C8B-B14F-4D97-AF65-F5344CB8AC3E}">
        <p14:creationId xmlns:p14="http://schemas.microsoft.com/office/powerpoint/2010/main" val="31356445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32073" y="332656"/>
            <a:ext cx="8229600" cy="1139825"/>
          </a:xfrm>
        </p:spPr>
        <p:txBody>
          <a:bodyPr/>
          <a:lstStyle/>
          <a:p>
            <a:r>
              <a:rPr lang="zh-CN" altLang="en-US" dirty="0">
                <a:latin typeface="微软雅黑" panose="020B0503020204020204" pitchFamily="34" charset="-122"/>
                <a:ea typeface="微软雅黑" panose="020B0503020204020204" pitchFamily="34" charset="-122"/>
              </a:rPr>
              <a:t>如何证明算法正确性</a:t>
            </a:r>
          </a:p>
        </p:txBody>
      </p:sp>
      <p:sp>
        <p:nvSpPr>
          <p:cNvPr id="3" name="内容占位符 2"/>
          <p:cNvSpPr>
            <a:spLocks noGrp="1"/>
          </p:cNvSpPr>
          <p:nvPr>
            <p:ph idx="1"/>
          </p:nvPr>
        </p:nvSpPr>
        <p:spPr>
          <a:xfrm>
            <a:off x="432073" y="1383755"/>
            <a:ext cx="8229600" cy="4530725"/>
          </a:xfrm>
        </p:spPr>
        <p:txBody>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rPr>
              <a:t>数学归纳法</a:t>
            </a:r>
            <a:r>
              <a:rPr lang="zh-CN" altLang="en-US" dirty="0">
                <a:latin typeface="微软雅黑" panose="020B0503020204020204" pitchFamily="34" charset="-122"/>
                <a:ea typeface="微软雅黑" panose="020B0503020204020204" pitchFamily="34" charset="-122"/>
              </a:rPr>
              <a:t>适用于证明涉及自然数的命题</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数学归纳法的三个步骤：</a:t>
            </a:r>
            <a:endParaRPr lang="zh-CN" altLang="en-US" dirty="0">
              <a:latin typeface="微软雅黑" panose="020B0503020204020204" pitchFamily="34" charset="-122"/>
              <a:ea typeface="微软雅黑" panose="020B0503020204020204" pitchFamily="34" charset="-122"/>
            </a:endParaRPr>
          </a:p>
          <a:p>
            <a:pPr lvl="1">
              <a:lnSpc>
                <a:spcPct val="150000"/>
              </a:lnSpc>
            </a:pPr>
            <a:r>
              <a:rPr lang="zh-CN" altLang="en-US" b="1" dirty="0">
                <a:latin typeface="微软雅黑" panose="020B0503020204020204" pitchFamily="34" charset="-122"/>
                <a:ea typeface="微软雅黑" panose="020B0503020204020204" pitchFamily="34" charset="-122"/>
              </a:rPr>
              <a:t>基础步骤（基例）：</a:t>
            </a:r>
            <a:r>
              <a:rPr lang="zh-CN" altLang="en-US" dirty="0">
                <a:latin typeface="微软雅黑" panose="020B0503020204020204" pitchFamily="34" charset="-122"/>
                <a:ea typeface="微软雅黑" panose="020B0503020204020204" pitchFamily="34" charset="-122"/>
              </a:rPr>
              <a:t> 证明命题对最小的输入成立。</a:t>
            </a:r>
          </a:p>
          <a:p>
            <a:pPr lvl="1">
              <a:lnSpc>
                <a:spcPct val="150000"/>
              </a:lnSpc>
            </a:pPr>
            <a:r>
              <a:rPr lang="zh-CN" altLang="en-US" b="1" dirty="0">
                <a:latin typeface="微软雅黑" panose="020B0503020204020204" pitchFamily="34" charset="-122"/>
                <a:ea typeface="微软雅黑" panose="020B0503020204020204" pitchFamily="34" charset="-122"/>
              </a:rPr>
              <a:t>归纳假设（归纳假设）：</a:t>
            </a:r>
            <a:r>
              <a:rPr lang="zh-CN" altLang="en-US" dirty="0">
                <a:latin typeface="微软雅黑" panose="020B0503020204020204" pitchFamily="34" charset="-122"/>
                <a:ea typeface="微软雅黑" panose="020B0503020204020204" pitchFamily="34" charset="-122"/>
              </a:rPr>
              <a:t> 假设命题对所有小于等于</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的输入成立。</a:t>
            </a:r>
          </a:p>
          <a:p>
            <a:pPr lvl="1">
              <a:lnSpc>
                <a:spcPct val="150000"/>
              </a:lnSpc>
            </a:pPr>
            <a:r>
              <a:rPr lang="zh-CN" altLang="en-US" b="1" dirty="0">
                <a:latin typeface="微软雅黑" panose="020B0503020204020204" pitchFamily="34" charset="-122"/>
                <a:ea typeface="微软雅黑" panose="020B0503020204020204" pitchFamily="34" charset="-122"/>
              </a:rPr>
              <a:t>归纳步骤（归纳证明）：</a:t>
            </a:r>
            <a:r>
              <a:rPr lang="zh-CN" altLang="en-US" dirty="0">
                <a:latin typeface="微软雅黑" panose="020B0503020204020204" pitchFamily="34" charset="-122"/>
                <a:ea typeface="微软雅黑" panose="020B0503020204020204" pitchFamily="34" charset="-122"/>
              </a:rPr>
              <a:t> 证明命题对</a:t>
            </a:r>
            <a:r>
              <a:rPr lang="en-US" altLang="zh-CN" dirty="0">
                <a:latin typeface="微软雅黑" panose="020B0503020204020204" pitchFamily="34" charset="-122"/>
                <a:ea typeface="微软雅黑" panose="020B0503020204020204" pitchFamily="34" charset="-122"/>
              </a:rPr>
              <a:t>n+1</a:t>
            </a:r>
            <a:r>
              <a:rPr lang="zh-CN" altLang="en-US" dirty="0">
                <a:latin typeface="微软雅黑" panose="020B0503020204020204" pitchFamily="34" charset="-122"/>
                <a:ea typeface="微软雅黑" panose="020B0503020204020204" pitchFamily="34" charset="-122"/>
              </a:rPr>
              <a:t>的输入也成立。</a:t>
            </a:r>
          </a:p>
        </p:txBody>
      </p:sp>
      <p:sp>
        <p:nvSpPr>
          <p:cNvPr id="4" name="灯片编号占位符 3"/>
          <p:cNvSpPr>
            <a:spLocks noGrp="1"/>
          </p:cNvSpPr>
          <p:nvPr>
            <p:ph type="sldNum" sz="quarter" idx="12"/>
          </p:nvPr>
        </p:nvSpPr>
        <p:spPr/>
        <p:txBody>
          <a:bodyPr/>
          <a:lstStyle/>
          <a:p>
            <a:pPr>
              <a:defRPr/>
            </a:pPr>
            <a:fld id="{927C07CA-9D7C-4A8B-8607-4F63859ACA51}" type="slidenum">
              <a:rPr lang="en-US" altLang="zh-CN" smtClean="0"/>
              <a:pPr>
                <a:defRPr/>
              </a:pPr>
              <a:t>30</a:t>
            </a:fld>
            <a:endParaRPr lang="en-US" altLang="zh-CN" dirty="0"/>
          </a:p>
        </p:txBody>
      </p:sp>
    </p:spTree>
    <p:extLst>
      <p:ext uri="{BB962C8B-B14F-4D97-AF65-F5344CB8AC3E}">
        <p14:creationId xmlns:p14="http://schemas.microsoft.com/office/powerpoint/2010/main" val="37851840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471" y="100853"/>
            <a:ext cx="8875059" cy="6656294"/>
          </a:xfrm>
          <a:custGeom>
            <a:avLst/>
            <a:gdLst/>
            <a:ahLst/>
            <a:cxnLst/>
            <a:rect l="l" t="t" r="r" b="b"/>
            <a:pathLst>
              <a:path w="10058400" h="7543800">
                <a:moveTo>
                  <a:pt x="0" y="0"/>
                </a:moveTo>
                <a:lnTo>
                  <a:pt x="10058400" y="0"/>
                </a:lnTo>
                <a:lnTo>
                  <a:pt x="10058400" y="7543800"/>
                </a:lnTo>
                <a:lnTo>
                  <a:pt x="0" y="7543800"/>
                </a:lnTo>
                <a:lnTo>
                  <a:pt x="0" y="0"/>
                </a:lnTo>
                <a:close/>
              </a:path>
            </a:pathLst>
          </a:custGeom>
          <a:solidFill>
            <a:srgbClr val="F5F5F5"/>
          </a:solidFill>
        </p:spPr>
        <p:txBody>
          <a:bodyPr wrap="square" lIns="0" tIns="0" rIns="0" bIns="0" rtlCol="0"/>
          <a:lstStyle/>
          <a:p>
            <a:endParaRPr sz="2647"/>
          </a:p>
        </p:txBody>
      </p:sp>
      <p:sp>
        <p:nvSpPr>
          <p:cNvPr id="3" name="object 3"/>
          <p:cNvSpPr/>
          <p:nvPr/>
        </p:nvSpPr>
        <p:spPr>
          <a:xfrm>
            <a:off x="2652554" y="100853"/>
            <a:ext cx="54909" cy="153521"/>
          </a:xfrm>
          <a:custGeom>
            <a:avLst/>
            <a:gdLst/>
            <a:ahLst/>
            <a:cxnLst/>
            <a:rect l="l" t="t" r="r" b="b"/>
            <a:pathLst>
              <a:path w="62230" h="173990">
                <a:moveTo>
                  <a:pt x="61977" y="0"/>
                </a:moveTo>
                <a:lnTo>
                  <a:pt x="0" y="86044"/>
                </a:lnTo>
                <a:lnTo>
                  <a:pt x="56886" y="173499"/>
                </a:lnTo>
              </a:path>
            </a:pathLst>
          </a:custGeom>
          <a:ln w="12150">
            <a:solidFill>
              <a:srgbClr val="6D6E71"/>
            </a:solidFill>
          </a:ln>
        </p:spPr>
        <p:txBody>
          <a:bodyPr wrap="square" lIns="0" tIns="0" rIns="0" bIns="0" rtlCol="0"/>
          <a:lstStyle/>
          <a:p>
            <a:endParaRPr sz="2647"/>
          </a:p>
        </p:txBody>
      </p:sp>
      <p:sp>
        <p:nvSpPr>
          <p:cNvPr id="4" name="object 4"/>
          <p:cNvSpPr/>
          <p:nvPr/>
        </p:nvSpPr>
        <p:spPr>
          <a:xfrm>
            <a:off x="5196939" y="100853"/>
            <a:ext cx="142315" cy="164726"/>
          </a:xfrm>
          <a:custGeom>
            <a:avLst/>
            <a:gdLst/>
            <a:ahLst/>
            <a:cxnLst/>
            <a:rect l="l" t="t" r="r" b="b"/>
            <a:pathLst>
              <a:path w="161289" h="186690">
                <a:moveTo>
                  <a:pt x="0" y="160402"/>
                </a:moveTo>
                <a:lnTo>
                  <a:pt x="65637" y="186621"/>
                </a:lnTo>
                <a:lnTo>
                  <a:pt x="87540" y="182271"/>
                </a:lnTo>
                <a:lnTo>
                  <a:pt x="109394" y="64150"/>
                </a:lnTo>
                <a:lnTo>
                  <a:pt x="157552" y="68573"/>
                </a:lnTo>
                <a:lnTo>
                  <a:pt x="161269" y="0"/>
                </a:lnTo>
              </a:path>
            </a:pathLst>
          </a:custGeom>
          <a:ln w="12152">
            <a:solidFill>
              <a:srgbClr val="6D6E71"/>
            </a:solidFill>
          </a:ln>
        </p:spPr>
        <p:txBody>
          <a:bodyPr wrap="square" lIns="0" tIns="0" rIns="0" bIns="0" rtlCol="0"/>
          <a:lstStyle/>
          <a:p>
            <a:endParaRPr sz="2647"/>
          </a:p>
        </p:txBody>
      </p:sp>
      <p:sp>
        <p:nvSpPr>
          <p:cNvPr id="5" name="object 5"/>
          <p:cNvSpPr/>
          <p:nvPr/>
        </p:nvSpPr>
        <p:spPr>
          <a:xfrm>
            <a:off x="6370707" y="100853"/>
            <a:ext cx="77321" cy="192180"/>
          </a:xfrm>
          <a:custGeom>
            <a:avLst/>
            <a:gdLst/>
            <a:ahLst/>
            <a:cxnLst/>
            <a:rect l="l" t="t" r="r" b="b"/>
            <a:pathLst>
              <a:path w="87629" h="217804">
                <a:moveTo>
                  <a:pt x="0" y="217263"/>
                </a:moveTo>
                <a:lnTo>
                  <a:pt x="13127" y="177922"/>
                </a:lnTo>
                <a:lnTo>
                  <a:pt x="8751" y="151654"/>
                </a:lnTo>
                <a:lnTo>
                  <a:pt x="87515" y="116662"/>
                </a:lnTo>
                <a:lnTo>
                  <a:pt x="87514" y="2915"/>
                </a:lnTo>
                <a:lnTo>
                  <a:pt x="81673" y="0"/>
                </a:lnTo>
              </a:path>
            </a:pathLst>
          </a:custGeom>
          <a:ln w="12150">
            <a:solidFill>
              <a:srgbClr val="6D6E71"/>
            </a:solidFill>
          </a:ln>
        </p:spPr>
        <p:txBody>
          <a:bodyPr wrap="square" lIns="0" tIns="0" rIns="0" bIns="0" rtlCol="0"/>
          <a:lstStyle/>
          <a:p>
            <a:endParaRPr sz="2647"/>
          </a:p>
        </p:txBody>
      </p:sp>
      <p:sp>
        <p:nvSpPr>
          <p:cNvPr id="6" name="object 6"/>
          <p:cNvSpPr/>
          <p:nvPr/>
        </p:nvSpPr>
        <p:spPr>
          <a:xfrm>
            <a:off x="6019331" y="100853"/>
            <a:ext cx="77321" cy="25773"/>
          </a:xfrm>
          <a:custGeom>
            <a:avLst/>
            <a:gdLst/>
            <a:ahLst/>
            <a:cxnLst/>
            <a:rect l="l" t="t" r="r" b="b"/>
            <a:pathLst>
              <a:path w="87629" h="29210">
                <a:moveTo>
                  <a:pt x="0" y="29183"/>
                </a:moveTo>
                <a:lnTo>
                  <a:pt x="78740" y="29183"/>
                </a:lnTo>
                <a:lnTo>
                  <a:pt x="87572" y="0"/>
                </a:lnTo>
              </a:path>
            </a:pathLst>
          </a:custGeom>
          <a:ln w="12154">
            <a:solidFill>
              <a:srgbClr val="6D6E71"/>
            </a:solidFill>
          </a:ln>
        </p:spPr>
        <p:txBody>
          <a:bodyPr wrap="square" lIns="0" tIns="0" rIns="0" bIns="0" rtlCol="0"/>
          <a:lstStyle/>
          <a:p>
            <a:endParaRPr sz="2647"/>
          </a:p>
        </p:txBody>
      </p:sp>
      <p:sp>
        <p:nvSpPr>
          <p:cNvPr id="7" name="object 7"/>
          <p:cNvSpPr/>
          <p:nvPr/>
        </p:nvSpPr>
        <p:spPr>
          <a:xfrm>
            <a:off x="2831621" y="100853"/>
            <a:ext cx="25773" cy="22412"/>
          </a:xfrm>
          <a:custGeom>
            <a:avLst/>
            <a:gdLst/>
            <a:ahLst/>
            <a:cxnLst/>
            <a:rect l="l" t="t" r="r" b="b"/>
            <a:pathLst>
              <a:path w="29210" h="25400">
                <a:moveTo>
                  <a:pt x="28974" y="24833"/>
                </a:moveTo>
                <a:lnTo>
                  <a:pt x="0" y="0"/>
                </a:lnTo>
              </a:path>
            </a:pathLst>
          </a:custGeom>
          <a:ln w="12152">
            <a:solidFill>
              <a:srgbClr val="6D6E71"/>
            </a:solidFill>
          </a:ln>
        </p:spPr>
        <p:txBody>
          <a:bodyPr wrap="square" lIns="0" tIns="0" rIns="0" bIns="0" rtlCol="0"/>
          <a:lstStyle/>
          <a:p>
            <a:endParaRPr sz="2647"/>
          </a:p>
        </p:txBody>
      </p:sp>
      <p:sp>
        <p:nvSpPr>
          <p:cNvPr id="8" name="object 8"/>
          <p:cNvSpPr/>
          <p:nvPr/>
        </p:nvSpPr>
        <p:spPr>
          <a:xfrm>
            <a:off x="4494234" y="100853"/>
            <a:ext cx="11206" cy="25773"/>
          </a:xfrm>
          <a:custGeom>
            <a:avLst/>
            <a:gdLst/>
            <a:ahLst/>
            <a:cxnLst/>
            <a:rect l="l" t="t" r="r" b="b"/>
            <a:pathLst>
              <a:path w="12700" h="29210">
                <a:moveTo>
                  <a:pt x="0" y="29183"/>
                </a:moveTo>
                <a:lnTo>
                  <a:pt x="12164" y="0"/>
                </a:lnTo>
              </a:path>
            </a:pathLst>
          </a:custGeom>
          <a:ln w="12150">
            <a:solidFill>
              <a:srgbClr val="6D6E71"/>
            </a:solidFill>
          </a:ln>
        </p:spPr>
        <p:txBody>
          <a:bodyPr wrap="square" lIns="0" tIns="0" rIns="0" bIns="0" rtlCol="0"/>
          <a:lstStyle/>
          <a:p>
            <a:endParaRPr sz="2647"/>
          </a:p>
        </p:txBody>
      </p:sp>
      <p:sp>
        <p:nvSpPr>
          <p:cNvPr id="9" name="object 9"/>
          <p:cNvSpPr/>
          <p:nvPr/>
        </p:nvSpPr>
        <p:spPr>
          <a:xfrm>
            <a:off x="7679567" y="100853"/>
            <a:ext cx="62193" cy="41462"/>
          </a:xfrm>
          <a:custGeom>
            <a:avLst/>
            <a:gdLst/>
            <a:ahLst/>
            <a:cxnLst/>
            <a:rect l="l" t="t" r="r" b="b"/>
            <a:pathLst>
              <a:path w="70484" h="46989">
                <a:moveTo>
                  <a:pt x="0" y="33557"/>
                </a:moveTo>
                <a:lnTo>
                  <a:pt x="70036" y="46654"/>
                </a:lnTo>
                <a:lnTo>
                  <a:pt x="63552" y="0"/>
                </a:lnTo>
              </a:path>
            </a:pathLst>
          </a:custGeom>
          <a:ln w="12153">
            <a:solidFill>
              <a:srgbClr val="6D6E71"/>
            </a:solidFill>
          </a:ln>
        </p:spPr>
        <p:txBody>
          <a:bodyPr wrap="square" lIns="0" tIns="0" rIns="0" bIns="0" rtlCol="0"/>
          <a:lstStyle/>
          <a:p>
            <a:endParaRPr sz="2647"/>
          </a:p>
        </p:txBody>
      </p:sp>
      <p:sp>
        <p:nvSpPr>
          <p:cNvPr id="10" name="object 10"/>
          <p:cNvSpPr/>
          <p:nvPr/>
        </p:nvSpPr>
        <p:spPr>
          <a:xfrm>
            <a:off x="2357571" y="100853"/>
            <a:ext cx="117662" cy="33618"/>
          </a:xfrm>
          <a:custGeom>
            <a:avLst/>
            <a:gdLst/>
            <a:ahLst/>
            <a:cxnLst/>
            <a:rect l="l" t="t" r="r" b="b"/>
            <a:pathLst>
              <a:path w="133350" h="38100">
                <a:moveTo>
                  <a:pt x="133025" y="37882"/>
                </a:moveTo>
                <a:lnTo>
                  <a:pt x="105918" y="0"/>
                </a:lnTo>
              </a:path>
              <a:path w="133350" h="38100">
                <a:moveTo>
                  <a:pt x="49586" y="0"/>
                </a:moveTo>
                <a:lnTo>
                  <a:pt x="14854" y="20410"/>
                </a:lnTo>
                <a:lnTo>
                  <a:pt x="0" y="0"/>
                </a:lnTo>
              </a:path>
            </a:pathLst>
          </a:custGeom>
          <a:ln w="12152">
            <a:solidFill>
              <a:srgbClr val="6D6E71"/>
            </a:solidFill>
          </a:ln>
        </p:spPr>
        <p:txBody>
          <a:bodyPr wrap="square" lIns="0" tIns="0" rIns="0" bIns="0" rtlCol="0"/>
          <a:lstStyle/>
          <a:p>
            <a:endParaRPr sz="2647"/>
          </a:p>
        </p:txBody>
      </p:sp>
      <p:sp>
        <p:nvSpPr>
          <p:cNvPr id="11" name="object 11"/>
          <p:cNvSpPr/>
          <p:nvPr/>
        </p:nvSpPr>
        <p:spPr>
          <a:xfrm>
            <a:off x="134471" y="250081"/>
            <a:ext cx="35859" cy="10085"/>
          </a:xfrm>
          <a:custGeom>
            <a:avLst/>
            <a:gdLst/>
            <a:ahLst/>
            <a:cxnLst/>
            <a:rect l="l" t="t" r="r" b="b"/>
            <a:pathLst>
              <a:path w="40640" h="11429">
                <a:moveTo>
                  <a:pt x="0" y="11042"/>
                </a:moveTo>
                <a:lnTo>
                  <a:pt x="40158" y="0"/>
                </a:lnTo>
              </a:path>
            </a:pathLst>
          </a:custGeom>
          <a:ln w="12154">
            <a:solidFill>
              <a:srgbClr val="6D6E71"/>
            </a:solidFill>
          </a:ln>
        </p:spPr>
        <p:txBody>
          <a:bodyPr wrap="square" lIns="0" tIns="0" rIns="0" bIns="0" rtlCol="0"/>
          <a:lstStyle/>
          <a:p>
            <a:endParaRPr sz="2647"/>
          </a:p>
        </p:txBody>
      </p:sp>
      <p:sp>
        <p:nvSpPr>
          <p:cNvPr id="12" name="object 12"/>
          <p:cNvSpPr/>
          <p:nvPr/>
        </p:nvSpPr>
        <p:spPr>
          <a:xfrm>
            <a:off x="6521266" y="100853"/>
            <a:ext cx="63313" cy="164726"/>
          </a:xfrm>
          <a:custGeom>
            <a:avLst/>
            <a:gdLst/>
            <a:ahLst/>
            <a:cxnLst/>
            <a:rect l="l" t="t" r="r" b="b"/>
            <a:pathLst>
              <a:path w="71754" h="186690">
                <a:moveTo>
                  <a:pt x="0" y="186621"/>
                </a:moveTo>
                <a:lnTo>
                  <a:pt x="61284" y="86044"/>
                </a:lnTo>
                <a:lnTo>
                  <a:pt x="71281" y="0"/>
                </a:lnTo>
              </a:path>
            </a:pathLst>
          </a:custGeom>
          <a:ln w="12150">
            <a:solidFill>
              <a:srgbClr val="6D6E71"/>
            </a:solidFill>
          </a:ln>
        </p:spPr>
        <p:txBody>
          <a:bodyPr wrap="square" lIns="0" tIns="0" rIns="0" bIns="0" rtlCol="0"/>
          <a:lstStyle/>
          <a:p>
            <a:endParaRPr sz="2647"/>
          </a:p>
        </p:txBody>
      </p:sp>
      <p:sp>
        <p:nvSpPr>
          <p:cNvPr id="13" name="object 13"/>
          <p:cNvSpPr/>
          <p:nvPr/>
        </p:nvSpPr>
        <p:spPr>
          <a:xfrm>
            <a:off x="4669200" y="100853"/>
            <a:ext cx="26334" cy="14568"/>
          </a:xfrm>
          <a:custGeom>
            <a:avLst/>
            <a:gdLst/>
            <a:ahLst/>
            <a:cxnLst/>
            <a:rect l="l" t="t" r="r" b="b"/>
            <a:pathLst>
              <a:path w="29845" h="16510">
                <a:moveTo>
                  <a:pt x="0" y="0"/>
                </a:moveTo>
                <a:lnTo>
                  <a:pt x="29271" y="16036"/>
                </a:lnTo>
              </a:path>
            </a:pathLst>
          </a:custGeom>
          <a:ln w="12153">
            <a:solidFill>
              <a:srgbClr val="6D6E71"/>
            </a:solidFill>
          </a:ln>
        </p:spPr>
        <p:txBody>
          <a:bodyPr wrap="square" lIns="0" tIns="0" rIns="0" bIns="0" rtlCol="0"/>
          <a:lstStyle/>
          <a:p>
            <a:endParaRPr sz="2647"/>
          </a:p>
        </p:txBody>
      </p:sp>
      <p:sp>
        <p:nvSpPr>
          <p:cNvPr id="14" name="object 14"/>
          <p:cNvSpPr/>
          <p:nvPr/>
        </p:nvSpPr>
        <p:spPr>
          <a:xfrm>
            <a:off x="2073402" y="100853"/>
            <a:ext cx="170329" cy="161365"/>
          </a:xfrm>
          <a:custGeom>
            <a:avLst/>
            <a:gdLst/>
            <a:ahLst/>
            <a:cxnLst/>
            <a:rect l="l" t="t" r="r" b="b"/>
            <a:pathLst>
              <a:path w="193039" h="182879">
                <a:moveTo>
                  <a:pt x="179409" y="182271"/>
                </a:moveTo>
                <a:lnTo>
                  <a:pt x="192512" y="116662"/>
                </a:lnTo>
                <a:lnTo>
                  <a:pt x="109395" y="20410"/>
                </a:lnTo>
                <a:lnTo>
                  <a:pt x="0" y="37882"/>
                </a:lnTo>
                <a:lnTo>
                  <a:pt x="13384" y="0"/>
                </a:lnTo>
              </a:path>
            </a:pathLst>
          </a:custGeom>
          <a:ln w="12152">
            <a:solidFill>
              <a:srgbClr val="6D6E71"/>
            </a:solidFill>
          </a:ln>
        </p:spPr>
        <p:txBody>
          <a:bodyPr wrap="square" lIns="0" tIns="0" rIns="0" bIns="0" rtlCol="0"/>
          <a:lstStyle/>
          <a:p>
            <a:endParaRPr sz="2647"/>
          </a:p>
        </p:txBody>
      </p:sp>
      <p:sp>
        <p:nvSpPr>
          <p:cNvPr id="15" name="object 15"/>
          <p:cNvSpPr/>
          <p:nvPr/>
        </p:nvSpPr>
        <p:spPr>
          <a:xfrm>
            <a:off x="6994512" y="100853"/>
            <a:ext cx="322169" cy="161365"/>
          </a:xfrm>
          <a:custGeom>
            <a:avLst/>
            <a:gdLst/>
            <a:ahLst/>
            <a:cxnLst/>
            <a:rect l="l" t="t" r="r" b="b"/>
            <a:pathLst>
              <a:path w="365125" h="182879">
                <a:moveTo>
                  <a:pt x="365096" y="156052"/>
                </a:moveTo>
                <a:lnTo>
                  <a:pt x="347592" y="160402"/>
                </a:lnTo>
                <a:lnTo>
                  <a:pt x="316986" y="182271"/>
                </a:lnTo>
                <a:lnTo>
                  <a:pt x="198815" y="151654"/>
                </a:lnTo>
                <a:lnTo>
                  <a:pt x="85018" y="55402"/>
                </a:lnTo>
                <a:lnTo>
                  <a:pt x="0" y="0"/>
                </a:lnTo>
              </a:path>
            </a:pathLst>
          </a:custGeom>
          <a:ln w="12154">
            <a:solidFill>
              <a:srgbClr val="6D6E71"/>
            </a:solidFill>
          </a:ln>
        </p:spPr>
        <p:txBody>
          <a:bodyPr wrap="square" lIns="0" tIns="0" rIns="0" bIns="0" rtlCol="0"/>
          <a:lstStyle/>
          <a:p>
            <a:endParaRPr sz="2647"/>
          </a:p>
        </p:txBody>
      </p:sp>
      <p:sp>
        <p:nvSpPr>
          <p:cNvPr id="16" name="object 16"/>
          <p:cNvSpPr/>
          <p:nvPr/>
        </p:nvSpPr>
        <p:spPr>
          <a:xfrm>
            <a:off x="5085852" y="100854"/>
            <a:ext cx="26334" cy="133910"/>
          </a:xfrm>
          <a:custGeom>
            <a:avLst/>
            <a:gdLst/>
            <a:ahLst/>
            <a:cxnLst/>
            <a:rect l="l" t="t" r="r" b="b"/>
            <a:pathLst>
              <a:path w="29845" h="151765">
                <a:moveTo>
                  <a:pt x="29679" y="151654"/>
                </a:moveTo>
                <a:lnTo>
                  <a:pt x="20927" y="125386"/>
                </a:lnTo>
                <a:lnTo>
                  <a:pt x="0" y="0"/>
                </a:lnTo>
              </a:path>
            </a:pathLst>
          </a:custGeom>
          <a:ln w="12150">
            <a:solidFill>
              <a:srgbClr val="6D6E71"/>
            </a:solidFill>
          </a:ln>
        </p:spPr>
        <p:txBody>
          <a:bodyPr wrap="square" lIns="0" tIns="0" rIns="0" bIns="0" rtlCol="0"/>
          <a:lstStyle/>
          <a:p>
            <a:endParaRPr sz="2647"/>
          </a:p>
        </p:txBody>
      </p:sp>
      <p:sp>
        <p:nvSpPr>
          <p:cNvPr id="17" name="object 17"/>
          <p:cNvSpPr/>
          <p:nvPr/>
        </p:nvSpPr>
        <p:spPr>
          <a:xfrm>
            <a:off x="1223982" y="100853"/>
            <a:ext cx="448235" cy="249891"/>
          </a:xfrm>
          <a:custGeom>
            <a:avLst/>
            <a:gdLst/>
            <a:ahLst/>
            <a:cxnLst/>
            <a:rect l="l" t="t" r="r" b="b"/>
            <a:pathLst>
              <a:path w="508000" h="283210">
                <a:moveTo>
                  <a:pt x="0" y="212841"/>
                </a:moveTo>
                <a:lnTo>
                  <a:pt x="21903" y="208515"/>
                </a:lnTo>
                <a:lnTo>
                  <a:pt x="56885" y="186621"/>
                </a:lnTo>
                <a:lnTo>
                  <a:pt x="105017" y="77272"/>
                </a:lnTo>
                <a:lnTo>
                  <a:pt x="258146" y="51052"/>
                </a:lnTo>
                <a:lnTo>
                  <a:pt x="241925" y="0"/>
                </a:lnTo>
              </a:path>
              <a:path w="508000" h="283210">
                <a:moveTo>
                  <a:pt x="297531" y="282848"/>
                </a:moveTo>
                <a:lnTo>
                  <a:pt x="284428" y="256580"/>
                </a:lnTo>
                <a:lnTo>
                  <a:pt x="323810" y="243483"/>
                </a:lnTo>
                <a:lnTo>
                  <a:pt x="341309" y="94792"/>
                </a:lnTo>
                <a:lnTo>
                  <a:pt x="507567" y="55402"/>
                </a:lnTo>
                <a:lnTo>
                  <a:pt x="501055" y="0"/>
                </a:lnTo>
              </a:path>
            </a:pathLst>
          </a:custGeom>
          <a:ln w="12152">
            <a:solidFill>
              <a:srgbClr val="6D6E71"/>
            </a:solidFill>
          </a:ln>
        </p:spPr>
        <p:txBody>
          <a:bodyPr wrap="square" lIns="0" tIns="0" rIns="0" bIns="0" rtlCol="0"/>
          <a:lstStyle/>
          <a:p>
            <a:endParaRPr sz="2647"/>
          </a:p>
        </p:txBody>
      </p:sp>
      <p:sp>
        <p:nvSpPr>
          <p:cNvPr id="18" name="object 18"/>
          <p:cNvSpPr/>
          <p:nvPr/>
        </p:nvSpPr>
        <p:spPr>
          <a:xfrm>
            <a:off x="938266" y="100853"/>
            <a:ext cx="127747" cy="245969"/>
          </a:xfrm>
          <a:custGeom>
            <a:avLst/>
            <a:gdLst/>
            <a:ahLst/>
            <a:cxnLst/>
            <a:rect l="l" t="t" r="r" b="b"/>
            <a:pathLst>
              <a:path w="144780" h="278765">
                <a:moveTo>
                  <a:pt x="122500" y="278474"/>
                </a:moveTo>
                <a:lnTo>
                  <a:pt x="144378" y="164751"/>
                </a:lnTo>
                <a:lnTo>
                  <a:pt x="0" y="86044"/>
                </a:lnTo>
                <a:lnTo>
                  <a:pt x="11937" y="0"/>
                </a:lnTo>
              </a:path>
            </a:pathLst>
          </a:custGeom>
          <a:ln w="12150">
            <a:solidFill>
              <a:srgbClr val="6D6E71"/>
            </a:solidFill>
          </a:ln>
        </p:spPr>
        <p:txBody>
          <a:bodyPr wrap="square" lIns="0" tIns="0" rIns="0" bIns="0" rtlCol="0"/>
          <a:lstStyle/>
          <a:p>
            <a:endParaRPr sz="2647"/>
          </a:p>
        </p:txBody>
      </p:sp>
      <p:sp>
        <p:nvSpPr>
          <p:cNvPr id="19" name="object 19"/>
          <p:cNvSpPr/>
          <p:nvPr/>
        </p:nvSpPr>
        <p:spPr>
          <a:xfrm>
            <a:off x="5733799" y="100853"/>
            <a:ext cx="15688" cy="72278"/>
          </a:xfrm>
          <a:custGeom>
            <a:avLst/>
            <a:gdLst/>
            <a:ahLst/>
            <a:cxnLst/>
            <a:rect l="l" t="t" r="r" b="b"/>
            <a:pathLst>
              <a:path w="17779" h="81914">
                <a:moveTo>
                  <a:pt x="17323" y="81670"/>
                </a:moveTo>
                <a:lnTo>
                  <a:pt x="4170" y="11662"/>
                </a:lnTo>
                <a:lnTo>
                  <a:pt x="0" y="0"/>
                </a:lnTo>
              </a:path>
            </a:pathLst>
          </a:custGeom>
          <a:ln w="12150">
            <a:solidFill>
              <a:srgbClr val="6D6E71"/>
            </a:solidFill>
          </a:ln>
        </p:spPr>
        <p:txBody>
          <a:bodyPr wrap="square" lIns="0" tIns="0" rIns="0" bIns="0" rtlCol="0"/>
          <a:lstStyle/>
          <a:p>
            <a:endParaRPr sz="2647"/>
          </a:p>
        </p:txBody>
      </p:sp>
      <p:sp>
        <p:nvSpPr>
          <p:cNvPr id="20" name="object 20"/>
          <p:cNvSpPr/>
          <p:nvPr/>
        </p:nvSpPr>
        <p:spPr>
          <a:xfrm>
            <a:off x="548311" y="504801"/>
            <a:ext cx="66115" cy="366993"/>
          </a:xfrm>
          <a:custGeom>
            <a:avLst/>
            <a:gdLst/>
            <a:ahLst/>
            <a:cxnLst/>
            <a:rect l="l" t="t" r="r" b="b"/>
            <a:pathLst>
              <a:path w="74929" h="415925">
                <a:moveTo>
                  <a:pt x="30602" y="0"/>
                </a:moveTo>
                <a:lnTo>
                  <a:pt x="74360" y="21894"/>
                </a:lnTo>
                <a:lnTo>
                  <a:pt x="43757" y="253690"/>
                </a:lnTo>
                <a:lnTo>
                  <a:pt x="0" y="345519"/>
                </a:lnTo>
                <a:lnTo>
                  <a:pt x="4376" y="415551"/>
                </a:lnTo>
              </a:path>
            </a:pathLst>
          </a:custGeom>
          <a:ln w="12150">
            <a:solidFill>
              <a:srgbClr val="6D6E71"/>
            </a:solidFill>
          </a:ln>
        </p:spPr>
        <p:txBody>
          <a:bodyPr wrap="square" lIns="0" tIns="0" rIns="0" bIns="0" rtlCol="0"/>
          <a:lstStyle/>
          <a:p>
            <a:endParaRPr sz="2647"/>
          </a:p>
        </p:txBody>
      </p:sp>
      <p:sp>
        <p:nvSpPr>
          <p:cNvPr id="21" name="object 21"/>
          <p:cNvSpPr/>
          <p:nvPr/>
        </p:nvSpPr>
        <p:spPr>
          <a:xfrm>
            <a:off x="9003879" y="663936"/>
            <a:ext cx="6163" cy="34178"/>
          </a:xfrm>
          <a:custGeom>
            <a:avLst/>
            <a:gdLst/>
            <a:ahLst/>
            <a:cxnLst/>
            <a:rect l="l" t="t" r="r" b="b"/>
            <a:pathLst>
              <a:path w="6984" h="38734">
                <a:moveTo>
                  <a:pt x="0" y="38345"/>
                </a:moveTo>
                <a:lnTo>
                  <a:pt x="6404" y="0"/>
                </a:lnTo>
              </a:path>
            </a:pathLst>
          </a:custGeom>
          <a:ln w="12150">
            <a:solidFill>
              <a:srgbClr val="6D6E71"/>
            </a:solidFill>
          </a:ln>
        </p:spPr>
        <p:txBody>
          <a:bodyPr wrap="square" lIns="0" tIns="0" rIns="0" bIns="0" rtlCol="0"/>
          <a:lstStyle/>
          <a:p>
            <a:endParaRPr sz="2647"/>
          </a:p>
        </p:txBody>
      </p:sp>
      <p:sp>
        <p:nvSpPr>
          <p:cNvPr id="22" name="object 22"/>
          <p:cNvSpPr/>
          <p:nvPr/>
        </p:nvSpPr>
        <p:spPr>
          <a:xfrm>
            <a:off x="8540601" y="254040"/>
            <a:ext cx="468966" cy="532840"/>
          </a:xfrm>
          <a:custGeom>
            <a:avLst/>
            <a:gdLst/>
            <a:ahLst/>
            <a:cxnLst/>
            <a:rect l="l" t="t" r="r" b="b"/>
            <a:pathLst>
              <a:path w="531495" h="603885">
                <a:moveTo>
                  <a:pt x="531452" y="392402"/>
                </a:moveTo>
                <a:lnTo>
                  <a:pt x="472585" y="362950"/>
                </a:lnTo>
                <a:lnTo>
                  <a:pt x="459408" y="319186"/>
                </a:lnTo>
                <a:lnTo>
                  <a:pt x="498813" y="227357"/>
                </a:lnTo>
                <a:lnTo>
                  <a:pt x="529443" y="135504"/>
                </a:lnTo>
                <a:lnTo>
                  <a:pt x="531452" y="73210"/>
                </a:lnTo>
              </a:path>
              <a:path w="531495" h="603885">
                <a:moveTo>
                  <a:pt x="531452" y="0"/>
                </a:moveTo>
                <a:lnTo>
                  <a:pt x="350009" y="8659"/>
                </a:lnTo>
                <a:lnTo>
                  <a:pt x="376289" y="61171"/>
                </a:lnTo>
                <a:lnTo>
                  <a:pt x="236287" y="74268"/>
                </a:lnTo>
                <a:lnTo>
                  <a:pt x="249391" y="118008"/>
                </a:lnTo>
                <a:lnTo>
                  <a:pt x="262520" y="227357"/>
                </a:lnTo>
              </a:path>
              <a:path w="531495" h="603885">
                <a:moveTo>
                  <a:pt x="0" y="603494"/>
                </a:moveTo>
                <a:lnTo>
                  <a:pt x="131273" y="590396"/>
                </a:lnTo>
                <a:lnTo>
                  <a:pt x="275675" y="524787"/>
                </a:lnTo>
                <a:lnTo>
                  <a:pt x="319407" y="411015"/>
                </a:lnTo>
                <a:lnTo>
                  <a:pt x="358838" y="402316"/>
                </a:lnTo>
                <a:lnTo>
                  <a:pt x="433179" y="463527"/>
                </a:lnTo>
                <a:lnTo>
                  <a:pt x="450707" y="481047"/>
                </a:lnTo>
                <a:lnTo>
                  <a:pt x="525096" y="502893"/>
                </a:lnTo>
                <a:lnTo>
                  <a:pt x="531452" y="500703"/>
                </a:lnTo>
              </a:path>
            </a:pathLst>
          </a:custGeom>
          <a:ln w="12152">
            <a:solidFill>
              <a:srgbClr val="6D6E71"/>
            </a:solidFill>
          </a:ln>
        </p:spPr>
        <p:txBody>
          <a:bodyPr wrap="square" lIns="0" tIns="0" rIns="0" bIns="0" rtlCol="0"/>
          <a:lstStyle/>
          <a:p>
            <a:endParaRPr sz="2647"/>
          </a:p>
        </p:txBody>
      </p:sp>
      <p:sp>
        <p:nvSpPr>
          <p:cNvPr id="39" name="object 39"/>
          <p:cNvSpPr txBox="1"/>
          <p:nvPr/>
        </p:nvSpPr>
        <p:spPr>
          <a:xfrm>
            <a:off x="803157" y="2068152"/>
            <a:ext cx="6876410" cy="3798739"/>
          </a:xfrm>
          <a:prstGeom prst="rect">
            <a:avLst/>
          </a:prstGeom>
        </p:spPr>
        <p:txBody>
          <a:bodyPr vert="horz" wrap="square" lIns="0" tIns="117101" rIns="0" bIns="0" rtlCol="0">
            <a:spAutoFit/>
          </a:bodyPr>
          <a:lstStyle/>
          <a:p>
            <a:pPr marL="226931" indent="-215725">
              <a:lnSpc>
                <a:spcPct val="150000"/>
              </a:lnSpc>
              <a:spcBef>
                <a:spcPts val="922"/>
              </a:spcBef>
              <a:buFont typeface="Tahoma"/>
              <a:buChar char="‣"/>
              <a:tabLst>
                <a:tab pos="226931" algn="l"/>
              </a:tabLst>
            </a:pPr>
            <a:r>
              <a:rPr lang="en-US" sz="2800" b="1" i="1" spc="-9" dirty="0">
                <a:latin typeface="Calibri"/>
                <a:cs typeface="Calibri"/>
              </a:rPr>
              <a:t>Why study algorithms?</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Course overview</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1.1 Algorithm and program</a:t>
            </a:r>
          </a:p>
          <a:p>
            <a:pPr marL="226931" indent="-215725">
              <a:lnSpc>
                <a:spcPct val="150000"/>
              </a:lnSpc>
              <a:spcBef>
                <a:spcPts val="922"/>
              </a:spcBef>
              <a:buFont typeface="Tahoma"/>
              <a:buChar char="‣"/>
              <a:tabLst>
                <a:tab pos="226931" algn="l"/>
              </a:tabLst>
            </a:pPr>
            <a:r>
              <a:rPr lang="en-US" sz="2800" b="1" i="1" dirty="0">
                <a:solidFill>
                  <a:srgbClr val="FF0000"/>
                </a:solidFill>
                <a:latin typeface="Calibri"/>
                <a:cs typeface="Calibri"/>
              </a:rPr>
              <a:t>1.2 </a:t>
            </a:r>
            <a:r>
              <a:rPr lang="en-US" altLang="zh-CN" sz="2800" b="1" i="1" dirty="0">
                <a:solidFill>
                  <a:srgbClr val="FF0000"/>
                </a:solidFill>
                <a:latin typeface="Calibri"/>
                <a:cs typeface="Calibri"/>
              </a:rPr>
              <a:t>A</a:t>
            </a:r>
            <a:r>
              <a:rPr lang="en-US" sz="2800" b="1" i="1" dirty="0">
                <a:solidFill>
                  <a:srgbClr val="FF0000"/>
                </a:solidFill>
                <a:latin typeface="Calibri"/>
                <a:cs typeface="Calibri"/>
              </a:rPr>
              <a:t>lgorithm complexity analysis</a:t>
            </a:r>
            <a:endParaRPr sz="2800" b="1" dirty="0">
              <a:solidFill>
                <a:srgbClr val="FF0000"/>
              </a:solidFill>
              <a:latin typeface="Calibri"/>
              <a:cs typeface="Calibri"/>
            </a:endParaRPr>
          </a:p>
          <a:p>
            <a:pPr marL="226931" indent="-215725">
              <a:lnSpc>
                <a:spcPct val="150000"/>
              </a:lnSpc>
              <a:spcBef>
                <a:spcPts val="838"/>
              </a:spcBef>
              <a:buFont typeface="Tahoma"/>
              <a:buChar char="‣"/>
              <a:tabLst>
                <a:tab pos="226931" algn="l"/>
              </a:tabLst>
            </a:pPr>
            <a:r>
              <a:rPr lang="en-US" sz="2800" b="1" i="1" dirty="0">
                <a:latin typeface="Calibri"/>
                <a:cs typeface="Calibri"/>
              </a:rPr>
              <a:t>1.3 NP hard </a:t>
            </a:r>
            <a:r>
              <a:rPr sz="2800" b="1" i="1" dirty="0">
                <a:latin typeface="Calibri"/>
                <a:cs typeface="Calibri"/>
              </a:rPr>
              <a:t>theory</a:t>
            </a:r>
            <a:r>
              <a:rPr sz="2800" b="1" i="1" spc="190" dirty="0">
                <a:latin typeface="Calibri"/>
                <a:cs typeface="Calibri"/>
              </a:rPr>
              <a:t> </a:t>
            </a:r>
            <a:r>
              <a:rPr sz="2800" b="1" i="1" dirty="0">
                <a:latin typeface="Calibri"/>
                <a:cs typeface="Calibri"/>
              </a:rPr>
              <a:t>of</a:t>
            </a:r>
            <a:r>
              <a:rPr sz="2800" b="1" i="1" spc="190" dirty="0">
                <a:latin typeface="Calibri"/>
                <a:cs typeface="Calibri"/>
              </a:rPr>
              <a:t> </a:t>
            </a:r>
            <a:r>
              <a:rPr sz="2800" b="1" i="1" spc="-9" dirty="0">
                <a:latin typeface="Calibri"/>
                <a:cs typeface="Calibri"/>
              </a:rPr>
              <a:t>algorithms</a:t>
            </a:r>
            <a:endParaRPr sz="2800" b="1" dirty="0">
              <a:latin typeface="Calibri"/>
              <a:cs typeface="Calibri"/>
            </a:endParaRPr>
          </a:p>
        </p:txBody>
      </p:sp>
      <p:sp>
        <p:nvSpPr>
          <p:cNvPr id="41" name="标题 40"/>
          <p:cNvSpPr>
            <a:spLocks noGrp="1"/>
          </p:cNvSpPr>
          <p:nvPr>
            <p:ph type="title"/>
          </p:nvPr>
        </p:nvSpPr>
        <p:spPr>
          <a:xfrm>
            <a:off x="420599" y="866694"/>
            <a:ext cx="8229600" cy="1139825"/>
          </a:xfrm>
        </p:spPr>
        <p:txBody>
          <a:bodyPr/>
          <a:lstStyle/>
          <a:p>
            <a:r>
              <a:rPr lang="en-US" altLang="zh-CN" sz="4400" b="1" spc="176" dirty="0">
                <a:latin typeface="微软雅黑" panose="020B0503020204020204" pitchFamily="34" charset="-122"/>
                <a:ea typeface="微软雅黑" panose="020B0503020204020204" pitchFamily="34" charset="-122"/>
                <a:cs typeface="Calibri"/>
              </a:rPr>
              <a:t>1</a:t>
            </a:r>
            <a:r>
              <a:rPr lang="zh-CN" altLang="en-US" sz="4400" b="1" spc="176" dirty="0">
                <a:latin typeface="微软雅黑" panose="020B0503020204020204" pitchFamily="34" charset="-122"/>
                <a:ea typeface="微软雅黑" panose="020B0503020204020204" pitchFamily="34" charset="-122"/>
                <a:cs typeface="Calibri"/>
              </a:rPr>
              <a:t>、 算法概述</a:t>
            </a:r>
            <a:r>
              <a:rPr lang="zh-CN" altLang="en-US" sz="4400" dirty="0">
                <a:latin typeface="微软雅黑" panose="020B0503020204020204" pitchFamily="34" charset="-122"/>
                <a:ea typeface="微软雅黑" panose="020B0503020204020204" pitchFamily="34" charset="-122"/>
                <a:cs typeface="Century Gothic"/>
              </a:rPr>
              <a:t/>
            </a:r>
            <a:br>
              <a:rPr lang="zh-CN" altLang="en-US" sz="4400" dirty="0">
                <a:latin typeface="微软雅黑" panose="020B0503020204020204" pitchFamily="34" charset="-122"/>
                <a:ea typeface="微软雅黑" panose="020B0503020204020204" pitchFamily="34" charset="-122"/>
                <a:cs typeface="Century Gothic"/>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1766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Integer Multiplication</a:t>
            </a:r>
          </a:p>
        </p:txBody>
      </p:sp>
      <p:sp>
        <p:nvSpPr>
          <p:cNvPr id="3" name="Content Placeholder 2"/>
          <p:cNvSpPr>
            <a:spLocks noGrp="1"/>
          </p:cNvSpPr>
          <p:nvPr>
            <p:ph idx="1"/>
          </p:nvPr>
        </p:nvSpPr>
        <p:spPr>
          <a:xfrm>
            <a:off x="3419872" y="1844824"/>
            <a:ext cx="1624084" cy="1722793"/>
          </a:xfrm>
        </p:spPr>
        <p:txBody>
          <a:bodyP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5400" dirty="0"/>
              <a:t>44</a:t>
            </a:r>
          </a:p>
          <a:p>
            <a:pPr marL="0" marR="0" lvl="0" indent="0" defTabSz="914400" eaLnBrk="1" fontAlgn="auto" latinLnBrk="0" hangingPunct="1">
              <a:lnSpc>
                <a:spcPct val="100000"/>
              </a:lnSpc>
              <a:spcBef>
                <a:spcPts val="0"/>
              </a:spcBef>
              <a:spcAft>
                <a:spcPts val="0"/>
              </a:spcAft>
              <a:buClrTx/>
              <a:buSzTx/>
              <a:buFontTx/>
              <a:buNone/>
              <a:tabLst/>
              <a:defRPr/>
            </a:pPr>
            <a:r>
              <a:rPr lang="en-US" sz="5400" dirty="0"/>
              <a:t>97</a:t>
            </a:r>
          </a:p>
        </p:txBody>
      </p:sp>
      <p:sp>
        <p:nvSpPr>
          <p:cNvPr id="4" name="TextBox 3"/>
          <p:cNvSpPr txBox="1"/>
          <p:nvPr/>
        </p:nvSpPr>
        <p:spPr>
          <a:xfrm>
            <a:off x="3057272" y="2816990"/>
            <a:ext cx="362600" cy="584775"/>
          </a:xfrm>
          <a:prstGeom prst="rect">
            <a:avLst/>
          </a:prstGeom>
          <a:noFill/>
        </p:spPr>
        <p:txBody>
          <a:bodyPr wrap="none" rtlCol="0">
            <a:spAutoFit/>
          </a:bodyPr>
          <a:lstStyle/>
          <a:p>
            <a:r>
              <a:rPr lang="en-US" sz="3200" dirty="0"/>
              <a:t>x</a:t>
            </a:r>
          </a:p>
        </p:txBody>
      </p:sp>
      <p:cxnSp>
        <p:nvCxnSpPr>
          <p:cNvPr id="6" name="Straight Connector 5"/>
          <p:cNvCxnSpPr/>
          <p:nvPr/>
        </p:nvCxnSpPr>
        <p:spPr>
          <a:xfrm>
            <a:off x="3057272" y="3567617"/>
            <a:ext cx="1563826" cy="0"/>
          </a:xfrm>
          <a:prstGeom prst="line">
            <a:avLst/>
          </a:prstGeom>
          <a:ln w="22225"/>
        </p:spPr>
        <p:style>
          <a:lnRef idx="3">
            <a:schemeClr val="dk1"/>
          </a:lnRef>
          <a:fillRef idx="0">
            <a:schemeClr val="dk1"/>
          </a:fillRef>
          <a:effectRef idx="2">
            <a:schemeClr val="dk1"/>
          </a:effectRef>
          <a:fontRef idx="minor">
            <a:schemeClr val="tx1"/>
          </a:fontRef>
        </p:style>
      </p:cxnSp>
      <p:sp>
        <p:nvSpPr>
          <p:cNvPr id="7" name="Content Placeholder 2"/>
          <p:cNvSpPr txBox="1">
            <a:spLocks/>
          </p:cNvSpPr>
          <p:nvPr/>
        </p:nvSpPr>
        <p:spPr bwMode="auto">
          <a:xfrm>
            <a:off x="2704472" y="3733469"/>
            <a:ext cx="2052819" cy="172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0" indent="0" eaLnBrk="1" fontAlgn="auto" hangingPunct="1">
              <a:spcBef>
                <a:spcPts val="0"/>
              </a:spcBef>
              <a:spcAft>
                <a:spcPts val="0"/>
              </a:spcAft>
              <a:buClrTx/>
              <a:buSzTx/>
              <a:buFontTx/>
              <a:buNone/>
              <a:defRPr/>
            </a:pPr>
            <a:r>
              <a:rPr lang="en-US" sz="5400" kern="0" dirty="0"/>
              <a:t>4268</a:t>
            </a:r>
          </a:p>
        </p:txBody>
      </p:sp>
      <p:sp>
        <p:nvSpPr>
          <p:cNvPr id="5" name="矩形 4"/>
          <p:cNvSpPr/>
          <p:nvPr/>
        </p:nvSpPr>
        <p:spPr>
          <a:xfrm>
            <a:off x="6084168" y="2982842"/>
            <a:ext cx="2220480" cy="584775"/>
          </a:xfrm>
          <a:prstGeom prst="rect">
            <a:avLst/>
          </a:prstGeom>
        </p:spPr>
        <p:txBody>
          <a:bodyPr wrap="none">
            <a:spAutoFit/>
          </a:bodyPr>
          <a:lstStyle/>
          <a:p>
            <a:r>
              <a:rPr lang="en-US" altLang="zh-CN" sz="3200" dirty="0">
                <a:solidFill>
                  <a:srgbClr val="FF0000"/>
                </a:solidFill>
                <a:latin typeface="Lucida Sans"/>
                <a:cs typeface="Lucida Sans"/>
              </a:rPr>
              <a:t>Solution</a:t>
            </a:r>
            <a:r>
              <a:rPr lang="zh-CN" altLang="en-US" sz="3200" dirty="0">
                <a:solidFill>
                  <a:srgbClr val="FF0000"/>
                </a:solidFill>
                <a:latin typeface="Lucida Sans"/>
                <a:cs typeface="Lucida Sans"/>
              </a:rPr>
              <a:t>？</a:t>
            </a:r>
            <a:endParaRPr lang="zh-CN" altLang="en-US" dirty="0"/>
          </a:p>
        </p:txBody>
      </p:sp>
      <p:sp>
        <p:nvSpPr>
          <p:cNvPr id="8" name="矩形 7"/>
          <p:cNvSpPr/>
          <p:nvPr/>
        </p:nvSpPr>
        <p:spPr>
          <a:xfrm>
            <a:off x="450836" y="1954249"/>
            <a:ext cx="1721946" cy="553998"/>
          </a:xfrm>
          <a:prstGeom prst="rect">
            <a:avLst/>
          </a:prstGeom>
        </p:spPr>
        <p:txBody>
          <a:bodyPr wrap="none">
            <a:spAutoFit/>
          </a:bodyPr>
          <a:lstStyle/>
          <a:p>
            <a:r>
              <a:rPr lang="en-US" altLang="zh-CN" dirty="0"/>
              <a:t>Problem:</a:t>
            </a:r>
            <a:endParaRPr lang="zh-CN" altLang="en-US" dirty="0"/>
          </a:p>
        </p:txBody>
      </p:sp>
      <p:sp>
        <p:nvSpPr>
          <p:cNvPr id="9" name="矩形 8"/>
          <p:cNvSpPr/>
          <p:nvPr/>
        </p:nvSpPr>
        <p:spPr>
          <a:xfrm>
            <a:off x="457200" y="4005064"/>
            <a:ext cx="1572866" cy="553998"/>
          </a:xfrm>
          <a:prstGeom prst="rect">
            <a:avLst/>
          </a:prstGeom>
        </p:spPr>
        <p:txBody>
          <a:bodyPr wrap="none">
            <a:spAutoFit/>
          </a:bodyPr>
          <a:lstStyle/>
          <a:p>
            <a:r>
              <a:rPr lang="en-US" altLang="zh-CN" dirty="0"/>
              <a:t>Answer:</a:t>
            </a:r>
            <a:endParaRPr lang="zh-CN" altLang="en-US" dirty="0"/>
          </a:p>
        </p:txBody>
      </p:sp>
    </p:spTree>
    <p:extLst>
      <p:ext uri="{BB962C8B-B14F-4D97-AF65-F5344CB8AC3E}">
        <p14:creationId xmlns:p14="http://schemas.microsoft.com/office/powerpoint/2010/main" val="350710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Integer Multiplication</a:t>
            </a:r>
          </a:p>
        </p:txBody>
      </p:sp>
      <p:sp>
        <p:nvSpPr>
          <p:cNvPr id="3" name="Content Placeholder 2"/>
          <p:cNvSpPr>
            <a:spLocks noGrp="1"/>
          </p:cNvSpPr>
          <p:nvPr>
            <p:ph idx="1"/>
          </p:nvPr>
        </p:nvSpPr>
        <p:spPr>
          <a:xfrm>
            <a:off x="1624083" y="2494365"/>
            <a:ext cx="6332561" cy="1722793"/>
          </a:xfrm>
        </p:spPr>
        <p:txBody>
          <a:bodyP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5000" dirty="0"/>
              <a:t>1234567895931413</a:t>
            </a:r>
          </a:p>
          <a:p>
            <a:pPr marL="0" marR="0" lvl="0" indent="0" defTabSz="914400" eaLnBrk="1" fontAlgn="auto" latinLnBrk="0" hangingPunct="1">
              <a:lnSpc>
                <a:spcPct val="100000"/>
              </a:lnSpc>
              <a:spcBef>
                <a:spcPts val="0"/>
              </a:spcBef>
              <a:spcAft>
                <a:spcPts val="0"/>
              </a:spcAft>
              <a:buClrTx/>
              <a:buSzTx/>
              <a:buFontTx/>
              <a:buNone/>
              <a:tabLst/>
              <a:defRPr/>
            </a:pPr>
            <a:r>
              <a:rPr lang="en-US" sz="5000" dirty="0"/>
              <a:t>4563823520395533</a:t>
            </a:r>
          </a:p>
        </p:txBody>
      </p:sp>
      <p:sp>
        <p:nvSpPr>
          <p:cNvPr id="4" name="TextBox 3"/>
          <p:cNvSpPr txBox="1"/>
          <p:nvPr/>
        </p:nvSpPr>
        <p:spPr>
          <a:xfrm>
            <a:off x="984781" y="3360520"/>
            <a:ext cx="362600" cy="584775"/>
          </a:xfrm>
          <a:prstGeom prst="rect">
            <a:avLst/>
          </a:prstGeom>
          <a:noFill/>
        </p:spPr>
        <p:txBody>
          <a:bodyPr wrap="none" rtlCol="0">
            <a:spAutoFit/>
          </a:bodyPr>
          <a:lstStyle/>
          <a:p>
            <a:r>
              <a:rPr lang="en-US" sz="3200" dirty="0"/>
              <a:t>x</a:t>
            </a:r>
          </a:p>
        </p:txBody>
      </p:sp>
      <p:cxnSp>
        <p:nvCxnSpPr>
          <p:cNvPr id="6" name="Straight Connector 5"/>
          <p:cNvCxnSpPr/>
          <p:nvPr/>
        </p:nvCxnSpPr>
        <p:spPr>
          <a:xfrm>
            <a:off x="838403" y="4293096"/>
            <a:ext cx="7118241" cy="0"/>
          </a:xfrm>
          <a:prstGeom prst="line">
            <a:avLst/>
          </a:prstGeom>
          <a:ln w="22225"/>
        </p:spPr>
        <p:style>
          <a:lnRef idx="3">
            <a:schemeClr val="dk1"/>
          </a:lnRef>
          <a:fillRef idx="0">
            <a:schemeClr val="dk1"/>
          </a:fillRef>
          <a:effectRef idx="2">
            <a:schemeClr val="dk1"/>
          </a:effectRef>
          <a:fontRef idx="minor">
            <a:schemeClr val="tx1"/>
          </a:fontRef>
        </p:style>
      </p:cxnSp>
      <p:sp>
        <p:nvSpPr>
          <p:cNvPr id="7" name="Right Brace 8"/>
          <p:cNvSpPr/>
          <p:nvPr/>
        </p:nvSpPr>
        <p:spPr>
          <a:xfrm rot="16200000">
            <a:off x="4569140" y="-374147"/>
            <a:ext cx="365760" cy="5544616"/>
          </a:xfrm>
          <a:prstGeom prst="rightBrace">
            <a:avLst/>
          </a:prstGeom>
          <a:ln w="222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9"/>
          <p:cNvSpPr txBox="1"/>
          <p:nvPr/>
        </p:nvSpPr>
        <p:spPr>
          <a:xfrm>
            <a:off x="4397524" y="1650282"/>
            <a:ext cx="639919" cy="584775"/>
          </a:xfrm>
          <a:prstGeom prst="rect">
            <a:avLst/>
          </a:prstGeom>
          <a:noFill/>
        </p:spPr>
        <p:txBody>
          <a:bodyPr wrap="none" rtlCol="0">
            <a:spAutoFit/>
          </a:bodyPr>
          <a:lstStyle/>
          <a:p>
            <a:r>
              <a:rPr lang="en-US" sz="3200" dirty="0">
                <a:solidFill>
                  <a:schemeClr val="accent5"/>
                </a:solidFill>
              </a:rPr>
              <a:t>16</a:t>
            </a:r>
            <a:endParaRPr lang="en-US" dirty="0">
              <a:solidFill>
                <a:schemeClr val="accent5"/>
              </a:solidFill>
            </a:endParaRPr>
          </a:p>
        </p:txBody>
      </p:sp>
      <p:sp>
        <p:nvSpPr>
          <p:cNvPr id="9" name="矩形 8"/>
          <p:cNvSpPr/>
          <p:nvPr/>
        </p:nvSpPr>
        <p:spPr>
          <a:xfrm>
            <a:off x="486408" y="1394811"/>
            <a:ext cx="1721946" cy="553998"/>
          </a:xfrm>
          <a:prstGeom prst="rect">
            <a:avLst/>
          </a:prstGeom>
        </p:spPr>
        <p:txBody>
          <a:bodyPr wrap="none">
            <a:spAutoFit/>
          </a:bodyPr>
          <a:lstStyle/>
          <a:p>
            <a:r>
              <a:rPr lang="en-US" altLang="zh-CN" dirty="0"/>
              <a:t>Problem:</a:t>
            </a:r>
            <a:endParaRPr lang="zh-CN" altLang="en-US" dirty="0"/>
          </a:p>
        </p:txBody>
      </p:sp>
    </p:spTree>
    <p:extLst>
      <p:ext uri="{BB962C8B-B14F-4D97-AF65-F5344CB8AC3E}">
        <p14:creationId xmlns:p14="http://schemas.microsoft.com/office/powerpoint/2010/main" val="3297537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017" y="323588"/>
            <a:ext cx="7886700" cy="1325563"/>
          </a:xfrm>
        </p:spPr>
        <p:txBody>
          <a:bodyPr>
            <a:normAutofit/>
          </a:bodyPr>
          <a:lstStyle/>
          <a:p>
            <a:r>
              <a:rPr lang="en-US" dirty="0"/>
              <a:t>Integer Multiplication</a:t>
            </a:r>
          </a:p>
        </p:txBody>
      </p:sp>
      <p:sp>
        <p:nvSpPr>
          <p:cNvPr id="3" name="Content Placeholder 2"/>
          <p:cNvSpPr>
            <a:spLocks noGrp="1"/>
          </p:cNvSpPr>
          <p:nvPr>
            <p:ph idx="1"/>
          </p:nvPr>
        </p:nvSpPr>
        <p:spPr>
          <a:xfrm>
            <a:off x="260645" y="1706347"/>
            <a:ext cx="9147614" cy="1722793"/>
          </a:xfrm>
        </p:spPr>
        <p:txBody>
          <a:bodyP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400" dirty="0"/>
              <a:t>1233925720752752384623764283568364918374523856298</a:t>
            </a:r>
          </a:p>
          <a:p>
            <a:pPr marL="0" marR="0" lvl="0" indent="0" defTabSz="914400" eaLnBrk="1" fontAlgn="auto" latinLnBrk="0" hangingPunct="1">
              <a:lnSpc>
                <a:spcPct val="100000"/>
              </a:lnSpc>
              <a:spcBef>
                <a:spcPts val="0"/>
              </a:spcBef>
              <a:spcAft>
                <a:spcPts val="0"/>
              </a:spcAft>
              <a:buClrTx/>
              <a:buSzTx/>
              <a:buFontTx/>
              <a:buNone/>
              <a:tabLst/>
              <a:defRPr/>
            </a:pPr>
            <a:r>
              <a:rPr lang="en-US" sz="2400" dirty="0"/>
              <a:t>4562323582342395285623467235019130750135350013753</a:t>
            </a:r>
          </a:p>
        </p:txBody>
      </p:sp>
      <p:sp>
        <p:nvSpPr>
          <p:cNvPr id="4" name="TextBox 3"/>
          <p:cNvSpPr txBox="1"/>
          <p:nvPr/>
        </p:nvSpPr>
        <p:spPr>
          <a:xfrm>
            <a:off x="0" y="1986159"/>
            <a:ext cx="362600" cy="584775"/>
          </a:xfrm>
          <a:prstGeom prst="rect">
            <a:avLst/>
          </a:prstGeom>
          <a:noFill/>
        </p:spPr>
        <p:txBody>
          <a:bodyPr wrap="none" rtlCol="0">
            <a:spAutoFit/>
          </a:bodyPr>
          <a:lstStyle/>
          <a:p>
            <a:r>
              <a:rPr lang="en-US" sz="3200" dirty="0"/>
              <a:t>x</a:t>
            </a:r>
          </a:p>
        </p:txBody>
      </p:sp>
      <p:cxnSp>
        <p:nvCxnSpPr>
          <p:cNvPr id="6" name="Straight Connector 5"/>
          <p:cNvCxnSpPr/>
          <p:nvPr/>
        </p:nvCxnSpPr>
        <p:spPr>
          <a:xfrm flipV="1">
            <a:off x="362600" y="2580454"/>
            <a:ext cx="8626321" cy="42249"/>
          </a:xfrm>
          <a:prstGeom prst="line">
            <a:avLst/>
          </a:prstGeom>
          <a:ln w="22225"/>
        </p:spPr>
        <p:style>
          <a:lnRef idx="3">
            <a:schemeClr val="dk1"/>
          </a:lnRef>
          <a:fillRef idx="0">
            <a:schemeClr val="dk1"/>
          </a:fillRef>
          <a:effectRef idx="2">
            <a:schemeClr val="dk1"/>
          </a:effectRef>
          <a:fontRef idx="minor">
            <a:schemeClr val="tx1"/>
          </a:fontRef>
        </p:style>
      </p:cxnSp>
      <p:sp>
        <p:nvSpPr>
          <p:cNvPr id="8" name="TextBox 7"/>
          <p:cNvSpPr txBox="1"/>
          <p:nvPr/>
        </p:nvSpPr>
        <p:spPr>
          <a:xfrm>
            <a:off x="8028384" y="2707855"/>
            <a:ext cx="612668" cy="461665"/>
          </a:xfrm>
          <a:prstGeom prst="rect">
            <a:avLst/>
          </a:prstGeom>
          <a:noFill/>
        </p:spPr>
        <p:txBody>
          <a:bodyPr wrap="none" rtlCol="0">
            <a:spAutoFit/>
          </a:bodyPr>
          <a:lstStyle/>
          <a:p>
            <a:r>
              <a:rPr lang="en-US" sz="2400" dirty="0">
                <a:solidFill>
                  <a:schemeClr val="accent4"/>
                </a:solidFill>
              </a:rPr>
              <a:t>???</a:t>
            </a:r>
          </a:p>
        </p:txBody>
      </p:sp>
      <p:sp>
        <p:nvSpPr>
          <p:cNvPr id="9" name="Right Brace 8"/>
          <p:cNvSpPr/>
          <p:nvPr/>
        </p:nvSpPr>
        <p:spPr>
          <a:xfrm rot="16200000">
            <a:off x="4600640" y="-2566826"/>
            <a:ext cx="365760" cy="8180585"/>
          </a:xfrm>
          <a:prstGeom prst="rightBrace">
            <a:avLst/>
          </a:prstGeom>
          <a:ln w="2222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582984" y="848832"/>
            <a:ext cx="412292" cy="584775"/>
          </a:xfrm>
          <a:prstGeom prst="rect">
            <a:avLst/>
          </a:prstGeom>
          <a:noFill/>
        </p:spPr>
        <p:txBody>
          <a:bodyPr wrap="none" rtlCol="0">
            <a:spAutoFit/>
          </a:bodyPr>
          <a:lstStyle/>
          <a:p>
            <a:r>
              <a:rPr lang="en-US" sz="3200" dirty="0">
                <a:solidFill>
                  <a:srgbClr val="FF0000"/>
                </a:solidFill>
              </a:rPr>
              <a:t>n</a:t>
            </a:r>
            <a:endParaRPr lang="en-US" dirty="0">
              <a:solidFill>
                <a:srgbClr val="FF0000"/>
              </a:solidFill>
            </a:endParaRPr>
          </a:p>
        </p:txBody>
      </p:sp>
      <mc:AlternateContent xmlns:mc="http://schemas.openxmlformats.org/markup-compatibility/2006" xmlns:a14="http://schemas.microsoft.com/office/drawing/2010/main">
        <mc:Choice Requires="a14">
          <p:sp>
            <p:nvSpPr>
              <p:cNvPr id="11" name="TextBox 10"/>
              <p:cNvSpPr txBox="1"/>
              <p:nvPr/>
            </p:nvSpPr>
            <p:spPr>
              <a:xfrm>
                <a:off x="399806" y="4208539"/>
                <a:ext cx="4824909" cy="1138773"/>
              </a:xfrm>
              <a:prstGeom prst="rect">
                <a:avLst/>
              </a:prstGeom>
              <a:noFill/>
            </p:spPr>
            <p:txBody>
              <a:bodyPr wrap="square" rtlCol="0">
                <a:spAutoFit/>
              </a:bodyPr>
              <a:lstStyle/>
              <a:p>
                <a:pPr algn="r"/>
                <a:r>
                  <a:rPr lang="en-US" sz="2800" dirty="0">
                    <a:solidFill>
                      <a:srgbClr val="FF0000"/>
                    </a:solidFill>
                  </a:rPr>
                  <a:t>About </a:t>
                </a:r>
                <a14:m>
                  <m:oMath xmlns:m="http://schemas.openxmlformats.org/officeDocument/2006/math">
                    <m:sSup>
                      <m:sSupPr>
                        <m:ctrlPr>
                          <a:rPr lang="en-US" sz="2800" b="0" i="1" smtClean="0">
                            <a:solidFill>
                              <a:srgbClr val="FF0000"/>
                            </a:solidFill>
                            <a:latin typeface="Cambria Math" panose="02040503050406030204" pitchFamily="18" charset="0"/>
                          </a:rPr>
                        </m:ctrlPr>
                      </m:sSupPr>
                      <m:e>
                        <m:r>
                          <a:rPr lang="en-US" sz="2800" b="0" i="1" smtClean="0">
                            <a:solidFill>
                              <a:srgbClr val="FF0000"/>
                            </a:solidFill>
                            <a:latin typeface="Cambria Math" charset="0"/>
                          </a:rPr>
                          <m:t>𝑛</m:t>
                        </m:r>
                      </m:e>
                      <m:sup>
                        <m:r>
                          <a:rPr lang="en-US" sz="2800" b="0" i="1" smtClean="0">
                            <a:solidFill>
                              <a:srgbClr val="FF0000"/>
                            </a:solidFill>
                            <a:latin typeface="Cambria Math" charset="0"/>
                          </a:rPr>
                          <m:t>2</m:t>
                        </m:r>
                      </m:sup>
                    </m:sSup>
                    <m:r>
                      <a:rPr lang="en-US" sz="2800" b="0" i="0" smtClean="0">
                        <a:solidFill>
                          <a:srgbClr val="FF0000"/>
                        </a:solidFill>
                        <a:latin typeface="Cambria Math" charset="0"/>
                      </a:rPr>
                      <m:t> </m:t>
                    </m:r>
                  </m:oMath>
                </a14:m>
                <a:r>
                  <a:rPr lang="en-US" sz="2800" dirty="0">
                    <a:solidFill>
                      <a:srgbClr val="FF0000"/>
                    </a:solidFill>
                  </a:rPr>
                  <a:t>one-digit operations</a:t>
                </a:r>
              </a:p>
              <a:p>
                <a:pPr algn="r"/>
                <a:endParaRPr lang="en-US" sz="2000" dirty="0">
                  <a:solidFill>
                    <a:schemeClr val="accent4"/>
                  </a:solidFill>
                </a:endParaRPr>
              </a:p>
              <a:p>
                <a:pPr algn="r"/>
                <a:endParaRPr lang="en-US" sz="2000" dirty="0">
                  <a:solidFill>
                    <a:schemeClr val="accent4"/>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99806" y="4208539"/>
                <a:ext cx="4824909" cy="1138773"/>
              </a:xfrm>
              <a:prstGeom prst="rect">
                <a:avLst/>
              </a:prstGeom>
              <a:blipFill>
                <a:blip r:embed="rId3"/>
                <a:stretch>
                  <a:fillRect l="-1643" t="-5348" r="-2528"/>
                </a:stretch>
              </a:blipFill>
            </p:spPr>
            <p:txBody>
              <a:bodyPr/>
              <a:lstStyle/>
              <a:p>
                <a:r>
                  <a:rPr lang="zh-CN" altLang="en-US">
                    <a:noFill/>
                  </a:rPr>
                  <a:t> </a:t>
                </a:r>
              </a:p>
            </p:txBody>
          </p:sp>
        </mc:Fallback>
      </mc:AlternateContent>
      <p:sp>
        <p:nvSpPr>
          <p:cNvPr id="12" name="TextBox 11"/>
          <p:cNvSpPr txBox="1"/>
          <p:nvPr/>
        </p:nvSpPr>
        <p:spPr>
          <a:xfrm>
            <a:off x="435804" y="3740830"/>
            <a:ext cx="3739549" cy="400110"/>
          </a:xfrm>
          <a:prstGeom prst="rect">
            <a:avLst/>
          </a:prstGeom>
          <a:noFill/>
        </p:spPr>
        <p:txBody>
          <a:bodyPr wrap="none" rtlCol="0">
            <a:spAutoFit/>
          </a:bodyPr>
          <a:lstStyle/>
          <a:p>
            <a:pPr algn="ctr"/>
            <a:r>
              <a:rPr lang="en-US" sz="2000" dirty="0"/>
              <a:t>(How many one-digit operations?)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E9CE583-DC05-5A4B-9DE2-939782697BE3}"/>
                  </a:ext>
                </a:extLst>
              </p:cNvPr>
              <p:cNvSpPr txBox="1"/>
              <p:nvPr/>
            </p:nvSpPr>
            <p:spPr>
              <a:xfrm>
                <a:off x="2058498" y="4777925"/>
                <a:ext cx="6332434" cy="1569660"/>
              </a:xfrm>
              <a:prstGeom prst="rect">
                <a:avLst/>
              </a:prstGeom>
              <a:noFill/>
            </p:spPr>
            <p:txBody>
              <a:bodyPr wrap="square" rtlCol="0">
                <a:spAutoFit/>
              </a:bodyPr>
              <a:lstStyle/>
              <a:p>
                <a:r>
                  <a:rPr lang="en-US" sz="2400" dirty="0">
                    <a:solidFill>
                      <a:schemeClr val="accent4"/>
                    </a:solidFill>
                  </a:rPr>
                  <a:t>At most </a:t>
                </a:r>
                <a14:m>
                  <m:oMath xmlns:m="http://schemas.openxmlformats.org/officeDocument/2006/math">
                    <m:sSup>
                      <m:sSupPr>
                        <m:ctrlPr>
                          <a:rPr lang="en-US" sz="2400" i="1">
                            <a:solidFill>
                              <a:schemeClr val="accent4"/>
                            </a:solidFill>
                            <a:latin typeface="Cambria Math" panose="02040503050406030204" pitchFamily="18" charset="0"/>
                          </a:rPr>
                        </m:ctrlPr>
                      </m:sSupPr>
                      <m:e>
                        <m:r>
                          <a:rPr lang="en-US" sz="2400" i="1">
                            <a:solidFill>
                              <a:schemeClr val="accent4"/>
                            </a:solidFill>
                            <a:latin typeface="Cambria Math" charset="0"/>
                          </a:rPr>
                          <m:t>𝑛</m:t>
                        </m:r>
                      </m:e>
                      <m:sup>
                        <m:r>
                          <a:rPr lang="en-US" sz="2400" i="1">
                            <a:solidFill>
                              <a:schemeClr val="accent4"/>
                            </a:solidFill>
                            <a:latin typeface="Cambria Math" charset="0"/>
                          </a:rPr>
                          <m:t>2</m:t>
                        </m:r>
                      </m:sup>
                    </m:sSup>
                    <m:r>
                      <a:rPr lang="en-US" sz="2400" i="1">
                        <a:solidFill>
                          <a:schemeClr val="accent4"/>
                        </a:solidFill>
                        <a:latin typeface="Cambria Math" charset="0"/>
                      </a:rPr>
                      <m:t> </m:t>
                    </m:r>
                  </m:oMath>
                </a14:m>
                <a:r>
                  <a:rPr lang="en-US" sz="2400" dirty="0">
                    <a:solidFill>
                      <a:schemeClr val="accent4"/>
                    </a:solidFill>
                  </a:rPr>
                  <a:t>multiplications,</a:t>
                </a:r>
              </a:p>
              <a:p>
                <a:r>
                  <a:rPr lang="en-US" sz="2400" dirty="0">
                    <a:solidFill>
                      <a:schemeClr val="accent4"/>
                    </a:solidFill>
                  </a:rPr>
                  <a:t>and then at most </a:t>
                </a:r>
                <a14:m>
                  <m:oMath xmlns:m="http://schemas.openxmlformats.org/officeDocument/2006/math">
                    <m:sSup>
                      <m:sSupPr>
                        <m:ctrlPr>
                          <a:rPr lang="en-US" sz="2400" i="1">
                            <a:solidFill>
                              <a:schemeClr val="accent4"/>
                            </a:solidFill>
                            <a:latin typeface="Cambria Math" panose="02040503050406030204" pitchFamily="18" charset="0"/>
                          </a:rPr>
                        </m:ctrlPr>
                      </m:sSupPr>
                      <m:e>
                        <m:r>
                          <a:rPr lang="en-US" sz="2400" i="1">
                            <a:solidFill>
                              <a:schemeClr val="accent4"/>
                            </a:solidFill>
                            <a:latin typeface="Cambria Math" charset="0"/>
                          </a:rPr>
                          <m:t>𝑛</m:t>
                        </m:r>
                      </m:e>
                      <m:sup>
                        <m:r>
                          <a:rPr lang="en-US" sz="2400" i="1">
                            <a:solidFill>
                              <a:schemeClr val="accent4"/>
                            </a:solidFill>
                            <a:latin typeface="Cambria Math" charset="0"/>
                          </a:rPr>
                          <m:t>2</m:t>
                        </m:r>
                      </m:sup>
                    </m:sSup>
                  </m:oMath>
                </a14:m>
                <a:r>
                  <a:rPr lang="en-US" sz="2400" dirty="0">
                    <a:solidFill>
                      <a:schemeClr val="accent4"/>
                    </a:solidFill>
                  </a:rPr>
                  <a:t> additions (for carries) </a:t>
                </a:r>
              </a:p>
              <a:p>
                <a:r>
                  <a:rPr lang="en-US" sz="2400" dirty="0">
                    <a:solidFill>
                      <a:schemeClr val="accent4"/>
                    </a:solidFill>
                  </a:rPr>
                  <a:t>and then add n different 2n-digit numbers</a:t>
                </a:r>
                <a:r>
                  <a:rPr lang="mr-IN" sz="2400" dirty="0">
                    <a:solidFill>
                      <a:schemeClr val="accent4"/>
                    </a:solidFill>
                  </a:rPr>
                  <a:t>…</a:t>
                </a:r>
                <a:endParaRPr lang="en-US" sz="2400" dirty="0">
                  <a:solidFill>
                    <a:schemeClr val="accent4"/>
                  </a:solidFill>
                </a:endParaRPr>
              </a:p>
              <a:p>
                <a:endParaRPr lang="en-US" sz="2400" dirty="0"/>
              </a:p>
            </p:txBody>
          </p:sp>
        </mc:Choice>
        <mc:Fallback xmlns="">
          <p:sp>
            <p:nvSpPr>
              <p:cNvPr id="15" name="TextBox 14">
                <a:extLst>
                  <a:ext uri="{FF2B5EF4-FFF2-40B4-BE49-F238E27FC236}">
                    <a16:creationId xmlns:a16="http://schemas.microsoft.com/office/drawing/2014/main" id="{7E9CE583-DC05-5A4B-9DE2-939782697BE3}"/>
                  </a:ext>
                </a:extLst>
              </p:cNvPr>
              <p:cNvSpPr txBox="1">
                <a:spLocks noRot="1" noChangeAspect="1" noMove="1" noResize="1" noEditPoints="1" noAdjustHandles="1" noChangeArrowheads="1" noChangeShapeType="1" noTextEdit="1"/>
              </p:cNvSpPr>
              <p:nvPr/>
            </p:nvSpPr>
            <p:spPr>
              <a:xfrm>
                <a:off x="2058498" y="4777925"/>
                <a:ext cx="6332434" cy="1569660"/>
              </a:xfrm>
              <a:prstGeom prst="rect">
                <a:avLst/>
              </a:prstGeom>
              <a:blipFill>
                <a:blip r:embed="rId4"/>
                <a:stretch>
                  <a:fillRect l="-1541" t="-2724"/>
                </a:stretch>
              </a:blipFill>
            </p:spPr>
            <p:txBody>
              <a:bodyPr/>
              <a:lstStyle/>
              <a:p>
                <a:r>
                  <a:rPr lang="zh-CN" altLang="en-US">
                    <a:noFill/>
                  </a:rPr>
                  <a:t> </a:t>
                </a:r>
              </a:p>
            </p:txBody>
          </p:sp>
        </mc:Fallback>
      </mc:AlternateContent>
      <p:sp>
        <p:nvSpPr>
          <p:cNvPr id="16" name="TextBox 15">
            <a:extLst>
              <a:ext uri="{FF2B5EF4-FFF2-40B4-BE49-F238E27FC236}">
                <a16:creationId xmlns:a16="http://schemas.microsoft.com/office/drawing/2014/main" id="{E3BCF782-FC9A-E24D-91CA-E9C4308B8728}"/>
              </a:ext>
            </a:extLst>
          </p:cNvPr>
          <p:cNvSpPr txBox="1"/>
          <p:nvPr/>
        </p:nvSpPr>
        <p:spPr>
          <a:xfrm>
            <a:off x="399806" y="3193565"/>
            <a:ext cx="8746221" cy="523220"/>
          </a:xfrm>
          <a:prstGeom prst="rect">
            <a:avLst/>
          </a:prstGeom>
          <a:noFill/>
        </p:spPr>
        <p:txBody>
          <a:bodyPr wrap="square" rtlCol="0">
            <a:spAutoFit/>
          </a:bodyPr>
          <a:lstStyle/>
          <a:p>
            <a:r>
              <a:rPr lang="en-US" sz="2800" dirty="0">
                <a:solidFill>
                  <a:srgbClr val="FF0000"/>
                </a:solidFill>
              </a:rPr>
              <a:t>How fast is the </a:t>
            </a:r>
            <a:r>
              <a:rPr lang="en-US" sz="2800" u="sng" dirty="0">
                <a:solidFill>
                  <a:srgbClr val="FF0000"/>
                </a:solidFill>
              </a:rPr>
              <a:t>grade-school multiplication algorithm</a:t>
            </a:r>
            <a:r>
              <a:rPr lang="en-US" sz="2800" dirty="0">
                <a:solidFill>
                  <a:srgbClr val="FF0000"/>
                </a:solidFill>
              </a:rPr>
              <a:t>?</a:t>
            </a:r>
          </a:p>
        </p:txBody>
      </p:sp>
      <p:sp>
        <p:nvSpPr>
          <p:cNvPr id="5" name="矩形 4"/>
          <p:cNvSpPr/>
          <p:nvPr/>
        </p:nvSpPr>
        <p:spPr>
          <a:xfrm>
            <a:off x="247492" y="6304002"/>
            <a:ext cx="8945111" cy="553998"/>
          </a:xfrm>
          <a:prstGeom prst="rect">
            <a:avLst/>
          </a:prstGeom>
        </p:spPr>
        <p:txBody>
          <a:bodyPr wrap="square">
            <a:spAutoFit/>
          </a:bodyPr>
          <a:lstStyle/>
          <a:p>
            <a:r>
              <a:rPr lang="en-US" altLang="zh-CN" dirty="0"/>
              <a:t>Grade-School Multiplication  </a:t>
            </a:r>
            <a:r>
              <a:rPr lang="en-US" altLang="zh-CN" dirty="0">
                <a:solidFill>
                  <a:schemeClr val="accent4"/>
                </a:solidFill>
              </a:rPr>
              <a:t>“</a:t>
            </a:r>
            <a:r>
              <a:rPr lang="en-US" altLang="zh-CN" dirty="0">
                <a:solidFill>
                  <a:srgbClr val="FF0000"/>
                </a:solidFill>
              </a:rPr>
              <a:t>runs in time </a:t>
            </a:r>
            <a:r>
              <a:rPr lang="en-US" altLang="zh-CN" dirty="0">
                <a:solidFill>
                  <a:schemeClr val="accent4"/>
                </a:solidFill>
              </a:rPr>
              <a:t>O(n</a:t>
            </a:r>
            <a:r>
              <a:rPr lang="en-US" altLang="zh-CN" baseline="30000" dirty="0">
                <a:solidFill>
                  <a:schemeClr val="accent4"/>
                </a:solidFill>
              </a:rPr>
              <a:t>2</a:t>
            </a:r>
            <a:r>
              <a:rPr lang="en-US" altLang="zh-CN" dirty="0">
                <a:solidFill>
                  <a:schemeClr val="accent4"/>
                </a:solidFill>
              </a:rPr>
              <a:t>)”</a:t>
            </a:r>
          </a:p>
        </p:txBody>
      </p:sp>
    </p:spTree>
    <p:extLst>
      <p:ext uri="{BB962C8B-B14F-4D97-AF65-F5344CB8AC3E}">
        <p14:creationId xmlns:p14="http://schemas.microsoft.com/office/powerpoint/2010/main" val="406762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2" presetClass="entr" presetSubtype="4"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uiExpand="1" build="p"/>
      <p:bldP spid="15" grpId="0"/>
      <p:bldP spid="16"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322086" y="1536852"/>
            <a:ext cx="6711000" cy="5321148"/>
          </a:xfrm>
          <a:prstGeom prst="rect">
            <a:avLst/>
          </a:prstGeom>
        </p:spPr>
      </p:pic>
      <p:pic>
        <p:nvPicPr>
          <p:cNvPr id="13" name="Picture 1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375879" y="1736621"/>
            <a:ext cx="6603414" cy="5051976"/>
          </a:xfrm>
          <a:prstGeom prst="rect">
            <a:avLst/>
          </a:prstGeom>
        </p:spPr>
      </p:pic>
      <p:sp>
        <p:nvSpPr>
          <p:cNvPr id="2" name="Title 1"/>
          <p:cNvSpPr>
            <a:spLocks noGrp="1"/>
          </p:cNvSpPr>
          <p:nvPr>
            <p:ph type="title"/>
          </p:nvPr>
        </p:nvSpPr>
        <p:spPr>
          <a:xfrm>
            <a:off x="424136" y="141886"/>
            <a:ext cx="7886700" cy="1325563"/>
          </a:xfrm>
        </p:spPr>
        <p:txBody>
          <a:bodyPr>
            <a:normAutofit/>
          </a:bodyPr>
          <a:lstStyle/>
          <a:p>
            <a:r>
              <a:rPr lang="en-US" sz="4000" dirty="0"/>
              <a:t>Implemented  on a laptop</a:t>
            </a:r>
            <a:endParaRPr lang="en-US" sz="2800" dirty="0"/>
          </a:p>
        </p:txBody>
      </p:sp>
      <p:pic>
        <p:nvPicPr>
          <p:cNvPr id="4" name="Picture 3"/>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55289" y="4356657"/>
            <a:ext cx="2066797" cy="1550098"/>
          </a:xfrm>
          <a:prstGeom prst="rect">
            <a:avLst/>
          </a:prstGeom>
        </p:spPr>
      </p:pic>
      <p:sp>
        <p:nvSpPr>
          <p:cNvPr id="3" name="Rectangle 2"/>
          <p:cNvSpPr/>
          <p:nvPr/>
        </p:nvSpPr>
        <p:spPr>
          <a:xfrm>
            <a:off x="3290340" y="2926053"/>
            <a:ext cx="5299023" cy="707886"/>
          </a:xfrm>
          <a:prstGeom prst="rect">
            <a:avLst/>
          </a:prstGeom>
        </p:spPr>
        <p:txBody>
          <a:bodyPr wrap="square">
            <a:spAutoFit/>
          </a:bodyPr>
          <a:lstStyle/>
          <a:p>
            <a:r>
              <a:rPr lang="is-IS" sz="2000" dirty="0">
                <a:solidFill>
                  <a:srgbClr val="7030A0"/>
                </a:solidFill>
              </a:rPr>
              <a:t>Looks like it’s roughly</a:t>
            </a:r>
          </a:p>
          <a:p>
            <a:r>
              <a:rPr lang="is-IS" sz="2000" dirty="0">
                <a:solidFill>
                  <a:srgbClr val="7030A0"/>
                </a:solidFill>
              </a:rPr>
              <a:t>T</a:t>
            </a:r>
            <a:r>
              <a:rPr lang="is-IS" sz="2000" baseline="-25000" dirty="0">
                <a:solidFill>
                  <a:srgbClr val="7030A0"/>
                </a:solidFill>
              </a:rPr>
              <a:t>laptop</a:t>
            </a:r>
            <a:r>
              <a:rPr lang="is-IS" sz="2000" dirty="0">
                <a:solidFill>
                  <a:srgbClr val="7030A0"/>
                </a:solidFill>
              </a:rPr>
              <a:t>(n) = 0.0063 n</a:t>
            </a:r>
            <a:r>
              <a:rPr lang="is-IS" sz="2000" baseline="30000" dirty="0">
                <a:solidFill>
                  <a:srgbClr val="7030A0"/>
                </a:solidFill>
              </a:rPr>
              <a:t>2 </a:t>
            </a:r>
            <a:r>
              <a:rPr lang="mr-IN" sz="2000" dirty="0">
                <a:solidFill>
                  <a:srgbClr val="7030A0"/>
                </a:solidFill>
              </a:rPr>
              <a:t>–</a:t>
            </a:r>
            <a:r>
              <a:rPr lang="is-IS" sz="2000" dirty="0">
                <a:solidFill>
                  <a:srgbClr val="7030A0"/>
                </a:solidFill>
              </a:rPr>
              <a:t> 0.5 n + 12.7...</a:t>
            </a:r>
            <a:endParaRPr lang="en-US" sz="2000" dirty="0">
              <a:solidFill>
                <a:srgbClr val="7030A0"/>
              </a:solidFill>
            </a:endParaRPr>
          </a:p>
        </p:txBody>
      </p:sp>
      <p:sp>
        <p:nvSpPr>
          <p:cNvPr id="11" name="TextBox 10">
            <a:extLst>
              <a:ext uri="{FF2B5EF4-FFF2-40B4-BE49-F238E27FC236}">
                <a16:creationId xmlns:a16="http://schemas.microsoft.com/office/drawing/2014/main" id="{C919E2E4-2341-A845-ADA2-65C292DCE75C}"/>
              </a:ext>
            </a:extLst>
          </p:cNvPr>
          <p:cNvSpPr txBox="1"/>
          <p:nvPr/>
        </p:nvSpPr>
        <p:spPr>
          <a:xfrm>
            <a:off x="255289" y="1075187"/>
            <a:ext cx="5846164" cy="461665"/>
          </a:xfrm>
          <a:prstGeom prst="rect">
            <a:avLst/>
          </a:prstGeom>
          <a:noFill/>
        </p:spPr>
        <p:txBody>
          <a:bodyPr wrap="square" rtlCol="0">
            <a:spAutoFit/>
          </a:bodyPr>
          <a:lstStyle/>
          <a:p>
            <a:r>
              <a:rPr lang="en-US" sz="2400" dirty="0">
                <a:solidFill>
                  <a:schemeClr val="accent4"/>
                </a:solidFill>
              </a:rPr>
              <a:t>The runtime “scales like” n</a:t>
            </a:r>
            <a:r>
              <a:rPr lang="en-US" sz="2400" baseline="30000" dirty="0">
                <a:solidFill>
                  <a:schemeClr val="accent4"/>
                </a:solidFill>
              </a:rPr>
              <a:t>2</a:t>
            </a:r>
            <a:endParaRPr lang="en-US" sz="2400" dirty="0">
              <a:solidFill>
                <a:schemeClr val="accent4"/>
              </a:solidFill>
            </a:endParaRPr>
          </a:p>
        </p:txBody>
      </p:sp>
      <p:pic>
        <p:nvPicPr>
          <p:cNvPr id="8" name="object 4"/>
          <p:cNvPicPr/>
          <p:nvPr/>
        </p:nvPicPr>
        <p:blipFill>
          <a:blip r:embed="rId6" cstate="print"/>
          <a:stretch>
            <a:fillRect/>
          </a:stretch>
        </p:blipFill>
        <p:spPr>
          <a:xfrm>
            <a:off x="395536" y="1688801"/>
            <a:ext cx="1302381" cy="1664235"/>
          </a:xfrm>
          <a:prstGeom prst="rect">
            <a:avLst/>
          </a:prstGeom>
        </p:spPr>
      </p:pic>
    </p:spTree>
    <p:extLst>
      <p:ext uri="{BB962C8B-B14F-4D97-AF65-F5344CB8AC3E}">
        <p14:creationId xmlns:p14="http://schemas.microsoft.com/office/powerpoint/2010/main" val="29467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05A674DE-BB01-1740-B2D3-7CFF6FE9CDD3}"/>
              </a:ext>
            </a:extLst>
          </p:cNvPr>
          <p:cNvPicPr>
            <a:picLocks noChangeAspect="1"/>
          </p:cNvPicPr>
          <p:nvPr/>
        </p:nvPicPr>
        <p:blipFill>
          <a:blip r:embed="rId3"/>
          <a:stretch>
            <a:fillRect/>
          </a:stretch>
        </p:blipFill>
        <p:spPr>
          <a:xfrm>
            <a:off x="2486793" y="1627360"/>
            <a:ext cx="6657207" cy="5076399"/>
          </a:xfrm>
          <a:prstGeom prst="rect">
            <a:avLst/>
          </a:prstGeom>
        </p:spPr>
      </p:pic>
      <p:pic>
        <p:nvPicPr>
          <p:cNvPr id="4" name="Picture 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5287" y="4283879"/>
            <a:ext cx="2066797" cy="1550098"/>
          </a:xfrm>
          <a:prstGeom prst="rect">
            <a:avLst/>
          </a:prstGeom>
        </p:spPr>
      </p:pic>
      <p:sp>
        <p:nvSpPr>
          <p:cNvPr id="2" name="Title 1"/>
          <p:cNvSpPr>
            <a:spLocks noGrp="1"/>
          </p:cNvSpPr>
          <p:nvPr>
            <p:ph type="title"/>
          </p:nvPr>
        </p:nvSpPr>
        <p:spPr>
          <a:xfrm>
            <a:off x="383817" y="144425"/>
            <a:ext cx="7886700" cy="1325563"/>
          </a:xfrm>
        </p:spPr>
        <p:txBody>
          <a:bodyPr/>
          <a:lstStyle/>
          <a:p>
            <a:r>
              <a:rPr lang="en-US" dirty="0"/>
              <a:t>Implemented by hand</a:t>
            </a:r>
          </a:p>
        </p:txBody>
      </p:sp>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383817" y="1825961"/>
            <a:ext cx="1308487" cy="2033704"/>
          </a:xfrm>
          <a:prstGeom prst="rect">
            <a:avLst/>
          </a:prstGeom>
        </p:spPr>
      </p:pic>
      <p:cxnSp>
        <p:nvCxnSpPr>
          <p:cNvPr id="9" name="Straight Connector 8"/>
          <p:cNvCxnSpPr>
            <a:cxnSpLocks/>
          </p:cNvCxnSpPr>
          <p:nvPr/>
        </p:nvCxnSpPr>
        <p:spPr>
          <a:xfrm flipV="1">
            <a:off x="2046310" y="4668982"/>
            <a:ext cx="4437617" cy="8502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a:xfrm>
            <a:off x="1618003" y="3068226"/>
            <a:ext cx="2843161" cy="70361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265118" y="2535992"/>
            <a:ext cx="2985952" cy="400110"/>
          </a:xfrm>
          <a:prstGeom prst="rect">
            <a:avLst/>
          </a:prstGeom>
          <a:noFill/>
        </p:spPr>
        <p:txBody>
          <a:bodyPr wrap="square" rtlCol="0">
            <a:spAutoFit/>
          </a:bodyPr>
          <a:lstStyle/>
          <a:p>
            <a:r>
              <a:rPr lang="en-US" sz="2000" dirty="0">
                <a:solidFill>
                  <a:schemeClr val="accent6">
                    <a:lumMod val="50000"/>
                  </a:schemeClr>
                </a:solidFill>
              </a:rPr>
              <a:t>Some other function of n</a:t>
            </a:r>
          </a:p>
        </p:txBody>
      </p:sp>
      <mc:AlternateContent xmlns:mc="http://schemas.openxmlformats.org/markup-compatibility/2006" xmlns:a14="http://schemas.microsoft.com/office/drawing/2010/main">
        <mc:Choice Requires="a14">
          <p:sp>
            <p:nvSpPr>
              <p:cNvPr id="6" name="Rectangle 5"/>
              <p:cNvSpPr/>
              <p:nvPr/>
            </p:nvSpPr>
            <p:spPr>
              <a:xfrm>
                <a:off x="6229981" y="4858873"/>
                <a:ext cx="2590302" cy="400110"/>
              </a:xfrm>
              <a:prstGeom prst="rect">
                <a:avLst/>
              </a:prstGeom>
            </p:spPr>
            <p:txBody>
              <a:bodyPr wrap="square">
                <a:spAutoFit/>
              </a:bodyPr>
              <a:lstStyle/>
              <a:p>
                <a:pPr algn="ctr"/>
                <a:r>
                  <a:rPr lang="is-IS" sz="2000" dirty="0">
                    <a:solidFill>
                      <a:srgbClr val="FF0000"/>
                    </a:solidFill>
                  </a:rPr>
                  <a:t>T</a:t>
                </a:r>
                <a:r>
                  <a:rPr lang="is-IS" sz="2000" baseline="-25000" dirty="0">
                    <a:solidFill>
                      <a:srgbClr val="FF0000"/>
                    </a:solidFill>
                  </a:rPr>
                  <a:t>laptop</a:t>
                </a:r>
                <a:r>
                  <a:rPr lang="is-IS" sz="2000" dirty="0">
                    <a:solidFill>
                      <a:srgbClr val="FF0000"/>
                    </a:solidFill>
                  </a:rPr>
                  <a:t>(n) </a:t>
                </a:r>
                <a14:m>
                  <m:oMath xmlns:m="http://schemas.openxmlformats.org/officeDocument/2006/math">
                    <m:r>
                      <a:rPr lang="en-US" sz="2000" b="0" i="1" dirty="0" smtClean="0">
                        <a:solidFill>
                          <a:srgbClr val="FF0000"/>
                        </a:solidFill>
                        <a:latin typeface="Cambria Math" panose="02040503050406030204" pitchFamily="18" charset="0"/>
                      </a:rPr>
                      <m:t>≈</m:t>
                    </m:r>
                  </m:oMath>
                </a14:m>
                <a:r>
                  <a:rPr lang="is-IS" sz="2000" dirty="0">
                    <a:solidFill>
                      <a:srgbClr val="FF0000"/>
                    </a:solidFill>
                  </a:rPr>
                  <a:t> 0.0063 n</a:t>
                </a:r>
                <a:r>
                  <a:rPr lang="is-IS" sz="2000" baseline="30000" dirty="0">
                    <a:solidFill>
                      <a:srgbClr val="FF0000"/>
                    </a:solidFill>
                  </a:rPr>
                  <a:t>2</a:t>
                </a:r>
                <a:endParaRPr lang="en-US" sz="2000" dirty="0">
                  <a:solidFill>
                    <a:srgbClr val="FF0000"/>
                  </a:solidFill>
                </a:endParaRPr>
              </a:p>
            </p:txBody>
          </p:sp>
        </mc:Choice>
        <mc:Fallback xmlns="">
          <p:sp>
            <p:nvSpPr>
              <p:cNvPr id="6" name="Rectangle 5"/>
              <p:cNvSpPr>
                <a:spLocks noRot="1" noChangeAspect="1" noMove="1" noResize="1" noEditPoints="1" noAdjustHandles="1" noChangeArrowheads="1" noChangeShapeType="1" noTextEdit="1"/>
              </p:cNvSpPr>
              <p:nvPr/>
            </p:nvSpPr>
            <p:spPr>
              <a:xfrm>
                <a:off x="6229981" y="4858873"/>
                <a:ext cx="2590302" cy="400110"/>
              </a:xfrm>
              <a:prstGeom prst="rect">
                <a:avLst/>
              </a:prstGeom>
              <a:blipFill>
                <a:blip r:embed="rId6"/>
                <a:stretch>
                  <a:fillRect l="-1176" t="-6061" b="-27273"/>
                </a:stretch>
              </a:blipFill>
            </p:spPr>
            <p:txBody>
              <a:bodyPr/>
              <a:lstStyle/>
              <a:p>
                <a:r>
                  <a:rPr lang="zh-CN" altLang="en-US">
                    <a:noFill/>
                  </a:rPr>
                  <a:t> </a:t>
                </a:r>
              </a:p>
            </p:txBody>
          </p:sp>
        </mc:Fallback>
      </mc:AlternateContent>
      <p:sp>
        <p:nvSpPr>
          <p:cNvPr id="7" name="TextBox 6"/>
          <p:cNvSpPr txBox="1"/>
          <p:nvPr/>
        </p:nvSpPr>
        <p:spPr>
          <a:xfrm>
            <a:off x="383817" y="1165695"/>
            <a:ext cx="5846164" cy="461665"/>
          </a:xfrm>
          <a:prstGeom prst="rect">
            <a:avLst/>
          </a:prstGeom>
          <a:noFill/>
        </p:spPr>
        <p:txBody>
          <a:bodyPr wrap="square" rtlCol="0">
            <a:spAutoFit/>
          </a:bodyPr>
          <a:lstStyle/>
          <a:p>
            <a:r>
              <a:rPr lang="en-US" sz="2400" dirty="0">
                <a:solidFill>
                  <a:schemeClr val="accent4"/>
                </a:solidFill>
              </a:rPr>
              <a:t>The runtime still “scales like” n</a:t>
            </a:r>
            <a:r>
              <a:rPr lang="en-US" sz="2400" baseline="30000" dirty="0">
                <a:solidFill>
                  <a:schemeClr val="accent4"/>
                </a:solidFill>
              </a:rPr>
              <a:t>2</a:t>
            </a:r>
            <a:endParaRPr lang="en-US" sz="2400" dirty="0">
              <a:solidFill>
                <a:schemeClr val="accent4"/>
              </a:solidFill>
            </a:endParaRPr>
          </a:p>
        </p:txBody>
      </p:sp>
    </p:spTree>
    <p:extLst>
      <p:ext uri="{BB962C8B-B14F-4D97-AF65-F5344CB8AC3E}">
        <p14:creationId xmlns:p14="http://schemas.microsoft.com/office/powerpoint/2010/main" val="227418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79E1A3-FA71-E64E-B0AF-6B2C7D5A38F8}"/>
              </a:ext>
            </a:extLst>
          </p:cNvPr>
          <p:cNvPicPr>
            <a:picLocks noChangeAspect="1"/>
          </p:cNvPicPr>
          <p:nvPr/>
        </p:nvPicPr>
        <p:blipFill>
          <a:blip r:embed="rId3"/>
          <a:stretch>
            <a:fillRect/>
          </a:stretch>
        </p:blipFill>
        <p:spPr>
          <a:xfrm>
            <a:off x="2154939" y="1264227"/>
            <a:ext cx="6989061" cy="5448901"/>
          </a:xfrm>
          <a:prstGeom prst="rect">
            <a:avLst/>
          </a:prstGeom>
        </p:spPr>
      </p:pic>
      <p:pic>
        <p:nvPicPr>
          <p:cNvPr id="4" name="Picture 3"/>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25817" y="5411608"/>
            <a:ext cx="1601442" cy="1201082"/>
          </a:xfrm>
          <a:prstGeom prst="rect">
            <a:avLst/>
          </a:prstGeom>
        </p:spPr>
      </p:pic>
      <p:sp>
        <p:nvSpPr>
          <p:cNvPr id="2" name="Title 1"/>
          <p:cNvSpPr>
            <a:spLocks noGrp="1"/>
          </p:cNvSpPr>
          <p:nvPr>
            <p:ph type="title"/>
          </p:nvPr>
        </p:nvSpPr>
        <p:spPr>
          <a:xfrm>
            <a:off x="96903" y="362835"/>
            <a:ext cx="9721080" cy="1325563"/>
          </a:xfrm>
        </p:spPr>
        <p:txBody>
          <a:bodyPr>
            <a:normAutofit/>
          </a:bodyPr>
          <a:lstStyle/>
          <a:p>
            <a:r>
              <a:rPr lang="en-US" sz="4000" dirty="0"/>
              <a:t>Why is big-Oh notation meaningful?</a:t>
            </a:r>
          </a:p>
        </p:txBody>
      </p:sp>
      <p:pic>
        <p:nvPicPr>
          <p:cNvPr id="8" name="Picture 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902009" y="1879426"/>
            <a:ext cx="924848" cy="1437437"/>
          </a:xfrm>
          <a:prstGeom prst="rect">
            <a:avLst/>
          </a:prstGeom>
        </p:spPr>
      </p:pic>
      <p:pic>
        <p:nvPicPr>
          <p:cNvPr id="6" name="Picture 5">
            <a:extLst>
              <a:ext uri="{FF2B5EF4-FFF2-40B4-BE49-F238E27FC236}">
                <a16:creationId xmlns:a16="http://schemas.microsoft.com/office/drawing/2014/main" id="{4C77725A-7E7D-5E40-94C0-4E0D4041782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6903" y="3205712"/>
            <a:ext cx="1163339" cy="1172357"/>
          </a:xfrm>
          <a:prstGeom prst="rect">
            <a:avLst/>
          </a:prstGeom>
        </p:spPr>
      </p:pic>
      <p:cxnSp>
        <p:nvCxnSpPr>
          <p:cNvPr id="9" name="Straight Connector 8">
            <a:extLst>
              <a:ext uri="{FF2B5EF4-FFF2-40B4-BE49-F238E27FC236}">
                <a16:creationId xmlns:a16="http://schemas.microsoft.com/office/drawing/2014/main" id="{CDDED7D9-BB08-C14F-82A2-4DCF4F813DE1}"/>
              </a:ext>
            </a:extLst>
          </p:cNvPr>
          <p:cNvCxnSpPr>
            <a:cxnSpLocks/>
          </p:cNvCxnSpPr>
          <p:nvPr/>
        </p:nvCxnSpPr>
        <p:spPr>
          <a:xfrm flipH="1" flipV="1">
            <a:off x="1716779" y="2623051"/>
            <a:ext cx="2550421" cy="1108789"/>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10089BD-359D-C941-A0E5-4FA28CB5579E}"/>
              </a:ext>
            </a:extLst>
          </p:cNvPr>
          <p:cNvCxnSpPr>
            <a:cxnSpLocks/>
          </p:cNvCxnSpPr>
          <p:nvPr/>
        </p:nvCxnSpPr>
        <p:spPr>
          <a:xfrm flipH="1" flipV="1">
            <a:off x="1826538" y="4058476"/>
            <a:ext cx="3673717" cy="41698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63ACBC6-201D-DD4C-956F-A785CE2B21A3}"/>
              </a:ext>
            </a:extLst>
          </p:cNvPr>
          <p:cNvCxnSpPr>
            <a:cxnSpLocks/>
          </p:cNvCxnSpPr>
          <p:nvPr/>
        </p:nvCxnSpPr>
        <p:spPr>
          <a:xfrm flipH="1">
            <a:off x="2403566" y="5110476"/>
            <a:ext cx="3235234" cy="39046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6E28151-1244-4644-87DC-59AC1C5B35DE}"/>
                  </a:ext>
                </a:extLst>
              </p:cNvPr>
              <p:cNvSpPr txBox="1"/>
              <p:nvPr/>
            </p:nvSpPr>
            <p:spPr>
              <a:xfrm>
                <a:off x="764091" y="4373016"/>
                <a:ext cx="1626992" cy="58298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14:m>
                  <m:oMath xmlns:m="http://schemas.openxmlformats.org/officeDocument/2006/math">
                    <m:r>
                      <a:rPr lang="en-US" sz="2000" b="1" i="1" smtClean="0">
                        <a:effectLst>
                          <a:outerShdw blurRad="38100" dist="38100" dir="2700000" algn="tl">
                            <a:srgbClr val="000000">
                              <a:alpha val="43137"/>
                            </a:srgbClr>
                          </a:outerShdw>
                        </a:effectLst>
                        <a:latin typeface="Cambria Math" panose="02040503050406030204" pitchFamily="18" charset="0"/>
                      </a:rPr>
                      <m:t>≈</m:t>
                    </m:r>
                    <m:f>
                      <m:fPr>
                        <m:ctrlPr>
                          <a:rPr lang="en-US" sz="2000" b="1" i="1" smtClean="0">
                            <a:effectLst>
                              <a:outerShdw blurRad="38100" dist="38100" dir="2700000" algn="tl">
                                <a:srgbClr val="000000">
                                  <a:alpha val="43137"/>
                                </a:srgbClr>
                              </a:outerShdw>
                            </a:effectLst>
                            <a:latin typeface="Cambria Math" panose="02040503050406030204" pitchFamily="18" charset="0"/>
                          </a:rPr>
                        </m:ctrlPr>
                      </m:fPr>
                      <m:num>
                        <m:sSup>
                          <m:sSupPr>
                            <m:ctrlPr>
                              <a:rPr lang="en-US" sz="2000" b="1" i="1" smtClean="0">
                                <a:effectLst>
                                  <a:outerShdw blurRad="38100" dist="38100" dir="2700000" algn="tl">
                                    <a:srgbClr val="000000">
                                      <a:alpha val="43137"/>
                                    </a:srgbClr>
                                  </a:outerShdw>
                                </a:effectLst>
                                <a:latin typeface="Cambria Math" panose="02040503050406030204" pitchFamily="18" charset="0"/>
                              </a:rPr>
                            </m:ctrlPr>
                          </m:sSupPr>
                          <m:e>
                            <m:r>
                              <a:rPr lang="en-US" sz="2000" b="1" i="1" smtClean="0">
                                <a:effectLst>
                                  <a:outerShdw blurRad="38100" dist="38100" dir="2700000" algn="tl">
                                    <a:srgbClr val="000000">
                                      <a:alpha val="43137"/>
                                    </a:srgbClr>
                                  </a:outerShdw>
                                </a:effectLst>
                                <a:latin typeface="Cambria Math" panose="02040503050406030204" pitchFamily="18" charset="0"/>
                              </a:rPr>
                              <m:t>𝒏</m:t>
                            </m:r>
                          </m:e>
                          <m:sup>
                            <m:r>
                              <a:rPr lang="en-US" sz="2000" b="1" i="1" smtClean="0">
                                <a:effectLst>
                                  <a:outerShdw blurRad="38100" dist="38100" dir="2700000" algn="tl">
                                    <a:srgbClr val="000000">
                                      <a:alpha val="43137"/>
                                    </a:srgbClr>
                                  </a:outerShdw>
                                </a:effectLst>
                                <a:latin typeface="Cambria Math" panose="02040503050406030204" pitchFamily="18" charset="0"/>
                              </a:rPr>
                              <m:t>𝟏</m:t>
                            </m:r>
                            <m:r>
                              <a:rPr lang="en-US" sz="2000" b="1" i="1" smtClean="0">
                                <a:effectLst>
                                  <a:outerShdw blurRad="38100" dist="38100" dir="2700000" algn="tl">
                                    <a:srgbClr val="000000">
                                      <a:alpha val="43137"/>
                                    </a:srgbClr>
                                  </a:outerShdw>
                                </a:effectLst>
                                <a:latin typeface="Cambria Math" panose="02040503050406030204" pitchFamily="18" charset="0"/>
                              </a:rPr>
                              <m:t>.</m:t>
                            </m:r>
                            <m:r>
                              <a:rPr lang="en-US" sz="2000" b="1" i="1" smtClean="0">
                                <a:effectLst>
                                  <a:outerShdw blurRad="38100" dist="38100" dir="2700000" algn="tl">
                                    <a:srgbClr val="000000">
                                      <a:alpha val="43137"/>
                                    </a:srgbClr>
                                  </a:outerShdw>
                                </a:effectLst>
                                <a:latin typeface="Cambria Math" panose="02040503050406030204" pitchFamily="18" charset="0"/>
                              </a:rPr>
                              <m:t>𝟔</m:t>
                            </m:r>
                          </m:sup>
                        </m:sSup>
                      </m:num>
                      <m:den>
                        <m:r>
                          <a:rPr lang="en-US" sz="2000" b="1" i="1" smtClean="0">
                            <a:effectLst>
                              <a:outerShdw blurRad="38100" dist="38100" dir="2700000" algn="tl">
                                <a:srgbClr val="000000">
                                  <a:alpha val="43137"/>
                                </a:srgbClr>
                              </a:outerShdw>
                            </a:effectLst>
                            <a:latin typeface="Cambria Math" panose="02040503050406030204" pitchFamily="18" charset="0"/>
                          </a:rPr>
                          <m:t>𝟏𝟎</m:t>
                        </m:r>
                      </m:den>
                    </m:f>
                    <m:r>
                      <a:rPr lang="en-US" sz="2000" b="1" i="1" smtClean="0">
                        <a:effectLst>
                          <a:outerShdw blurRad="38100" dist="38100" dir="2700000" algn="tl">
                            <a:srgbClr val="000000">
                              <a:alpha val="43137"/>
                            </a:srgbClr>
                          </a:outerShdw>
                        </a:effectLst>
                        <a:latin typeface="Cambria Math" panose="02040503050406030204" pitchFamily="18" charset="0"/>
                      </a:rPr>
                      <m:t>+</m:t>
                    </m:r>
                    <m:r>
                      <a:rPr lang="en-US" sz="2000" b="1" i="1" smtClean="0">
                        <a:effectLst>
                          <a:outerShdw blurRad="38100" dist="38100" dir="2700000" algn="tl">
                            <a:srgbClr val="000000">
                              <a:alpha val="43137"/>
                            </a:srgbClr>
                          </a:outerShdw>
                        </a:effectLst>
                        <a:latin typeface="Cambria Math" panose="02040503050406030204" pitchFamily="18" charset="0"/>
                      </a:rPr>
                      <m:t>𝟏𝟎𝟎</m:t>
                    </m:r>
                  </m:oMath>
                </a14:m>
                <a:r>
                  <a:rPr lang="en-US" sz="2000" b="1" dirty="0">
                    <a:effectLst>
                      <a:outerShdw blurRad="38100" dist="38100" dir="2700000" algn="tl">
                        <a:srgbClr val="000000">
                          <a:alpha val="43137"/>
                        </a:srgbClr>
                      </a:outerShdw>
                    </a:effectLst>
                  </a:rPr>
                  <a:t> </a:t>
                </a:r>
              </a:p>
            </p:txBody>
          </p:sp>
        </mc:Choice>
        <mc:Fallback xmlns="">
          <p:sp>
            <p:nvSpPr>
              <p:cNvPr id="29" name="TextBox 28">
                <a:extLst>
                  <a:ext uri="{FF2B5EF4-FFF2-40B4-BE49-F238E27FC236}">
                    <a16:creationId xmlns:a16="http://schemas.microsoft.com/office/drawing/2014/main" id="{D6E28151-1244-4644-87DC-59AC1C5B35DE}"/>
                  </a:ext>
                </a:extLst>
              </p:cNvPr>
              <p:cNvSpPr txBox="1">
                <a:spLocks noRot="1" noChangeAspect="1" noMove="1" noResize="1" noEditPoints="1" noAdjustHandles="1" noChangeArrowheads="1" noChangeShapeType="1" noTextEdit="1"/>
              </p:cNvSpPr>
              <p:nvPr/>
            </p:nvSpPr>
            <p:spPr>
              <a:xfrm>
                <a:off x="764091" y="4373016"/>
                <a:ext cx="1626992" cy="582980"/>
              </a:xfrm>
              <a:prstGeom prst="rect">
                <a:avLst/>
              </a:prstGeom>
              <a:blipFill>
                <a:blip r:embed="rId7"/>
                <a:stretch>
                  <a:fillRect/>
                </a:stretch>
              </a:blipFill>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848FB2AE-1336-BF49-874C-D41AE3DCDA46}"/>
              </a:ext>
            </a:extLst>
          </p:cNvPr>
          <p:cNvSpPr txBox="1"/>
          <p:nvPr/>
        </p:nvSpPr>
        <p:spPr>
          <a:xfrm>
            <a:off x="3611937" y="2367810"/>
            <a:ext cx="3010932" cy="307777"/>
          </a:xfrm>
          <a:prstGeom prst="rect">
            <a:avLst/>
          </a:prstGeom>
          <a:solidFill>
            <a:schemeClr val="bg1"/>
          </a:solidFill>
        </p:spPr>
        <p:txBody>
          <a:bodyPr wrap="square" rtlCol="0">
            <a:spAutoFit/>
          </a:bodyPr>
          <a:lstStyle/>
          <a:p>
            <a:r>
              <a:rPr lang="en-US" sz="1400" dirty="0"/>
              <a:t>Wizard’s algorithm</a:t>
            </a:r>
          </a:p>
        </p:txBody>
      </p:sp>
      <mc:AlternateContent xmlns:mc="http://schemas.openxmlformats.org/markup-compatibility/2006" xmlns:a14="http://schemas.microsoft.com/office/drawing/2010/main">
        <mc:Choice Requires="a14">
          <p:sp>
            <p:nvSpPr>
              <p:cNvPr id="13" name="Rectangle 5"/>
              <p:cNvSpPr/>
              <p:nvPr/>
            </p:nvSpPr>
            <p:spPr>
              <a:xfrm>
                <a:off x="6253893" y="4532939"/>
                <a:ext cx="2590302" cy="400110"/>
              </a:xfrm>
              <a:prstGeom prst="rect">
                <a:avLst/>
              </a:prstGeom>
            </p:spPr>
            <p:txBody>
              <a:bodyPr wrap="square">
                <a:spAutoFit/>
              </a:bodyPr>
              <a:lstStyle/>
              <a:p>
                <a:pPr algn="ctr"/>
                <a:r>
                  <a:rPr lang="is-IS" sz="2000" dirty="0">
                    <a:solidFill>
                      <a:schemeClr val="tx1"/>
                    </a:solidFill>
                  </a:rPr>
                  <a:t>T</a:t>
                </a:r>
                <a:r>
                  <a:rPr lang="is-IS" sz="2000" baseline="-25000" dirty="0">
                    <a:solidFill>
                      <a:schemeClr val="tx1"/>
                    </a:solidFill>
                  </a:rPr>
                  <a:t>laptop</a:t>
                </a:r>
                <a:r>
                  <a:rPr lang="is-IS" sz="2000" dirty="0">
                    <a:solidFill>
                      <a:schemeClr val="tx1"/>
                    </a:solidFill>
                  </a:rPr>
                  <a:t>(n) </a:t>
                </a:r>
                <a14:m>
                  <m:oMath xmlns:m="http://schemas.openxmlformats.org/officeDocument/2006/math">
                    <m:r>
                      <a:rPr lang="en-US" sz="2000" b="0" i="1" dirty="0" smtClean="0">
                        <a:solidFill>
                          <a:schemeClr val="tx1"/>
                        </a:solidFill>
                        <a:latin typeface="Cambria Math" panose="02040503050406030204" pitchFamily="18" charset="0"/>
                      </a:rPr>
                      <m:t>≈</m:t>
                    </m:r>
                  </m:oMath>
                </a14:m>
                <a:r>
                  <a:rPr lang="is-IS" sz="2000" dirty="0">
                    <a:solidFill>
                      <a:schemeClr val="tx1"/>
                    </a:solidFill>
                  </a:rPr>
                  <a:t> 0.0063 n</a:t>
                </a:r>
                <a:r>
                  <a:rPr lang="is-IS" sz="2000" baseline="30000" dirty="0">
                    <a:solidFill>
                      <a:schemeClr val="tx1"/>
                    </a:solidFill>
                  </a:rPr>
                  <a:t>2</a:t>
                </a:r>
                <a:endParaRPr lang="en-US" sz="2000" dirty="0">
                  <a:solidFill>
                    <a:schemeClr val="tx1"/>
                  </a:solidFill>
                </a:endParaRPr>
              </a:p>
            </p:txBody>
          </p:sp>
        </mc:Choice>
        <mc:Fallback xmlns="">
          <p:sp>
            <p:nvSpPr>
              <p:cNvPr id="13" name="Rectangle 5"/>
              <p:cNvSpPr>
                <a:spLocks noRot="1" noChangeAspect="1" noMove="1" noResize="1" noEditPoints="1" noAdjustHandles="1" noChangeArrowheads="1" noChangeShapeType="1" noTextEdit="1"/>
              </p:cNvSpPr>
              <p:nvPr/>
            </p:nvSpPr>
            <p:spPr>
              <a:xfrm>
                <a:off x="6253893" y="4532939"/>
                <a:ext cx="2590302" cy="400110"/>
              </a:xfrm>
              <a:prstGeom prst="rect">
                <a:avLst/>
              </a:prstGeom>
              <a:blipFill>
                <a:blip r:embed="rId8"/>
                <a:stretch>
                  <a:fillRect l="-1412" t="-7692" b="-292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0024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4AF66A-90F0-484A-A0D3-124193BB74B5}"/>
              </a:ext>
            </a:extLst>
          </p:cNvPr>
          <p:cNvPicPr>
            <a:picLocks noChangeAspect="1"/>
          </p:cNvPicPr>
          <p:nvPr/>
        </p:nvPicPr>
        <p:blipFill>
          <a:blip r:embed="rId3"/>
          <a:stretch>
            <a:fillRect/>
          </a:stretch>
        </p:blipFill>
        <p:spPr>
          <a:xfrm>
            <a:off x="2655387" y="1535585"/>
            <a:ext cx="6335916" cy="4845743"/>
          </a:xfrm>
          <a:prstGeom prst="rect">
            <a:avLst/>
          </a:prstGeom>
        </p:spPr>
      </p:pic>
      <p:sp>
        <p:nvSpPr>
          <p:cNvPr id="2" name="Title 1"/>
          <p:cNvSpPr>
            <a:spLocks noGrp="1"/>
          </p:cNvSpPr>
          <p:nvPr>
            <p:ph type="title"/>
          </p:nvPr>
        </p:nvSpPr>
        <p:spPr>
          <a:xfrm>
            <a:off x="383817" y="261805"/>
            <a:ext cx="7886700" cy="1325563"/>
          </a:xfrm>
        </p:spPr>
        <p:txBody>
          <a:bodyPr/>
          <a:lstStyle/>
          <a:p>
            <a:r>
              <a:rPr lang="en-US" dirty="0"/>
              <a:t>Let n get bigger</a:t>
            </a:r>
            <a:r>
              <a:rPr lang="mr-IN" dirty="0"/>
              <a:t>…</a:t>
            </a:r>
            <a:endParaRPr lang="en-US" dirty="0"/>
          </a:p>
        </p:txBody>
      </p:sp>
      <p:pic>
        <p:nvPicPr>
          <p:cNvPr id="29" name="Picture 28">
            <a:extLst>
              <a:ext uri="{FF2B5EF4-FFF2-40B4-BE49-F238E27FC236}">
                <a16:creationId xmlns:a16="http://schemas.microsoft.com/office/drawing/2014/main" id="{88227E3C-0099-204E-8A03-74AFAC16F39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188581" y="5028345"/>
            <a:ext cx="1601442" cy="1201082"/>
          </a:xfrm>
          <a:prstGeom prst="rect">
            <a:avLst/>
          </a:prstGeom>
        </p:spPr>
      </p:pic>
      <p:pic>
        <p:nvPicPr>
          <p:cNvPr id="30" name="Picture 29">
            <a:extLst>
              <a:ext uri="{FF2B5EF4-FFF2-40B4-BE49-F238E27FC236}">
                <a16:creationId xmlns:a16="http://schemas.microsoft.com/office/drawing/2014/main" id="{A3775767-2F72-784A-B04A-12BCE40846C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flipH="1">
            <a:off x="902009" y="1847730"/>
            <a:ext cx="924848" cy="1437437"/>
          </a:xfrm>
          <a:prstGeom prst="rect">
            <a:avLst/>
          </a:prstGeom>
        </p:spPr>
      </p:pic>
      <p:pic>
        <p:nvPicPr>
          <p:cNvPr id="31" name="Picture 30">
            <a:extLst>
              <a:ext uri="{FF2B5EF4-FFF2-40B4-BE49-F238E27FC236}">
                <a16:creationId xmlns:a16="http://schemas.microsoft.com/office/drawing/2014/main" id="{17398791-3EA2-AD41-98D4-D8DCF3B02E7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32392" y="3611803"/>
            <a:ext cx="1163339" cy="1172357"/>
          </a:xfrm>
          <a:prstGeom prst="rect">
            <a:avLst/>
          </a:prstGeom>
        </p:spPr>
      </p:pic>
      <p:cxnSp>
        <p:nvCxnSpPr>
          <p:cNvPr id="32" name="Straight Connector 31">
            <a:extLst>
              <a:ext uri="{FF2B5EF4-FFF2-40B4-BE49-F238E27FC236}">
                <a16:creationId xmlns:a16="http://schemas.microsoft.com/office/drawing/2014/main" id="{FCC173C3-E97B-B54A-B500-A99FCA4D5F6F}"/>
              </a:ext>
            </a:extLst>
          </p:cNvPr>
          <p:cNvCxnSpPr>
            <a:cxnSpLocks/>
          </p:cNvCxnSpPr>
          <p:nvPr/>
        </p:nvCxnSpPr>
        <p:spPr>
          <a:xfrm flipH="1" flipV="1">
            <a:off x="1716780" y="2591356"/>
            <a:ext cx="2495002" cy="327966"/>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6236817-A44B-DB47-BB4E-4D26CD26BC95}"/>
              </a:ext>
            </a:extLst>
          </p:cNvPr>
          <p:cNvCxnSpPr>
            <a:cxnSpLocks/>
          </p:cNvCxnSpPr>
          <p:nvPr/>
        </p:nvCxnSpPr>
        <p:spPr>
          <a:xfrm flipH="1" flipV="1">
            <a:off x="1826538" y="4026780"/>
            <a:ext cx="4269462" cy="291851"/>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BEB7367-DE7B-A747-92AA-9D77FD7691D3}"/>
              </a:ext>
            </a:extLst>
          </p:cNvPr>
          <p:cNvCxnSpPr>
            <a:cxnSpLocks/>
          </p:cNvCxnSpPr>
          <p:nvPr/>
        </p:nvCxnSpPr>
        <p:spPr>
          <a:xfrm flipH="1">
            <a:off x="2403567" y="5215910"/>
            <a:ext cx="2431669" cy="25333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01F459A-FBE8-8245-9B8D-0682C199A349}"/>
                  </a:ext>
                </a:extLst>
              </p:cNvPr>
              <p:cNvSpPr txBox="1"/>
              <p:nvPr/>
            </p:nvSpPr>
            <p:spPr>
              <a:xfrm>
                <a:off x="238498" y="5215910"/>
                <a:ext cx="1125935"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m:t>
                      </m:r>
                      <m:r>
                        <a:rPr lang="en-US" sz="2000" b="0" i="1" smtClean="0">
                          <a:latin typeface="Cambria Math" panose="02040503050406030204" pitchFamily="18" charset="0"/>
                        </a:rPr>
                        <m:t>.0063</m:t>
                      </m:r>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𝑛</m:t>
                          </m:r>
                        </m:e>
                        <m:sup>
                          <m:r>
                            <a:rPr lang="en-US" sz="2000" b="0" i="1" smtClean="0">
                              <a:solidFill>
                                <a:srgbClr val="FF0000"/>
                              </a:solidFill>
                              <a:latin typeface="Cambria Math" panose="02040503050406030204" pitchFamily="18" charset="0"/>
                            </a:rPr>
                            <m:t>2</m:t>
                          </m:r>
                        </m:sup>
                      </m:sSup>
                    </m:oMath>
                  </m:oMathPara>
                </a14:m>
                <a:endParaRPr lang="en-US" sz="2000" dirty="0"/>
              </a:p>
            </p:txBody>
          </p:sp>
        </mc:Choice>
        <mc:Fallback xmlns="">
          <p:sp>
            <p:nvSpPr>
              <p:cNvPr id="36" name="TextBox 35">
                <a:extLst>
                  <a:ext uri="{FF2B5EF4-FFF2-40B4-BE49-F238E27FC236}">
                    <a16:creationId xmlns:a16="http://schemas.microsoft.com/office/drawing/2014/main" id="{301F459A-FBE8-8245-9B8D-0682C199A349}"/>
                  </a:ext>
                </a:extLst>
              </p:cNvPr>
              <p:cNvSpPr txBox="1">
                <a:spLocks noRot="1" noChangeAspect="1" noMove="1" noResize="1" noEditPoints="1" noAdjustHandles="1" noChangeArrowheads="1" noChangeShapeType="1" noTextEdit="1"/>
              </p:cNvSpPr>
              <p:nvPr/>
            </p:nvSpPr>
            <p:spPr>
              <a:xfrm>
                <a:off x="238498" y="5215910"/>
                <a:ext cx="1125935" cy="400110"/>
              </a:xfrm>
              <a:prstGeom prst="rect">
                <a:avLst/>
              </a:prstGeom>
              <a:blipFill>
                <a:blip r:embed="rId7"/>
                <a:stretch>
                  <a:fillRect r="-151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7F08179-54A5-F24D-9735-B0679ABDF813}"/>
                  </a:ext>
                </a:extLst>
              </p:cNvPr>
              <p:cNvSpPr txBox="1"/>
              <p:nvPr/>
            </p:nvSpPr>
            <p:spPr>
              <a:xfrm>
                <a:off x="9534" y="3202419"/>
                <a:ext cx="1657697" cy="572721"/>
              </a:xfrm>
              <a:prstGeom prst="rect">
                <a:avLst/>
              </a:prstGeom>
              <a:noFill/>
            </p:spPr>
            <p:txBody>
              <a:bodyPr wrap="square" rtlCol="0">
                <a:spAutoFit/>
              </a:bodyPr>
              <a:lstStyle/>
              <a:p>
                <a14:m>
                  <m:oMath xmlns:m="http://schemas.openxmlformats.org/officeDocument/2006/math">
                    <m:r>
                      <a:rPr lang="en-US" sz="200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solidFill>
                                  <a:srgbClr val="FF0000"/>
                                </a:solidFill>
                                <a:latin typeface="Cambria Math" panose="02040503050406030204" pitchFamily="18" charset="0"/>
                              </a:rPr>
                            </m:ctrlPr>
                          </m:sSupPr>
                          <m:e>
                            <m:r>
                              <a:rPr lang="en-US" sz="2000" b="0" i="1" smtClean="0">
                                <a:solidFill>
                                  <a:srgbClr val="FF0000"/>
                                </a:solidFill>
                                <a:latin typeface="Cambria Math" panose="02040503050406030204" pitchFamily="18" charset="0"/>
                              </a:rPr>
                              <m:t>𝑛</m:t>
                            </m:r>
                          </m:e>
                          <m:sup>
                            <m:r>
                              <a:rPr lang="en-US" sz="2000" b="0" i="1" smtClean="0">
                                <a:solidFill>
                                  <a:srgbClr val="FF0000"/>
                                </a:solidFill>
                                <a:latin typeface="Cambria Math" panose="02040503050406030204" pitchFamily="18" charset="0"/>
                              </a:rPr>
                              <m:t>1.6</m:t>
                            </m:r>
                          </m:sup>
                        </m:sSup>
                      </m:num>
                      <m:den>
                        <m:r>
                          <a:rPr lang="en-US" sz="2000" b="0" i="1" smtClean="0">
                            <a:latin typeface="Cambria Math" panose="02040503050406030204" pitchFamily="18" charset="0"/>
                          </a:rPr>
                          <m:t>10</m:t>
                        </m:r>
                      </m:den>
                    </m:f>
                    <m:r>
                      <a:rPr lang="en-US" sz="2000" b="0" i="1" smtClean="0">
                        <a:latin typeface="Cambria Math" panose="02040503050406030204" pitchFamily="18" charset="0"/>
                      </a:rPr>
                      <m:t>+100</m:t>
                    </m:r>
                  </m:oMath>
                </a14:m>
                <a:r>
                  <a:rPr lang="en-US" sz="2000" dirty="0"/>
                  <a:t> </a:t>
                </a:r>
              </a:p>
            </p:txBody>
          </p:sp>
        </mc:Choice>
        <mc:Fallback xmlns="">
          <p:sp>
            <p:nvSpPr>
              <p:cNvPr id="37" name="TextBox 36">
                <a:extLst>
                  <a:ext uri="{FF2B5EF4-FFF2-40B4-BE49-F238E27FC236}">
                    <a16:creationId xmlns:a16="http://schemas.microsoft.com/office/drawing/2014/main" id="{B7F08179-54A5-F24D-9735-B0679ABDF813}"/>
                  </a:ext>
                </a:extLst>
              </p:cNvPr>
              <p:cNvSpPr txBox="1">
                <a:spLocks noRot="1" noChangeAspect="1" noMove="1" noResize="1" noEditPoints="1" noAdjustHandles="1" noChangeArrowheads="1" noChangeShapeType="1" noTextEdit="1"/>
              </p:cNvSpPr>
              <p:nvPr/>
            </p:nvSpPr>
            <p:spPr>
              <a:xfrm>
                <a:off x="9534" y="3202419"/>
                <a:ext cx="1657697" cy="572721"/>
              </a:xfrm>
              <a:prstGeom prst="rect">
                <a:avLst/>
              </a:prstGeom>
              <a:blipFill>
                <a:blip r:embed="rId8"/>
                <a:stretch>
                  <a:fillRect/>
                </a:stretch>
              </a:blipFill>
            </p:spPr>
            <p:txBody>
              <a:bodyPr/>
              <a:lstStyle/>
              <a:p>
                <a:r>
                  <a:rPr lang="zh-CN" altLang="en-US">
                    <a:noFill/>
                  </a:rPr>
                  <a:t> </a:t>
                </a:r>
              </a:p>
            </p:txBody>
          </p:sp>
        </mc:Fallback>
      </mc:AlternateContent>
      <p:sp>
        <p:nvSpPr>
          <p:cNvPr id="7" name="TextBox 6">
            <a:extLst>
              <a:ext uri="{FF2B5EF4-FFF2-40B4-BE49-F238E27FC236}">
                <a16:creationId xmlns:a16="http://schemas.microsoft.com/office/drawing/2014/main" id="{92511313-95D8-8847-A1D6-F982995EB6EB}"/>
              </a:ext>
            </a:extLst>
          </p:cNvPr>
          <p:cNvSpPr txBox="1"/>
          <p:nvPr/>
        </p:nvSpPr>
        <p:spPr>
          <a:xfrm rot="16200000">
            <a:off x="1810419" y="3197617"/>
            <a:ext cx="1415765" cy="307777"/>
          </a:xfrm>
          <a:prstGeom prst="rect">
            <a:avLst/>
          </a:prstGeom>
          <a:noFill/>
        </p:spPr>
        <p:txBody>
          <a:bodyPr wrap="square" rtlCol="0">
            <a:spAutoFit/>
          </a:bodyPr>
          <a:lstStyle/>
          <a:p>
            <a:r>
              <a:rPr lang="en-US" sz="1400" dirty="0"/>
              <a:t>Time (</a:t>
            </a:r>
            <a:r>
              <a:rPr lang="en-US" sz="1400" dirty="0" err="1"/>
              <a:t>ms</a:t>
            </a:r>
            <a:r>
              <a:rPr lang="en-US" sz="1400" dirty="0"/>
              <a:t>)</a:t>
            </a:r>
          </a:p>
        </p:txBody>
      </p:sp>
      <p:sp>
        <p:nvSpPr>
          <p:cNvPr id="13" name="TextBox 12">
            <a:extLst>
              <a:ext uri="{FF2B5EF4-FFF2-40B4-BE49-F238E27FC236}">
                <a16:creationId xmlns:a16="http://schemas.microsoft.com/office/drawing/2014/main" id="{87915C72-0AA0-4449-8604-91B92D0DDD9B}"/>
              </a:ext>
            </a:extLst>
          </p:cNvPr>
          <p:cNvSpPr txBox="1"/>
          <p:nvPr/>
        </p:nvSpPr>
        <p:spPr>
          <a:xfrm>
            <a:off x="5675868" y="5585242"/>
            <a:ext cx="2762738" cy="307777"/>
          </a:xfrm>
          <a:prstGeom prst="rect">
            <a:avLst/>
          </a:prstGeom>
          <a:solidFill>
            <a:schemeClr val="bg1"/>
          </a:solidFill>
        </p:spPr>
        <p:txBody>
          <a:bodyPr wrap="square" rtlCol="0">
            <a:spAutoFit/>
          </a:bodyPr>
          <a:lstStyle/>
          <a:p>
            <a:r>
              <a:rPr lang="en-US" sz="1400" dirty="0"/>
              <a:t>Wizard’s algorithm</a:t>
            </a:r>
          </a:p>
        </p:txBody>
      </p:sp>
    </p:spTree>
    <p:extLst>
      <p:ext uri="{BB962C8B-B14F-4D97-AF65-F5344CB8AC3E}">
        <p14:creationId xmlns:p14="http://schemas.microsoft.com/office/powerpoint/2010/main" val="4235784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119FB-2F19-1641-B328-665133DE1F7B}"/>
              </a:ext>
            </a:extLst>
          </p:cNvPr>
          <p:cNvSpPr>
            <a:spLocks noGrp="1"/>
          </p:cNvSpPr>
          <p:nvPr>
            <p:ph type="title"/>
          </p:nvPr>
        </p:nvSpPr>
        <p:spPr/>
        <p:txBody>
          <a:bodyPr/>
          <a:lstStyle/>
          <a:p>
            <a:r>
              <a:rPr lang="en-US" altLang="zh-CN" dirty="0"/>
              <a:t>Can we do better?</a:t>
            </a:r>
            <a:endParaRPr lang="en-US" dirty="0"/>
          </a:p>
        </p:txBody>
      </p:sp>
      <p:sp>
        <p:nvSpPr>
          <p:cNvPr id="3" name="Content Placeholder 2">
            <a:extLst>
              <a:ext uri="{FF2B5EF4-FFF2-40B4-BE49-F238E27FC236}">
                <a16:creationId xmlns:a16="http://schemas.microsoft.com/office/drawing/2014/main" id="{3F7B57F7-33A1-9145-88A8-40B9A450F80C}"/>
              </a:ext>
            </a:extLst>
          </p:cNvPr>
          <p:cNvSpPr>
            <a:spLocks noGrp="1"/>
          </p:cNvSpPr>
          <p:nvPr>
            <p:ph idx="1"/>
          </p:nvPr>
        </p:nvSpPr>
        <p:spPr/>
        <p:txBody>
          <a:bodyPr/>
          <a:lstStyle/>
          <a:p>
            <a:pPr>
              <a:lnSpc>
                <a:spcPct val="200000"/>
              </a:lnSpc>
            </a:pPr>
            <a:r>
              <a:rPr lang="en-US" dirty="0"/>
              <a:t>An algorithm that runs in time O(n</a:t>
            </a:r>
            <a:r>
              <a:rPr lang="en-US" baseline="30000" dirty="0"/>
              <a:t>1.6</a:t>
            </a:r>
            <a:r>
              <a:rPr lang="en-US" dirty="0"/>
              <a:t>) is “better” than an algorithm that runs in time O(n</a:t>
            </a:r>
            <a:r>
              <a:rPr lang="en-US" baseline="30000" dirty="0"/>
              <a:t>2</a:t>
            </a:r>
            <a:r>
              <a:rPr lang="en-US" dirty="0"/>
              <a:t>).</a:t>
            </a:r>
          </a:p>
          <a:p>
            <a:endParaRPr lang="en-US" dirty="0"/>
          </a:p>
          <a:p>
            <a:endParaRPr lang="en-US" dirty="0"/>
          </a:p>
          <a:p>
            <a:r>
              <a:rPr lang="en-US" dirty="0"/>
              <a:t>So the question is </a:t>
            </a:r>
            <a:r>
              <a:rPr lang="en-US" altLang="zh-CN" dirty="0">
                <a:solidFill>
                  <a:srgbClr val="FF0000"/>
                </a:solidFill>
              </a:rPr>
              <a:t>Can we do better?</a:t>
            </a:r>
            <a:endParaRPr lang="en-US" dirty="0">
              <a:solidFill>
                <a:srgbClr val="FF0000"/>
              </a:solidFill>
            </a:endParaRPr>
          </a:p>
        </p:txBody>
      </p:sp>
    </p:spTree>
    <p:extLst>
      <p:ext uri="{BB962C8B-B14F-4D97-AF65-F5344CB8AC3E}">
        <p14:creationId xmlns:p14="http://schemas.microsoft.com/office/powerpoint/2010/main" val="43768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FF8FA41-66B6-E84A-463F-DA93D0E38E41}"/>
              </a:ext>
            </a:extLst>
          </p:cNvPr>
          <p:cNvSpPr>
            <a:spLocks noGrp="1" noChangeArrowheads="1"/>
          </p:cNvSpPr>
          <p:nvPr>
            <p:ph type="title"/>
          </p:nvPr>
        </p:nvSpPr>
        <p:spPr>
          <a:xfrm>
            <a:off x="428625" y="571500"/>
            <a:ext cx="8229600" cy="650875"/>
          </a:xfrm>
        </p:spPr>
        <p:txBody>
          <a:bodyPr/>
          <a:lstStyle/>
          <a:p>
            <a:r>
              <a:rPr lang="zh-CN" altLang="en-US" sz="3200" b="1">
                <a:solidFill>
                  <a:srgbClr val="3907F1"/>
                </a:solidFill>
              </a:rPr>
              <a:t>学习要点</a:t>
            </a:r>
            <a:r>
              <a:rPr lang="en-US" altLang="zh-CN" sz="3200" b="1">
                <a:solidFill>
                  <a:srgbClr val="3907F1"/>
                </a:solidFill>
              </a:rPr>
              <a:t>: </a:t>
            </a:r>
            <a:endParaRPr lang="zh-CN" altLang="en-US" sz="3200" b="1">
              <a:solidFill>
                <a:srgbClr val="0000FF"/>
              </a:solidFill>
            </a:endParaRPr>
          </a:p>
        </p:txBody>
      </p:sp>
      <p:sp>
        <p:nvSpPr>
          <p:cNvPr id="18435" name="Rectangle 3">
            <a:extLst>
              <a:ext uri="{FF2B5EF4-FFF2-40B4-BE49-F238E27FC236}">
                <a16:creationId xmlns:a16="http://schemas.microsoft.com/office/drawing/2014/main" id="{09457B0C-A228-C6EC-6ADE-88F972A5090E}"/>
              </a:ext>
            </a:extLst>
          </p:cNvPr>
          <p:cNvSpPr>
            <a:spLocks noGrp="1" noChangeArrowheads="1"/>
          </p:cNvSpPr>
          <p:nvPr>
            <p:ph type="body" idx="1"/>
          </p:nvPr>
        </p:nvSpPr>
        <p:spPr>
          <a:xfrm>
            <a:off x="638175" y="1772816"/>
            <a:ext cx="7810500" cy="4799013"/>
          </a:xfrm>
        </p:spPr>
        <p:txBody>
          <a:bodyPr/>
          <a:lstStyle/>
          <a:p>
            <a:pPr>
              <a:lnSpc>
                <a:spcPct val="150000"/>
              </a:lnSpc>
              <a:buFont typeface="Symbol" panose="05050102010706020507" pitchFamily="18" charset="2"/>
              <a:buChar char="·"/>
            </a:pPr>
            <a:r>
              <a:rPr lang="zh-CN" altLang="en-US" sz="3200" b="1" dirty="0">
                <a:solidFill>
                  <a:srgbClr val="FF0000"/>
                </a:solidFill>
              </a:rPr>
              <a:t>掌握算法的计算复杂性概念</a:t>
            </a:r>
            <a:r>
              <a:rPr lang="zh-CN" altLang="en-US" sz="3200" b="1" dirty="0"/>
              <a:t>。</a:t>
            </a:r>
          </a:p>
          <a:p>
            <a:pPr>
              <a:lnSpc>
                <a:spcPct val="150000"/>
              </a:lnSpc>
              <a:buFont typeface="Symbol" panose="05050102010706020507" pitchFamily="18" charset="2"/>
              <a:buChar char="·"/>
            </a:pPr>
            <a:r>
              <a:rPr lang="zh-CN" altLang="en-US" sz="3200" b="1" dirty="0"/>
              <a:t>掌握算法渐近复杂性的数学表述。</a:t>
            </a:r>
            <a:endParaRPr lang="en-US" altLang="zh-CN" sz="3200" b="1" dirty="0"/>
          </a:p>
          <a:p>
            <a:pPr>
              <a:lnSpc>
                <a:spcPct val="150000"/>
              </a:lnSpc>
              <a:buFont typeface="Symbol" panose="05050102010706020507" pitchFamily="18" charset="2"/>
              <a:buChar char="·"/>
            </a:pPr>
            <a:r>
              <a:rPr lang="zh-CN" altLang="en-US" sz="3200" b="1" dirty="0"/>
              <a:t>掌握算法分析的基本法则。</a:t>
            </a:r>
            <a:endParaRPr lang="en-US" altLang="zh-CN" sz="3200" b="1" dirty="0"/>
          </a:p>
          <a:p>
            <a:pPr>
              <a:lnSpc>
                <a:spcPct val="150000"/>
              </a:lnSpc>
              <a:buFont typeface="Symbol" panose="05050102010706020507" pitchFamily="18" charset="2"/>
              <a:buChar char="·"/>
            </a:pPr>
            <a:r>
              <a:rPr lang="zh-CN" altLang="en-US" sz="3200" b="1" dirty="0"/>
              <a:t>掌握算法分析中常用的复杂函数。</a:t>
            </a:r>
            <a:endParaRPr lang="en-US" altLang="zh-CN" sz="3200" b="1" dirty="0"/>
          </a:p>
          <a:p>
            <a:pPr>
              <a:lnSpc>
                <a:spcPct val="150000"/>
              </a:lnSpc>
              <a:buFont typeface="Symbol" panose="05050102010706020507" pitchFamily="18" charset="2"/>
              <a:buChar char="·"/>
            </a:pPr>
            <a:endParaRPr lang="zh-CN" altLang="en-US" sz="3200" b="1" dirty="0"/>
          </a:p>
        </p:txBody>
      </p:sp>
    </p:spTree>
    <p:extLst>
      <p:ext uri="{BB962C8B-B14F-4D97-AF65-F5344CB8AC3E}">
        <p14:creationId xmlns:p14="http://schemas.microsoft.com/office/powerpoint/2010/main" val="74541714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1381" y="228981"/>
            <a:ext cx="8229600" cy="609600"/>
          </a:xfrm>
          <a:custGeom>
            <a:avLst/>
            <a:gdLst/>
            <a:ahLst/>
            <a:cxnLst/>
            <a:rect l="l" t="t" r="r" b="b"/>
            <a:pathLst>
              <a:path w="8229600" h="609600">
                <a:moveTo>
                  <a:pt x="0" y="609600"/>
                </a:moveTo>
                <a:lnTo>
                  <a:pt x="0" y="0"/>
                </a:lnTo>
                <a:lnTo>
                  <a:pt x="8229600" y="0"/>
                </a:lnTo>
              </a:path>
            </a:pathLst>
          </a:custGeom>
          <a:ln w="19050">
            <a:solidFill>
              <a:srgbClr val="CC9900"/>
            </a:solidFill>
          </a:ln>
        </p:spPr>
        <p:txBody>
          <a:bodyPr wrap="square" lIns="0" tIns="0" rIns="0" bIns="0" rtlCol="0"/>
          <a:lstStyle/>
          <a:p>
            <a:endParaRPr/>
          </a:p>
        </p:txBody>
      </p:sp>
      <p:sp>
        <p:nvSpPr>
          <p:cNvPr id="3" name="object 3"/>
          <p:cNvSpPr txBox="1"/>
          <p:nvPr/>
        </p:nvSpPr>
        <p:spPr>
          <a:xfrm>
            <a:off x="444880" y="445769"/>
            <a:ext cx="8255000" cy="5221942"/>
          </a:xfrm>
          <a:prstGeom prst="rect">
            <a:avLst/>
          </a:prstGeom>
        </p:spPr>
        <p:txBody>
          <a:bodyPr vert="horz" wrap="square" lIns="0" tIns="12700" rIns="0" bIns="0" rtlCol="0">
            <a:spAutoFit/>
          </a:bodyPr>
          <a:lstStyle/>
          <a:p>
            <a:pPr marL="103505">
              <a:lnSpc>
                <a:spcPct val="100000"/>
              </a:lnSpc>
              <a:spcBef>
                <a:spcPts val="100"/>
              </a:spcBef>
            </a:pPr>
            <a:r>
              <a:rPr sz="2800" b="1" spc="-35"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算法复杂性分析</a:t>
            </a:r>
            <a:endParaRPr sz="28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00000"/>
              </a:lnSpc>
              <a:spcBef>
                <a:spcPts val="20"/>
              </a:spcBef>
            </a:pPr>
            <a:endParaRPr sz="3600" dirty="0">
              <a:latin typeface="Times New Roman" panose="02020603050405020304" pitchFamily="18" charset="0"/>
              <a:ea typeface="微软雅黑" panose="020B0503020204020204" pitchFamily="34" charset="-122"/>
              <a:cs typeface="Times New Roman" panose="02020603050405020304" pitchFamily="18" charset="0"/>
            </a:endParaRPr>
          </a:p>
          <a:p>
            <a:pPr marL="560705" indent="-342900">
              <a:lnSpc>
                <a:spcPct val="100000"/>
              </a:lnSpc>
              <a:buClr>
                <a:srgbClr val="CC9900"/>
              </a:buClr>
              <a:buSzPct val="64062"/>
              <a:buFont typeface="Wingdings"/>
              <a:buChar char=""/>
              <a:tabLst>
                <a:tab pos="560705" algn="l"/>
              </a:tabLst>
            </a:pPr>
            <a:r>
              <a:rPr sz="3200" b="1" spc="-140" dirty="0">
                <a:latin typeface="Times New Roman" panose="02020603050405020304" pitchFamily="18" charset="0"/>
                <a:ea typeface="微软雅黑" panose="020B0503020204020204" pitchFamily="34" charset="-122"/>
                <a:cs typeface="Times New Roman" panose="02020603050405020304" pitchFamily="18" charset="0"/>
              </a:rPr>
              <a:t>算法复杂性 </a:t>
            </a:r>
            <a:r>
              <a:rPr sz="3200" b="1" spc="20" dirty="0">
                <a:latin typeface="Times New Roman" panose="02020603050405020304" pitchFamily="18" charset="0"/>
                <a:ea typeface="微软雅黑" panose="020B0503020204020204" pitchFamily="34" charset="-122"/>
                <a:cs typeface="Times New Roman" panose="02020603050405020304" pitchFamily="18" charset="0"/>
              </a:rPr>
              <a:t>= </a:t>
            </a:r>
            <a:r>
              <a:rPr sz="3200" b="1" spc="-45" dirty="0">
                <a:latin typeface="Times New Roman" panose="02020603050405020304" pitchFamily="18" charset="0"/>
                <a:ea typeface="微软雅黑" panose="020B0503020204020204" pitchFamily="34" charset="-122"/>
                <a:cs typeface="Times New Roman" panose="02020603050405020304" pitchFamily="18" charset="0"/>
              </a:rPr>
              <a:t>算法所需要的计算机资源</a:t>
            </a:r>
            <a:endParaRPr sz="3200" dirty="0">
              <a:latin typeface="Times New Roman" panose="02020603050405020304" pitchFamily="18" charset="0"/>
              <a:ea typeface="微软雅黑" panose="020B0503020204020204" pitchFamily="34" charset="-122"/>
              <a:cs typeface="Times New Roman" panose="02020603050405020304" pitchFamily="18" charset="0"/>
            </a:endParaRPr>
          </a:p>
          <a:p>
            <a:pPr marL="560705" indent="-342900">
              <a:lnSpc>
                <a:spcPct val="100000"/>
              </a:lnSpc>
              <a:spcBef>
                <a:spcPts val="2690"/>
              </a:spcBef>
              <a:buClr>
                <a:srgbClr val="CC9900"/>
              </a:buClr>
              <a:buSzPct val="64062"/>
              <a:buFont typeface="Wingdings"/>
              <a:buChar char=""/>
              <a:tabLst>
                <a:tab pos="560705" algn="l"/>
              </a:tabLst>
            </a:pPr>
            <a:r>
              <a:rPr sz="3200" b="1" spc="-40" dirty="0">
                <a:latin typeface="Times New Roman" panose="02020603050405020304" pitchFamily="18" charset="0"/>
                <a:ea typeface="微软雅黑" panose="020B0503020204020204" pitchFamily="34" charset="-122"/>
                <a:cs typeface="Times New Roman" panose="02020603050405020304" pitchFamily="18" charset="0"/>
              </a:rPr>
              <a:t>算法的时间复杂性</a:t>
            </a:r>
            <a:r>
              <a:rPr sz="3200" b="1" i="1" spc="-10" dirty="0">
                <a:latin typeface="Times New Roman" panose="02020603050405020304" pitchFamily="18" charset="0"/>
                <a:ea typeface="微软雅黑" panose="020B0503020204020204" pitchFamily="34" charset="-122"/>
                <a:cs typeface="Times New Roman" panose="02020603050405020304" pitchFamily="18" charset="0"/>
              </a:rPr>
              <a:t>T</a:t>
            </a:r>
            <a:r>
              <a:rPr sz="3200" b="1" spc="-10" dirty="0">
                <a:latin typeface="Times New Roman" panose="02020603050405020304" pitchFamily="18" charset="0"/>
                <a:ea typeface="微软雅黑" panose="020B0503020204020204" pitchFamily="34" charset="-122"/>
                <a:cs typeface="Times New Roman" panose="02020603050405020304" pitchFamily="18" charset="0"/>
              </a:rPr>
              <a:t>(</a:t>
            </a:r>
            <a:r>
              <a:rPr sz="3200" b="1" i="1" spc="-10" dirty="0">
                <a:latin typeface="Times New Roman" panose="02020603050405020304" pitchFamily="18" charset="0"/>
                <a:ea typeface="微软雅黑" panose="020B0503020204020204" pitchFamily="34" charset="-122"/>
                <a:cs typeface="Times New Roman" panose="02020603050405020304" pitchFamily="18" charset="0"/>
              </a:rPr>
              <a:t>n</a:t>
            </a:r>
            <a:r>
              <a:rPr sz="3200" b="1" spc="-10" dirty="0">
                <a:latin typeface="Times New Roman" panose="02020603050405020304" pitchFamily="18" charset="0"/>
                <a:ea typeface="微软雅黑" panose="020B0503020204020204" pitchFamily="34" charset="-122"/>
                <a:cs typeface="Times New Roman" panose="02020603050405020304" pitchFamily="18" charset="0"/>
              </a:rPr>
              <a:t>)；</a:t>
            </a:r>
            <a:endParaRPr sz="3200" dirty="0">
              <a:latin typeface="Times New Roman" panose="02020603050405020304" pitchFamily="18" charset="0"/>
              <a:ea typeface="微软雅黑" panose="020B0503020204020204" pitchFamily="34" charset="-122"/>
              <a:cs typeface="Times New Roman" panose="02020603050405020304" pitchFamily="18" charset="0"/>
            </a:endParaRPr>
          </a:p>
          <a:p>
            <a:pPr marL="560705" indent="-342900">
              <a:lnSpc>
                <a:spcPct val="100000"/>
              </a:lnSpc>
              <a:spcBef>
                <a:spcPts val="2690"/>
              </a:spcBef>
              <a:buClr>
                <a:srgbClr val="CC9900"/>
              </a:buClr>
              <a:buSzPct val="64062"/>
              <a:buFont typeface="Wingdings"/>
              <a:buChar char=""/>
              <a:tabLst>
                <a:tab pos="560705" algn="l"/>
              </a:tabLst>
            </a:pPr>
            <a:r>
              <a:rPr sz="3200" b="1" spc="-40" dirty="0">
                <a:latin typeface="Times New Roman" panose="02020603050405020304" pitchFamily="18" charset="0"/>
                <a:ea typeface="微软雅黑" panose="020B0503020204020204" pitchFamily="34" charset="-122"/>
                <a:cs typeface="Times New Roman" panose="02020603050405020304" pitchFamily="18" charset="0"/>
              </a:rPr>
              <a:t>算法的空间复杂性</a:t>
            </a:r>
            <a:r>
              <a:rPr sz="3200" b="1" i="1" spc="-25" dirty="0">
                <a:latin typeface="Times New Roman" panose="02020603050405020304" pitchFamily="18" charset="0"/>
                <a:ea typeface="微软雅黑" panose="020B0503020204020204" pitchFamily="34" charset="-122"/>
                <a:cs typeface="Times New Roman" panose="02020603050405020304" pitchFamily="18" charset="0"/>
              </a:rPr>
              <a:t>S</a:t>
            </a:r>
            <a:r>
              <a:rPr sz="3200" b="1" spc="-25" dirty="0">
                <a:latin typeface="Times New Roman" panose="02020603050405020304" pitchFamily="18" charset="0"/>
                <a:ea typeface="微软雅黑" panose="020B0503020204020204" pitchFamily="34" charset="-122"/>
                <a:cs typeface="Times New Roman" panose="02020603050405020304" pitchFamily="18" charset="0"/>
              </a:rPr>
              <a:t>(</a:t>
            </a:r>
            <a:r>
              <a:rPr sz="3200" b="1" i="1" spc="-25" dirty="0">
                <a:latin typeface="Times New Roman" panose="02020603050405020304" pitchFamily="18" charset="0"/>
                <a:ea typeface="微软雅黑" panose="020B0503020204020204" pitchFamily="34" charset="-122"/>
                <a:cs typeface="Times New Roman" panose="02020603050405020304" pitchFamily="18" charset="0"/>
              </a:rPr>
              <a:t>n</a:t>
            </a:r>
            <a:r>
              <a:rPr sz="3200" b="1" spc="-25" dirty="0">
                <a:latin typeface="Times New Roman" panose="02020603050405020304" pitchFamily="18" charset="0"/>
                <a:ea typeface="微软雅黑" panose="020B0503020204020204" pitchFamily="34" charset="-122"/>
                <a:cs typeface="Times New Roman" panose="02020603050405020304" pitchFamily="18" charset="0"/>
              </a:rPr>
              <a:t>)</a:t>
            </a:r>
            <a:r>
              <a:rPr sz="3200" b="1" spc="-50" dirty="0">
                <a:latin typeface="Times New Roman" panose="02020603050405020304" pitchFamily="18" charset="0"/>
                <a:ea typeface="微软雅黑" panose="020B0503020204020204" pitchFamily="34" charset="-122"/>
                <a:cs typeface="Times New Roman" panose="02020603050405020304" pitchFamily="18" charset="0"/>
              </a:rPr>
              <a:t>。</a:t>
            </a:r>
            <a:endParaRPr sz="3200" dirty="0">
              <a:latin typeface="Times New Roman" panose="02020603050405020304" pitchFamily="18" charset="0"/>
              <a:ea typeface="微软雅黑" panose="020B0503020204020204" pitchFamily="34" charset="-122"/>
              <a:cs typeface="Times New Roman" panose="02020603050405020304" pitchFamily="18" charset="0"/>
            </a:endParaRPr>
          </a:p>
          <a:p>
            <a:pPr marL="217804">
              <a:lnSpc>
                <a:spcPct val="100000"/>
              </a:lnSpc>
              <a:spcBef>
                <a:spcPts val="2690"/>
              </a:spcBef>
            </a:pPr>
            <a:r>
              <a:rPr sz="3200" b="1" spc="-35" dirty="0">
                <a:latin typeface="Times New Roman" panose="02020603050405020304" pitchFamily="18" charset="0"/>
                <a:ea typeface="微软雅黑" panose="020B0503020204020204" pitchFamily="34" charset="-122"/>
                <a:cs typeface="Times New Roman" panose="02020603050405020304" pitchFamily="18" charset="0"/>
              </a:rPr>
              <a:t>其中</a:t>
            </a:r>
            <a:r>
              <a:rPr sz="3200" b="1" i="1" spc="-25" dirty="0">
                <a:latin typeface="Times New Roman" panose="02020603050405020304" pitchFamily="18" charset="0"/>
                <a:ea typeface="微软雅黑" panose="020B0503020204020204" pitchFamily="34" charset="-122"/>
                <a:cs typeface="Times New Roman" panose="02020603050405020304" pitchFamily="18" charset="0"/>
              </a:rPr>
              <a:t>n</a:t>
            </a:r>
            <a:r>
              <a:rPr sz="3200" b="1" spc="-35" dirty="0">
                <a:latin typeface="Times New Roman" panose="02020603050405020304" pitchFamily="18" charset="0"/>
                <a:ea typeface="微软雅黑" panose="020B0503020204020204" pitchFamily="34" charset="-122"/>
                <a:cs typeface="Times New Roman" panose="02020603050405020304" pitchFamily="18" charset="0"/>
              </a:rPr>
              <a:t>是问题的规模</a:t>
            </a:r>
            <a:r>
              <a:rPr sz="3200" b="1" spc="-25" dirty="0">
                <a:latin typeface="Times New Roman" panose="02020603050405020304" pitchFamily="18" charset="0"/>
                <a:ea typeface="微软雅黑" panose="020B0503020204020204" pitchFamily="34" charset="-122"/>
                <a:cs typeface="Times New Roman" panose="02020603050405020304" pitchFamily="18" charset="0"/>
              </a:rPr>
              <a:t>（</a:t>
            </a:r>
            <a:r>
              <a:rPr sz="3200" b="1" spc="-35" dirty="0">
                <a:latin typeface="Times New Roman" panose="02020603050405020304" pitchFamily="18" charset="0"/>
                <a:ea typeface="微软雅黑" panose="020B0503020204020204" pitchFamily="34" charset="-122"/>
                <a:cs typeface="Times New Roman" panose="02020603050405020304" pitchFamily="18" charset="0"/>
              </a:rPr>
              <a:t>输入大小</a:t>
            </a:r>
            <a:r>
              <a:rPr sz="3200" b="1" spc="-25" dirty="0">
                <a:latin typeface="Times New Roman" panose="02020603050405020304" pitchFamily="18" charset="0"/>
                <a:ea typeface="微软雅黑" panose="020B0503020204020204" pitchFamily="34" charset="-122"/>
                <a:cs typeface="Times New Roman" panose="02020603050405020304" pitchFamily="18" charset="0"/>
              </a:rPr>
              <a:t>）</a:t>
            </a:r>
            <a:r>
              <a:rPr sz="3200" b="1" spc="-50" dirty="0">
                <a:latin typeface="Times New Roman" panose="02020603050405020304" pitchFamily="18" charset="0"/>
                <a:ea typeface="微软雅黑" panose="020B0503020204020204" pitchFamily="34" charset="-122"/>
                <a:cs typeface="Times New Roman" panose="02020603050405020304" pitchFamily="18" charset="0"/>
              </a:rPr>
              <a:t>。</a:t>
            </a:r>
            <a:endParaRPr sz="3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00000"/>
              </a:lnSpc>
              <a:spcBef>
                <a:spcPts val="5"/>
              </a:spcBef>
            </a:pPr>
            <a:endParaRPr sz="3250" dirty="0">
              <a:latin typeface="Times New Roman" panose="02020603050405020304" pitchFamily="18" charset="0"/>
              <a:ea typeface="微软雅黑" panose="020B0503020204020204" pitchFamily="34" charset="-122"/>
              <a:cs typeface="Times New Roman" panose="02020603050405020304" pitchFamily="18" charset="0"/>
            </a:endParaRPr>
          </a:p>
          <a:p>
            <a:pPr marL="12700">
              <a:lnSpc>
                <a:spcPct val="100000"/>
              </a:lnSpc>
              <a:spcBef>
                <a:spcPts val="2710"/>
              </a:spcBef>
              <a:tabLst>
                <a:tab pos="738505" algn="l"/>
                <a:tab pos="8241665" algn="l"/>
              </a:tabLst>
            </a:pPr>
            <a:r>
              <a:rPr sz="2400" dirty="0">
                <a:uFill>
                  <a:solidFill>
                    <a:srgbClr val="CC9900"/>
                  </a:solidFill>
                </a:uFill>
                <a:latin typeface="Times New Roman" panose="02020603050405020304" pitchFamily="18" charset="0"/>
                <a:ea typeface="微软雅黑" panose="020B0503020204020204" pitchFamily="34" charset="-122"/>
                <a:cs typeface="Times New Roman" panose="02020603050405020304" pitchFamily="18" charset="0"/>
              </a:rPr>
              <a:t>		</a:t>
            </a:r>
            <a:endParaRPr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88766" y="4869160"/>
            <a:ext cx="7967228" cy="112857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zh-CN" altLang="en-US" sz="2400" dirty="0">
                <a:uFill>
                  <a:solidFill>
                    <a:srgbClr val="CC9900"/>
                  </a:solidFill>
                </a:uFill>
                <a:latin typeface="Times New Roman"/>
                <a:cs typeface="Times New Roman"/>
              </a:rPr>
              <a:t>当给定问题有多种算法时，</a:t>
            </a:r>
            <a:r>
              <a:rPr lang="zh-CN" altLang="en-US" sz="2400" b="1" dirty="0">
                <a:uFill>
                  <a:solidFill>
                    <a:srgbClr val="CC9900"/>
                  </a:solidFill>
                </a:uFill>
                <a:latin typeface="Times New Roman"/>
                <a:cs typeface="Times New Roman"/>
              </a:rPr>
              <a:t>选择复杂度最低者</a:t>
            </a:r>
            <a:r>
              <a:rPr lang="zh-CN" altLang="en-US" sz="2400" dirty="0">
                <a:uFill>
                  <a:solidFill>
                    <a:srgbClr val="CC9900"/>
                  </a:solidFill>
                </a:uFill>
                <a:latin typeface="Times New Roman"/>
                <a:cs typeface="Times New Roman"/>
              </a:rPr>
              <a:t>是选用算法遵循的一个重要原则。</a:t>
            </a:r>
            <a:endParaRPr lang="zh-CN" altLang="en-US" dirty="0"/>
          </a:p>
        </p:txBody>
      </p:sp>
    </p:spTree>
    <p:extLst>
      <p:ext uri="{BB962C8B-B14F-4D97-AF65-F5344CB8AC3E}">
        <p14:creationId xmlns:p14="http://schemas.microsoft.com/office/powerpoint/2010/main" val="2104872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758ECDA-AB02-8CB3-364A-73D437778779}"/>
              </a:ext>
            </a:extLst>
          </p:cNvPr>
          <p:cNvSpPr>
            <a:spLocks noGrp="1" noChangeArrowheads="1"/>
          </p:cNvSpPr>
          <p:nvPr>
            <p:ph type="title"/>
          </p:nvPr>
        </p:nvSpPr>
        <p:spPr/>
        <p:txBody>
          <a:bodyPr/>
          <a:lstStyle/>
          <a:p>
            <a:r>
              <a:rPr lang="en-US" altLang="zh-CN"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1.2 </a:t>
            </a:r>
            <a:r>
              <a:rPr lang="zh-CN" altLang="en-US"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算法的时间复杂性</a:t>
            </a:r>
          </a:p>
        </p:txBody>
      </p:sp>
      <p:sp>
        <p:nvSpPr>
          <p:cNvPr id="22531" name="Rectangle 3">
            <a:extLst>
              <a:ext uri="{FF2B5EF4-FFF2-40B4-BE49-F238E27FC236}">
                <a16:creationId xmlns:a16="http://schemas.microsoft.com/office/drawing/2014/main" id="{287A850D-CA18-4AC1-07D6-BE1179AF4E8B}"/>
              </a:ext>
            </a:extLst>
          </p:cNvPr>
          <p:cNvSpPr>
            <a:spLocks noGrp="1" noChangeArrowheads="1"/>
          </p:cNvSpPr>
          <p:nvPr>
            <p:ph type="body" idx="1"/>
          </p:nvPr>
        </p:nvSpPr>
        <p:spPr>
          <a:xfrm>
            <a:off x="642938" y="1071563"/>
            <a:ext cx="7772400" cy="4322762"/>
          </a:xfrm>
        </p:spPr>
        <p:txBody>
          <a:bodyPr/>
          <a:lstStyle/>
          <a:p>
            <a:pPr>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3907F1"/>
                </a:solidFill>
                <a:latin typeface="Times New Roman" panose="02020603050405020304" pitchFamily="18" charset="0"/>
                <a:ea typeface="微软雅黑" panose="020B0503020204020204" pitchFamily="34" charset="-122"/>
                <a:cs typeface="Times New Roman" panose="02020603050405020304" pitchFamily="18" charset="0"/>
              </a:rPr>
              <a:t>最坏情况</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下的时间复杂性</a:t>
            </a:r>
          </a:p>
          <a:p>
            <a:pPr>
              <a:lnSpc>
                <a:spcPct val="150000"/>
              </a:lnSpc>
              <a:buFont typeface="Wingdings" panose="05000000000000000000" pitchFamily="2" charset="2"/>
              <a:buNone/>
            </a:pPr>
            <a:r>
              <a:rPr lang="zh-CN" altLang="en-US"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max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max{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 | size(I)=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3907F1"/>
                </a:solidFill>
                <a:latin typeface="Times New Roman" panose="02020603050405020304" pitchFamily="18" charset="0"/>
                <a:ea typeface="微软雅黑" panose="020B0503020204020204" pitchFamily="34" charset="-122"/>
                <a:cs typeface="Times New Roman" panose="02020603050405020304" pitchFamily="18" charset="0"/>
              </a:rPr>
              <a:t>最好情况</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下的时间复杂性</a:t>
            </a:r>
          </a:p>
          <a:p>
            <a:pPr>
              <a:lnSpc>
                <a:spcPct val="150000"/>
              </a:lnSpc>
              <a:buFont typeface="Wingdings" panose="05000000000000000000" pitchFamily="2" charset="2"/>
              <a:buNone/>
            </a:pPr>
            <a:r>
              <a:rPr lang="zh-CN" altLang="en-US"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min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min{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 | size(I)=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3907F1"/>
                </a:solidFill>
                <a:latin typeface="Times New Roman" panose="02020603050405020304" pitchFamily="18" charset="0"/>
                <a:ea typeface="微软雅黑" panose="020B0503020204020204" pitchFamily="34" charset="-122"/>
                <a:cs typeface="Times New Roman" panose="02020603050405020304" pitchFamily="18" charset="0"/>
              </a:rPr>
              <a:t>平均情况</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下的时间复杂性</a:t>
            </a:r>
          </a:p>
          <a:p>
            <a:pPr>
              <a:lnSpc>
                <a:spcPct val="200000"/>
              </a:lnSpc>
              <a:buFont typeface="Wingdings" panose="05000000000000000000" pitchFamily="2" charset="2"/>
              <a:buNone/>
            </a:pPr>
            <a:r>
              <a:rPr lang="zh-CN" altLang="en-US"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err="1">
                <a:latin typeface="Times New Roman" panose="02020603050405020304" pitchFamily="18" charset="0"/>
                <a:ea typeface="微软雅黑" panose="020B0503020204020204" pitchFamily="34" charset="-122"/>
                <a:cs typeface="Times New Roman" panose="02020603050405020304" pitchFamily="18" charset="0"/>
              </a:rPr>
              <a:t>avg</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p>
          <a:p>
            <a:pPr>
              <a:lnSpc>
                <a:spcPct val="200000"/>
              </a:lnSpc>
              <a:buFont typeface="Wingdings" panose="05000000000000000000" pitchFamily="2" charset="2"/>
              <a:buNone/>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是问题的规模为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的实例，</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是实例</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出现的概率。</a:t>
            </a:r>
          </a:p>
        </p:txBody>
      </p:sp>
      <p:sp>
        <p:nvSpPr>
          <p:cNvPr id="22532" name="Rectangle 5">
            <a:extLst>
              <a:ext uri="{FF2B5EF4-FFF2-40B4-BE49-F238E27FC236}">
                <a16:creationId xmlns:a16="http://schemas.microsoft.com/office/drawing/2014/main" id="{D52DFD50-B3DF-C723-13C7-8F941718478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22533" name="Object 2">
            <a:extLst>
              <a:ext uri="{FF2B5EF4-FFF2-40B4-BE49-F238E27FC236}">
                <a16:creationId xmlns:a16="http://schemas.microsoft.com/office/drawing/2014/main" id="{EC708F36-38C5-0EA3-BF85-F092551FC250}"/>
              </a:ext>
            </a:extLst>
          </p:cNvPr>
          <p:cNvGraphicFramePr>
            <a:graphicFrameLocks noChangeAspect="1"/>
          </p:cNvGraphicFramePr>
          <p:nvPr/>
        </p:nvGraphicFramePr>
        <p:xfrm>
          <a:off x="1873250" y="3786188"/>
          <a:ext cx="1697038" cy="630237"/>
        </p:xfrm>
        <a:graphic>
          <a:graphicData uri="http://schemas.openxmlformats.org/presentationml/2006/ole">
            <mc:AlternateContent xmlns:mc="http://schemas.openxmlformats.org/markup-compatibility/2006">
              <mc:Choice xmlns:v="urn:schemas-microsoft-com:vml" Requires="v">
                <p:oleObj spid="_x0000_s1111" name="公式" r:id="rId4" imgW="952087" imgH="355446" progId="Equation.3">
                  <p:embed/>
                </p:oleObj>
              </mc:Choice>
              <mc:Fallback>
                <p:oleObj name="公式" r:id="rId4" imgW="952087" imgH="355446"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3250" y="3786188"/>
                        <a:ext cx="16970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object 9"/>
          <p:cNvSpPr/>
          <p:nvPr/>
        </p:nvSpPr>
        <p:spPr>
          <a:xfrm>
            <a:off x="4976876" y="908303"/>
            <a:ext cx="3367404" cy="633730"/>
          </a:xfrm>
          <a:custGeom>
            <a:avLst/>
            <a:gdLst/>
            <a:ahLst/>
            <a:cxnLst/>
            <a:rect l="l" t="t" r="r" b="b"/>
            <a:pathLst>
              <a:path w="3367404" h="633730">
                <a:moveTo>
                  <a:pt x="27177" y="85217"/>
                </a:moveTo>
                <a:lnTo>
                  <a:pt x="33867" y="52024"/>
                </a:lnTo>
                <a:lnTo>
                  <a:pt x="52117" y="24939"/>
                </a:lnTo>
                <a:lnTo>
                  <a:pt x="79202" y="6689"/>
                </a:lnTo>
                <a:lnTo>
                  <a:pt x="112395" y="0"/>
                </a:lnTo>
                <a:lnTo>
                  <a:pt x="583819" y="0"/>
                </a:lnTo>
                <a:lnTo>
                  <a:pt x="1418716" y="0"/>
                </a:lnTo>
                <a:lnTo>
                  <a:pt x="3281806" y="0"/>
                </a:lnTo>
                <a:lnTo>
                  <a:pt x="3314999" y="6689"/>
                </a:lnTo>
                <a:lnTo>
                  <a:pt x="3342084" y="24939"/>
                </a:lnTo>
                <a:lnTo>
                  <a:pt x="3360334" y="52024"/>
                </a:lnTo>
                <a:lnTo>
                  <a:pt x="3367024" y="85217"/>
                </a:lnTo>
                <a:lnTo>
                  <a:pt x="3367024" y="298323"/>
                </a:lnTo>
                <a:lnTo>
                  <a:pt x="3367024" y="426085"/>
                </a:lnTo>
                <a:lnTo>
                  <a:pt x="3360334" y="459277"/>
                </a:lnTo>
                <a:lnTo>
                  <a:pt x="3342084" y="486362"/>
                </a:lnTo>
                <a:lnTo>
                  <a:pt x="3314999" y="504612"/>
                </a:lnTo>
                <a:lnTo>
                  <a:pt x="3281806" y="511301"/>
                </a:lnTo>
                <a:lnTo>
                  <a:pt x="1418716" y="511301"/>
                </a:lnTo>
                <a:lnTo>
                  <a:pt x="0" y="633476"/>
                </a:lnTo>
                <a:lnTo>
                  <a:pt x="583819" y="511301"/>
                </a:lnTo>
                <a:lnTo>
                  <a:pt x="112395" y="511301"/>
                </a:lnTo>
                <a:lnTo>
                  <a:pt x="79202" y="504612"/>
                </a:lnTo>
                <a:lnTo>
                  <a:pt x="52117" y="486362"/>
                </a:lnTo>
                <a:lnTo>
                  <a:pt x="33867" y="459277"/>
                </a:lnTo>
                <a:lnTo>
                  <a:pt x="27177" y="426085"/>
                </a:lnTo>
                <a:lnTo>
                  <a:pt x="27177" y="298323"/>
                </a:lnTo>
                <a:lnTo>
                  <a:pt x="27177" y="85217"/>
                </a:lnTo>
                <a:close/>
              </a:path>
            </a:pathLst>
          </a:custGeom>
          <a:ln w="28956">
            <a:solidFill>
              <a:srgbClr val="946E00"/>
            </a:solidFill>
          </a:ln>
        </p:spPr>
        <p:txBody>
          <a:bodyPr wrap="square" lIns="0" tIns="0" rIns="0" bIns="0" rtlCol="0"/>
          <a:lstStyle/>
          <a:p>
            <a:endParaRPr/>
          </a:p>
        </p:txBody>
      </p:sp>
      <p:sp>
        <p:nvSpPr>
          <p:cNvPr id="7" name="object 11"/>
          <p:cNvSpPr txBox="1"/>
          <p:nvPr/>
        </p:nvSpPr>
        <p:spPr>
          <a:xfrm>
            <a:off x="2267744" y="5524504"/>
            <a:ext cx="3835400" cy="482600"/>
          </a:xfrm>
          <a:prstGeom prst="rect">
            <a:avLst/>
          </a:prstGeom>
        </p:spPr>
        <p:txBody>
          <a:bodyPr vert="horz" wrap="square" lIns="0" tIns="12700" rIns="0" bIns="0" rtlCol="0">
            <a:spAutoFit/>
          </a:bodyPr>
          <a:lstStyle/>
          <a:p>
            <a:pPr marL="12700">
              <a:lnSpc>
                <a:spcPct val="100000"/>
              </a:lnSpc>
              <a:spcBef>
                <a:spcPts val="100"/>
              </a:spcBef>
            </a:pPr>
            <a:r>
              <a:rPr sz="3000" b="1" spc="-5"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顺序查找算法复杂性？</a:t>
            </a:r>
            <a:endParaRPr sz="3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object 10"/>
          <p:cNvSpPr txBox="1"/>
          <p:nvPr/>
        </p:nvSpPr>
        <p:spPr>
          <a:xfrm>
            <a:off x="5107940" y="955547"/>
            <a:ext cx="2704420" cy="382156"/>
          </a:xfrm>
          <a:prstGeom prst="rect">
            <a:avLst/>
          </a:prstGeom>
        </p:spPr>
        <p:txBody>
          <a:bodyPr vert="horz" wrap="square" lIns="0" tIns="12700" rIns="0" bIns="0" rtlCol="0">
            <a:spAutoFit/>
          </a:bodyPr>
          <a:lstStyle/>
          <a:p>
            <a:pPr marL="12700">
              <a:lnSpc>
                <a:spcPct val="100000"/>
              </a:lnSpc>
              <a:spcBef>
                <a:spcPts val="100"/>
              </a:spcBef>
            </a:pPr>
            <a:r>
              <a:rPr sz="24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400" spc="-10" dirty="0">
                <a:latin typeface="Times New Roman" panose="02020603050405020304" pitchFamily="18" charset="0"/>
                <a:ea typeface="微软雅黑" panose="020B0503020204020204" pitchFamily="34" charset="-122"/>
                <a:cs typeface="Times New Roman" panose="02020603050405020304" pitchFamily="18" charset="0"/>
              </a:rPr>
              <a:t>算法</a:t>
            </a:r>
            <a:r>
              <a:rPr sz="2400" spc="-1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输入</a:t>
            </a:r>
            <a:r>
              <a:rPr lang="en-US" altLang="zh-CN" sz="2400" spc="-1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a:t>
            </a:r>
            <a:r>
              <a:rPr sz="2400" spc="-10"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有关</a:t>
            </a:r>
            <a:endParaRPr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4644008" y="3276087"/>
            <a:ext cx="2501678" cy="40011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20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加权平均时间复杂度</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35AE638-FCCC-129B-CD8C-2F567C601B55}"/>
              </a:ext>
            </a:extLst>
          </p:cNvPr>
          <p:cNvSpPr>
            <a:spLocks noGrp="1" noChangeArrowheads="1"/>
          </p:cNvSpPr>
          <p:nvPr>
            <p:ph type="title"/>
          </p:nvPr>
        </p:nvSpPr>
        <p:spPr/>
        <p:txBody>
          <a:bodyPr/>
          <a:lstStyle/>
          <a:p>
            <a:r>
              <a:rPr lang="zh-CN" altLang="en-US" sz="2800" b="1" dirty="0">
                <a:solidFill>
                  <a:srgbClr val="3907F1"/>
                </a:solidFill>
                <a:latin typeface="微软雅黑" panose="020B0503020204020204" pitchFamily="34" charset="-122"/>
                <a:ea typeface="微软雅黑" panose="020B0503020204020204" pitchFamily="34" charset="-122"/>
              </a:rPr>
              <a:t>算法分析方法</a:t>
            </a:r>
          </a:p>
        </p:txBody>
      </p:sp>
      <p:sp>
        <p:nvSpPr>
          <p:cNvPr id="53251" name="Rectangle 3">
            <a:extLst>
              <a:ext uri="{FF2B5EF4-FFF2-40B4-BE49-F238E27FC236}">
                <a16:creationId xmlns:a16="http://schemas.microsoft.com/office/drawing/2014/main" id="{9D0C8FDB-F459-693F-D2D2-1EE5F65CC691}"/>
              </a:ext>
            </a:extLst>
          </p:cNvPr>
          <p:cNvSpPr>
            <a:spLocks noGrp="1" noChangeArrowheads="1"/>
          </p:cNvSpPr>
          <p:nvPr>
            <p:ph type="body" idx="1"/>
          </p:nvPr>
        </p:nvSpPr>
        <p:spPr>
          <a:xfrm>
            <a:off x="457200" y="1071563"/>
            <a:ext cx="8229600" cy="4530725"/>
          </a:xfrm>
        </p:spPr>
        <p:txBody>
          <a:bodyPr/>
          <a:lstStyle/>
          <a:p>
            <a:pPr>
              <a:lnSpc>
                <a:spcPct val="120000"/>
              </a:lnSpc>
              <a:buFont typeface="Wingdings" panose="05000000000000000000" pitchFamily="2" charset="2"/>
              <a:buNone/>
            </a:pPr>
            <a:r>
              <a:rPr lang="zh-CN" altLang="en-US" sz="2400" b="1" dirty="0">
                <a:solidFill>
                  <a:srgbClr val="3907F1"/>
                </a:solidFill>
                <a:latin typeface="微软雅黑" panose="020B0503020204020204" pitchFamily="34" charset="-122"/>
                <a:ea typeface="微软雅黑" panose="020B0503020204020204" pitchFamily="34" charset="-122"/>
              </a:rPr>
              <a:t>例：顺序搜索算法</a:t>
            </a:r>
          </a:p>
        </p:txBody>
      </p:sp>
      <p:sp>
        <p:nvSpPr>
          <p:cNvPr id="53252" name="AutoShape 4">
            <a:extLst>
              <a:ext uri="{FF2B5EF4-FFF2-40B4-BE49-F238E27FC236}">
                <a16:creationId xmlns:a16="http://schemas.microsoft.com/office/drawing/2014/main" id="{AAC05BA2-5222-BFB9-C9EE-13A0290629B0}"/>
              </a:ext>
            </a:extLst>
          </p:cNvPr>
          <p:cNvSpPr>
            <a:spLocks noChangeArrowheads="1"/>
          </p:cNvSpPr>
          <p:nvPr/>
        </p:nvSpPr>
        <p:spPr bwMode="auto">
          <a:xfrm>
            <a:off x="539552" y="2000250"/>
            <a:ext cx="5113337" cy="3602038"/>
          </a:xfrm>
          <a:prstGeom prst="roundRect">
            <a:avLst>
              <a:gd name="adj" fmla="val 16667"/>
            </a:avLst>
          </a:prstGeom>
          <a:solidFill>
            <a:schemeClr val="bg1"/>
          </a:solidFill>
          <a:ln w="9525">
            <a:solidFill>
              <a:schemeClr val="tx1"/>
            </a:solidFill>
            <a:round/>
            <a:headEnd/>
            <a:tailEnd/>
          </a:ln>
        </p:spPr>
        <p:txBody>
          <a:bodyPr wrap="none" anchor="ct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template&lt;class Type&gt;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int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seqSearch</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(Type *a, </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int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n, Type k)</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for(</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int</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=0; </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&lt;n; </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if (a[</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 k) return </a:t>
            </a:r>
            <a:r>
              <a:rPr kumimoji="1"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     return -1;</a:t>
            </a:r>
          </a:p>
          <a:p>
            <a:pPr eaLnBrk="1" hangingPunct="1">
              <a:lnSpc>
                <a:spcPct val="130000"/>
              </a:lnSpc>
              <a:spcBef>
                <a:spcPct val="20000"/>
              </a:spcBef>
              <a:buClr>
                <a:schemeClr val="accent1"/>
              </a:buClr>
              <a:buSzPct val="65000"/>
              <a:buFont typeface="Wingdings" panose="05000000000000000000" pitchFamily="2" charset="2"/>
              <a:buNone/>
            </a:pPr>
            <a:r>
              <a:rPr kumimoji="1"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2" name="矩形 1"/>
          <p:cNvSpPr/>
          <p:nvPr/>
        </p:nvSpPr>
        <p:spPr>
          <a:xfrm>
            <a:off x="6548820" y="2196784"/>
            <a:ext cx="1495922" cy="584775"/>
          </a:xfrm>
          <a:prstGeom prst="rect">
            <a:avLst/>
          </a:prstGeom>
        </p:spPr>
        <p:txBody>
          <a:bodyPr wrap="none">
            <a:spAutoFit/>
          </a:bodyPr>
          <a:lstStyle/>
          <a:p>
            <a:r>
              <a:rPr lang="en-US" altLang="zh-CN" sz="3200" i="1" dirty="0" err="1">
                <a:latin typeface="微软雅黑" panose="020B0503020204020204" pitchFamily="34" charset="-122"/>
                <a:ea typeface="微软雅黑" panose="020B0503020204020204" pitchFamily="34" charset="-122"/>
              </a:rPr>
              <a:t>T</a:t>
            </a:r>
            <a:r>
              <a:rPr lang="en-US" altLang="zh-CN" sz="3200" baseline="-25000" dirty="0" err="1">
                <a:latin typeface="微软雅黑" panose="020B0503020204020204" pitchFamily="34" charset="-122"/>
                <a:ea typeface="微软雅黑" panose="020B0503020204020204" pitchFamily="34" charset="-122"/>
              </a:rPr>
              <a:t>max</a:t>
            </a:r>
            <a:r>
              <a:rPr lang="en-US" altLang="zh-CN" sz="3200" dirty="0">
                <a:latin typeface="微软雅黑" panose="020B0503020204020204" pitchFamily="34" charset="-122"/>
                <a:ea typeface="微软雅黑" panose="020B0503020204020204" pitchFamily="34" charset="-122"/>
              </a:rPr>
              <a:t>(</a:t>
            </a:r>
            <a:r>
              <a:rPr lang="en-US" altLang="zh-CN" sz="3200" i="1" dirty="0">
                <a:latin typeface="微软雅黑" panose="020B0503020204020204" pitchFamily="34" charset="-122"/>
                <a:ea typeface="微软雅黑" panose="020B0503020204020204" pitchFamily="34" charset="-122"/>
              </a:rPr>
              <a:t>n</a:t>
            </a:r>
            <a:r>
              <a:rPr lang="en-US" altLang="zh-CN" sz="3200"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3" name="矩形 2"/>
          <p:cNvSpPr/>
          <p:nvPr/>
        </p:nvSpPr>
        <p:spPr>
          <a:xfrm>
            <a:off x="6548820" y="3282921"/>
            <a:ext cx="1446230" cy="584775"/>
          </a:xfrm>
          <a:prstGeom prst="rect">
            <a:avLst/>
          </a:prstGeom>
        </p:spPr>
        <p:txBody>
          <a:bodyPr wrap="none">
            <a:spAutoFit/>
          </a:bodyPr>
          <a:lstStyle/>
          <a:p>
            <a:r>
              <a:rPr lang="en-US" altLang="zh-CN" sz="3200" i="1" dirty="0" err="1">
                <a:latin typeface="微软雅黑" panose="020B0503020204020204" pitchFamily="34" charset="-122"/>
                <a:ea typeface="微软雅黑" panose="020B0503020204020204" pitchFamily="34" charset="-122"/>
              </a:rPr>
              <a:t>T</a:t>
            </a:r>
            <a:r>
              <a:rPr lang="en-US" altLang="zh-CN" sz="3200" baseline="-25000" dirty="0" err="1">
                <a:latin typeface="微软雅黑" panose="020B0503020204020204" pitchFamily="34" charset="-122"/>
                <a:ea typeface="微软雅黑" panose="020B0503020204020204" pitchFamily="34" charset="-122"/>
              </a:rPr>
              <a:t>min</a:t>
            </a:r>
            <a:r>
              <a:rPr lang="en-US" altLang="zh-CN" sz="3200" dirty="0">
                <a:latin typeface="微软雅黑" panose="020B0503020204020204" pitchFamily="34" charset="-122"/>
                <a:ea typeface="微软雅黑" panose="020B0503020204020204" pitchFamily="34" charset="-122"/>
              </a:rPr>
              <a:t>(</a:t>
            </a:r>
            <a:r>
              <a:rPr lang="en-US" altLang="zh-CN" sz="3200" i="1" dirty="0">
                <a:latin typeface="微软雅黑" panose="020B0503020204020204" pitchFamily="34" charset="-122"/>
                <a:ea typeface="微软雅黑" panose="020B0503020204020204" pitchFamily="34" charset="-122"/>
              </a:rPr>
              <a:t>n</a:t>
            </a:r>
            <a:r>
              <a:rPr lang="en-US" altLang="zh-CN" sz="3200"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4" name="矩形 3"/>
          <p:cNvSpPr/>
          <p:nvPr/>
        </p:nvSpPr>
        <p:spPr>
          <a:xfrm>
            <a:off x="6516216" y="4506550"/>
            <a:ext cx="1417247" cy="584775"/>
          </a:xfrm>
          <a:prstGeom prst="rect">
            <a:avLst/>
          </a:prstGeom>
        </p:spPr>
        <p:txBody>
          <a:bodyPr wrap="none">
            <a:spAutoFit/>
          </a:bodyPr>
          <a:lstStyle/>
          <a:p>
            <a:r>
              <a:rPr lang="en-US" altLang="zh-CN" sz="3200" i="1" dirty="0" err="1">
                <a:latin typeface="微软雅黑" panose="020B0503020204020204" pitchFamily="34" charset="-122"/>
                <a:ea typeface="微软雅黑" panose="020B0503020204020204" pitchFamily="34" charset="-122"/>
              </a:rPr>
              <a:t>T</a:t>
            </a:r>
            <a:r>
              <a:rPr lang="en-US" altLang="zh-CN" sz="3200" baseline="-25000" dirty="0" err="1">
                <a:latin typeface="微软雅黑" panose="020B0503020204020204" pitchFamily="34" charset="-122"/>
                <a:ea typeface="微软雅黑" panose="020B0503020204020204" pitchFamily="34" charset="-122"/>
              </a:rPr>
              <a:t>avg</a:t>
            </a:r>
            <a:r>
              <a:rPr lang="en-US" altLang="zh-CN" sz="3200" dirty="0">
                <a:latin typeface="微软雅黑" panose="020B0503020204020204" pitchFamily="34" charset="-122"/>
                <a:ea typeface="微软雅黑" panose="020B0503020204020204" pitchFamily="34" charset="-122"/>
              </a:rPr>
              <a:t>(</a:t>
            </a:r>
            <a:r>
              <a:rPr lang="en-US" altLang="zh-CN" sz="3200" i="1" dirty="0">
                <a:latin typeface="微软雅黑" panose="020B0503020204020204" pitchFamily="34" charset="-122"/>
                <a:ea typeface="微软雅黑" panose="020B0503020204020204" pitchFamily="34" charset="-122"/>
              </a:rPr>
              <a:t>n</a:t>
            </a:r>
            <a:r>
              <a:rPr lang="en-US" altLang="zh-CN" sz="3200"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5" name="矩形 4"/>
          <p:cNvSpPr/>
          <p:nvPr/>
        </p:nvSpPr>
        <p:spPr>
          <a:xfrm>
            <a:off x="6481734" y="1152289"/>
            <a:ext cx="2646878" cy="584775"/>
          </a:xfrm>
          <a:prstGeom prst="rect">
            <a:avLst/>
          </a:prstGeom>
        </p:spPr>
        <p:txBody>
          <a:bodyPr wrap="none">
            <a:spAutoFit/>
          </a:bodyPr>
          <a:lstStyle/>
          <a:p>
            <a:r>
              <a:rPr lang="zh-CN" altLang="en-US" sz="3200" dirty="0">
                <a:latin typeface="微软雅黑" panose="020B0503020204020204" pitchFamily="34" charset="-122"/>
                <a:ea typeface="微软雅黑" panose="020B0503020204020204" pitchFamily="34" charset="-122"/>
              </a:rPr>
              <a:t>时间复杂度？</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5945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629A1647-0279-033A-31D3-9151B49796D6}"/>
              </a:ext>
            </a:extLst>
          </p:cNvPr>
          <p:cNvSpPr>
            <a:spLocks noGrp="1" noChangeArrowheads="1"/>
          </p:cNvSpPr>
          <p:nvPr>
            <p:ph type="body" idx="1"/>
          </p:nvPr>
        </p:nvSpPr>
        <p:spPr>
          <a:xfrm>
            <a:off x="323528" y="669321"/>
            <a:ext cx="8390706" cy="3240088"/>
          </a:xfrm>
        </p:spPr>
        <p:txBody>
          <a:bodyPr/>
          <a:lstStyle/>
          <a:p>
            <a:pPr>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max</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max{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 | size(I)=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endPar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aseline="-250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min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min{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 | size(I)=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）在平均情况下，假设：</a:t>
            </a:r>
          </a:p>
          <a:p>
            <a:pPr lvl="1">
              <a:lnSpc>
                <a:spcPct val="150000"/>
              </a:lnSpc>
              <a:buFont typeface="Wingdings" panose="05000000000000000000" pitchFamily="2" charset="2"/>
              <a:buNone/>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搜索成功的概率为</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( 0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1 )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a:p>
            <a:pPr lvl="1">
              <a:lnSpc>
                <a:spcPct val="150000"/>
              </a:lnSpc>
              <a:buFont typeface="Wingdings" panose="05000000000000000000" pitchFamily="2" charset="2"/>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在数组的每个位置</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( 0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&lt; </a:t>
            </a:r>
            <a:r>
              <a:rPr lang="en-US" altLang="zh-CN" sz="2000" i="1" dirty="0">
                <a:latin typeface="Times New Roman" panose="02020603050405020304" pitchFamily="18" charset="0"/>
                <a:ea typeface="微软雅黑" panose="020B0503020204020204" pitchFamily="34" charset="-122"/>
                <a:cs typeface="Times New Roman" panose="02020603050405020304" pitchFamily="18" charset="0"/>
              </a:rPr>
              <a:t>n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搜索成功的概率相同，均为 </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i="1" dirty="0" err="1">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4275" name="Rectangle 5">
            <a:extLst>
              <a:ext uri="{FF2B5EF4-FFF2-40B4-BE49-F238E27FC236}">
                <a16:creationId xmlns:a16="http://schemas.microsoft.com/office/drawing/2014/main" id="{FB24482C-112C-6587-A5DE-30CC34ACFA2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54276" name="Object 2">
            <a:extLst>
              <a:ext uri="{FF2B5EF4-FFF2-40B4-BE49-F238E27FC236}">
                <a16:creationId xmlns:a16="http://schemas.microsoft.com/office/drawing/2014/main" id="{F288BB90-DC5A-8509-37AC-AAD3B8F682F2}"/>
              </a:ext>
            </a:extLst>
          </p:cNvPr>
          <p:cNvGraphicFramePr>
            <a:graphicFrameLocks noChangeAspect="1"/>
          </p:cNvGraphicFramePr>
          <p:nvPr>
            <p:extLst>
              <p:ext uri="{D42A27DB-BD31-4B8C-83A1-F6EECF244321}">
                <p14:modId xmlns:p14="http://schemas.microsoft.com/office/powerpoint/2010/main" val="742830303"/>
              </p:ext>
            </p:extLst>
          </p:nvPr>
        </p:nvGraphicFramePr>
        <p:xfrm>
          <a:off x="1966591" y="3368071"/>
          <a:ext cx="3168650" cy="757238"/>
        </p:xfrm>
        <a:graphic>
          <a:graphicData uri="http://schemas.openxmlformats.org/presentationml/2006/ole">
            <mc:AlternateContent xmlns:mc="http://schemas.openxmlformats.org/markup-compatibility/2006">
              <mc:Choice xmlns:v="urn:schemas-microsoft-com:vml" Requires="v">
                <p:oleObj spid="_x0000_s16587" name="公式" r:id="rId3" imgW="1473200" imgH="355600" progId="Equation.3">
                  <p:embed/>
                </p:oleObj>
              </mc:Choice>
              <mc:Fallback>
                <p:oleObj name="公式" r:id="rId3" imgW="1473200" imgH="355600" progId="Equation.3">
                  <p:embed/>
                  <p:pic>
                    <p:nvPicPr>
                      <p:cNvPr id="54276" name="Object 2">
                        <a:extLst>
                          <a:ext uri="{FF2B5EF4-FFF2-40B4-BE49-F238E27FC236}">
                            <a16:creationId xmlns:a16="http://schemas.microsoft.com/office/drawing/2014/main" id="{F288BB90-DC5A-8509-37AC-AAD3B8F682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6591" y="3368071"/>
                        <a:ext cx="316865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7" name="Rectangle 7">
            <a:extLst>
              <a:ext uri="{FF2B5EF4-FFF2-40B4-BE49-F238E27FC236}">
                <a16:creationId xmlns:a16="http://schemas.microsoft.com/office/drawing/2014/main" id="{19420252-A9CD-1549-045E-15A5B590FCB7}"/>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54278" name="Object 3">
            <a:extLst>
              <a:ext uri="{FF2B5EF4-FFF2-40B4-BE49-F238E27FC236}">
                <a16:creationId xmlns:a16="http://schemas.microsoft.com/office/drawing/2014/main" id="{E6723620-68F8-6E38-455F-B5540E0743AB}"/>
              </a:ext>
            </a:extLst>
          </p:cNvPr>
          <p:cNvGraphicFramePr>
            <a:graphicFrameLocks noChangeAspect="1"/>
          </p:cNvGraphicFramePr>
          <p:nvPr>
            <p:extLst>
              <p:ext uri="{D42A27DB-BD31-4B8C-83A1-F6EECF244321}">
                <p14:modId xmlns:p14="http://schemas.microsoft.com/office/powerpoint/2010/main" val="3776997807"/>
              </p:ext>
            </p:extLst>
          </p:nvPr>
        </p:nvGraphicFramePr>
        <p:xfrm>
          <a:off x="1966591" y="4231671"/>
          <a:ext cx="5688012" cy="865188"/>
        </p:xfrm>
        <a:graphic>
          <a:graphicData uri="http://schemas.openxmlformats.org/presentationml/2006/ole">
            <mc:AlternateContent xmlns:mc="http://schemas.openxmlformats.org/markup-compatibility/2006">
              <mc:Choice xmlns:v="urn:schemas-microsoft-com:vml" Requires="v">
                <p:oleObj spid="_x0000_s16588" name="公式" r:id="rId5" imgW="2819400" imgH="431800" progId="Equation.3">
                  <p:embed/>
                </p:oleObj>
              </mc:Choice>
              <mc:Fallback>
                <p:oleObj name="公式" r:id="rId5" imgW="2819400" imgH="431800" progId="Equation.3">
                  <p:embed/>
                  <p:pic>
                    <p:nvPicPr>
                      <p:cNvPr id="54278" name="Object 3">
                        <a:extLst>
                          <a:ext uri="{FF2B5EF4-FFF2-40B4-BE49-F238E27FC236}">
                            <a16:creationId xmlns:a16="http://schemas.microsoft.com/office/drawing/2014/main" id="{E6723620-68F8-6E38-455F-B5540E0743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6591" y="4231671"/>
                        <a:ext cx="56880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9" name="Rectangle 9">
            <a:extLst>
              <a:ext uri="{FF2B5EF4-FFF2-40B4-BE49-F238E27FC236}">
                <a16:creationId xmlns:a16="http://schemas.microsoft.com/office/drawing/2014/main" id="{8912C142-382C-8ABF-0BA4-011A510C0AED}"/>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accent1"/>
              </a:buClr>
              <a:buSzPct val="65000"/>
              <a:buFont typeface="Wingdings" panose="05000000000000000000" pitchFamily="2" charset="2"/>
              <a:buChar char="n"/>
            </a:pPr>
            <a:endParaRPr lang="zh-CN" altLang="en-US">
              <a:cs typeface="Times New Roman" panose="02020603050405020304" pitchFamily="18" charset="0"/>
            </a:endParaRPr>
          </a:p>
        </p:txBody>
      </p:sp>
      <p:graphicFrame>
        <p:nvGraphicFramePr>
          <p:cNvPr id="54280" name="Object 4">
            <a:extLst>
              <a:ext uri="{FF2B5EF4-FFF2-40B4-BE49-F238E27FC236}">
                <a16:creationId xmlns:a16="http://schemas.microsoft.com/office/drawing/2014/main" id="{57B35C9A-5D87-E0FC-DBC0-69A6089E4599}"/>
              </a:ext>
            </a:extLst>
          </p:cNvPr>
          <p:cNvGraphicFramePr>
            <a:graphicFrameLocks noChangeAspect="1"/>
          </p:cNvGraphicFramePr>
          <p:nvPr>
            <p:extLst>
              <p:ext uri="{D42A27DB-BD31-4B8C-83A1-F6EECF244321}">
                <p14:modId xmlns:p14="http://schemas.microsoft.com/office/powerpoint/2010/main" val="2444291109"/>
              </p:ext>
            </p:extLst>
          </p:nvPr>
        </p:nvGraphicFramePr>
        <p:xfrm>
          <a:off x="1966591" y="5241321"/>
          <a:ext cx="5040312" cy="885825"/>
        </p:xfrm>
        <a:graphic>
          <a:graphicData uri="http://schemas.openxmlformats.org/presentationml/2006/ole">
            <mc:AlternateContent xmlns:mc="http://schemas.openxmlformats.org/markup-compatibility/2006">
              <mc:Choice xmlns:v="urn:schemas-microsoft-com:vml" Requires="v">
                <p:oleObj spid="_x0000_s16589" name="公式" r:id="rId7" imgW="2438400" imgH="431800" progId="Equation.3">
                  <p:embed/>
                </p:oleObj>
              </mc:Choice>
              <mc:Fallback>
                <p:oleObj name="公式" r:id="rId7" imgW="2438400" imgH="431800" progId="Equation.3">
                  <p:embed/>
                  <p:pic>
                    <p:nvPicPr>
                      <p:cNvPr id="54280" name="Object 4">
                        <a:extLst>
                          <a:ext uri="{FF2B5EF4-FFF2-40B4-BE49-F238E27FC236}">
                            <a16:creationId xmlns:a16="http://schemas.microsoft.com/office/drawing/2014/main" id="{57B35C9A-5D87-E0FC-DBC0-69A6089E45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66591" y="5241321"/>
                        <a:ext cx="50403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object 18"/>
          <p:cNvSpPr txBox="1"/>
          <p:nvPr/>
        </p:nvSpPr>
        <p:spPr>
          <a:xfrm>
            <a:off x="672591" y="222503"/>
            <a:ext cx="3454400" cy="482600"/>
          </a:xfrm>
          <a:prstGeom prst="rect">
            <a:avLst/>
          </a:prstGeom>
        </p:spPr>
        <p:txBody>
          <a:bodyPr vert="horz" wrap="square" lIns="0" tIns="12700" rIns="0" bIns="0" rtlCol="0">
            <a:spAutoFit/>
          </a:bodyPr>
          <a:lstStyle/>
          <a:p>
            <a:pPr marL="12700">
              <a:lnSpc>
                <a:spcPct val="100000"/>
              </a:lnSpc>
              <a:spcBef>
                <a:spcPts val="100"/>
              </a:spcBef>
            </a:pPr>
            <a:r>
              <a:rPr sz="3000" b="1"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顺序查找算法复杂性</a:t>
            </a:r>
            <a:endParaRPr sz="3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8891018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27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4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7200" y="1052736"/>
            <a:ext cx="7988300" cy="3716402"/>
          </a:xfrm>
          <a:prstGeom prst="rect">
            <a:avLst/>
          </a:prstGeom>
        </p:spPr>
        <p:txBody>
          <a:bodyPr vert="horz" wrap="square" lIns="0" tIns="121920" rIns="0" bIns="0" rtlCol="0">
            <a:spAutoFit/>
          </a:bodyPr>
          <a:lstStyle/>
          <a:p>
            <a:pPr marL="812165" lvl="1" indent="-342265">
              <a:lnSpc>
                <a:spcPct val="150000"/>
              </a:lnSpc>
              <a:spcBef>
                <a:spcPts val="960"/>
              </a:spcBef>
              <a:buClr>
                <a:srgbClr val="CC9900"/>
              </a:buClr>
              <a:buSzPct val="65000"/>
              <a:buFont typeface="Wingdings"/>
              <a:buChar char=""/>
              <a:tabLst>
                <a:tab pos="354965" algn="l"/>
              </a:tabLst>
            </a:pPr>
            <a:r>
              <a:rPr lang="zh-CN" altLang="en-US" sz="2400" u="sng" dirty="0">
                <a:latin typeface="微软雅黑" panose="020B0503020204020204" pitchFamily="34" charset="-122"/>
                <a:ea typeface="微软雅黑" panose="020B0503020204020204" pitchFamily="34" charset="-122"/>
              </a:rPr>
              <a:t>可操作性最好且最有实际价值的是</a:t>
            </a:r>
            <a:r>
              <a:rPr lang="zh-CN" altLang="en-US" sz="2400" b="1" u="sng" dirty="0">
                <a:solidFill>
                  <a:srgbClr val="3907F1"/>
                </a:solidFill>
                <a:latin typeface="微软雅黑" panose="020B0503020204020204" pitchFamily="34" charset="-122"/>
                <a:ea typeface="微软雅黑" panose="020B0503020204020204" pitchFamily="34" charset="-122"/>
              </a:rPr>
              <a:t>最坏情况</a:t>
            </a:r>
            <a:r>
              <a:rPr lang="zh-CN" altLang="en-US" sz="2400" u="sng" dirty="0">
                <a:latin typeface="微软雅黑" panose="020B0503020204020204" pitchFamily="34" charset="-122"/>
                <a:ea typeface="微软雅黑" panose="020B0503020204020204" pitchFamily="34" charset="-122"/>
              </a:rPr>
              <a:t>下的复杂性</a:t>
            </a:r>
            <a:r>
              <a:rPr sz="2400" u="sng" spc="-5" dirty="0" err="1">
                <a:latin typeface="微软雅黑" panose="020B0503020204020204" pitchFamily="34" charset="-122"/>
                <a:ea typeface="微软雅黑" panose="020B0503020204020204" pitchFamily="34" charset="-122"/>
                <a:cs typeface="宋体"/>
              </a:rPr>
              <a:t>分析</a:t>
            </a:r>
            <a:r>
              <a:rPr lang="en-US" sz="2400" spc="-5" dirty="0">
                <a:latin typeface="微软雅黑" panose="020B0503020204020204" pitchFamily="34" charset="-122"/>
                <a:ea typeface="微软雅黑" panose="020B0503020204020204" pitchFamily="34" charset="-122"/>
                <a:cs typeface="宋体"/>
              </a:rPr>
              <a:t> </a:t>
            </a:r>
            <a:endParaRPr sz="2400" dirty="0">
              <a:latin typeface="微软雅黑" panose="020B0503020204020204" pitchFamily="34" charset="-122"/>
              <a:ea typeface="微软雅黑" panose="020B0503020204020204" pitchFamily="34" charset="-122"/>
              <a:cs typeface="宋体"/>
            </a:endParaRPr>
          </a:p>
          <a:p>
            <a:pPr marL="812800" marR="5080" lvl="1" indent="-342900">
              <a:lnSpc>
                <a:spcPct val="150000"/>
              </a:lnSpc>
              <a:spcBef>
                <a:spcPts val="1100"/>
              </a:spcBef>
              <a:buClr>
                <a:srgbClr val="CC9900"/>
              </a:buClr>
              <a:buSzPct val="65000"/>
              <a:buFont typeface="Wingdings"/>
              <a:buChar char=""/>
              <a:tabLst>
                <a:tab pos="355600" algn="l"/>
              </a:tabLst>
            </a:pPr>
            <a:r>
              <a:rPr lang="zh-CN" altLang="en-US" sz="2400" spc="-5" dirty="0">
                <a:latin typeface="微软雅黑" panose="020B0503020204020204" pitchFamily="34" charset="-122"/>
                <a:ea typeface="微软雅黑" panose="020B0503020204020204" pitchFamily="34" charset="-122"/>
                <a:cs typeface="宋体"/>
              </a:rPr>
              <a:t>如果</a:t>
            </a:r>
            <a:r>
              <a:rPr sz="2400" spc="-5" dirty="0" err="1">
                <a:latin typeface="微软雅黑" panose="020B0503020204020204" pitchFamily="34" charset="-122"/>
                <a:ea typeface="微软雅黑" panose="020B0503020204020204" pitchFamily="34" charset="-122"/>
                <a:cs typeface="宋体"/>
              </a:rPr>
              <a:t>算法的</a:t>
            </a:r>
            <a:r>
              <a:rPr lang="zh-CN" altLang="en-US" sz="2400" b="1" dirty="0">
                <a:solidFill>
                  <a:srgbClr val="3907F1"/>
                </a:solidFill>
                <a:latin typeface="微软雅黑" panose="020B0503020204020204" pitchFamily="34" charset="-122"/>
                <a:ea typeface="微软雅黑" panose="020B0503020204020204" pitchFamily="34" charset="-122"/>
              </a:rPr>
              <a:t>最好情况</a:t>
            </a:r>
            <a:r>
              <a:rPr lang="zh-CN" altLang="en-US" sz="2400" dirty="0">
                <a:latin typeface="微软雅黑" panose="020B0503020204020204" pitchFamily="34" charset="-122"/>
                <a:ea typeface="微软雅黑" panose="020B0503020204020204" pitchFamily="34" charset="-122"/>
              </a:rPr>
              <a:t>下的复杂性</a:t>
            </a:r>
            <a:r>
              <a:rPr sz="2400" spc="-5" dirty="0" err="1">
                <a:latin typeface="微软雅黑" panose="020B0503020204020204" pitchFamily="34" charset="-122"/>
                <a:ea typeface="微软雅黑" panose="020B0503020204020204" pitchFamily="34" charset="-122"/>
                <a:cs typeface="宋体"/>
              </a:rPr>
              <a:t>都无法满足要求，则不需要考</a:t>
            </a:r>
            <a:r>
              <a:rPr sz="2400" spc="-50" dirty="0" err="1">
                <a:latin typeface="微软雅黑" panose="020B0503020204020204" pitchFamily="34" charset="-122"/>
                <a:ea typeface="微软雅黑" panose="020B0503020204020204" pitchFamily="34" charset="-122"/>
                <a:cs typeface="宋体"/>
              </a:rPr>
              <a:t>虑</a:t>
            </a:r>
            <a:endParaRPr sz="2400" dirty="0">
              <a:latin typeface="微软雅黑" panose="020B0503020204020204" pitchFamily="34" charset="-122"/>
              <a:ea typeface="微软雅黑" panose="020B0503020204020204" pitchFamily="34" charset="-122"/>
              <a:cs typeface="宋体"/>
            </a:endParaRPr>
          </a:p>
          <a:p>
            <a:pPr marL="812800" marR="5080" lvl="1" indent="-342900">
              <a:lnSpc>
                <a:spcPct val="150000"/>
              </a:lnSpc>
              <a:spcBef>
                <a:spcPts val="1000"/>
              </a:spcBef>
              <a:buClr>
                <a:srgbClr val="CC9900"/>
              </a:buClr>
              <a:buSzPct val="65000"/>
              <a:buFont typeface="Wingdings"/>
              <a:buChar char=""/>
              <a:tabLst>
                <a:tab pos="355600" algn="l"/>
              </a:tabLst>
            </a:pPr>
            <a:r>
              <a:rPr lang="zh-CN" altLang="en-US" sz="2400" b="1" dirty="0">
                <a:solidFill>
                  <a:srgbClr val="3907F1"/>
                </a:solidFill>
                <a:latin typeface="微软雅黑" panose="020B0503020204020204" pitchFamily="34" charset="-122"/>
                <a:ea typeface="微软雅黑" panose="020B0503020204020204" pitchFamily="34" charset="-122"/>
              </a:rPr>
              <a:t>平均情况</a:t>
            </a:r>
            <a:r>
              <a:rPr lang="zh-CN" altLang="en-US" sz="2400" dirty="0">
                <a:solidFill>
                  <a:schemeClr val="tx1"/>
                </a:solidFill>
                <a:latin typeface="微软雅黑" panose="020B0503020204020204" pitchFamily="34" charset="-122"/>
                <a:ea typeface="微软雅黑" panose="020B0503020204020204" pitchFamily="34" charset="-122"/>
              </a:rPr>
              <a:t>复杂</a:t>
            </a:r>
            <a:r>
              <a:rPr lang="zh-CN" altLang="en-US" sz="2400" dirty="0">
                <a:latin typeface="微软雅黑" panose="020B0503020204020204" pitchFamily="34" charset="-122"/>
                <a:ea typeface="微软雅黑" panose="020B0503020204020204" pitchFamily="34" charset="-122"/>
              </a:rPr>
              <a:t>性</a:t>
            </a:r>
            <a:r>
              <a:rPr lang="zh-CN" altLang="en-US" sz="2400" spc="-5" dirty="0">
                <a:latin typeface="微软雅黑" panose="020B0503020204020204" pitchFamily="34" charset="-122"/>
                <a:ea typeface="微软雅黑" panose="020B0503020204020204" pitchFamily="34" charset="-122"/>
              </a:rPr>
              <a:t>很</a:t>
            </a:r>
            <a:r>
              <a:rPr sz="2400" spc="-5" dirty="0" err="1">
                <a:latin typeface="微软雅黑" panose="020B0503020204020204" pitchFamily="34" charset="-122"/>
                <a:ea typeface="微软雅黑" panose="020B0503020204020204" pitchFamily="34" charset="-122"/>
                <a:cs typeface="宋体"/>
              </a:rPr>
              <a:t>有意义，但是难以计算，需要</a:t>
            </a:r>
            <a:r>
              <a:rPr lang="zh-CN" altLang="en-US" sz="2400" spc="-5" dirty="0">
                <a:latin typeface="微软雅黑" panose="020B0503020204020204" pitchFamily="34" charset="-122"/>
                <a:ea typeface="微软雅黑" panose="020B0503020204020204" pitchFamily="34" charset="-122"/>
                <a:cs typeface="宋体"/>
              </a:rPr>
              <a:t>分析算法在各种</a:t>
            </a:r>
            <a:r>
              <a:rPr sz="2400" spc="-5" dirty="0" err="1">
                <a:latin typeface="微软雅黑" panose="020B0503020204020204" pitchFamily="34" charset="-122"/>
                <a:ea typeface="微软雅黑" panose="020B0503020204020204" pitchFamily="34" charset="-122"/>
                <a:cs typeface="宋体"/>
              </a:rPr>
              <a:t>输</a:t>
            </a:r>
            <a:r>
              <a:rPr sz="2400" spc="-20" dirty="0" err="1">
                <a:latin typeface="微软雅黑" panose="020B0503020204020204" pitchFamily="34" charset="-122"/>
                <a:ea typeface="微软雅黑" panose="020B0503020204020204" pitchFamily="34" charset="-122"/>
                <a:cs typeface="宋体"/>
              </a:rPr>
              <a:t>入</a:t>
            </a:r>
            <a:r>
              <a:rPr lang="zh-CN" altLang="en-US" sz="2400" spc="-20" dirty="0">
                <a:latin typeface="微软雅黑" panose="020B0503020204020204" pitchFamily="34" charset="-122"/>
                <a:ea typeface="微软雅黑" panose="020B0503020204020204" pitchFamily="34" charset="-122"/>
                <a:cs typeface="宋体"/>
              </a:rPr>
              <a:t>上</a:t>
            </a:r>
            <a:r>
              <a:rPr sz="2400" spc="-20" dirty="0" err="1">
                <a:latin typeface="微软雅黑" panose="020B0503020204020204" pitchFamily="34" charset="-122"/>
                <a:ea typeface="微软雅黑" panose="020B0503020204020204" pitchFamily="34" charset="-122"/>
                <a:cs typeface="宋体"/>
              </a:rPr>
              <a:t>的概率分布</a:t>
            </a:r>
            <a:endParaRPr sz="2400" dirty="0">
              <a:latin typeface="微软雅黑" panose="020B0503020204020204" pitchFamily="34" charset="-122"/>
              <a:ea typeface="微软雅黑" panose="020B0503020204020204" pitchFamily="34" charset="-122"/>
              <a:cs typeface="宋体"/>
            </a:endParaRPr>
          </a:p>
        </p:txBody>
      </p:sp>
      <p:sp>
        <p:nvSpPr>
          <p:cNvPr id="3" name="Rectangle 2">
            <a:extLst>
              <a:ext uri="{FF2B5EF4-FFF2-40B4-BE49-F238E27FC236}">
                <a16:creationId xmlns:a16="http://schemas.microsoft.com/office/drawing/2014/main" id="{4758ECDA-AB02-8CB3-364A-73D437778779}"/>
              </a:ext>
            </a:extLst>
          </p:cNvPr>
          <p:cNvSpPr txBox="1">
            <a:spLocks noChangeArrowheads="1"/>
          </p:cNvSpPr>
          <p:nvPr/>
        </p:nvSpPr>
        <p:spPr>
          <a:xfrm>
            <a:off x="457200" y="277813"/>
            <a:ext cx="8229600" cy="1139825"/>
          </a:xfrm>
          <a:prstGeom prst="rect">
            <a:avLst/>
          </a:prstGeom>
        </p:spPr>
        <p:txBody>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r>
              <a:rPr lang="en-US" altLang="zh-CN" sz="2800" b="1" kern="0" dirty="0">
                <a:solidFill>
                  <a:srgbClr val="0000FF"/>
                </a:solidFill>
                <a:latin typeface="微软雅黑" panose="020B0503020204020204" pitchFamily="34" charset="-122"/>
                <a:ea typeface="微软雅黑" panose="020B0503020204020204" pitchFamily="34" charset="-122"/>
              </a:rPr>
              <a:t>1.2 </a:t>
            </a:r>
            <a:r>
              <a:rPr lang="zh-CN" altLang="en-US" sz="2800" b="1" kern="0" dirty="0">
                <a:solidFill>
                  <a:srgbClr val="0000FF"/>
                </a:solidFill>
                <a:latin typeface="微软雅黑" panose="020B0503020204020204" pitchFamily="34" charset="-122"/>
                <a:ea typeface="微软雅黑" panose="020B0503020204020204" pitchFamily="34" charset="-122"/>
              </a:rPr>
              <a:t>算法的时间复杂性</a:t>
            </a:r>
          </a:p>
        </p:txBody>
      </p:sp>
      <p:sp>
        <p:nvSpPr>
          <p:cNvPr id="4" name="矩形 3"/>
          <p:cNvSpPr/>
          <p:nvPr/>
        </p:nvSpPr>
        <p:spPr>
          <a:xfrm>
            <a:off x="1547664" y="5344006"/>
            <a:ext cx="7473900" cy="400110"/>
          </a:xfrm>
          <a:prstGeom prst="rect">
            <a:avLst/>
          </a:prstGeom>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当问题规模逐渐趋向于一个极大数时，算法复杂度？</a:t>
            </a:r>
          </a:p>
        </p:txBody>
      </p:sp>
    </p:spTree>
    <p:extLst>
      <p:ext uri="{BB962C8B-B14F-4D97-AF65-F5344CB8AC3E}">
        <p14:creationId xmlns:p14="http://schemas.microsoft.com/office/powerpoint/2010/main" val="36475521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FF8FA41-66B6-E84A-463F-DA93D0E38E41}"/>
              </a:ext>
            </a:extLst>
          </p:cNvPr>
          <p:cNvSpPr>
            <a:spLocks noGrp="1" noChangeArrowheads="1"/>
          </p:cNvSpPr>
          <p:nvPr>
            <p:ph type="title"/>
          </p:nvPr>
        </p:nvSpPr>
        <p:spPr>
          <a:xfrm>
            <a:off x="428625" y="571500"/>
            <a:ext cx="8229600" cy="650875"/>
          </a:xfrm>
        </p:spPr>
        <p:txBody>
          <a:bodyPr/>
          <a:lstStyle/>
          <a:p>
            <a:r>
              <a:rPr lang="zh-CN" altLang="en-US" sz="3200" b="1" dirty="0">
                <a:solidFill>
                  <a:srgbClr val="3907F1"/>
                </a:solidFill>
                <a:latin typeface="微软雅黑" panose="020B0503020204020204" pitchFamily="34" charset="-122"/>
                <a:ea typeface="微软雅黑" panose="020B0503020204020204" pitchFamily="34" charset="-122"/>
              </a:rPr>
              <a:t>学习要点</a:t>
            </a:r>
            <a:r>
              <a:rPr lang="en-US" altLang="zh-CN" sz="3200" b="1" dirty="0">
                <a:solidFill>
                  <a:srgbClr val="3907F1"/>
                </a:solidFill>
                <a:latin typeface="微软雅黑" panose="020B0503020204020204" pitchFamily="34" charset="-122"/>
                <a:ea typeface="微软雅黑" panose="020B0503020204020204" pitchFamily="34" charset="-122"/>
              </a:rPr>
              <a:t>: </a:t>
            </a:r>
            <a:endParaRPr lang="zh-CN" altLang="en-US" sz="3200" b="1" dirty="0">
              <a:solidFill>
                <a:srgbClr val="0000FF"/>
              </a:solidFill>
              <a:latin typeface="微软雅黑" panose="020B0503020204020204" pitchFamily="34" charset="-122"/>
              <a:ea typeface="微软雅黑" panose="020B0503020204020204" pitchFamily="34" charset="-122"/>
            </a:endParaRPr>
          </a:p>
        </p:txBody>
      </p:sp>
      <p:sp>
        <p:nvSpPr>
          <p:cNvPr id="18435" name="Rectangle 3">
            <a:extLst>
              <a:ext uri="{FF2B5EF4-FFF2-40B4-BE49-F238E27FC236}">
                <a16:creationId xmlns:a16="http://schemas.microsoft.com/office/drawing/2014/main" id="{09457B0C-A228-C6EC-6ADE-88F972A5090E}"/>
              </a:ext>
            </a:extLst>
          </p:cNvPr>
          <p:cNvSpPr>
            <a:spLocks noGrp="1" noChangeArrowheads="1"/>
          </p:cNvSpPr>
          <p:nvPr>
            <p:ph type="body" idx="1"/>
          </p:nvPr>
        </p:nvSpPr>
        <p:spPr>
          <a:xfrm>
            <a:off x="638175" y="1772816"/>
            <a:ext cx="7810500" cy="4799013"/>
          </a:xfrm>
        </p:spPr>
        <p:txBody>
          <a:bodyPr/>
          <a:lstStyle/>
          <a:p>
            <a:pPr>
              <a:lnSpc>
                <a:spcPct val="150000"/>
              </a:lnSpc>
              <a:buFont typeface="Symbol" panose="05050102010706020507" pitchFamily="18" charset="2"/>
              <a:buChar char="·"/>
            </a:pPr>
            <a:r>
              <a:rPr lang="zh-CN" altLang="en-US" sz="3200" b="1" dirty="0">
                <a:latin typeface="微软雅黑" panose="020B0503020204020204" pitchFamily="34" charset="-122"/>
                <a:ea typeface="微软雅黑" panose="020B0503020204020204" pitchFamily="34" charset="-122"/>
              </a:rPr>
              <a:t>掌握算法的计算复杂性概念。</a:t>
            </a:r>
          </a:p>
          <a:p>
            <a:pPr>
              <a:lnSpc>
                <a:spcPct val="150000"/>
              </a:lnSpc>
              <a:buFont typeface="Symbol" panose="05050102010706020507" pitchFamily="18" charset="2"/>
              <a:buChar char="·"/>
            </a:pPr>
            <a:r>
              <a:rPr lang="zh-CN" altLang="en-US" sz="3200" b="1" dirty="0">
                <a:latin typeface="微软雅黑" panose="020B0503020204020204" pitchFamily="34" charset="-122"/>
                <a:ea typeface="微软雅黑" panose="020B0503020204020204" pitchFamily="34" charset="-122"/>
              </a:rPr>
              <a:t>掌握</a:t>
            </a:r>
            <a:r>
              <a:rPr lang="zh-CN" altLang="en-US" sz="3200" b="1" dirty="0">
                <a:solidFill>
                  <a:srgbClr val="FF0000"/>
                </a:solidFill>
                <a:latin typeface="微软雅黑" panose="020B0503020204020204" pitchFamily="34" charset="-122"/>
                <a:ea typeface="微软雅黑" panose="020B0503020204020204" pitchFamily="34" charset="-122"/>
              </a:rPr>
              <a:t>算法渐近复杂性的数学表述</a:t>
            </a:r>
            <a:r>
              <a:rPr lang="zh-CN" altLang="en-US" sz="3200" b="1" dirty="0">
                <a:latin typeface="微软雅黑" panose="020B0503020204020204" pitchFamily="34" charset="-122"/>
                <a:ea typeface="微软雅黑" panose="020B0503020204020204" pitchFamily="34" charset="-122"/>
              </a:rPr>
              <a:t>。</a:t>
            </a:r>
            <a:endParaRPr lang="en-US" altLang="zh-CN" sz="3200" b="1" dirty="0">
              <a:latin typeface="微软雅黑" panose="020B0503020204020204" pitchFamily="34" charset="-122"/>
              <a:ea typeface="微软雅黑" panose="020B0503020204020204" pitchFamily="34" charset="-122"/>
            </a:endParaRPr>
          </a:p>
          <a:p>
            <a:pPr>
              <a:lnSpc>
                <a:spcPct val="150000"/>
              </a:lnSpc>
              <a:buFont typeface="Symbol" panose="05050102010706020507" pitchFamily="18" charset="2"/>
              <a:buChar char="·"/>
            </a:pPr>
            <a:r>
              <a:rPr lang="zh-CN" altLang="en-US" sz="3200" b="1" dirty="0">
                <a:latin typeface="微软雅黑" panose="020B0503020204020204" pitchFamily="34" charset="-122"/>
                <a:ea typeface="微软雅黑" panose="020B0503020204020204" pitchFamily="34" charset="-122"/>
              </a:rPr>
              <a:t>掌握算法分析的基本法则。</a:t>
            </a:r>
            <a:endParaRPr lang="en-US" altLang="zh-CN" sz="3200" b="1" dirty="0">
              <a:latin typeface="微软雅黑" panose="020B0503020204020204" pitchFamily="34" charset="-122"/>
              <a:ea typeface="微软雅黑" panose="020B0503020204020204" pitchFamily="34" charset="-122"/>
            </a:endParaRPr>
          </a:p>
          <a:p>
            <a:pPr>
              <a:lnSpc>
                <a:spcPct val="150000"/>
              </a:lnSpc>
              <a:buFont typeface="Symbol" panose="05050102010706020507" pitchFamily="18" charset="2"/>
              <a:buChar char="·"/>
            </a:pPr>
            <a:r>
              <a:rPr lang="zh-CN" altLang="en-US" sz="3200" b="1" dirty="0">
                <a:latin typeface="微软雅黑" panose="020B0503020204020204" pitchFamily="34" charset="-122"/>
                <a:ea typeface="微软雅黑" panose="020B0503020204020204" pitchFamily="34" charset="-122"/>
              </a:rPr>
              <a:t>掌握算法分析中常用的复杂函数。</a:t>
            </a:r>
            <a:endParaRPr lang="en-US" altLang="zh-CN" sz="3200" b="1" dirty="0">
              <a:latin typeface="微软雅黑" panose="020B0503020204020204" pitchFamily="34" charset="-122"/>
              <a:ea typeface="微软雅黑" panose="020B0503020204020204" pitchFamily="34" charset="-122"/>
            </a:endParaRPr>
          </a:p>
          <a:p>
            <a:pPr>
              <a:lnSpc>
                <a:spcPct val="150000"/>
              </a:lnSpc>
              <a:buFont typeface="Symbol" panose="05050102010706020507" pitchFamily="18" charset="2"/>
              <a:buChar char="·"/>
            </a:pP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662515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a:extLst>
              <a:ext uri="{FF2B5EF4-FFF2-40B4-BE49-F238E27FC236}">
                <a16:creationId xmlns:a16="http://schemas.microsoft.com/office/drawing/2014/main" id="{A23B0BAF-694B-844C-9B1E-218B043F63AA}"/>
              </a:ext>
            </a:extLst>
          </p:cNvPr>
          <p:cNvSpPr>
            <a:spLocks noGrp="1" noChangeArrowheads="1"/>
          </p:cNvSpPr>
          <p:nvPr>
            <p:ph type="body" idx="1"/>
          </p:nvPr>
        </p:nvSpPr>
        <p:spPr>
          <a:xfrm>
            <a:off x="539552" y="476672"/>
            <a:ext cx="8031807" cy="4464050"/>
          </a:xfrm>
        </p:spPr>
        <p:txBody>
          <a:bodyPr/>
          <a:lstStyle/>
          <a:p>
            <a:pPr marL="0" indent="0">
              <a:lnSpc>
                <a:spcPct val="150000"/>
              </a:lnSpc>
              <a:buNone/>
              <a:defRPr/>
            </a:pPr>
            <a:r>
              <a:rPr lang="zh-CN" altLang="en-US" sz="2400" b="1" dirty="0">
                <a:solidFill>
                  <a:srgbClr val="0000FF"/>
                </a:solidFill>
              </a:rPr>
              <a:t>算法渐近</a:t>
            </a:r>
            <a:r>
              <a:rPr lang="zh-CN" altLang="en-US" sz="24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复杂性</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的定义：</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是算法</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的复杂性函数，当</a:t>
            </a:r>
            <a:r>
              <a:rPr lang="en-US" altLang="zh-CN" sz="2400" i="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时，</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defRPr/>
            </a:pPr>
            <a:r>
              <a:rPr lang="zh-CN" altLang="en-US" sz="2400" u="sng" dirty="0">
                <a:latin typeface="Times New Roman" panose="02020603050405020304" pitchFamily="18" charset="0"/>
                <a:ea typeface="微软雅黑" panose="020B0503020204020204" pitchFamily="34" charset="-122"/>
                <a:cs typeface="Times New Roman" panose="02020603050405020304" pitchFamily="18" charset="0"/>
              </a:rPr>
              <a:t>如果存在</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u="sng" dirty="0">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sz="2400" i="1"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u="sng" dirty="0">
                <a:latin typeface="Times New Roman" panose="02020603050405020304" pitchFamily="18" charset="0"/>
                <a:ea typeface="微软雅黑" panose="020B0503020204020204" pitchFamily="34" charset="-122"/>
                <a:cs typeface="Times New Roman" panose="02020603050405020304" pitchFamily="18" charset="0"/>
              </a:rPr>
              <a:t>时，使得</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u="sng"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0</a:t>
            </a:r>
            <a:r>
              <a:rPr lang="en-US" altLang="zh-CN" sz="2400" u="sng"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，称</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的渐近性态</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为算法</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的渐近复杂性</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nSpc>
                <a:spcPct val="150000"/>
              </a:lnSpc>
              <a:buNone/>
              <a:defRPr/>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defRP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在数学上，</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的渐近表达式，通常是</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略去低阶项后留下的主项</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。它比</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简单。</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50000"/>
              </a:lnSpc>
              <a:defRPr/>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T(n)=3n</a:t>
            </a:r>
            <a:r>
              <a:rPr lang="en-US" altLang="zh-CN" sz="2000" baseline="30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+4n+7</a:t>
            </a:r>
          </a:p>
          <a:p>
            <a:pPr lvl="1">
              <a:lnSpc>
                <a:spcPct val="150000"/>
              </a:lnSpc>
              <a:defRPr/>
            </a:pPr>
            <a:r>
              <a:rPr lang="en-US"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t(n)=3n</a:t>
            </a:r>
            <a:r>
              <a:rPr lang="en-US" altLang="zh-CN" sz="20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76B6657-832A-62A0-1D7F-770579B3700F}"/>
              </a:ext>
            </a:extLst>
          </p:cNvPr>
          <p:cNvSpPr>
            <a:spLocks noGrp="1" noChangeArrowheads="1"/>
          </p:cNvSpPr>
          <p:nvPr>
            <p:ph type="title"/>
          </p:nvPr>
        </p:nvSpPr>
        <p:spPr>
          <a:xfrm>
            <a:off x="457200" y="476250"/>
            <a:ext cx="8229600" cy="941388"/>
          </a:xfrm>
        </p:spPr>
        <p:txBody>
          <a:bodyPr/>
          <a:lstStyle/>
          <a:p>
            <a:r>
              <a:rPr lang="zh-CN" altLang="en-US" sz="28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渐近分析的记号 </a:t>
            </a:r>
            <a:r>
              <a:rPr lang="en-US" altLang="zh-CN" sz="28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8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dirty="0">
                <a:solidFill>
                  <a:srgbClr val="3907F1"/>
                </a:solidFill>
                <a:sym typeface="Symbol" panose="05050102010706020507" pitchFamily="18" charset="2"/>
              </a:rPr>
              <a:t></a:t>
            </a:r>
            <a:r>
              <a:rPr lang="en-US" altLang="zh-CN" sz="28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800" b="1" dirty="0">
                <a:solidFill>
                  <a:srgbClr val="3907F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800" b="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  o  </a:t>
            </a:r>
            <a:r>
              <a:rPr lang="en-US" altLang="zh-CN" sz="2800" b="1" i="1" dirty="0">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w</a:t>
            </a:r>
            <a:endParaRPr lang="zh-CN" altLang="en-US" sz="28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579" name="Rectangle 3">
            <a:extLst>
              <a:ext uri="{FF2B5EF4-FFF2-40B4-BE49-F238E27FC236}">
                <a16:creationId xmlns:a16="http://schemas.microsoft.com/office/drawing/2014/main" id="{C69B2C1E-DEA7-BBE1-1AF4-CE5AAAB9AC72}"/>
              </a:ext>
            </a:extLst>
          </p:cNvPr>
          <p:cNvSpPr>
            <a:spLocks noGrp="1" noChangeArrowheads="1"/>
          </p:cNvSpPr>
          <p:nvPr>
            <p:ph type="body" idx="1"/>
          </p:nvPr>
        </p:nvSpPr>
        <p:spPr>
          <a:xfrm>
            <a:off x="611188" y="977900"/>
            <a:ext cx="8250990" cy="4327525"/>
          </a:xfrm>
        </p:spPr>
        <p:txBody>
          <a:bodyPr/>
          <a:lstStyle/>
          <a:p>
            <a:pPr>
              <a:lnSpc>
                <a:spcPct val="150000"/>
              </a:lnSpc>
              <a:buFont typeface="Wingdings" panose="05000000000000000000" pitchFamily="2" charset="2"/>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在下面的讨论中，对所有</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，函数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buFont typeface="Wingdings" panose="05000000000000000000" pitchFamily="2" charset="2"/>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a:solidFill>
                  <a:srgbClr val="3907F1"/>
                </a:solidFill>
                <a:latin typeface="Times New Roman" panose="02020603050405020304" pitchFamily="18" charset="0"/>
                <a:ea typeface="微软雅黑" panose="020B0503020204020204" pitchFamily="34" charset="-122"/>
                <a:cs typeface="Times New Roman" panose="02020603050405020304" pitchFamily="18" charset="0"/>
              </a:rPr>
              <a:t>渐近上界 </a:t>
            </a:r>
            <a:r>
              <a:rPr lang="en-US" altLang="zh-CN" sz="2400" b="1" dirty="0">
                <a:solidFill>
                  <a:srgbClr val="3907F1"/>
                </a:solidFill>
                <a:latin typeface="Times New Roman" panose="02020603050405020304" pitchFamily="18" charset="0"/>
                <a:ea typeface="微软雅黑" panose="020B0503020204020204" pitchFamily="34" charset="-122"/>
                <a:cs typeface="Times New Roman" panose="02020603050405020304" pitchFamily="18" charset="0"/>
              </a:rPr>
              <a:t>O</a:t>
            </a:r>
          </a:p>
          <a:p>
            <a:pPr>
              <a:lnSpc>
                <a:spcPct val="150000"/>
              </a:lnSpc>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存在正常数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，使得</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对所有</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有：</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cg</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，称</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400" b="1" dirty="0">
                <a:solidFill>
                  <a:srgbClr val="3907F1"/>
                </a:solidFill>
                <a:latin typeface="Times New Roman" panose="02020603050405020304" pitchFamily="18" charset="0"/>
                <a:ea typeface="微软雅黑" panose="020B0503020204020204" pitchFamily="34" charset="-122"/>
                <a:cs typeface="Times New Roman" panose="02020603050405020304" pitchFamily="18" charset="0"/>
              </a:rPr>
              <a:t>渐近上界</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记作</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24580" name="Picture 8" descr="graph_O">
            <a:extLst>
              <a:ext uri="{FF2B5EF4-FFF2-40B4-BE49-F238E27FC236}">
                <a16:creationId xmlns:a16="http://schemas.microsoft.com/office/drawing/2014/main" id="{C769E234-AFA6-035E-D5BD-AFC34372C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8916" y="3429000"/>
            <a:ext cx="32432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12226B2-F25B-BB18-5894-D888EDEDBB96}"/>
              </a:ext>
            </a:extLst>
          </p:cNvPr>
          <p:cNvSpPr/>
          <p:nvPr/>
        </p:nvSpPr>
        <p:spPr>
          <a:xfrm>
            <a:off x="1048515" y="3709155"/>
            <a:ext cx="1975221" cy="584775"/>
          </a:xfrm>
          <a:prstGeom prst="rect">
            <a:avLst/>
          </a:prstGeom>
        </p:spPr>
        <p:txBody>
          <a:bodyPr wrap="none">
            <a:spAutoFit/>
          </a:bodyPr>
          <a:lstStyle/>
          <a:p>
            <a:pPr eaLnBrk="1" fontAlgn="auto" hangingPunct="1">
              <a:spcBef>
                <a:spcPts val="0"/>
              </a:spcBef>
              <a:spcAft>
                <a:spcPts val="0"/>
              </a:spcAft>
              <a:defRPr/>
            </a:pP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3200" kern="0" baseline="3000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3200" kern="0" baseline="3000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4</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800" kern="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a:extLst>
              <a:ext uri="{FF2B5EF4-FFF2-40B4-BE49-F238E27FC236}">
                <a16:creationId xmlns:a16="http://schemas.microsoft.com/office/drawing/2014/main" id="{66A5C84A-591C-EA6B-4C0B-CE6FF1962EFB}"/>
              </a:ext>
            </a:extLst>
          </p:cNvPr>
          <p:cNvSpPr/>
          <p:nvPr/>
        </p:nvSpPr>
        <p:spPr>
          <a:xfrm>
            <a:off x="971600" y="4581128"/>
            <a:ext cx="2685351" cy="584775"/>
          </a:xfrm>
          <a:prstGeom prst="rect">
            <a:avLst/>
          </a:prstGeom>
        </p:spPr>
        <p:txBody>
          <a:bodyPr wrap="none">
            <a:spAutoFit/>
          </a:bodyPr>
          <a:lstStyle/>
          <a:p>
            <a:pPr eaLnBrk="1" fontAlgn="auto" hangingPunct="1">
              <a:spcBef>
                <a:spcPts val="0"/>
              </a:spcBef>
              <a:spcAft>
                <a:spcPts val="0"/>
              </a:spcAft>
              <a:defRPr/>
            </a:pP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2n</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3200" kern="0" baseline="3000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800" kern="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419872" y="4699521"/>
            <a:ext cx="1338828" cy="369332"/>
          </a:xfrm>
          <a:prstGeom prst="rect">
            <a:avLst/>
          </a:prstGeom>
        </p:spPr>
        <p:txBody>
          <a:bodyPr wrap="none">
            <a:spAutoFit/>
          </a:bodyPr>
          <a:lstStyle/>
          <a:p>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松散的界限</a:t>
            </a:r>
          </a:p>
        </p:txBody>
      </p:sp>
      <p:sp>
        <p:nvSpPr>
          <p:cNvPr id="9" name="矩形 8">
            <a:extLst>
              <a:ext uri="{FF2B5EF4-FFF2-40B4-BE49-F238E27FC236}">
                <a16:creationId xmlns:a16="http://schemas.microsoft.com/office/drawing/2014/main" id="{66A5C84A-591C-EA6B-4C0B-CE6FF1962EFB}"/>
              </a:ext>
            </a:extLst>
          </p:cNvPr>
          <p:cNvSpPr/>
          <p:nvPr/>
        </p:nvSpPr>
        <p:spPr>
          <a:xfrm>
            <a:off x="971600" y="5305425"/>
            <a:ext cx="2549096" cy="584775"/>
          </a:xfrm>
          <a:prstGeom prst="rect">
            <a:avLst/>
          </a:prstGeom>
        </p:spPr>
        <p:txBody>
          <a:bodyPr wrap="none">
            <a:spAutoFit/>
          </a:bodyPr>
          <a:lstStyle/>
          <a:p>
            <a:pPr eaLnBrk="1" fontAlgn="auto" hangingPunct="1">
              <a:spcBef>
                <a:spcPts val="0"/>
              </a:spcBef>
              <a:spcAft>
                <a:spcPts val="0"/>
              </a:spcAft>
              <a:defRPr/>
            </a:pP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2n</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O</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3200" i="1"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3200" kern="0" dirty="0">
                <a:solidFill>
                  <a:srgbClr val="01000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800" kern="0" dirty="0">
              <a:solidFill>
                <a:sysClr val="windowText" lastClr="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3419872" y="5423818"/>
            <a:ext cx="1338828" cy="369332"/>
          </a:xfrm>
          <a:prstGeom prst="rect">
            <a:avLst/>
          </a:prstGeom>
        </p:spPr>
        <p:txBody>
          <a:bodyPr wrap="none">
            <a:spAutoFit/>
          </a:bodyPr>
          <a:lstStyle/>
          <a:p>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较好的界限</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9"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a:extLst>
              <a:ext uri="{FF2B5EF4-FFF2-40B4-BE49-F238E27FC236}">
                <a16:creationId xmlns:a16="http://schemas.microsoft.com/office/drawing/2014/main" id="{048DC8B4-E8FB-B626-D534-38243D338F23}"/>
              </a:ext>
            </a:extLst>
          </p:cNvPr>
          <p:cNvSpPr>
            <a:spLocks noGrp="1" noChangeArrowheads="1"/>
          </p:cNvSpPr>
          <p:nvPr>
            <p:ph idx="1"/>
          </p:nvPr>
        </p:nvSpPr>
        <p:spPr>
          <a:xfrm>
            <a:off x="457200" y="1052513"/>
            <a:ext cx="8229600" cy="5078412"/>
          </a:xfrm>
        </p:spPr>
        <p:txBody>
          <a:bodyPr/>
          <a:lstStyle/>
          <a:p>
            <a:pPr>
              <a:lnSpc>
                <a:spcPct val="150000"/>
              </a:lnSpc>
              <a:buClr>
                <a:srgbClr val="CC9900"/>
              </a:buClr>
              <a:buFont typeface="Wingdings" panose="05000000000000000000" pitchFamily="2" charset="2"/>
              <a:buNone/>
            </a:pPr>
            <a:r>
              <a:rPr lang="zh-CN" altLang="en-US" sz="2400" dirty="0">
                <a:solidFill>
                  <a:srgbClr val="000000"/>
                </a:solidFill>
                <a:latin typeface="Times New Roman" panose="02020603050405020304" pitchFamily="18" charset="0"/>
                <a:cs typeface="Times New Roman" panose="02020603050405020304" pitchFamily="18" charset="0"/>
              </a:rPr>
              <a:t>（</a:t>
            </a:r>
            <a:r>
              <a:rPr lang="en-US" altLang="zh-CN" sz="2400" dirty="0">
                <a:solidFill>
                  <a:srgbClr val="000000"/>
                </a:solidFill>
                <a:latin typeface="Times New Roman" panose="02020603050405020304" pitchFamily="18" charset="0"/>
                <a:cs typeface="Times New Roman" panose="02020603050405020304" pitchFamily="18" charset="0"/>
              </a:rPr>
              <a:t>2</a:t>
            </a:r>
            <a:r>
              <a:rPr lang="zh-CN" altLang="en-US" sz="2400" dirty="0">
                <a:solidFill>
                  <a:srgbClr val="000000"/>
                </a:solidFill>
                <a:latin typeface="Times New Roman" panose="02020603050405020304" pitchFamily="18" charset="0"/>
                <a:cs typeface="Times New Roman" panose="02020603050405020304" pitchFamily="18" charset="0"/>
              </a:rPr>
              <a:t>）</a:t>
            </a:r>
            <a:r>
              <a:rPr lang="zh-CN" altLang="en-US" sz="2400" b="1" dirty="0">
                <a:solidFill>
                  <a:srgbClr val="3907F1"/>
                </a:solidFill>
                <a:latin typeface="Times New Roman" panose="02020603050405020304" pitchFamily="18" charset="0"/>
                <a:cs typeface="Times New Roman" panose="02020603050405020304" pitchFamily="18" charset="0"/>
              </a:rPr>
              <a:t>渐近下界 </a:t>
            </a:r>
            <a:r>
              <a:rPr lang="zh-CN" altLang="en-US" sz="2400" b="1" dirty="0">
                <a:solidFill>
                  <a:srgbClr val="3907F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solidFill>
                  <a:srgbClr val="000000"/>
                </a:solidFill>
                <a:latin typeface="Times New Roman" panose="02020603050405020304" pitchFamily="18" charset="0"/>
                <a:cs typeface="Times New Roman" panose="02020603050405020304" pitchFamily="18" charset="0"/>
              </a:rPr>
              <a:t> </a:t>
            </a:r>
          </a:p>
          <a:p>
            <a:pPr>
              <a:lnSpc>
                <a:spcPct val="150000"/>
              </a:lnSpc>
              <a:buClr>
                <a:srgbClr val="CC9900"/>
              </a:buClr>
              <a:buNone/>
            </a:pPr>
            <a:r>
              <a:rPr lang="zh-CN" altLang="en-US" sz="2400" dirty="0">
                <a:solidFill>
                  <a:srgbClr val="000000"/>
                </a:solidFill>
                <a:latin typeface="Times New Roman" panose="02020603050405020304" pitchFamily="18" charset="0"/>
                <a:cs typeface="Times New Roman" panose="02020603050405020304" pitchFamily="18" charset="0"/>
              </a:rPr>
              <a:t>存在正常数</a:t>
            </a:r>
            <a:r>
              <a:rPr lang="en-US" altLang="zh-CN" sz="2400" i="1" dirty="0">
                <a:solidFill>
                  <a:srgbClr val="000000"/>
                </a:solidFill>
                <a:latin typeface="Times New Roman" panose="02020603050405020304" pitchFamily="18" charset="0"/>
                <a:cs typeface="Times New Roman" panose="02020603050405020304" pitchFamily="18" charset="0"/>
              </a:rPr>
              <a:t>c</a:t>
            </a:r>
            <a:r>
              <a:rPr lang="zh-CN" altLang="en-US" sz="2400" dirty="0">
                <a:solidFill>
                  <a:srgbClr val="000000"/>
                </a:solidFill>
                <a:latin typeface="Times New Roman" panose="02020603050405020304" pitchFamily="18" charset="0"/>
                <a:cs typeface="Times New Roman" panose="02020603050405020304" pitchFamily="18" charset="0"/>
              </a:rPr>
              <a:t>和</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baseline="-25000" dirty="0">
                <a:solidFill>
                  <a:srgbClr val="000000"/>
                </a:solidFill>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 ，</a:t>
            </a:r>
            <a:r>
              <a:rPr lang="zh-CN" altLang="en-US" sz="2400" dirty="0">
                <a:solidFill>
                  <a:srgbClr val="000000"/>
                </a:solidFill>
                <a:latin typeface="Times New Roman" panose="02020603050405020304" pitchFamily="18" charset="0"/>
                <a:cs typeface="Times New Roman" panose="02020603050405020304" pitchFamily="18" charset="0"/>
              </a:rPr>
              <a:t>使得对所有</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solidFill>
                  <a:srgbClr val="000000"/>
                </a:solidFill>
                <a:latin typeface="Times New Roman" panose="02020603050405020304" pitchFamily="18" charset="0"/>
                <a:cs typeface="Times New Roman" panose="02020603050405020304" pitchFamily="18" charset="0"/>
              </a:rPr>
              <a:t>n</a:t>
            </a:r>
            <a:r>
              <a:rPr lang="en-US" altLang="zh-CN" sz="2400" baseline="-25000" dirty="0">
                <a:solidFill>
                  <a:srgbClr val="000000"/>
                </a:solidFill>
                <a:latin typeface="Times New Roman" panose="02020603050405020304" pitchFamily="18" charset="0"/>
                <a:cs typeface="Times New Roman" panose="02020603050405020304" pitchFamily="18" charset="0"/>
              </a:rPr>
              <a:t>0</a:t>
            </a:r>
            <a:r>
              <a:rPr lang="zh-CN" altLang="en-US" sz="2400" dirty="0">
                <a:solidFill>
                  <a:srgbClr val="000000"/>
                </a:solidFill>
                <a:latin typeface="Times New Roman" panose="02020603050405020304" pitchFamily="18" charset="0"/>
                <a:cs typeface="Times New Roman" panose="02020603050405020304" pitchFamily="18" charset="0"/>
              </a:rPr>
              <a:t>有：</a:t>
            </a:r>
            <a:r>
              <a:rPr lang="en-US" altLang="zh-CN" sz="2400" dirty="0">
                <a:solidFill>
                  <a:srgbClr val="FF0000"/>
                </a:solidFill>
                <a:latin typeface="Times New Roman" panose="02020603050405020304" pitchFamily="18" charset="0"/>
                <a:cs typeface="Times New Roman" panose="02020603050405020304" pitchFamily="18" charset="0"/>
              </a:rPr>
              <a:t>0</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cg</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i="1" dirty="0">
                <a:solidFill>
                  <a:srgbClr val="FF0000"/>
                </a:solidFill>
                <a:latin typeface="Times New Roman" panose="02020603050405020304" pitchFamily="18" charset="0"/>
                <a:cs typeface="Times New Roman" panose="02020603050405020304" pitchFamily="18" charset="0"/>
              </a:rPr>
              <a:t>n</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f</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i="1" dirty="0">
                <a:solidFill>
                  <a:srgbClr val="FF0000"/>
                </a:solidFill>
                <a:latin typeface="Times New Roman" panose="02020603050405020304" pitchFamily="18" charset="0"/>
                <a:cs typeface="Times New Roman" panose="02020603050405020304" pitchFamily="18" charset="0"/>
              </a:rPr>
              <a:t>n</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000000"/>
                </a:solidFill>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，称</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为</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a:t>
            </a:r>
            <a:r>
              <a:rPr lang="zh-CN" altLang="en-US" sz="2400" b="1" dirty="0">
                <a:solidFill>
                  <a:srgbClr val="3907F1"/>
                </a:solidFill>
                <a:latin typeface="Times New Roman" panose="02020603050405020304" pitchFamily="18" charset="0"/>
                <a:cs typeface="Times New Roman" panose="02020603050405020304" pitchFamily="18" charset="0"/>
              </a:rPr>
              <a:t>渐近下界</a:t>
            </a:r>
            <a:r>
              <a:rPr lang="zh-CN" altLang="en-US" sz="2400" dirty="0">
                <a:latin typeface="Times New Roman" panose="02020603050405020304" pitchFamily="18" charset="0"/>
                <a:cs typeface="Times New Roman" panose="02020603050405020304" pitchFamily="18" charset="0"/>
              </a:rPr>
              <a:t>。记作</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p>
          <a:p>
            <a:pPr>
              <a:lnSpc>
                <a:spcPct val="150000"/>
              </a:lnSpc>
              <a:buClr>
                <a:srgbClr val="CC9900"/>
              </a:buClr>
              <a:buNone/>
            </a:pPr>
            <a:r>
              <a:rPr lang="zh-CN" altLang="en-US"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endParaRPr lang="zh-CN" altLang="en-US" dirty="0">
              <a:latin typeface="Times New Roman" panose="02020603050405020304" pitchFamily="18" charset="0"/>
              <a:cs typeface="Times New Roman" panose="02020603050405020304" pitchFamily="18" charset="0"/>
            </a:endParaRPr>
          </a:p>
        </p:txBody>
      </p:sp>
      <p:sp>
        <p:nvSpPr>
          <p:cNvPr id="26627" name="灯片编号占位符 3">
            <a:extLst>
              <a:ext uri="{FF2B5EF4-FFF2-40B4-BE49-F238E27FC236}">
                <a16:creationId xmlns:a16="http://schemas.microsoft.com/office/drawing/2014/main" id="{27F51D1E-CC20-0319-A348-016159AD97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EB7E56E6-54BB-4EAF-AFE1-0D6985E1E17E}" type="slidenum">
              <a:rPr lang="en-US" altLang="zh-CN" sz="1200">
                <a:solidFill>
                  <a:schemeClr val="tx1"/>
                </a:solidFill>
                <a:latin typeface="Garamond" pitchFamily="18" charset="0"/>
                <a:ea typeface="宋体" panose="02010600030101010101" pitchFamily="2" charset="-122"/>
              </a:rPr>
              <a:pPr/>
              <a:t>49</a:t>
            </a:fld>
            <a:endParaRPr lang="en-US" altLang="zh-CN" sz="1200">
              <a:solidFill>
                <a:schemeClr val="tx1"/>
              </a:solidFill>
              <a:latin typeface="Garamond" pitchFamily="18" charset="0"/>
              <a:ea typeface="宋体" panose="02010600030101010101" pitchFamily="2" charset="-122"/>
            </a:endParaRPr>
          </a:p>
        </p:txBody>
      </p:sp>
      <p:pic>
        <p:nvPicPr>
          <p:cNvPr id="26628" name="Picture 10" descr="graph_Omega">
            <a:extLst>
              <a:ext uri="{FF2B5EF4-FFF2-40B4-BE49-F238E27FC236}">
                <a16:creationId xmlns:a16="http://schemas.microsoft.com/office/drawing/2014/main" id="{E5E12436-8DE4-C570-F26B-A6EED505B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2900954"/>
            <a:ext cx="3600400" cy="379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6B37854-8F39-4EDA-04FC-9A6D8BD1ED4C}"/>
              </a:ext>
            </a:extLst>
          </p:cNvPr>
          <p:cNvSpPr/>
          <p:nvPr/>
        </p:nvSpPr>
        <p:spPr>
          <a:xfrm>
            <a:off x="1259632" y="3593798"/>
            <a:ext cx="2222500" cy="584200"/>
          </a:xfrm>
          <a:prstGeom prst="rect">
            <a:avLst/>
          </a:prstGeom>
        </p:spPr>
        <p:txBody>
          <a:bodyPr wrap="none">
            <a:spAutoFit/>
          </a:bodyPr>
          <a:lstStyle/>
          <a:p>
            <a:pPr eaLnBrk="1" fontAlgn="auto" hangingPunct="1">
              <a:spcBef>
                <a:spcPts val="0"/>
              </a:spcBef>
              <a:spcAft>
                <a:spcPts val="0"/>
              </a:spcAft>
              <a:defRPr/>
            </a:pPr>
            <a:r>
              <a:rPr lang="en-US" altLang="zh-CN" sz="3200" kern="0" dirty="0">
                <a:solidFill>
                  <a:srgbClr val="010000"/>
                </a:solidFill>
                <a:latin typeface="Times New Roman"/>
                <a:ea typeface="宋体" panose="02010600030101010101" pitchFamily="2" charset="-122"/>
              </a:rPr>
              <a:t>3</a:t>
            </a:r>
            <a:r>
              <a:rPr lang="en-US" altLang="zh-CN" sz="3200" i="1" kern="0" dirty="0">
                <a:solidFill>
                  <a:srgbClr val="010000"/>
                </a:solidFill>
                <a:latin typeface="Times New Roman"/>
                <a:ea typeface="宋体" panose="02010600030101010101" pitchFamily="2" charset="-122"/>
              </a:rPr>
              <a:t>n</a:t>
            </a:r>
            <a:r>
              <a:rPr lang="en-US" altLang="zh-CN" sz="3200" kern="0" baseline="30000" dirty="0">
                <a:solidFill>
                  <a:srgbClr val="010000"/>
                </a:solidFill>
                <a:latin typeface="Times New Roman"/>
                <a:ea typeface="宋体" panose="02010600030101010101" pitchFamily="2" charset="-122"/>
              </a:rPr>
              <a:t>3</a:t>
            </a:r>
            <a:r>
              <a:rPr lang="en-US" altLang="zh-CN" sz="3200" kern="0" dirty="0">
                <a:solidFill>
                  <a:srgbClr val="010000"/>
                </a:solidFill>
                <a:latin typeface="Times New Roman"/>
                <a:ea typeface="宋体" panose="02010600030101010101" pitchFamily="2" charset="-122"/>
              </a:rPr>
              <a:t>=</a:t>
            </a:r>
            <a:r>
              <a:rPr lang="zh-CN" altLang="en-US" sz="3200" dirty="0">
                <a:solidFill>
                  <a:srgbClr val="000000"/>
                </a:solidFill>
                <a:sym typeface="Symbol" panose="05050102010706020507" pitchFamily="18" charset="2"/>
              </a:rPr>
              <a:t> </a:t>
            </a:r>
            <a:r>
              <a:rPr lang="zh-CN" altLang="en-US" sz="3200" dirty="0">
                <a:solidFill>
                  <a:srgbClr val="000000"/>
                </a:solidFill>
              </a:rPr>
              <a:t> </a:t>
            </a:r>
            <a:r>
              <a:rPr lang="en-US" altLang="zh-CN" sz="3200" kern="0" dirty="0">
                <a:solidFill>
                  <a:srgbClr val="010000"/>
                </a:solidFill>
                <a:latin typeface="Times New Roman"/>
                <a:ea typeface="宋体" panose="02010600030101010101" pitchFamily="2" charset="-122"/>
              </a:rPr>
              <a:t>(</a:t>
            </a:r>
            <a:r>
              <a:rPr lang="en-US" altLang="zh-CN" sz="3200" i="1" kern="0" dirty="0">
                <a:solidFill>
                  <a:srgbClr val="010000"/>
                </a:solidFill>
                <a:latin typeface="Times New Roman"/>
                <a:ea typeface="宋体" panose="02010600030101010101" pitchFamily="2" charset="-122"/>
              </a:rPr>
              <a:t>n</a:t>
            </a:r>
            <a:r>
              <a:rPr lang="en-US" altLang="zh-CN" sz="3200" kern="0" baseline="30000" dirty="0">
                <a:solidFill>
                  <a:srgbClr val="010000"/>
                </a:solidFill>
                <a:latin typeface="Times New Roman"/>
                <a:ea typeface="宋体" panose="02010600030101010101" pitchFamily="2" charset="-122"/>
              </a:rPr>
              <a:t>2</a:t>
            </a:r>
            <a:r>
              <a:rPr lang="en-US" altLang="zh-CN" sz="3200" kern="0" dirty="0">
                <a:solidFill>
                  <a:srgbClr val="010000"/>
                </a:solidFill>
                <a:latin typeface="Times New Roman"/>
                <a:ea typeface="宋体" panose="02010600030101010101" pitchFamily="2" charset="-122"/>
              </a:rPr>
              <a:t>) </a:t>
            </a:r>
            <a:endParaRPr lang="zh-CN" altLang="en-US" sz="1800" kern="0" dirty="0">
              <a:solidFill>
                <a:sysClr val="windowText" lastClr="000000"/>
              </a:solidFill>
            </a:endParaRPr>
          </a:p>
        </p:txBody>
      </p:sp>
      <p:sp>
        <p:nvSpPr>
          <p:cNvPr id="7" name="矩形 6">
            <a:extLst>
              <a:ext uri="{FF2B5EF4-FFF2-40B4-BE49-F238E27FC236}">
                <a16:creationId xmlns:a16="http://schemas.microsoft.com/office/drawing/2014/main" id="{86B37854-8F39-4EDA-04FC-9A6D8BD1ED4C}"/>
              </a:ext>
            </a:extLst>
          </p:cNvPr>
          <p:cNvSpPr/>
          <p:nvPr/>
        </p:nvSpPr>
        <p:spPr>
          <a:xfrm>
            <a:off x="1258923" y="4278161"/>
            <a:ext cx="2222500" cy="584200"/>
          </a:xfrm>
          <a:prstGeom prst="rect">
            <a:avLst/>
          </a:prstGeom>
        </p:spPr>
        <p:txBody>
          <a:bodyPr wrap="none">
            <a:spAutoFit/>
          </a:bodyPr>
          <a:lstStyle/>
          <a:p>
            <a:pPr eaLnBrk="1" fontAlgn="auto" hangingPunct="1">
              <a:spcBef>
                <a:spcPts val="0"/>
              </a:spcBef>
              <a:spcAft>
                <a:spcPts val="0"/>
              </a:spcAft>
              <a:defRPr/>
            </a:pPr>
            <a:r>
              <a:rPr lang="en-US" altLang="zh-CN" sz="3200" kern="0" dirty="0">
                <a:solidFill>
                  <a:srgbClr val="010000"/>
                </a:solidFill>
                <a:latin typeface="Times New Roman"/>
                <a:ea typeface="宋体" panose="02010600030101010101" pitchFamily="2" charset="-122"/>
              </a:rPr>
              <a:t>3</a:t>
            </a:r>
            <a:r>
              <a:rPr lang="en-US" altLang="zh-CN" sz="3200" i="1" kern="0" dirty="0">
                <a:solidFill>
                  <a:srgbClr val="010000"/>
                </a:solidFill>
                <a:latin typeface="Times New Roman"/>
                <a:ea typeface="宋体" panose="02010600030101010101" pitchFamily="2" charset="-122"/>
              </a:rPr>
              <a:t>n</a:t>
            </a:r>
            <a:r>
              <a:rPr lang="en-US" altLang="zh-CN" sz="3200" kern="0" baseline="30000" dirty="0">
                <a:solidFill>
                  <a:srgbClr val="010000"/>
                </a:solidFill>
                <a:latin typeface="Times New Roman"/>
                <a:ea typeface="宋体" panose="02010600030101010101" pitchFamily="2" charset="-122"/>
              </a:rPr>
              <a:t>3</a:t>
            </a:r>
            <a:r>
              <a:rPr lang="en-US" altLang="zh-CN" sz="3200" kern="0" dirty="0">
                <a:solidFill>
                  <a:srgbClr val="010000"/>
                </a:solidFill>
                <a:latin typeface="Times New Roman"/>
                <a:ea typeface="宋体" panose="02010600030101010101" pitchFamily="2" charset="-122"/>
              </a:rPr>
              <a:t>=</a:t>
            </a:r>
            <a:r>
              <a:rPr lang="zh-CN" altLang="en-US" sz="3200" dirty="0">
                <a:solidFill>
                  <a:srgbClr val="000000"/>
                </a:solidFill>
                <a:sym typeface="Symbol" panose="05050102010706020507" pitchFamily="18" charset="2"/>
              </a:rPr>
              <a:t> </a:t>
            </a:r>
            <a:r>
              <a:rPr lang="zh-CN" altLang="en-US" sz="3200" dirty="0">
                <a:solidFill>
                  <a:srgbClr val="000000"/>
                </a:solidFill>
              </a:rPr>
              <a:t> </a:t>
            </a:r>
            <a:r>
              <a:rPr lang="en-US" altLang="zh-CN" sz="3200" kern="0" dirty="0">
                <a:solidFill>
                  <a:srgbClr val="010000"/>
                </a:solidFill>
                <a:latin typeface="Times New Roman"/>
                <a:ea typeface="宋体" panose="02010600030101010101" pitchFamily="2" charset="-122"/>
              </a:rPr>
              <a:t>(</a:t>
            </a:r>
            <a:r>
              <a:rPr lang="en-US" altLang="zh-CN" sz="3200" i="1" kern="0" dirty="0">
                <a:solidFill>
                  <a:srgbClr val="010000"/>
                </a:solidFill>
                <a:latin typeface="Times New Roman"/>
                <a:ea typeface="宋体" panose="02010600030101010101" pitchFamily="2" charset="-122"/>
              </a:rPr>
              <a:t>n</a:t>
            </a:r>
            <a:r>
              <a:rPr lang="en-US" altLang="zh-CN" sz="3200" kern="0" baseline="30000" dirty="0">
                <a:solidFill>
                  <a:srgbClr val="010000"/>
                </a:solidFill>
                <a:latin typeface="Times New Roman"/>
                <a:ea typeface="宋体" panose="02010600030101010101" pitchFamily="2" charset="-122"/>
              </a:rPr>
              <a:t>3</a:t>
            </a:r>
            <a:r>
              <a:rPr lang="en-US" altLang="zh-CN" sz="3200" kern="0" dirty="0">
                <a:solidFill>
                  <a:srgbClr val="010000"/>
                </a:solidFill>
                <a:latin typeface="Times New Roman"/>
                <a:ea typeface="宋体" panose="02010600030101010101" pitchFamily="2" charset="-122"/>
              </a:rPr>
              <a:t>) </a:t>
            </a:r>
            <a:endParaRPr lang="zh-CN" altLang="en-US" sz="1800" kern="0" dirty="0">
              <a:solidFill>
                <a:sysClr val="windowText" lastClr="00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15D099AE-9C2B-BD15-D15F-2544457FD0D7}"/>
              </a:ext>
            </a:extLst>
          </p:cNvPr>
          <p:cNvSpPr>
            <a:spLocks noGrp="1" noChangeArrowheads="1"/>
          </p:cNvSpPr>
          <p:nvPr>
            <p:ph type="body" idx="1"/>
          </p:nvPr>
        </p:nvSpPr>
        <p:spPr>
          <a:xfrm>
            <a:off x="323528" y="764704"/>
            <a:ext cx="8568952" cy="4827588"/>
          </a:xfrm>
        </p:spPr>
        <p:txBody>
          <a:bodyPr/>
          <a:lstStyle/>
          <a:p>
            <a:pPr>
              <a:lnSpc>
                <a:spcPct val="150000"/>
              </a:lnSpc>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a:t>
            </a:r>
            <a:r>
              <a:rPr lang="zh-CN" altLang="en-US" sz="2400" dirty="0">
                <a:latin typeface="Times New Roman" panose="02020603050405020304" pitchFamily="18" charset="0"/>
                <a:cs typeface="Times New Roman" panose="02020603050405020304" pitchFamily="18" charset="0"/>
              </a:rPr>
              <a:t>）</a:t>
            </a:r>
            <a:r>
              <a:rPr lang="zh-CN" altLang="en-US" sz="2400" b="1" dirty="0">
                <a:solidFill>
                  <a:srgbClr val="3907F1"/>
                </a:solidFill>
                <a:latin typeface="Times New Roman" panose="02020603050405020304" pitchFamily="18" charset="0"/>
                <a:cs typeface="Times New Roman" panose="02020603050405020304" pitchFamily="18" charset="0"/>
              </a:rPr>
              <a:t>紧渐近界  </a:t>
            </a:r>
            <a:r>
              <a:rPr lang="zh-CN" altLang="en-US" sz="2400" b="1" dirty="0">
                <a:solidFill>
                  <a:srgbClr val="3907F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b="1" dirty="0">
                <a:solidFill>
                  <a:srgbClr val="3907F1"/>
                </a:solidFill>
                <a:latin typeface="Times New Roman" panose="02020603050405020304" pitchFamily="18" charset="0"/>
                <a:cs typeface="Times New Roman" panose="02020603050405020304" pitchFamily="18" charset="0"/>
              </a:rPr>
              <a:t> </a:t>
            </a:r>
          </a:p>
          <a:p>
            <a:pPr>
              <a:lnSpc>
                <a:spcPct val="150000"/>
              </a:lnSpc>
              <a:buNone/>
            </a:pPr>
            <a:r>
              <a:rPr lang="zh-CN" altLang="en-US" sz="2400" dirty="0">
                <a:latin typeface="Times New Roman" panose="02020603050405020304" pitchFamily="18" charset="0"/>
                <a:cs typeface="Times New Roman" panose="02020603050405020304" pitchFamily="18" charset="0"/>
              </a:rPr>
              <a:t>存在正常数</a:t>
            </a:r>
            <a:r>
              <a:rPr lang="en-US" altLang="zh-CN" sz="2400" i="1" dirty="0">
                <a:latin typeface="Times New Roman" panose="02020603050405020304" pitchFamily="18" charset="0"/>
                <a:cs typeface="Times New Roman" panose="02020603050405020304" pitchFamily="18" charset="0"/>
              </a:rPr>
              <a:t>c</a:t>
            </a:r>
            <a:r>
              <a:rPr lang="en-US" altLang="zh-CN" sz="2400" baseline="-25000" dirty="0">
                <a:latin typeface="Times New Roman" panose="02020603050405020304" pitchFamily="18" charset="0"/>
                <a:cs typeface="Times New Roman" panose="02020603050405020304" pitchFamily="18" charset="0"/>
              </a:rPr>
              <a:t>1</a:t>
            </a:r>
            <a:r>
              <a:rPr lang="en-US" altLang="zh-CN" sz="2400" i="1" dirty="0">
                <a:latin typeface="Times New Roman" panose="02020603050405020304" pitchFamily="18" charset="0"/>
                <a:cs typeface="Times New Roman" panose="02020603050405020304" pitchFamily="18" charset="0"/>
              </a:rPr>
              <a:t>,c</a:t>
            </a:r>
            <a:r>
              <a:rPr lang="en-US" altLang="zh-CN" sz="2400" baseline="-250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和</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使得对所有</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有：</a:t>
            </a:r>
            <a:r>
              <a:rPr lang="en-US" altLang="zh-CN" sz="2400" i="1" dirty="0">
                <a:solidFill>
                  <a:srgbClr val="FF0000"/>
                </a:solidFill>
                <a:latin typeface="Times New Roman" panose="02020603050405020304" pitchFamily="18" charset="0"/>
                <a:cs typeface="Times New Roman" panose="02020603050405020304" pitchFamily="18" charset="0"/>
              </a:rPr>
              <a:t>c</a:t>
            </a:r>
            <a:r>
              <a:rPr lang="en-US" altLang="zh-CN" sz="2400" baseline="-25000" dirty="0">
                <a:solidFill>
                  <a:srgbClr val="FF0000"/>
                </a:solidFill>
                <a:latin typeface="Times New Roman" panose="02020603050405020304" pitchFamily="18" charset="0"/>
                <a:cs typeface="Times New Roman" panose="02020603050405020304" pitchFamily="18" charset="0"/>
              </a:rPr>
              <a:t>1</a:t>
            </a:r>
            <a:r>
              <a:rPr lang="en-US" altLang="zh-CN" sz="2400" i="1" dirty="0">
                <a:solidFill>
                  <a:srgbClr val="FF0000"/>
                </a:solidFill>
                <a:latin typeface="Times New Roman" panose="02020603050405020304" pitchFamily="18" charset="0"/>
                <a:cs typeface="Times New Roman" panose="02020603050405020304" pitchFamily="18" charset="0"/>
              </a:rPr>
              <a:t>g</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i="1" dirty="0">
                <a:solidFill>
                  <a:srgbClr val="FF0000"/>
                </a:solidFill>
                <a:latin typeface="Times New Roman" panose="02020603050405020304" pitchFamily="18" charset="0"/>
                <a:cs typeface="Times New Roman" panose="02020603050405020304" pitchFamily="18" charset="0"/>
              </a:rPr>
              <a:t>n</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solidFill>
                  <a:srgbClr val="FF0000"/>
                </a:solidFill>
                <a:latin typeface="Times New Roman" panose="02020603050405020304" pitchFamily="18" charset="0"/>
                <a:cs typeface="Times New Roman" panose="02020603050405020304" pitchFamily="18" charset="0"/>
              </a:rPr>
              <a:t>f</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i="1" dirty="0">
                <a:solidFill>
                  <a:srgbClr val="FF0000"/>
                </a:solidFill>
                <a:latin typeface="Times New Roman" panose="02020603050405020304" pitchFamily="18" charset="0"/>
                <a:cs typeface="Times New Roman" panose="02020603050405020304" pitchFamily="18" charset="0"/>
              </a:rPr>
              <a:t>n</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rgbClr val="FF0000"/>
                </a:solidFill>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c</a:t>
            </a:r>
            <a:r>
              <a:rPr lang="en-US" altLang="zh-CN" sz="2400" baseline="-25000" dirty="0">
                <a:solidFill>
                  <a:srgbClr val="FF0000"/>
                </a:solidFill>
                <a:latin typeface="Times New Roman" panose="02020603050405020304" pitchFamily="18" charset="0"/>
                <a:cs typeface="Times New Roman" panose="02020603050405020304" pitchFamily="18" charset="0"/>
              </a:rPr>
              <a:t>2</a:t>
            </a:r>
            <a:r>
              <a:rPr lang="en-US" altLang="zh-CN" sz="2400" i="1" dirty="0">
                <a:solidFill>
                  <a:srgbClr val="FF0000"/>
                </a:solidFill>
                <a:latin typeface="Times New Roman" panose="02020603050405020304" pitchFamily="18" charset="0"/>
                <a:cs typeface="Times New Roman" panose="02020603050405020304" pitchFamily="18" charset="0"/>
              </a:rPr>
              <a:t>g</a:t>
            </a:r>
            <a:r>
              <a:rPr lang="en-US" altLang="zh-CN" sz="2400" dirty="0">
                <a:solidFill>
                  <a:srgbClr val="FF0000"/>
                </a:solidFill>
                <a:latin typeface="Times New Roman" panose="02020603050405020304" pitchFamily="18" charset="0"/>
                <a:cs typeface="Times New Roman" panose="02020603050405020304" pitchFamily="18" charset="0"/>
              </a:rPr>
              <a:t>(</a:t>
            </a:r>
            <a:r>
              <a:rPr lang="en-US" altLang="zh-CN" sz="2400" i="1" dirty="0">
                <a:solidFill>
                  <a:srgbClr val="FF0000"/>
                </a:solidFill>
                <a:latin typeface="Times New Roman" panose="02020603050405020304" pitchFamily="18" charset="0"/>
                <a:cs typeface="Times New Roman" panose="02020603050405020304" pitchFamily="18" charset="0"/>
              </a:rPr>
              <a:t>n</a:t>
            </a:r>
            <a:r>
              <a:rPr lang="en-US" altLang="zh-CN" sz="2400" dirty="0">
                <a:solidFill>
                  <a:srgbClr val="FF0000"/>
                </a:solidFill>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，称</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为</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a:t>
            </a:r>
            <a:r>
              <a:rPr lang="zh-CN" altLang="en-US" sz="2400" b="1" dirty="0">
                <a:solidFill>
                  <a:srgbClr val="3907F1"/>
                </a:solidFill>
                <a:latin typeface="Times New Roman" panose="02020603050405020304" pitchFamily="18" charset="0"/>
                <a:cs typeface="Times New Roman" panose="02020603050405020304" pitchFamily="18" charset="0"/>
              </a:rPr>
              <a:t>紧渐近界</a:t>
            </a:r>
            <a:r>
              <a:rPr lang="zh-CN" altLang="en-US" sz="2400" dirty="0">
                <a:latin typeface="Times New Roman" panose="02020603050405020304" pitchFamily="18" charset="0"/>
                <a:cs typeface="Times New Roman" panose="02020603050405020304" pitchFamily="18" charset="0"/>
              </a:rPr>
              <a:t>。记作</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dirty="0">
                <a:solidFill>
                  <a:srgbClr val="3907F1"/>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endParaRPr lang="en-US" altLang="zh-CN" sz="240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2400" b="1" dirty="0">
                <a:latin typeface="Times New Roman" panose="02020603050405020304" pitchFamily="18" charset="0"/>
                <a:cs typeface="Times New Roman" panose="02020603050405020304" pitchFamily="18" charset="0"/>
              </a:rPr>
              <a:t> </a:t>
            </a:r>
            <a:endParaRPr lang="en-US" altLang="zh-CN" sz="2400" dirty="0">
              <a:latin typeface="Times New Roman" panose="02020603050405020304" pitchFamily="18" charset="0"/>
              <a:cs typeface="Times New Roman" panose="02020603050405020304" pitchFamily="18" charset="0"/>
            </a:endParaRPr>
          </a:p>
        </p:txBody>
      </p:sp>
      <p:pic>
        <p:nvPicPr>
          <p:cNvPr id="27651" name="Picture 3" descr="graph_thet">
            <a:extLst>
              <a:ext uri="{FF2B5EF4-FFF2-40B4-BE49-F238E27FC236}">
                <a16:creationId xmlns:a16="http://schemas.microsoft.com/office/drawing/2014/main" id="{BD1B9DED-78FE-8031-8C3C-73B596CF6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2636912"/>
            <a:ext cx="3471814" cy="3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518DC3F-E3B4-9573-3519-DF8855BCE93C}"/>
              </a:ext>
            </a:extLst>
          </p:cNvPr>
          <p:cNvSpPr/>
          <p:nvPr/>
        </p:nvSpPr>
        <p:spPr>
          <a:xfrm>
            <a:off x="1115616" y="4005064"/>
            <a:ext cx="3089275" cy="536575"/>
          </a:xfrm>
          <a:prstGeom prst="rect">
            <a:avLst/>
          </a:prstGeom>
        </p:spPr>
        <p:txBody>
          <a:bodyPr wrap="none">
            <a:spAutoFit/>
          </a:bodyPr>
          <a:lstStyle/>
          <a:p>
            <a:pPr>
              <a:lnSpc>
                <a:spcPct val="90000"/>
              </a:lnSpc>
              <a:spcBef>
                <a:spcPct val="20000"/>
              </a:spcBef>
              <a:defRPr/>
            </a:pPr>
            <a:r>
              <a:rPr lang="en-US" altLang="zh-CN" sz="3200" kern="0" dirty="0">
                <a:solidFill>
                  <a:srgbClr val="010000"/>
                </a:solidFill>
                <a:latin typeface="Times New Roman"/>
                <a:ea typeface="宋体" panose="02010600030101010101" pitchFamily="2" charset="-122"/>
              </a:rPr>
              <a:t>10</a:t>
            </a:r>
            <a:r>
              <a:rPr lang="en-US" altLang="zh-CN" sz="3200" i="1" kern="0" dirty="0">
                <a:solidFill>
                  <a:srgbClr val="010000"/>
                </a:solidFill>
                <a:latin typeface="Times New Roman"/>
                <a:ea typeface="宋体" panose="02010600030101010101" pitchFamily="2" charset="-122"/>
              </a:rPr>
              <a:t>n</a:t>
            </a:r>
            <a:r>
              <a:rPr lang="en-US" altLang="zh-CN" sz="3200" kern="0" baseline="30000" dirty="0">
                <a:solidFill>
                  <a:srgbClr val="010000"/>
                </a:solidFill>
                <a:latin typeface="Times New Roman"/>
                <a:ea typeface="宋体" panose="02010600030101010101" pitchFamily="2" charset="-122"/>
              </a:rPr>
              <a:t>2</a:t>
            </a:r>
            <a:r>
              <a:rPr lang="en-US" altLang="zh-CN" sz="3200" i="1" kern="0" dirty="0">
                <a:solidFill>
                  <a:srgbClr val="010000"/>
                </a:solidFill>
                <a:latin typeface="Times New Roman"/>
                <a:ea typeface="宋体" panose="02010600030101010101" pitchFamily="2" charset="-122"/>
              </a:rPr>
              <a:t> </a:t>
            </a:r>
            <a:r>
              <a:rPr lang="en-US" altLang="zh-CN" sz="3200" kern="0" dirty="0">
                <a:solidFill>
                  <a:srgbClr val="010000"/>
                </a:solidFill>
                <a:latin typeface="Times New Roman"/>
                <a:ea typeface="宋体" panose="02010600030101010101" pitchFamily="2" charset="-122"/>
              </a:rPr>
              <a:t>-</a:t>
            </a:r>
            <a:r>
              <a:rPr lang="en-US" altLang="zh-CN" sz="3200" i="1" kern="0" dirty="0">
                <a:solidFill>
                  <a:srgbClr val="010000"/>
                </a:solidFill>
                <a:latin typeface="Times New Roman"/>
                <a:ea typeface="宋体" panose="02010600030101010101" pitchFamily="2" charset="-122"/>
              </a:rPr>
              <a:t> </a:t>
            </a:r>
            <a:r>
              <a:rPr lang="en-US" altLang="zh-CN" sz="3200" kern="0" dirty="0">
                <a:solidFill>
                  <a:srgbClr val="010000"/>
                </a:solidFill>
                <a:latin typeface="Times New Roman"/>
                <a:ea typeface="宋体" panose="02010600030101010101" pitchFamily="2" charset="-122"/>
              </a:rPr>
              <a:t>3</a:t>
            </a:r>
            <a:r>
              <a:rPr lang="en-US" altLang="zh-CN" sz="3200" i="1" kern="0" dirty="0">
                <a:solidFill>
                  <a:srgbClr val="010000"/>
                </a:solidFill>
                <a:latin typeface="Times New Roman"/>
                <a:ea typeface="宋体" panose="02010600030101010101" pitchFamily="2" charset="-122"/>
              </a:rPr>
              <a:t>n = </a:t>
            </a:r>
            <a:r>
              <a:rPr lang="en-US" altLang="zh-CN" sz="3200" kern="0" dirty="0">
                <a:solidFill>
                  <a:srgbClr val="010000"/>
                </a:solidFill>
                <a:latin typeface="Symbol" panose="05050102010706020507" pitchFamily="18" charset="2"/>
                <a:ea typeface="宋体" panose="02010600030101010101" pitchFamily="2" charset="-122"/>
              </a:rPr>
              <a:t>Q</a:t>
            </a:r>
            <a:r>
              <a:rPr lang="en-US" altLang="zh-CN" sz="3200" kern="0" dirty="0">
                <a:solidFill>
                  <a:srgbClr val="010000"/>
                </a:solidFill>
                <a:latin typeface="Times New Roman"/>
                <a:ea typeface="宋体" panose="02010600030101010101" pitchFamily="2" charset="-122"/>
              </a:rPr>
              <a:t>(</a:t>
            </a:r>
            <a:r>
              <a:rPr lang="en-US" altLang="zh-CN" sz="3200" i="1" kern="0" dirty="0">
                <a:solidFill>
                  <a:srgbClr val="010000"/>
                </a:solidFill>
                <a:latin typeface="Times New Roman"/>
                <a:ea typeface="宋体" panose="02010600030101010101" pitchFamily="2" charset="-122"/>
              </a:rPr>
              <a:t>n</a:t>
            </a:r>
            <a:r>
              <a:rPr lang="en-US" altLang="zh-CN" sz="3200" kern="0" baseline="30000" dirty="0">
                <a:solidFill>
                  <a:srgbClr val="010000"/>
                </a:solidFill>
                <a:latin typeface="Times New Roman"/>
                <a:ea typeface="宋体" panose="02010600030101010101" pitchFamily="2" charset="-122"/>
              </a:rPr>
              <a:t>2</a:t>
            </a:r>
            <a:r>
              <a:rPr lang="en-US" altLang="zh-CN" sz="3200" kern="0" dirty="0">
                <a:solidFill>
                  <a:srgbClr val="010000"/>
                </a:solidFill>
                <a:latin typeface="Times New Roman"/>
                <a:ea typeface="宋体" panose="02010600030101010101" pitchFamily="2" charset="-122"/>
              </a:rPr>
              <a:t>)</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78AB874-793B-6D24-79E2-3FA483A657A0}"/>
              </a:ext>
            </a:extLst>
          </p:cNvPr>
          <p:cNvSpPr>
            <a:spLocks noGrp="1" noChangeArrowheads="1"/>
          </p:cNvSpPr>
          <p:nvPr>
            <p:ph type="title"/>
          </p:nvPr>
        </p:nvSpPr>
        <p:spPr>
          <a:xfrm>
            <a:off x="468313" y="549275"/>
            <a:ext cx="8229600" cy="1139825"/>
          </a:xfrm>
        </p:spPr>
        <p:txBody>
          <a:bodyPr/>
          <a:lstStyle/>
          <a:p>
            <a:r>
              <a:rPr lang="en-US" altLang="zh-CN" sz="4000" dirty="0"/>
              <a:t>Big-</a:t>
            </a:r>
            <a:r>
              <a:rPr lang="en-US" altLang="zh-CN" dirty="0"/>
              <a:t>O </a:t>
            </a:r>
            <a:r>
              <a:rPr lang="en-US" altLang="zh-CN" dirty="0">
                <a:latin typeface="Symbol" panose="05050102010706020507" pitchFamily="18" charset="2"/>
              </a:rPr>
              <a:t>W Q</a:t>
            </a:r>
            <a:r>
              <a:rPr lang="en-US" altLang="zh-CN" dirty="0"/>
              <a:t> </a:t>
            </a:r>
            <a:r>
              <a:rPr lang="zh-CN" altLang="en-US" dirty="0">
                <a:latin typeface="Symbol" panose="05050102010706020507" pitchFamily="18" charset="2"/>
              </a:rPr>
              <a:t>之间的关系</a:t>
            </a:r>
            <a:endParaRPr lang="en-US" altLang="zh-CN" dirty="0"/>
          </a:p>
        </p:txBody>
      </p:sp>
      <p:pic>
        <p:nvPicPr>
          <p:cNvPr id="28675" name="Picture 3" descr="graph_thet">
            <a:extLst>
              <a:ext uri="{FF2B5EF4-FFF2-40B4-BE49-F238E27FC236}">
                <a16:creationId xmlns:a16="http://schemas.microsoft.com/office/drawing/2014/main" id="{65D24DA3-376C-6FD6-50FA-47EFE0FB0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1838326"/>
            <a:ext cx="265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4" descr="graph_O">
            <a:extLst>
              <a:ext uri="{FF2B5EF4-FFF2-40B4-BE49-F238E27FC236}">
                <a16:creationId xmlns:a16="http://schemas.microsoft.com/office/drawing/2014/main" id="{6DFE9F56-099A-8526-4DF1-0589198817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838327"/>
            <a:ext cx="265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descr="graph_Omega">
            <a:extLst>
              <a:ext uri="{FF2B5EF4-FFF2-40B4-BE49-F238E27FC236}">
                <a16:creationId xmlns:a16="http://schemas.microsoft.com/office/drawing/2014/main" id="{3543853B-585A-B2D6-5D7A-9DE0D284A1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31840" y="1844824"/>
            <a:ext cx="26543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23528" y="4860109"/>
            <a:ext cx="2005677" cy="738664"/>
          </a:xfrm>
          <a:prstGeom prst="rect">
            <a:avLst/>
          </a:prstGeom>
        </p:spPr>
        <p:txBody>
          <a:bodyPr wrap="none">
            <a:spAutoFit/>
          </a:bodyPr>
          <a:lstStyle/>
          <a:p>
            <a:pPr>
              <a:lnSpc>
                <a:spcPct val="150000"/>
              </a:lnSpc>
              <a:buFont typeface="Wingdings" panose="05000000000000000000" pitchFamily="2" charset="2"/>
              <a:buNone/>
            </a:pPr>
            <a:r>
              <a:rPr lang="zh-CN" altLang="en-US" sz="2800" b="1" dirty="0">
                <a:solidFill>
                  <a:srgbClr val="3907F1"/>
                </a:solidFill>
              </a:rPr>
              <a:t>渐近上界 </a:t>
            </a:r>
            <a:r>
              <a:rPr lang="en-US" altLang="zh-CN" sz="2800" b="1" dirty="0">
                <a:solidFill>
                  <a:srgbClr val="3907F1"/>
                </a:solidFill>
              </a:rPr>
              <a:t>O</a:t>
            </a:r>
          </a:p>
        </p:txBody>
      </p:sp>
      <p:sp>
        <p:nvSpPr>
          <p:cNvPr id="3" name="矩形 2"/>
          <p:cNvSpPr/>
          <p:nvPr/>
        </p:nvSpPr>
        <p:spPr>
          <a:xfrm>
            <a:off x="3408061" y="4901384"/>
            <a:ext cx="2101857" cy="738664"/>
          </a:xfrm>
          <a:prstGeom prst="rect">
            <a:avLst/>
          </a:prstGeom>
        </p:spPr>
        <p:txBody>
          <a:bodyPr wrap="none">
            <a:spAutoFit/>
          </a:bodyPr>
          <a:lstStyle/>
          <a:p>
            <a:pPr>
              <a:lnSpc>
                <a:spcPct val="150000"/>
              </a:lnSpc>
              <a:buClr>
                <a:srgbClr val="CC9900"/>
              </a:buClr>
              <a:buFont typeface="Wingdings" panose="05000000000000000000" pitchFamily="2" charset="2"/>
              <a:buNone/>
            </a:pPr>
            <a:r>
              <a:rPr lang="zh-CN" altLang="en-US" sz="2800" b="1" dirty="0">
                <a:solidFill>
                  <a:srgbClr val="3907F1"/>
                </a:solidFill>
              </a:rPr>
              <a:t>渐近下界 </a:t>
            </a:r>
            <a:r>
              <a:rPr lang="zh-CN" altLang="en-US" sz="2800" b="1" dirty="0">
                <a:solidFill>
                  <a:srgbClr val="3907F1"/>
                </a:solidFill>
                <a:sym typeface="Symbol" panose="05050102010706020507" pitchFamily="18" charset="2"/>
              </a:rPr>
              <a:t></a:t>
            </a:r>
            <a:r>
              <a:rPr lang="zh-CN" altLang="en-US" sz="2800" dirty="0">
                <a:solidFill>
                  <a:srgbClr val="000000"/>
                </a:solidFill>
              </a:rPr>
              <a:t> </a:t>
            </a:r>
          </a:p>
        </p:txBody>
      </p:sp>
      <p:sp>
        <p:nvSpPr>
          <p:cNvPr id="4" name="矩形 3"/>
          <p:cNvSpPr/>
          <p:nvPr/>
        </p:nvSpPr>
        <p:spPr>
          <a:xfrm>
            <a:off x="6270239" y="4860109"/>
            <a:ext cx="2092239" cy="738664"/>
          </a:xfrm>
          <a:prstGeom prst="rect">
            <a:avLst/>
          </a:prstGeom>
        </p:spPr>
        <p:txBody>
          <a:bodyPr wrap="none">
            <a:spAutoFit/>
          </a:bodyPr>
          <a:lstStyle/>
          <a:p>
            <a:pPr>
              <a:lnSpc>
                <a:spcPct val="150000"/>
              </a:lnSpc>
              <a:buFont typeface="Wingdings" panose="05000000000000000000" pitchFamily="2" charset="2"/>
              <a:buNone/>
            </a:pPr>
            <a:r>
              <a:rPr lang="zh-CN" altLang="en-US" sz="2800" b="1" dirty="0">
                <a:solidFill>
                  <a:srgbClr val="3907F1"/>
                </a:solidFill>
              </a:rPr>
              <a:t>紧渐近界 </a:t>
            </a:r>
            <a:r>
              <a:rPr lang="zh-CN" altLang="en-US" sz="2800" b="1" dirty="0">
                <a:solidFill>
                  <a:srgbClr val="3907F1"/>
                </a:solidFill>
                <a:sym typeface="Symbol" panose="05050102010706020507" pitchFamily="18" charset="2"/>
              </a:rPr>
              <a:t></a:t>
            </a:r>
            <a:r>
              <a:rPr lang="zh-CN" altLang="en-US" sz="2800" b="1" dirty="0">
                <a:solidFill>
                  <a:srgbClr val="3907F1"/>
                </a:solidFill>
              </a:rPr>
              <a:t> </a:t>
            </a:r>
          </a:p>
        </p:txBody>
      </p:sp>
      <p:sp>
        <p:nvSpPr>
          <p:cNvPr id="5" name="矩形 4"/>
          <p:cNvSpPr/>
          <p:nvPr/>
        </p:nvSpPr>
        <p:spPr>
          <a:xfrm>
            <a:off x="49886" y="788214"/>
            <a:ext cx="184731" cy="553998"/>
          </a:xfrm>
          <a:prstGeom prst="rect">
            <a:avLst/>
          </a:prstGeom>
        </p:spPr>
        <p:txBody>
          <a:bodyPr wrap="none">
            <a:spAutoFit/>
          </a:bodyPr>
          <a:lstStyle/>
          <a:p>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3A02F5F-4782-184C-66DE-F0BB5D15DDE4}"/>
              </a:ext>
            </a:extLst>
          </p:cNvPr>
          <p:cNvSpPr>
            <a:spLocks noGrp="1" noChangeArrowheads="1"/>
          </p:cNvSpPr>
          <p:nvPr>
            <p:ph type="title"/>
          </p:nvPr>
        </p:nvSpPr>
        <p:spPr/>
        <p:txBody>
          <a:bodyPr/>
          <a:lstStyle/>
          <a:p>
            <a:r>
              <a:rPr lang="en-US" altLang="zh-CN" sz="4400" dirty="0"/>
              <a:t>Big-O</a:t>
            </a:r>
            <a:r>
              <a:rPr lang="en-US" altLang="zh-CN" sz="4400" i="1" dirty="0"/>
              <a:t>,</a:t>
            </a:r>
            <a:r>
              <a:rPr lang="en-US" altLang="zh-CN" sz="4400" dirty="0">
                <a:latin typeface="Symbol" panose="05050102010706020507" pitchFamily="18" charset="2"/>
              </a:rPr>
              <a:t> Q</a:t>
            </a:r>
            <a:r>
              <a:rPr lang="en-US" altLang="zh-CN" sz="4400" dirty="0"/>
              <a:t>,</a:t>
            </a:r>
            <a:r>
              <a:rPr lang="en-US" altLang="zh-CN" sz="4400" i="1" dirty="0"/>
              <a:t> </a:t>
            </a:r>
            <a:r>
              <a:rPr lang="en-US" altLang="zh-CN" sz="4400" dirty="0">
                <a:latin typeface="Symbol" panose="05050102010706020507" pitchFamily="18" charset="2"/>
              </a:rPr>
              <a:t>W</a:t>
            </a:r>
            <a:r>
              <a:rPr lang="zh-CN" altLang="en-US" sz="4400" dirty="0"/>
              <a:t>实例</a:t>
            </a:r>
            <a:endParaRPr lang="zh-CN" altLang="en-US" dirty="0"/>
          </a:p>
        </p:txBody>
      </p:sp>
      <p:sp>
        <p:nvSpPr>
          <p:cNvPr id="29699" name="灯片编号占位符 3">
            <a:extLst>
              <a:ext uri="{FF2B5EF4-FFF2-40B4-BE49-F238E27FC236}">
                <a16:creationId xmlns:a16="http://schemas.microsoft.com/office/drawing/2014/main" id="{6A0B19AF-01B3-8137-347C-21FA42DC47A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BA1307EB-5068-4176-9DA3-9548A6C47456}" type="slidenum">
              <a:rPr lang="en-US" altLang="zh-CN" sz="1200">
                <a:solidFill>
                  <a:schemeClr val="tx1"/>
                </a:solidFill>
                <a:latin typeface="Garamond" pitchFamily="18" charset="0"/>
                <a:ea typeface="宋体" panose="02010600030101010101" pitchFamily="2" charset="-122"/>
              </a:rPr>
              <a:pPr/>
              <a:t>52</a:t>
            </a:fld>
            <a:endParaRPr lang="en-US" altLang="zh-CN" sz="1200">
              <a:solidFill>
                <a:schemeClr val="tx1"/>
              </a:solidFill>
              <a:latin typeface="Garamond" pitchFamily="18" charset="0"/>
              <a:ea typeface="宋体" panose="02010600030101010101" pitchFamily="2" charset="-122"/>
            </a:endParaRPr>
          </a:p>
        </p:txBody>
      </p:sp>
      <p:sp>
        <p:nvSpPr>
          <p:cNvPr id="29700" name="Rectangle 3" descr="Rectangle: Click to edit Master text styles&#10;Second level&#10;Third level&#10;Fourth level&#10;Fifth level">
            <a:extLst>
              <a:ext uri="{FF2B5EF4-FFF2-40B4-BE49-F238E27FC236}">
                <a16:creationId xmlns:a16="http://schemas.microsoft.com/office/drawing/2014/main" id="{CEBC196B-2DA4-FAE8-EF26-2E4516424815}"/>
              </a:ext>
            </a:extLst>
          </p:cNvPr>
          <p:cNvSpPr>
            <a:spLocks noGrp="1" noChangeArrowheads="1"/>
          </p:cNvSpPr>
          <p:nvPr>
            <p:ph idx="1"/>
          </p:nvPr>
        </p:nvSpPr>
        <p:spPr>
          <a:xfrm>
            <a:off x="323528" y="1547019"/>
            <a:ext cx="8229600" cy="4530725"/>
          </a:xfrm>
        </p:spPr>
        <p:txBody>
          <a:bodyPr/>
          <a:lstStyle/>
          <a:p>
            <a:pPr marL="533400" indent="-533400">
              <a:buFont typeface="Wingdings" panose="05000000000000000000" pitchFamily="2" charset="2"/>
              <a:buNone/>
            </a:pPr>
            <a:r>
              <a:rPr lang="zh-CN" altLang="en-US" sz="2400" u="sng" dirty="0"/>
              <a:t>略去</a:t>
            </a:r>
            <a:r>
              <a:rPr lang="zh-CN" altLang="en-US" sz="2400" u="sng" dirty="0">
                <a:solidFill>
                  <a:srgbClr val="FF0000"/>
                </a:solidFill>
              </a:rPr>
              <a:t>低阶项</a:t>
            </a:r>
            <a:r>
              <a:rPr lang="zh-CN" altLang="en-US" sz="2400" u="sng" dirty="0"/>
              <a:t>和</a:t>
            </a:r>
            <a:r>
              <a:rPr lang="zh-CN" altLang="en-US" sz="2400" u="sng" dirty="0">
                <a:solidFill>
                  <a:srgbClr val="FF0000"/>
                </a:solidFill>
              </a:rPr>
              <a:t>常数系数项</a:t>
            </a:r>
            <a:r>
              <a:rPr lang="zh-CN" altLang="en-US" sz="2400" dirty="0"/>
              <a:t>，留下的</a:t>
            </a:r>
            <a:r>
              <a:rPr lang="zh-CN" altLang="en-US" sz="2400" dirty="0">
                <a:solidFill>
                  <a:srgbClr val="FF0000"/>
                </a:solidFill>
              </a:rPr>
              <a:t>主项</a:t>
            </a:r>
            <a:endParaRPr lang="en-US" altLang="zh-CN" sz="2400" dirty="0">
              <a:solidFill>
                <a:srgbClr val="FF0000"/>
              </a:solidFill>
            </a:endParaRPr>
          </a:p>
          <a:p>
            <a:pPr marL="533400" indent="-533400">
              <a:buFont typeface="Wingdings" panose="05000000000000000000" pitchFamily="2" charset="2"/>
              <a:buNone/>
            </a:pPr>
            <a:r>
              <a:rPr lang="zh-CN" altLang="en-US" sz="2000" dirty="0"/>
              <a:t>      略去低阶项</a:t>
            </a:r>
            <a:endParaRPr lang="en-US" altLang="zh-CN" sz="2000" dirty="0"/>
          </a:p>
          <a:p>
            <a:pPr marL="1371600" lvl="2" indent="-457200"/>
            <a:r>
              <a:rPr lang="en-US" altLang="zh-CN" sz="2000" dirty="0"/>
              <a:t>4n + 5   </a:t>
            </a:r>
            <a:r>
              <a:rPr lang="en-US" altLang="zh-CN" sz="2000" dirty="0">
                <a:sym typeface="Symbol" panose="05050102010706020507" pitchFamily="18" charset="2"/>
              </a:rPr>
              <a:t>   4n</a:t>
            </a:r>
          </a:p>
          <a:p>
            <a:pPr marL="1371600" lvl="2" indent="-457200"/>
            <a:r>
              <a:rPr lang="en-US" altLang="zh-CN" sz="2000" dirty="0"/>
              <a:t>0.5 n log n  -  2n  +  7   </a:t>
            </a:r>
            <a:r>
              <a:rPr lang="en-US" altLang="zh-CN" sz="2000" dirty="0">
                <a:sym typeface="Symbol" panose="05050102010706020507" pitchFamily="18" charset="2"/>
              </a:rPr>
              <a:t>   0.5 n log n</a:t>
            </a:r>
          </a:p>
          <a:p>
            <a:pPr marL="1371600" lvl="2" indent="-457200"/>
            <a:endParaRPr lang="en-US" altLang="zh-CN" sz="2000" dirty="0"/>
          </a:p>
          <a:p>
            <a:pPr marL="914400" lvl="1" indent="-457200">
              <a:buClr>
                <a:schemeClr val="tx1"/>
              </a:buClr>
              <a:buFont typeface="Wingdings" panose="05000000000000000000" pitchFamily="2" charset="2"/>
              <a:buNone/>
            </a:pPr>
            <a:r>
              <a:rPr lang="zh-CN" altLang="en-US" sz="2000" dirty="0"/>
              <a:t>略去常数系数项</a:t>
            </a:r>
            <a:endParaRPr lang="en-US" altLang="zh-CN" sz="2000" dirty="0"/>
          </a:p>
          <a:p>
            <a:pPr marL="1371600" lvl="2" indent="-457200"/>
            <a:r>
              <a:rPr lang="en-US" altLang="zh-CN" sz="2000" dirty="0"/>
              <a:t>4n   </a:t>
            </a:r>
            <a:r>
              <a:rPr lang="en-US" altLang="zh-CN" sz="2000" dirty="0">
                <a:sym typeface="Symbol" panose="05050102010706020507" pitchFamily="18" charset="2"/>
              </a:rPr>
              <a:t>   n</a:t>
            </a:r>
          </a:p>
          <a:p>
            <a:pPr marL="1371600" lvl="2" indent="-457200"/>
            <a:r>
              <a:rPr lang="en-US" altLang="zh-CN" sz="2000" dirty="0">
                <a:sym typeface="Symbol" panose="05050102010706020507" pitchFamily="18" charset="2"/>
              </a:rPr>
              <a:t>0.5 n log n      n log n</a:t>
            </a:r>
          </a:p>
          <a:p>
            <a:pPr marL="1371600" lvl="2" indent="-457200"/>
            <a:r>
              <a:rPr lang="en-US" altLang="zh-CN" sz="2000" dirty="0">
                <a:sym typeface="Symbol" panose="05050102010706020507" pitchFamily="18" charset="2"/>
              </a:rPr>
              <a:t>log n</a:t>
            </a:r>
            <a:r>
              <a:rPr lang="en-US" altLang="zh-CN" sz="2000" baseline="30000" dirty="0">
                <a:sym typeface="Symbol" panose="05050102010706020507" pitchFamily="18" charset="2"/>
              </a:rPr>
              <a:t>2</a:t>
            </a:r>
            <a:r>
              <a:rPr lang="en-US" altLang="zh-CN" sz="2000" dirty="0">
                <a:sym typeface="Symbol" panose="05050102010706020507" pitchFamily="18" charset="2"/>
              </a:rPr>
              <a:t>  =  2 log n        log n</a:t>
            </a:r>
          </a:p>
          <a:p>
            <a:pPr marL="1371600" lvl="2" indent="-457200"/>
            <a:r>
              <a:rPr lang="en-US" altLang="zh-CN" sz="2000" dirty="0">
                <a:sym typeface="Symbol" panose="05050102010706020507" pitchFamily="18" charset="2"/>
              </a:rPr>
              <a:t>log</a:t>
            </a:r>
            <a:r>
              <a:rPr lang="en-US" altLang="zh-CN" sz="2000" baseline="-25000" dirty="0">
                <a:sym typeface="Symbol" panose="05050102010706020507" pitchFamily="18" charset="2"/>
              </a:rPr>
              <a:t>3</a:t>
            </a:r>
            <a:r>
              <a:rPr lang="en-US" altLang="zh-CN" sz="2000" dirty="0">
                <a:sym typeface="Symbol" panose="05050102010706020507" pitchFamily="18" charset="2"/>
              </a:rPr>
              <a:t> n  =  (log</a:t>
            </a:r>
            <a:r>
              <a:rPr lang="en-US" altLang="zh-CN" sz="2000" baseline="-25000" dirty="0">
                <a:sym typeface="Symbol" panose="05050102010706020507" pitchFamily="18" charset="2"/>
              </a:rPr>
              <a:t>3</a:t>
            </a:r>
            <a:r>
              <a:rPr lang="en-US" altLang="zh-CN" sz="2000" dirty="0">
                <a:sym typeface="Symbol" panose="05050102010706020507" pitchFamily="18" charset="2"/>
              </a:rPr>
              <a:t> 2) log n     log 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70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70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0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70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70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70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A6CD9BE4-B7F0-F67A-B5A0-245F6BE0B2B7}"/>
              </a:ext>
            </a:extLst>
          </p:cNvPr>
          <p:cNvSpPr>
            <a:spLocks noGrp="1" noChangeArrowheads="1"/>
          </p:cNvSpPr>
          <p:nvPr>
            <p:ph type="body" idx="1"/>
          </p:nvPr>
        </p:nvSpPr>
        <p:spPr>
          <a:xfrm>
            <a:off x="323528" y="838623"/>
            <a:ext cx="8568952" cy="4966642"/>
          </a:xfrm>
        </p:spPr>
        <p:txBody>
          <a:bodyPr/>
          <a:lstStyle/>
          <a:p>
            <a:pPr>
              <a:lnSpc>
                <a:spcPct val="150000"/>
              </a:lnSpc>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a:t>
            </a:r>
            <a:r>
              <a:rPr lang="zh-CN" altLang="en-US" sz="2400" b="1" dirty="0">
                <a:solidFill>
                  <a:srgbClr val="3907F1"/>
                </a:solidFill>
                <a:latin typeface="Times New Roman" panose="02020603050405020304" pitchFamily="18" charset="0"/>
                <a:cs typeface="Times New Roman" panose="02020603050405020304" pitchFamily="18" charset="0"/>
              </a:rPr>
              <a:t>非紧上界 </a:t>
            </a:r>
            <a:r>
              <a:rPr lang="en-US" altLang="zh-CN" sz="2400" b="1" i="1" dirty="0">
                <a:solidFill>
                  <a:srgbClr val="3907F1"/>
                </a:solidFill>
                <a:latin typeface="Times New Roman" panose="02020603050405020304" pitchFamily="18" charset="0"/>
                <a:cs typeface="Times New Roman" panose="02020603050405020304" pitchFamily="18" charset="0"/>
              </a:rPr>
              <a:t>o</a:t>
            </a:r>
            <a:r>
              <a:rPr lang="en-US" altLang="zh-CN" sz="2400" i="1" dirty="0">
                <a:latin typeface="Times New Roman" panose="02020603050405020304" pitchFamily="18" charset="0"/>
                <a:cs typeface="Times New Roman" panose="02020603050405020304" pitchFamily="18" charset="0"/>
              </a:rPr>
              <a:t> </a:t>
            </a:r>
          </a:p>
          <a:p>
            <a:pPr>
              <a:lnSpc>
                <a:spcPct val="150000"/>
              </a:lnSpc>
              <a:buNone/>
            </a:pPr>
            <a:r>
              <a:rPr lang="zh-CN" altLang="en-US" sz="2400" dirty="0">
                <a:latin typeface="Times New Roman" panose="02020603050405020304" pitchFamily="18" charset="0"/>
                <a:cs typeface="Times New Roman" panose="02020603050405020304" pitchFamily="18" charset="0"/>
              </a:rPr>
              <a:t>对于</a:t>
            </a:r>
            <a:r>
              <a:rPr lang="zh-CN" altLang="en-US" sz="2400" dirty="0">
                <a:solidFill>
                  <a:srgbClr val="FF0000"/>
                </a:solidFill>
                <a:latin typeface="Times New Roman" panose="02020603050405020304" pitchFamily="18" charset="0"/>
                <a:cs typeface="Times New Roman" panose="02020603050405020304" pitchFamily="18" charset="0"/>
              </a:rPr>
              <a:t>任何正常数</a:t>
            </a:r>
            <a:r>
              <a:rPr lang="en-US" altLang="zh-CN" sz="2400" i="1" dirty="0">
                <a:solidFill>
                  <a:srgbClr val="FF0000"/>
                </a:solidFill>
                <a:latin typeface="Times New Roman" panose="02020603050405020304" pitchFamily="18" charset="0"/>
                <a:cs typeface="Times New Roman" panose="02020603050405020304" pitchFamily="18" charset="0"/>
              </a:rPr>
              <a:t>c</a:t>
            </a:r>
            <a:r>
              <a:rPr lang="en-US" altLang="zh-CN" sz="2400" dirty="0">
                <a:solidFill>
                  <a:srgbClr val="FF0000"/>
                </a:solidFill>
                <a:latin typeface="Times New Roman" panose="02020603050405020304" pitchFamily="18" charset="0"/>
                <a:cs typeface="Times New Roman" panose="02020603050405020304" pitchFamily="18" charset="0"/>
              </a:rPr>
              <a:t>&gt;0</a:t>
            </a:r>
            <a:r>
              <a:rPr lang="en-US" altLang="zh-CN" sz="2400" i="1" dirty="0">
                <a:solidFill>
                  <a:srgbClr val="FF0000"/>
                </a:solidFill>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存在正数</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 </a:t>
            </a:r>
            <a:r>
              <a:rPr lang="en-US" altLang="zh-CN" sz="2400" dirty="0">
                <a:latin typeface="Times New Roman" panose="02020603050405020304" pitchFamily="18" charset="0"/>
                <a:cs typeface="Times New Roman" panose="02020603050405020304" pitchFamily="18" charset="0"/>
              </a:rPr>
              <a:t>&gt;0, </a:t>
            </a:r>
            <a:r>
              <a:rPr lang="zh-CN" altLang="en-US" sz="2400" dirty="0">
                <a:latin typeface="Times New Roman" panose="02020603050405020304" pitchFamily="18" charset="0"/>
                <a:cs typeface="Times New Roman" panose="02020603050405020304" pitchFamily="18" charset="0"/>
              </a:rPr>
              <a:t>使得对所有</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有：</a:t>
            </a:r>
            <a:r>
              <a:rPr lang="en-US" altLang="zh-CN" sz="2400" dirty="0">
                <a:latin typeface="Times New Roman" panose="02020603050405020304" pitchFamily="18" charset="0"/>
                <a:cs typeface="Times New Roman" panose="02020603050405020304" pitchFamily="18" charset="0"/>
              </a:rPr>
              <a:t>0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FF0000"/>
                </a:solidFill>
                <a:latin typeface="Times New Roman" panose="02020603050405020304" pitchFamily="18" charset="0"/>
                <a:cs typeface="Times New Roman" panose="02020603050405020304" pitchFamily="18" charset="0"/>
              </a:rPr>
              <a:t>&lt;</a:t>
            </a:r>
            <a:r>
              <a:rPr lang="en-US" altLang="zh-CN" sz="2400" i="1" dirty="0">
                <a:latin typeface="Times New Roman" panose="02020603050405020304" pitchFamily="18" charset="0"/>
                <a:cs typeface="Times New Roman" panose="02020603050405020304" pitchFamily="18" charset="0"/>
              </a:rPr>
              <a:t>cg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，称</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为</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a:t>
            </a:r>
            <a:r>
              <a:rPr lang="zh-CN" altLang="en-US" sz="2400" b="1" dirty="0">
                <a:solidFill>
                  <a:srgbClr val="3907F1"/>
                </a:solidFill>
                <a:latin typeface="Times New Roman" panose="02020603050405020304" pitchFamily="18" charset="0"/>
                <a:cs typeface="Times New Roman" panose="02020603050405020304" pitchFamily="18" charset="0"/>
              </a:rPr>
              <a:t>非紧上界 </a:t>
            </a:r>
            <a:r>
              <a:rPr lang="zh-CN" altLang="en-US" sz="2400" dirty="0">
                <a:latin typeface="Times New Roman" panose="02020603050405020304" pitchFamily="18" charset="0"/>
                <a:cs typeface="Times New Roman" panose="02020603050405020304" pitchFamily="18" charset="0"/>
              </a:rPr>
              <a:t>。记作</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solidFill>
                  <a:srgbClr val="3907F1"/>
                </a:solidFill>
                <a:latin typeface="Times New Roman" panose="02020603050405020304" pitchFamily="18" charset="0"/>
                <a:cs typeface="Times New Roman" panose="02020603050405020304" pitchFamily="18" charset="0"/>
              </a:rPr>
              <a:t>o</a:t>
            </a:r>
            <a:r>
              <a:rPr lang="en-US" altLang="zh-CN" sz="2400" i="1"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endParaRPr lang="zh-CN" altLang="en-US" sz="2400" dirty="0">
              <a:solidFill>
                <a:srgbClr val="FF0000"/>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5</a:t>
            </a:r>
            <a:r>
              <a:rPr lang="zh-CN" altLang="en-US" sz="2400" dirty="0">
                <a:latin typeface="Times New Roman" panose="02020603050405020304" pitchFamily="18" charset="0"/>
                <a:cs typeface="Times New Roman" panose="02020603050405020304" pitchFamily="18" charset="0"/>
              </a:rPr>
              <a:t>）</a:t>
            </a:r>
            <a:r>
              <a:rPr lang="zh-CN" altLang="en-US" sz="2400" b="1" dirty="0">
                <a:solidFill>
                  <a:srgbClr val="3907F1"/>
                </a:solidFill>
                <a:latin typeface="Times New Roman" panose="02020603050405020304" pitchFamily="18" charset="0"/>
                <a:cs typeface="Times New Roman" panose="02020603050405020304" pitchFamily="18" charset="0"/>
              </a:rPr>
              <a:t>非紧下界 </a:t>
            </a:r>
            <a:r>
              <a:rPr lang="zh-CN" altLang="en-US" sz="2400" b="1" i="1" dirty="0">
                <a:solidFill>
                  <a:srgbClr val="3907F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latin typeface="Times New Roman" panose="02020603050405020304" pitchFamily="18" charset="0"/>
                <a:cs typeface="Times New Roman" panose="02020603050405020304" pitchFamily="18" charset="0"/>
              </a:rPr>
              <a:t> </a:t>
            </a:r>
            <a:r>
              <a:rPr lang="zh-CN" altLang="en-US" sz="2400" i="1" dirty="0">
                <a:latin typeface="Times New Roman" panose="02020603050405020304" pitchFamily="18" charset="0"/>
                <a:cs typeface="Times New Roman" panose="02020603050405020304" pitchFamily="18" charset="0"/>
              </a:rPr>
              <a:t> </a:t>
            </a:r>
          </a:p>
          <a:p>
            <a:pPr>
              <a:lnSpc>
                <a:spcPct val="150000"/>
              </a:lnSpc>
              <a:buNone/>
            </a:pPr>
            <a:r>
              <a:rPr lang="zh-CN" altLang="en-US" sz="2400" dirty="0">
                <a:latin typeface="Times New Roman" panose="02020603050405020304" pitchFamily="18" charset="0"/>
                <a:cs typeface="Times New Roman" panose="02020603050405020304" pitchFamily="18" charset="0"/>
              </a:rPr>
              <a:t>对于</a:t>
            </a:r>
            <a:r>
              <a:rPr lang="zh-CN" altLang="en-US" sz="2400" dirty="0">
                <a:solidFill>
                  <a:srgbClr val="FF0000"/>
                </a:solidFill>
                <a:latin typeface="Times New Roman" panose="02020603050405020304" pitchFamily="18" charset="0"/>
                <a:cs typeface="Times New Roman" panose="02020603050405020304" pitchFamily="18" charset="0"/>
              </a:rPr>
              <a:t>任何正常数</a:t>
            </a:r>
            <a:r>
              <a:rPr lang="en-US" altLang="zh-CN" sz="2400" i="1" dirty="0">
                <a:solidFill>
                  <a:srgbClr val="FF0000"/>
                </a:solidFill>
                <a:latin typeface="Times New Roman" panose="02020603050405020304" pitchFamily="18" charset="0"/>
                <a:cs typeface="Times New Roman" panose="02020603050405020304" pitchFamily="18" charset="0"/>
              </a:rPr>
              <a:t>c</a:t>
            </a:r>
            <a:r>
              <a:rPr lang="en-US" altLang="zh-CN" sz="2400" dirty="0">
                <a:solidFill>
                  <a:srgbClr val="FF0000"/>
                </a:solidFill>
                <a:latin typeface="Times New Roman" panose="02020603050405020304" pitchFamily="18" charset="0"/>
                <a:cs typeface="Times New Roman" panose="02020603050405020304" pitchFamily="18" charset="0"/>
              </a:rPr>
              <a:t>&gt;0</a:t>
            </a:r>
            <a:r>
              <a:rPr lang="zh-CN" altLang="en-US" sz="2400" i="1"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存在正数</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 </a:t>
            </a:r>
            <a:r>
              <a:rPr lang="en-US" altLang="zh-CN" sz="2400" dirty="0">
                <a:latin typeface="Times New Roman" panose="02020603050405020304" pitchFamily="18" charset="0"/>
                <a:cs typeface="Times New Roman" panose="02020603050405020304" pitchFamily="18" charset="0"/>
              </a:rPr>
              <a:t>&gt;0</a:t>
            </a:r>
            <a:r>
              <a:rPr lang="zh-CN" altLang="en-US" sz="2400" dirty="0">
                <a:latin typeface="Times New Roman" panose="02020603050405020304" pitchFamily="18" charset="0"/>
                <a:cs typeface="Times New Roman" panose="02020603050405020304" pitchFamily="18" charset="0"/>
              </a:rPr>
              <a:t>，使得对所有</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n</a:t>
            </a:r>
            <a:r>
              <a:rPr lang="en-US" altLang="zh-CN" sz="2400"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有： </a:t>
            </a:r>
            <a:r>
              <a:rPr lang="en-US" altLang="zh-CN" sz="2400" dirty="0">
                <a:latin typeface="Times New Roman" panose="02020603050405020304" pitchFamily="18" charset="0"/>
                <a:cs typeface="Times New Roman" panose="02020603050405020304" pitchFamily="18" charset="0"/>
              </a:rPr>
              <a:t>0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cg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solidFill>
                  <a:srgbClr val="FF0000"/>
                </a:solidFill>
                <a:latin typeface="Times New Roman" panose="02020603050405020304" pitchFamily="18" charset="0"/>
                <a:cs typeface="Times New Roman" panose="02020603050405020304" pitchFamily="18" charset="0"/>
              </a:rPr>
              <a:t>&lt;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，称</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为</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a:t>
            </a:r>
            <a:r>
              <a:rPr lang="zh-CN" altLang="en-US" sz="2400" b="1" dirty="0">
                <a:solidFill>
                  <a:srgbClr val="3907F1"/>
                </a:solidFill>
                <a:latin typeface="Times New Roman" panose="02020603050405020304" pitchFamily="18" charset="0"/>
                <a:cs typeface="Times New Roman" panose="02020603050405020304" pitchFamily="18" charset="0"/>
              </a:rPr>
              <a:t>非紧下界 </a:t>
            </a:r>
            <a:r>
              <a:rPr lang="zh-CN" altLang="en-US" sz="2400" dirty="0">
                <a:latin typeface="Times New Roman" panose="02020603050405020304" pitchFamily="18" charset="0"/>
                <a:cs typeface="Times New Roman" panose="02020603050405020304" pitchFamily="18" charset="0"/>
              </a:rPr>
              <a:t>。记作</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solidFill>
                  <a:srgbClr val="000000"/>
                </a:solidFill>
                <a:latin typeface="Times New Roman" panose="02020603050405020304" pitchFamily="18" charset="0"/>
                <a:cs typeface="Times New Roman" panose="02020603050405020304" pitchFamily="18" charset="0"/>
                <a:sym typeface="Symbol" panose="05050102010706020507" pitchFamily="18" charset="2"/>
              </a:rPr>
              <a:t> </a:t>
            </a:r>
            <a:r>
              <a:rPr lang="zh-CN" altLang="en-US" sz="2400" b="1" i="1" dirty="0">
                <a:solidFill>
                  <a:srgbClr val="3907F1"/>
                </a:solidFill>
                <a:latin typeface="Times New Roman" panose="02020603050405020304" pitchFamily="18" charset="0"/>
                <a:cs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endParaRPr lang="zh-CN" altLang="en-US"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CC0438F-C2BE-51E1-10EB-64E7C32877EF}"/>
              </a:ext>
            </a:extLst>
          </p:cNvPr>
          <p:cNvSpPr>
            <a:spLocks noGrp="1" noChangeArrowheads="1"/>
          </p:cNvSpPr>
          <p:nvPr>
            <p:ph type="title"/>
          </p:nvPr>
        </p:nvSpPr>
        <p:spPr/>
        <p:txBody>
          <a:bodyPr/>
          <a:lstStyle/>
          <a:p>
            <a:r>
              <a:rPr lang="zh-CN" altLang="en-US" sz="2800" b="1">
                <a:solidFill>
                  <a:srgbClr val="0000FF"/>
                </a:solidFill>
              </a:rPr>
              <a:t>渐近分析中函数比较</a:t>
            </a:r>
          </a:p>
        </p:txBody>
      </p:sp>
      <p:pic>
        <p:nvPicPr>
          <p:cNvPr id="6" name="Picture 2" descr="https://images2015.cnblogs.com/blog/1003823/201702/1003823-20170224161915241-1115986408.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8075" y="1844824"/>
            <a:ext cx="6958725" cy="290430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91327" y="1818140"/>
            <a:ext cx="1555234" cy="707886"/>
          </a:xfrm>
          <a:prstGeom prst="rect">
            <a:avLst/>
          </a:prstGeom>
        </p:spPr>
        <p:txBody>
          <a:bodyPr wrap="square">
            <a:spAutoFit/>
          </a:bodyPr>
          <a:lstStyle/>
          <a:p>
            <a:r>
              <a:rPr lang="zh-CN" altLang="en-US" sz="2000" b="1" dirty="0">
                <a:solidFill>
                  <a:srgbClr val="3907F1"/>
                </a:solidFill>
              </a:rPr>
              <a:t>紧渐近界</a:t>
            </a:r>
            <a:r>
              <a:rPr lang="zh-CN" altLang="en-US" sz="2000" b="1" dirty="0">
                <a:solidFill>
                  <a:srgbClr val="3907F1"/>
                </a:solidFill>
                <a:sym typeface="Symbol" panose="05050102010706020507" pitchFamily="18" charset="2"/>
              </a:rPr>
              <a:t></a:t>
            </a:r>
            <a:endParaRPr lang="en-US" altLang="zh-CN" sz="2000" b="1" dirty="0">
              <a:solidFill>
                <a:srgbClr val="3907F1"/>
              </a:solidFill>
            </a:endParaRPr>
          </a:p>
          <a:p>
            <a:endParaRPr lang="zh-CN" altLang="en-US" sz="2000" dirty="0"/>
          </a:p>
        </p:txBody>
      </p:sp>
      <p:sp>
        <p:nvSpPr>
          <p:cNvPr id="5" name="矩形 4"/>
          <p:cNvSpPr/>
          <p:nvPr/>
        </p:nvSpPr>
        <p:spPr>
          <a:xfrm>
            <a:off x="91327" y="2353048"/>
            <a:ext cx="1415772" cy="400110"/>
          </a:xfrm>
          <a:prstGeom prst="rect">
            <a:avLst/>
          </a:prstGeom>
        </p:spPr>
        <p:txBody>
          <a:bodyPr wrap="none">
            <a:spAutoFit/>
          </a:bodyPr>
          <a:lstStyle/>
          <a:p>
            <a:r>
              <a:rPr lang="zh-CN" altLang="en-US" sz="2000" b="1" dirty="0">
                <a:solidFill>
                  <a:srgbClr val="3907F1"/>
                </a:solidFill>
              </a:rPr>
              <a:t>渐近上界</a:t>
            </a:r>
            <a:r>
              <a:rPr lang="en-US" altLang="zh-CN" sz="2000" b="1" dirty="0">
                <a:solidFill>
                  <a:srgbClr val="3907F1"/>
                </a:solidFill>
              </a:rPr>
              <a:t>O</a:t>
            </a:r>
            <a:endParaRPr lang="zh-CN" altLang="en-US" sz="2000" dirty="0"/>
          </a:p>
        </p:txBody>
      </p:sp>
      <p:sp>
        <p:nvSpPr>
          <p:cNvPr id="7" name="矩形 6"/>
          <p:cNvSpPr/>
          <p:nvPr/>
        </p:nvSpPr>
        <p:spPr>
          <a:xfrm>
            <a:off x="91327" y="2956212"/>
            <a:ext cx="1555234" cy="400110"/>
          </a:xfrm>
          <a:prstGeom prst="rect">
            <a:avLst/>
          </a:prstGeom>
        </p:spPr>
        <p:txBody>
          <a:bodyPr wrap="none">
            <a:spAutoFit/>
          </a:bodyPr>
          <a:lstStyle/>
          <a:p>
            <a:r>
              <a:rPr lang="zh-CN" altLang="en-US" sz="2000" b="1" dirty="0">
                <a:solidFill>
                  <a:srgbClr val="3907F1"/>
                </a:solidFill>
              </a:rPr>
              <a:t>渐近下界 </a:t>
            </a:r>
            <a:r>
              <a:rPr lang="zh-CN" altLang="en-US" sz="2000" b="1" dirty="0">
                <a:solidFill>
                  <a:srgbClr val="3907F1"/>
                </a:solidFill>
                <a:sym typeface="Symbol" panose="05050102010706020507" pitchFamily="18" charset="2"/>
              </a:rPr>
              <a:t></a:t>
            </a:r>
            <a:r>
              <a:rPr lang="zh-CN" altLang="en-US" sz="2000" dirty="0">
                <a:solidFill>
                  <a:srgbClr val="000000"/>
                </a:solidFill>
              </a:rPr>
              <a:t> </a:t>
            </a:r>
            <a:endParaRPr lang="zh-CN" altLang="en-US" sz="2000" dirty="0"/>
          </a:p>
        </p:txBody>
      </p:sp>
      <p:sp>
        <p:nvSpPr>
          <p:cNvPr id="8" name="矩形 7"/>
          <p:cNvSpPr/>
          <p:nvPr/>
        </p:nvSpPr>
        <p:spPr>
          <a:xfrm>
            <a:off x="91327" y="3582946"/>
            <a:ext cx="1444626" cy="400110"/>
          </a:xfrm>
          <a:prstGeom prst="rect">
            <a:avLst/>
          </a:prstGeom>
        </p:spPr>
        <p:txBody>
          <a:bodyPr wrap="none">
            <a:spAutoFit/>
          </a:bodyPr>
          <a:lstStyle/>
          <a:p>
            <a:r>
              <a:rPr lang="zh-CN" altLang="en-US" sz="2000" b="1" dirty="0">
                <a:solidFill>
                  <a:srgbClr val="3907F1"/>
                </a:solidFill>
              </a:rPr>
              <a:t>非紧上界</a:t>
            </a:r>
            <a:r>
              <a:rPr lang="en-US" altLang="zh-CN" sz="2000" b="1" i="1" dirty="0">
                <a:solidFill>
                  <a:srgbClr val="3907F1"/>
                </a:solidFill>
              </a:rPr>
              <a:t>o</a:t>
            </a:r>
            <a:r>
              <a:rPr lang="en-US" altLang="zh-CN" sz="2000" i="1" dirty="0"/>
              <a:t> </a:t>
            </a:r>
            <a:endParaRPr lang="zh-CN" altLang="en-US" sz="2000" dirty="0"/>
          </a:p>
        </p:txBody>
      </p:sp>
      <p:sp>
        <p:nvSpPr>
          <p:cNvPr id="9" name="矩形 8"/>
          <p:cNvSpPr/>
          <p:nvPr/>
        </p:nvSpPr>
        <p:spPr>
          <a:xfrm>
            <a:off x="91327" y="4314663"/>
            <a:ext cx="1463862" cy="400110"/>
          </a:xfrm>
          <a:prstGeom prst="rect">
            <a:avLst/>
          </a:prstGeom>
        </p:spPr>
        <p:txBody>
          <a:bodyPr wrap="none">
            <a:spAutoFit/>
          </a:bodyPr>
          <a:lstStyle/>
          <a:p>
            <a:r>
              <a:rPr lang="zh-CN" altLang="en-US" sz="2000" b="1" dirty="0">
                <a:solidFill>
                  <a:srgbClr val="3907F1"/>
                </a:solidFill>
              </a:rPr>
              <a:t>非紧下界</a:t>
            </a:r>
            <a:r>
              <a:rPr lang="zh-CN" altLang="en-US" sz="2000" b="1" i="1" dirty="0">
                <a:solidFill>
                  <a:srgbClr val="3907F1"/>
                </a:solidFill>
                <a:sym typeface="Symbol" panose="05050102010706020507" pitchFamily="18" charset="2"/>
              </a:rPr>
              <a:t></a:t>
            </a:r>
            <a:r>
              <a:rPr lang="zh-CN" altLang="en-US" sz="2000" dirty="0"/>
              <a:t> </a:t>
            </a:r>
          </a:p>
        </p:txBody>
      </p:sp>
    </p:spTree>
    <p:extLst>
      <p:ext uri="{BB962C8B-B14F-4D97-AF65-F5344CB8AC3E}">
        <p14:creationId xmlns:p14="http://schemas.microsoft.com/office/powerpoint/2010/main" val="77296735"/>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CC0438F-C2BE-51E1-10EB-64E7C32877EF}"/>
              </a:ext>
            </a:extLst>
          </p:cNvPr>
          <p:cNvSpPr>
            <a:spLocks noGrp="1" noChangeArrowheads="1"/>
          </p:cNvSpPr>
          <p:nvPr>
            <p:ph type="title"/>
          </p:nvPr>
        </p:nvSpPr>
        <p:spPr/>
        <p:txBody>
          <a:bodyPr/>
          <a:lstStyle/>
          <a:p>
            <a:r>
              <a:rPr lang="zh-CN" altLang="en-US" sz="2800" b="1">
                <a:solidFill>
                  <a:srgbClr val="0000FF"/>
                </a:solidFill>
              </a:rPr>
              <a:t>渐近分析中函数比较</a:t>
            </a:r>
          </a:p>
        </p:txBody>
      </p:sp>
      <p:sp>
        <p:nvSpPr>
          <p:cNvPr id="4" name="矩形 3"/>
          <p:cNvSpPr/>
          <p:nvPr/>
        </p:nvSpPr>
        <p:spPr>
          <a:xfrm>
            <a:off x="1747511" y="1890148"/>
            <a:ext cx="1555234" cy="707886"/>
          </a:xfrm>
          <a:prstGeom prst="rect">
            <a:avLst/>
          </a:prstGeom>
        </p:spPr>
        <p:txBody>
          <a:bodyPr wrap="square">
            <a:spAutoFit/>
          </a:bodyPr>
          <a:lstStyle/>
          <a:p>
            <a:r>
              <a:rPr lang="zh-CN" altLang="en-US" sz="2000" b="1" dirty="0">
                <a:solidFill>
                  <a:srgbClr val="3907F1"/>
                </a:solidFill>
              </a:rPr>
              <a:t>紧渐近界</a:t>
            </a:r>
            <a:r>
              <a:rPr lang="zh-CN" altLang="en-US" sz="2000" b="1" dirty="0">
                <a:solidFill>
                  <a:srgbClr val="3907F1"/>
                </a:solidFill>
                <a:sym typeface="Symbol" panose="05050102010706020507" pitchFamily="18" charset="2"/>
              </a:rPr>
              <a:t></a:t>
            </a:r>
            <a:endParaRPr lang="en-US" altLang="zh-CN" sz="2000" b="1" dirty="0">
              <a:solidFill>
                <a:srgbClr val="3907F1"/>
              </a:solidFill>
            </a:endParaRPr>
          </a:p>
          <a:p>
            <a:endParaRPr lang="zh-CN" altLang="en-US" sz="2000" dirty="0"/>
          </a:p>
        </p:txBody>
      </p:sp>
      <p:sp>
        <p:nvSpPr>
          <p:cNvPr id="5" name="矩形 4"/>
          <p:cNvSpPr/>
          <p:nvPr/>
        </p:nvSpPr>
        <p:spPr>
          <a:xfrm>
            <a:off x="1747511" y="2425056"/>
            <a:ext cx="1415772" cy="400110"/>
          </a:xfrm>
          <a:prstGeom prst="rect">
            <a:avLst/>
          </a:prstGeom>
        </p:spPr>
        <p:txBody>
          <a:bodyPr wrap="none">
            <a:spAutoFit/>
          </a:bodyPr>
          <a:lstStyle/>
          <a:p>
            <a:r>
              <a:rPr lang="zh-CN" altLang="en-US" sz="2000" b="1" dirty="0">
                <a:solidFill>
                  <a:srgbClr val="3907F1"/>
                </a:solidFill>
              </a:rPr>
              <a:t>渐近上界</a:t>
            </a:r>
            <a:r>
              <a:rPr lang="en-US" altLang="zh-CN" sz="2000" b="1" dirty="0">
                <a:solidFill>
                  <a:srgbClr val="3907F1"/>
                </a:solidFill>
              </a:rPr>
              <a:t>O</a:t>
            </a:r>
            <a:endParaRPr lang="zh-CN" altLang="en-US" sz="2000" dirty="0"/>
          </a:p>
        </p:txBody>
      </p:sp>
      <p:sp>
        <p:nvSpPr>
          <p:cNvPr id="7" name="矩形 6"/>
          <p:cNvSpPr/>
          <p:nvPr/>
        </p:nvSpPr>
        <p:spPr>
          <a:xfrm>
            <a:off x="1747511" y="3028220"/>
            <a:ext cx="1555234" cy="400110"/>
          </a:xfrm>
          <a:prstGeom prst="rect">
            <a:avLst/>
          </a:prstGeom>
        </p:spPr>
        <p:txBody>
          <a:bodyPr wrap="none">
            <a:spAutoFit/>
          </a:bodyPr>
          <a:lstStyle/>
          <a:p>
            <a:r>
              <a:rPr lang="zh-CN" altLang="en-US" sz="2000" b="1" dirty="0">
                <a:solidFill>
                  <a:srgbClr val="3907F1"/>
                </a:solidFill>
              </a:rPr>
              <a:t>渐近下界 </a:t>
            </a:r>
            <a:r>
              <a:rPr lang="zh-CN" altLang="en-US" sz="2000" b="1" dirty="0">
                <a:solidFill>
                  <a:srgbClr val="3907F1"/>
                </a:solidFill>
                <a:sym typeface="Symbol" panose="05050102010706020507" pitchFamily="18" charset="2"/>
              </a:rPr>
              <a:t></a:t>
            </a:r>
            <a:r>
              <a:rPr lang="zh-CN" altLang="en-US" sz="2000" dirty="0">
                <a:solidFill>
                  <a:srgbClr val="000000"/>
                </a:solidFill>
              </a:rPr>
              <a:t> </a:t>
            </a:r>
            <a:endParaRPr lang="zh-CN" altLang="en-US" sz="2000" dirty="0"/>
          </a:p>
        </p:txBody>
      </p:sp>
      <p:sp>
        <p:nvSpPr>
          <p:cNvPr id="8" name="矩形 7"/>
          <p:cNvSpPr/>
          <p:nvPr/>
        </p:nvSpPr>
        <p:spPr>
          <a:xfrm>
            <a:off x="1747511" y="3654954"/>
            <a:ext cx="1444626" cy="400110"/>
          </a:xfrm>
          <a:prstGeom prst="rect">
            <a:avLst/>
          </a:prstGeom>
        </p:spPr>
        <p:txBody>
          <a:bodyPr wrap="none">
            <a:spAutoFit/>
          </a:bodyPr>
          <a:lstStyle/>
          <a:p>
            <a:r>
              <a:rPr lang="zh-CN" altLang="en-US" sz="2000" b="1" dirty="0">
                <a:solidFill>
                  <a:srgbClr val="3907F1"/>
                </a:solidFill>
              </a:rPr>
              <a:t>非紧上界</a:t>
            </a:r>
            <a:r>
              <a:rPr lang="en-US" altLang="zh-CN" sz="2000" b="1" i="1" dirty="0">
                <a:solidFill>
                  <a:srgbClr val="3907F1"/>
                </a:solidFill>
              </a:rPr>
              <a:t>o</a:t>
            </a:r>
            <a:r>
              <a:rPr lang="en-US" altLang="zh-CN" sz="2000" i="1" dirty="0"/>
              <a:t> </a:t>
            </a:r>
            <a:endParaRPr lang="zh-CN" altLang="en-US" sz="2000" dirty="0"/>
          </a:p>
        </p:txBody>
      </p:sp>
      <p:sp>
        <p:nvSpPr>
          <p:cNvPr id="9" name="矩形 8"/>
          <p:cNvSpPr/>
          <p:nvPr/>
        </p:nvSpPr>
        <p:spPr>
          <a:xfrm>
            <a:off x="1747511" y="4386671"/>
            <a:ext cx="1463862" cy="400110"/>
          </a:xfrm>
          <a:prstGeom prst="rect">
            <a:avLst/>
          </a:prstGeom>
        </p:spPr>
        <p:txBody>
          <a:bodyPr wrap="none">
            <a:spAutoFit/>
          </a:bodyPr>
          <a:lstStyle/>
          <a:p>
            <a:r>
              <a:rPr lang="zh-CN" altLang="en-US" sz="2000" b="1" dirty="0">
                <a:solidFill>
                  <a:srgbClr val="3907F1"/>
                </a:solidFill>
              </a:rPr>
              <a:t>非紧下界</a:t>
            </a:r>
            <a:r>
              <a:rPr lang="zh-CN" altLang="en-US" sz="2000" b="1" i="1" dirty="0">
                <a:solidFill>
                  <a:srgbClr val="3907F1"/>
                </a:solidFill>
                <a:sym typeface="Symbol" panose="05050102010706020507" pitchFamily="18" charset="2"/>
              </a:rPr>
              <a:t></a:t>
            </a:r>
            <a:r>
              <a:rPr lang="zh-CN" altLang="en-US" sz="2000" dirty="0"/>
              <a:t> </a:t>
            </a:r>
          </a:p>
        </p:txBody>
      </p:sp>
      <p:sp>
        <p:nvSpPr>
          <p:cNvPr id="10" name="Rectangle 3">
            <a:extLst>
              <a:ext uri="{FF2B5EF4-FFF2-40B4-BE49-F238E27FC236}">
                <a16:creationId xmlns:a16="http://schemas.microsoft.com/office/drawing/2014/main" id="{C970708A-9009-768E-AB49-7DB8ADC6611A}"/>
              </a:ext>
            </a:extLst>
          </p:cNvPr>
          <p:cNvSpPr txBox="1">
            <a:spLocks noChangeArrowheads="1"/>
          </p:cNvSpPr>
          <p:nvPr/>
        </p:nvSpPr>
        <p:spPr bwMode="auto">
          <a:xfrm>
            <a:off x="3563888" y="1772816"/>
            <a:ext cx="3312368" cy="31683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Font typeface="Wingdings" panose="05000000000000000000" pitchFamily="2" charset="2"/>
              <a:buNone/>
            </a:pPr>
            <a:r>
              <a:rPr lang="en-US" altLang="zh-CN" sz="2400" i="1" kern="0" dirty="0">
                <a:latin typeface="Times New Roman" panose="02020603050405020304" pitchFamily="18" charset="0"/>
                <a:cs typeface="Times New Roman" panose="02020603050405020304" pitchFamily="18" charset="0"/>
              </a:rPr>
              <a:t>f</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g</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 a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 b;</a:t>
            </a:r>
          </a:p>
          <a:p>
            <a:pPr>
              <a:lnSpc>
                <a:spcPct val="150000"/>
              </a:lnSpc>
              <a:buFont typeface="Wingdings" panose="05000000000000000000" pitchFamily="2" charset="2"/>
              <a:buNone/>
            </a:pPr>
            <a:r>
              <a:rPr lang="en-US" altLang="zh-CN" sz="2400" i="1" kern="0" dirty="0">
                <a:latin typeface="Times New Roman" panose="02020603050405020304" pitchFamily="18" charset="0"/>
                <a:cs typeface="Times New Roman" panose="02020603050405020304" pitchFamily="18" charset="0"/>
              </a:rPr>
              <a:t>f</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i="1" kern="0" dirty="0">
                <a:latin typeface="Times New Roman" panose="02020603050405020304" pitchFamily="18" charset="0"/>
                <a:cs typeface="Times New Roman" panose="02020603050405020304" pitchFamily="18" charset="0"/>
                <a:sym typeface="Symbol" panose="05050102010706020507" pitchFamily="18" charset="2"/>
              </a:rPr>
              <a:t>O</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g</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 a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 b;</a:t>
            </a:r>
          </a:p>
          <a:p>
            <a:pPr>
              <a:lnSpc>
                <a:spcPct val="150000"/>
              </a:lnSpc>
              <a:buFont typeface="Wingdings" panose="05000000000000000000" pitchFamily="2" charset="2"/>
              <a:buNone/>
            </a:pPr>
            <a:r>
              <a:rPr lang="en-US" altLang="zh-CN" sz="2400" i="1" kern="0" dirty="0">
                <a:latin typeface="Times New Roman" panose="02020603050405020304" pitchFamily="18" charset="0"/>
                <a:cs typeface="Times New Roman" panose="02020603050405020304" pitchFamily="18" charset="0"/>
              </a:rPr>
              <a:t>f</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g</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 a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 b;</a:t>
            </a:r>
          </a:p>
          <a:p>
            <a:pPr>
              <a:lnSpc>
                <a:spcPct val="150000"/>
              </a:lnSpc>
              <a:buFont typeface="Wingdings" panose="05000000000000000000" pitchFamily="2" charset="2"/>
              <a:buNone/>
            </a:pPr>
            <a:r>
              <a:rPr lang="en-US" altLang="zh-CN" sz="2400" i="1" kern="0" dirty="0">
                <a:latin typeface="Times New Roman" panose="02020603050405020304" pitchFamily="18" charset="0"/>
                <a:cs typeface="Times New Roman" panose="02020603050405020304" pitchFamily="18" charset="0"/>
              </a:rPr>
              <a:t>f</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i="1" kern="0" dirty="0">
                <a:latin typeface="Times New Roman" panose="02020603050405020304" pitchFamily="18" charset="0"/>
                <a:cs typeface="Times New Roman" panose="02020603050405020304" pitchFamily="18" charset="0"/>
              </a:rPr>
              <a:t>o</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g</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 a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&lt; b;</a:t>
            </a:r>
          </a:p>
          <a:p>
            <a:pPr>
              <a:lnSpc>
                <a:spcPct val="150000"/>
              </a:lnSpc>
              <a:buFont typeface="Wingdings" panose="05000000000000000000" pitchFamily="2" charset="2"/>
              <a:buNone/>
            </a:pPr>
            <a:r>
              <a:rPr lang="en-US" altLang="zh-CN" sz="2400" i="1" kern="0" dirty="0">
                <a:latin typeface="Times New Roman" panose="02020603050405020304" pitchFamily="18" charset="0"/>
                <a:cs typeface="Times New Roman" panose="02020603050405020304" pitchFamily="18" charset="0"/>
              </a:rPr>
              <a:t>f</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i="1"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g</a:t>
            </a:r>
            <a:r>
              <a:rPr lang="en-US" altLang="zh-CN" sz="2400" kern="0" dirty="0">
                <a:latin typeface="Times New Roman" panose="02020603050405020304" pitchFamily="18" charset="0"/>
                <a:cs typeface="Times New Roman" panose="02020603050405020304" pitchFamily="18" charset="0"/>
              </a:rPr>
              <a:t>(</a:t>
            </a:r>
            <a:r>
              <a:rPr lang="en-US" altLang="zh-CN" sz="2400" i="1" kern="0" dirty="0">
                <a:latin typeface="Times New Roman" panose="02020603050405020304" pitchFamily="18" charset="0"/>
                <a:cs typeface="Times New Roman" panose="02020603050405020304" pitchFamily="18" charset="0"/>
              </a:rPr>
              <a:t>n</a:t>
            </a:r>
            <a:r>
              <a:rPr lang="en-US" altLang="zh-CN"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kern="0" dirty="0">
                <a:latin typeface="Times New Roman" panose="02020603050405020304" pitchFamily="18" charset="0"/>
                <a:cs typeface="Times New Roman" panose="02020603050405020304" pitchFamily="18" charset="0"/>
              </a:rPr>
              <a:t> a </a:t>
            </a:r>
            <a:r>
              <a:rPr lang="en-US" altLang="zh-CN" sz="2400" kern="0" dirty="0">
                <a:latin typeface="Times New Roman" panose="02020603050405020304" pitchFamily="18" charset="0"/>
                <a:cs typeface="Times New Roman" panose="02020603050405020304" pitchFamily="18" charset="0"/>
                <a:sym typeface="Symbol" panose="05050102010706020507" pitchFamily="18" charset="2"/>
              </a:rPr>
              <a:t>&gt; b.</a:t>
            </a:r>
          </a:p>
        </p:txBody>
      </p:sp>
    </p:spTree>
    <p:extLst>
      <p:ext uri="{BB962C8B-B14F-4D97-AF65-F5344CB8AC3E}">
        <p14:creationId xmlns:p14="http://schemas.microsoft.com/office/powerpoint/2010/main" val="393769749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4D289FC-133E-A3E9-DFFF-C0F5DCEBDFBF}"/>
              </a:ext>
            </a:extLst>
          </p:cNvPr>
          <p:cNvSpPr>
            <a:spLocks noGrp="1" noChangeArrowheads="1"/>
          </p:cNvSpPr>
          <p:nvPr>
            <p:ph type="title"/>
          </p:nvPr>
        </p:nvSpPr>
        <p:spPr/>
        <p:txBody>
          <a:bodyPr/>
          <a:lstStyle/>
          <a:p>
            <a:r>
              <a:rPr lang="zh-CN" altLang="en-US" sz="2800" b="1">
                <a:solidFill>
                  <a:srgbClr val="0000FF"/>
                </a:solidFill>
              </a:rPr>
              <a:t>渐近分析记号的若干性质</a:t>
            </a:r>
          </a:p>
        </p:txBody>
      </p:sp>
      <p:sp>
        <p:nvSpPr>
          <p:cNvPr id="35843" name="Rectangle 3">
            <a:extLst>
              <a:ext uri="{FF2B5EF4-FFF2-40B4-BE49-F238E27FC236}">
                <a16:creationId xmlns:a16="http://schemas.microsoft.com/office/drawing/2014/main" id="{6C35270E-7EA4-90A4-28E8-D14ED9B0A1E3}"/>
              </a:ext>
            </a:extLst>
          </p:cNvPr>
          <p:cNvSpPr>
            <a:spLocks noGrp="1" noChangeArrowheads="1"/>
          </p:cNvSpPr>
          <p:nvPr>
            <p:ph type="body" idx="1"/>
          </p:nvPr>
        </p:nvSpPr>
        <p:spPr>
          <a:xfrm>
            <a:off x="755576" y="1411511"/>
            <a:ext cx="8229600" cy="4530725"/>
          </a:xfrm>
        </p:spPr>
        <p:txBody>
          <a:bodyPr/>
          <a:lstStyle/>
          <a:p>
            <a:pPr>
              <a:lnSpc>
                <a:spcPct val="150000"/>
              </a:lnSpc>
              <a:buFont typeface="Wingdings" panose="05000000000000000000" pitchFamily="2" charset="2"/>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1</a:t>
            </a:r>
            <a:r>
              <a:rPr lang="zh-CN" altLang="en-US" sz="2400" b="1" dirty="0">
                <a:solidFill>
                  <a:srgbClr val="0000FF"/>
                </a:solidFill>
                <a:latin typeface="Times New Roman" panose="02020603050405020304" pitchFamily="18" charset="0"/>
                <a:cs typeface="Times New Roman" panose="02020603050405020304" pitchFamily="18" charset="0"/>
              </a:rPr>
              <a:t>）传递性：</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O</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O</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h</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a:spcBef>
                <a:spcPct val="0"/>
              </a:spcBef>
              <a:buFont typeface="Wingdings" panose="05000000000000000000" pitchFamily="2" charset="2"/>
              <a:buNone/>
            </a:pPr>
            <a:endParaRPr lang="en-US" altLang="zh-CN"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3B279F9E-4014-B816-FFB6-8BDA04FAB267}"/>
              </a:ext>
            </a:extLst>
          </p:cNvPr>
          <p:cNvSpPr>
            <a:spLocks noGrp="1" noChangeArrowheads="1"/>
          </p:cNvSpPr>
          <p:nvPr>
            <p:ph type="body" idx="1"/>
          </p:nvPr>
        </p:nvSpPr>
        <p:spPr>
          <a:xfrm>
            <a:off x="714375" y="500063"/>
            <a:ext cx="7772400" cy="5619750"/>
          </a:xfrm>
        </p:spPr>
        <p:txBody>
          <a:bodyPr/>
          <a:lstStyle/>
          <a:p>
            <a:pPr>
              <a:lnSpc>
                <a:spcPct val="150000"/>
              </a:lnSpc>
              <a:buFont typeface="Wingdings" panose="05000000000000000000" pitchFamily="2" charset="2"/>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2</a:t>
            </a:r>
            <a:r>
              <a:rPr lang="zh-CN" altLang="en-US" sz="2400" b="1" dirty="0">
                <a:solidFill>
                  <a:srgbClr val="0000FF"/>
                </a:solidFill>
                <a:latin typeface="Times New Roman" panose="02020603050405020304" pitchFamily="18" charset="0"/>
                <a:cs typeface="Times New Roman" panose="02020603050405020304" pitchFamily="18" charset="0"/>
              </a:rPr>
              <a:t>）反身性：</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sym typeface="Symbol" panose="05050102010706020507" pitchFamily="18" charset="2"/>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3</a:t>
            </a:r>
            <a:r>
              <a:rPr lang="zh-CN" altLang="en-US" sz="2400" b="1" dirty="0">
                <a:solidFill>
                  <a:srgbClr val="0000FF"/>
                </a:solidFill>
                <a:latin typeface="Times New Roman" panose="02020603050405020304" pitchFamily="18" charset="0"/>
                <a:cs typeface="Times New Roman" panose="02020603050405020304" pitchFamily="18" charset="0"/>
              </a:rPr>
              <a:t>）对称性：</a:t>
            </a:r>
            <a:endParaRPr lang="zh-CN" alt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p>
          <a:p>
            <a:pPr>
              <a:lnSpc>
                <a:spcPct val="150000"/>
              </a:lnSpc>
              <a:buFont typeface="Wingdings" panose="05000000000000000000" pitchFamily="2" charset="2"/>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4</a:t>
            </a:r>
            <a:r>
              <a:rPr lang="zh-CN" altLang="en-US" sz="2400" b="1" dirty="0">
                <a:solidFill>
                  <a:srgbClr val="0000FF"/>
                </a:solidFill>
                <a:latin typeface="Times New Roman" panose="02020603050405020304" pitchFamily="18" charset="0"/>
                <a:cs typeface="Times New Roman" panose="02020603050405020304" pitchFamily="18" charset="0"/>
              </a:rPr>
              <a:t>）互对称性：</a:t>
            </a:r>
            <a:endParaRPr lang="zh-CN" altLang="en-US" sz="240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None/>
            </a:pP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0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solidFill>
                  <a:srgbClr val="FF0000"/>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FBCDDA89-CD58-E536-C04F-98DD8BF33202}"/>
              </a:ext>
            </a:extLst>
          </p:cNvPr>
          <p:cNvSpPr>
            <a:spLocks noGrp="1" noChangeArrowheads="1"/>
          </p:cNvSpPr>
          <p:nvPr>
            <p:ph type="body" idx="1"/>
          </p:nvPr>
        </p:nvSpPr>
        <p:spPr>
          <a:xfrm>
            <a:off x="642938" y="714375"/>
            <a:ext cx="7772400" cy="5043488"/>
          </a:xfrm>
        </p:spPr>
        <p:txBody>
          <a:bodyPr/>
          <a:lstStyle/>
          <a:p>
            <a:pPr>
              <a:lnSpc>
                <a:spcPct val="150000"/>
              </a:lnSpc>
              <a:buFont typeface="Wingdings" panose="05000000000000000000" pitchFamily="2" charset="2"/>
              <a:buNone/>
            </a:pPr>
            <a:r>
              <a:rPr lang="zh-CN" altLang="en-US" sz="2400" b="1" dirty="0">
                <a:solidFill>
                  <a:srgbClr val="0000FF"/>
                </a:solidFill>
                <a:latin typeface="Times New Roman" panose="02020603050405020304" pitchFamily="18" charset="0"/>
                <a:cs typeface="Times New Roman" panose="02020603050405020304" pitchFamily="18" charset="0"/>
              </a:rPr>
              <a:t>（</a:t>
            </a:r>
            <a:r>
              <a:rPr lang="en-US" altLang="zh-CN" sz="2400" b="1" dirty="0">
                <a:solidFill>
                  <a:srgbClr val="0000FF"/>
                </a:solidFill>
                <a:latin typeface="Times New Roman" panose="02020603050405020304" pitchFamily="18" charset="0"/>
                <a:cs typeface="Times New Roman" panose="02020603050405020304" pitchFamily="18" charset="0"/>
              </a:rPr>
              <a:t>5</a:t>
            </a:r>
            <a:r>
              <a:rPr lang="zh-CN" altLang="en-US" sz="2400" b="1" dirty="0">
                <a:solidFill>
                  <a:srgbClr val="0000FF"/>
                </a:solidFill>
                <a:latin typeface="Times New Roman" panose="02020603050405020304" pitchFamily="18" charset="0"/>
                <a:cs typeface="Times New Roman" panose="02020603050405020304" pitchFamily="18" charset="0"/>
              </a:rPr>
              <a:t>）算术运算：</a:t>
            </a:r>
          </a:p>
          <a:p>
            <a:pPr>
              <a:lnSpc>
                <a:spcPct val="150000"/>
              </a:lnSpc>
              <a:buNone/>
            </a:pP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(max{</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a:t>
            </a:r>
          </a:p>
          <a:p>
            <a:pPr>
              <a:lnSpc>
                <a:spcPct val="150000"/>
              </a:lnSpc>
              <a:buNone/>
            </a:pP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a:t>
            </a:r>
          </a:p>
          <a:p>
            <a:pPr>
              <a:lnSpc>
                <a:spcPct val="150000"/>
              </a:lnSpc>
              <a:buNone/>
            </a:pP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a:t>
            </a:r>
          </a:p>
          <a:p>
            <a:pPr>
              <a:lnSpc>
                <a:spcPct val="150000"/>
              </a:lnSpc>
              <a:buNone/>
            </a:pP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err="1">
                <a:solidFill>
                  <a:srgbClr val="FF0000"/>
                </a:solidFill>
                <a:latin typeface="Times New Roman" panose="02020603050405020304" pitchFamily="18" charset="0"/>
                <a:cs typeface="Times New Roman" panose="02020603050405020304" pitchFamily="18" charset="0"/>
              </a:rPr>
              <a:t>c</a:t>
            </a:r>
            <a:r>
              <a:rPr lang="en-US" altLang="zh-CN" sz="2400" i="1" dirty="0" err="1">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c</a:t>
            </a:r>
            <a:r>
              <a:rPr lang="zh-CN" altLang="en-US" sz="2400" dirty="0">
                <a:latin typeface="Times New Roman" panose="02020603050405020304" pitchFamily="18" charset="0"/>
                <a:cs typeface="Times New Roman" panose="02020603050405020304" pitchFamily="18" charset="0"/>
              </a:rPr>
              <a:t>是一个正常数；</a:t>
            </a:r>
          </a:p>
          <a:p>
            <a:pPr>
              <a:lnSpc>
                <a:spcPct val="150000"/>
              </a:lnSpc>
              <a:buNone/>
            </a:pP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g</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dirty="0">
                <a:latin typeface="Times New Roman" panose="02020603050405020304" pitchFamily="18" charset="0"/>
                <a:cs typeface="Times New Roman" panose="02020603050405020304" pitchFamily="18" charset="0"/>
              </a:rPr>
              <a:t> </a:t>
            </a:r>
            <a:r>
              <a:rPr lang="en-US" altLang="zh-CN" sz="2400" i="1" dirty="0">
                <a:latin typeface="Times New Roman" panose="02020603050405020304" pitchFamily="18" charset="0"/>
                <a:cs typeface="Times New Roman" panose="02020603050405020304" pitchFamily="18" charset="0"/>
              </a:rPr>
              <a:t>O</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f</a:t>
            </a:r>
            <a:r>
              <a:rPr lang="en-US" altLang="zh-CN"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 </a:t>
            </a:r>
            <a:endParaRPr lang="zh-CN" altLang="en-US" sz="2400" dirty="0">
              <a:latin typeface="Times New Roman" panose="02020603050405020304" pitchFamily="18" charset="0"/>
              <a:cs typeface="Times New Roman" panose="02020603050405020304" pitchFamily="18" charset="0"/>
            </a:endParaRPr>
          </a:p>
        </p:txBody>
      </p:sp>
      <p:sp>
        <p:nvSpPr>
          <p:cNvPr id="3" name="object 4"/>
          <p:cNvSpPr txBox="1"/>
          <p:nvPr/>
        </p:nvSpPr>
        <p:spPr>
          <a:xfrm>
            <a:off x="2188473" y="5375707"/>
            <a:ext cx="4681330" cy="382156"/>
          </a:xfrm>
          <a:prstGeom prst="rect">
            <a:avLst/>
          </a:prstGeom>
        </p:spPr>
        <p:txBody>
          <a:bodyPr vert="horz" wrap="square" lIns="0" tIns="12700" rIns="0" bIns="0" rtlCol="0">
            <a:spAutoFit/>
          </a:bodyPr>
          <a:lstStyle/>
          <a:p>
            <a:pPr marL="12700" marR="5080">
              <a:lnSpc>
                <a:spcPct val="100000"/>
              </a:lnSpc>
              <a:spcBef>
                <a:spcPts val="100"/>
              </a:spcBef>
            </a:pPr>
            <a:r>
              <a:rPr sz="2400" b="1" spc="-5" dirty="0">
                <a:solidFill>
                  <a:srgbClr val="000066"/>
                </a:solidFill>
                <a:latin typeface="微软雅黑"/>
                <a:cs typeface="微软雅黑"/>
              </a:rPr>
              <a:t>由两个连续执行部分组成</a:t>
            </a:r>
            <a:r>
              <a:rPr sz="2400" b="1" spc="-20" dirty="0">
                <a:solidFill>
                  <a:srgbClr val="000066"/>
                </a:solidFill>
                <a:latin typeface="微软雅黑"/>
                <a:cs typeface="微软雅黑"/>
              </a:rPr>
              <a:t>的算法</a:t>
            </a:r>
            <a:endParaRPr sz="2400" dirty="0">
              <a:latin typeface="微软雅黑"/>
              <a:cs typeface="微软雅黑"/>
            </a:endParaRPr>
          </a:p>
        </p:txBody>
      </p:sp>
      <p:sp>
        <p:nvSpPr>
          <p:cNvPr id="4" name="object 5"/>
          <p:cNvSpPr txBox="1"/>
          <p:nvPr/>
        </p:nvSpPr>
        <p:spPr>
          <a:xfrm>
            <a:off x="6516216" y="1916832"/>
            <a:ext cx="2102278" cy="955390"/>
          </a:xfrm>
          <a:prstGeom prst="rect">
            <a:avLst/>
          </a:prstGeom>
          <a:ln w="28955">
            <a:solidFill>
              <a:srgbClr val="946E00"/>
            </a:solidFill>
          </a:ln>
        </p:spPr>
        <p:txBody>
          <a:bodyPr vert="horz" wrap="square" lIns="0" tIns="31750" rIns="0" bIns="0" rtlCol="0">
            <a:spAutoFit/>
          </a:bodyPr>
          <a:lstStyle/>
          <a:p>
            <a:pPr marL="91440">
              <a:lnSpc>
                <a:spcPct val="100000"/>
              </a:lnSpc>
              <a:spcBef>
                <a:spcPts val="250"/>
              </a:spcBef>
            </a:pPr>
            <a:r>
              <a:rPr lang="zh-CN" altLang="en-US" b="1" spc="-10" dirty="0">
                <a:solidFill>
                  <a:srgbClr val="FF0000"/>
                </a:solidFill>
                <a:latin typeface="微软雅黑"/>
                <a:cs typeface="微软雅黑"/>
              </a:rPr>
              <a:t>这些性质怎么</a:t>
            </a:r>
            <a:r>
              <a:rPr sz="3000" b="1" spc="-10" dirty="0">
                <a:solidFill>
                  <a:srgbClr val="FF0000"/>
                </a:solidFill>
                <a:latin typeface="微软雅黑"/>
                <a:cs typeface="微软雅黑"/>
              </a:rPr>
              <a:t>用？</a:t>
            </a:r>
            <a:endParaRPr sz="3000" dirty="0">
              <a:latin typeface="微软雅黑"/>
              <a:cs typeface="微软雅黑"/>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10F47663-5F68-1ED7-476B-7986565A1F5A}"/>
              </a:ext>
            </a:extLst>
          </p:cNvPr>
          <p:cNvSpPr>
            <a:spLocks noGrp="1" noChangeArrowheads="1"/>
          </p:cNvSpPr>
          <p:nvPr>
            <p:ph type="body" idx="1"/>
          </p:nvPr>
        </p:nvSpPr>
        <p:spPr>
          <a:xfrm>
            <a:off x="500063" y="500063"/>
            <a:ext cx="7929562" cy="5761037"/>
          </a:xfrm>
        </p:spPr>
        <p:txBody>
          <a:bodyPr/>
          <a:lstStyle/>
          <a:p>
            <a:pPr>
              <a:lnSpc>
                <a:spcPct val="150000"/>
              </a:lnSpc>
              <a:buFont typeface="Wingdings" panose="05000000000000000000" pitchFamily="2" charset="2"/>
              <a:buNone/>
            </a:pPr>
            <a:r>
              <a:rPr lang="zh-CN" altLang="en-US" sz="2000" dirty="0">
                <a:solidFill>
                  <a:srgbClr val="3333CC"/>
                </a:solidFill>
              </a:rPr>
              <a:t>规则</a:t>
            </a:r>
            <a:r>
              <a:rPr lang="en-US" altLang="zh-CN" sz="2000" i="1" dirty="0">
                <a:solidFill>
                  <a:srgbClr val="3333CC"/>
                </a:solidFill>
              </a:rPr>
              <a:t>O</a:t>
            </a:r>
            <a:r>
              <a:rPr lang="en-US" altLang="zh-CN" sz="2000" dirty="0">
                <a:solidFill>
                  <a:srgbClr val="3333CC"/>
                </a:solidFill>
              </a:rPr>
              <a:t>(</a:t>
            </a:r>
            <a:r>
              <a:rPr lang="en-US" altLang="zh-CN" sz="2000" i="1" dirty="0">
                <a:solidFill>
                  <a:srgbClr val="3333CC"/>
                </a:solidFill>
              </a:rPr>
              <a:t>f</a:t>
            </a:r>
            <a:r>
              <a:rPr lang="en-US" altLang="zh-CN" sz="2000" dirty="0">
                <a:solidFill>
                  <a:srgbClr val="3333CC"/>
                </a:solidFill>
              </a:rPr>
              <a:t>(</a:t>
            </a:r>
            <a:r>
              <a:rPr lang="en-US" altLang="zh-CN" sz="2000" i="1" dirty="0">
                <a:solidFill>
                  <a:srgbClr val="3333CC"/>
                </a:solidFill>
              </a:rPr>
              <a:t>n</a:t>
            </a:r>
            <a:r>
              <a:rPr lang="en-US" altLang="zh-CN" sz="2000" dirty="0">
                <a:solidFill>
                  <a:srgbClr val="3333CC"/>
                </a:solidFill>
              </a:rPr>
              <a:t>))+</a:t>
            </a:r>
            <a:r>
              <a:rPr lang="en-US" altLang="zh-CN" sz="2000" i="1" dirty="0">
                <a:solidFill>
                  <a:srgbClr val="3333CC"/>
                </a:solidFill>
              </a:rPr>
              <a:t>O</a:t>
            </a:r>
            <a:r>
              <a:rPr lang="en-US" altLang="zh-CN" sz="2000" dirty="0">
                <a:solidFill>
                  <a:srgbClr val="3333CC"/>
                </a:solidFill>
              </a:rPr>
              <a:t>(</a:t>
            </a:r>
            <a:r>
              <a:rPr lang="en-US" altLang="zh-CN" sz="2000" i="1" dirty="0">
                <a:solidFill>
                  <a:srgbClr val="3333CC"/>
                </a:solidFill>
              </a:rPr>
              <a:t>g</a:t>
            </a:r>
            <a:r>
              <a:rPr lang="en-US" altLang="zh-CN" sz="2000" dirty="0">
                <a:solidFill>
                  <a:srgbClr val="3333CC"/>
                </a:solidFill>
              </a:rPr>
              <a:t>(</a:t>
            </a:r>
            <a:r>
              <a:rPr lang="en-US" altLang="zh-CN" sz="2000" i="1" dirty="0">
                <a:solidFill>
                  <a:srgbClr val="3333CC"/>
                </a:solidFill>
              </a:rPr>
              <a:t>n</a:t>
            </a:r>
            <a:r>
              <a:rPr lang="en-US" altLang="zh-CN" sz="2000" dirty="0">
                <a:solidFill>
                  <a:srgbClr val="3333CC"/>
                </a:solidFill>
              </a:rPr>
              <a:t>)) </a:t>
            </a:r>
            <a:r>
              <a:rPr lang="en-US" altLang="zh-CN" sz="2000" dirty="0">
                <a:solidFill>
                  <a:srgbClr val="3333CC"/>
                </a:solidFill>
                <a:sym typeface="Symbol" panose="05050102010706020507" pitchFamily="18" charset="2"/>
              </a:rPr>
              <a:t>=</a:t>
            </a:r>
            <a:r>
              <a:rPr lang="en-US" altLang="zh-CN" sz="2000" dirty="0">
                <a:solidFill>
                  <a:srgbClr val="3333CC"/>
                </a:solidFill>
              </a:rPr>
              <a:t> </a:t>
            </a:r>
            <a:r>
              <a:rPr lang="en-US" altLang="zh-CN" sz="2000" i="1" dirty="0">
                <a:solidFill>
                  <a:srgbClr val="3333CC"/>
                </a:solidFill>
              </a:rPr>
              <a:t>O</a:t>
            </a:r>
            <a:r>
              <a:rPr lang="en-US" altLang="zh-CN" sz="2000" dirty="0">
                <a:solidFill>
                  <a:srgbClr val="3333CC"/>
                </a:solidFill>
              </a:rPr>
              <a:t>(max{</a:t>
            </a:r>
            <a:r>
              <a:rPr lang="en-US" altLang="zh-CN" sz="2000" i="1" dirty="0">
                <a:solidFill>
                  <a:srgbClr val="3333CC"/>
                </a:solidFill>
              </a:rPr>
              <a:t>f</a:t>
            </a:r>
            <a:r>
              <a:rPr lang="en-US" altLang="zh-CN" sz="2000" dirty="0">
                <a:solidFill>
                  <a:srgbClr val="3333CC"/>
                </a:solidFill>
              </a:rPr>
              <a:t>(n),</a:t>
            </a:r>
            <a:r>
              <a:rPr lang="en-US" altLang="zh-CN" sz="2000" i="1" dirty="0">
                <a:solidFill>
                  <a:srgbClr val="3333CC"/>
                </a:solidFill>
              </a:rPr>
              <a:t>g</a:t>
            </a:r>
            <a:r>
              <a:rPr lang="en-US" altLang="zh-CN" sz="2000" dirty="0">
                <a:solidFill>
                  <a:srgbClr val="3333CC"/>
                </a:solidFill>
              </a:rPr>
              <a:t>(</a:t>
            </a:r>
            <a:r>
              <a:rPr lang="en-US" altLang="zh-CN" sz="2000" i="1" dirty="0">
                <a:solidFill>
                  <a:srgbClr val="3333CC"/>
                </a:solidFill>
              </a:rPr>
              <a:t>n</a:t>
            </a:r>
            <a:r>
              <a:rPr lang="en-US" altLang="zh-CN" sz="2000" dirty="0">
                <a:solidFill>
                  <a:srgbClr val="3333CC"/>
                </a:solidFill>
              </a:rPr>
              <a:t>)}) </a:t>
            </a:r>
            <a:r>
              <a:rPr lang="zh-CN" altLang="en-US" sz="2000" dirty="0">
                <a:solidFill>
                  <a:srgbClr val="3333CC"/>
                </a:solidFill>
              </a:rPr>
              <a:t>的</a:t>
            </a:r>
            <a:r>
              <a:rPr lang="zh-CN" altLang="en-US" sz="2000" b="1" dirty="0">
                <a:solidFill>
                  <a:srgbClr val="3907F1"/>
                </a:solidFill>
              </a:rPr>
              <a:t>证明：</a:t>
            </a:r>
          </a:p>
          <a:p>
            <a:pPr>
              <a:lnSpc>
                <a:spcPct val="150000"/>
              </a:lnSpc>
              <a:buFont typeface="Wingdings" panose="05000000000000000000" pitchFamily="2" charset="2"/>
              <a:buNone/>
            </a:pPr>
            <a:r>
              <a:rPr lang="zh-CN" altLang="en-US" sz="2000" dirty="0"/>
              <a:t>对于任意</a:t>
            </a:r>
            <a:r>
              <a:rPr lang="en-US" altLang="zh-CN" sz="2000" i="1" dirty="0"/>
              <a:t>f</a:t>
            </a:r>
            <a:r>
              <a:rPr lang="en-US" altLang="zh-CN" sz="2000" baseline="-25000" dirty="0"/>
              <a:t>1</a:t>
            </a:r>
            <a:r>
              <a:rPr lang="en-US" altLang="zh-CN" sz="2000" dirty="0"/>
              <a:t>(</a:t>
            </a:r>
            <a:r>
              <a:rPr lang="en-US" altLang="zh-CN" sz="2000" i="1" dirty="0"/>
              <a:t>n</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O</a:t>
            </a:r>
            <a:r>
              <a:rPr lang="en-US" altLang="zh-CN" sz="2000" dirty="0"/>
              <a:t>(</a:t>
            </a:r>
            <a:r>
              <a:rPr lang="en-US" altLang="zh-CN" sz="2000" i="1" dirty="0"/>
              <a:t>f</a:t>
            </a:r>
            <a:r>
              <a:rPr lang="en-US" altLang="zh-CN" sz="2000" dirty="0"/>
              <a:t>(</a:t>
            </a:r>
            <a:r>
              <a:rPr lang="en-US" altLang="zh-CN" sz="2000" i="1" dirty="0"/>
              <a:t>n</a:t>
            </a:r>
            <a:r>
              <a:rPr lang="en-US" altLang="zh-CN" sz="2000" dirty="0"/>
              <a:t>)) </a:t>
            </a:r>
            <a:r>
              <a:rPr lang="zh-CN" altLang="en-US" sz="2000" dirty="0"/>
              <a:t>，存在正常数</a:t>
            </a:r>
            <a:r>
              <a:rPr lang="en-US" altLang="zh-CN" sz="2000" i="1" dirty="0"/>
              <a:t>c</a:t>
            </a:r>
            <a:r>
              <a:rPr lang="en-US" altLang="zh-CN" sz="2000" baseline="-25000" dirty="0"/>
              <a:t>1</a:t>
            </a:r>
            <a:r>
              <a:rPr lang="zh-CN" altLang="en-US" sz="2000" dirty="0"/>
              <a:t>和自然数</a:t>
            </a:r>
            <a:r>
              <a:rPr lang="en-US" altLang="zh-CN" sz="2000" i="1" dirty="0"/>
              <a:t>n</a:t>
            </a:r>
            <a:r>
              <a:rPr lang="en-US" altLang="zh-CN" sz="2000" baseline="-25000" dirty="0"/>
              <a:t>1</a:t>
            </a:r>
            <a:r>
              <a:rPr lang="zh-CN" altLang="en-US" sz="2000" dirty="0"/>
              <a:t>，使得对所有</a:t>
            </a:r>
            <a:r>
              <a:rPr lang="en-US" altLang="zh-CN" sz="2000" i="1" dirty="0"/>
              <a:t>n</a:t>
            </a:r>
            <a:r>
              <a:rPr lang="en-US" altLang="zh-CN" sz="2000" dirty="0">
                <a:sym typeface="Symbol" panose="05050102010706020507" pitchFamily="18" charset="2"/>
              </a:rPr>
              <a:t> </a:t>
            </a:r>
            <a:r>
              <a:rPr lang="en-US" altLang="zh-CN" sz="2000" i="1" dirty="0"/>
              <a:t>n</a:t>
            </a:r>
            <a:r>
              <a:rPr lang="en-US" altLang="zh-CN" sz="2000" baseline="-25000" dirty="0"/>
              <a:t>1</a:t>
            </a:r>
            <a:r>
              <a:rPr lang="zh-CN" altLang="en-US" sz="2000" dirty="0"/>
              <a:t>，有</a:t>
            </a:r>
            <a:r>
              <a:rPr lang="en-US" altLang="zh-CN" sz="2000" i="1" dirty="0"/>
              <a:t>f</a:t>
            </a:r>
            <a:r>
              <a:rPr lang="en-US" altLang="zh-CN" sz="2000" baseline="-25000" dirty="0"/>
              <a:t>1</a:t>
            </a:r>
            <a:r>
              <a:rPr lang="en-US" altLang="zh-CN" sz="2000" dirty="0"/>
              <a:t>(</a:t>
            </a:r>
            <a:r>
              <a:rPr lang="en-US" altLang="zh-CN" sz="2000" i="1" dirty="0"/>
              <a:t>n</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c</a:t>
            </a:r>
            <a:r>
              <a:rPr lang="en-US" altLang="zh-CN" sz="2000" baseline="-25000" dirty="0"/>
              <a:t>1</a:t>
            </a:r>
            <a:r>
              <a:rPr lang="en-US" altLang="zh-CN" sz="2000" i="1" dirty="0"/>
              <a:t>f</a:t>
            </a:r>
            <a:r>
              <a:rPr lang="en-US" altLang="zh-CN" sz="2000" dirty="0"/>
              <a:t>(</a:t>
            </a:r>
            <a:r>
              <a:rPr lang="en-US" altLang="zh-CN" sz="2000" i="1" dirty="0"/>
              <a:t>n</a:t>
            </a:r>
            <a:r>
              <a:rPr lang="en-US" altLang="zh-CN" sz="2000" dirty="0"/>
              <a:t>) </a:t>
            </a:r>
            <a:r>
              <a:rPr lang="zh-CN" altLang="en-US" sz="2000" dirty="0"/>
              <a:t>。</a:t>
            </a:r>
          </a:p>
          <a:p>
            <a:pPr>
              <a:lnSpc>
                <a:spcPct val="150000"/>
              </a:lnSpc>
              <a:buFont typeface="Wingdings" panose="05000000000000000000" pitchFamily="2" charset="2"/>
              <a:buNone/>
            </a:pPr>
            <a:r>
              <a:rPr lang="zh-CN" altLang="en-US" sz="2000" dirty="0"/>
              <a:t>类似地，对于任意</a:t>
            </a:r>
            <a:r>
              <a:rPr lang="en-US" altLang="zh-CN" sz="2000" i="1" dirty="0"/>
              <a:t>g</a:t>
            </a:r>
            <a:r>
              <a:rPr lang="en-US" altLang="zh-CN" sz="2000" baseline="-25000" dirty="0"/>
              <a:t>1</a:t>
            </a:r>
            <a:r>
              <a:rPr lang="en-US" altLang="zh-CN" sz="2000" dirty="0"/>
              <a:t>(</a:t>
            </a:r>
            <a:r>
              <a:rPr lang="en-US" altLang="zh-CN" sz="2000" i="1" dirty="0"/>
              <a:t>n</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O</a:t>
            </a:r>
            <a:r>
              <a:rPr lang="en-US" altLang="zh-CN" sz="2000" dirty="0"/>
              <a:t>(</a:t>
            </a:r>
            <a:r>
              <a:rPr lang="en-US" altLang="zh-CN" sz="2000" i="1" dirty="0"/>
              <a:t>g</a:t>
            </a:r>
            <a:r>
              <a:rPr lang="en-US" altLang="zh-CN" sz="2000" dirty="0"/>
              <a:t>(</a:t>
            </a:r>
            <a:r>
              <a:rPr lang="en-US" altLang="zh-CN" sz="2000" i="1" dirty="0"/>
              <a:t>n</a:t>
            </a:r>
            <a:r>
              <a:rPr lang="en-US" altLang="zh-CN" sz="2000" dirty="0"/>
              <a:t>)) </a:t>
            </a:r>
            <a:r>
              <a:rPr lang="zh-CN" altLang="en-US" sz="2000" dirty="0"/>
              <a:t>，存在正常数</a:t>
            </a:r>
            <a:r>
              <a:rPr lang="en-US" altLang="zh-CN" sz="2000" i="1" dirty="0"/>
              <a:t>c</a:t>
            </a:r>
            <a:r>
              <a:rPr lang="en-US" altLang="zh-CN" sz="2000" baseline="-25000" dirty="0"/>
              <a:t>2</a:t>
            </a:r>
            <a:r>
              <a:rPr lang="zh-CN" altLang="en-US" sz="2000" dirty="0"/>
              <a:t>和自然数</a:t>
            </a:r>
            <a:r>
              <a:rPr lang="en-US" altLang="zh-CN" sz="2000" i="1" dirty="0"/>
              <a:t>n</a:t>
            </a:r>
            <a:r>
              <a:rPr lang="en-US" altLang="zh-CN" sz="2000" baseline="-25000" dirty="0"/>
              <a:t>2</a:t>
            </a:r>
            <a:r>
              <a:rPr lang="zh-CN" altLang="en-US" sz="2000" dirty="0"/>
              <a:t>，使得对所有</a:t>
            </a:r>
            <a:r>
              <a:rPr lang="en-US" altLang="zh-CN" sz="2000" i="1" dirty="0"/>
              <a:t>n</a:t>
            </a:r>
            <a:r>
              <a:rPr lang="en-US" altLang="zh-CN" sz="2000" dirty="0">
                <a:sym typeface="Symbol" panose="05050102010706020507" pitchFamily="18" charset="2"/>
              </a:rPr>
              <a:t> </a:t>
            </a:r>
            <a:r>
              <a:rPr lang="en-US" altLang="zh-CN" sz="2000" i="1" dirty="0"/>
              <a:t>n</a:t>
            </a:r>
            <a:r>
              <a:rPr lang="en-US" altLang="zh-CN" sz="2000" baseline="-25000" dirty="0"/>
              <a:t>2</a:t>
            </a:r>
            <a:r>
              <a:rPr lang="zh-CN" altLang="en-US" sz="2000" dirty="0"/>
              <a:t>，有</a:t>
            </a:r>
            <a:r>
              <a:rPr lang="en-US" altLang="zh-CN" sz="2000" i="1" dirty="0"/>
              <a:t>g</a:t>
            </a:r>
            <a:r>
              <a:rPr lang="en-US" altLang="zh-CN" sz="2000" baseline="-25000" dirty="0"/>
              <a:t>1</a:t>
            </a:r>
            <a:r>
              <a:rPr lang="en-US" altLang="zh-CN" sz="2000" dirty="0"/>
              <a:t>(</a:t>
            </a:r>
            <a:r>
              <a:rPr lang="en-US" altLang="zh-CN" sz="2000" i="1" dirty="0"/>
              <a:t>n</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c</a:t>
            </a:r>
            <a:r>
              <a:rPr lang="en-US" altLang="zh-CN" sz="2000" baseline="-25000" dirty="0"/>
              <a:t>2</a:t>
            </a:r>
            <a:r>
              <a:rPr lang="en-US" altLang="zh-CN" sz="2000" i="1" dirty="0"/>
              <a:t>g</a:t>
            </a:r>
            <a:r>
              <a:rPr lang="en-US" altLang="zh-CN" sz="2000" dirty="0"/>
              <a:t>(</a:t>
            </a:r>
            <a:r>
              <a:rPr lang="en-US" altLang="zh-CN" sz="2000" i="1" dirty="0"/>
              <a:t>n</a:t>
            </a:r>
            <a:r>
              <a:rPr lang="en-US" altLang="zh-CN" sz="2000" dirty="0"/>
              <a:t>) </a:t>
            </a:r>
            <a:r>
              <a:rPr lang="zh-CN" altLang="en-US" sz="2000" dirty="0"/>
              <a:t>。</a:t>
            </a:r>
          </a:p>
          <a:p>
            <a:pPr>
              <a:lnSpc>
                <a:spcPct val="150000"/>
              </a:lnSpc>
              <a:buFont typeface="Wingdings" panose="05000000000000000000" pitchFamily="2" charset="2"/>
              <a:buNone/>
            </a:pPr>
            <a:r>
              <a:rPr lang="zh-CN" altLang="en-US" sz="2000" dirty="0"/>
              <a:t>令</a:t>
            </a:r>
            <a:r>
              <a:rPr lang="en-US" altLang="zh-CN" sz="2000" i="1" dirty="0"/>
              <a:t>c</a:t>
            </a:r>
            <a:r>
              <a:rPr lang="en-US" altLang="zh-CN" sz="2000" baseline="-25000" dirty="0"/>
              <a:t>3</a:t>
            </a:r>
            <a:r>
              <a:rPr lang="en-US" altLang="zh-CN" sz="2000" dirty="0"/>
              <a:t>=max{</a:t>
            </a:r>
            <a:r>
              <a:rPr lang="en-US" altLang="zh-CN" sz="2000" i="1" dirty="0"/>
              <a:t>c</a:t>
            </a:r>
            <a:r>
              <a:rPr lang="en-US" altLang="zh-CN" sz="2000" baseline="-25000" dirty="0"/>
              <a:t>1</a:t>
            </a:r>
            <a:r>
              <a:rPr lang="en-US" altLang="zh-CN" sz="2000" dirty="0"/>
              <a:t>, </a:t>
            </a:r>
            <a:r>
              <a:rPr lang="en-US" altLang="zh-CN" sz="2000" i="1" dirty="0"/>
              <a:t>c</a:t>
            </a:r>
            <a:r>
              <a:rPr lang="en-US" altLang="zh-CN" sz="2000" baseline="-25000" dirty="0"/>
              <a:t>2</a:t>
            </a:r>
            <a:r>
              <a:rPr lang="en-US" altLang="zh-CN" sz="2000" dirty="0"/>
              <a:t>}</a:t>
            </a:r>
            <a:r>
              <a:rPr lang="zh-CN" altLang="en-US" sz="2000" dirty="0"/>
              <a:t>， </a:t>
            </a:r>
            <a:r>
              <a:rPr lang="en-US" altLang="zh-CN" sz="2000" i="1" dirty="0"/>
              <a:t>n</a:t>
            </a:r>
            <a:r>
              <a:rPr lang="en-US" altLang="zh-CN" sz="2000" baseline="-25000" dirty="0"/>
              <a:t>3</a:t>
            </a:r>
            <a:r>
              <a:rPr lang="en-US" altLang="zh-CN" sz="2000" dirty="0"/>
              <a:t> =max{</a:t>
            </a:r>
            <a:r>
              <a:rPr lang="en-US" altLang="zh-CN" sz="2000" i="1" dirty="0"/>
              <a:t>n</a:t>
            </a:r>
            <a:r>
              <a:rPr lang="en-US" altLang="zh-CN" sz="2000" baseline="-25000" dirty="0"/>
              <a:t>1</a:t>
            </a:r>
            <a:r>
              <a:rPr lang="en-US" altLang="zh-CN" sz="2000" dirty="0"/>
              <a:t>, </a:t>
            </a:r>
            <a:r>
              <a:rPr lang="en-US" altLang="zh-CN" sz="2000" i="1" dirty="0"/>
              <a:t>n</a:t>
            </a:r>
            <a:r>
              <a:rPr lang="en-US" altLang="zh-CN" sz="2000" baseline="-25000" dirty="0"/>
              <a:t>2</a:t>
            </a:r>
            <a:r>
              <a:rPr lang="en-US" altLang="zh-CN" sz="2000" dirty="0"/>
              <a:t>}</a:t>
            </a:r>
            <a:r>
              <a:rPr lang="zh-CN" altLang="en-US" sz="2000" dirty="0"/>
              <a:t>，</a:t>
            </a:r>
            <a:r>
              <a:rPr lang="en-US" altLang="zh-CN" sz="2000" i="1" dirty="0"/>
              <a:t>h</a:t>
            </a:r>
            <a:r>
              <a:rPr lang="en-US" altLang="zh-CN" sz="2000" dirty="0"/>
              <a:t>(</a:t>
            </a:r>
            <a:r>
              <a:rPr lang="en-US" altLang="zh-CN" sz="2000" i="1" dirty="0"/>
              <a:t>n</a:t>
            </a:r>
            <a:r>
              <a:rPr lang="en-US" altLang="zh-CN" sz="2000" dirty="0"/>
              <a:t>)= max{</a:t>
            </a:r>
            <a:r>
              <a:rPr lang="en-US" altLang="zh-CN" sz="2000" i="1" dirty="0"/>
              <a:t>f</a:t>
            </a:r>
            <a:r>
              <a:rPr lang="en-US" altLang="zh-CN" sz="2000" dirty="0"/>
              <a:t>(n),</a:t>
            </a:r>
            <a:r>
              <a:rPr lang="en-US" altLang="zh-CN" sz="2000" i="1" dirty="0"/>
              <a:t>g</a:t>
            </a:r>
            <a:r>
              <a:rPr lang="en-US" altLang="zh-CN" sz="2000" dirty="0"/>
              <a:t>(</a:t>
            </a:r>
            <a:r>
              <a:rPr lang="en-US" altLang="zh-CN" sz="2000" i="1" dirty="0"/>
              <a:t>n</a:t>
            </a:r>
            <a:r>
              <a:rPr lang="en-US" altLang="zh-CN" sz="2000" dirty="0"/>
              <a:t>)} </a:t>
            </a:r>
            <a:r>
              <a:rPr lang="zh-CN" altLang="en-US" sz="2000" dirty="0"/>
              <a:t>。</a:t>
            </a:r>
          </a:p>
          <a:p>
            <a:pPr>
              <a:lnSpc>
                <a:spcPct val="150000"/>
              </a:lnSpc>
              <a:buFont typeface="Wingdings" panose="05000000000000000000" pitchFamily="2" charset="2"/>
              <a:buNone/>
            </a:pPr>
            <a:r>
              <a:rPr lang="zh-CN" altLang="en-US" sz="2000" dirty="0"/>
              <a:t>则对所有的 </a:t>
            </a:r>
            <a:r>
              <a:rPr lang="en-US" altLang="zh-CN" sz="2000" i="1" dirty="0"/>
              <a:t>n </a:t>
            </a:r>
            <a:r>
              <a:rPr lang="en-US" altLang="zh-CN" sz="2000" dirty="0">
                <a:sym typeface="Symbol" panose="05050102010706020507" pitchFamily="18" charset="2"/>
              </a:rPr>
              <a:t> </a:t>
            </a:r>
            <a:r>
              <a:rPr lang="en-US" altLang="zh-CN" sz="2000" i="1" dirty="0"/>
              <a:t>n</a:t>
            </a:r>
            <a:r>
              <a:rPr lang="en-US" altLang="zh-CN" sz="2000" baseline="-25000" dirty="0"/>
              <a:t>3</a:t>
            </a:r>
            <a:r>
              <a:rPr lang="zh-CN" altLang="en-US" sz="2000" dirty="0"/>
              <a:t>，有</a:t>
            </a:r>
          </a:p>
          <a:p>
            <a:pPr>
              <a:lnSpc>
                <a:spcPct val="150000"/>
              </a:lnSpc>
              <a:buFont typeface="Wingdings" panose="05000000000000000000" pitchFamily="2" charset="2"/>
              <a:buNone/>
            </a:pPr>
            <a:r>
              <a:rPr lang="en-US" altLang="zh-CN" sz="2000" i="1" dirty="0"/>
              <a:t>f</a:t>
            </a:r>
            <a:r>
              <a:rPr lang="en-US" altLang="zh-CN" sz="2000" baseline="-25000" dirty="0"/>
              <a:t>1</a:t>
            </a:r>
            <a:r>
              <a:rPr lang="en-US" altLang="zh-CN" sz="2000" dirty="0"/>
              <a:t>(</a:t>
            </a:r>
            <a:r>
              <a:rPr lang="en-US" altLang="zh-CN" sz="2000" i="1" dirty="0"/>
              <a:t>n</a:t>
            </a:r>
            <a:r>
              <a:rPr lang="en-US" altLang="zh-CN" sz="2000" dirty="0"/>
              <a:t>) +</a:t>
            </a:r>
            <a:r>
              <a:rPr lang="en-US" altLang="zh-CN" sz="2000" i="1" dirty="0"/>
              <a:t>g</a:t>
            </a:r>
            <a:r>
              <a:rPr lang="en-US" altLang="zh-CN" sz="2000" baseline="-25000" dirty="0"/>
              <a:t>1</a:t>
            </a:r>
            <a:r>
              <a:rPr lang="en-US" altLang="zh-CN" sz="2000" dirty="0"/>
              <a:t>(</a:t>
            </a:r>
            <a:r>
              <a:rPr lang="en-US" altLang="zh-CN" sz="2000" i="1" dirty="0"/>
              <a:t>n</a:t>
            </a:r>
            <a:r>
              <a:rPr lang="en-US" altLang="zh-CN" sz="2000" dirty="0"/>
              <a:t>) </a:t>
            </a:r>
            <a:r>
              <a:rPr lang="en-US" altLang="zh-CN" sz="2000" dirty="0">
                <a:sym typeface="Symbol" panose="05050102010706020507" pitchFamily="18" charset="2"/>
              </a:rPr>
              <a:t></a:t>
            </a:r>
            <a:r>
              <a:rPr lang="en-US" altLang="zh-CN" sz="2000" dirty="0"/>
              <a:t> </a:t>
            </a:r>
            <a:r>
              <a:rPr lang="en-US" altLang="zh-CN" sz="2000" i="1" dirty="0"/>
              <a:t>c</a:t>
            </a:r>
            <a:r>
              <a:rPr lang="en-US" altLang="zh-CN" sz="2000" baseline="-25000" dirty="0"/>
              <a:t>1</a:t>
            </a:r>
            <a:r>
              <a:rPr lang="en-US" altLang="zh-CN" sz="2000" i="1" dirty="0"/>
              <a:t>f</a:t>
            </a:r>
            <a:r>
              <a:rPr lang="en-US" altLang="zh-CN" sz="2000" dirty="0"/>
              <a:t>(</a:t>
            </a:r>
            <a:r>
              <a:rPr lang="en-US" altLang="zh-CN" sz="2000" i="1" dirty="0"/>
              <a:t>n</a:t>
            </a:r>
            <a:r>
              <a:rPr lang="en-US" altLang="zh-CN" sz="2000" dirty="0"/>
              <a:t>) + </a:t>
            </a:r>
            <a:r>
              <a:rPr lang="en-US" altLang="zh-CN" sz="2000" i="1" dirty="0"/>
              <a:t>c</a:t>
            </a:r>
            <a:r>
              <a:rPr lang="en-US" altLang="zh-CN" sz="2000" baseline="-25000" dirty="0"/>
              <a:t>2</a:t>
            </a:r>
            <a:r>
              <a:rPr lang="en-US" altLang="zh-CN" sz="2000" i="1" dirty="0"/>
              <a:t>g</a:t>
            </a:r>
            <a:r>
              <a:rPr lang="en-US" altLang="zh-CN" sz="2000" dirty="0"/>
              <a:t>(</a:t>
            </a:r>
            <a:r>
              <a:rPr lang="en-US" altLang="zh-CN" sz="2000" i="1" dirty="0"/>
              <a:t>n</a:t>
            </a:r>
            <a:r>
              <a:rPr lang="en-US" altLang="zh-CN" sz="2000" dirty="0"/>
              <a:t>) </a:t>
            </a:r>
          </a:p>
          <a:p>
            <a:pPr>
              <a:lnSpc>
                <a:spcPct val="150000"/>
              </a:lnSpc>
              <a:spcBef>
                <a:spcPct val="0"/>
              </a:spcBef>
              <a:buFont typeface="Wingdings" panose="05000000000000000000" pitchFamily="2" charset="2"/>
              <a:buNone/>
            </a:pPr>
            <a:r>
              <a:rPr lang="en-US" altLang="zh-CN" sz="2000" dirty="0">
                <a:sym typeface="Symbol" panose="05050102010706020507" pitchFamily="18" charset="2"/>
              </a:rPr>
              <a:t>    </a:t>
            </a:r>
            <a:r>
              <a:rPr lang="en-US" altLang="zh-CN" sz="2000" dirty="0"/>
              <a:t> </a:t>
            </a:r>
            <a:r>
              <a:rPr lang="en-US" altLang="zh-CN" sz="2000" i="1" dirty="0"/>
              <a:t>c</a:t>
            </a:r>
            <a:r>
              <a:rPr lang="en-US" altLang="zh-CN" sz="2000" baseline="-25000" dirty="0"/>
              <a:t>3</a:t>
            </a:r>
            <a:r>
              <a:rPr lang="en-US" altLang="zh-CN" sz="2000" i="1" dirty="0"/>
              <a:t>f</a:t>
            </a:r>
            <a:r>
              <a:rPr lang="en-US" altLang="zh-CN" sz="2000" dirty="0"/>
              <a:t>(</a:t>
            </a:r>
            <a:r>
              <a:rPr lang="en-US" altLang="zh-CN" sz="2000" i="1" dirty="0"/>
              <a:t>n</a:t>
            </a:r>
            <a:r>
              <a:rPr lang="en-US" altLang="zh-CN" sz="2000" dirty="0"/>
              <a:t>) + </a:t>
            </a:r>
            <a:r>
              <a:rPr lang="en-US" altLang="zh-CN" sz="2000" i="1" dirty="0"/>
              <a:t>c</a:t>
            </a:r>
            <a:r>
              <a:rPr lang="en-US" altLang="zh-CN" sz="2000" baseline="-25000" dirty="0"/>
              <a:t>3</a:t>
            </a:r>
            <a:r>
              <a:rPr lang="en-US" altLang="zh-CN" sz="2000" i="1" dirty="0"/>
              <a:t>g</a:t>
            </a:r>
            <a:r>
              <a:rPr lang="en-US" altLang="zh-CN" sz="2000" dirty="0"/>
              <a:t>(</a:t>
            </a:r>
            <a:r>
              <a:rPr lang="en-US" altLang="zh-CN" sz="2000" i="1" dirty="0"/>
              <a:t>n</a:t>
            </a:r>
            <a:r>
              <a:rPr lang="en-US" altLang="zh-CN" sz="2000" dirty="0"/>
              <a:t>)= </a:t>
            </a:r>
            <a:r>
              <a:rPr lang="en-US" altLang="zh-CN" sz="2000" i="1" dirty="0"/>
              <a:t>c</a:t>
            </a:r>
            <a:r>
              <a:rPr lang="en-US" altLang="zh-CN" sz="2000" baseline="-25000" dirty="0"/>
              <a:t>3</a:t>
            </a:r>
            <a:r>
              <a:rPr lang="en-US" altLang="zh-CN" sz="2000" dirty="0"/>
              <a:t>(</a:t>
            </a:r>
            <a:r>
              <a:rPr lang="en-US" altLang="zh-CN" sz="2000" i="1" dirty="0"/>
              <a:t>f</a:t>
            </a:r>
            <a:r>
              <a:rPr lang="en-US" altLang="zh-CN" sz="2000" dirty="0"/>
              <a:t>(</a:t>
            </a:r>
            <a:r>
              <a:rPr lang="en-US" altLang="zh-CN" sz="2000" i="1" dirty="0"/>
              <a:t>n</a:t>
            </a:r>
            <a:r>
              <a:rPr lang="en-US" altLang="zh-CN" sz="2000" dirty="0"/>
              <a:t>) + </a:t>
            </a:r>
            <a:r>
              <a:rPr lang="en-US" altLang="zh-CN" sz="2000" i="1" dirty="0"/>
              <a:t>g</a:t>
            </a:r>
            <a:r>
              <a:rPr lang="en-US" altLang="zh-CN" sz="2000" dirty="0"/>
              <a:t>(</a:t>
            </a:r>
            <a:r>
              <a:rPr lang="en-US" altLang="zh-CN" sz="2000" i="1" dirty="0"/>
              <a:t>n</a:t>
            </a:r>
            <a:r>
              <a:rPr lang="en-US" altLang="zh-CN" sz="2000" dirty="0"/>
              <a:t>))</a:t>
            </a:r>
          </a:p>
          <a:p>
            <a:pPr>
              <a:lnSpc>
                <a:spcPct val="150000"/>
              </a:lnSpc>
              <a:spcBef>
                <a:spcPct val="0"/>
              </a:spcBef>
              <a:buNone/>
            </a:pPr>
            <a:r>
              <a:rPr lang="en-US" altLang="zh-CN" sz="2000" dirty="0">
                <a:sym typeface="Symbol" panose="05050102010706020507" pitchFamily="18" charset="2"/>
              </a:rPr>
              <a:t>    </a:t>
            </a:r>
            <a:r>
              <a:rPr lang="en-US" altLang="zh-CN" sz="2000" dirty="0"/>
              <a:t> 2</a:t>
            </a:r>
            <a:r>
              <a:rPr lang="en-US" altLang="zh-CN" sz="2000" i="1" dirty="0"/>
              <a:t>c</a:t>
            </a:r>
            <a:r>
              <a:rPr lang="en-US" altLang="zh-CN" sz="2000" baseline="-25000" dirty="0"/>
              <a:t>3</a:t>
            </a:r>
            <a:r>
              <a:rPr lang="en-US" altLang="zh-CN" sz="2000" dirty="0"/>
              <a:t> max{</a:t>
            </a:r>
            <a:r>
              <a:rPr lang="en-US" altLang="zh-CN" sz="2000" i="1" dirty="0"/>
              <a:t>f</a:t>
            </a:r>
            <a:r>
              <a:rPr lang="en-US" altLang="zh-CN" sz="2000" dirty="0"/>
              <a:t>(n),</a:t>
            </a:r>
            <a:r>
              <a:rPr lang="en-US" altLang="zh-CN" sz="2000" i="1" dirty="0"/>
              <a:t>g</a:t>
            </a:r>
            <a:r>
              <a:rPr lang="en-US" altLang="zh-CN" sz="2000" dirty="0"/>
              <a:t>(</a:t>
            </a:r>
            <a:r>
              <a:rPr lang="en-US" altLang="zh-CN" sz="2000" i="1" dirty="0"/>
              <a:t>n</a:t>
            </a:r>
            <a:r>
              <a:rPr lang="en-US" altLang="zh-CN" sz="2000" dirty="0"/>
              <a:t>)}</a:t>
            </a:r>
          </a:p>
          <a:p>
            <a:pPr>
              <a:lnSpc>
                <a:spcPct val="150000"/>
              </a:lnSpc>
              <a:spcBef>
                <a:spcPct val="0"/>
              </a:spcBef>
              <a:buFont typeface="Wingdings" panose="05000000000000000000" pitchFamily="2" charset="2"/>
              <a:buNone/>
            </a:pPr>
            <a:r>
              <a:rPr lang="en-US" altLang="zh-CN" sz="2000" dirty="0"/>
              <a:t>    = 2</a:t>
            </a:r>
            <a:r>
              <a:rPr lang="en-US" altLang="zh-CN" sz="2000" i="1" dirty="0"/>
              <a:t>c</a:t>
            </a:r>
            <a:r>
              <a:rPr lang="en-US" altLang="zh-CN" sz="2000" baseline="-25000" dirty="0"/>
              <a:t>3</a:t>
            </a:r>
            <a:r>
              <a:rPr lang="en-US" altLang="zh-CN" sz="2000" i="1" dirty="0"/>
              <a:t>h</a:t>
            </a:r>
            <a:r>
              <a:rPr lang="en-US" altLang="zh-CN" sz="2000" dirty="0"/>
              <a:t>(</a:t>
            </a:r>
            <a:r>
              <a:rPr lang="en-US" altLang="zh-CN" sz="2000" i="1" dirty="0"/>
              <a:t>n</a:t>
            </a:r>
            <a:r>
              <a:rPr lang="en-US" altLang="zh-CN" sz="2000" dirty="0"/>
              <a:t>) = </a:t>
            </a:r>
            <a:r>
              <a:rPr lang="en-US" altLang="zh-CN" sz="2000" i="1" dirty="0"/>
              <a:t>O</a:t>
            </a:r>
            <a:r>
              <a:rPr lang="en-US" altLang="zh-CN" sz="2000" dirty="0"/>
              <a:t>(max{</a:t>
            </a:r>
            <a:r>
              <a:rPr lang="en-US" altLang="zh-CN" sz="2000" i="1" dirty="0"/>
              <a:t>f</a:t>
            </a:r>
            <a:r>
              <a:rPr lang="en-US" altLang="zh-CN" sz="2000" dirty="0"/>
              <a:t>(n),</a:t>
            </a:r>
            <a:r>
              <a:rPr lang="en-US" altLang="zh-CN" sz="2000" i="1" dirty="0"/>
              <a:t>g</a:t>
            </a:r>
            <a:r>
              <a:rPr lang="en-US" altLang="zh-CN" sz="2000" dirty="0"/>
              <a:t>(</a:t>
            </a:r>
            <a:r>
              <a:rPr lang="en-US" altLang="zh-CN" sz="2000" i="1" dirty="0"/>
              <a:t>n</a:t>
            </a:r>
            <a:r>
              <a:rPr lang="en-US" altLang="zh-CN" sz="2000" dirty="0"/>
              <a:t>)}) .</a:t>
            </a:r>
          </a:p>
        </p:txBody>
      </p:sp>
      <p:sp>
        <p:nvSpPr>
          <p:cNvPr id="3" name="object 4"/>
          <p:cNvSpPr txBox="1"/>
          <p:nvPr/>
        </p:nvSpPr>
        <p:spPr>
          <a:xfrm>
            <a:off x="4895596" y="4635245"/>
            <a:ext cx="3378200" cy="758190"/>
          </a:xfrm>
          <a:prstGeom prst="rect">
            <a:avLst/>
          </a:prstGeom>
        </p:spPr>
        <p:txBody>
          <a:bodyPr vert="horz" wrap="square" lIns="0" tIns="12700" rIns="0" bIns="0" rtlCol="0">
            <a:spAutoFit/>
          </a:bodyPr>
          <a:lstStyle/>
          <a:p>
            <a:pPr marL="12700" marR="5080">
              <a:lnSpc>
                <a:spcPct val="100000"/>
              </a:lnSpc>
              <a:spcBef>
                <a:spcPts val="100"/>
              </a:spcBef>
            </a:pPr>
            <a:r>
              <a:rPr sz="2400" b="1" spc="-5" dirty="0">
                <a:solidFill>
                  <a:srgbClr val="000066"/>
                </a:solidFill>
                <a:latin typeface="微软雅黑"/>
                <a:cs typeface="微软雅黑"/>
              </a:rPr>
              <a:t>由两个连续执行部分组成</a:t>
            </a:r>
            <a:r>
              <a:rPr sz="2400" b="1" spc="-20" dirty="0">
                <a:solidFill>
                  <a:srgbClr val="000066"/>
                </a:solidFill>
                <a:latin typeface="微软雅黑"/>
                <a:cs typeface="微软雅黑"/>
              </a:rPr>
              <a:t>的算法</a:t>
            </a:r>
            <a:endParaRPr sz="2400" dirty="0">
              <a:latin typeface="微软雅黑"/>
              <a:cs typeface="微软雅黑"/>
            </a:endParaRPr>
          </a:p>
        </p:txBody>
      </p:sp>
      <p:sp>
        <p:nvSpPr>
          <p:cNvPr id="4" name="object 5"/>
          <p:cNvSpPr txBox="1"/>
          <p:nvPr/>
        </p:nvSpPr>
        <p:spPr>
          <a:xfrm>
            <a:off x="4816602" y="3979926"/>
            <a:ext cx="2276475" cy="552450"/>
          </a:xfrm>
          <a:prstGeom prst="rect">
            <a:avLst/>
          </a:prstGeom>
          <a:ln w="28955">
            <a:solidFill>
              <a:srgbClr val="946E00"/>
            </a:solidFill>
          </a:ln>
        </p:spPr>
        <p:txBody>
          <a:bodyPr vert="horz" wrap="square" lIns="0" tIns="31750" rIns="0" bIns="0" rtlCol="0">
            <a:spAutoFit/>
          </a:bodyPr>
          <a:lstStyle/>
          <a:p>
            <a:pPr marL="91440">
              <a:lnSpc>
                <a:spcPct val="100000"/>
              </a:lnSpc>
              <a:spcBef>
                <a:spcPts val="250"/>
              </a:spcBef>
            </a:pPr>
            <a:r>
              <a:rPr sz="3000" b="1" spc="-10" dirty="0">
                <a:solidFill>
                  <a:srgbClr val="FF0000"/>
                </a:solidFill>
                <a:latin typeface="微软雅黑"/>
                <a:cs typeface="微软雅黑"/>
              </a:rPr>
              <a:t>有什么用？</a:t>
            </a:r>
            <a:endParaRPr sz="3000" dirty="0">
              <a:latin typeface="微软雅黑"/>
              <a:cs typeface="微软雅黑"/>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1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891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891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891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7466" y="1411477"/>
            <a:ext cx="8157022" cy="4476225"/>
          </a:xfrm>
          <a:prstGeom prst="rect">
            <a:avLst/>
          </a:prstGeom>
        </p:spPr>
        <p:txBody>
          <a:bodyPr vert="horz" wrap="square" lIns="0" tIns="12065" rIns="0" bIns="0" rtlCol="0">
            <a:spAutoFit/>
          </a:bodyPr>
          <a:lstStyle/>
          <a:p>
            <a:pPr marL="12700">
              <a:lnSpc>
                <a:spcPct val="100000"/>
              </a:lnSpc>
              <a:spcBef>
                <a:spcPts val="95"/>
              </a:spcBef>
            </a:pPr>
            <a:r>
              <a:rPr sz="2000" i="1" spc="-10" dirty="0">
                <a:latin typeface="Times New Roman" panose="02020603050405020304" pitchFamily="18" charset="0"/>
                <a:ea typeface="微软雅黑" panose="020B0503020204020204" pitchFamily="34" charset="-122"/>
                <a:cs typeface="Times New Roman" panose="02020603050405020304" pitchFamily="18" charset="0"/>
              </a:rPr>
              <a:t>O</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f</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O</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g</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spc="-50" dirty="0">
                <a:latin typeface="Times New Roman" panose="02020603050405020304" pitchFamily="18" charset="0"/>
                <a:ea typeface="微软雅黑" panose="020B0503020204020204" pitchFamily="34" charset="-122"/>
                <a:cs typeface="Times New Roman" panose="02020603050405020304" pitchFamily="18" charset="0"/>
              </a:rPr>
              <a:t> </a:t>
            </a:r>
            <a:r>
              <a:rPr sz="2000" dirty="0">
                <a:latin typeface="Times New Roman" panose="02020603050405020304" pitchFamily="18" charset="0"/>
                <a:ea typeface="微软雅黑" panose="020B0503020204020204" pitchFamily="34" charset="-122"/>
                <a:cs typeface="Times New Roman" panose="02020603050405020304" pitchFamily="18" charset="0"/>
              </a:rPr>
              <a:t>=</a:t>
            </a:r>
            <a:r>
              <a:rPr sz="2000" spc="-35" dirty="0">
                <a:latin typeface="Times New Roman" panose="02020603050405020304" pitchFamily="18" charset="0"/>
                <a:ea typeface="微软雅黑" panose="020B0503020204020204" pitchFamily="34" charset="-122"/>
                <a:cs typeface="Times New Roman" panose="02020603050405020304" pitchFamily="18" charset="0"/>
              </a:rPr>
              <a:t> </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O</a:t>
            </a:r>
            <a:r>
              <a:rPr sz="2000" spc="-10" dirty="0">
                <a:latin typeface="Times New Roman" panose="02020603050405020304" pitchFamily="18" charset="0"/>
                <a:ea typeface="微软雅黑" panose="020B0503020204020204" pitchFamily="34" charset="-122"/>
                <a:cs typeface="Times New Roman" panose="02020603050405020304" pitchFamily="18" charset="0"/>
              </a:rPr>
              <a:t>(max{</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f</a:t>
            </a:r>
            <a:r>
              <a:rPr sz="2000" spc="-10" dirty="0">
                <a:latin typeface="Times New Roman" panose="02020603050405020304" pitchFamily="18" charset="0"/>
                <a:ea typeface="微软雅黑" panose="020B0503020204020204" pitchFamily="34" charset="-122"/>
                <a:cs typeface="Times New Roman" panose="02020603050405020304" pitchFamily="18" charset="0"/>
              </a:rPr>
              <a:t>(n),</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g</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r>
              <a:rPr sz="2000" i="1" spc="-10" dirty="0">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latin typeface="Times New Roman" panose="02020603050405020304" pitchFamily="18" charset="0"/>
                <a:ea typeface="微软雅黑" panose="020B0503020204020204" pitchFamily="34" charset="-122"/>
                <a:cs typeface="Times New Roman" panose="02020603050405020304" pitchFamily="18" charset="0"/>
              </a:rPr>
              <a:t>)})</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00000"/>
              </a:lnSpc>
            </a:pPr>
            <a:endParaRPr sz="2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00000"/>
              </a:lnSpc>
              <a:spcBef>
                <a:spcPts val="5"/>
              </a:spcBef>
            </a:pPr>
            <a:endParaRPr sz="2600" dirty="0">
              <a:latin typeface="Times New Roman" panose="02020603050405020304" pitchFamily="18" charset="0"/>
              <a:ea typeface="微软雅黑" panose="020B0503020204020204" pitchFamily="34" charset="-122"/>
              <a:cs typeface="Times New Roman" panose="02020603050405020304" pitchFamily="18" charset="0"/>
            </a:endParaRPr>
          </a:p>
          <a:p>
            <a:pPr marL="12700">
              <a:lnSpc>
                <a:spcPct val="150000"/>
              </a:lnSpc>
              <a:spcBef>
                <a:spcPts val="5"/>
              </a:spcBef>
            </a:pP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第一部分，应用某种已知的排序算法对数组排序</a:t>
            </a:r>
            <a:r>
              <a:rPr sz="2000" spc="-5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marL="12700" marR="61594">
              <a:lnSpc>
                <a:spcPct val="150000"/>
              </a:lnSpc>
            </a:pPr>
            <a:r>
              <a:rPr sz="2000" spc="-25"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第二部分，连续扫描该有序数组的元素，比较是否和指定元素</a:t>
            </a:r>
            <a:r>
              <a:rPr sz="2000" spc="-35"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相等</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Bef>
                <a:spcPts val="80"/>
              </a:spcBef>
            </a:pPr>
            <a:endParaRPr sz="2750" dirty="0">
              <a:latin typeface="Times New Roman" panose="02020603050405020304" pitchFamily="18" charset="0"/>
              <a:ea typeface="微软雅黑" panose="020B0503020204020204" pitchFamily="34" charset="-122"/>
              <a:cs typeface="Times New Roman" panose="02020603050405020304" pitchFamily="18" charset="0"/>
            </a:endParaRPr>
          </a:p>
          <a:p>
            <a:pPr marL="12700" marR="5080">
              <a:lnSpc>
                <a:spcPct val="150000"/>
              </a:lnSpc>
            </a:pP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假设第一部分使用的排序算法的比较次数不会超过</a:t>
            </a:r>
            <a:r>
              <a:rPr sz="2000" i="1"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sz="2000" i="1"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sz="200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 </a:t>
            </a:r>
            <a:r>
              <a:rPr sz="2000" spc="-35"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属于</a:t>
            </a:r>
            <a:r>
              <a:rPr sz="2000" spc="-3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O(</a:t>
            </a:r>
            <a:r>
              <a:rPr sz="2000" i="1"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²)</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marL="12700">
              <a:lnSpc>
                <a:spcPct val="150000"/>
              </a:lnSpc>
            </a:pP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第二部分的比较次数不会超过</a:t>
            </a:r>
            <a:r>
              <a:rPr sz="2000" i="1"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属于 </a:t>
            </a: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O(</a:t>
            </a:r>
            <a:r>
              <a:rPr sz="2000" i="1"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sz="2000"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marL="12700">
              <a:lnSpc>
                <a:spcPct val="150000"/>
              </a:lnSpc>
            </a:pPr>
            <a:endParaRPr sz="2000" dirty="0">
              <a:latin typeface="Times New Roman" panose="02020603050405020304" pitchFamily="18" charset="0"/>
              <a:ea typeface="微软雅黑" panose="020B0503020204020204" pitchFamily="34" charset="-122"/>
              <a:cs typeface="Times New Roman" panose="02020603050405020304" pitchFamily="18" charset="0"/>
            </a:endParaRPr>
          </a:p>
          <a:p>
            <a:pPr marL="12700">
              <a:lnSpc>
                <a:spcPct val="150000"/>
              </a:lnSpc>
            </a:pPr>
            <a:r>
              <a:rPr sz="2000" spc="-25"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那么，</a:t>
            </a:r>
            <a:r>
              <a:rPr sz="2000" spc="-25"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算法的整体效率</a:t>
            </a:r>
            <a:r>
              <a:rPr sz="2000" spc="-25" dirty="0" err="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应该属于</a:t>
            </a:r>
            <a:r>
              <a:rPr sz="2000" spc="-25"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O(max{</a:t>
            </a:r>
            <a:r>
              <a:rPr sz="2000" i="1"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²,</a:t>
            </a:r>
            <a:r>
              <a:rPr sz="2000" i="1"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sz="2000" spc="-3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O(</a:t>
            </a:r>
            <a:r>
              <a:rPr sz="2000" i="1"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a:t>
            </a:r>
            <a:r>
              <a:rPr sz="2000" spc="-1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²)</a:t>
            </a:r>
            <a:endParaRPr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object 4"/>
          <p:cNvSpPr txBox="1"/>
          <p:nvPr/>
        </p:nvSpPr>
        <p:spPr>
          <a:xfrm>
            <a:off x="807466" y="620688"/>
            <a:ext cx="4681330" cy="382156"/>
          </a:xfrm>
          <a:prstGeom prst="rect">
            <a:avLst/>
          </a:prstGeom>
        </p:spPr>
        <p:txBody>
          <a:bodyPr vert="horz" wrap="square" lIns="0" tIns="12700" rIns="0" bIns="0" rtlCol="0">
            <a:spAutoFit/>
          </a:bodyPr>
          <a:lstStyle/>
          <a:p>
            <a:pPr marL="12700" marR="5080">
              <a:lnSpc>
                <a:spcPct val="100000"/>
              </a:lnSpc>
              <a:spcBef>
                <a:spcPts val="100"/>
              </a:spcBef>
            </a:pPr>
            <a:r>
              <a:rPr sz="2400" b="1" spc="-5"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由两个连续执行部分组成</a:t>
            </a:r>
            <a:r>
              <a:rPr sz="2400" b="1" spc="-20"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的算法</a:t>
            </a:r>
            <a:endParaRPr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4437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FF8FA41-66B6-E84A-463F-DA93D0E38E41}"/>
              </a:ext>
            </a:extLst>
          </p:cNvPr>
          <p:cNvSpPr>
            <a:spLocks noGrp="1" noChangeArrowheads="1"/>
          </p:cNvSpPr>
          <p:nvPr>
            <p:ph type="title"/>
          </p:nvPr>
        </p:nvSpPr>
        <p:spPr>
          <a:xfrm>
            <a:off x="428625" y="571500"/>
            <a:ext cx="8229600" cy="650875"/>
          </a:xfrm>
        </p:spPr>
        <p:txBody>
          <a:bodyPr/>
          <a:lstStyle/>
          <a:p>
            <a:r>
              <a:rPr lang="zh-CN" altLang="en-US" sz="3200" b="1">
                <a:solidFill>
                  <a:srgbClr val="3907F1"/>
                </a:solidFill>
              </a:rPr>
              <a:t>学习要点</a:t>
            </a:r>
            <a:r>
              <a:rPr lang="en-US" altLang="zh-CN" sz="3200" b="1">
                <a:solidFill>
                  <a:srgbClr val="3907F1"/>
                </a:solidFill>
              </a:rPr>
              <a:t>: </a:t>
            </a:r>
            <a:endParaRPr lang="zh-CN" altLang="en-US" sz="3200" b="1">
              <a:solidFill>
                <a:srgbClr val="0000FF"/>
              </a:solidFill>
            </a:endParaRPr>
          </a:p>
        </p:txBody>
      </p:sp>
      <p:sp>
        <p:nvSpPr>
          <p:cNvPr id="18435" name="Rectangle 3">
            <a:extLst>
              <a:ext uri="{FF2B5EF4-FFF2-40B4-BE49-F238E27FC236}">
                <a16:creationId xmlns:a16="http://schemas.microsoft.com/office/drawing/2014/main" id="{09457B0C-A228-C6EC-6ADE-88F972A5090E}"/>
              </a:ext>
            </a:extLst>
          </p:cNvPr>
          <p:cNvSpPr>
            <a:spLocks noGrp="1" noChangeArrowheads="1"/>
          </p:cNvSpPr>
          <p:nvPr>
            <p:ph type="body" idx="1"/>
          </p:nvPr>
        </p:nvSpPr>
        <p:spPr>
          <a:xfrm>
            <a:off x="638175" y="1772816"/>
            <a:ext cx="7810500" cy="4799013"/>
          </a:xfrm>
        </p:spPr>
        <p:txBody>
          <a:bodyPr/>
          <a:lstStyle/>
          <a:p>
            <a:pPr>
              <a:lnSpc>
                <a:spcPct val="150000"/>
              </a:lnSpc>
              <a:buFont typeface="Symbol" panose="05050102010706020507" pitchFamily="18" charset="2"/>
              <a:buChar char="·"/>
            </a:pPr>
            <a:r>
              <a:rPr lang="zh-CN" altLang="en-US" sz="3200" b="1" dirty="0"/>
              <a:t>掌握算法的计算复杂性概念。</a:t>
            </a:r>
          </a:p>
          <a:p>
            <a:pPr>
              <a:lnSpc>
                <a:spcPct val="150000"/>
              </a:lnSpc>
              <a:buFont typeface="Symbol" panose="05050102010706020507" pitchFamily="18" charset="2"/>
              <a:buChar char="·"/>
            </a:pPr>
            <a:r>
              <a:rPr lang="zh-CN" altLang="en-US" sz="3200" b="1" dirty="0"/>
              <a:t>掌握算法渐近复杂性的数学表述。</a:t>
            </a:r>
            <a:endParaRPr lang="en-US" altLang="zh-CN" sz="3200" b="1" dirty="0"/>
          </a:p>
          <a:p>
            <a:pPr>
              <a:lnSpc>
                <a:spcPct val="150000"/>
              </a:lnSpc>
              <a:buFont typeface="Symbol" panose="05050102010706020507" pitchFamily="18" charset="2"/>
              <a:buChar char="·"/>
            </a:pPr>
            <a:r>
              <a:rPr lang="zh-CN" altLang="en-US" sz="3200" b="1" dirty="0"/>
              <a:t>掌握</a:t>
            </a:r>
            <a:r>
              <a:rPr lang="zh-CN" altLang="en-US" sz="3200" b="1" dirty="0">
                <a:solidFill>
                  <a:srgbClr val="FF0000"/>
                </a:solidFill>
              </a:rPr>
              <a:t>算法分析的基本法则</a:t>
            </a:r>
            <a:r>
              <a:rPr lang="zh-CN" altLang="en-US" sz="3200" b="1" dirty="0"/>
              <a:t>。</a:t>
            </a:r>
            <a:endParaRPr lang="en-US" altLang="zh-CN" sz="3200" b="1" dirty="0"/>
          </a:p>
          <a:p>
            <a:pPr>
              <a:lnSpc>
                <a:spcPct val="150000"/>
              </a:lnSpc>
              <a:buFont typeface="Symbol" panose="05050102010706020507" pitchFamily="18" charset="2"/>
              <a:buChar char="·"/>
            </a:pPr>
            <a:r>
              <a:rPr lang="zh-CN" altLang="en-US" sz="3200" b="1" dirty="0"/>
              <a:t>掌握算法分析中常用的复杂函数。</a:t>
            </a:r>
            <a:endParaRPr lang="en-US" altLang="zh-CN" sz="3200" b="1" dirty="0"/>
          </a:p>
          <a:p>
            <a:pPr>
              <a:lnSpc>
                <a:spcPct val="150000"/>
              </a:lnSpc>
              <a:buFont typeface="Symbol" panose="05050102010706020507" pitchFamily="18" charset="2"/>
              <a:buChar char="·"/>
            </a:pPr>
            <a:endParaRPr lang="zh-CN" altLang="en-US" sz="3200" b="1" dirty="0"/>
          </a:p>
        </p:txBody>
      </p:sp>
    </p:spTree>
    <p:extLst>
      <p:ext uri="{BB962C8B-B14F-4D97-AF65-F5344CB8AC3E}">
        <p14:creationId xmlns:p14="http://schemas.microsoft.com/office/powerpoint/2010/main" val="85546325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descr="Rectangle: Click to edit Master text styles&#10;Second level&#10;Third level&#10;Fourth level&#10;Fifth level">
            <a:extLst>
              <a:ext uri="{FF2B5EF4-FFF2-40B4-BE49-F238E27FC236}">
                <a16:creationId xmlns:a16="http://schemas.microsoft.com/office/drawing/2014/main" id="{58024F65-6D4A-0CFB-D229-C47C75598FD5}"/>
              </a:ext>
            </a:extLst>
          </p:cNvPr>
          <p:cNvSpPr>
            <a:spLocks noGrp="1" noChangeArrowheads="1"/>
          </p:cNvSpPr>
          <p:nvPr>
            <p:ph type="body" idx="1"/>
          </p:nvPr>
        </p:nvSpPr>
        <p:spPr>
          <a:xfrm>
            <a:off x="-394320" y="1203320"/>
            <a:ext cx="3276600" cy="3657600"/>
          </a:xfrm>
        </p:spPr>
        <p:txBody>
          <a:bodyPr/>
          <a:lstStyle/>
          <a:p>
            <a:pPr algn="r">
              <a:buFont typeface="Wingdings" panose="05000000000000000000" pitchFamily="2" charset="2"/>
              <a:buNone/>
            </a:pPr>
            <a:r>
              <a:rPr lang="en-US" altLang="zh-CN" dirty="0">
                <a:latin typeface="微软雅黑" panose="020B0503020204020204" pitchFamily="34" charset="-122"/>
                <a:ea typeface="微软雅黑" panose="020B0503020204020204" pitchFamily="34" charset="-122"/>
              </a:rPr>
              <a:t>C++ </a:t>
            </a:r>
            <a:r>
              <a:rPr lang="zh-CN" altLang="en-US" dirty="0">
                <a:latin typeface="微软雅黑" panose="020B0503020204020204" pitchFamily="34" charset="-122"/>
                <a:ea typeface="微软雅黑" panose="020B0503020204020204" pitchFamily="34" charset="-122"/>
              </a:rPr>
              <a:t>操作</a:t>
            </a:r>
            <a:endParaRPr lang="en-US" altLang="zh-CN" dirty="0">
              <a:latin typeface="微软雅黑" panose="020B0503020204020204" pitchFamily="34" charset="-122"/>
              <a:ea typeface="微软雅黑" panose="020B0503020204020204" pitchFamily="34" charset="-122"/>
            </a:endParaRPr>
          </a:p>
          <a:p>
            <a:pPr algn="r">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a:p>
            <a:pPr algn="r">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endParaRPr>
          </a:p>
        </p:txBody>
      </p:sp>
      <p:sp>
        <p:nvSpPr>
          <p:cNvPr id="44036" name="Rectangle 5" descr="Rectangle: Click to edit Master text styles&#10;Second level&#10;Third level&#10;Fourth level&#10;Fifth level">
            <a:extLst>
              <a:ext uri="{FF2B5EF4-FFF2-40B4-BE49-F238E27FC236}">
                <a16:creationId xmlns:a16="http://schemas.microsoft.com/office/drawing/2014/main" id="{4B9B03E5-3FFE-57DF-078B-94FBF69079F8}"/>
              </a:ext>
            </a:extLst>
          </p:cNvPr>
          <p:cNvSpPr>
            <a:spLocks noChangeArrowheads="1"/>
          </p:cNvSpPr>
          <p:nvPr/>
        </p:nvSpPr>
        <p:spPr bwMode="auto">
          <a:xfrm>
            <a:off x="3347864" y="1215430"/>
            <a:ext cx="4114800" cy="3275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hlink"/>
              </a:buClr>
              <a:buSzPct val="110000"/>
              <a:buFont typeface="Wingdings" panose="05000000000000000000" pitchFamily="2" charset="2"/>
              <a:buNone/>
            </a:pPr>
            <a:r>
              <a:rPr lang="zh-CN" altLang="en-US" dirty="0">
                <a:solidFill>
                  <a:schemeClr val="tx1"/>
                </a:solidFill>
                <a:latin typeface="微软雅黑" panose="020B0503020204020204" pitchFamily="34" charset="-122"/>
                <a:ea typeface="微软雅黑" panose="020B0503020204020204" pitchFamily="34" charset="-122"/>
              </a:rPr>
              <a:t>常数时间，  记作</a:t>
            </a:r>
            <a:r>
              <a:rPr lang="en-US" altLang="zh-CN" dirty="0">
                <a:solidFill>
                  <a:schemeClr val="tx1"/>
                </a:solidFill>
                <a:latin typeface="微软雅黑" panose="020B0503020204020204" pitchFamily="34" charset="-122"/>
                <a:ea typeface="微软雅黑" panose="020B0503020204020204" pitchFamily="34" charset="-122"/>
              </a:rPr>
              <a:t>O(1)</a:t>
            </a:r>
          </a:p>
          <a:p>
            <a:pPr eaLnBrk="1" hangingPunct="1">
              <a:spcBef>
                <a:spcPct val="20000"/>
              </a:spcBef>
              <a:buClr>
                <a:schemeClr val="hlink"/>
              </a:buClr>
              <a:buSzPct val="110000"/>
              <a:buFont typeface="Wingdings" panose="05000000000000000000" pitchFamily="2" charset="2"/>
              <a:buNone/>
            </a:pPr>
            <a:endParaRPr lang="en-US" altLang="zh-CN" dirty="0">
              <a:solidFill>
                <a:schemeClr val="tx1"/>
              </a:solidFill>
              <a:latin typeface="微软雅黑" panose="020B0503020204020204" pitchFamily="34" charset="-122"/>
              <a:ea typeface="微软雅黑" panose="020B0503020204020204" pitchFamily="34" charset="-122"/>
            </a:endParaRPr>
          </a:p>
          <a:p>
            <a:pPr eaLnBrk="1" hangingPunct="1">
              <a:spcBef>
                <a:spcPct val="20000"/>
              </a:spcBef>
              <a:buClr>
                <a:schemeClr val="hlink"/>
              </a:buClr>
              <a:buSzPct val="110000"/>
              <a:buFont typeface="Wingdings" panose="05000000000000000000" pitchFamily="2" charset="2"/>
              <a:buNone/>
            </a:pPr>
            <a:endParaRPr lang="en-US" altLang="zh-CN" dirty="0">
              <a:solidFill>
                <a:schemeClr val="tx1"/>
              </a:solidFill>
              <a:latin typeface="微软雅黑" panose="020B0503020204020204" pitchFamily="34" charset="-122"/>
              <a:ea typeface="微软雅黑" panose="020B0503020204020204" pitchFamily="34" charset="-122"/>
            </a:endParaRPr>
          </a:p>
        </p:txBody>
      </p:sp>
      <p:sp>
        <p:nvSpPr>
          <p:cNvPr id="6" name="Rectangle 2">
            <a:extLst>
              <a:ext uri="{FF2B5EF4-FFF2-40B4-BE49-F238E27FC236}">
                <a16:creationId xmlns:a16="http://schemas.microsoft.com/office/drawing/2014/main" id="{CEFB7FDC-D2BC-23EB-49C8-51009F8E6496}"/>
              </a:ext>
            </a:extLst>
          </p:cNvPr>
          <p:cNvSpPr>
            <a:spLocks noGrp="1" noChangeArrowheads="1"/>
          </p:cNvSpPr>
          <p:nvPr>
            <p:ph type="title"/>
          </p:nvPr>
        </p:nvSpPr>
        <p:spPr>
          <a:xfrm>
            <a:off x="457200" y="277813"/>
            <a:ext cx="8229600" cy="1139825"/>
          </a:xfrm>
        </p:spPr>
        <p:txBody>
          <a:bodyPr/>
          <a:lstStyle/>
          <a:p>
            <a:r>
              <a:rPr lang="zh-CN" altLang="en-US" sz="3200" b="1" dirty="0">
                <a:solidFill>
                  <a:srgbClr val="3907F1"/>
                </a:solidFill>
                <a:latin typeface="微软雅黑" panose="020B0503020204020204" pitchFamily="34" charset="-122"/>
                <a:ea typeface="微软雅黑" panose="020B0503020204020204" pitchFamily="34" charset="-122"/>
              </a:rPr>
              <a:t>算法分析的基本法则</a:t>
            </a:r>
            <a:endParaRPr lang="zh-CN" altLang="en-US" dirty="0">
              <a:latin typeface="微软雅黑" panose="020B0503020204020204" pitchFamily="34" charset="-122"/>
              <a:ea typeface="微软雅黑" panose="020B0503020204020204" pitchFamily="34" charset="-122"/>
            </a:endParaRPr>
          </a:p>
        </p:txBody>
      </p:sp>
      <p:pic>
        <p:nvPicPr>
          <p:cNvPr id="7" name="Picture 4">
            <a:extLst>
              <a:ext uri="{FF2B5EF4-FFF2-40B4-BE49-F238E27FC236}">
                <a16:creationId xmlns:a16="http://schemas.microsoft.com/office/drawing/2014/main" id="{4003CBD8-E18F-30A9-3737-413E4CFB05F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35074" y="2060848"/>
            <a:ext cx="6127590" cy="4061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EFB7FDC-D2BC-23EB-49C8-51009F8E6496}"/>
              </a:ext>
            </a:extLst>
          </p:cNvPr>
          <p:cNvSpPr>
            <a:spLocks noGrp="1" noChangeArrowheads="1"/>
          </p:cNvSpPr>
          <p:nvPr>
            <p:ph type="title"/>
          </p:nvPr>
        </p:nvSpPr>
        <p:spPr/>
        <p:txBody>
          <a:bodyPr/>
          <a:lstStyle/>
          <a:p>
            <a:r>
              <a:rPr lang="zh-CN" altLang="en-US" sz="3200" b="1" dirty="0">
                <a:solidFill>
                  <a:srgbClr val="3907F1"/>
                </a:solidFill>
                <a:latin typeface="微软雅黑" panose="020B0503020204020204" pitchFamily="34" charset="-122"/>
                <a:ea typeface="微软雅黑" panose="020B0503020204020204" pitchFamily="34" charset="-122"/>
              </a:rPr>
              <a:t>算法分析的基本法则</a:t>
            </a:r>
            <a:endParaRPr lang="zh-CN" altLang="en-US" dirty="0">
              <a:latin typeface="微软雅黑" panose="020B0503020204020204" pitchFamily="34" charset="-122"/>
              <a:ea typeface="微软雅黑" panose="020B0503020204020204" pitchFamily="34" charset="-122"/>
            </a:endParaRPr>
          </a:p>
        </p:txBody>
      </p:sp>
      <p:sp>
        <p:nvSpPr>
          <p:cNvPr id="55299" name="Rectangle 3">
            <a:extLst>
              <a:ext uri="{FF2B5EF4-FFF2-40B4-BE49-F238E27FC236}">
                <a16:creationId xmlns:a16="http://schemas.microsoft.com/office/drawing/2014/main" id="{3B84A927-954F-8D12-4184-2EB84A56DAE5}"/>
              </a:ext>
            </a:extLst>
          </p:cNvPr>
          <p:cNvSpPr>
            <a:spLocks noGrp="1" noChangeArrowheads="1"/>
          </p:cNvSpPr>
          <p:nvPr>
            <p:ph type="body" idx="1"/>
          </p:nvPr>
        </p:nvSpPr>
        <p:spPr>
          <a:xfrm>
            <a:off x="755576" y="1196752"/>
            <a:ext cx="7772400" cy="4824412"/>
          </a:xfrm>
        </p:spPr>
        <p:txBody>
          <a:bodyPr/>
          <a:lstStyle/>
          <a:p>
            <a:pPr>
              <a:lnSpc>
                <a:spcPct val="80000"/>
              </a:lnSpc>
              <a:buFont typeface="Wingdings" panose="05000000000000000000" pitchFamily="2" charset="2"/>
              <a:buNone/>
            </a:pPr>
            <a:r>
              <a:rPr lang="zh-CN" altLang="en-US" sz="2400" b="1" dirty="0">
                <a:solidFill>
                  <a:srgbClr val="3907F1"/>
                </a:solidFill>
                <a:latin typeface="微软雅黑" panose="020B0503020204020204" pitchFamily="34" charset="-122"/>
                <a:ea typeface="微软雅黑" panose="020B0503020204020204" pitchFamily="34" charset="-122"/>
              </a:rPr>
              <a:t>非递归算法：</a:t>
            </a:r>
          </a:p>
          <a:p>
            <a:pPr>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顺序语句</a:t>
            </a:r>
          </a:p>
          <a:p>
            <a:pPr>
              <a:lnSpc>
                <a:spcPct val="150000"/>
              </a:lnSpc>
              <a:buNone/>
            </a:pPr>
            <a:r>
              <a:rPr lang="zh-CN" altLang="en-US" sz="2000" dirty="0">
                <a:latin typeface="微软雅黑" panose="020B0503020204020204" pitchFamily="34" charset="-122"/>
                <a:ea typeface="微软雅黑" panose="020B0503020204020204" pitchFamily="34" charset="-122"/>
              </a:rPr>
              <a:t>           各语句计算时间相加；</a:t>
            </a:r>
          </a:p>
          <a:p>
            <a:pPr>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if-else</a:t>
            </a:r>
            <a:r>
              <a:rPr lang="zh-CN" altLang="en-US" sz="2000" b="1" dirty="0">
                <a:latin typeface="微软雅黑" panose="020B0503020204020204" pitchFamily="34" charset="-122"/>
                <a:ea typeface="微软雅黑" panose="020B0503020204020204" pitchFamily="34" charset="-122"/>
              </a:rPr>
              <a:t>语句</a:t>
            </a:r>
          </a:p>
          <a:p>
            <a:pPr>
              <a:lnSpc>
                <a:spcPct val="150000"/>
              </a:lnSpc>
              <a:buNone/>
            </a:pPr>
            <a:r>
              <a:rPr lang="zh-CN" altLang="en-US" sz="2000" dirty="0">
                <a:latin typeface="微软雅黑" panose="020B0503020204020204" pitchFamily="34" charset="-122"/>
                <a:ea typeface="微软雅黑" panose="020B0503020204020204" pitchFamily="34" charset="-122"/>
              </a:rPr>
              <a:t>          条件测试</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分支计算时间的最大者；</a:t>
            </a:r>
          </a:p>
          <a:p>
            <a:pPr>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a:t>
            </a:r>
            <a:r>
              <a:rPr lang="en-US" altLang="zh-CN" sz="2000" b="1" dirty="0">
                <a:latin typeface="微软雅黑" panose="020B0503020204020204" pitchFamily="34" charset="-122"/>
                <a:ea typeface="微软雅黑" panose="020B0503020204020204" pitchFamily="34" charset="-122"/>
              </a:rPr>
              <a:t>for / while </a:t>
            </a:r>
            <a:r>
              <a:rPr lang="zh-CN" altLang="en-US" sz="2000" b="1" dirty="0">
                <a:latin typeface="微软雅黑" panose="020B0503020204020204" pitchFamily="34" charset="-122"/>
                <a:ea typeface="微软雅黑" panose="020B0503020204020204" pitchFamily="34" charset="-122"/>
              </a:rPr>
              <a:t>循环</a:t>
            </a:r>
          </a:p>
          <a:p>
            <a:pPr>
              <a:lnSpc>
                <a:spcPct val="150000"/>
              </a:lnSpc>
              <a:buNone/>
            </a:pPr>
            <a:r>
              <a:rPr lang="zh-CN" altLang="en-US" sz="2000" dirty="0">
                <a:latin typeface="微软雅黑" panose="020B0503020204020204" pitchFamily="34" charset="-122"/>
                <a:ea typeface="微软雅黑" panose="020B0503020204020204" pitchFamily="34" charset="-122"/>
              </a:rPr>
              <a:t>           循环体内计算时间*循环次数；</a:t>
            </a:r>
          </a:p>
          <a:p>
            <a:pPr>
              <a:lnSpc>
                <a:spcPct val="150000"/>
              </a:lnSpc>
              <a:buNone/>
            </a:pP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嵌套循环</a:t>
            </a:r>
          </a:p>
          <a:p>
            <a:pPr>
              <a:lnSpc>
                <a:spcPct val="150000"/>
              </a:lnSpc>
              <a:buNone/>
            </a:pPr>
            <a:r>
              <a:rPr lang="zh-CN" altLang="en-US" sz="2000" dirty="0">
                <a:latin typeface="微软雅黑" panose="020B0503020204020204" pitchFamily="34" charset="-122"/>
                <a:ea typeface="微软雅黑" panose="020B0503020204020204" pitchFamily="34" charset="-122"/>
              </a:rPr>
              <a:t>           循环体内计算时间*</a:t>
            </a:r>
            <a:r>
              <a:rPr lang="zh-CN" altLang="en-US" sz="2000" dirty="0">
                <a:solidFill>
                  <a:srgbClr val="FF0000"/>
                </a:solidFill>
                <a:latin typeface="微软雅黑" panose="020B0503020204020204" pitchFamily="34" charset="-122"/>
                <a:ea typeface="微软雅黑" panose="020B0503020204020204" pitchFamily="34" charset="-122"/>
              </a:rPr>
              <a:t>所有</a:t>
            </a:r>
            <a:r>
              <a:rPr lang="zh-CN" altLang="en-US" sz="2000" dirty="0">
                <a:latin typeface="微软雅黑" panose="020B0503020204020204" pitchFamily="34" charset="-122"/>
                <a:ea typeface="微软雅黑" panose="020B0503020204020204" pitchFamily="34" charset="-122"/>
              </a:rPr>
              <a:t>循环次数。</a:t>
            </a:r>
          </a:p>
        </p:txBody>
      </p:sp>
      <p:sp>
        <p:nvSpPr>
          <p:cNvPr id="2" name="矩形 1"/>
          <p:cNvSpPr/>
          <p:nvPr/>
        </p:nvSpPr>
        <p:spPr>
          <a:xfrm>
            <a:off x="5711236" y="3633299"/>
            <a:ext cx="1723549" cy="553998"/>
          </a:xfrm>
          <a:prstGeom prst="rect">
            <a:avLst/>
          </a:prstGeom>
        </p:spPr>
        <p:txBody>
          <a:bodyPr wrap="none">
            <a:spAutoFit/>
          </a:bodyPr>
          <a:lstStyle/>
          <a:p>
            <a:pPr algn="r">
              <a:buFont typeface="Wingdings" panose="05000000000000000000" pitchFamily="2" charset="2"/>
              <a:buNone/>
            </a:pPr>
            <a:r>
              <a:rPr lang="zh-CN" altLang="en-US" dirty="0">
                <a:solidFill>
                  <a:srgbClr val="FF0000"/>
                </a:solidFill>
                <a:latin typeface="微软雅黑" panose="020B0503020204020204" pitchFamily="34" charset="-122"/>
                <a:ea typeface="微软雅黑" panose="020B0503020204020204" pitchFamily="34" charset="-122"/>
              </a:rPr>
              <a:t>递归函数</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3" name="矩形 2"/>
          <p:cNvSpPr/>
          <p:nvPr/>
        </p:nvSpPr>
        <p:spPr>
          <a:xfrm>
            <a:off x="6303748" y="4337484"/>
            <a:ext cx="2492990" cy="553998"/>
          </a:xfrm>
          <a:prstGeom prst="rect">
            <a:avLst/>
          </a:prstGeom>
        </p:spPr>
        <p:txBody>
          <a:bodyPr wrap="none">
            <a:spAutoFit/>
          </a:bodyPr>
          <a:lstStyle/>
          <a:p>
            <a:pPr eaLnBrk="1" hangingPunct="1">
              <a:spcBef>
                <a:spcPct val="20000"/>
              </a:spcBef>
              <a:buClr>
                <a:schemeClr val="hlink"/>
              </a:buClr>
              <a:buSzPct val="110000"/>
              <a:buFont typeface="Wingdings" panose="05000000000000000000" pitchFamily="2" charset="2"/>
              <a:buNone/>
            </a:pPr>
            <a:r>
              <a:rPr lang="zh-CN" altLang="en-US">
                <a:solidFill>
                  <a:srgbClr val="FF0000"/>
                </a:solidFill>
                <a:latin typeface="微软雅黑" panose="020B0503020204020204" pitchFamily="34" charset="-122"/>
                <a:ea typeface="微软雅黑" panose="020B0503020204020204" pitchFamily="34" charset="-122"/>
              </a:rPr>
              <a:t>求解递归方程</a:t>
            </a:r>
            <a:endParaRPr lang="en-US" altLang="zh-CN"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094904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FCBEE29-B0BC-217A-D5FA-65FA3A65B970}"/>
              </a:ext>
            </a:extLst>
          </p:cNvPr>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嵌套循环</a:t>
            </a:r>
            <a:endParaRPr lang="en-US" altLang="zh-CN" dirty="0">
              <a:latin typeface="微软雅黑" panose="020B0503020204020204" pitchFamily="34" charset="-122"/>
              <a:ea typeface="微软雅黑" panose="020B0503020204020204" pitchFamily="34" charset="-122"/>
            </a:endParaRPr>
          </a:p>
        </p:txBody>
      </p:sp>
      <p:graphicFrame>
        <p:nvGraphicFramePr>
          <p:cNvPr id="46083" name="Object 4">
            <a:extLst>
              <a:ext uri="{FF2B5EF4-FFF2-40B4-BE49-F238E27FC236}">
                <a16:creationId xmlns:a16="http://schemas.microsoft.com/office/drawing/2014/main" id="{9AA93F59-C42C-20D5-166D-839D5E024193}"/>
              </a:ext>
            </a:extLst>
          </p:cNvPr>
          <p:cNvGraphicFramePr>
            <a:graphicFrameLocks noChangeAspect="1"/>
          </p:cNvGraphicFramePr>
          <p:nvPr>
            <p:extLst>
              <p:ext uri="{D42A27DB-BD31-4B8C-83A1-F6EECF244321}">
                <p14:modId xmlns:p14="http://schemas.microsoft.com/office/powerpoint/2010/main" val="271722881"/>
              </p:ext>
            </p:extLst>
          </p:nvPr>
        </p:nvGraphicFramePr>
        <p:xfrm>
          <a:off x="1905000" y="3717032"/>
          <a:ext cx="5334000" cy="1549400"/>
        </p:xfrm>
        <a:graphic>
          <a:graphicData uri="http://schemas.openxmlformats.org/presentationml/2006/ole">
            <mc:AlternateContent xmlns:mc="http://schemas.openxmlformats.org/markup-compatibility/2006">
              <mc:Choice xmlns:v="urn:schemas-microsoft-com:vml" Requires="v">
                <p:oleObj spid="_x0000_s2133" name="Equation" r:id="rId3" imgW="1485900" imgH="431800" progId="Equation.3">
                  <p:embed/>
                </p:oleObj>
              </mc:Choice>
              <mc:Fallback>
                <p:oleObj name="Equation" r:id="rId3" imgW="1485900" imgH="431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717032"/>
                        <a:ext cx="5334000"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4" name="Rectangle 6">
            <a:extLst>
              <a:ext uri="{FF2B5EF4-FFF2-40B4-BE49-F238E27FC236}">
                <a16:creationId xmlns:a16="http://schemas.microsoft.com/office/drawing/2014/main" id="{DC73EF13-F8EA-0E99-B985-C099680C7281}"/>
              </a:ext>
            </a:extLst>
          </p:cNvPr>
          <p:cNvSpPr>
            <a:spLocks noChangeArrowheads="1"/>
          </p:cNvSpPr>
          <p:nvPr/>
        </p:nvSpPr>
        <p:spPr bwMode="auto">
          <a:xfrm>
            <a:off x="914400" y="1828800"/>
            <a:ext cx="3276600" cy="1219200"/>
          </a:xfrm>
          <a:prstGeom prst="rect">
            <a:avLst/>
          </a:prstGeom>
          <a:solidFill>
            <a:schemeClr val="accent2">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宋体" panose="02010600030101010101" pitchFamily="2" charset="-122"/>
              </a:rPr>
              <a:t>for </a:t>
            </a:r>
            <a:r>
              <a:rPr lang="en-US" altLang="zh-CN" sz="2000" dirty="0" err="1">
                <a:solidFill>
                  <a:schemeClr val="tx1"/>
                </a:solidFill>
                <a:latin typeface="Courier New" panose="02070309020205020404" pitchFamily="49" charset="0"/>
                <a:ea typeface="宋体" panose="02010600030101010101" pitchFamily="2" charset="-122"/>
              </a:rPr>
              <a:t>i</a:t>
            </a:r>
            <a:r>
              <a:rPr lang="en-US" altLang="zh-CN" sz="2000" dirty="0">
                <a:solidFill>
                  <a:schemeClr val="tx1"/>
                </a:solidFill>
                <a:latin typeface="Courier New" panose="02070309020205020404" pitchFamily="49" charset="0"/>
                <a:ea typeface="宋体" panose="02010600030101010101" pitchFamily="2" charset="-122"/>
              </a:rPr>
              <a:t> = 1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宋体" panose="02010600030101010101" pitchFamily="2" charset="-122"/>
              </a:rPr>
              <a:t>  for j = </a:t>
            </a:r>
            <a:r>
              <a:rPr lang="en-US" altLang="zh-CN" sz="2000" b="1" dirty="0">
                <a:solidFill>
                  <a:srgbClr val="FF0000"/>
                </a:solidFill>
                <a:latin typeface="Courier New" panose="02070309020205020404" pitchFamily="49" charset="0"/>
                <a:ea typeface="宋体" panose="02010600030101010101" pitchFamily="2" charset="-122"/>
              </a:rPr>
              <a:t>1</a:t>
            </a:r>
            <a:r>
              <a:rPr lang="en-US" altLang="zh-CN" sz="2000" dirty="0">
                <a:solidFill>
                  <a:schemeClr val="tx1"/>
                </a:solidFill>
                <a:latin typeface="Courier New" panose="02070309020205020404" pitchFamily="49" charset="0"/>
                <a:ea typeface="宋体" panose="02010600030101010101" pitchFamily="2" charset="-122"/>
              </a:rPr>
              <a:t>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宋体" panose="02010600030101010101" pitchFamily="2" charset="-122"/>
              </a:rPr>
              <a:t>       sum = sum + 1</a:t>
            </a:r>
          </a:p>
          <a:p>
            <a:pPr eaLnBrk="1" hangingPunct="1">
              <a:spcBef>
                <a:spcPct val="20000"/>
              </a:spcBef>
              <a:buClr>
                <a:schemeClr val="tx1"/>
              </a:buClr>
              <a:buSzPct val="110000"/>
              <a:buFont typeface="Wingdings" panose="05000000000000000000" pitchFamily="2" charset="2"/>
              <a:buNone/>
            </a:pPr>
            <a:endParaRPr lang="en-US" altLang="zh-CN" sz="2000" dirty="0">
              <a:solidFill>
                <a:schemeClr val="tx1"/>
              </a:solidFill>
              <a:latin typeface="Courier New" panose="02070309020205020404" pitchFamily="49" charset="0"/>
              <a:ea typeface="宋体" panose="02010600030101010101" pitchFamily="2" charset="-122"/>
            </a:endParaRPr>
          </a:p>
        </p:txBody>
      </p:sp>
      <p:sp>
        <p:nvSpPr>
          <p:cNvPr id="2" name="矩形 1"/>
          <p:cNvSpPr/>
          <p:nvPr/>
        </p:nvSpPr>
        <p:spPr>
          <a:xfrm>
            <a:off x="7205532" y="2279789"/>
            <a:ext cx="1106393" cy="553998"/>
          </a:xfrm>
          <a:prstGeom prst="rect">
            <a:avLst/>
          </a:prstGeom>
        </p:spPr>
        <p:txBody>
          <a:bodyPr wrap="none">
            <a:spAutoFit/>
          </a:bodyPr>
          <a:lstStyle/>
          <a:p>
            <a:r>
              <a:rPr lang="en-US" altLang="zh-CN" dirty="0">
                <a:solidFill>
                  <a:schemeClr val="tx1"/>
                </a:solidFill>
                <a:latin typeface="Tahoma" panose="020B0604030504040204" pitchFamily="34" charset="0"/>
                <a:ea typeface="宋体" panose="02010600030101010101" pitchFamily="2" charset="-122"/>
              </a:rPr>
              <a:t>O(n</a:t>
            </a:r>
            <a:r>
              <a:rPr lang="en-US" altLang="zh-CN" baseline="30000" dirty="0">
                <a:solidFill>
                  <a:schemeClr val="tx1"/>
                </a:solidFill>
                <a:latin typeface="Tahoma" panose="020B0604030504040204" pitchFamily="34" charset="0"/>
                <a:ea typeface="宋体" panose="02010600030101010101" pitchFamily="2" charset="-122"/>
              </a:rPr>
              <a:t>2</a:t>
            </a:r>
            <a:r>
              <a:rPr lang="en-US" altLang="zh-CN" dirty="0">
                <a:solidFill>
                  <a:schemeClr val="tx1"/>
                </a:solidFill>
                <a:latin typeface="Tahoma" panose="020B0604030504040204" pitchFamily="34" charset="0"/>
                <a:ea typeface="宋体" panose="02010600030101010101" pitchFamily="2" charset="-122"/>
              </a:rPr>
              <a:t>)</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9802E73-69CF-79FA-AD5C-3547801C609C}"/>
              </a:ext>
            </a:extLst>
          </p:cNvPr>
          <p:cNvSpPr>
            <a:spLocks noChangeArrowheads="1"/>
          </p:cNvSpPr>
          <p:nvPr/>
        </p:nvSpPr>
        <p:spPr bwMode="auto">
          <a:xfrm>
            <a:off x="914400" y="1828800"/>
            <a:ext cx="3276600" cy="1219200"/>
          </a:xfrm>
          <a:prstGeom prst="rect">
            <a:avLst/>
          </a:prstGeom>
          <a:solidFill>
            <a:schemeClr val="accent2">
              <a:alpha val="50195"/>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宋体" panose="02010600030101010101" pitchFamily="2" charset="-122"/>
              </a:rPr>
              <a:t>for </a:t>
            </a:r>
            <a:r>
              <a:rPr lang="en-US" altLang="zh-CN" sz="2000" dirty="0" err="1">
                <a:solidFill>
                  <a:schemeClr val="tx1"/>
                </a:solidFill>
                <a:latin typeface="Courier New" panose="02070309020205020404" pitchFamily="49" charset="0"/>
                <a:ea typeface="宋体" panose="02010600030101010101" pitchFamily="2" charset="-122"/>
              </a:rPr>
              <a:t>i</a:t>
            </a:r>
            <a:r>
              <a:rPr lang="en-US" altLang="zh-CN" sz="2000" dirty="0">
                <a:solidFill>
                  <a:schemeClr val="tx1"/>
                </a:solidFill>
                <a:latin typeface="Courier New" panose="02070309020205020404" pitchFamily="49" charset="0"/>
                <a:ea typeface="宋体" panose="02010600030101010101" pitchFamily="2" charset="-122"/>
              </a:rPr>
              <a:t> = 1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宋体" panose="02010600030101010101" pitchFamily="2" charset="-122"/>
              </a:rPr>
              <a:t>  for j = </a:t>
            </a:r>
            <a:r>
              <a:rPr lang="en-US" altLang="zh-CN" sz="2000" b="1" dirty="0" err="1">
                <a:solidFill>
                  <a:srgbClr val="FF0000"/>
                </a:solidFill>
                <a:latin typeface="Courier New" panose="02070309020205020404" pitchFamily="49" charset="0"/>
                <a:ea typeface="宋体" panose="02010600030101010101" pitchFamily="2" charset="-122"/>
              </a:rPr>
              <a:t>i</a:t>
            </a:r>
            <a:r>
              <a:rPr lang="en-US" altLang="zh-CN" sz="2000" dirty="0">
                <a:solidFill>
                  <a:schemeClr val="tx1"/>
                </a:solidFill>
                <a:latin typeface="Courier New" panose="02070309020205020404" pitchFamily="49" charset="0"/>
                <a:ea typeface="宋体" panose="02010600030101010101" pitchFamily="2" charset="-122"/>
              </a:rPr>
              <a:t> to n do</a:t>
            </a:r>
          </a:p>
          <a:p>
            <a:pPr eaLnBrk="1" hangingPunct="1">
              <a:spcBef>
                <a:spcPct val="20000"/>
              </a:spcBef>
              <a:buClr>
                <a:schemeClr val="tx1"/>
              </a:buClr>
              <a:buSzPct val="110000"/>
              <a:buFont typeface="Wingdings" panose="05000000000000000000" pitchFamily="2" charset="2"/>
              <a:buNone/>
            </a:pPr>
            <a:r>
              <a:rPr lang="en-US" altLang="zh-CN" sz="2000" dirty="0">
                <a:solidFill>
                  <a:schemeClr val="tx1"/>
                </a:solidFill>
                <a:latin typeface="Courier New" panose="02070309020205020404" pitchFamily="49" charset="0"/>
                <a:ea typeface="宋体" panose="02010600030101010101" pitchFamily="2" charset="-122"/>
              </a:rPr>
              <a:t>       sum = sum + 1</a:t>
            </a:r>
          </a:p>
          <a:p>
            <a:pPr eaLnBrk="1" hangingPunct="1">
              <a:spcBef>
                <a:spcPct val="20000"/>
              </a:spcBef>
              <a:buClr>
                <a:schemeClr val="tx1"/>
              </a:buClr>
              <a:buSzPct val="110000"/>
              <a:buFont typeface="Wingdings" panose="05000000000000000000" pitchFamily="2" charset="2"/>
              <a:buNone/>
            </a:pPr>
            <a:endParaRPr lang="en-US" altLang="zh-CN" sz="2000" dirty="0">
              <a:solidFill>
                <a:schemeClr val="tx1"/>
              </a:solidFill>
              <a:latin typeface="Courier New" panose="02070309020205020404" pitchFamily="49" charset="0"/>
              <a:ea typeface="宋体" panose="02010600030101010101" pitchFamily="2" charset="-122"/>
            </a:endParaRPr>
          </a:p>
        </p:txBody>
      </p:sp>
      <p:graphicFrame>
        <p:nvGraphicFramePr>
          <p:cNvPr id="47107" name="Object 13">
            <a:extLst>
              <a:ext uri="{FF2B5EF4-FFF2-40B4-BE49-F238E27FC236}">
                <a16:creationId xmlns:a16="http://schemas.microsoft.com/office/drawing/2014/main" id="{1350AA38-32D9-FBEB-3838-09D0859FC355}"/>
              </a:ext>
            </a:extLst>
          </p:cNvPr>
          <p:cNvGraphicFramePr>
            <a:graphicFrameLocks noChangeAspect="1"/>
          </p:cNvGraphicFramePr>
          <p:nvPr>
            <p:extLst>
              <p:ext uri="{D42A27DB-BD31-4B8C-83A1-F6EECF244321}">
                <p14:modId xmlns:p14="http://schemas.microsoft.com/office/powerpoint/2010/main" val="176837469"/>
              </p:ext>
            </p:extLst>
          </p:nvPr>
        </p:nvGraphicFramePr>
        <p:xfrm>
          <a:off x="1673154" y="3433402"/>
          <a:ext cx="5695950" cy="885825"/>
        </p:xfrm>
        <a:graphic>
          <a:graphicData uri="http://schemas.openxmlformats.org/presentationml/2006/ole">
            <mc:AlternateContent xmlns:mc="http://schemas.openxmlformats.org/markup-compatibility/2006">
              <mc:Choice xmlns:v="urn:schemas-microsoft-com:vml" Requires="v">
                <p:oleObj spid="_x0000_s3238" name="Equation" r:id="rId3" imgW="2857500" imgH="444500" progId="Equation.3">
                  <p:embed/>
                </p:oleObj>
              </mc:Choice>
              <mc:Fallback>
                <p:oleObj name="Equation" r:id="rId3" imgW="2857500" imgH="4445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3154" y="3433402"/>
                        <a:ext cx="569595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8" name="Object 14">
            <a:extLst>
              <a:ext uri="{FF2B5EF4-FFF2-40B4-BE49-F238E27FC236}">
                <a16:creationId xmlns:a16="http://schemas.microsoft.com/office/drawing/2014/main" id="{7639954F-3B31-5FE5-D740-10487CAB2255}"/>
              </a:ext>
            </a:extLst>
          </p:cNvPr>
          <p:cNvGraphicFramePr>
            <a:graphicFrameLocks noChangeAspect="1"/>
          </p:cNvGraphicFramePr>
          <p:nvPr>
            <p:extLst>
              <p:ext uri="{D42A27DB-BD31-4B8C-83A1-F6EECF244321}">
                <p14:modId xmlns:p14="http://schemas.microsoft.com/office/powerpoint/2010/main" val="308132173"/>
              </p:ext>
            </p:extLst>
          </p:nvPr>
        </p:nvGraphicFramePr>
        <p:xfrm>
          <a:off x="2267744" y="4699356"/>
          <a:ext cx="4876800" cy="957263"/>
        </p:xfrm>
        <a:graphic>
          <a:graphicData uri="http://schemas.openxmlformats.org/presentationml/2006/ole">
            <mc:AlternateContent xmlns:mc="http://schemas.openxmlformats.org/markup-compatibility/2006">
              <mc:Choice xmlns:v="urn:schemas-microsoft-com:vml" Requires="v">
                <p:oleObj spid="_x0000_s3239" name="Equation" r:id="rId5" imgW="2005729" imgH="393529" progId="Equation.3">
                  <p:embed/>
                </p:oleObj>
              </mc:Choice>
              <mc:Fallback>
                <p:oleObj name="Equation" r:id="rId5" imgW="2005729" imgH="393529"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44" y="4699356"/>
                        <a:ext cx="4876800"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9" name="标题 1">
            <a:extLst>
              <a:ext uri="{FF2B5EF4-FFF2-40B4-BE49-F238E27FC236}">
                <a16:creationId xmlns:a16="http://schemas.microsoft.com/office/drawing/2014/main" id="{7A85099F-1BF2-9360-D996-381DBC786D05}"/>
              </a:ext>
            </a:extLst>
          </p:cNvPr>
          <p:cNvSpPr>
            <a:spLocks noGrp="1" noChangeArrowheads="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嵌套循环</a:t>
            </a:r>
          </a:p>
        </p:txBody>
      </p:sp>
      <p:sp>
        <p:nvSpPr>
          <p:cNvPr id="6" name="矩形 5"/>
          <p:cNvSpPr/>
          <p:nvPr/>
        </p:nvSpPr>
        <p:spPr>
          <a:xfrm>
            <a:off x="7369104" y="2156635"/>
            <a:ext cx="1106393" cy="553998"/>
          </a:xfrm>
          <a:prstGeom prst="rect">
            <a:avLst/>
          </a:prstGeom>
        </p:spPr>
        <p:txBody>
          <a:bodyPr wrap="none">
            <a:spAutoFit/>
          </a:bodyPr>
          <a:lstStyle/>
          <a:p>
            <a:r>
              <a:rPr lang="en-US" altLang="zh-CN" dirty="0">
                <a:solidFill>
                  <a:schemeClr val="tx1"/>
                </a:solidFill>
                <a:latin typeface="Tahoma" panose="020B0604030504040204" pitchFamily="34" charset="0"/>
                <a:ea typeface="宋体" panose="02010600030101010101" pitchFamily="2" charset="-122"/>
              </a:rPr>
              <a:t>O(n</a:t>
            </a:r>
            <a:r>
              <a:rPr lang="en-US" altLang="zh-CN" baseline="30000" dirty="0">
                <a:solidFill>
                  <a:schemeClr val="tx1"/>
                </a:solidFill>
                <a:latin typeface="Tahoma" panose="020B0604030504040204" pitchFamily="34" charset="0"/>
                <a:ea typeface="宋体" panose="02010600030101010101" pitchFamily="2" charset="-122"/>
              </a:rPr>
              <a:t>2</a:t>
            </a:r>
            <a:r>
              <a:rPr lang="en-US" altLang="zh-CN" dirty="0">
                <a:solidFill>
                  <a:schemeClr val="tx1"/>
                </a:solidFill>
                <a:latin typeface="Tahoma" panose="020B0604030504040204" pitchFamily="34" charset="0"/>
                <a:ea typeface="宋体" panose="02010600030101010101" pitchFamily="2" charset="-122"/>
              </a:rPr>
              <a:t>)</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动图"/>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1052736"/>
            <a:ext cx="6013310" cy="3744416"/>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p:cNvSpPr txBox="1">
            <a:spLocks noGrp="1"/>
          </p:cNvSpPr>
          <p:nvPr>
            <p:ph type="title"/>
          </p:nvPr>
        </p:nvSpPr>
        <p:spPr>
          <a:xfrm>
            <a:off x="457200" y="277813"/>
            <a:ext cx="8229600" cy="659155"/>
          </a:xfrm>
          <a:prstGeom prst="rect">
            <a:avLst/>
          </a:prstGeom>
        </p:spPr>
        <p:txBody>
          <a:bodyPr vert="horz" wrap="square" lIns="0" tIns="12700" rIns="0" bIns="0" rtlCol="0">
            <a:spAutoFit/>
          </a:bodyPr>
          <a:lstStyle/>
          <a:p>
            <a:pPr marL="12700">
              <a:lnSpc>
                <a:spcPct val="100000"/>
              </a:lnSpc>
              <a:spcBef>
                <a:spcPts val="100"/>
              </a:spcBef>
            </a:pPr>
            <a:r>
              <a:rPr dirty="0">
                <a:latin typeface="微软雅黑" panose="020B0503020204020204" pitchFamily="34" charset="-122"/>
                <a:ea typeface="微软雅黑" panose="020B0503020204020204" pitchFamily="34" charset="-122"/>
                <a:cs typeface="宋体"/>
              </a:rPr>
              <a:t>插入排序（</a:t>
            </a:r>
            <a:r>
              <a:rPr dirty="0">
                <a:latin typeface="微软雅黑" panose="020B0503020204020204" pitchFamily="34" charset="-122"/>
                <a:ea typeface="微软雅黑" panose="020B0503020204020204" pitchFamily="34" charset="-122"/>
              </a:rPr>
              <a:t>Insertion</a:t>
            </a:r>
            <a:r>
              <a:rPr spc="-55" dirty="0">
                <a:latin typeface="微软雅黑" panose="020B0503020204020204" pitchFamily="34" charset="-122"/>
                <a:ea typeface="微软雅黑" panose="020B0503020204020204" pitchFamily="34" charset="-122"/>
              </a:rPr>
              <a:t> </a:t>
            </a:r>
            <a:r>
              <a:rPr spc="-10" dirty="0">
                <a:latin typeface="微软雅黑" panose="020B0503020204020204" pitchFamily="34" charset="-122"/>
                <a:ea typeface="微软雅黑" panose="020B0503020204020204" pitchFamily="34" charset="-122"/>
              </a:rPr>
              <a:t>Sort</a:t>
            </a:r>
            <a:r>
              <a:rPr spc="-10" dirty="0">
                <a:latin typeface="微软雅黑" panose="020B0503020204020204" pitchFamily="34" charset="-122"/>
                <a:ea typeface="微软雅黑" panose="020B0503020204020204" pitchFamily="34" charset="-122"/>
                <a:cs typeface="宋体"/>
              </a:rPr>
              <a:t>）</a:t>
            </a:r>
          </a:p>
        </p:txBody>
      </p:sp>
      <p:sp>
        <p:nvSpPr>
          <p:cNvPr id="3" name="object 3"/>
          <p:cNvSpPr txBox="1"/>
          <p:nvPr/>
        </p:nvSpPr>
        <p:spPr>
          <a:xfrm>
            <a:off x="539552" y="4819228"/>
            <a:ext cx="8208912" cy="1761251"/>
          </a:xfrm>
          <a:prstGeom prst="rect">
            <a:avLst/>
          </a:prstGeom>
        </p:spPr>
        <p:txBody>
          <a:bodyPr vert="horz" wrap="square" lIns="0" tIns="12700" rIns="0" bIns="0" rtlCol="0">
            <a:spAutoFit/>
          </a:bodyPr>
          <a:lstStyle/>
          <a:p>
            <a:pPr>
              <a:lnSpc>
                <a:spcPct val="200000"/>
              </a:lnSpc>
            </a:pPr>
            <a:r>
              <a:rPr lang="zh-CN" altLang="en-US" sz="2000" dirty="0">
                <a:latin typeface="微软雅黑" panose="020B0503020204020204" pitchFamily="34" charset="-122"/>
                <a:ea typeface="微软雅黑" panose="020B0503020204020204" pitchFamily="34" charset="-122"/>
              </a:rPr>
              <a:t>插入排序的核心思想：</a:t>
            </a:r>
            <a:endParaRPr lang="en-US" altLang="zh-CN" sz="2000" dirty="0">
              <a:latin typeface="微软雅黑" panose="020B0503020204020204" pitchFamily="34" charset="-122"/>
              <a:ea typeface="微软雅黑" panose="020B0503020204020204" pitchFamily="34" charset="-122"/>
            </a:endParaRPr>
          </a:p>
          <a:p>
            <a:pPr>
              <a:lnSpc>
                <a:spcPct val="20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逐步将未排序的元素插入到已排序的部分中，并通过移动元素来为新元素腾出空间。</a:t>
            </a:r>
          </a:p>
        </p:txBody>
      </p:sp>
    </p:spTree>
    <p:extLst>
      <p:ext uri="{BB962C8B-B14F-4D97-AF65-F5344CB8AC3E}">
        <p14:creationId xmlns:p14="http://schemas.microsoft.com/office/powerpoint/2010/main" val="1597646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57580" y="352806"/>
            <a:ext cx="8229600" cy="6296660"/>
            <a:chOff x="457580" y="352806"/>
            <a:chExt cx="8229600" cy="6296660"/>
          </a:xfrm>
        </p:grpSpPr>
        <p:sp>
          <p:nvSpPr>
            <p:cNvPr id="3" name="object 3"/>
            <p:cNvSpPr/>
            <p:nvPr/>
          </p:nvSpPr>
          <p:spPr>
            <a:xfrm>
              <a:off x="500252" y="357759"/>
              <a:ext cx="8001000" cy="6286500"/>
            </a:xfrm>
            <a:custGeom>
              <a:avLst/>
              <a:gdLst/>
              <a:ahLst/>
              <a:cxnLst/>
              <a:rect l="l" t="t" r="r" b="b"/>
              <a:pathLst>
                <a:path w="8001000" h="6286500">
                  <a:moveTo>
                    <a:pt x="6953250" y="0"/>
                  </a:moveTo>
                  <a:lnTo>
                    <a:pt x="1047750" y="0"/>
                  </a:lnTo>
                  <a:lnTo>
                    <a:pt x="999790" y="1078"/>
                  </a:lnTo>
                  <a:lnTo>
                    <a:pt x="952384" y="4282"/>
                  </a:lnTo>
                  <a:lnTo>
                    <a:pt x="905577" y="9565"/>
                  </a:lnTo>
                  <a:lnTo>
                    <a:pt x="859417" y="16882"/>
                  </a:lnTo>
                  <a:lnTo>
                    <a:pt x="813948" y="26185"/>
                  </a:lnTo>
                  <a:lnTo>
                    <a:pt x="769218" y="37429"/>
                  </a:lnTo>
                  <a:lnTo>
                    <a:pt x="725273" y="50568"/>
                  </a:lnTo>
                  <a:lnTo>
                    <a:pt x="682158" y="65554"/>
                  </a:lnTo>
                  <a:lnTo>
                    <a:pt x="639921" y="82343"/>
                  </a:lnTo>
                  <a:lnTo>
                    <a:pt x="598606" y="100887"/>
                  </a:lnTo>
                  <a:lnTo>
                    <a:pt x="558262" y="121141"/>
                  </a:lnTo>
                  <a:lnTo>
                    <a:pt x="518933" y="143058"/>
                  </a:lnTo>
                  <a:lnTo>
                    <a:pt x="480666" y="166592"/>
                  </a:lnTo>
                  <a:lnTo>
                    <a:pt x="443507" y="191696"/>
                  </a:lnTo>
                  <a:lnTo>
                    <a:pt x="407503" y="218325"/>
                  </a:lnTo>
                  <a:lnTo>
                    <a:pt x="372700" y="246432"/>
                  </a:lnTo>
                  <a:lnTo>
                    <a:pt x="339144" y="275971"/>
                  </a:lnTo>
                  <a:lnTo>
                    <a:pt x="306881" y="306895"/>
                  </a:lnTo>
                  <a:lnTo>
                    <a:pt x="275957" y="339159"/>
                  </a:lnTo>
                  <a:lnTo>
                    <a:pt x="246419" y="372716"/>
                  </a:lnTo>
                  <a:lnTo>
                    <a:pt x="218313" y="407520"/>
                  </a:lnTo>
                  <a:lnTo>
                    <a:pt x="191686" y="443524"/>
                  </a:lnTo>
                  <a:lnTo>
                    <a:pt x="166582" y="480683"/>
                  </a:lnTo>
                  <a:lnTo>
                    <a:pt x="143049" y="518950"/>
                  </a:lnTo>
                  <a:lnTo>
                    <a:pt x="121134" y="558278"/>
                  </a:lnTo>
                  <a:lnTo>
                    <a:pt x="100881" y="598623"/>
                  </a:lnTo>
                  <a:lnTo>
                    <a:pt x="82338" y="639937"/>
                  </a:lnTo>
                  <a:lnTo>
                    <a:pt x="65550" y="682173"/>
                  </a:lnTo>
                  <a:lnTo>
                    <a:pt x="50564" y="725287"/>
                  </a:lnTo>
                  <a:lnTo>
                    <a:pt x="37427" y="769231"/>
                  </a:lnTo>
                  <a:lnTo>
                    <a:pt x="26183" y="813960"/>
                  </a:lnTo>
                  <a:lnTo>
                    <a:pt x="16880" y="859427"/>
                  </a:lnTo>
                  <a:lnTo>
                    <a:pt x="9564" y="905585"/>
                  </a:lnTo>
                  <a:lnTo>
                    <a:pt x="4281" y="952389"/>
                  </a:lnTo>
                  <a:lnTo>
                    <a:pt x="1078" y="999793"/>
                  </a:lnTo>
                  <a:lnTo>
                    <a:pt x="0" y="1047750"/>
                  </a:lnTo>
                  <a:lnTo>
                    <a:pt x="0" y="5238724"/>
                  </a:lnTo>
                  <a:lnTo>
                    <a:pt x="1078" y="5286686"/>
                  </a:lnTo>
                  <a:lnTo>
                    <a:pt x="4281" y="5334094"/>
                  </a:lnTo>
                  <a:lnTo>
                    <a:pt x="9564" y="5380902"/>
                  </a:lnTo>
                  <a:lnTo>
                    <a:pt x="16880" y="5427064"/>
                  </a:lnTo>
                  <a:lnTo>
                    <a:pt x="26183" y="5472534"/>
                  </a:lnTo>
                  <a:lnTo>
                    <a:pt x="37427" y="5517266"/>
                  </a:lnTo>
                  <a:lnTo>
                    <a:pt x="50564" y="5561213"/>
                  </a:lnTo>
                  <a:lnTo>
                    <a:pt x="65550" y="5604329"/>
                  </a:lnTo>
                  <a:lnTo>
                    <a:pt x="82338" y="5646568"/>
                  </a:lnTo>
                  <a:lnTo>
                    <a:pt x="100881" y="5687883"/>
                  </a:lnTo>
                  <a:lnTo>
                    <a:pt x="121134" y="5728229"/>
                  </a:lnTo>
                  <a:lnTo>
                    <a:pt x="143049" y="5767559"/>
                  </a:lnTo>
                  <a:lnTo>
                    <a:pt x="166582" y="5805826"/>
                  </a:lnTo>
                  <a:lnTo>
                    <a:pt x="191686" y="5842986"/>
                  </a:lnTo>
                  <a:lnTo>
                    <a:pt x="218313" y="5878991"/>
                  </a:lnTo>
                  <a:lnTo>
                    <a:pt x="246419" y="5913795"/>
                  </a:lnTo>
                  <a:lnTo>
                    <a:pt x="275957" y="5947351"/>
                  </a:lnTo>
                  <a:lnTo>
                    <a:pt x="306881" y="5979615"/>
                  </a:lnTo>
                  <a:lnTo>
                    <a:pt x="339144" y="6010539"/>
                  </a:lnTo>
                  <a:lnTo>
                    <a:pt x="372700" y="6040078"/>
                  </a:lnTo>
                  <a:lnTo>
                    <a:pt x="407503" y="6068184"/>
                  </a:lnTo>
                  <a:lnTo>
                    <a:pt x="443507" y="6094812"/>
                  </a:lnTo>
                  <a:lnTo>
                    <a:pt x="480666" y="6119916"/>
                  </a:lnTo>
                  <a:lnTo>
                    <a:pt x="518933" y="6143449"/>
                  </a:lnTo>
                  <a:lnTo>
                    <a:pt x="558262" y="6165365"/>
                  </a:lnTo>
                  <a:lnTo>
                    <a:pt x="598606" y="6185617"/>
                  </a:lnTo>
                  <a:lnTo>
                    <a:pt x="639921" y="6204161"/>
                  </a:lnTo>
                  <a:lnTo>
                    <a:pt x="682158" y="6220949"/>
                  </a:lnTo>
                  <a:lnTo>
                    <a:pt x="725273" y="6235935"/>
                  </a:lnTo>
                  <a:lnTo>
                    <a:pt x="769218" y="6249072"/>
                  </a:lnTo>
                  <a:lnTo>
                    <a:pt x="813948" y="6260316"/>
                  </a:lnTo>
                  <a:lnTo>
                    <a:pt x="859417" y="6269619"/>
                  </a:lnTo>
                  <a:lnTo>
                    <a:pt x="905577" y="6276935"/>
                  </a:lnTo>
                  <a:lnTo>
                    <a:pt x="952384" y="6282218"/>
                  </a:lnTo>
                  <a:lnTo>
                    <a:pt x="999790" y="6285421"/>
                  </a:lnTo>
                  <a:lnTo>
                    <a:pt x="1047750" y="6286500"/>
                  </a:lnTo>
                  <a:lnTo>
                    <a:pt x="6953250" y="6286500"/>
                  </a:lnTo>
                  <a:lnTo>
                    <a:pt x="7001206" y="6285421"/>
                  </a:lnTo>
                  <a:lnTo>
                    <a:pt x="7048610" y="6282218"/>
                  </a:lnTo>
                  <a:lnTo>
                    <a:pt x="7095414" y="6276935"/>
                  </a:lnTo>
                  <a:lnTo>
                    <a:pt x="7141572" y="6269619"/>
                  </a:lnTo>
                  <a:lnTo>
                    <a:pt x="7187039" y="6260316"/>
                  </a:lnTo>
                  <a:lnTo>
                    <a:pt x="7231768" y="6249072"/>
                  </a:lnTo>
                  <a:lnTo>
                    <a:pt x="7275712" y="6235935"/>
                  </a:lnTo>
                  <a:lnTo>
                    <a:pt x="7318826" y="6220949"/>
                  </a:lnTo>
                  <a:lnTo>
                    <a:pt x="7361062" y="6204161"/>
                  </a:lnTo>
                  <a:lnTo>
                    <a:pt x="7402376" y="6185617"/>
                  </a:lnTo>
                  <a:lnTo>
                    <a:pt x="7442721" y="6165365"/>
                  </a:lnTo>
                  <a:lnTo>
                    <a:pt x="7482049" y="6143449"/>
                  </a:lnTo>
                  <a:lnTo>
                    <a:pt x="7520316" y="6119916"/>
                  </a:lnTo>
                  <a:lnTo>
                    <a:pt x="7557475" y="6094812"/>
                  </a:lnTo>
                  <a:lnTo>
                    <a:pt x="7593479" y="6068184"/>
                  </a:lnTo>
                  <a:lnTo>
                    <a:pt x="7628283" y="6040078"/>
                  </a:lnTo>
                  <a:lnTo>
                    <a:pt x="7661840" y="6010539"/>
                  </a:lnTo>
                  <a:lnTo>
                    <a:pt x="7694104" y="5979615"/>
                  </a:lnTo>
                  <a:lnTo>
                    <a:pt x="7725028" y="5947351"/>
                  </a:lnTo>
                  <a:lnTo>
                    <a:pt x="7754567" y="5913795"/>
                  </a:lnTo>
                  <a:lnTo>
                    <a:pt x="7782674" y="5878991"/>
                  </a:lnTo>
                  <a:lnTo>
                    <a:pt x="7809303" y="5842986"/>
                  </a:lnTo>
                  <a:lnTo>
                    <a:pt x="7834407" y="5805826"/>
                  </a:lnTo>
                  <a:lnTo>
                    <a:pt x="7857941" y="5767559"/>
                  </a:lnTo>
                  <a:lnTo>
                    <a:pt x="7879858" y="5728229"/>
                  </a:lnTo>
                  <a:lnTo>
                    <a:pt x="7900112" y="5687883"/>
                  </a:lnTo>
                  <a:lnTo>
                    <a:pt x="7918656" y="5646568"/>
                  </a:lnTo>
                  <a:lnTo>
                    <a:pt x="7935445" y="5604329"/>
                  </a:lnTo>
                  <a:lnTo>
                    <a:pt x="7950431" y="5561213"/>
                  </a:lnTo>
                  <a:lnTo>
                    <a:pt x="7963570" y="5517266"/>
                  </a:lnTo>
                  <a:lnTo>
                    <a:pt x="7974814" y="5472534"/>
                  </a:lnTo>
                  <a:lnTo>
                    <a:pt x="7984117" y="5427064"/>
                  </a:lnTo>
                  <a:lnTo>
                    <a:pt x="7991434" y="5380902"/>
                  </a:lnTo>
                  <a:lnTo>
                    <a:pt x="7996717" y="5334094"/>
                  </a:lnTo>
                  <a:lnTo>
                    <a:pt x="7999921" y="5286686"/>
                  </a:lnTo>
                  <a:lnTo>
                    <a:pt x="8001000" y="5238724"/>
                  </a:lnTo>
                  <a:lnTo>
                    <a:pt x="8001000" y="1047750"/>
                  </a:lnTo>
                  <a:lnTo>
                    <a:pt x="7999921" y="999793"/>
                  </a:lnTo>
                  <a:lnTo>
                    <a:pt x="7996717" y="952389"/>
                  </a:lnTo>
                  <a:lnTo>
                    <a:pt x="7991434" y="905585"/>
                  </a:lnTo>
                  <a:lnTo>
                    <a:pt x="7984117" y="859427"/>
                  </a:lnTo>
                  <a:lnTo>
                    <a:pt x="7974814" y="813960"/>
                  </a:lnTo>
                  <a:lnTo>
                    <a:pt x="7963570" y="769231"/>
                  </a:lnTo>
                  <a:lnTo>
                    <a:pt x="7950431" y="725287"/>
                  </a:lnTo>
                  <a:lnTo>
                    <a:pt x="7935445" y="682173"/>
                  </a:lnTo>
                  <a:lnTo>
                    <a:pt x="7918656" y="639937"/>
                  </a:lnTo>
                  <a:lnTo>
                    <a:pt x="7900112" y="598623"/>
                  </a:lnTo>
                  <a:lnTo>
                    <a:pt x="7879858" y="558278"/>
                  </a:lnTo>
                  <a:lnTo>
                    <a:pt x="7857941" y="518950"/>
                  </a:lnTo>
                  <a:lnTo>
                    <a:pt x="7834407" y="480683"/>
                  </a:lnTo>
                  <a:lnTo>
                    <a:pt x="7809303" y="443524"/>
                  </a:lnTo>
                  <a:lnTo>
                    <a:pt x="7782674" y="407520"/>
                  </a:lnTo>
                  <a:lnTo>
                    <a:pt x="7754567" y="372716"/>
                  </a:lnTo>
                  <a:lnTo>
                    <a:pt x="7725028" y="339159"/>
                  </a:lnTo>
                  <a:lnTo>
                    <a:pt x="7694104" y="306895"/>
                  </a:lnTo>
                  <a:lnTo>
                    <a:pt x="7661840" y="275971"/>
                  </a:lnTo>
                  <a:lnTo>
                    <a:pt x="7628283" y="246432"/>
                  </a:lnTo>
                  <a:lnTo>
                    <a:pt x="7593479" y="218325"/>
                  </a:lnTo>
                  <a:lnTo>
                    <a:pt x="7557475" y="191696"/>
                  </a:lnTo>
                  <a:lnTo>
                    <a:pt x="7520316" y="166592"/>
                  </a:lnTo>
                  <a:lnTo>
                    <a:pt x="7482049" y="143058"/>
                  </a:lnTo>
                  <a:lnTo>
                    <a:pt x="7442721" y="121141"/>
                  </a:lnTo>
                  <a:lnTo>
                    <a:pt x="7402376" y="100887"/>
                  </a:lnTo>
                  <a:lnTo>
                    <a:pt x="7361062" y="82343"/>
                  </a:lnTo>
                  <a:lnTo>
                    <a:pt x="7318826" y="65554"/>
                  </a:lnTo>
                  <a:lnTo>
                    <a:pt x="7275712" y="50568"/>
                  </a:lnTo>
                  <a:lnTo>
                    <a:pt x="7231768" y="37429"/>
                  </a:lnTo>
                  <a:lnTo>
                    <a:pt x="7187039" y="26185"/>
                  </a:lnTo>
                  <a:lnTo>
                    <a:pt x="7141572" y="16882"/>
                  </a:lnTo>
                  <a:lnTo>
                    <a:pt x="7095414" y="9565"/>
                  </a:lnTo>
                  <a:lnTo>
                    <a:pt x="7048610" y="4282"/>
                  </a:lnTo>
                  <a:lnTo>
                    <a:pt x="7001206" y="1078"/>
                  </a:lnTo>
                  <a:lnTo>
                    <a:pt x="6953250" y="0"/>
                  </a:lnTo>
                  <a:close/>
                </a:path>
              </a:pathLst>
            </a:custGeom>
            <a:solidFill>
              <a:srgbClr val="FFFFFF"/>
            </a:solidFill>
          </p:spPr>
          <p:txBody>
            <a:bodyPr wrap="square" lIns="0" tIns="0" rIns="0" bIns="0" rtlCol="0"/>
            <a:lstStyle/>
            <a:p>
              <a:endParaRPr/>
            </a:p>
          </p:txBody>
        </p:sp>
        <p:sp>
          <p:nvSpPr>
            <p:cNvPr id="4" name="object 4"/>
            <p:cNvSpPr/>
            <p:nvPr/>
          </p:nvSpPr>
          <p:spPr>
            <a:xfrm>
              <a:off x="500252" y="357759"/>
              <a:ext cx="8001000" cy="6286500"/>
            </a:xfrm>
            <a:custGeom>
              <a:avLst/>
              <a:gdLst/>
              <a:ahLst/>
              <a:cxnLst/>
              <a:rect l="l" t="t" r="r" b="b"/>
              <a:pathLst>
                <a:path w="8001000" h="6286500">
                  <a:moveTo>
                    <a:pt x="0" y="1047750"/>
                  </a:moveTo>
                  <a:lnTo>
                    <a:pt x="1078" y="999793"/>
                  </a:lnTo>
                  <a:lnTo>
                    <a:pt x="4281" y="952389"/>
                  </a:lnTo>
                  <a:lnTo>
                    <a:pt x="9564" y="905585"/>
                  </a:lnTo>
                  <a:lnTo>
                    <a:pt x="16880" y="859427"/>
                  </a:lnTo>
                  <a:lnTo>
                    <a:pt x="26183" y="813960"/>
                  </a:lnTo>
                  <a:lnTo>
                    <a:pt x="37427" y="769231"/>
                  </a:lnTo>
                  <a:lnTo>
                    <a:pt x="50564" y="725287"/>
                  </a:lnTo>
                  <a:lnTo>
                    <a:pt x="65550" y="682173"/>
                  </a:lnTo>
                  <a:lnTo>
                    <a:pt x="82338" y="639937"/>
                  </a:lnTo>
                  <a:lnTo>
                    <a:pt x="100881" y="598623"/>
                  </a:lnTo>
                  <a:lnTo>
                    <a:pt x="121134" y="558278"/>
                  </a:lnTo>
                  <a:lnTo>
                    <a:pt x="143049" y="518950"/>
                  </a:lnTo>
                  <a:lnTo>
                    <a:pt x="166582" y="480683"/>
                  </a:lnTo>
                  <a:lnTo>
                    <a:pt x="191686" y="443524"/>
                  </a:lnTo>
                  <a:lnTo>
                    <a:pt x="218313" y="407520"/>
                  </a:lnTo>
                  <a:lnTo>
                    <a:pt x="246419" y="372716"/>
                  </a:lnTo>
                  <a:lnTo>
                    <a:pt x="275957" y="339159"/>
                  </a:lnTo>
                  <a:lnTo>
                    <a:pt x="306881" y="306895"/>
                  </a:lnTo>
                  <a:lnTo>
                    <a:pt x="339144" y="275971"/>
                  </a:lnTo>
                  <a:lnTo>
                    <a:pt x="372700" y="246432"/>
                  </a:lnTo>
                  <a:lnTo>
                    <a:pt x="407503" y="218325"/>
                  </a:lnTo>
                  <a:lnTo>
                    <a:pt x="443507" y="191696"/>
                  </a:lnTo>
                  <a:lnTo>
                    <a:pt x="480666" y="166592"/>
                  </a:lnTo>
                  <a:lnTo>
                    <a:pt x="518933" y="143058"/>
                  </a:lnTo>
                  <a:lnTo>
                    <a:pt x="558262" y="121141"/>
                  </a:lnTo>
                  <a:lnTo>
                    <a:pt x="598606" y="100887"/>
                  </a:lnTo>
                  <a:lnTo>
                    <a:pt x="639921" y="82343"/>
                  </a:lnTo>
                  <a:lnTo>
                    <a:pt x="682158" y="65554"/>
                  </a:lnTo>
                  <a:lnTo>
                    <a:pt x="725273" y="50568"/>
                  </a:lnTo>
                  <a:lnTo>
                    <a:pt x="769218" y="37429"/>
                  </a:lnTo>
                  <a:lnTo>
                    <a:pt x="813948" y="26185"/>
                  </a:lnTo>
                  <a:lnTo>
                    <a:pt x="859417" y="16882"/>
                  </a:lnTo>
                  <a:lnTo>
                    <a:pt x="905577" y="9565"/>
                  </a:lnTo>
                  <a:lnTo>
                    <a:pt x="952384" y="4282"/>
                  </a:lnTo>
                  <a:lnTo>
                    <a:pt x="999790" y="1078"/>
                  </a:lnTo>
                  <a:lnTo>
                    <a:pt x="1047750" y="0"/>
                  </a:lnTo>
                  <a:lnTo>
                    <a:pt x="6953250" y="0"/>
                  </a:lnTo>
                  <a:lnTo>
                    <a:pt x="7001206" y="1078"/>
                  </a:lnTo>
                  <a:lnTo>
                    <a:pt x="7048610" y="4282"/>
                  </a:lnTo>
                  <a:lnTo>
                    <a:pt x="7095414" y="9565"/>
                  </a:lnTo>
                  <a:lnTo>
                    <a:pt x="7141572" y="16882"/>
                  </a:lnTo>
                  <a:lnTo>
                    <a:pt x="7187039" y="26185"/>
                  </a:lnTo>
                  <a:lnTo>
                    <a:pt x="7231768" y="37429"/>
                  </a:lnTo>
                  <a:lnTo>
                    <a:pt x="7275712" y="50568"/>
                  </a:lnTo>
                  <a:lnTo>
                    <a:pt x="7318826" y="65554"/>
                  </a:lnTo>
                  <a:lnTo>
                    <a:pt x="7361062" y="82343"/>
                  </a:lnTo>
                  <a:lnTo>
                    <a:pt x="7402376" y="100887"/>
                  </a:lnTo>
                  <a:lnTo>
                    <a:pt x="7442721" y="121141"/>
                  </a:lnTo>
                  <a:lnTo>
                    <a:pt x="7482049" y="143058"/>
                  </a:lnTo>
                  <a:lnTo>
                    <a:pt x="7520316" y="166592"/>
                  </a:lnTo>
                  <a:lnTo>
                    <a:pt x="7557475" y="191696"/>
                  </a:lnTo>
                  <a:lnTo>
                    <a:pt x="7593479" y="218325"/>
                  </a:lnTo>
                  <a:lnTo>
                    <a:pt x="7628283" y="246432"/>
                  </a:lnTo>
                  <a:lnTo>
                    <a:pt x="7661840" y="275971"/>
                  </a:lnTo>
                  <a:lnTo>
                    <a:pt x="7694104" y="306895"/>
                  </a:lnTo>
                  <a:lnTo>
                    <a:pt x="7725028" y="339159"/>
                  </a:lnTo>
                  <a:lnTo>
                    <a:pt x="7754567" y="372716"/>
                  </a:lnTo>
                  <a:lnTo>
                    <a:pt x="7782674" y="407520"/>
                  </a:lnTo>
                  <a:lnTo>
                    <a:pt x="7809303" y="443524"/>
                  </a:lnTo>
                  <a:lnTo>
                    <a:pt x="7834407" y="480683"/>
                  </a:lnTo>
                  <a:lnTo>
                    <a:pt x="7857941" y="518950"/>
                  </a:lnTo>
                  <a:lnTo>
                    <a:pt x="7879858" y="558278"/>
                  </a:lnTo>
                  <a:lnTo>
                    <a:pt x="7900112" y="598623"/>
                  </a:lnTo>
                  <a:lnTo>
                    <a:pt x="7918656" y="639937"/>
                  </a:lnTo>
                  <a:lnTo>
                    <a:pt x="7935445" y="682173"/>
                  </a:lnTo>
                  <a:lnTo>
                    <a:pt x="7950431" y="725287"/>
                  </a:lnTo>
                  <a:lnTo>
                    <a:pt x="7963570" y="769231"/>
                  </a:lnTo>
                  <a:lnTo>
                    <a:pt x="7974814" y="813960"/>
                  </a:lnTo>
                  <a:lnTo>
                    <a:pt x="7984117" y="859427"/>
                  </a:lnTo>
                  <a:lnTo>
                    <a:pt x="7991434" y="905585"/>
                  </a:lnTo>
                  <a:lnTo>
                    <a:pt x="7996717" y="952389"/>
                  </a:lnTo>
                  <a:lnTo>
                    <a:pt x="7999921" y="999793"/>
                  </a:lnTo>
                  <a:lnTo>
                    <a:pt x="8001000" y="1047750"/>
                  </a:lnTo>
                  <a:lnTo>
                    <a:pt x="8001000" y="5238724"/>
                  </a:lnTo>
                  <a:lnTo>
                    <a:pt x="7999921" y="5286686"/>
                  </a:lnTo>
                  <a:lnTo>
                    <a:pt x="7996717" y="5334094"/>
                  </a:lnTo>
                  <a:lnTo>
                    <a:pt x="7991434" y="5380902"/>
                  </a:lnTo>
                  <a:lnTo>
                    <a:pt x="7984117" y="5427064"/>
                  </a:lnTo>
                  <a:lnTo>
                    <a:pt x="7974814" y="5472534"/>
                  </a:lnTo>
                  <a:lnTo>
                    <a:pt x="7963570" y="5517266"/>
                  </a:lnTo>
                  <a:lnTo>
                    <a:pt x="7950431" y="5561213"/>
                  </a:lnTo>
                  <a:lnTo>
                    <a:pt x="7935445" y="5604329"/>
                  </a:lnTo>
                  <a:lnTo>
                    <a:pt x="7918656" y="5646568"/>
                  </a:lnTo>
                  <a:lnTo>
                    <a:pt x="7900112" y="5687883"/>
                  </a:lnTo>
                  <a:lnTo>
                    <a:pt x="7879858" y="5728229"/>
                  </a:lnTo>
                  <a:lnTo>
                    <a:pt x="7857941" y="5767559"/>
                  </a:lnTo>
                  <a:lnTo>
                    <a:pt x="7834407" y="5805826"/>
                  </a:lnTo>
                  <a:lnTo>
                    <a:pt x="7809303" y="5842986"/>
                  </a:lnTo>
                  <a:lnTo>
                    <a:pt x="7782674" y="5878991"/>
                  </a:lnTo>
                  <a:lnTo>
                    <a:pt x="7754567" y="5913795"/>
                  </a:lnTo>
                  <a:lnTo>
                    <a:pt x="7725028" y="5947351"/>
                  </a:lnTo>
                  <a:lnTo>
                    <a:pt x="7694104" y="5979615"/>
                  </a:lnTo>
                  <a:lnTo>
                    <a:pt x="7661840" y="6010539"/>
                  </a:lnTo>
                  <a:lnTo>
                    <a:pt x="7628283" y="6040078"/>
                  </a:lnTo>
                  <a:lnTo>
                    <a:pt x="7593479" y="6068184"/>
                  </a:lnTo>
                  <a:lnTo>
                    <a:pt x="7557475" y="6094812"/>
                  </a:lnTo>
                  <a:lnTo>
                    <a:pt x="7520316" y="6119916"/>
                  </a:lnTo>
                  <a:lnTo>
                    <a:pt x="7482049" y="6143449"/>
                  </a:lnTo>
                  <a:lnTo>
                    <a:pt x="7442721" y="6165365"/>
                  </a:lnTo>
                  <a:lnTo>
                    <a:pt x="7402376" y="6185617"/>
                  </a:lnTo>
                  <a:lnTo>
                    <a:pt x="7361062" y="6204161"/>
                  </a:lnTo>
                  <a:lnTo>
                    <a:pt x="7318826" y="6220949"/>
                  </a:lnTo>
                  <a:lnTo>
                    <a:pt x="7275712" y="6235935"/>
                  </a:lnTo>
                  <a:lnTo>
                    <a:pt x="7231768" y="6249072"/>
                  </a:lnTo>
                  <a:lnTo>
                    <a:pt x="7187039" y="6260316"/>
                  </a:lnTo>
                  <a:lnTo>
                    <a:pt x="7141572" y="6269619"/>
                  </a:lnTo>
                  <a:lnTo>
                    <a:pt x="7095414" y="6276935"/>
                  </a:lnTo>
                  <a:lnTo>
                    <a:pt x="7048610" y="6282218"/>
                  </a:lnTo>
                  <a:lnTo>
                    <a:pt x="7001206" y="6285421"/>
                  </a:lnTo>
                  <a:lnTo>
                    <a:pt x="6953250" y="6286500"/>
                  </a:lnTo>
                  <a:lnTo>
                    <a:pt x="1047750" y="6286500"/>
                  </a:lnTo>
                  <a:lnTo>
                    <a:pt x="999790" y="6285421"/>
                  </a:lnTo>
                  <a:lnTo>
                    <a:pt x="952384" y="6282218"/>
                  </a:lnTo>
                  <a:lnTo>
                    <a:pt x="905577" y="6276935"/>
                  </a:lnTo>
                  <a:lnTo>
                    <a:pt x="859417" y="6269619"/>
                  </a:lnTo>
                  <a:lnTo>
                    <a:pt x="813948" y="6260316"/>
                  </a:lnTo>
                  <a:lnTo>
                    <a:pt x="769218" y="6249072"/>
                  </a:lnTo>
                  <a:lnTo>
                    <a:pt x="725273" y="6235935"/>
                  </a:lnTo>
                  <a:lnTo>
                    <a:pt x="682158" y="6220949"/>
                  </a:lnTo>
                  <a:lnTo>
                    <a:pt x="639921" y="6204161"/>
                  </a:lnTo>
                  <a:lnTo>
                    <a:pt x="598606" y="6185617"/>
                  </a:lnTo>
                  <a:lnTo>
                    <a:pt x="558262" y="6165365"/>
                  </a:lnTo>
                  <a:lnTo>
                    <a:pt x="518933" y="6143449"/>
                  </a:lnTo>
                  <a:lnTo>
                    <a:pt x="480666" y="6119916"/>
                  </a:lnTo>
                  <a:lnTo>
                    <a:pt x="443507" y="6094812"/>
                  </a:lnTo>
                  <a:lnTo>
                    <a:pt x="407503" y="6068184"/>
                  </a:lnTo>
                  <a:lnTo>
                    <a:pt x="372700" y="6040078"/>
                  </a:lnTo>
                  <a:lnTo>
                    <a:pt x="339144" y="6010539"/>
                  </a:lnTo>
                  <a:lnTo>
                    <a:pt x="306881" y="5979615"/>
                  </a:lnTo>
                  <a:lnTo>
                    <a:pt x="275957" y="5947351"/>
                  </a:lnTo>
                  <a:lnTo>
                    <a:pt x="246419" y="5913795"/>
                  </a:lnTo>
                  <a:lnTo>
                    <a:pt x="218313" y="5878991"/>
                  </a:lnTo>
                  <a:lnTo>
                    <a:pt x="191686" y="5842986"/>
                  </a:lnTo>
                  <a:lnTo>
                    <a:pt x="166582" y="5805826"/>
                  </a:lnTo>
                  <a:lnTo>
                    <a:pt x="143049" y="5767559"/>
                  </a:lnTo>
                  <a:lnTo>
                    <a:pt x="121134" y="5728229"/>
                  </a:lnTo>
                  <a:lnTo>
                    <a:pt x="100881" y="5687883"/>
                  </a:lnTo>
                  <a:lnTo>
                    <a:pt x="82338" y="5646568"/>
                  </a:lnTo>
                  <a:lnTo>
                    <a:pt x="65550" y="5604329"/>
                  </a:lnTo>
                  <a:lnTo>
                    <a:pt x="50564" y="5561213"/>
                  </a:lnTo>
                  <a:lnTo>
                    <a:pt x="37427" y="5517266"/>
                  </a:lnTo>
                  <a:lnTo>
                    <a:pt x="26183" y="5472534"/>
                  </a:lnTo>
                  <a:lnTo>
                    <a:pt x="16880" y="5427064"/>
                  </a:lnTo>
                  <a:lnTo>
                    <a:pt x="9564" y="5380902"/>
                  </a:lnTo>
                  <a:lnTo>
                    <a:pt x="4281" y="5334094"/>
                  </a:lnTo>
                  <a:lnTo>
                    <a:pt x="1078" y="5286686"/>
                  </a:lnTo>
                  <a:lnTo>
                    <a:pt x="0" y="5238724"/>
                  </a:lnTo>
                  <a:lnTo>
                    <a:pt x="0" y="1047750"/>
                  </a:lnTo>
                  <a:close/>
                </a:path>
              </a:pathLst>
            </a:custGeom>
            <a:ln w="9906">
              <a:solidFill>
                <a:srgbClr val="000000"/>
              </a:solidFill>
            </a:ln>
          </p:spPr>
          <p:txBody>
            <a:bodyPr wrap="square" lIns="0" tIns="0" rIns="0" bIns="0" rtlCol="0"/>
            <a:lstStyle/>
            <a:p>
              <a:endParaRPr/>
            </a:p>
          </p:txBody>
        </p:sp>
      </p:grpSp>
      <p:sp>
        <p:nvSpPr>
          <p:cNvPr id="5" name="object 5"/>
          <p:cNvSpPr txBox="1"/>
          <p:nvPr/>
        </p:nvSpPr>
        <p:spPr>
          <a:xfrm>
            <a:off x="885697" y="446481"/>
            <a:ext cx="3733800" cy="1305560"/>
          </a:xfrm>
          <a:prstGeom prst="rect">
            <a:avLst/>
          </a:prstGeom>
        </p:spPr>
        <p:txBody>
          <a:bodyPr vert="horz" wrap="square" lIns="0" tIns="134620" rIns="0" bIns="0" rtlCol="0">
            <a:spAutoFit/>
          </a:bodyPr>
          <a:lstStyle/>
          <a:p>
            <a:pPr marL="12700">
              <a:lnSpc>
                <a:spcPct val="100000"/>
              </a:lnSpc>
              <a:spcBef>
                <a:spcPts val="1060"/>
              </a:spcBef>
            </a:pPr>
            <a:r>
              <a:rPr sz="2000" spc="-10" dirty="0">
                <a:solidFill>
                  <a:srgbClr val="000066"/>
                </a:solidFill>
                <a:latin typeface="Arial"/>
                <a:cs typeface="Arial"/>
              </a:rPr>
              <a:t>template&lt;class</a:t>
            </a:r>
            <a:r>
              <a:rPr sz="2000" spc="-30" dirty="0">
                <a:solidFill>
                  <a:srgbClr val="000066"/>
                </a:solidFill>
                <a:latin typeface="Arial"/>
                <a:cs typeface="Arial"/>
              </a:rPr>
              <a:t> </a:t>
            </a:r>
            <a:r>
              <a:rPr sz="2000" spc="-10" dirty="0">
                <a:solidFill>
                  <a:srgbClr val="000066"/>
                </a:solidFill>
                <a:latin typeface="Arial"/>
                <a:cs typeface="Arial"/>
              </a:rPr>
              <a:t>Type&gt;</a:t>
            </a:r>
            <a:endParaRPr sz="2000">
              <a:latin typeface="Arial"/>
              <a:cs typeface="Arial"/>
            </a:endParaRPr>
          </a:p>
          <a:p>
            <a:pPr marL="12700">
              <a:lnSpc>
                <a:spcPct val="100000"/>
              </a:lnSpc>
              <a:spcBef>
                <a:spcPts val="960"/>
              </a:spcBef>
            </a:pPr>
            <a:r>
              <a:rPr sz="2000" dirty="0">
                <a:solidFill>
                  <a:srgbClr val="000066"/>
                </a:solidFill>
                <a:latin typeface="Arial"/>
                <a:cs typeface="Arial"/>
              </a:rPr>
              <a:t>void</a:t>
            </a:r>
            <a:r>
              <a:rPr sz="2000" spc="-55" dirty="0">
                <a:solidFill>
                  <a:srgbClr val="000066"/>
                </a:solidFill>
                <a:latin typeface="Arial"/>
                <a:cs typeface="Arial"/>
              </a:rPr>
              <a:t> </a:t>
            </a:r>
            <a:r>
              <a:rPr sz="2000" spc="-10" dirty="0">
                <a:solidFill>
                  <a:srgbClr val="000066"/>
                </a:solidFill>
                <a:latin typeface="Arial"/>
                <a:cs typeface="Arial"/>
              </a:rPr>
              <a:t>insertion_sort(Type</a:t>
            </a:r>
            <a:r>
              <a:rPr sz="2000" spc="-55" dirty="0">
                <a:solidFill>
                  <a:srgbClr val="000066"/>
                </a:solidFill>
                <a:latin typeface="Arial"/>
                <a:cs typeface="Arial"/>
              </a:rPr>
              <a:t> </a:t>
            </a:r>
            <a:r>
              <a:rPr sz="2000" dirty="0">
                <a:solidFill>
                  <a:srgbClr val="000066"/>
                </a:solidFill>
                <a:latin typeface="Arial"/>
                <a:cs typeface="Arial"/>
              </a:rPr>
              <a:t>*a,</a:t>
            </a:r>
            <a:r>
              <a:rPr sz="2000" spc="-75" dirty="0">
                <a:solidFill>
                  <a:srgbClr val="000066"/>
                </a:solidFill>
                <a:latin typeface="Arial"/>
                <a:cs typeface="Arial"/>
              </a:rPr>
              <a:t> </a:t>
            </a:r>
            <a:r>
              <a:rPr sz="2000" dirty="0">
                <a:solidFill>
                  <a:srgbClr val="000066"/>
                </a:solidFill>
                <a:latin typeface="Arial"/>
                <a:cs typeface="Arial"/>
              </a:rPr>
              <a:t>int</a:t>
            </a:r>
            <a:r>
              <a:rPr sz="2000" spc="-50" dirty="0">
                <a:solidFill>
                  <a:srgbClr val="000066"/>
                </a:solidFill>
                <a:latin typeface="Arial"/>
                <a:cs typeface="Arial"/>
              </a:rPr>
              <a:t> </a:t>
            </a:r>
            <a:r>
              <a:rPr sz="2000" spc="-25" dirty="0">
                <a:solidFill>
                  <a:srgbClr val="000066"/>
                </a:solidFill>
                <a:latin typeface="Arial"/>
                <a:cs typeface="Arial"/>
              </a:rPr>
              <a:t>n)</a:t>
            </a:r>
            <a:endParaRPr sz="2000">
              <a:latin typeface="Arial"/>
              <a:cs typeface="Arial"/>
            </a:endParaRPr>
          </a:p>
          <a:p>
            <a:pPr marL="12700">
              <a:lnSpc>
                <a:spcPct val="100000"/>
              </a:lnSpc>
              <a:spcBef>
                <a:spcPts val="960"/>
              </a:spcBef>
            </a:pPr>
            <a:r>
              <a:rPr sz="2000" spc="-5" dirty="0">
                <a:solidFill>
                  <a:srgbClr val="000066"/>
                </a:solidFill>
                <a:latin typeface="Arial"/>
                <a:cs typeface="Arial"/>
              </a:rPr>
              <a:t>{</a:t>
            </a:r>
            <a:endParaRPr sz="2000">
              <a:latin typeface="Arial"/>
              <a:cs typeface="Arial"/>
            </a:endParaRPr>
          </a:p>
        </p:txBody>
      </p:sp>
      <p:graphicFrame>
        <p:nvGraphicFramePr>
          <p:cNvPr id="6" name="object 6"/>
          <p:cNvGraphicFramePr>
            <a:graphicFrameLocks noGrp="1"/>
          </p:cNvGraphicFramePr>
          <p:nvPr>
            <p:extLst>
              <p:ext uri="{D42A27DB-BD31-4B8C-83A1-F6EECF244321}">
                <p14:modId xmlns:p14="http://schemas.microsoft.com/office/powerpoint/2010/main" val="435080186"/>
              </p:ext>
            </p:extLst>
          </p:nvPr>
        </p:nvGraphicFramePr>
        <p:xfrm>
          <a:off x="1142491" y="1885602"/>
          <a:ext cx="6529069" cy="3696334"/>
        </p:xfrm>
        <a:graphic>
          <a:graphicData uri="http://schemas.openxmlformats.org/drawingml/2006/table">
            <a:tbl>
              <a:tblPr firstRow="1" bandRow="1">
                <a:tableStyleId>{2D5ABB26-0587-4C30-8999-92F81FD0307C}</a:tableStyleId>
              </a:tblPr>
              <a:tblGrid>
                <a:gridCol w="3503295">
                  <a:extLst>
                    <a:ext uri="{9D8B030D-6E8A-4147-A177-3AD203B41FA5}">
                      <a16:colId xmlns:a16="http://schemas.microsoft.com/office/drawing/2014/main" val="20000"/>
                    </a:ext>
                  </a:extLst>
                </a:gridCol>
                <a:gridCol w="525779">
                  <a:extLst>
                    <a:ext uri="{9D8B030D-6E8A-4147-A177-3AD203B41FA5}">
                      <a16:colId xmlns:a16="http://schemas.microsoft.com/office/drawing/2014/main" val="20001"/>
                    </a:ext>
                  </a:extLst>
                </a:gridCol>
                <a:gridCol w="817245">
                  <a:extLst>
                    <a:ext uri="{9D8B030D-6E8A-4147-A177-3AD203B41FA5}">
                      <a16:colId xmlns:a16="http://schemas.microsoft.com/office/drawing/2014/main" val="20002"/>
                    </a:ext>
                  </a:extLst>
                </a:gridCol>
                <a:gridCol w="1682750">
                  <a:extLst>
                    <a:ext uri="{9D8B030D-6E8A-4147-A177-3AD203B41FA5}">
                      <a16:colId xmlns:a16="http://schemas.microsoft.com/office/drawing/2014/main" val="20003"/>
                    </a:ext>
                  </a:extLst>
                </a:gridCol>
              </a:tblGrid>
              <a:tr h="354965">
                <a:tc>
                  <a:txBody>
                    <a:bodyPr/>
                    <a:lstStyle/>
                    <a:p>
                      <a:pPr marL="31750">
                        <a:lnSpc>
                          <a:spcPts val="2210"/>
                        </a:lnSpc>
                      </a:pPr>
                      <a:r>
                        <a:rPr sz="2000" spc="-20" dirty="0">
                          <a:solidFill>
                            <a:srgbClr val="000066"/>
                          </a:solidFill>
                          <a:latin typeface="Arial"/>
                          <a:cs typeface="Arial"/>
                        </a:rPr>
                        <a:t>Type</a:t>
                      </a:r>
                      <a:r>
                        <a:rPr sz="2000" spc="-90" dirty="0">
                          <a:solidFill>
                            <a:srgbClr val="000066"/>
                          </a:solidFill>
                          <a:latin typeface="Arial"/>
                          <a:cs typeface="Arial"/>
                        </a:rPr>
                        <a:t> </a:t>
                      </a:r>
                      <a:r>
                        <a:rPr sz="2000" spc="-20" dirty="0">
                          <a:solidFill>
                            <a:srgbClr val="000066"/>
                          </a:solidFill>
                          <a:latin typeface="Arial"/>
                          <a:cs typeface="Arial"/>
                        </a:rPr>
                        <a:t>key;</a:t>
                      </a:r>
                      <a:endParaRPr sz="2000">
                        <a:latin typeface="Arial"/>
                        <a:cs typeface="Arial"/>
                      </a:endParaRPr>
                    </a:p>
                  </a:txBody>
                  <a:tcPr marL="0" marR="0" marT="0" marB="0"/>
                </a:tc>
                <a:tc>
                  <a:txBody>
                    <a:bodyPr/>
                    <a:lstStyle/>
                    <a:p>
                      <a:pPr marR="106045" algn="r">
                        <a:lnSpc>
                          <a:spcPts val="2210"/>
                        </a:lnSpc>
                      </a:pPr>
                      <a:r>
                        <a:rPr sz="2000" spc="-25" dirty="0">
                          <a:solidFill>
                            <a:srgbClr val="000066"/>
                          </a:solidFill>
                          <a:latin typeface="Arial"/>
                          <a:cs typeface="Arial"/>
                        </a:rPr>
                        <a:t>//</a:t>
                      </a:r>
                      <a:endParaRPr sz="2000">
                        <a:latin typeface="Arial"/>
                        <a:cs typeface="Arial"/>
                      </a:endParaRPr>
                    </a:p>
                  </a:txBody>
                  <a:tcPr marL="0" marR="0" marT="0" marB="0"/>
                </a:tc>
                <a:tc>
                  <a:txBody>
                    <a:bodyPr/>
                    <a:lstStyle/>
                    <a:p>
                      <a:pPr marL="91440">
                        <a:lnSpc>
                          <a:spcPts val="2210"/>
                        </a:lnSpc>
                      </a:pPr>
                      <a:r>
                        <a:rPr sz="2000" spc="-20" dirty="0">
                          <a:solidFill>
                            <a:srgbClr val="F72300"/>
                          </a:solidFill>
                          <a:latin typeface="Arial"/>
                          <a:cs typeface="Arial"/>
                        </a:rPr>
                        <a:t>cost</a:t>
                      </a:r>
                      <a:endParaRPr sz="2000">
                        <a:latin typeface="Arial"/>
                        <a:cs typeface="Arial"/>
                      </a:endParaRPr>
                    </a:p>
                  </a:txBody>
                  <a:tcPr marL="0" marR="0" marT="0" marB="0"/>
                </a:tc>
                <a:tc>
                  <a:txBody>
                    <a:bodyPr/>
                    <a:lstStyle/>
                    <a:p>
                      <a:pPr marL="298450">
                        <a:lnSpc>
                          <a:spcPts val="2210"/>
                        </a:lnSpc>
                      </a:pPr>
                      <a:r>
                        <a:rPr sz="2000" spc="-10" dirty="0">
                          <a:solidFill>
                            <a:srgbClr val="F72300"/>
                          </a:solidFill>
                          <a:latin typeface="Arial"/>
                          <a:cs typeface="Arial"/>
                        </a:rPr>
                        <a:t>times</a:t>
                      </a:r>
                      <a:endParaRPr sz="2000">
                        <a:latin typeface="Arial"/>
                        <a:cs typeface="Arial"/>
                      </a:endParaRPr>
                    </a:p>
                  </a:txBody>
                  <a:tcPr marL="0" marR="0" marT="0" marB="0"/>
                </a:tc>
                <a:extLst>
                  <a:ext uri="{0D108BD9-81ED-4DB2-BD59-A6C34878D82A}">
                    <a16:rowId xmlns:a16="http://schemas.microsoft.com/office/drawing/2014/main" val="10000"/>
                  </a:ext>
                </a:extLst>
              </a:tr>
              <a:tr h="426720">
                <a:tc>
                  <a:txBody>
                    <a:bodyPr/>
                    <a:lstStyle/>
                    <a:p>
                      <a:pPr marL="36195">
                        <a:lnSpc>
                          <a:spcPct val="100000"/>
                        </a:lnSpc>
                        <a:spcBef>
                          <a:spcPts val="370"/>
                        </a:spcBef>
                      </a:pPr>
                      <a:r>
                        <a:rPr sz="2000" b="1" dirty="0">
                          <a:solidFill>
                            <a:srgbClr val="000066"/>
                          </a:solidFill>
                          <a:latin typeface="Arial"/>
                          <a:cs typeface="Arial"/>
                        </a:rPr>
                        <a:t>for</a:t>
                      </a:r>
                      <a:r>
                        <a:rPr sz="2000" spc="-40" dirty="0">
                          <a:solidFill>
                            <a:srgbClr val="000066"/>
                          </a:solidFill>
                          <a:latin typeface="Arial"/>
                          <a:cs typeface="Arial"/>
                        </a:rPr>
                        <a:t> </a:t>
                      </a:r>
                      <a:r>
                        <a:rPr sz="2000" dirty="0">
                          <a:solidFill>
                            <a:srgbClr val="000066"/>
                          </a:solidFill>
                          <a:latin typeface="Arial"/>
                          <a:cs typeface="Arial"/>
                        </a:rPr>
                        <a:t>(int</a:t>
                      </a:r>
                      <a:r>
                        <a:rPr sz="2000" spc="-25" dirty="0">
                          <a:solidFill>
                            <a:srgbClr val="000066"/>
                          </a:solidFill>
                          <a:latin typeface="Arial"/>
                          <a:cs typeface="Arial"/>
                        </a:rPr>
                        <a:t> </a:t>
                      </a:r>
                      <a:r>
                        <a:rPr sz="2000" dirty="0">
                          <a:solidFill>
                            <a:srgbClr val="000066"/>
                          </a:solidFill>
                          <a:latin typeface="Arial"/>
                          <a:cs typeface="Arial"/>
                        </a:rPr>
                        <a:t>i</a:t>
                      </a:r>
                      <a:r>
                        <a:rPr sz="2000" spc="-20" dirty="0">
                          <a:solidFill>
                            <a:srgbClr val="000066"/>
                          </a:solidFill>
                          <a:latin typeface="Arial"/>
                          <a:cs typeface="Arial"/>
                        </a:rPr>
                        <a:t> </a:t>
                      </a:r>
                      <a:r>
                        <a:rPr sz="2000" dirty="0">
                          <a:solidFill>
                            <a:srgbClr val="000066"/>
                          </a:solidFill>
                          <a:latin typeface="Arial"/>
                          <a:cs typeface="Arial"/>
                        </a:rPr>
                        <a:t>=</a:t>
                      </a:r>
                      <a:r>
                        <a:rPr sz="2000" spc="-30" dirty="0">
                          <a:solidFill>
                            <a:srgbClr val="000066"/>
                          </a:solidFill>
                          <a:latin typeface="Arial"/>
                          <a:cs typeface="Arial"/>
                        </a:rPr>
                        <a:t> </a:t>
                      </a:r>
                      <a:r>
                        <a:rPr sz="2000" dirty="0">
                          <a:solidFill>
                            <a:srgbClr val="000066"/>
                          </a:solidFill>
                          <a:latin typeface="Arial"/>
                          <a:cs typeface="Arial"/>
                        </a:rPr>
                        <a:t>1;</a:t>
                      </a:r>
                      <a:r>
                        <a:rPr sz="2000" spc="-25" dirty="0">
                          <a:solidFill>
                            <a:srgbClr val="000066"/>
                          </a:solidFill>
                          <a:latin typeface="Arial"/>
                          <a:cs typeface="Arial"/>
                        </a:rPr>
                        <a:t> </a:t>
                      </a:r>
                      <a:r>
                        <a:rPr sz="2000" dirty="0">
                          <a:solidFill>
                            <a:srgbClr val="000066"/>
                          </a:solidFill>
                          <a:latin typeface="Arial"/>
                          <a:cs typeface="Arial"/>
                        </a:rPr>
                        <a:t>i</a:t>
                      </a:r>
                      <a:r>
                        <a:rPr sz="2000" spc="-20" dirty="0">
                          <a:solidFill>
                            <a:srgbClr val="000066"/>
                          </a:solidFill>
                          <a:latin typeface="Arial"/>
                          <a:cs typeface="Arial"/>
                        </a:rPr>
                        <a:t> </a:t>
                      </a:r>
                      <a:r>
                        <a:rPr sz="2000" dirty="0">
                          <a:solidFill>
                            <a:srgbClr val="000066"/>
                          </a:solidFill>
                          <a:latin typeface="Arial"/>
                          <a:cs typeface="Arial"/>
                        </a:rPr>
                        <a:t>&lt;</a:t>
                      </a:r>
                      <a:r>
                        <a:rPr sz="2000" spc="-30" dirty="0">
                          <a:solidFill>
                            <a:srgbClr val="000066"/>
                          </a:solidFill>
                          <a:latin typeface="Arial"/>
                          <a:cs typeface="Arial"/>
                        </a:rPr>
                        <a:t> </a:t>
                      </a:r>
                      <a:r>
                        <a:rPr sz="2000" dirty="0">
                          <a:solidFill>
                            <a:srgbClr val="000066"/>
                          </a:solidFill>
                          <a:latin typeface="Arial"/>
                          <a:cs typeface="Arial"/>
                        </a:rPr>
                        <a:t>n;</a:t>
                      </a:r>
                      <a:r>
                        <a:rPr sz="2000" spc="-25" dirty="0">
                          <a:solidFill>
                            <a:srgbClr val="000066"/>
                          </a:solidFill>
                          <a:latin typeface="Arial"/>
                          <a:cs typeface="Arial"/>
                        </a:rPr>
                        <a:t> </a:t>
                      </a:r>
                      <a:r>
                        <a:rPr sz="2000" spc="-10" dirty="0">
                          <a:solidFill>
                            <a:srgbClr val="000066"/>
                          </a:solidFill>
                          <a:latin typeface="Arial"/>
                          <a:cs typeface="Arial"/>
                        </a:rPr>
                        <a:t>i++){</a:t>
                      </a:r>
                      <a:endParaRPr sz="2000" dirty="0">
                        <a:latin typeface="Arial"/>
                        <a:cs typeface="Arial"/>
                      </a:endParaRPr>
                    </a:p>
                  </a:txBody>
                  <a:tcPr marL="0" marR="0" marT="46990" marB="0"/>
                </a:tc>
                <a:tc>
                  <a:txBody>
                    <a:bodyPr/>
                    <a:lstStyle/>
                    <a:p>
                      <a:pPr marR="97790" algn="r">
                        <a:lnSpc>
                          <a:spcPct val="100000"/>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72720">
                        <a:lnSpc>
                          <a:spcPct val="100000"/>
                        </a:lnSpc>
                        <a:spcBef>
                          <a:spcPts val="370"/>
                        </a:spcBef>
                      </a:pPr>
                      <a:r>
                        <a:rPr sz="2000" spc="-25" dirty="0">
                          <a:solidFill>
                            <a:srgbClr val="3907F0"/>
                          </a:solidFill>
                          <a:latin typeface="Arial"/>
                          <a:cs typeface="Arial"/>
                        </a:rPr>
                        <a:t>c1</a:t>
                      </a:r>
                      <a:endParaRPr sz="2000">
                        <a:latin typeface="Arial"/>
                        <a:cs typeface="Arial"/>
                      </a:endParaRPr>
                    </a:p>
                  </a:txBody>
                  <a:tcPr marL="0" marR="0" marT="46990" marB="0"/>
                </a:tc>
                <a:tc>
                  <a:txBody>
                    <a:bodyPr/>
                    <a:lstStyle/>
                    <a:p>
                      <a:pPr marL="321945">
                        <a:lnSpc>
                          <a:spcPct val="100000"/>
                        </a:lnSpc>
                        <a:spcBef>
                          <a:spcPts val="370"/>
                        </a:spcBef>
                      </a:pPr>
                      <a:r>
                        <a:rPr sz="2000" dirty="0">
                          <a:solidFill>
                            <a:srgbClr val="3907F0"/>
                          </a:solidFill>
                          <a:latin typeface="Arial"/>
                          <a:cs typeface="Arial"/>
                        </a:rPr>
                        <a:t>n</a:t>
                      </a:r>
                      <a:endParaRPr sz="2000">
                        <a:latin typeface="Arial"/>
                        <a:cs typeface="Arial"/>
                      </a:endParaRPr>
                    </a:p>
                  </a:txBody>
                  <a:tcPr marL="0" marR="0" marT="46990" marB="0"/>
                </a:tc>
                <a:extLst>
                  <a:ext uri="{0D108BD9-81ED-4DB2-BD59-A6C34878D82A}">
                    <a16:rowId xmlns:a16="http://schemas.microsoft.com/office/drawing/2014/main" val="10001"/>
                  </a:ext>
                </a:extLst>
              </a:tr>
              <a:tr h="426720">
                <a:tc>
                  <a:txBody>
                    <a:bodyPr/>
                    <a:lstStyle/>
                    <a:p>
                      <a:pPr marL="455295">
                        <a:lnSpc>
                          <a:spcPct val="100000"/>
                        </a:lnSpc>
                        <a:spcBef>
                          <a:spcPts val="370"/>
                        </a:spcBef>
                      </a:pPr>
                      <a:r>
                        <a:rPr sz="2000" spc="-10" dirty="0">
                          <a:solidFill>
                            <a:srgbClr val="000066"/>
                          </a:solidFill>
                          <a:latin typeface="Arial"/>
                          <a:cs typeface="Arial"/>
                        </a:rPr>
                        <a:t>key=a[i];</a:t>
                      </a:r>
                      <a:endParaRPr sz="2000">
                        <a:latin typeface="Arial"/>
                        <a:cs typeface="Arial"/>
                      </a:endParaRPr>
                    </a:p>
                  </a:txBody>
                  <a:tcPr marL="0" marR="0" marT="46990" marB="0"/>
                </a:tc>
                <a:tc>
                  <a:txBody>
                    <a:bodyPr/>
                    <a:lstStyle/>
                    <a:p>
                      <a:pPr marR="96520" algn="r">
                        <a:lnSpc>
                          <a:spcPct val="100000"/>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71450">
                        <a:lnSpc>
                          <a:spcPct val="100000"/>
                        </a:lnSpc>
                        <a:spcBef>
                          <a:spcPts val="370"/>
                        </a:spcBef>
                      </a:pPr>
                      <a:r>
                        <a:rPr sz="2000" spc="-25" dirty="0">
                          <a:solidFill>
                            <a:srgbClr val="3907F0"/>
                          </a:solidFill>
                          <a:latin typeface="Arial"/>
                          <a:cs typeface="Arial"/>
                        </a:rPr>
                        <a:t>c2</a:t>
                      </a:r>
                      <a:endParaRPr sz="2000">
                        <a:latin typeface="Arial"/>
                        <a:cs typeface="Arial"/>
                      </a:endParaRPr>
                    </a:p>
                  </a:txBody>
                  <a:tcPr marL="0" marR="0" marT="46990" marB="0"/>
                </a:tc>
                <a:tc>
                  <a:txBody>
                    <a:bodyPr/>
                    <a:lstStyle/>
                    <a:p>
                      <a:pPr marL="320040">
                        <a:lnSpc>
                          <a:spcPct val="100000"/>
                        </a:lnSpc>
                        <a:spcBef>
                          <a:spcPts val="370"/>
                        </a:spcBef>
                      </a:pPr>
                      <a:r>
                        <a:rPr sz="2000" spc="-20" dirty="0">
                          <a:solidFill>
                            <a:srgbClr val="3907F0"/>
                          </a:solidFill>
                          <a:latin typeface="Arial"/>
                          <a:cs typeface="Arial"/>
                        </a:rPr>
                        <a:t>n-</a:t>
                      </a:r>
                      <a:r>
                        <a:rPr sz="2000" spc="-50" dirty="0">
                          <a:solidFill>
                            <a:srgbClr val="3907F0"/>
                          </a:solidFill>
                          <a:latin typeface="Arial"/>
                          <a:cs typeface="Arial"/>
                        </a:rPr>
                        <a:t>1</a:t>
                      </a:r>
                      <a:endParaRPr sz="2000">
                        <a:latin typeface="Arial"/>
                        <a:cs typeface="Arial"/>
                      </a:endParaRPr>
                    </a:p>
                  </a:txBody>
                  <a:tcPr marL="0" marR="0" marT="46990" marB="0"/>
                </a:tc>
                <a:extLst>
                  <a:ext uri="{0D108BD9-81ED-4DB2-BD59-A6C34878D82A}">
                    <a16:rowId xmlns:a16="http://schemas.microsoft.com/office/drawing/2014/main" val="10002"/>
                  </a:ext>
                </a:extLst>
              </a:tr>
              <a:tr h="426720">
                <a:tc>
                  <a:txBody>
                    <a:bodyPr/>
                    <a:lstStyle/>
                    <a:p>
                      <a:pPr marL="455295">
                        <a:lnSpc>
                          <a:spcPct val="100000"/>
                        </a:lnSpc>
                        <a:spcBef>
                          <a:spcPts val="370"/>
                        </a:spcBef>
                      </a:pPr>
                      <a:r>
                        <a:rPr sz="2000" dirty="0">
                          <a:solidFill>
                            <a:srgbClr val="000066"/>
                          </a:solidFill>
                          <a:latin typeface="Arial"/>
                          <a:cs typeface="Arial"/>
                        </a:rPr>
                        <a:t>int </a:t>
                      </a:r>
                      <a:r>
                        <a:rPr sz="2000" spc="-20" dirty="0">
                          <a:solidFill>
                            <a:srgbClr val="000066"/>
                          </a:solidFill>
                          <a:latin typeface="Arial"/>
                          <a:cs typeface="Arial"/>
                        </a:rPr>
                        <a:t>j=i-</a:t>
                      </a:r>
                      <a:r>
                        <a:rPr sz="2000" spc="-25" dirty="0">
                          <a:solidFill>
                            <a:srgbClr val="000066"/>
                          </a:solidFill>
                          <a:latin typeface="Arial"/>
                          <a:cs typeface="Arial"/>
                        </a:rPr>
                        <a:t>1;</a:t>
                      </a:r>
                      <a:endParaRPr sz="2000">
                        <a:latin typeface="Arial"/>
                        <a:cs typeface="Arial"/>
                      </a:endParaRPr>
                    </a:p>
                  </a:txBody>
                  <a:tcPr marL="0" marR="0" marT="46990" marB="0"/>
                </a:tc>
                <a:tc>
                  <a:txBody>
                    <a:bodyPr/>
                    <a:lstStyle/>
                    <a:p>
                      <a:pPr marR="83820" algn="r">
                        <a:lnSpc>
                          <a:spcPct val="100000"/>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85420">
                        <a:lnSpc>
                          <a:spcPct val="100000"/>
                        </a:lnSpc>
                        <a:spcBef>
                          <a:spcPts val="370"/>
                        </a:spcBef>
                      </a:pPr>
                      <a:r>
                        <a:rPr sz="2000" spc="-25" dirty="0">
                          <a:solidFill>
                            <a:srgbClr val="3907F0"/>
                          </a:solidFill>
                          <a:latin typeface="Arial"/>
                          <a:cs typeface="Arial"/>
                        </a:rPr>
                        <a:t>c3</a:t>
                      </a:r>
                      <a:endParaRPr sz="2000">
                        <a:latin typeface="Arial"/>
                        <a:cs typeface="Arial"/>
                      </a:endParaRPr>
                    </a:p>
                  </a:txBody>
                  <a:tcPr marL="0" marR="0" marT="46990" marB="0"/>
                </a:tc>
                <a:tc>
                  <a:txBody>
                    <a:bodyPr/>
                    <a:lstStyle/>
                    <a:p>
                      <a:pPr marL="334645">
                        <a:lnSpc>
                          <a:spcPct val="100000"/>
                        </a:lnSpc>
                        <a:spcBef>
                          <a:spcPts val="370"/>
                        </a:spcBef>
                      </a:pPr>
                      <a:r>
                        <a:rPr sz="2000" spc="-20" dirty="0">
                          <a:solidFill>
                            <a:srgbClr val="3907F0"/>
                          </a:solidFill>
                          <a:latin typeface="Arial"/>
                          <a:cs typeface="Arial"/>
                        </a:rPr>
                        <a:t>n-</a:t>
                      </a:r>
                      <a:r>
                        <a:rPr sz="2000" spc="-50" dirty="0">
                          <a:solidFill>
                            <a:srgbClr val="3907F0"/>
                          </a:solidFill>
                          <a:latin typeface="Arial"/>
                          <a:cs typeface="Arial"/>
                        </a:rPr>
                        <a:t>1</a:t>
                      </a:r>
                      <a:endParaRPr sz="2000">
                        <a:latin typeface="Arial"/>
                        <a:cs typeface="Arial"/>
                      </a:endParaRPr>
                    </a:p>
                  </a:txBody>
                  <a:tcPr marL="0" marR="0" marT="46990" marB="0"/>
                </a:tc>
                <a:extLst>
                  <a:ext uri="{0D108BD9-81ED-4DB2-BD59-A6C34878D82A}">
                    <a16:rowId xmlns:a16="http://schemas.microsoft.com/office/drawing/2014/main" val="10003"/>
                  </a:ext>
                </a:extLst>
              </a:tr>
              <a:tr h="426720">
                <a:tc>
                  <a:txBody>
                    <a:bodyPr/>
                    <a:lstStyle/>
                    <a:p>
                      <a:pPr marL="236854" algn="ctr">
                        <a:lnSpc>
                          <a:spcPct val="100000"/>
                        </a:lnSpc>
                        <a:spcBef>
                          <a:spcPts val="370"/>
                        </a:spcBef>
                      </a:pPr>
                      <a:r>
                        <a:rPr sz="2000" b="1" dirty="0">
                          <a:solidFill>
                            <a:srgbClr val="000066"/>
                          </a:solidFill>
                          <a:latin typeface="Arial"/>
                          <a:cs typeface="Arial"/>
                        </a:rPr>
                        <a:t>while</a:t>
                      </a:r>
                      <a:r>
                        <a:rPr sz="2000" dirty="0">
                          <a:solidFill>
                            <a:srgbClr val="000066"/>
                          </a:solidFill>
                          <a:latin typeface="Arial"/>
                          <a:cs typeface="Arial"/>
                        </a:rPr>
                        <a:t>(</a:t>
                      </a:r>
                      <a:r>
                        <a:rPr sz="2000" spc="-45" dirty="0">
                          <a:solidFill>
                            <a:srgbClr val="000066"/>
                          </a:solidFill>
                          <a:latin typeface="Arial"/>
                          <a:cs typeface="Arial"/>
                        </a:rPr>
                        <a:t> </a:t>
                      </a:r>
                      <a:r>
                        <a:rPr sz="2000" dirty="0">
                          <a:solidFill>
                            <a:srgbClr val="000066"/>
                          </a:solidFill>
                          <a:latin typeface="Arial"/>
                          <a:cs typeface="Arial"/>
                        </a:rPr>
                        <a:t>j&gt;=0</a:t>
                      </a:r>
                      <a:r>
                        <a:rPr sz="2000" spc="-50" dirty="0">
                          <a:solidFill>
                            <a:srgbClr val="000066"/>
                          </a:solidFill>
                          <a:latin typeface="Arial"/>
                          <a:cs typeface="Arial"/>
                        </a:rPr>
                        <a:t> </a:t>
                      </a:r>
                      <a:r>
                        <a:rPr sz="2000" dirty="0">
                          <a:solidFill>
                            <a:srgbClr val="000066"/>
                          </a:solidFill>
                          <a:latin typeface="Arial"/>
                          <a:cs typeface="Arial"/>
                        </a:rPr>
                        <a:t>&amp;&amp;</a:t>
                      </a:r>
                      <a:r>
                        <a:rPr sz="2000" spc="-45" dirty="0">
                          <a:solidFill>
                            <a:srgbClr val="000066"/>
                          </a:solidFill>
                          <a:latin typeface="Arial"/>
                          <a:cs typeface="Arial"/>
                        </a:rPr>
                        <a:t> </a:t>
                      </a:r>
                      <a:r>
                        <a:rPr sz="2000" dirty="0">
                          <a:solidFill>
                            <a:srgbClr val="FF0000"/>
                          </a:solidFill>
                          <a:latin typeface="Arial"/>
                          <a:cs typeface="Arial"/>
                        </a:rPr>
                        <a:t>a[j]&gt;key</a:t>
                      </a:r>
                      <a:r>
                        <a:rPr sz="2000" spc="-55" dirty="0">
                          <a:solidFill>
                            <a:srgbClr val="FF0000"/>
                          </a:solidFill>
                          <a:latin typeface="Arial"/>
                          <a:cs typeface="Arial"/>
                        </a:rPr>
                        <a:t> </a:t>
                      </a:r>
                      <a:r>
                        <a:rPr sz="2000" spc="-25" dirty="0">
                          <a:solidFill>
                            <a:srgbClr val="000066"/>
                          </a:solidFill>
                          <a:latin typeface="Arial"/>
                          <a:cs typeface="Arial"/>
                        </a:rPr>
                        <a:t>){</a:t>
                      </a:r>
                      <a:endParaRPr sz="2000" dirty="0">
                        <a:latin typeface="Arial"/>
                        <a:cs typeface="Arial"/>
                      </a:endParaRPr>
                    </a:p>
                  </a:txBody>
                  <a:tcPr marL="0" marR="0" marT="46990" marB="0"/>
                </a:tc>
                <a:tc>
                  <a:txBody>
                    <a:bodyPr/>
                    <a:lstStyle/>
                    <a:p>
                      <a:pPr marR="106680" algn="r">
                        <a:lnSpc>
                          <a:spcPct val="100000"/>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61290">
                        <a:lnSpc>
                          <a:spcPct val="100000"/>
                        </a:lnSpc>
                        <a:spcBef>
                          <a:spcPts val="370"/>
                        </a:spcBef>
                      </a:pPr>
                      <a:r>
                        <a:rPr sz="2000" spc="-25" dirty="0">
                          <a:solidFill>
                            <a:srgbClr val="3907F0"/>
                          </a:solidFill>
                          <a:latin typeface="Arial"/>
                          <a:cs typeface="Arial"/>
                        </a:rPr>
                        <a:t>c4</a:t>
                      </a:r>
                      <a:endParaRPr sz="2000">
                        <a:latin typeface="Arial"/>
                        <a:cs typeface="Arial"/>
                      </a:endParaRPr>
                    </a:p>
                  </a:txBody>
                  <a:tcPr marL="0" marR="0" marT="46990" marB="0"/>
                </a:tc>
                <a:tc>
                  <a:txBody>
                    <a:bodyPr/>
                    <a:lstStyle/>
                    <a:p>
                      <a:pPr marL="311150">
                        <a:lnSpc>
                          <a:spcPct val="100000"/>
                        </a:lnSpc>
                        <a:spcBef>
                          <a:spcPts val="370"/>
                        </a:spcBef>
                      </a:pPr>
                      <a:r>
                        <a:rPr sz="2000" dirty="0">
                          <a:solidFill>
                            <a:srgbClr val="3907F0"/>
                          </a:solidFill>
                          <a:latin typeface="Arial"/>
                          <a:cs typeface="Arial"/>
                        </a:rPr>
                        <a:t>sum</a:t>
                      </a:r>
                      <a:r>
                        <a:rPr sz="2000" spc="-45" dirty="0">
                          <a:solidFill>
                            <a:srgbClr val="3907F0"/>
                          </a:solidFill>
                          <a:latin typeface="Arial"/>
                          <a:cs typeface="Arial"/>
                        </a:rPr>
                        <a:t> </a:t>
                      </a:r>
                      <a:r>
                        <a:rPr sz="2000" dirty="0">
                          <a:solidFill>
                            <a:srgbClr val="3907F0"/>
                          </a:solidFill>
                          <a:latin typeface="Arial"/>
                          <a:cs typeface="Arial"/>
                        </a:rPr>
                        <a:t>of</a:t>
                      </a:r>
                      <a:r>
                        <a:rPr sz="2000" spc="-35" dirty="0">
                          <a:solidFill>
                            <a:srgbClr val="3907F0"/>
                          </a:solidFill>
                          <a:latin typeface="Arial"/>
                          <a:cs typeface="Arial"/>
                        </a:rPr>
                        <a:t> </a:t>
                      </a:r>
                      <a:r>
                        <a:rPr sz="2000" spc="-25" dirty="0">
                          <a:solidFill>
                            <a:srgbClr val="3907F0"/>
                          </a:solidFill>
                          <a:latin typeface="Arial"/>
                          <a:cs typeface="Arial"/>
                        </a:rPr>
                        <a:t>t</a:t>
                      </a:r>
                      <a:r>
                        <a:rPr sz="2000" spc="-25" baseline="-25000" dirty="0">
                          <a:solidFill>
                            <a:srgbClr val="3907F0"/>
                          </a:solidFill>
                          <a:latin typeface="Arial"/>
                          <a:cs typeface="Arial"/>
                        </a:rPr>
                        <a:t>i</a:t>
                      </a:r>
                      <a:endParaRPr sz="2000" baseline="-25000" dirty="0">
                        <a:latin typeface="Arial"/>
                        <a:cs typeface="Arial"/>
                      </a:endParaRPr>
                    </a:p>
                  </a:txBody>
                  <a:tcPr marL="0" marR="0" marT="46990" marB="0"/>
                </a:tc>
                <a:extLst>
                  <a:ext uri="{0D108BD9-81ED-4DB2-BD59-A6C34878D82A}">
                    <a16:rowId xmlns:a16="http://schemas.microsoft.com/office/drawing/2014/main" val="10004"/>
                  </a:ext>
                </a:extLst>
              </a:tr>
              <a:tr h="426720">
                <a:tc>
                  <a:txBody>
                    <a:bodyPr/>
                    <a:lstStyle/>
                    <a:p>
                      <a:pPr marL="740410">
                        <a:lnSpc>
                          <a:spcPct val="100000"/>
                        </a:lnSpc>
                        <a:spcBef>
                          <a:spcPts val="370"/>
                        </a:spcBef>
                      </a:pPr>
                      <a:r>
                        <a:rPr sz="2000" spc="-10" dirty="0">
                          <a:solidFill>
                            <a:srgbClr val="000066"/>
                          </a:solidFill>
                          <a:latin typeface="Arial"/>
                          <a:cs typeface="Arial"/>
                        </a:rPr>
                        <a:t>a[j+1]=a[j];</a:t>
                      </a:r>
                      <a:endParaRPr sz="2000" dirty="0">
                        <a:latin typeface="Arial"/>
                        <a:cs typeface="Arial"/>
                      </a:endParaRPr>
                    </a:p>
                  </a:txBody>
                  <a:tcPr marL="0" marR="0" marT="46990" marB="0"/>
                </a:tc>
                <a:tc>
                  <a:txBody>
                    <a:bodyPr/>
                    <a:lstStyle/>
                    <a:p>
                      <a:pPr marL="237490">
                        <a:lnSpc>
                          <a:spcPct val="100000"/>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29539">
                        <a:lnSpc>
                          <a:spcPct val="100000"/>
                        </a:lnSpc>
                        <a:spcBef>
                          <a:spcPts val="370"/>
                        </a:spcBef>
                      </a:pPr>
                      <a:r>
                        <a:rPr sz="2000" spc="-25" dirty="0">
                          <a:solidFill>
                            <a:srgbClr val="3907F0"/>
                          </a:solidFill>
                          <a:latin typeface="Arial"/>
                          <a:cs typeface="Arial"/>
                        </a:rPr>
                        <a:t>c5</a:t>
                      </a:r>
                      <a:endParaRPr sz="2000">
                        <a:latin typeface="Arial"/>
                        <a:cs typeface="Arial"/>
                      </a:endParaRPr>
                    </a:p>
                  </a:txBody>
                  <a:tcPr marL="0" marR="0" marT="46990" marB="0"/>
                </a:tc>
                <a:tc>
                  <a:txBody>
                    <a:bodyPr/>
                    <a:lstStyle/>
                    <a:p>
                      <a:pPr marR="45085" algn="r">
                        <a:lnSpc>
                          <a:spcPct val="100000"/>
                        </a:lnSpc>
                        <a:spcBef>
                          <a:spcPts val="370"/>
                        </a:spcBef>
                      </a:pPr>
                      <a:r>
                        <a:rPr sz="2000" dirty="0">
                          <a:solidFill>
                            <a:srgbClr val="3907F0"/>
                          </a:solidFill>
                          <a:latin typeface="Arial"/>
                          <a:cs typeface="Arial"/>
                        </a:rPr>
                        <a:t>sum</a:t>
                      </a:r>
                      <a:r>
                        <a:rPr sz="2000" spc="-35" dirty="0">
                          <a:solidFill>
                            <a:srgbClr val="3907F0"/>
                          </a:solidFill>
                          <a:latin typeface="Arial"/>
                          <a:cs typeface="Arial"/>
                        </a:rPr>
                        <a:t> </a:t>
                      </a:r>
                      <a:r>
                        <a:rPr sz="2000" dirty="0">
                          <a:solidFill>
                            <a:srgbClr val="3907F0"/>
                          </a:solidFill>
                          <a:latin typeface="Arial"/>
                          <a:cs typeface="Arial"/>
                        </a:rPr>
                        <a:t>of</a:t>
                      </a:r>
                      <a:r>
                        <a:rPr sz="2000" spc="-40" dirty="0">
                          <a:solidFill>
                            <a:srgbClr val="3907F0"/>
                          </a:solidFill>
                          <a:latin typeface="Arial"/>
                          <a:cs typeface="Arial"/>
                        </a:rPr>
                        <a:t> </a:t>
                      </a:r>
                      <a:r>
                        <a:rPr sz="2000" spc="-10" dirty="0">
                          <a:solidFill>
                            <a:srgbClr val="3907F0"/>
                          </a:solidFill>
                          <a:latin typeface="Arial"/>
                          <a:cs typeface="Arial"/>
                        </a:rPr>
                        <a:t>(</a:t>
                      </a:r>
                      <a:r>
                        <a:rPr lang="en-US" altLang="zh-CN" sz="2000" spc="-25" dirty="0">
                          <a:solidFill>
                            <a:srgbClr val="3907F0"/>
                          </a:solidFill>
                          <a:latin typeface="+mn-lt"/>
                          <a:cs typeface="Arial"/>
                        </a:rPr>
                        <a:t>t</a:t>
                      </a:r>
                      <a:r>
                        <a:rPr lang="en-US" altLang="zh-CN" sz="2000" spc="-25" baseline="-25000" dirty="0">
                          <a:solidFill>
                            <a:srgbClr val="3907F0"/>
                          </a:solidFill>
                          <a:latin typeface="+mn-lt"/>
                          <a:cs typeface="Arial"/>
                        </a:rPr>
                        <a:t>i</a:t>
                      </a:r>
                      <a:r>
                        <a:rPr sz="2000" spc="-10" dirty="0">
                          <a:solidFill>
                            <a:srgbClr val="3907F0"/>
                          </a:solidFill>
                          <a:latin typeface="Arial"/>
                          <a:cs typeface="Arial"/>
                        </a:rPr>
                        <a:t>-</a:t>
                      </a:r>
                      <a:r>
                        <a:rPr sz="2000" spc="-25" dirty="0">
                          <a:solidFill>
                            <a:srgbClr val="3907F0"/>
                          </a:solidFill>
                          <a:latin typeface="Arial"/>
                          <a:cs typeface="Arial"/>
                        </a:rPr>
                        <a:t>1)</a:t>
                      </a:r>
                      <a:endParaRPr sz="2000" dirty="0">
                        <a:latin typeface="Arial"/>
                        <a:cs typeface="Arial"/>
                      </a:endParaRPr>
                    </a:p>
                  </a:txBody>
                  <a:tcPr marL="0" marR="0" marT="46990" marB="0"/>
                </a:tc>
                <a:extLst>
                  <a:ext uri="{0D108BD9-81ED-4DB2-BD59-A6C34878D82A}">
                    <a16:rowId xmlns:a16="http://schemas.microsoft.com/office/drawing/2014/main" val="10005"/>
                  </a:ext>
                </a:extLst>
              </a:tr>
              <a:tr h="426084">
                <a:tc>
                  <a:txBody>
                    <a:bodyPr/>
                    <a:lstStyle/>
                    <a:p>
                      <a:pPr marL="740410">
                        <a:lnSpc>
                          <a:spcPct val="100000"/>
                        </a:lnSpc>
                        <a:spcBef>
                          <a:spcPts val="370"/>
                        </a:spcBef>
                      </a:pPr>
                      <a:r>
                        <a:rPr sz="2000" spc="-10" dirty="0">
                          <a:solidFill>
                            <a:srgbClr val="000066"/>
                          </a:solidFill>
                          <a:latin typeface="Arial"/>
                          <a:cs typeface="Arial"/>
                        </a:rPr>
                        <a:t>j--</a:t>
                      </a:r>
                      <a:r>
                        <a:rPr sz="2000" spc="-50" dirty="0">
                          <a:solidFill>
                            <a:srgbClr val="000066"/>
                          </a:solidFill>
                          <a:latin typeface="Arial"/>
                          <a:cs typeface="Arial"/>
                        </a:rPr>
                        <a:t>;</a:t>
                      </a:r>
                      <a:endParaRPr sz="2000">
                        <a:latin typeface="Arial"/>
                        <a:cs typeface="Arial"/>
                      </a:endParaRPr>
                    </a:p>
                  </a:txBody>
                  <a:tcPr marL="0" marR="0" marT="46990" marB="0"/>
                </a:tc>
                <a:tc>
                  <a:txBody>
                    <a:bodyPr/>
                    <a:lstStyle/>
                    <a:p>
                      <a:pPr marL="258445">
                        <a:lnSpc>
                          <a:spcPct val="100000"/>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51130">
                        <a:lnSpc>
                          <a:spcPct val="100000"/>
                        </a:lnSpc>
                        <a:spcBef>
                          <a:spcPts val="370"/>
                        </a:spcBef>
                      </a:pPr>
                      <a:r>
                        <a:rPr sz="2000" spc="-25" dirty="0">
                          <a:solidFill>
                            <a:srgbClr val="3907F0"/>
                          </a:solidFill>
                          <a:latin typeface="Arial"/>
                          <a:cs typeface="Arial"/>
                        </a:rPr>
                        <a:t>c6</a:t>
                      </a:r>
                      <a:endParaRPr sz="2000">
                        <a:latin typeface="Arial"/>
                        <a:cs typeface="Arial"/>
                      </a:endParaRPr>
                    </a:p>
                  </a:txBody>
                  <a:tcPr marL="0" marR="0" marT="46990" marB="0"/>
                </a:tc>
                <a:tc>
                  <a:txBody>
                    <a:bodyPr/>
                    <a:lstStyle/>
                    <a:p>
                      <a:pPr marR="24130" algn="r">
                        <a:lnSpc>
                          <a:spcPct val="100000"/>
                        </a:lnSpc>
                        <a:spcBef>
                          <a:spcPts val="370"/>
                        </a:spcBef>
                      </a:pPr>
                      <a:r>
                        <a:rPr sz="2000" dirty="0">
                          <a:solidFill>
                            <a:srgbClr val="3907F0"/>
                          </a:solidFill>
                          <a:latin typeface="Arial"/>
                          <a:cs typeface="Arial"/>
                        </a:rPr>
                        <a:t>sum</a:t>
                      </a:r>
                      <a:r>
                        <a:rPr sz="2000" spc="-35" dirty="0">
                          <a:solidFill>
                            <a:srgbClr val="3907F0"/>
                          </a:solidFill>
                          <a:latin typeface="Arial"/>
                          <a:cs typeface="Arial"/>
                        </a:rPr>
                        <a:t> </a:t>
                      </a:r>
                      <a:r>
                        <a:rPr sz="2000" dirty="0">
                          <a:solidFill>
                            <a:srgbClr val="3907F0"/>
                          </a:solidFill>
                          <a:latin typeface="Arial"/>
                          <a:cs typeface="Arial"/>
                        </a:rPr>
                        <a:t>of</a:t>
                      </a:r>
                      <a:r>
                        <a:rPr sz="2000" spc="-35" dirty="0">
                          <a:solidFill>
                            <a:srgbClr val="3907F0"/>
                          </a:solidFill>
                          <a:latin typeface="Arial"/>
                          <a:cs typeface="Arial"/>
                        </a:rPr>
                        <a:t> </a:t>
                      </a:r>
                      <a:r>
                        <a:rPr sz="2000" spc="-10" dirty="0">
                          <a:solidFill>
                            <a:srgbClr val="3907F0"/>
                          </a:solidFill>
                          <a:latin typeface="Arial"/>
                          <a:cs typeface="Arial"/>
                        </a:rPr>
                        <a:t>(</a:t>
                      </a:r>
                      <a:r>
                        <a:rPr lang="en-US" altLang="zh-CN" sz="2000" spc="-25" dirty="0">
                          <a:solidFill>
                            <a:srgbClr val="3907F0"/>
                          </a:solidFill>
                          <a:latin typeface="+mn-lt"/>
                          <a:cs typeface="Arial"/>
                        </a:rPr>
                        <a:t>t</a:t>
                      </a:r>
                      <a:r>
                        <a:rPr lang="en-US" altLang="zh-CN" sz="2000" spc="-25" baseline="-25000" dirty="0">
                          <a:solidFill>
                            <a:srgbClr val="3907F0"/>
                          </a:solidFill>
                          <a:latin typeface="+mn-lt"/>
                          <a:cs typeface="Arial"/>
                        </a:rPr>
                        <a:t>i</a:t>
                      </a:r>
                      <a:r>
                        <a:rPr sz="2000" spc="-10" dirty="0">
                          <a:solidFill>
                            <a:srgbClr val="3907F0"/>
                          </a:solidFill>
                          <a:latin typeface="Arial"/>
                          <a:cs typeface="Arial"/>
                        </a:rPr>
                        <a:t>-</a:t>
                      </a:r>
                      <a:r>
                        <a:rPr sz="2000" spc="-25" dirty="0">
                          <a:solidFill>
                            <a:srgbClr val="3907F0"/>
                          </a:solidFill>
                          <a:latin typeface="Arial"/>
                          <a:cs typeface="Arial"/>
                        </a:rPr>
                        <a:t>1)</a:t>
                      </a:r>
                      <a:endParaRPr sz="2000" dirty="0">
                        <a:latin typeface="Arial"/>
                        <a:cs typeface="Arial"/>
                      </a:endParaRPr>
                    </a:p>
                  </a:txBody>
                  <a:tcPr marL="0" marR="0" marT="46990" marB="0"/>
                </a:tc>
                <a:extLst>
                  <a:ext uri="{0D108BD9-81ED-4DB2-BD59-A6C34878D82A}">
                    <a16:rowId xmlns:a16="http://schemas.microsoft.com/office/drawing/2014/main" val="10006"/>
                  </a:ext>
                </a:extLst>
              </a:tr>
              <a:tr h="426720">
                <a:tc>
                  <a:txBody>
                    <a:bodyPr/>
                    <a:lstStyle/>
                    <a:p>
                      <a:pPr marL="740410">
                        <a:lnSpc>
                          <a:spcPct val="100000"/>
                        </a:lnSpc>
                        <a:spcBef>
                          <a:spcPts val="370"/>
                        </a:spcBef>
                      </a:pPr>
                      <a:r>
                        <a:rPr sz="2000" dirty="0">
                          <a:solidFill>
                            <a:srgbClr val="000066"/>
                          </a:solidFill>
                          <a:latin typeface="Arial"/>
                          <a:cs typeface="Arial"/>
                        </a:rPr>
                        <a:t>}</a:t>
                      </a:r>
                      <a:endParaRPr sz="2000">
                        <a:latin typeface="Arial"/>
                        <a:cs typeface="Arial"/>
                      </a:endParaRPr>
                    </a:p>
                  </a:txBody>
                  <a:tcPr marL="0" marR="0" marT="46990" marB="0"/>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extLst>
                  <a:ext uri="{0D108BD9-81ED-4DB2-BD59-A6C34878D82A}">
                    <a16:rowId xmlns:a16="http://schemas.microsoft.com/office/drawing/2014/main" val="10007"/>
                  </a:ext>
                </a:extLst>
              </a:tr>
              <a:tr h="354965">
                <a:tc>
                  <a:txBody>
                    <a:bodyPr/>
                    <a:lstStyle/>
                    <a:p>
                      <a:pPr marL="384175">
                        <a:lnSpc>
                          <a:spcPts val="2325"/>
                        </a:lnSpc>
                        <a:spcBef>
                          <a:spcPts val="370"/>
                        </a:spcBef>
                      </a:pPr>
                      <a:r>
                        <a:rPr sz="2000" spc="-10" dirty="0">
                          <a:solidFill>
                            <a:srgbClr val="000066"/>
                          </a:solidFill>
                          <a:latin typeface="Arial"/>
                          <a:cs typeface="Arial"/>
                        </a:rPr>
                        <a:t>a[j+1]=key;</a:t>
                      </a:r>
                      <a:endParaRPr sz="2000">
                        <a:latin typeface="Arial"/>
                        <a:cs typeface="Arial"/>
                      </a:endParaRPr>
                    </a:p>
                  </a:txBody>
                  <a:tcPr marL="0" marR="0" marT="46990" marB="0"/>
                </a:tc>
                <a:tc>
                  <a:txBody>
                    <a:bodyPr/>
                    <a:lstStyle/>
                    <a:p>
                      <a:pPr marL="218440">
                        <a:lnSpc>
                          <a:spcPts val="2325"/>
                        </a:lnSpc>
                        <a:spcBef>
                          <a:spcPts val="370"/>
                        </a:spcBef>
                      </a:pPr>
                      <a:r>
                        <a:rPr sz="2000" spc="-25" dirty="0">
                          <a:solidFill>
                            <a:srgbClr val="000066"/>
                          </a:solidFill>
                          <a:latin typeface="Arial"/>
                          <a:cs typeface="Arial"/>
                        </a:rPr>
                        <a:t>//</a:t>
                      </a:r>
                      <a:endParaRPr sz="2000">
                        <a:latin typeface="Arial"/>
                        <a:cs typeface="Arial"/>
                      </a:endParaRPr>
                    </a:p>
                  </a:txBody>
                  <a:tcPr marL="0" marR="0" marT="46990" marB="0"/>
                </a:tc>
                <a:tc>
                  <a:txBody>
                    <a:bodyPr/>
                    <a:lstStyle/>
                    <a:p>
                      <a:pPr marL="110489">
                        <a:lnSpc>
                          <a:spcPts val="2325"/>
                        </a:lnSpc>
                        <a:spcBef>
                          <a:spcPts val="370"/>
                        </a:spcBef>
                      </a:pPr>
                      <a:r>
                        <a:rPr sz="2000" spc="-25" dirty="0">
                          <a:solidFill>
                            <a:srgbClr val="3907F0"/>
                          </a:solidFill>
                          <a:latin typeface="Arial"/>
                          <a:cs typeface="Arial"/>
                        </a:rPr>
                        <a:t>c7</a:t>
                      </a:r>
                      <a:endParaRPr sz="2000">
                        <a:latin typeface="Arial"/>
                        <a:cs typeface="Arial"/>
                      </a:endParaRPr>
                    </a:p>
                  </a:txBody>
                  <a:tcPr marL="0" marR="0" marT="46990" marB="0"/>
                </a:tc>
                <a:tc>
                  <a:txBody>
                    <a:bodyPr/>
                    <a:lstStyle/>
                    <a:p>
                      <a:pPr marL="259715">
                        <a:lnSpc>
                          <a:spcPts val="2325"/>
                        </a:lnSpc>
                        <a:spcBef>
                          <a:spcPts val="370"/>
                        </a:spcBef>
                      </a:pPr>
                      <a:r>
                        <a:rPr sz="2000" spc="-20" dirty="0">
                          <a:solidFill>
                            <a:srgbClr val="3907F0"/>
                          </a:solidFill>
                          <a:latin typeface="Arial"/>
                          <a:cs typeface="Arial"/>
                        </a:rPr>
                        <a:t>n-</a:t>
                      </a:r>
                      <a:r>
                        <a:rPr sz="2000" spc="-50" dirty="0">
                          <a:solidFill>
                            <a:srgbClr val="3907F0"/>
                          </a:solidFill>
                          <a:latin typeface="Arial"/>
                          <a:cs typeface="Arial"/>
                        </a:rPr>
                        <a:t>1</a:t>
                      </a:r>
                      <a:endParaRPr sz="2000" dirty="0">
                        <a:latin typeface="Arial"/>
                        <a:cs typeface="Arial"/>
                      </a:endParaRPr>
                    </a:p>
                  </a:txBody>
                  <a:tcPr marL="0" marR="0" marT="46990" marB="0"/>
                </a:tc>
                <a:extLst>
                  <a:ext uri="{0D108BD9-81ED-4DB2-BD59-A6C34878D82A}">
                    <a16:rowId xmlns:a16="http://schemas.microsoft.com/office/drawing/2014/main" val="10008"/>
                  </a:ext>
                </a:extLst>
              </a:tr>
            </a:tbl>
          </a:graphicData>
        </a:graphic>
      </p:graphicFrame>
      <p:sp>
        <p:nvSpPr>
          <p:cNvPr id="7" name="object 7"/>
          <p:cNvSpPr txBox="1"/>
          <p:nvPr/>
        </p:nvSpPr>
        <p:spPr>
          <a:xfrm>
            <a:off x="885697" y="5566795"/>
            <a:ext cx="670560" cy="880110"/>
          </a:xfrm>
          <a:prstGeom prst="rect">
            <a:avLst/>
          </a:prstGeom>
        </p:spPr>
        <p:txBody>
          <a:bodyPr vert="horz" wrap="square" lIns="0" tIns="135255" rIns="0" bIns="0" rtlCol="0">
            <a:spAutoFit/>
          </a:bodyPr>
          <a:lstStyle/>
          <a:p>
            <a:pPr marL="572770">
              <a:lnSpc>
                <a:spcPct val="100000"/>
              </a:lnSpc>
              <a:spcBef>
                <a:spcPts val="1065"/>
              </a:spcBef>
            </a:pPr>
            <a:r>
              <a:rPr sz="2000" dirty="0">
                <a:solidFill>
                  <a:srgbClr val="000066"/>
                </a:solidFill>
                <a:latin typeface="Arial"/>
                <a:cs typeface="Arial"/>
              </a:rPr>
              <a:t>}</a:t>
            </a:r>
            <a:endParaRPr sz="2000">
              <a:latin typeface="Arial"/>
              <a:cs typeface="Arial"/>
            </a:endParaRPr>
          </a:p>
          <a:p>
            <a:pPr marL="12700">
              <a:lnSpc>
                <a:spcPct val="100000"/>
              </a:lnSpc>
              <a:spcBef>
                <a:spcPts val="960"/>
              </a:spcBef>
            </a:pPr>
            <a:r>
              <a:rPr sz="2000" spc="-5" dirty="0">
                <a:solidFill>
                  <a:srgbClr val="000066"/>
                </a:solidFill>
                <a:latin typeface="Arial"/>
                <a:cs typeface="Arial"/>
              </a:rPr>
              <a:t>}</a:t>
            </a:r>
            <a:endParaRPr sz="2000">
              <a:latin typeface="Arial"/>
              <a:cs typeface="Arial"/>
            </a:endParaRPr>
          </a:p>
        </p:txBody>
      </p:sp>
      <p:pic>
        <p:nvPicPr>
          <p:cNvPr id="8" name="图片 7"/>
          <p:cNvPicPr>
            <a:picLocks noChangeAspect="1"/>
          </p:cNvPicPr>
          <p:nvPr/>
        </p:nvPicPr>
        <p:blipFill>
          <a:blip r:embed="rId2"/>
          <a:stretch>
            <a:fillRect/>
          </a:stretch>
        </p:blipFill>
        <p:spPr>
          <a:xfrm>
            <a:off x="1387360" y="6109186"/>
            <a:ext cx="7057593" cy="691000"/>
          </a:xfrm>
          <a:prstGeom prst="rect">
            <a:avLst/>
          </a:prstGeom>
          <a:ln>
            <a:solidFill>
              <a:srgbClr val="FF0000"/>
            </a:solidFill>
          </a:ln>
        </p:spPr>
      </p:pic>
      <p:sp>
        <p:nvSpPr>
          <p:cNvPr id="9" name="矩形 8"/>
          <p:cNvSpPr/>
          <p:nvPr/>
        </p:nvSpPr>
        <p:spPr bwMode="auto">
          <a:xfrm>
            <a:off x="4619497" y="1556792"/>
            <a:ext cx="3480895" cy="43924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pPr>
            <a:endParaRPr kumimoji="0" lang="zh-CN" altLang="en-US" sz="3000" b="0" i="0" u="none" strike="noStrike" cap="none" normalizeH="0" baseline="0">
              <a:ln>
                <a:noFill/>
              </a:ln>
              <a:solidFill>
                <a:srgbClr val="000066"/>
              </a:solidFill>
              <a:effectLst/>
              <a:latin typeface="Arial" charset="0"/>
              <a:ea typeface="楷体_GB2312" pitchFamily="49" charset="-122"/>
              <a:cs typeface="Times New Roman" pitchFamily="18" charset="0"/>
            </a:endParaRPr>
          </a:p>
        </p:txBody>
      </p:sp>
    </p:spTree>
    <p:extLst>
      <p:ext uri="{BB962C8B-B14F-4D97-AF65-F5344CB8AC3E}">
        <p14:creationId xmlns:p14="http://schemas.microsoft.com/office/powerpoint/2010/main" val="140200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0589" y="1458213"/>
            <a:ext cx="4006215" cy="330200"/>
          </a:xfrm>
          <a:prstGeom prst="rect">
            <a:avLst/>
          </a:prstGeom>
        </p:spPr>
        <p:txBody>
          <a:bodyPr vert="horz" wrap="square" lIns="0" tIns="12065" rIns="0" bIns="0" rtlCol="0">
            <a:spAutoFit/>
          </a:bodyPr>
          <a:lstStyle/>
          <a:p>
            <a:pPr marL="380365" indent="-342265">
              <a:lnSpc>
                <a:spcPct val="100000"/>
              </a:lnSpc>
              <a:spcBef>
                <a:spcPts val="95"/>
              </a:spcBef>
              <a:buClr>
                <a:srgbClr val="CC9900"/>
              </a:buClr>
              <a:buSzPct val="65000"/>
              <a:buFont typeface="Wingdings"/>
              <a:buChar char=""/>
              <a:tabLst>
                <a:tab pos="380365" algn="l"/>
              </a:tabLst>
            </a:pPr>
            <a:r>
              <a:rPr sz="2000" b="1" spc="-20" dirty="0">
                <a:latin typeface="宋体"/>
                <a:cs typeface="宋体"/>
              </a:rPr>
              <a:t>在最好情况下</a:t>
            </a:r>
            <a:r>
              <a:rPr sz="2000" spc="-20" dirty="0">
                <a:latin typeface="宋体"/>
                <a:cs typeface="宋体"/>
              </a:rPr>
              <a:t>，</a:t>
            </a:r>
            <a:r>
              <a:rPr sz="2000" i="1" dirty="0">
                <a:latin typeface="Arial"/>
                <a:cs typeface="Arial"/>
              </a:rPr>
              <a:t>t</a:t>
            </a:r>
            <a:r>
              <a:rPr sz="1950" baseline="-21367" dirty="0">
                <a:latin typeface="Arial"/>
                <a:cs typeface="Arial"/>
              </a:rPr>
              <a:t>i</a:t>
            </a:r>
            <a:r>
              <a:rPr sz="2000" dirty="0">
                <a:latin typeface="Arial"/>
                <a:cs typeface="Arial"/>
              </a:rPr>
              <a:t>=1,</a:t>
            </a:r>
            <a:r>
              <a:rPr sz="2000" spc="-30" dirty="0">
                <a:latin typeface="Arial"/>
                <a:cs typeface="Arial"/>
              </a:rPr>
              <a:t> </a:t>
            </a:r>
            <a:r>
              <a:rPr sz="2000" dirty="0">
                <a:latin typeface="Arial"/>
                <a:cs typeface="Arial"/>
              </a:rPr>
              <a:t>for</a:t>
            </a:r>
            <a:r>
              <a:rPr sz="2000" spc="-35" dirty="0">
                <a:latin typeface="Arial"/>
                <a:cs typeface="Arial"/>
              </a:rPr>
              <a:t> </a:t>
            </a:r>
            <a:r>
              <a:rPr sz="2000" dirty="0">
                <a:latin typeface="Arial"/>
                <a:cs typeface="Arial"/>
              </a:rPr>
              <a:t>1</a:t>
            </a:r>
            <a:r>
              <a:rPr sz="2000" spc="-25" dirty="0">
                <a:latin typeface="Arial"/>
                <a:cs typeface="Arial"/>
              </a:rPr>
              <a:t> </a:t>
            </a:r>
            <a:r>
              <a:rPr sz="2000" dirty="0">
                <a:latin typeface="Symbol"/>
                <a:cs typeface="Symbol"/>
              </a:rPr>
              <a:t></a:t>
            </a:r>
            <a:r>
              <a:rPr sz="2000" spc="30" dirty="0">
                <a:latin typeface="Times New Roman"/>
                <a:cs typeface="Times New Roman"/>
              </a:rPr>
              <a:t> </a:t>
            </a:r>
            <a:r>
              <a:rPr sz="2000" i="1" dirty="0">
                <a:latin typeface="Arial"/>
                <a:cs typeface="Arial"/>
              </a:rPr>
              <a:t>i</a:t>
            </a:r>
            <a:r>
              <a:rPr sz="2000" i="1" spc="-25" dirty="0">
                <a:latin typeface="Arial"/>
                <a:cs typeface="Arial"/>
              </a:rPr>
              <a:t> </a:t>
            </a:r>
            <a:r>
              <a:rPr sz="2000" spc="-25" dirty="0">
                <a:latin typeface="Arial"/>
                <a:cs typeface="Arial"/>
              </a:rPr>
              <a:t>&lt;</a:t>
            </a:r>
            <a:r>
              <a:rPr sz="2000" i="1" spc="-25" dirty="0">
                <a:latin typeface="Arial"/>
                <a:cs typeface="Arial"/>
              </a:rPr>
              <a:t>n</a:t>
            </a:r>
            <a:r>
              <a:rPr sz="2000" spc="-25" dirty="0">
                <a:latin typeface="Arial"/>
                <a:cs typeface="Arial"/>
              </a:rPr>
              <a:t>;</a:t>
            </a:r>
            <a:endParaRPr sz="2000" dirty="0">
              <a:latin typeface="Arial"/>
              <a:cs typeface="Arial"/>
            </a:endParaRPr>
          </a:p>
        </p:txBody>
      </p:sp>
      <p:sp>
        <p:nvSpPr>
          <p:cNvPr id="3" name="object 3"/>
          <p:cNvSpPr txBox="1"/>
          <p:nvPr/>
        </p:nvSpPr>
        <p:spPr>
          <a:xfrm>
            <a:off x="910589" y="3287013"/>
            <a:ext cx="4032250" cy="330200"/>
          </a:xfrm>
          <a:prstGeom prst="rect">
            <a:avLst/>
          </a:prstGeom>
        </p:spPr>
        <p:txBody>
          <a:bodyPr vert="horz" wrap="square" lIns="0" tIns="12065" rIns="0" bIns="0" rtlCol="0">
            <a:spAutoFit/>
          </a:bodyPr>
          <a:lstStyle/>
          <a:p>
            <a:pPr marL="380365" indent="-342265">
              <a:lnSpc>
                <a:spcPct val="100000"/>
              </a:lnSpc>
              <a:spcBef>
                <a:spcPts val="95"/>
              </a:spcBef>
              <a:buClr>
                <a:srgbClr val="CC9900"/>
              </a:buClr>
              <a:buSzPct val="65000"/>
              <a:buFont typeface="Wingdings"/>
              <a:buChar char=""/>
              <a:tabLst>
                <a:tab pos="380365" algn="l"/>
              </a:tabLst>
            </a:pPr>
            <a:r>
              <a:rPr sz="2000" b="1" spc="-20" dirty="0" err="1">
                <a:latin typeface="宋体"/>
                <a:cs typeface="宋体"/>
              </a:rPr>
              <a:t>在最坏情况下</a:t>
            </a:r>
            <a:r>
              <a:rPr sz="2000" spc="-20" dirty="0" err="1">
                <a:latin typeface="宋体"/>
                <a:cs typeface="宋体"/>
              </a:rPr>
              <a:t>，</a:t>
            </a:r>
            <a:r>
              <a:rPr sz="2000" i="1" dirty="0" err="1">
                <a:latin typeface="Arial"/>
                <a:cs typeface="Arial"/>
              </a:rPr>
              <a:t>t</a:t>
            </a:r>
            <a:r>
              <a:rPr sz="1950" baseline="-21367" dirty="0" err="1">
                <a:latin typeface="Arial"/>
                <a:cs typeface="Arial"/>
              </a:rPr>
              <a:t>i</a:t>
            </a:r>
            <a:r>
              <a:rPr sz="1950" spc="22" baseline="-21367" dirty="0">
                <a:latin typeface="Arial"/>
                <a:cs typeface="Arial"/>
              </a:rPr>
              <a:t> </a:t>
            </a:r>
            <a:r>
              <a:rPr lang="en-US" sz="2000" dirty="0">
                <a:latin typeface="Symbol"/>
                <a:cs typeface="Symbol"/>
              </a:rPr>
              <a:t>=</a:t>
            </a:r>
            <a:r>
              <a:rPr sz="2000" spc="35" dirty="0">
                <a:latin typeface="Times New Roman"/>
                <a:cs typeface="Times New Roman"/>
              </a:rPr>
              <a:t> </a:t>
            </a:r>
            <a:r>
              <a:rPr sz="2000" i="1" dirty="0">
                <a:latin typeface="Arial"/>
                <a:cs typeface="Arial"/>
              </a:rPr>
              <a:t>i</a:t>
            </a:r>
            <a:r>
              <a:rPr sz="2000" spc="-15" dirty="0">
                <a:latin typeface="Arial"/>
                <a:cs typeface="Arial"/>
              </a:rPr>
              <a:t>, </a:t>
            </a:r>
            <a:r>
              <a:rPr sz="2000" dirty="0">
                <a:latin typeface="Arial"/>
                <a:cs typeface="Arial"/>
              </a:rPr>
              <a:t>for</a:t>
            </a:r>
            <a:r>
              <a:rPr sz="2000" spc="-25" dirty="0">
                <a:latin typeface="Arial"/>
                <a:cs typeface="Arial"/>
              </a:rPr>
              <a:t> </a:t>
            </a:r>
            <a:r>
              <a:rPr sz="2000" dirty="0">
                <a:latin typeface="Arial"/>
                <a:cs typeface="Arial"/>
              </a:rPr>
              <a:t>1</a:t>
            </a:r>
            <a:r>
              <a:rPr sz="2000" spc="-20" dirty="0">
                <a:latin typeface="Arial"/>
                <a:cs typeface="Arial"/>
              </a:rPr>
              <a:t> </a:t>
            </a:r>
            <a:r>
              <a:rPr sz="2000" dirty="0">
                <a:latin typeface="Symbol"/>
                <a:cs typeface="Symbol"/>
              </a:rPr>
              <a:t></a:t>
            </a:r>
            <a:r>
              <a:rPr sz="2000" spc="35" dirty="0">
                <a:latin typeface="Times New Roman"/>
                <a:cs typeface="Times New Roman"/>
              </a:rPr>
              <a:t> </a:t>
            </a:r>
            <a:r>
              <a:rPr sz="2000" i="1" dirty="0">
                <a:latin typeface="Arial"/>
                <a:cs typeface="Arial"/>
              </a:rPr>
              <a:t>i</a:t>
            </a:r>
            <a:r>
              <a:rPr sz="2000" i="1" spc="-15" dirty="0">
                <a:latin typeface="Arial"/>
                <a:cs typeface="Arial"/>
              </a:rPr>
              <a:t> </a:t>
            </a:r>
            <a:r>
              <a:rPr sz="2000" spc="-25" dirty="0">
                <a:latin typeface="Arial"/>
                <a:cs typeface="Arial"/>
              </a:rPr>
              <a:t>&lt;</a:t>
            </a:r>
            <a:r>
              <a:rPr sz="2000" i="1" spc="-25" dirty="0">
                <a:latin typeface="Arial"/>
                <a:cs typeface="Arial"/>
              </a:rPr>
              <a:t>n</a:t>
            </a:r>
            <a:r>
              <a:rPr sz="2000" spc="-25" dirty="0">
                <a:latin typeface="Arial"/>
                <a:cs typeface="Arial"/>
              </a:rPr>
              <a:t>;</a:t>
            </a:r>
            <a:endParaRPr sz="2000" dirty="0">
              <a:latin typeface="Arial"/>
              <a:cs typeface="Arial"/>
            </a:endParaRPr>
          </a:p>
        </p:txBody>
      </p:sp>
      <p:sp>
        <p:nvSpPr>
          <p:cNvPr id="8" name="object 8"/>
          <p:cNvSpPr txBox="1"/>
          <p:nvPr/>
        </p:nvSpPr>
        <p:spPr>
          <a:xfrm>
            <a:off x="1663467" y="2019951"/>
            <a:ext cx="5370195" cy="954405"/>
          </a:xfrm>
          <a:prstGeom prst="rect">
            <a:avLst/>
          </a:prstGeom>
        </p:spPr>
        <p:txBody>
          <a:bodyPr vert="horz" wrap="square" lIns="0" tIns="11430" rIns="0" bIns="0" rtlCol="0">
            <a:spAutoFit/>
          </a:bodyPr>
          <a:lstStyle/>
          <a:p>
            <a:pPr marL="50800">
              <a:lnSpc>
                <a:spcPct val="100000"/>
              </a:lnSpc>
              <a:spcBef>
                <a:spcPts val="90"/>
              </a:spcBef>
            </a:pPr>
            <a:r>
              <a:rPr sz="1950" i="1" spc="-10" dirty="0">
                <a:latin typeface="Times New Roman"/>
                <a:cs typeface="Times New Roman"/>
              </a:rPr>
              <a:t>T</a:t>
            </a:r>
            <a:r>
              <a:rPr sz="1650" spc="-15" baseline="-25252" dirty="0">
                <a:latin typeface="Times New Roman"/>
                <a:cs typeface="Times New Roman"/>
              </a:rPr>
              <a:t>min</a:t>
            </a:r>
            <a:r>
              <a:rPr sz="1650" spc="-142" baseline="-25252" dirty="0">
                <a:latin typeface="Times New Roman"/>
                <a:cs typeface="Times New Roman"/>
              </a:rPr>
              <a:t> </a:t>
            </a:r>
            <a:r>
              <a:rPr sz="1950" dirty="0">
                <a:latin typeface="Times New Roman"/>
                <a:cs typeface="Times New Roman"/>
              </a:rPr>
              <a:t>(</a:t>
            </a:r>
            <a:r>
              <a:rPr sz="1950" i="1" dirty="0">
                <a:latin typeface="Times New Roman"/>
                <a:cs typeface="Times New Roman"/>
              </a:rPr>
              <a:t>n</a:t>
            </a:r>
            <a:r>
              <a:rPr sz="1950" dirty="0">
                <a:latin typeface="Times New Roman"/>
                <a:cs typeface="Times New Roman"/>
              </a:rPr>
              <a:t>) </a:t>
            </a:r>
            <a:r>
              <a:rPr sz="1950" dirty="0">
                <a:latin typeface="Symbol"/>
                <a:cs typeface="Symbol"/>
              </a:rPr>
              <a:t></a:t>
            </a:r>
            <a:r>
              <a:rPr sz="1950" spc="-50" dirty="0">
                <a:latin typeface="Times New Roman"/>
                <a:cs typeface="Times New Roman"/>
              </a:rPr>
              <a:t> </a:t>
            </a:r>
            <a:r>
              <a:rPr sz="1950" i="1" spc="-50" dirty="0">
                <a:latin typeface="Times New Roman"/>
                <a:cs typeface="Times New Roman"/>
              </a:rPr>
              <a:t>c</a:t>
            </a:r>
            <a:r>
              <a:rPr sz="1650" spc="-75" baseline="-25252" dirty="0">
                <a:latin typeface="Times New Roman"/>
                <a:cs typeface="Times New Roman"/>
              </a:rPr>
              <a:t>1</a:t>
            </a:r>
            <a:r>
              <a:rPr sz="1950" i="1" spc="-50" dirty="0">
                <a:latin typeface="Times New Roman"/>
                <a:cs typeface="Times New Roman"/>
              </a:rPr>
              <a:t>n</a:t>
            </a:r>
            <a:r>
              <a:rPr sz="1950" i="1" spc="-140" dirty="0">
                <a:latin typeface="Times New Roman"/>
                <a:cs typeface="Times New Roman"/>
              </a:rPr>
              <a:t> </a:t>
            </a:r>
            <a:r>
              <a:rPr sz="1950" dirty="0">
                <a:latin typeface="Symbol"/>
                <a:cs typeface="Symbol"/>
              </a:rPr>
              <a:t></a:t>
            </a:r>
            <a:r>
              <a:rPr sz="1950" spc="-150" dirty="0">
                <a:latin typeface="Times New Roman"/>
                <a:cs typeface="Times New Roman"/>
              </a:rPr>
              <a:t> </a:t>
            </a:r>
            <a:r>
              <a:rPr sz="1950" i="1" dirty="0">
                <a:latin typeface="Times New Roman"/>
                <a:cs typeface="Times New Roman"/>
              </a:rPr>
              <a:t>c</a:t>
            </a:r>
            <a:r>
              <a:rPr sz="1650" baseline="-25252" dirty="0">
                <a:latin typeface="Times New Roman"/>
                <a:cs typeface="Times New Roman"/>
              </a:rPr>
              <a:t>2</a:t>
            </a:r>
            <a:r>
              <a:rPr sz="1650" spc="-127" baseline="-25252" dirty="0">
                <a:latin typeface="Times New Roman"/>
                <a:cs typeface="Times New Roman"/>
              </a:rPr>
              <a:t> </a:t>
            </a:r>
            <a:r>
              <a:rPr sz="1950" dirty="0">
                <a:latin typeface="Times New Roman"/>
                <a:cs typeface="Times New Roman"/>
              </a:rPr>
              <a:t>(</a:t>
            </a:r>
            <a:r>
              <a:rPr sz="1950" i="1" dirty="0">
                <a:latin typeface="Times New Roman"/>
                <a:cs typeface="Times New Roman"/>
              </a:rPr>
              <a:t>n</a:t>
            </a:r>
            <a:r>
              <a:rPr sz="1950" i="1" spc="-140" dirty="0">
                <a:latin typeface="Times New Roman"/>
                <a:cs typeface="Times New Roman"/>
              </a:rPr>
              <a:t> </a:t>
            </a:r>
            <a:r>
              <a:rPr sz="1950" spc="-10" dirty="0">
                <a:latin typeface="Symbol"/>
                <a:cs typeface="Symbol"/>
              </a:rPr>
              <a:t></a:t>
            </a:r>
            <a:r>
              <a:rPr sz="1950" spc="-10" dirty="0">
                <a:latin typeface="Times New Roman"/>
                <a:cs typeface="Times New Roman"/>
              </a:rPr>
              <a:t>1)</a:t>
            </a:r>
            <a:r>
              <a:rPr sz="1950" spc="-140" dirty="0">
                <a:latin typeface="Times New Roman"/>
                <a:cs typeface="Times New Roman"/>
              </a:rPr>
              <a:t> </a:t>
            </a:r>
            <a:r>
              <a:rPr sz="1950" dirty="0">
                <a:latin typeface="Symbol"/>
                <a:cs typeface="Symbol"/>
              </a:rPr>
              <a:t></a:t>
            </a:r>
            <a:r>
              <a:rPr sz="1950" spc="-150" dirty="0">
                <a:latin typeface="Times New Roman"/>
                <a:cs typeface="Times New Roman"/>
              </a:rPr>
              <a:t> </a:t>
            </a:r>
            <a:r>
              <a:rPr sz="1950" i="1" spc="-20" dirty="0">
                <a:latin typeface="Times New Roman"/>
                <a:cs typeface="Times New Roman"/>
              </a:rPr>
              <a:t>c</a:t>
            </a:r>
            <a:r>
              <a:rPr sz="1650" spc="-30" baseline="-25252" dirty="0">
                <a:latin typeface="Times New Roman"/>
                <a:cs typeface="Times New Roman"/>
              </a:rPr>
              <a:t>3</a:t>
            </a:r>
            <a:r>
              <a:rPr sz="1650" spc="-187" baseline="-25252" dirty="0">
                <a:latin typeface="Times New Roman"/>
                <a:cs typeface="Times New Roman"/>
              </a:rPr>
              <a:t> </a:t>
            </a:r>
            <a:r>
              <a:rPr sz="1950" dirty="0">
                <a:latin typeface="Times New Roman"/>
                <a:cs typeface="Times New Roman"/>
              </a:rPr>
              <a:t>(</a:t>
            </a:r>
            <a:r>
              <a:rPr sz="1950" i="1" dirty="0">
                <a:latin typeface="Times New Roman"/>
                <a:cs typeface="Times New Roman"/>
              </a:rPr>
              <a:t>n</a:t>
            </a:r>
            <a:r>
              <a:rPr sz="1950" i="1" spc="-145" dirty="0">
                <a:latin typeface="Times New Roman"/>
                <a:cs typeface="Times New Roman"/>
              </a:rPr>
              <a:t> </a:t>
            </a:r>
            <a:r>
              <a:rPr sz="1950" spc="-10" dirty="0">
                <a:latin typeface="Symbol"/>
                <a:cs typeface="Symbol"/>
              </a:rPr>
              <a:t></a:t>
            </a:r>
            <a:r>
              <a:rPr sz="1950" spc="-10" dirty="0">
                <a:latin typeface="Times New Roman"/>
                <a:cs typeface="Times New Roman"/>
              </a:rPr>
              <a:t>1)</a:t>
            </a:r>
            <a:r>
              <a:rPr sz="1950" spc="-135" dirty="0">
                <a:latin typeface="Times New Roman"/>
                <a:cs typeface="Times New Roman"/>
              </a:rPr>
              <a:t> </a:t>
            </a:r>
            <a:r>
              <a:rPr sz="1950" dirty="0">
                <a:latin typeface="Symbol"/>
                <a:cs typeface="Symbol"/>
              </a:rPr>
              <a:t></a:t>
            </a:r>
            <a:r>
              <a:rPr sz="1950" spc="-150" dirty="0">
                <a:latin typeface="Times New Roman"/>
                <a:cs typeface="Times New Roman"/>
              </a:rPr>
              <a:t> </a:t>
            </a:r>
            <a:r>
              <a:rPr sz="1950" i="1" dirty="0">
                <a:latin typeface="Times New Roman"/>
                <a:cs typeface="Times New Roman"/>
              </a:rPr>
              <a:t>c</a:t>
            </a:r>
            <a:r>
              <a:rPr sz="1650" baseline="-25252" dirty="0">
                <a:latin typeface="Times New Roman"/>
                <a:cs typeface="Times New Roman"/>
              </a:rPr>
              <a:t>4</a:t>
            </a:r>
            <a:r>
              <a:rPr sz="1650" spc="-127" baseline="-25252" dirty="0">
                <a:latin typeface="Times New Roman"/>
                <a:cs typeface="Times New Roman"/>
              </a:rPr>
              <a:t> </a:t>
            </a:r>
            <a:r>
              <a:rPr sz="1950" dirty="0">
                <a:latin typeface="Times New Roman"/>
                <a:cs typeface="Times New Roman"/>
              </a:rPr>
              <a:t>(</a:t>
            </a:r>
            <a:r>
              <a:rPr sz="1950" i="1" dirty="0">
                <a:latin typeface="Times New Roman"/>
                <a:cs typeface="Times New Roman"/>
              </a:rPr>
              <a:t>n</a:t>
            </a:r>
            <a:r>
              <a:rPr sz="1950" i="1" spc="-140" dirty="0">
                <a:latin typeface="Times New Roman"/>
                <a:cs typeface="Times New Roman"/>
              </a:rPr>
              <a:t> </a:t>
            </a:r>
            <a:r>
              <a:rPr sz="1950" spc="-10" dirty="0">
                <a:latin typeface="Symbol"/>
                <a:cs typeface="Symbol"/>
              </a:rPr>
              <a:t></a:t>
            </a:r>
            <a:r>
              <a:rPr sz="1950" spc="-10" dirty="0">
                <a:latin typeface="Times New Roman"/>
                <a:cs typeface="Times New Roman"/>
              </a:rPr>
              <a:t>1)</a:t>
            </a:r>
            <a:r>
              <a:rPr sz="1950" spc="-145" dirty="0">
                <a:latin typeface="Times New Roman"/>
                <a:cs typeface="Times New Roman"/>
              </a:rPr>
              <a:t> </a:t>
            </a:r>
            <a:r>
              <a:rPr sz="1950" dirty="0">
                <a:latin typeface="Symbol"/>
                <a:cs typeface="Symbol"/>
              </a:rPr>
              <a:t></a:t>
            </a:r>
            <a:r>
              <a:rPr sz="1950" spc="-150" dirty="0">
                <a:latin typeface="Times New Roman"/>
                <a:cs typeface="Times New Roman"/>
              </a:rPr>
              <a:t> </a:t>
            </a:r>
            <a:r>
              <a:rPr sz="1950" i="1" spc="-10" dirty="0">
                <a:latin typeface="Times New Roman"/>
                <a:cs typeface="Times New Roman"/>
              </a:rPr>
              <a:t>c</a:t>
            </a:r>
            <a:r>
              <a:rPr sz="1650" spc="-15" baseline="-25252" dirty="0">
                <a:latin typeface="Times New Roman"/>
                <a:cs typeface="Times New Roman"/>
              </a:rPr>
              <a:t>7</a:t>
            </a:r>
            <a:r>
              <a:rPr sz="1650" spc="-97" baseline="-25252" dirty="0">
                <a:latin typeface="Times New Roman"/>
                <a:cs typeface="Times New Roman"/>
              </a:rPr>
              <a:t> </a:t>
            </a:r>
            <a:r>
              <a:rPr sz="1950" dirty="0">
                <a:latin typeface="Times New Roman"/>
                <a:cs typeface="Times New Roman"/>
              </a:rPr>
              <a:t>(</a:t>
            </a:r>
            <a:r>
              <a:rPr sz="1950" i="1" dirty="0">
                <a:latin typeface="Times New Roman"/>
                <a:cs typeface="Times New Roman"/>
              </a:rPr>
              <a:t>n</a:t>
            </a:r>
            <a:r>
              <a:rPr sz="1950" i="1" spc="-140" dirty="0">
                <a:latin typeface="Times New Roman"/>
                <a:cs typeface="Times New Roman"/>
              </a:rPr>
              <a:t> </a:t>
            </a:r>
            <a:r>
              <a:rPr sz="1950" spc="-25" dirty="0">
                <a:latin typeface="Symbol"/>
                <a:cs typeface="Symbol"/>
              </a:rPr>
              <a:t></a:t>
            </a:r>
            <a:r>
              <a:rPr sz="1950" spc="-25" dirty="0">
                <a:latin typeface="Times New Roman"/>
                <a:cs typeface="Times New Roman"/>
              </a:rPr>
              <a:t>1)</a:t>
            </a:r>
            <a:endParaRPr sz="1950" dirty="0">
              <a:latin typeface="Times New Roman"/>
              <a:cs typeface="Times New Roman"/>
            </a:endParaRPr>
          </a:p>
          <a:p>
            <a:pPr>
              <a:lnSpc>
                <a:spcPct val="100000"/>
              </a:lnSpc>
            </a:pPr>
            <a:endParaRPr sz="2400" dirty="0">
              <a:latin typeface="Times New Roman"/>
              <a:cs typeface="Times New Roman"/>
            </a:endParaRPr>
          </a:p>
          <a:p>
            <a:pPr marL="64135">
              <a:lnSpc>
                <a:spcPct val="100000"/>
              </a:lnSpc>
            </a:pPr>
            <a:r>
              <a:rPr sz="1850" dirty="0">
                <a:latin typeface="Symbol"/>
                <a:cs typeface="Symbol"/>
              </a:rPr>
              <a:t></a:t>
            </a:r>
            <a:r>
              <a:rPr sz="1850" spc="-85" dirty="0">
                <a:latin typeface="Times New Roman"/>
                <a:cs typeface="Times New Roman"/>
              </a:rPr>
              <a:t> </a:t>
            </a:r>
            <a:r>
              <a:rPr sz="1850" dirty="0">
                <a:latin typeface="Times New Roman"/>
                <a:cs typeface="Times New Roman"/>
              </a:rPr>
              <a:t>(</a:t>
            </a:r>
            <a:r>
              <a:rPr sz="1850" i="1" dirty="0">
                <a:latin typeface="Times New Roman"/>
                <a:cs typeface="Times New Roman"/>
              </a:rPr>
              <a:t>c</a:t>
            </a:r>
            <a:r>
              <a:rPr sz="1575" baseline="-23809" dirty="0">
                <a:latin typeface="Times New Roman"/>
                <a:cs typeface="Times New Roman"/>
              </a:rPr>
              <a:t>1</a:t>
            </a:r>
            <a:r>
              <a:rPr sz="1575" spc="179" baseline="-23809" dirty="0">
                <a:latin typeface="Times New Roman"/>
                <a:cs typeface="Times New Roman"/>
              </a:rPr>
              <a:t> </a:t>
            </a:r>
            <a:r>
              <a:rPr sz="1850" dirty="0">
                <a:latin typeface="Symbol"/>
                <a:cs typeface="Symbol"/>
              </a:rPr>
              <a:t></a:t>
            </a:r>
            <a:r>
              <a:rPr sz="1850" spc="-170" dirty="0">
                <a:latin typeface="Times New Roman"/>
                <a:cs typeface="Times New Roman"/>
              </a:rPr>
              <a:t> </a:t>
            </a:r>
            <a:r>
              <a:rPr sz="1850" i="1" dirty="0">
                <a:latin typeface="Times New Roman"/>
                <a:cs typeface="Times New Roman"/>
              </a:rPr>
              <a:t>c</a:t>
            </a:r>
            <a:r>
              <a:rPr sz="1575" baseline="-23809" dirty="0">
                <a:latin typeface="Times New Roman"/>
                <a:cs typeface="Times New Roman"/>
              </a:rPr>
              <a:t>2</a:t>
            </a:r>
            <a:r>
              <a:rPr sz="1575" spc="315" baseline="-23809" dirty="0">
                <a:latin typeface="Times New Roman"/>
                <a:cs typeface="Times New Roman"/>
              </a:rPr>
              <a:t> </a:t>
            </a:r>
            <a:r>
              <a:rPr sz="1850" dirty="0">
                <a:latin typeface="Symbol"/>
                <a:cs typeface="Symbol"/>
              </a:rPr>
              <a:t></a:t>
            </a:r>
            <a:r>
              <a:rPr sz="1850" spc="-165" dirty="0">
                <a:latin typeface="Times New Roman"/>
                <a:cs typeface="Times New Roman"/>
              </a:rPr>
              <a:t> </a:t>
            </a:r>
            <a:r>
              <a:rPr sz="1850" i="1" dirty="0">
                <a:latin typeface="Times New Roman"/>
                <a:cs typeface="Times New Roman"/>
              </a:rPr>
              <a:t>c</a:t>
            </a:r>
            <a:r>
              <a:rPr sz="1575" baseline="-23809" dirty="0">
                <a:latin typeface="Times New Roman"/>
                <a:cs typeface="Times New Roman"/>
              </a:rPr>
              <a:t>3</a:t>
            </a:r>
            <a:r>
              <a:rPr sz="1575" spc="262" baseline="-23809" dirty="0">
                <a:latin typeface="Times New Roman"/>
                <a:cs typeface="Times New Roman"/>
              </a:rPr>
              <a:t> </a:t>
            </a:r>
            <a:r>
              <a:rPr sz="1850" dirty="0">
                <a:latin typeface="Symbol"/>
                <a:cs typeface="Symbol"/>
              </a:rPr>
              <a:t></a:t>
            </a:r>
            <a:r>
              <a:rPr sz="1850" spc="-175" dirty="0">
                <a:latin typeface="Times New Roman"/>
                <a:cs typeface="Times New Roman"/>
              </a:rPr>
              <a:t> </a:t>
            </a:r>
            <a:r>
              <a:rPr sz="1850" i="1" dirty="0">
                <a:latin typeface="Times New Roman"/>
                <a:cs typeface="Times New Roman"/>
              </a:rPr>
              <a:t>c</a:t>
            </a:r>
            <a:r>
              <a:rPr sz="1575" baseline="-23809" dirty="0">
                <a:latin typeface="Times New Roman"/>
                <a:cs typeface="Times New Roman"/>
              </a:rPr>
              <a:t>4</a:t>
            </a:r>
            <a:r>
              <a:rPr sz="1575" spc="315" baseline="-23809" dirty="0">
                <a:latin typeface="Times New Roman"/>
                <a:cs typeface="Times New Roman"/>
              </a:rPr>
              <a:t> </a:t>
            </a:r>
            <a:r>
              <a:rPr sz="1850" dirty="0">
                <a:latin typeface="Symbol"/>
                <a:cs typeface="Symbol"/>
              </a:rPr>
              <a:t></a:t>
            </a:r>
            <a:r>
              <a:rPr sz="1850" spc="-165" dirty="0">
                <a:latin typeface="Times New Roman"/>
                <a:cs typeface="Times New Roman"/>
              </a:rPr>
              <a:t> </a:t>
            </a:r>
            <a:r>
              <a:rPr sz="1850" i="1" spc="-10" dirty="0">
                <a:latin typeface="Times New Roman"/>
                <a:cs typeface="Times New Roman"/>
              </a:rPr>
              <a:t>c</a:t>
            </a:r>
            <a:r>
              <a:rPr sz="1575" spc="-15" baseline="-23809" dirty="0">
                <a:latin typeface="Times New Roman"/>
                <a:cs typeface="Times New Roman"/>
              </a:rPr>
              <a:t>7</a:t>
            </a:r>
            <a:r>
              <a:rPr sz="1575" spc="-120" baseline="-23809" dirty="0">
                <a:latin typeface="Times New Roman"/>
                <a:cs typeface="Times New Roman"/>
              </a:rPr>
              <a:t> </a:t>
            </a:r>
            <a:r>
              <a:rPr sz="1850" dirty="0">
                <a:latin typeface="Times New Roman"/>
                <a:cs typeface="Times New Roman"/>
              </a:rPr>
              <a:t>)</a:t>
            </a:r>
            <a:r>
              <a:rPr sz="1850" i="1" dirty="0">
                <a:latin typeface="Times New Roman"/>
                <a:cs typeface="Times New Roman"/>
              </a:rPr>
              <a:t>n</a:t>
            </a:r>
            <a:r>
              <a:rPr sz="1850" i="1" spc="-160" dirty="0">
                <a:latin typeface="Times New Roman"/>
                <a:cs typeface="Times New Roman"/>
              </a:rPr>
              <a:t> </a:t>
            </a:r>
            <a:r>
              <a:rPr sz="1850" dirty="0">
                <a:latin typeface="Symbol"/>
                <a:cs typeface="Symbol"/>
              </a:rPr>
              <a:t></a:t>
            </a:r>
            <a:r>
              <a:rPr sz="1850" spc="-200" dirty="0">
                <a:latin typeface="Times New Roman"/>
                <a:cs typeface="Times New Roman"/>
              </a:rPr>
              <a:t> </a:t>
            </a:r>
            <a:r>
              <a:rPr sz="1850" dirty="0">
                <a:latin typeface="Times New Roman"/>
                <a:cs typeface="Times New Roman"/>
              </a:rPr>
              <a:t>(</a:t>
            </a:r>
            <a:r>
              <a:rPr sz="1850" i="1" dirty="0">
                <a:latin typeface="Times New Roman"/>
                <a:cs typeface="Times New Roman"/>
              </a:rPr>
              <a:t>c</a:t>
            </a:r>
            <a:r>
              <a:rPr sz="1575" baseline="-23809" dirty="0">
                <a:latin typeface="Times New Roman"/>
                <a:cs typeface="Times New Roman"/>
              </a:rPr>
              <a:t>2</a:t>
            </a:r>
            <a:r>
              <a:rPr sz="1575" spc="307" baseline="-23809" dirty="0">
                <a:latin typeface="Times New Roman"/>
                <a:cs typeface="Times New Roman"/>
              </a:rPr>
              <a:t> </a:t>
            </a:r>
            <a:r>
              <a:rPr sz="1850" dirty="0">
                <a:latin typeface="Symbol"/>
                <a:cs typeface="Symbol"/>
              </a:rPr>
              <a:t></a:t>
            </a:r>
            <a:r>
              <a:rPr sz="1850" spc="-165" dirty="0">
                <a:latin typeface="Times New Roman"/>
                <a:cs typeface="Times New Roman"/>
              </a:rPr>
              <a:t> </a:t>
            </a:r>
            <a:r>
              <a:rPr sz="1850" i="1" dirty="0">
                <a:latin typeface="Times New Roman"/>
                <a:cs typeface="Times New Roman"/>
              </a:rPr>
              <a:t>c</a:t>
            </a:r>
            <a:r>
              <a:rPr sz="1575" baseline="-23809" dirty="0">
                <a:latin typeface="Times New Roman"/>
                <a:cs typeface="Times New Roman"/>
              </a:rPr>
              <a:t>3</a:t>
            </a:r>
            <a:r>
              <a:rPr sz="1575" spc="254" baseline="-23809" dirty="0">
                <a:latin typeface="Times New Roman"/>
                <a:cs typeface="Times New Roman"/>
              </a:rPr>
              <a:t> </a:t>
            </a:r>
            <a:r>
              <a:rPr sz="1850" dirty="0">
                <a:latin typeface="Symbol"/>
                <a:cs typeface="Symbol"/>
              </a:rPr>
              <a:t></a:t>
            </a:r>
            <a:r>
              <a:rPr sz="1850" spc="-165" dirty="0">
                <a:latin typeface="Times New Roman"/>
                <a:cs typeface="Times New Roman"/>
              </a:rPr>
              <a:t> </a:t>
            </a:r>
            <a:r>
              <a:rPr sz="1850" i="1" dirty="0">
                <a:latin typeface="Times New Roman"/>
                <a:cs typeface="Times New Roman"/>
              </a:rPr>
              <a:t>c</a:t>
            </a:r>
            <a:r>
              <a:rPr sz="1575" baseline="-23809" dirty="0">
                <a:latin typeface="Times New Roman"/>
                <a:cs typeface="Times New Roman"/>
              </a:rPr>
              <a:t>4</a:t>
            </a:r>
            <a:r>
              <a:rPr sz="1575" spc="307" baseline="-23809" dirty="0">
                <a:latin typeface="Times New Roman"/>
                <a:cs typeface="Times New Roman"/>
              </a:rPr>
              <a:t> </a:t>
            </a:r>
            <a:r>
              <a:rPr sz="1850" dirty="0">
                <a:latin typeface="Symbol"/>
                <a:cs typeface="Symbol"/>
              </a:rPr>
              <a:t></a:t>
            </a:r>
            <a:r>
              <a:rPr sz="1850" spc="-165" dirty="0">
                <a:latin typeface="Times New Roman"/>
                <a:cs typeface="Times New Roman"/>
              </a:rPr>
              <a:t> </a:t>
            </a:r>
            <a:r>
              <a:rPr sz="1850" i="1" spc="-10" dirty="0">
                <a:latin typeface="Times New Roman"/>
                <a:cs typeface="Times New Roman"/>
              </a:rPr>
              <a:t>c</a:t>
            </a:r>
            <a:r>
              <a:rPr sz="1575" spc="-15" baseline="-23809" dirty="0">
                <a:latin typeface="Times New Roman"/>
                <a:cs typeface="Times New Roman"/>
              </a:rPr>
              <a:t>7</a:t>
            </a:r>
            <a:r>
              <a:rPr sz="1575" spc="-112" baseline="-23809" dirty="0">
                <a:latin typeface="Times New Roman"/>
                <a:cs typeface="Times New Roman"/>
              </a:rPr>
              <a:t> </a:t>
            </a:r>
            <a:r>
              <a:rPr sz="1850" dirty="0">
                <a:latin typeface="Times New Roman"/>
                <a:cs typeface="Times New Roman"/>
              </a:rPr>
              <a:t>)</a:t>
            </a:r>
            <a:r>
              <a:rPr sz="1850" spc="-45" dirty="0">
                <a:latin typeface="Times New Roman"/>
                <a:cs typeface="Times New Roman"/>
              </a:rPr>
              <a:t> </a:t>
            </a:r>
            <a:r>
              <a:rPr sz="1850" dirty="0">
                <a:latin typeface="Symbol"/>
                <a:cs typeface="Symbol"/>
              </a:rPr>
              <a:t></a:t>
            </a:r>
            <a:r>
              <a:rPr sz="1850" spc="-105" dirty="0">
                <a:latin typeface="Times New Roman"/>
                <a:cs typeface="Times New Roman"/>
              </a:rPr>
              <a:t> </a:t>
            </a:r>
            <a:r>
              <a:rPr sz="1850" i="1" spc="-20" dirty="0">
                <a:latin typeface="Times New Roman"/>
                <a:cs typeface="Times New Roman"/>
              </a:rPr>
              <a:t>O</a:t>
            </a:r>
            <a:r>
              <a:rPr sz="1850" spc="-20" dirty="0">
                <a:latin typeface="Times New Roman"/>
                <a:cs typeface="Times New Roman"/>
              </a:rPr>
              <a:t>(</a:t>
            </a:r>
            <a:r>
              <a:rPr sz="1850" i="1" spc="-20" dirty="0">
                <a:latin typeface="Times New Roman"/>
                <a:cs typeface="Times New Roman"/>
              </a:rPr>
              <a:t>n</a:t>
            </a:r>
            <a:r>
              <a:rPr sz="1850" spc="-20" dirty="0">
                <a:latin typeface="Times New Roman"/>
                <a:cs typeface="Times New Roman"/>
              </a:rPr>
              <a:t>)</a:t>
            </a:r>
            <a:endParaRPr sz="1850" dirty="0">
              <a:latin typeface="Times New Roman"/>
              <a:cs typeface="Times New Roman"/>
            </a:endParaRPr>
          </a:p>
        </p:txBody>
      </p:sp>
      <p:sp>
        <p:nvSpPr>
          <p:cNvPr id="9" name="object 9"/>
          <p:cNvSpPr/>
          <p:nvPr/>
        </p:nvSpPr>
        <p:spPr>
          <a:xfrm>
            <a:off x="2613100" y="4013623"/>
            <a:ext cx="657860" cy="0"/>
          </a:xfrm>
          <a:custGeom>
            <a:avLst/>
            <a:gdLst/>
            <a:ahLst/>
            <a:cxnLst/>
            <a:rect l="l" t="t" r="r" b="b"/>
            <a:pathLst>
              <a:path w="657860">
                <a:moveTo>
                  <a:pt x="0" y="0"/>
                </a:moveTo>
                <a:lnTo>
                  <a:pt x="657762" y="0"/>
                </a:lnTo>
              </a:path>
            </a:pathLst>
          </a:custGeom>
          <a:ln w="10456">
            <a:solidFill>
              <a:srgbClr val="000000"/>
            </a:solidFill>
          </a:ln>
        </p:spPr>
        <p:txBody>
          <a:bodyPr wrap="square" lIns="0" tIns="0" rIns="0" bIns="0" rtlCol="0"/>
          <a:lstStyle/>
          <a:p>
            <a:endParaRPr/>
          </a:p>
        </p:txBody>
      </p:sp>
      <p:sp>
        <p:nvSpPr>
          <p:cNvPr id="10" name="object 10"/>
          <p:cNvSpPr txBox="1"/>
          <p:nvPr/>
        </p:nvSpPr>
        <p:spPr>
          <a:xfrm>
            <a:off x="1897509" y="3714906"/>
            <a:ext cx="223520" cy="175895"/>
          </a:xfrm>
          <a:prstGeom prst="rect">
            <a:avLst/>
          </a:prstGeom>
        </p:spPr>
        <p:txBody>
          <a:bodyPr vert="horz" wrap="square" lIns="0" tIns="17145" rIns="0" bIns="0" rtlCol="0">
            <a:spAutoFit/>
          </a:bodyPr>
          <a:lstStyle/>
          <a:p>
            <a:pPr marL="12700">
              <a:lnSpc>
                <a:spcPct val="100000"/>
              </a:lnSpc>
              <a:spcBef>
                <a:spcPts val="135"/>
              </a:spcBef>
            </a:pPr>
            <a:r>
              <a:rPr sz="950" i="1" spc="-25" dirty="0">
                <a:latin typeface="Times New Roman"/>
                <a:cs typeface="Times New Roman"/>
              </a:rPr>
              <a:t>n</a:t>
            </a:r>
            <a:r>
              <a:rPr sz="950" spc="-25" dirty="0">
                <a:latin typeface="Symbol"/>
                <a:cs typeface="Symbol"/>
              </a:rPr>
              <a:t></a:t>
            </a:r>
            <a:r>
              <a:rPr sz="950" spc="-25" dirty="0">
                <a:latin typeface="Times New Roman"/>
                <a:cs typeface="Times New Roman"/>
              </a:rPr>
              <a:t>1</a:t>
            </a:r>
            <a:endParaRPr sz="950">
              <a:latin typeface="Times New Roman"/>
              <a:cs typeface="Times New Roman"/>
            </a:endParaRPr>
          </a:p>
        </p:txBody>
      </p:sp>
      <p:sp>
        <p:nvSpPr>
          <p:cNvPr id="11" name="object 11"/>
          <p:cNvSpPr txBox="1"/>
          <p:nvPr/>
        </p:nvSpPr>
        <p:spPr>
          <a:xfrm>
            <a:off x="1908634" y="4140794"/>
            <a:ext cx="197485" cy="175895"/>
          </a:xfrm>
          <a:prstGeom prst="rect">
            <a:avLst/>
          </a:prstGeom>
        </p:spPr>
        <p:txBody>
          <a:bodyPr vert="horz" wrap="square" lIns="0" tIns="17145" rIns="0" bIns="0" rtlCol="0">
            <a:spAutoFit/>
          </a:bodyPr>
          <a:lstStyle/>
          <a:p>
            <a:pPr marL="12700">
              <a:lnSpc>
                <a:spcPct val="100000"/>
              </a:lnSpc>
              <a:spcBef>
                <a:spcPts val="135"/>
              </a:spcBef>
            </a:pPr>
            <a:r>
              <a:rPr sz="950" i="1" spc="-25" dirty="0">
                <a:latin typeface="Times New Roman"/>
                <a:cs typeface="Times New Roman"/>
              </a:rPr>
              <a:t>i</a:t>
            </a:r>
            <a:r>
              <a:rPr sz="950" spc="-25" dirty="0">
                <a:latin typeface="Symbol"/>
                <a:cs typeface="Symbol"/>
              </a:rPr>
              <a:t></a:t>
            </a:r>
            <a:r>
              <a:rPr sz="950" spc="-25" dirty="0">
                <a:latin typeface="Times New Roman"/>
                <a:cs typeface="Times New Roman"/>
              </a:rPr>
              <a:t>1</a:t>
            </a:r>
            <a:endParaRPr sz="950">
              <a:latin typeface="Times New Roman"/>
              <a:cs typeface="Times New Roman"/>
            </a:endParaRPr>
          </a:p>
        </p:txBody>
      </p:sp>
      <p:sp>
        <p:nvSpPr>
          <p:cNvPr id="12" name="object 12"/>
          <p:cNvSpPr txBox="1"/>
          <p:nvPr/>
        </p:nvSpPr>
        <p:spPr>
          <a:xfrm>
            <a:off x="2614186" y="3701934"/>
            <a:ext cx="661670" cy="285750"/>
          </a:xfrm>
          <a:prstGeom prst="rect">
            <a:avLst/>
          </a:prstGeom>
        </p:spPr>
        <p:txBody>
          <a:bodyPr vert="horz" wrap="square" lIns="0" tIns="13335" rIns="0" bIns="0" rtlCol="0">
            <a:spAutoFit/>
          </a:bodyPr>
          <a:lstStyle/>
          <a:p>
            <a:pPr marL="12700">
              <a:lnSpc>
                <a:spcPct val="100000"/>
              </a:lnSpc>
              <a:spcBef>
                <a:spcPts val="105"/>
              </a:spcBef>
            </a:pPr>
            <a:r>
              <a:rPr sz="1700" i="1" dirty="0">
                <a:latin typeface="Times New Roman"/>
                <a:cs typeface="Times New Roman"/>
              </a:rPr>
              <a:t>n</a:t>
            </a:r>
            <a:r>
              <a:rPr sz="1700" dirty="0">
                <a:latin typeface="Times New Roman"/>
                <a:cs typeface="Times New Roman"/>
              </a:rPr>
              <a:t>(</a:t>
            </a:r>
            <a:r>
              <a:rPr sz="1700" i="1" dirty="0">
                <a:latin typeface="Times New Roman"/>
                <a:cs typeface="Times New Roman"/>
              </a:rPr>
              <a:t>n</a:t>
            </a:r>
            <a:r>
              <a:rPr sz="1700" i="1" spc="-50" dirty="0">
                <a:latin typeface="Times New Roman"/>
                <a:cs typeface="Times New Roman"/>
              </a:rPr>
              <a:t> </a:t>
            </a:r>
            <a:r>
              <a:rPr sz="1700" spc="-25" dirty="0">
                <a:latin typeface="Symbol"/>
                <a:cs typeface="Symbol"/>
              </a:rPr>
              <a:t></a:t>
            </a:r>
            <a:r>
              <a:rPr sz="1700" spc="-25" dirty="0">
                <a:latin typeface="Times New Roman"/>
                <a:cs typeface="Times New Roman"/>
              </a:rPr>
              <a:t>1)</a:t>
            </a:r>
            <a:endParaRPr sz="1700" dirty="0">
              <a:latin typeface="Times New Roman"/>
              <a:cs typeface="Times New Roman"/>
            </a:endParaRPr>
          </a:p>
        </p:txBody>
      </p:sp>
      <p:sp>
        <p:nvSpPr>
          <p:cNvPr id="13" name="object 13"/>
          <p:cNvSpPr txBox="1"/>
          <p:nvPr/>
        </p:nvSpPr>
        <p:spPr>
          <a:xfrm>
            <a:off x="1848523" y="3735735"/>
            <a:ext cx="981710" cy="415290"/>
          </a:xfrm>
          <a:prstGeom prst="rect">
            <a:avLst/>
          </a:prstGeom>
        </p:spPr>
        <p:txBody>
          <a:bodyPr vert="horz" wrap="square" lIns="0" tIns="13335" rIns="0" bIns="0" rtlCol="0">
            <a:spAutoFit/>
          </a:bodyPr>
          <a:lstStyle/>
          <a:p>
            <a:pPr marL="38100">
              <a:lnSpc>
                <a:spcPct val="100000"/>
              </a:lnSpc>
              <a:spcBef>
                <a:spcPts val="105"/>
              </a:spcBef>
            </a:pPr>
            <a:r>
              <a:rPr sz="3825" spc="104" baseline="-8714" dirty="0">
                <a:latin typeface="Symbol"/>
                <a:cs typeface="Symbol"/>
              </a:rPr>
              <a:t></a:t>
            </a:r>
            <a:r>
              <a:rPr lang="en-US" sz="3825" spc="104" baseline="-8714" dirty="0">
                <a:latin typeface="Symbol"/>
                <a:cs typeface="Symbol"/>
              </a:rPr>
              <a:t> </a:t>
            </a:r>
            <a:r>
              <a:rPr sz="1700" i="1" spc="70" dirty="0" err="1">
                <a:latin typeface="Times New Roman"/>
                <a:cs typeface="Times New Roman"/>
              </a:rPr>
              <a:t>i</a:t>
            </a:r>
            <a:r>
              <a:rPr sz="1700" i="1" spc="-105" dirty="0">
                <a:latin typeface="Times New Roman"/>
                <a:cs typeface="Times New Roman"/>
              </a:rPr>
              <a:t> </a:t>
            </a:r>
            <a:r>
              <a:rPr sz="1700" spc="-50" dirty="0">
                <a:latin typeface="Symbol"/>
                <a:cs typeface="Symbol"/>
              </a:rPr>
              <a:t></a:t>
            </a:r>
            <a:endParaRPr sz="1700" dirty="0">
              <a:latin typeface="Symbol"/>
              <a:cs typeface="Symbol"/>
            </a:endParaRPr>
          </a:p>
        </p:txBody>
      </p:sp>
      <p:sp>
        <p:nvSpPr>
          <p:cNvPr id="14" name="object 14"/>
          <p:cNvSpPr txBox="1"/>
          <p:nvPr/>
        </p:nvSpPr>
        <p:spPr>
          <a:xfrm>
            <a:off x="2878096" y="4007816"/>
            <a:ext cx="136525" cy="285750"/>
          </a:xfrm>
          <a:prstGeom prst="rect">
            <a:avLst/>
          </a:prstGeom>
        </p:spPr>
        <p:txBody>
          <a:bodyPr vert="horz" wrap="square" lIns="0" tIns="13335" rIns="0" bIns="0" rtlCol="0">
            <a:spAutoFit/>
          </a:bodyPr>
          <a:lstStyle/>
          <a:p>
            <a:pPr marL="12700">
              <a:lnSpc>
                <a:spcPct val="100000"/>
              </a:lnSpc>
              <a:spcBef>
                <a:spcPts val="105"/>
              </a:spcBef>
            </a:pPr>
            <a:r>
              <a:rPr sz="1700" spc="20" dirty="0">
                <a:latin typeface="Times New Roman"/>
                <a:cs typeface="Times New Roman"/>
              </a:rPr>
              <a:t>2</a:t>
            </a:r>
            <a:endParaRPr sz="1700">
              <a:latin typeface="Times New Roman"/>
              <a:cs typeface="Times New Roman"/>
            </a:endParaRPr>
          </a:p>
        </p:txBody>
      </p:sp>
      <p:sp>
        <p:nvSpPr>
          <p:cNvPr id="16" name="object 16"/>
          <p:cNvSpPr txBox="1"/>
          <p:nvPr/>
        </p:nvSpPr>
        <p:spPr>
          <a:xfrm>
            <a:off x="4181276" y="3716508"/>
            <a:ext cx="243840" cy="191135"/>
          </a:xfrm>
          <a:prstGeom prst="rect">
            <a:avLst/>
          </a:prstGeom>
        </p:spPr>
        <p:txBody>
          <a:bodyPr vert="horz" wrap="square" lIns="0" tIns="16510" rIns="0" bIns="0" rtlCol="0">
            <a:spAutoFit/>
          </a:bodyPr>
          <a:lstStyle/>
          <a:p>
            <a:pPr marL="12700">
              <a:lnSpc>
                <a:spcPct val="100000"/>
              </a:lnSpc>
              <a:spcBef>
                <a:spcPts val="130"/>
              </a:spcBef>
            </a:pPr>
            <a:r>
              <a:rPr sz="1050" i="1" spc="-25" dirty="0">
                <a:latin typeface="Times New Roman"/>
                <a:cs typeface="Times New Roman"/>
              </a:rPr>
              <a:t>n</a:t>
            </a:r>
            <a:r>
              <a:rPr sz="1050" spc="-25" dirty="0">
                <a:latin typeface="Symbol"/>
                <a:cs typeface="Symbol"/>
              </a:rPr>
              <a:t></a:t>
            </a:r>
            <a:r>
              <a:rPr sz="1050" spc="-25" dirty="0">
                <a:latin typeface="Times New Roman"/>
                <a:cs typeface="Times New Roman"/>
              </a:rPr>
              <a:t>1</a:t>
            </a:r>
            <a:endParaRPr sz="1050">
              <a:latin typeface="Times New Roman"/>
              <a:cs typeface="Times New Roman"/>
            </a:endParaRPr>
          </a:p>
        </p:txBody>
      </p:sp>
      <p:sp>
        <p:nvSpPr>
          <p:cNvPr id="17" name="object 17"/>
          <p:cNvSpPr txBox="1"/>
          <p:nvPr/>
        </p:nvSpPr>
        <p:spPr>
          <a:xfrm>
            <a:off x="4193985" y="4184822"/>
            <a:ext cx="214629" cy="191135"/>
          </a:xfrm>
          <a:prstGeom prst="rect">
            <a:avLst/>
          </a:prstGeom>
        </p:spPr>
        <p:txBody>
          <a:bodyPr vert="horz" wrap="square" lIns="0" tIns="16510" rIns="0" bIns="0" rtlCol="0">
            <a:spAutoFit/>
          </a:bodyPr>
          <a:lstStyle/>
          <a:p>
            <a:pPr marL="12700">
              <a:lnSpc>
                <a:spcPct val="100000"/>
              </a:lnSpc>
              <a:spcBef>
                <a:spcPts val="130"/>
              </a:spcBef>
            </a:pPr>
            <a:r>
              <a:rPr sz="1050" i="1" spc="-25" dirty="0">
                <a:latin typeface="Times New Roman"/>
                <a:cs typeface="Times New Roman"/>
              </a:rPr>
              <a:t>i</a:t>
            </a:r>
            <a:r>
              <a:rPr sz="1050" spc="-25" dirty="0">
                <a:latin typeface="Symbol"/>
                <a:cs typeface="Symbol"/>
              </a:rPr>
              <a:t></a:t>
            </a:r>
            <a:r>
              <a:rPr sz="1050" spc="-25" dirty="0">
                <a:latin typeface="Times New Roman"/>
                <a:cs typeface="Times New Roman"/>
              </a:rPr>
              <a:t>1</a:t>
            </a:r>
            <a:endParaRPr sz="1050">
              <a:latin typeface="Times New Roman"/>
              <a:cs typeface="Times New Roman"/>
            </a:endParaRPr>
          </a:p>
        </p:txBody>
      </p:sp>
      <p:sp>
        <p:nvSpPr>
          <p:cNvPr id="19" name="object 19"/>
          <p:cNvSpPr txBox="1"/>
          <p:nvPr/>
        </p:nvSpPr>
        <p:spPr>
          <a:xfrm>
            <a:off x="4130456" y="3739436"/>
            <a:ext cx="1215540" cy="444994"/>
          </a:xfrm>
          <a:prstGeom prst="rect">
            <a:avLst/>
          </a:prstGeom>
        </p:spPr>
        <p:txBody>
          <a:bodyPr vert="horz" wrap="square" lIns="0" tIns="13970" rIns="0" bIns="0" rtlCol="0">
            <a:spAutoFit/>
          </a:bodyPr>
          <a:lstStyle/>
          <a:p>
            <a:pPr marL="38100">
              <a:lnSpc>
                <a:spcPct val="100000"/>
              </a:lnSpc>
              <a:spcBef>
                <a:spcPts val="110"/>
              </a:spcBef>
            </a:pPr>
            <a:r>
              <a:rPr sz="4200" spc="172" baseline="-8928" dirty="0">
                <a:latin typeface="Symbol"/>
                <a:cs typeface="Symbol"/>
              </a:rPr>
              <a:t></a:t>
            </a:r>
            <a:r>
              <a:rPr lang="en-US" altLang="zh-CN" sz="2000" dirty="0">
                <a:latin typeface="Times New Roman"/>
                <a:cs typeface="Times New Roman"/>
              </a:rPr>
              <a:t> (</a:t>
            </a:r>
            <a:r>
              <a:rPr lang="en-US" altLang="zh-CN" sz="2000" i="1" spc="114" dirty="0">
                <a:latin typeface="Times New Roman"/>
                <a:cs typeface="Times New Roman"/>
              </a:rPr>
              <a:t>i-</a:t>
            </a:r>
            <a:r>
              <a:rPr lang="en-US" altLang="zh-CN" sz="2000" spc="114" dirty="0">
                <a:latin typeface="Times New Roman"/>
                <a:cs typeface="Times New Roman"/>
              </a:rPr>
              <a:t>1</a:t>
            </a:r>
            <a:r>
              <a:rPr lang="en-US" altLang="zh-CN" sz="2000" spc="-10" dirty="0">
                <a:latin typeface="Times New Roman"/>
                <a:cs typeface="Times New Roman"/>
              </a:rPr>
              <a:t>)</a:t>
            </a:r>
            <a:r>
              <a:rPr sz="1850" i="1" spc="10" dirty="0">
                <a:latin typeface="Times New Roman"/>
                <a:cs typeface="Times New Roman"/>
              </a:rPr>
              <a:t> </a:t>
            </a:r>
            <a:r>
              <a:rPr sz="1850" spc="-50" dirty="0">
                <a:latin typeface="Symbol"/>
                <a:cs typeface="Symbol"/>
              </a:rPr>
              <a:t></a:t>
            </a:r>
            <a:endParaRPr sz="1850" dirty="0">
              <a:latin typeface="Symbol"/>
              <a:cs typeface="Symbol"/>
            </a:endParaRPr>
          </a:p>
        </p:txBody>
      </p:sp>
      <p:sp>
        <p:nvSpPr>
          <p:cNvPr id="27" name="object 27"/>
          <p:cNvSpPr txBox="1"/>
          <p:nvPr/>
        </p:nvSpPr>
        <p:spPr>
          <a:xfrm>
            <a:off x="2026958" y="5526624"/>
            <a:ext cx="803275" cy="303530"/>
          </a:xfrm>
          <a:prstGeom prst="rect">
            <a:avLst/>
          </a:prstGeom>
        </p:spPr>
        <p:txBody>
          <a:bodyPr vert="horz" wrap="square" lIns="0" tIns="15240" rIns="0" bIns="0" rtlCol="0">
            <a:spAutoFit/>
          </a:bodyPr>
          <a:lstStyle/>
          <a:p>
            <a:pPr marL="38100">
              <a:lnSpc>
                <a:spcPct val="100000"/>
              </a:lnSpc>
              <a:spcBef>
                <a:spcPts val="120"/>
              </a:spcBef>
            </a:pPr>
            <a:r>
              <a:rPr sz="1800" dirty="0">
                <a:latin typeface="Symbol"/>
                <a:cs typeface="Symbol"/>
              </a:rPr>
              <a:t></a:t>
            </a:r>
            <a:r>
              <a:rPr sz="1800" spc="45" dirty="0">
                <a:latin typeface="Times New Roman"/>
                <a:cs typeface="Times New Roman"/>
              </a:rPr>
              <a:t> </a:t>
            </a:r>
            <a:r>
              <a:rPr sz="1800" i="1" dirty="0">
                <a:latin typeface="Times New Roman"/>
                <a:cs typeface="Times New Roman"/>
              </a:rPr>
              <a:t>O</a:t>
            </a:r>
            <a:r>
              <a:rPr sz="1800" dirty="0">
                <a:latin typeface="Times New Roman"/>
                <a:cs typeface="Times New Roman"/>
              </a:rPr>
              <a:t>(</a:t>
            </a:r>
            <a:r>
              <a:rPr sz="1800" i="1" dirty="0">
                <a:latin typeface="Times New Roman"/>
                <a:cs typeface="Times New Roman"/>
              </a:rPr>
              <a:t>n</a:t>
            </a:r>
            <a:r>
              <a:rPr sz="1575" baseline="42328" dirty="0">
                <a:latin typeface="Times New Roman"/>
                <a:cs typeface="Times New Roman"/>
              </a:rPr>
              <a:t>2</a:t>
            </a:r>
            <a:r>
              <a:rPr sz="1575" spc="15" baseline="42328" dirty="0">
                <a:latin typeface="Times New Roman"/>
                <a:cs typeface="Times New Roman"/>
              </a:rPr>
              <a:t> </a:t>
            </a:r>
            <a:r>
              <a:rPr sz="1800" spc="-50" dirty="0">
                <a:latin typeface="Times New Roman"/>
                <a:cs typeface="Times New Roman"/>
              </a:rPr>
              <a:t>)</a:t>
            </a:r>
            <a:endParaRPr sz="1800" dirty="0">
              <a:latin typeface="Times New Roman"/>
              <a:cs typeface="Times New Roman"/>
            </a:endParaRPr>
          </a:p>
        </p:txBody>
      </p:sp>
      <p:sp>
        <p:nvSpPr>
          <p:cNvPr id="33" name="object 33"/>
          <p:cNvSpPr txBox="1"/>
          <p:nvPr/>
        </p:nvSpPr>
        <p:spPr>
          <a:xfrm>
            <a:off x="1893690" y="4389653"/>
            <a:ext cx="5603240" cy="389850"/>
          </a:xfrm>
          <a:prstGeom prst="rect">
            <a:avLst/>
          </a:prstGeom>
        </p:spPr>
        <p:txBody>
          <a:bodyPr vert="horz" wrap="square" lIns="0" tIns="111760" rIns="0" bIns="0" rtlCol="0">
            <a:spAutoFit/>
          </a:bodyPr>
          <a:lstStyle/>
          <a:p>
            <a:pPr marL="50800">
              <a:lnSpc>
                <a:spcPct val="100000"/>
              </a:lnSpc>
              <a:spcBef>
                <a:spcPts val="880"/>
              </a:spcBef>
            </a:pPr>
            <a:r>
              <a:rPr sz="1800" i="1" spc="-25" dirty="0">
                <a:latin typeface="Times New Roman"/>
                <a:cs typeface="Times New Roman"/>
              </a:rPr>
              <a:t>T</a:t>
            </a:r>
            <a:r>
              <a:rPr sz="1575" spc="-37" baseline="-23809" dirty="0">
                <a:latin typeface="Times New Roman"/>
                <a:cs typeface="Times New Roman"/>
              </a:rPr>
              <a:t>max</a:t>
            </a:r>
            <a:r>
              <a:rPr sz="1575" spc="22" baseline="-23809"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dirty="0">
                <a:latin typeface="Times New Roman"/>
                <a:cs typeface="Times New Roman"/>
              </a:rPr>
              <a:t>)</a:t>
            </a:r>
            <a:r>
              <a:rPr sz="1800" spc="-25" dirty="0">
                <a:latin typeface="Times New Roman"/>
                <a:cs typeface="Times New Roman"/>
              </a:rPr>
              <a:t> </a:t>
            </a:r>
            <a:r>
              <a:rPr lang="en-US" sz="1800" dirty="0">
                <a:latin typeface="Symbol"/>
                <a:cs typeface="Symbol"/>
              </a:rPr>
              <a:t>=</a:t>
            </a:r>
            <a:r>
              <a:rPr sz="1800" spc="-25" dirty="0">
                <a:latin typeface="Times New Roman"/>
                <a:cs typeface="Times New Roman"/>
              </a:rPr>
              <a:t> </a:t>
            </a:r>
            <a:r>
              <a:rPr sz="1800" i="1" spc="-45" dirty="0">
                <a:latin typeface="Times New Roman"/>
                <a:cs typeface="Times New Roman"/>
              </a:rPr>
              <a:t>c</a:t>
            </a:r>
            <a:r>
              <a:rPr sz="1575" spc="-67" baseline="-23809" dirty="0">
                <a:latin typeface="Times New Roman"/>
                <a:cs typeface="Times New Roman"/>
              </a:rPr>
              <a:t>1</a:t>
            </a:r>
            <a:r>
              <a:rPr sz="1800" i="1" spc="-45" dirty="0">
                <a:latin typeface="Times New Roman"/>
                <a:cs typeface="Times New Roman"/>
              </a:rPr>
              <a:t>n</a:t>
            </a:r>
            <a:r>
              <a:rPr sz="1800" i="1" spc="-114" dirty="0">
                <a:latin typeface="Times New Roman"/>
                <a:cs typeface="Times New Roman"/>
              </a:rPr>
              <a:t> </a:t>
            </a:r>
            <a:r>
              <a:rPr sz="1800" dirty="0">
                <a:latin typeface="Symbol"/>
                <a:cs typeface="Symbol"/>
              </a:rPr>
              <a:t></a:t>
            </a:r>
            <a:r>
              <a:rPr sz="1800" spc="-120" dirty="0">
                <a:latin typeface="Times New Roman"/>
                <a:cs typeface="Times New Roman"/>
              </a:rPr>
              <a:t> </a:t>
            </a:r>
            <a:r>
              <a:rPr sz="1800" i="1" spc="-10" dirty="0">
                <a:latin typeface="Times New Roman"/>
                <a:cs typeface="Times New Roman"/>
              </a:rPr>
              <a:t>c</a:t>
            </a:r>
            <a:r>
              <a:rPr sz="1575" spc="-15" baseline="-23809" dirty="0">
                <a:latin typeface="Times New Roman"/>
                <a:cs typeface="Times New Roman"/>
              </a:rPr>
              <a:t>2</a:t>
            </a:r>
            <a:r>
              <a:rPr sz="1575" spc="-75" baseline="-23809"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i="1" spc="-110" dirty="0">
                <a:latin typeface="Times New Roman"/>
                <a:cs typeface="Times New Roman"/>
              </a:rPr>
              <a:t> </a:t>
            </a:r>
            <a:r>
              <a:rPr sz="1800" spc="-10" dirty="0">
                <a:latin typeface="Symbol"/>
                <a:cs typeface="Symbol"/>
              </a:rPr>
              <a:t></a:t>
            </a:r>
            <a:r>
              <a:rPr sz="1800" spc="-10" dirty="0">
                <a:latin typeface="Times New Roman"/>
                <a:cs typeface="Times New Roman"/>
              </a:rPr>
              <a:t>1)</a:t>
            </a:r>
            <a:r>
              <a:rPr sz="1800" spc="-114" dirty="0">
                <a:latin typeface="Times New Roman"/>
                <a:cs typeface="Times New Roman"/>
              </a:rPr>
              <a:t> </a:t>
            </a:r>
            <a:r>
              <a:rPr sz="1800" dirty="0">
                <a:latin typeface="Symbol"/>
                <a:cs typeface="Symbol"/>
              </a:rPr>
              <a:t></a:t>
            </a:r>
            <a:r>
              <a:rPr sz="1800" spc="-120" dirty="0">
                <a:latin typeface="Times New Roman"/>
                <a:cs typeface="Times New Roman"/>
              </a:rPr>
              <a:t> </a:t>
            </a:r>
            <a:r>
              <a:rPr sz="1800" i="1" spc="-30" dirty="0">
                <a:latin typeface="Times New Roman"/>
                <a:cs typeface="Times New Roman"/>
              </a:rPr>
              <a:t>c</a:t>
            </a:r>
            <a:r>
              <a:rPr sz="1575" spc="-44" baseline="-23809" dirty="0">
                <a:latin typeface="Times New Roman"/>
                <a:cs typeface="Times New Roman"/>
              </a:rPr>
              <a:t>3</a:t>
            </a:r>
            <a:r>
              <a:rPr sz="1575" spc="-127" baseline="-23809" dirty="0">
                <a:latin typeface="Times New Roman"/>
                <a:cs typeface="Times New Roman"/>
              </a:rPr>
              <a:t> </a:t>
            </a:r>
            <a:r>
              <a:rPr sz="1800" dirty="0">
                <a:latin typeface="Times New Roman"/>
                <a:cs typeface="Times New Roman"/>
              </a:rPr>
              <a:t>(</a:t>
            </a:r>
            <a:r>
              <a:rPr sz="1800" i="1" dirty="0">
                <a:latin typeface="Times New Roman"/>
                <a:cs typeface="Times New Roman"/>
              </a:rPr>
              <a:t>n</a:t>
            </a:r>
            <a:r>
              <a:rPr sz="1800" i="1" spc="-110" dirty="0">
                <a:latin typeface="Times New Roman"/>
                <a:cs typeface="Times New Roman"/>
              </a:rPr>
              <a:t> </a:t>
            </a:r>
            <a:r>
              <a:rPr sz="1800" spc="-10" dirty="0">
                <a:latin typeface="Symbol"/>
                <a:cs typeface="Symbol"/>
              </a:rPr>
              <a:t></a:t>
            </a:r>
            <a:r>
              <a:rPr sz="1800" spc="-10" dirty="0">
                <a:latin typeface="Times New Roman"/>
                <a:cs typeface="Times New Roman"/>
              </a:rPr>
              <a:t>1)</a:t>
            </a:r>
            <a:r>
              <a:rPr sz="1800" spc="-110" dirty="0">
                <a:latin typeface="Times New Roman"/>
                <a:cs typeface="Times New Roman"/>
              </a:rPr>
              <a:t> </a:t>
            </a:r>
            <a:r>
              <a:rPr sz="1800" spc="-50" dirty="0">
                <a:latin typeface="Symbol"/>
                <a:cs typeface="Symbol"/>
              </a:rPr>
              <a:t></a:t>
            </a:r>
            <a:r>
              <a:rPr lang="pt-BR" altLang="zh-CN" sz="1800" i="1" dirty="0">
                <a:latin typeface="Times New Roman"/>
                <a:cs typeface="Times New Roman"/>
              </a:rPr>
              <a:t> c</a:t>
            </a:r>
            <a:r>
              <a:rPr lang="pt-BR" altLang="zh-CN" sz="1800" baseline="-25252" dirty="0">
                <a:latin typeface="Times New Roman"/>
                <a:cs typeface="Times New Roman"/>
              </a:rPr>
              <a:t>4</a:t>
            </a:r>
            <a:r>
              <a:rPr lang="pt-BR" altLang="zh-CN" sz="1800" spc="-127" baseline="-25252" dirty="0">
                <a:latin typeface="Times New Roman"/>
                <a:cs typeface="Times New Roman"/>
              </a:rPr>
              <a:t> </a:t>
            </a:r>
            <a:r>
              <a:rPr lang="pt-BR" altLang="zh-CN" sz="1800" dirty="0">
                <a:latin typeface="Times New Roman"/>
                <a:cs typeface="Times New Roman"/>
              </a:rPr>
              <a:t> </a:t>
            </a:r>
            <a:endParaRPr sz="1800" dirty="0">
              <a:latin typeface="Symbol"/>
              <a:cs typeface="Symbol"/>
            </a:endParaRPr>
          </a:p>
        </p:txBody>
      </p:sp>
      <p:sp>
        <p:nvSpPr>
          <p:cNvPr id="44" name="object 44"/>
          <p:cNvSpPr txBox="1"/>
          <p:nvPr/>
        </p:nvSpPr>
        <p:spPr>
          <a:xfrm>
            <a:off x="6038850" y="1383030"/>
            <a:ext cx="1738675" cy="493725"/>
          </a:xfrm>
          <a:prstGeom prst="rect">
            <a:avLst/>
          </a:prstGeom>
          <a:ln w="28955">
            <a:solidFill>
              <a:srgbClr val="946E00"/>
            </a:solidFill>
          </a:ln>
        </p:spPr>
        <p:txBody>
          <a:bodyPr vert="horz" wrap="square" lIns="0" tIns="31750" rIns="0" bIns="0" rtlCol="0">
            <a:spAutoFit/>
          </a:bodyPr>
          <a:lstStyle/>
          <a:p>
            <a:pPr marL="91440">
              <a:lnSpc>
                <a:spcPct val="100000"/>
              </a:lnSpc>
              <a:spcBef>
                <a:spcPts val="250"/>
              </a:spcBef>
            </a:pPr>
            <a:r>
              <a:rPr sz="3000" spc="-20" dirty="0">
                <a:solidFill>
                  <a:srgbClr val="000066"/>
                </a:solidFill>
                <a:latin typeface="微软雅黑"/>
                <a:cs typeface="微软雅黑"/>
              </a:rPr>
              <a:t>已排好序</a:t>
            </a:r>
            <a:endParaRPr sz="3000">
              <a:latin typeface="微软雅黑"/>
              <a:cs typeface="微软雅黑"/>
            </a:endParaRPr>
          </a:p>
        </p:txBody>
      </p:sp>
      <p:sp>
        <p:nvSpPr>
          <p:cNvPr id="45" name="object 45"/>
          <p:cNvSpPr txBox="1"/>
          <p:nvPr/>
        </p:nvSpPr>
        <p:spPr>
          <a:xfrm>
            <a:off x="6038850" y="3159251"/>
            <a:ext cx="1772454" cy="493725"/>
          </a:xfrm>
          <a:prstGeom prst="rect">
            <a:avLst/>
          </a:prstGeom>
          <a:ln w="28955">
            <a:solidFill>
              <a:srgbClr val="946E00"/>
            </a:solidFill>
          </a:ln>
        </p:spPr>
        <p:txBody>
          <a:bodyPr vert="horz" wrap="square" lIns="0" tIns="31750" rIns="0" bIns="0" rtlCol="0">
            <a:spAutoFit/>
          </a:bodyPr>
          <a:lstStyle/>
          <a:p>
            <a:pPr marL="91440">
              <a:lnSpc>
                <a:spcPct val="100000"/>
              </a:lnSpc>
              <a:spcBef>
                <a:spcPts val="250"/>
              </a:spcBef>
            </a:pPr>
            <a:r>
              <a:rPr sz="3000" spc="-25" dirty="0">
                <a:solidFill>
                  <a:srgbClr val="000066"/>
                </a:solidFill>
                <a:latin typeface="微软雅黑"/>
                <a:cs typeface="微软雅黑"/>
              </a:rPr>
              <a:t>倒序</a:t>
            </a:r>
            <a:endParaRPr sz="3000">
              <a:latin typeface="微软雅黑"/>
              <a:cs typeface="微软雅黑"/>
            </a:endParaRPr>
          </a:p>
        </p:txBody>
      </p:sp>
      <p:pic>
        <p:nvPicPr>
          <p:cNvPr id="46" name="图片 45"/>
          <p:cNvPicPr>
            <a:picLocks noChangeAspect="1"/>
          </p:cNvPicPr>
          <p:nvPr/>
        </p:nvPicPr>
        <p:blipFill>
          <a:blip r:embed="rId2"/>
          <a:stretch>
            <a:fillRect/>
          </a:stretch>
        </p:blipFill>
        <p:spPr>
          <a:xfrm>
            <a:off x="911221" y="453402"/>
            <a:ext cx="7057593" cy="691000"/>
          </a:xfrm>
          <a:prstGeom prst="rect">
            <a:avLst/>
          </a:prstGeom>
        </p:spPr>
      </p:pic>
      <p:sp>
        <p:nvSpPr>
          <p:cNvPr id="47" name="object 9"/>
          <p:cNvSpPr/>
          <p:nvPr/>
        </p:nvSpPr>
        <p:spPr>
          <a:xfrm>
            <a:off x="5330045" y="4013622"/>
            <a:ext cx="1073617" cy="45719"/>
          </a:xfrm>
          <a:custGeom>
            <a:avLst/>
            <a:gdLst/>
            <a:ahLst/>
            <a:cxnLst/>
            <a:rect l="l" t="t" r="r" b="b"/>
            <a:pathLst>
              <a:path w="657860">
                <a:moveTo>
                  <a:pt x="0" y="0"/>
                </a:moveTo>
                <a:lnTo>
                  <a:pt x="657762" y="0"/>
                </a:lnTo>
              </a:path>
            </a:pathLst>
          </a:custGeom>
          <a:ln w="10456">
            <a:solidFill>
              <a:srgbClr val="000000"/>
            </a:solidFill>
          </a:ln>
        </p:spPr>
        <p:txBody>
          <a:bodyPr wrap="square" lIns="0" tIns="0" rIns="0" bIns="0" rtlCol="0"/>
          <a:lstStyle/>
          <a:p>
            <a:endParaRPr/>
          </a:p>
        </p:txBody>
      </p:sp>
      <p:sp>
        <p:nvSpPr>
          <p:cNvPr id="48" name="object 12"/>
          <p:cNvSpPr txBox="1"/>
          <p:nvPr/>
        </p:nvSpPr>
        <p:spPr>
          <a:xfrm>
            <a:off x="5331131" y="3729989"/>
            <a:ext cx="1315087" cy="275075"/>
          </a:xfrm>
          <a:prstGeom prst="rect">
            <a:avLst/>
          </a:prstGeom>
        </p:spPr>
        <p:txBody>
          <a:bodyPr vert="horz" wrap="square" lIns="0" tIns="13335" rIns="0" bIns="0" rtlCol="0">
            <a:spAutoFit/>
          </a:bodyPr>
          <a:lstStyle/>
          <a:p>
            <a:pPr marL="12700">
              <a:lnSpc>
                <a:spcPct val="100000"/>
              </a:lnSpc>
              <a:spcBef>
                <a:spcPts val="105"/>
              </a:spcBef>
            </a:pPr>
            <a:r>
              <a:rPr sz="1700" dirty="0">
                <a:latin typeface="Times New Roman"/>
                <a:cs typeface="Times New Roman"/>
              </a:rPr>
              <a:t>(</a:t>
            </a:r>
            <a:r>
              <a:rPr sz="1700" i="1" dirty="0">
                <a:latin typeface="Times New Roman"/>
                <a:cs typeface="Times New Roman"/>
              </a:rPr>
              <a:t>n</a:t>
            </a:r>
            <a:r>
              <a:rPr sz="1700" i="1" spc="-50" dirty="0">
                <a:latin typeface="Times New Roman"/>
                <a:cs typeface="Times New Roman"/>
              </a:rPr>
              <a:t> </a:t>
            </a:r>
            <a:r>
              <a:rPr sz="1700" spc="-25" dirty="0">
                <a:latin typeface="Symbol"/>
                <a:cs typeface="Symbol"/>
              </a:rPr>
              <a:t></a:t>
            </a:r>
            <a:r>
              <a:rPr sz="1700" spc="-25" dirty="0">
                <a:latin typeface="Times New Roman"/>
                <a:cs typeface="Times New Roman"/>
              </a:rPr>
              <a:t>1)</a:t>
            </a:r>
            <a:r>
              <a:rPr lang="en-US" altLang="zh-CN" sz="1700" dirty="0">
                <a:latin typeface="Times New Roman"/>
                <a:cs typeface="Times New Roman"/>
              </a:rPr>
              <a:t> (</a:t>
            </a:r>
            <a:r>
              <a:rPr lang="en-US" altLang="zh-CN" sz="1700" i="1" dirty="0">
                <a:latin typeface="Times New Roman"/>
                <a:cs typeface="Times New Roman"/>
              </a:rPr>
              <a:t>n</a:t>
            </a:r>
            <a:r>
              <a:rPr lang="en-US" altLang="zh-CN" sz="1700" i="1" spc="-50" dirty="0">
                <a:latin typeface="Times New Roman"/>
                <a:cs typeface="Times New Roman"/>
              </a:rPr>
              <a:t> </a:t>
            </a:r>
            <a:r>
              <a:rPr lang="en-US" altLang="zh-CN" sz="1700" spc="-25" dirty="0">
                <a:latin typeface="Symbol"/>
                <a:cs typeface="Symbol"/>
              </a:rPr>
              <a:t></a:t>
            </a:r>
            <a:r>
              <a:rPr lang="en-US" altLang="zh-CN" sz="1700" spc="-25" dirty="0">
                <a:latin typeface="Times New Roman"/>
                <a:cs typeface="Times New Roman"/>
              </a:rPr>
              <a:t>2)</a:t>
            </a:r>
            <a:endParaRPr sz="1700" dirty="0">
              <a:latin typeface="Times New Roman"/>
              <a:cs typeface="Times New Roman"/>
            </a:endParaRPr>
          </a:p>
        </p:txBody>
      </p:sp>
      <p:sp>
        <p:nvSpPr>
          <p:cNvPr id="49" name="object 14"/>
          <p:cNvSpPr txBox="1"/>
          <p:nvPr/>
        </p:nvSpPr>
        <p:spPr>
          <a:xfrm>
            <a:off x="5803627" y="4007816"/>
            <a:ext cx="136525" cy="285750"/>
          </a:xfrm>
          <a:prstGeom prst="rect">
            <a:avLst/>
          </a:prstGeom>
        </p:spPr>
        <p:txBody>
          <a:bodyPr vert="horz" wrap="square" lIns="0" tIns="13335" rIns="0" bIns="0" rtlCol="0">
            <a:spAutoFit/>
          </a:bodyPr>
          <a:lstStyle/>
          <a:p>
            <a:pPr marL="12700">
              <a:lnSpc>
                <a:spcPct val="100000"/>
              </a:lnSpc>
              <a:spcBef>
                <a:spcPts val="105"/>
              </a:spcBef>
            </a:pPr>
            <a:r>
              <a:rPr sz="1700" spc="20" dirty="0">
                <a:latin typeface="Times New Roman"/>
                <a:cs typeface="Times New Roman"/>
              </a:rPr>
              <a:t>2</a:t>
            </a:r>
            <a:endParaRPr sz="1700">
              <a:latin typeface="Times New Roman"/>
              <a:cs typeface="Times New Roman"/>
            </a:endParaRPr>
          </a:p>
        </p:txBody>
      </p:sp>
      <p:sp>
        <p:nvSpPr>
          <p:cNvPr id="52" name="矩形 51"/>
          <p:cNvSpPr/>
          <p:nvPr/>
        </p:nvSpPr>
        <p:spPr>
          <a:xfrm>
            <a:off x="2149530" y="5080831"/>
            <a:ext cx="5819284" cy="369332"/>
          </a:xfrm>
          <a:prstGeom prst="rect">
            <a:avLst/>
          </a:prstGeom>
        </p:spPr>
        <p:txBody>
          <a:bodyPr wrap="square">
            <a:spAutoFit/>
          </a:bodyPr>
          <a:lstStyle/>
          <a:p>
            <a:pPr marL="50800">
              <a:spcBef>
                <a:spcPts val="90"/>
              </a:spcBef>
            </a:pPr>
            <a:r>
              <a:rPr lang="pt-BR" altLang="zh-CN" sz="1800" dirty="0">
                <a:latin typeface="Symbol"/>
                <a:cs typeface="Symbol"/>
              </a:rPr>
              <a:t></a:t>
            </a:r>
            <a:r>
              <a:rPr lang="pt-BR" altLang="zh-CN" sz="1800" spc="-150" dirty="0">
                <a:latin typeface="Times New Roman"/>
                <a:cs typeface="Times New Roman"/>
              </a:rPr>
              <a:t> </a:t>
            </a:r>
            <a:r>
              <a:rPr lang="pt-BR" altLang="zh-CN" sz="1800" i="1" spc="-10" dirty="0">
                <a:latin typeface="Times New Roman"/>
                <a:cs typeface="Times New Roman"/>
              </a:rPr>
              <a:t>c</a:t>
            </a:r>
            <a:r>
              <a:rPr lang="pt-BR" altLang="zh-CN" sz="1800" spc="-15" baseline="-25252" dirty="0">
                <a:latin typeface="Times New Roman"/>
                <a:cs typeface="Times New Roman"/>
              </a:rPr>
              <a:t>5</a:t>
            </a:r>
            <a:r>
              <a:rPr lang="pt-BR" altLang="zh-CN" sz="1800" spc="-97" baseline="-25252" dirty="0">
                <a:latin typeface="Times New Roman"/>
                <a:cs typeface="Times New Roman"/>
              </a:rPr>
              <a:t>          </a:t>
            </a:r>
            <a:r>
              <a:rPr lang="pt-BR" altLang="zh-CN" sz="1800" dirty="0">
                <a:latin typeface="Times New Roman"/>
                <a:cs typeface="Times New Roman"/>
              </a:rPr>
              <a:t>                 </a:t>
            </a:r>
            <a:r>
              <a:rPr lang="pt-BR" altLang="zh-CN" sz="1800" dirty="0">
                <a:latin typeface="Symbol"/>
                <a:cs typeface="Symbol"/>
              </a:rPr>
              <a:t></a:t>
            </a:r>
            <a:r>
              <a:rPr lang="pt-BR" altLang="zh-CN" sz="1800" spc="-150" dirty="0">
                <a:latin typeface="Times New Roman"/>
                <a:cs typeface="Times New Roman"/>
              </a:rPr>
              <a:t> </a:t>
            </a:r>
            <a:r>
              <a:rPr lang="pt-BR" altLang="zh-CN" sz="1800" i="1" spc="-10" dirty="0">
                <a:latin typeface="Times New Roman"/>
                <a:cs typeface="Times New Roman"/>
              </a:rPr>
              <a:t>c</a:t>
            </a:r>
            <a:r>
              <a:rPr lang="pt-BR" altLang="zh-CN" sz="1800" spc="-15" baseline="-25252" dirty="0">
                <a:latin typeface="Times New Roman"/>
                <a:cs typeface="Times New Roman"/>
              </a:rPr>
              <a:t>6                                  </a:t>
            </a:r>
            <a:r>
              <a:rPr lang="pt-BR" altLang="zh-CN" sz="1800" spc="-97" baseline="-25252" dirty="0">
                <a:latin typeface="Times New Roman"/>
                <a:cs typeface="Times New Roman"/>
              </a:rPr>
              <a:t> </a:t>
            </a:r>
            <a:r>
              <a:rPr lang="pt-BR" altLang="zh-CN" sz="1800" spc="-25" dirty="0">
                <a:latin typeface="Times New Roman"/>
                <a:cs typeface="Times New Roman"/>
              </a:rPr>
              <a:t> </a:t>
            </a:r>
            <a:r>
              <a:rPr lang="pt-BR" altLang="zh-CN" sz="1800" dirty="0">
                <a:latin typeface="Symbol"/>
                <a:cs typeface="Symbol"/>
              </a:rPr>
              <a:t></a:t>
            </a:r>
            <a:r>
              <a:rPr lang="pt-BR" altLang="zh-CN" sz="1800" spc="-150" dirty="0">
                <a:latin typeface="Times New Roman"/>
                <a:cs typeface="Times New Roman"/>
              </a:rPr>
              <a:t> </a:t>
            </a:r>
            <a:r>
              <a:rPr lang="pt-BR" altLang="zh-CN" sz="1800" i="1" spc="-10" dirty="0">
                <a:latin typeface="Times New Roman"/>
                <a:cs typeface="Times New Roman"/>
              </a:rPr>
              <a:t>c</a:t>
            </a:r>
            <a:r>
              <a:rPr lang="pt-BR" altLang="zh-CN" sz="1800" spc="-15" baseline="-25252" dirty="0">
                <a:latin typeface="Times New Roman"/>
                <a:cs typeface="Times New Roman"/>
              </a:rPr>
              <a:t>7</a:t>
            </a:r>
            <a:r>
              <a:rPr lang="pt-BR" altLang="zh-CN" sz="1800" spc="-97" baseline="-25252" dirty="0">
                <a:latin typeface="Times New Roman"/>
                <a:cs typeface="Times New Roman"/>
              </a:rPr>
              <a:t> </a:t>
            </a:r>
            <a:r>
              <a:rPr lang="pt-BR" altLang="zh-CN" sz="1800" dirty="0">
                <a:latin typeface="Times New Roman"/>
                <a:cs typeface="Times New Roman"/>
              </a:rPr>
              <a:t>(</a:t>
            </a:r>
            <a:r>
              <a:rPr lang="pt-BR" altLang="zh-CN" sz="1800" i="1" dirty="0">
                <a:latin typeface="Times New Roman"/>
                <a:cs typeface="Times New Roman"/>
              </a:rPr>
              <a:t>n</a:t>
            </a:r>
            <a:r>
              <a:rPr lang="pt-BR" altLang="zh-CN" sz="1800" i="1" spc="-140" dirty="0">
                <a:latin typeface="Times New Roman"/>
                <a:cs typeface="Times New Roman"/>
              </a:rPr>
              <a:t> </a:t>
            </a:r>
            <a:r>
              <a:rPr lang="pt-BR" altLang="zh-CN" sz="1800" spc="-25" dirty="0">
                <a:latin typeface="Symbol"/>
                <a:cs typeface="Symbol"/>
              </a:rPr>
              <a:t></a:t>
            </a:r>
            <a:r>
              <a:rPr lang="pt-BR" altLang="zh-CN" sz="1800" spc="-25" dirty="0">
                <a:latin typeface="Times New Roman"/>
                <a:cs typeface="Times New Roman"/>
              </a:rPr>
              <a:t>1)</a:t>
            </a:r>
            <a:endParaRPr lang="pt-BR" altLang="zh-CN" sz="1800" dirty="0">
              <a:latin typeface="Times New Roman"/>
              <a:cs typeface="Times New Roman"/>
            </a:endParaRPr>
          </a:p>
        </p:txBody>
      </p:sp>
      <p:sp>
        <p:nvSpPr>
          <p:cNvPr id="53" name="object 9"/>
          <p:cNvSpPr/>
          <p:nvPr/>
        </p:nvSpPr>
        <p:spPr>
          <a:xfrm>
            <a:off x="5436096" y="4676793"/>
            <a:ext cx="657860" cy="0"/>
          </a:xfrm>
          <a:custGeom>
            <a:avLst/>
            <a:gdLst/>
            <a:ahLst/>
            <a:cxnLst/>
            <a:rect l="l" t="t" r="r" b="b"/>
            <a:pathLst>
              <a:path w="657860">
                <a:moveTo>
                  <a:pt x="0" y="0"/>
                </a:moveTo>
                <a:lnTo>
                  <a:pt x="657762" y="0"/>
                </a:lnTo>
              </a:path>
            </a:pathLst>
          </a:custGeom>
          <a:ln w="10456">
            <a:solidFill>
              <a:srgbClr val="000000"/>
            </a:solidFill>
          </a:ln>
        </p:spPr>
        <p:txBody>
          <a:bodyPr wrap="square" lIns="0" tIns="0" rIns="0" bIns="0" rtlCol="0"/>
          <a:lstStyle/>
          <a:p>
            <a:endParaRPr/>
          </a:p>
        </p:txBody>
      </p:sp>
      <p:sp>
        <p:nvSpPr>
          <p:cNvPr id="54" name="object 12"/>
          <p:cNvSpPr txBox="1"/>
          <p:nvPr/>
        </p:nvSpPr>
        <p:spPr>
          <a:xfrm>
            <a:off x="5437182" y="4365104"/>
            <a:ext cx="661670" cy="285750"/>
          </a:xfrm>
          <a:prstGeom prst="rect">
            <a:avLst/>
          </a:prstGeom>
        </p:spPr>
        <p:txBody>
          <a:bodyPr vert="horz" wrap="square" lIns="0" tIns="13335" rIns="0" bIns="0" rtlCol="0">
            <a:spAutoFit/>
          </a:bodyPr>
          <a:lstStyle/>
          <a:p>
            <a:pPr marL="12700">
              <a:lnSpc>
                <a:spcPct val="100000"/>
              </a:lnSpc>
              <a:spcBef>
                <a:spcPts val="105"/>
              </a:spcBef>
            </a:pPr>
            <a:r>
              <a:rPr sz="1700" i="1" dirty="0">
                <a:latin typeface="Times New Roman"/>
                <a:cs typeface="Times New Roman"/>
              </a:rPr>
              <a:t>n</a:t>
            </a:r>
            <a:r>
              <a:rPr sz="1700" dirty="0">
                <a:latin typeface="Times New Roman"/>
                <a:cs typeface="Times New Roman"/>
              </a:rPr>
              <a:t>(</a:t>
            </a:r>
            <a:r>
              <a:rPr sz="1700" i="1" dirty="0">
                <a:latin typeface="Times New Roman"/>
                <a:cs typeface="Times New Roman"/>
              </a:rPr>
              <a:t>n</a:t>
            </a:r>
            <a:r>
              <a:rPr sz="1700" i="1" spc="-50" dirty="0">
                <a:latin typeface="Times New Roman"/>
                <a:cs typeface="Times New Roman"/>
              </a:rPr>
              <a:t> </a:t>
            </a:r>
            <a:r>
              <a:rPr sz="1700" spc="-25" dirty="0">
                <a:latin typeface="Symbol"/>
                <a:cs typeface="Symbol"/>
              </a:rPr>
              <a:t></a:t>
            </a:r>
            <a:r>
              <a:rPr sz="1700" spc="-25" dirty="0">
                <a:latin typeface="Times New Roman"/>
                <a:cs typeface="Times New Roman"/>
              </a:rPr>
              <a:t>1)</a:t>
            </a:r>
            <a:endParaRPr sz="1700" dirty="0">
              <a:latin typeface="Times New Roman"/>
              <a:cs typeface="Times New Roman"/>
            </a:endParaRPr>
          </a:p>
        </p:txBody>
      </p:sp>
      <p:sp>
        <p:nvSpPr>
          <p:cNvPr id="55" name="object 14"/>
          <p:cNvSpPr txBox="1"/>
          <p:nvPr/>
        </p:nvSpPr>
        <p:spPr>
          <a:xfrm>
            <a:off x="5701092" y="4670986"/>
            <a:ext cx="136525" cy="285750"/>
          </a:xfrm>
          <a:prstGeom prst="rect">
            <a:avLst/>
          </a:prstGeom>
        </p:spPr>
        <p:txBody>
          <a:bodyPr vert="horz" wrap="square" lIns="0" tIns="13335" rIns="0" bIns="0" rtlCol="0">
            <a:spAutoFit/>
          </a:bodyPr>
          <a:lstStyle/>
          <a:p>
            <a:pPr marL="12700">
              <a:lnSpc>
                <a:spcPct val="100000"/>
              </a:lnSpc>
              <a:spcBef>
                <a:spcPts val="105"/>
              </a:spcBef>
            </a:pPr>
            <a:r>
              <a:rPr sz="1700" spc="20" dirty="0">
                <a:latin typeface="Times New Roman"/>
                <a:cs typeface="Times New Roman"/>
              </a:rPr>
              <a:t>2</a:t>
            </a:r>
            <a:endParaRPr sz="1700">
              <a:latin typeface="Times New Roman"/>
              <a:cs typeface="Times New Roman"/>
            </a:endParaRPr>
          </a:p>
        </p:txBody>
      </p:sp>
      <p:sp>
        <p:nvSpPr>
          <p:cNvPr id="56" name="object 9"/>
          <p:cNvSpPr/>
          <p:nvPr/>
        </p:nvSpPr>
        <p:spPr>
          <a:xfrm>
            <a:off x="2724400" y="5331770"/>
            <a:ext cx="1073617" cy="45719"/>
          </a:xfrm>
          <a:custGeom>
            <a:avLst/>
            <a:gdLst/>
            <a:ahLst/>
            <a:cxnLst/>
            <a:rect l="l" t="t" r="r" b="b"/>
            <a:pathLst>
              <a:path w="657860">
                <a:moveTo>
                  <a:pt x="0" y="0"/>
                </a:moveTo>
                <a:lnTo>
                  <a:pt x="657762" y="0"/>
                </a:lnTo>
              </a:path>
            </a:pathLst>
          </a:custGeom>
          <a:ln w="10456">
            <a:solidFill>
              <a:srgbClr val="000000"/>
            </a:solidFill>
          </a:ln>
        </p:spPr>
        <p:txBody>
          <a:bodyPr wrap="square" lIns="0" tIns="0" rIns="0" bIns="0" rtlCol="0"/>
          <a:lstStyle/>
          <a:p>
            <a:endParaRPr/>
          </a:p>
        </p:txBody>
      </p:sp>
      <p:sp>
        <p:nvSpPr>
          <p:cNvPr id="57" name="object 12"/>
          <p:cNvSpPr txBox="1"/>
          <p:nvPr/>
        </p:nvSpPr>
        <p:spPr>
          <a:xfrm>
            <a:off x="2725486" y="5048137"/>
            <a:ext cx="1315087" cy="275075"/>
          </a:xfrm>
          <a:prstGeom prst="rect">
            <a:avLst/>
          </a:prstGeom>
        </p:spPr>
        <p:txBody>
          <a:bodyPr vert="horz" wrap="square" lIns="0" tIns="13335" rIns="0" bIns="0" rtlCol="0">
            <a:spAutoFit/>
          </a:bodyPr>
          <a:lstStyle/>
          <a:p>
            <a:pPr marL="12700">
              <a:lnSpc>
                <a:spcPct val="100000"/>
              </a:lnSpc>
              <a:spcBef>
                <a:spcPts val="105"/>
              </a:spcBef>
            </a:pPr>
            <a:r>
              <a:rPr sz="1700" dirty="0">
                <a:latin typeface="Times New Roman"/>
                <a:cs typeface="Times New Roman"/>
              </a:rPr>
              <a:t>(</a:t>
            </a:r>
            <a:r>
              <a:rPr sz="1700" i="1" dirty="0">
                <a:latin typeface="Times New Roman"/>
                <a:cs typeface="Times New Roman"/>
              </a:rPr>
              <a:t>n</a:t>
            </a:r>
            <a:r>
              <a:rPr sz="1700" i="1" spc="-50" dirty="0">
                <a:latin typeface="Times New Roman"/>
                <a:cs typeface="Times New Roman"/>
              </a:rPr>
              <a:t> </a:t>
            </a:r>
            <a:r>
              <a:rPr sz="1700" spc="-25" dirty="0">
                <a:latin typeface="Symbol"/>
                <a:cs typeface="Symbol"/>
              </a:rPr>
              <a:t></a:t>
            </a:r>
            <a:r>
              <a:rPr sz="1700" spc="-25" dirty="0">
                <a:latin typeface="Times New Roman"/>
                <a:cs typeface="Times New Roman"/>
              </a:rPr>
              <a:t>1)</a:t>
            </a:r>
            <a:r>
              <a:rPr lang="en-US" altLang="zh-CN" sz="1700" dirty="0">
                <a:latin typeface="Times New Roman"/>
                <a:cs typeface="Times New Roman"/>
              </a:rPr>
              <a:t> (</a:t>
            </a:r>
            <a:r>
              <a:rPr lang="en-US" altLang="zh-CN" sz="1700" i="1" dirty="0">
                <a:latin typeface="Times New Roman"/>
                <a:cs typeface="Times New Roman"/>
              </a:rPr>
              <a:t>n</a:t>
            </a:r>
            <a:r>
              <a:rPr lang="en-US" altLang="zh-CN" sz="1700" i="1" spc="-50" dirty="0">
                <a:latin typeface="Times New Roman"/>
                <a:cs typeface="Times New Roman"/>
              </a:rPr>
              <a:t> </a:t>
            </a:r>
            <a:r>
              <a:rPr lang="en-US" altLang="zh-CN" sz="1700" spc="-25" dirty="0">
                <a:latin typeface="Symbol"/>
                <a:cs typeface="Symbol"/>
              </a:rPr>
              <a:t></a:t>
            </a:r>
            <a:r>
              <a:rPr lang="en-US" altLang="zh-CN" sz="1700" spc="-25" dirty="0">
                <a:latin typeface="Times New Roman"/>
                <a:cs typeface="Times New Roman"/>
              </a:rPr>
              <a:t>2)</a:t>
            </a:r>
            <a:endParaRPr sz="1700" dirty="0">
              <a:latin typeface="Times New Roman"/>
              <a:cs typeface="Times New Roman"/>
            </a:endParaRPr>
          </a:p>
        </p:txBody>
      </p:sp>
      <p:sp>
        <p:nvSpPr>
          <p:cNvPr id="58" name="object 14"/>
          <p:cNvSpPr txBox="1"/>
          <p:nvPr/>
        </p:nvSpPr>
        <p:spPr>
          <a:xfrm>
            <a:off x="3197982" y="5325964"/>
            <a:ext cx="136525" cy="285750"/>
          </a:xfrm>
          <a:prstGeom prst="rect">
            <a:avLst/>
          </a:prstGeom>
        </p:spPr>
        <p:txBody>
          <a:bodyPr vert="horz" wrap="square" lIns="0" tIns="13335" rIns="0" bIns="0" rtlCol="0">
            <a:spAutoFit/>
          </a:bodyPr>
          <a:lstStyle/>
          <a:p>
            <a:pPr marL="12700">
              <a:lnSpc>
                <a:spcPct val="100000"/>
              </a:lnSpc>
              <a:spcBef>
                <a:spcPts val="105"/>
              </a:spcBef>
            </a:pPr>
            <a:r>
              <a:rPr sz="1700" spc="20" dirty="0">
                <a:latin typeface="Times New Roman"/>
                <a:cs typeface="Times New Roman"/>
              </a:rPr>
              <a:t>2</a:t>
            </a:r>
            <a:endParaRPr sz="1700">
              <a:latin typeface="Times New Roman"/>
              <a:cs typeface="Times New Roman"/>
            </a:endParaRPr>
          </a:p>
        </p:txBody>
      </p:sp>
      <p:sp>
        <p:nvSpPr>
          <p:cNvPr id="59" name="object 9"/>
          <p:cNvSpPr/>
          <p:nvPr/>
        </p:nvSpPr>
        <p:spPr>
          <a:xfrm>
            <a:off x="4334944" y="5294492"/>
            <a:ext cx="1073617" cy="45719"/>
          </a:xfrm>
          <a:custGeom>
            <a:avLst/>
            <a:gdLst/>
            <a:ahLst/>
            <a:cxnLst/>
            <a:rect l="l" t="t" r="r" b="b"/>
            <a:pathLst>
              <a:path w="657860">
                <a:moveTo>
                  <a:pt x="0" y="0"/>
                </a:moveTo>
                <a:lnTo>
                  <a:pt x="657762" y="0"/>
                </a:lnTo>
              </a:path>
            </a:pathLst>
          </a:custGeom>
          <a:ln w="10456">
            <a:solidFill>
              <a:srgbClr val="000000"/>
            </a:solidFill>
          </a:ln>
        </p:spPr>
        <p:txBody>
          <a:bodyPr wrap="square" lIns="0" tIns="0" rIns="0" bIns="0" rtlCol="0"/>
          <a:lstStyle/>
          <a:p>
            <a:endParaRPr/>
          </a:p>
        </p:txBody>
      </p:sp>
      <p:sp>
        <p:nvSpPr>
          <p:cNvPr id="60" name="object 12"/>
          <p:cNvSpPr txBox="1"/>
          <p:nvPr/>
        </p:nvSpPr>
        <p:spPr>
          <a:xfrm>
            <a:off x="4336030" y="5010859"/>
            <a:ext cx="1315087" cy="275075"/>
          </a:xfrm>
          <a:prstGeom prst="rect">
            <a:avLst/>
          </a:prstGeom>
        </p:spPr>
        <p:txBody>
          <a:bodyPr vert="horz" wrap="square" lIns="0" tIns="13335" rIns="0" bIns="0" rtlCol="0">
            <a:spAutoFit/>
          </a:bodyPr>
          <a:lstStyle/>
          <a:p>
            <a:pPr marL="12700">
              <a:lnSpc>
                <a:spcPct val="100000"/>
              </a:lnSpc>
              <a:spcBef>
                <a:spcPts val="105"/>
              </a:spcBef>
            </a:pPr>
            <a:r>
              <a:rPr sz="1700" dirty="0">
                <a:latin typeface="Times New Roman"/>
                <a:cs typeface="Times New Roman"/>
              </a:rPr>
              <a:t>(</a:t>
            </a:r>
            <a:r>
              <a:rPr sz="1700" i="1" dirty="0">
                <a:latin typeface="Times New Roman"/>
                <a:cs typeface="Times New Roman"/>
              </a:rPr>
              <a:t>n</a:t>
            </a:r>
            <a:r>
              <a:rPr sz="1700" i="1" spc="-50" dirty="0">
                <a:latin typeface="Times New Roman"/>
                <a:cs typeface="Times New Roman"/>
              </a:rPr>
              <a:t> </a:t>
            </a:r>
            <a:r>
              <a:rPr sz="1700" spc="-25" dirty="0">
                <a:latin typeface="Symbol"/>
                <a:cs typeface="Symbol"/>
              </a:rPr>
              <a:t></a:t>
            </a:r>
            <a:r>
              <a:rPr sz="1700" spc="-25" dirty="0">
                <a:latin typeface="Times New Roman"/>
                <a:cs typeface="Times New Roman"/>
              </a:rPr>
              <a:t>1)</a:t>
            </a:r>
            <a:r>
              <a:rPr lang="en-US" altLang="zh-CN" sz="1700" dirty="0">
                <a:latin typeface="Times New Roman"/>
                <a:cs typeface="Times New Roman"/>
              </a:rPr>
              <a:t> (</a:t>
            </a:r>
            <a:r>
              <a:rPr lang="en-US" altLang="zh-CN" sz="1700" i="1" dirty="0">
                <a:latin typeface="Times New Roman"/>
                <a:cs typeface="Times New Roman"/>
              </a:rPr>
              <a:t>n</a:t>
            </a:r>
            <a:r>
              <a:rPr lang="en-US" altLang="zh-CN" sz="1700" i="1" spc="-50" dirty="0">
                <a:latin typeface="Times New Roman"/>
                <a:cs typeface="Times New Roman"/>
              </a:rPr>
              <a:t> </a:t>
            </a:r>
            <a:r>
              <a:rPr lang="en-US" altLang="zh-CN" sz="1700" spc="-25" dirty="0">
                <a:latin typeface="Symbol"/>
                <a:cs typeface="Symbol"/>
              </a:rPr>
              <a:t></a:t>
            </a:r>
            <a:r>
              <a:rPr lang="en-US" altLang="zh-CN" sz="1700" spc="-25" dirty="0">
                <a:latin typeface="Times New Roman"/>
                <a:cs typeface="Times New Roman"/>
              </a:rPr>
              <a:t>2)</a:t>
            </a:r>
            <a:endParaRPr sz="1700" dirty="0">
              <a:latin typeface="Times New Roman"/>
              <a:cs typeface="Times New Roman"/>
            </a:endParaRPr>
          </a:p>
        </p:txBody>
      </p:sp>
      <p:sp>
        <p:nvSpPr>
          <p:cNvPr id="61" name="object 14"/>
          <p:cNvSpPr txBox="1"/>
          <p:nvPr/>
        </p:nvSpPr>
        <p:spPr>
          <a:xfrm>
            <a:off x="4808526" y="5288686"/>
            <a:ext cx="136525" cy="285750"/>
          </a:xfrm>
          <a:prstGeom prst="rect">
            <a:avLst/>
          </a:prstGeom>
        </p:spPr>
        <p:txBody>
          <a:bodyPr vert="horz" wrap="square" lIns="0" tIns="13335" rIns="0" bIns="0" rtlCol="0">
            <a:spAutoFit/>
          </a:bodyPr>
          <a:lstStyle/>
          <a:p>
            <a:pPr marL="12700">
              <a:lnSpc>
                <a:spcPct val="100000"/>
              </a:lnSpc>
              <a:spcBef>
                <a:spcPts val="105"/>
              </a:spcBef>
            </a:pPr>
            <a:r>
              <a:rPr sz="1700" spc="20" dirty="0">
                <a:latin typeface="Times New Roman"/>
                <a:cs typeface="Times New Roman"/>
              </a:rPr>
              <a:t>2</a:t>
            </a:r>
            <a:endParaRPr sz="1700">
              <a:latin typeface="Times New Roman"/>
              <a:cs typeface="Times New Roman"/>
            </a:endParaRPr>
          </a:p>
        </p:txBody>
      </p:sp>
      <p:sp>
        <p:nvSpPr>
          <p:cNvPr id="62" name="object 18"/>
          <p:cNvSpPr txBox="1"/>
          <p:nvPr/>
        </p:nvSpPr>
        <p:spPr>
          <a:xfrm>
            <a:off x="3383029" y="6207358"/>
            <a:ext cx="2692400" cy="482600"/>
          </a:xfrm>
          <a:prstGeom prst="rect">
            <a:avLst/>
          </a:prstGeom>
        </p:spPr>
        <p:txBody>
          <a:bodyPr vert="horz" wrap="square" lIns="0" tIns="12700" rIns="0" bIns="0" rtlCol="0">
            <a:spAutoFit/>
          </a:bodyPr>
          <a:lstStyle/>
          <a:p>
            <a:pPr marL="12700">
              <a:lnSpc>
                <a:spcPct val="100000"/>
              </a:lnSpc>
              <a:spcBef>
                <a:spcPts val="100"/>
              </a:spcBef>
            </a:pPr>
            <a:r>
              <a:rPr sz="3000" spc="-10" dirty="0">
                <a:solidFill>
                  <a:srgbClr val="FF0000"/>
                </a:solidFill>
                <a:latin typeface="微软雅黑"/>
                <a:cs typeface="微软雅黑"/>
              </a:rPr>
              <a:t>是否最优算法？</a:t>
            </a:r>
            <a:endParaRPr sz="3000" dirty="0">
              <a:latin typeface="微软雅黑"/>
              <a:cs typeface="微软雅黑"/>
            </a:endParaRPr>
          </a:p>
        </p:txBody>
      </p:sp>
    </p:spTree>
    <p:extLst>
      <p:ext uri="{BB962C8B-B14F-4D97-AF65-F5344CB8AC3E}">
        <p14:creationId xmlns:p14="http://schemas.microsoft.com/office/powerpoint/2010/main" val="219220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p:bldP spid="12" grpId="0"/>
      <p:bldP spid="13" grpId="0"/>
      <p:bldP spid="14" grpId="0"/>
      <p:bldP spid="16" grpId="0"/>
      <p:bldP spid="17" grpId="0"/>
      <p:bldP spid="19" grpId="0"/>
      <p:bldP spid="27" grpId="0"/>
      <p:bldP spid="33" grpId="0"/>
      <p:bldP spid="47" grpId="0" animBg="1"/>
      <p:bldP spid="48" grpId="0"/>
      <p:bldP spid="49" grpId="0"/>
      <p:bldP spid="52" grpId="0"/>
      <p:bldP spid="53" grpId="0" animBg="1"/>
      <p:bldP spid="54" grpId="0"/>
      <p:bldP spid="55" grpId="0"/>
      <p:bldP spid="56" grpId="0" animBg="1"/>
      <p:bldP spid="57" grpId="0"/>
      <p:bldP spid="58" grpId="0"/>
      <p:bldP spid="59" grpId="0" animBg="1"/>
      <p:bldP spid="60" grpId="0"/>
      <p:bldP spid="61" grpId="0"/>
      <p:bldP spid="6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57BE5D76-A895-36B3-9FC6-E8F3EA2EF0A8}"/>
              </a:ext>
            </a:extLst>
          </p:cNvPr>
          <p:cNvSpPr>
            <a:spLocks noGrp="1" noChangeArrowheads="1"/>
          </p:cNvSpPr>
          <p:nvPr>
            <p:ph type="title"/>
          </p:nvPr>
        </p:nvSpPr>
        <p:spPr/>
        <p:txBody>
          <a:bodyPr/>
          <a:lstStyle/>
          <a:p>
            <a:r>
              <a:rPr lang="zh-CN" altLang="en-US" sz="2800" b="1" dirty="0">
                <a:solidFill>
                  <a:srgbClr val="3907F1"/>
                </a:solidFill>
                <a:latin typeface="微软雅黑" panose="020B0503020204020204" pitchFamily="34" charset="-122"/>
                <a:ea typeface="微软雅黑" panose="020B0503020204020204" pitchFamily="34" charset="-122"/>
              </a:rPr>
              <a:t>最优算法</a:t>
            </a:r>
          </a:p>
        </p:txBody>
      </p:sp>
      <p:sp>
        <p:nvSpPr>
          <p:cNvPr id="60419" name="Rectangle 3">
            <a:extLst>
              <a:ext uri="{FF2B5EF4-FFF2-40B4-BE49-F238E27FC236}">
                <a16:creationId xmlns:a16="http://schemas.microsoft.com/office/drawing/2014/main" id="{ADF648A5-2DD9-9551-604F-CC71A0B748CC}"/>
              </a:ext>
            </a:extLst>
          </p:cNvPr>
          <p:cNvSpPr>
            <a:spLocks noGrp="1" noChangeArrowheads="1"/>
          </p:cNvSpPr>
          <p:nvPr>
            <p:ph type="body" idx="1"/>
          </p:nvPr>
        </p:nvSpPr>
        <p:spPr>
          <a:xfrm>
            <a:off x="323528" y="908720"/>
            <a:ext cx="8291263" cy="4530725"/>
          </a:xfrm>
        </p:spPr>
        <p:txBody>
          <a:bodyPr/>
          <a:lstStyle/>
          <a:p>
            <a:pPr>
              <a:lnSpc>
                <a:spcPct val="150000"/>
              </a:lnSpc>
            </a:pPr>
            <a:r>
              <a:rPr lang="zh-CN" altLang="en-US" sz="2400" dirty="0">
                <a:solidFill>
                  <a:srgbClr val="FF0000"/>
                </a:solidFill>
              </a:rPr>
              <a:t>基于数值比较的排序问题的计算时间下界为</a:t>
            </a:r>
            <a:r>
              <a:rPr lang="zh-CN" altLang="en-US" sz="2400" dirty="0">
                <a:solidFill>
                  <a:srgbClr val="FF0000"/>
                </a:solidFill>
                <a:sym typeface="Symbol" panose="05050102010706020507" pitchFamily="18" charset="2"/>
              </a:rPr>
              <a:t></a:t>
            </a:r>
            <a:r>
              <a:rPr lang="en-US" altLang="zh-CN" sz="2400" dirty="0">
                <a:solidFill>
                  <a:srgbClr val="FF0000"/>
                </a:solidFill>
              </a:rPr>
              <a:t>(</a:t>
            </a:r>
            <a:r>
              <a:rPr lang="en-US" altLang="zh-CN" sz="2400" i="1" dirty="0" err="1">
                <a:solidFill>
                  <a:srgbClr val="FF0000"/>
                </a:solidFill>
              </a:rPr>
              <a:t>n</a:t>
            </a:r>
            <a:r>
              <a:rPr lang="en-US" altLang="zh-CN" sz="2400" dirty="0" err="1">
                <a:solidFill>
                  <a:srgbClr val="FF0000"/>
                </a:solidFill>
              </a:rPr>
              <a:t>log</a:t>
            </a:r>
            <a:r>
              <a:rPr lang="en-US" altLang="zh-CN" sz="2400" i="1" dirty="0" err="1">
                <a:solidFill>
                  <a:srgbClr val="FF0000"/>
                </a:solidFill>
              </a:rPr>
              <a:t>n</a:t>
            </a:r>
            <a:r>
              <a:rPr lang="en-US" altLang="zh-CN" sz="2400" dirty="0">
                <a:solidFill>
                  <a:srgbClr val="FF0000"/>
                </a:solidFill>
              </a:rPr>
              <a:t>)</a:t>
            </a:r>
            <a:r>
              <a:rPr lang="zh-CN" altLang="en-US" sz="2400" dirty="0"/>
              <a:t>，即这类算法解决该问题所需的最小时间复杂度。</a:t>
            </a:r>
            <a:endParaRPr lang="en-US" altLang="zh-CN" sz="2400" dirty="0"/>
          </a:p>
          <a:p>
            <a:pPr>
              <a:lnSpc>
                <a:spcPct val="150000"/>
              </a:lnSpc>
            </a:pPr>
            <a:endParaRPr lang="zh-CN" altLang="en-US" sz="2400" dirty="0"/>
          </a:p>
        </p:txBody>
      </p:sp>
      <p:pic>
        <p:nvPicPr>
          <p:cNvPr id="4" name="图片 3"/>
          <p:cNvPicPr>
            <a:picLocks noChangeAspect="1"/>
          </p:cNvPicPr>
          <p:nvPr/>
        </p:nvPicPr>
        <p:blipFill>
          <a:blip r:embed="rId3"/>
          <a:stretch>
            <a:fillRect/>
          </a:stretch>
        </p:blipFill>
        <p:spPr>
          <a:xfrm>
            <a:off x="2943141" y="2005340"/>
            <a:ext cx="5959683" cy="4592011"/>
          </a:xfrm>
          <a:prstGeom prst="rect">
            <a:avLst/>
          </a:prstGeom>
        </p:spPr>
      </p:pic>
      <p:sp>
        <p:nvSpPr>
          <p:cNvPr id="2" name="矩形 1"/>
          <p:cNvSpPr/>
          <p:nvPr/>
        </p:nvSpPr>
        <p:spPr>
          <a:xfrm>
            <a:off x="141451" y="3208030"/>
            <a:ext cx="2699361" cy="2862322"/>
          </a:xfrm>
          <a:prstGeom prst="rect">
            <a:avLst/>
          </a:prstGeom>
        </p:spPr>
        <p:txBody>
          <a:bodyPr wrap="square">
            <a:spAutoFit/>
          </a:bodyPr>
          <a:lstStyle/>
          <a:p>
            <a:pPr marL="342900" lvl="0" indent="-342900">
              <a:lnSpc>
                <a:spcPct val="150000"/>
              </a:lnSpc>
              <a:spcBef>
                <a:spcPct val="20000"/>
              </a:spcBef>
              <a:buClr>
                <a:srgbClr val="CC9900"/>
              </a:buClr>
              <a:buSzPct val="65000"/>
              <a:buFont typeface="Wingdings" panose="05000000000000000000" pitchFamily="2" charset="2"/>
              <a:buChar char="n"/>
            </a:pPr>
            <a:r>
              <a:rPr lang="zh-CN" altLang="en-US" sz="2400" kern="0" dirty="0">
                <a:solidFill>
                  <a:srgbClr val="000000"/>
                </a:solidFill>
                <a:latin typeface="微软雅黑"/>
                <a:ea typeface="微软雅黑"/>
              </a:rPr>
              <a:t>计算时间复杂性为</a:t>
            </a:r>
            <a:r>
              <a:rPr lang="en-US" altLang="zh-CN" sz="2400" i="1" kern="0" dirty="0">
                <a:solidFill>
                  <a:srgbClr val="000000"/>
                </a:solidFill>
                <a:latin typeface="微软雅黑"/>
                <a:ea typeface="微软雅黑"/>
                <a:sym typeface="Symbol" panose="05050102010706020507" pitchFamily="18" charset="2"/>
              </a:rPr>
              <a:t>O</a:t>
            </a:r>
            <a:r>
              <a:rPr lang="en-US" altLang="zh-CN" sz="2400" kern="0" dirty="0">
                <a:solidFill>
                  <a:srgbClr val="000000"/>
                </a:solidFill>
                <a:latin typeface="微软雅黑"/>
                <a:ea typeface="微软雅黑"/>
              </a:rPr>
              <a:t>(</a:t>
            </a:r>
            <a:r>
              <a:rPr lang="en-US" altLang="zh-CN" sz="2400" i="1" kern="0" dirty="0" err="1">
                <a:solidFill>
                  <a:srgbClr val="000000"/>
                </a:solidFill>
                <a:latin typeface="微软雅黑"/>
                <a:ea typeface="微软雅黑"/>
              </a:rPr>
              <a:t>n</a:t>
            </a:r>
            <a:r>
              <a:rPr lang="en-US" altLang="zh-CN" sz="2400" kern="0" dirty="0" err="1">
                <a:solidFill>
                  <a:srgbClr val="000000"/>
                </a:solidFill>
                <a:latin typeface="微软雅黑"/>
                <a:ea typeface="微软雅黑"/>
              </a:rPr>
              <a:t>log</a:t>
            </a:r>
            <a:r>
              <a:rPr lang="en-US" altLang="zh-CN" sz="2400" i="1" kern="0" dirty="0" err="1">
                <a:solidFill>
                  <a:srgbClr val="000000"/>
                </a:solidFill>
                <a:latin typeface="微软雅黑"/>
                <a:ea typeface="微软雅黑"/>
              </a:rPr>
              <a:t>n</a:t>
            </a:r>
            <a:r>
              <a:rPr lang="en-US" altLang="zh-CN" sz="2400" kern="0" dirty="0">
                <a:solidFill>
                  <a:srgbClr val="000000"/>
                </a:solidFill>
                <a:latin typeface="微软雅黑"/>
                <a:ea typeface="微软雅黑"/>
              </a:rPr>
              <a:t>)</a:t>
            </a:r>
            <a:r>
              <a:rPr lang="zh-CN" altLang="en-US" sz="2400" kern="0" dirty="0">
                <a:solidFill>
                  <a:srgbClr val="000000"/>
                </a:solidFill>
                <a:latin typeface="微软雅黑"/>
                <a:ea typeface="微软雅黑"/>
              </a:rPr>
              <a:t>的排序算法，是这类算法中的</a:t>
            </a:r>
            <a:r>
              <a:rPr lang="zh-CN" altLang="en-US" sz="2400" kern="0" dirty="0">
                <a:solidFill>
                  <a:srgbClr val="FF0000"/>
                </a:solidFill>
                <a:latin typeface="微软雅黑"/>
                <a:ea typeface="微软雅黑"/>
              </a:rPr>
              <a:t>最优算法</a:t>
            </a:r>
            <a:endParaRPr lang="en-US" altLang="zh-CN" sz="2400" kern="0" dirty="0">
              <a:solidFill>
                <a:srgbClr val="FF0000"/>
              </a:solidFill>
              <a:latin typeface="微软雅黑"/>
              <a:ea typeface="微软雅黑"/>
            </a:endParaRPr>
          </a:p>
        </p:txBody>
      </p:sp>
    </p:spTree>
    <p:extLst>
      <p:ext uri="{BB962C8B-B14F-4D97-AF65-F5344CB8AC3E}">
        <p14:creationId xmlns:p14="http://schemas.microsoft.com/office/powerpoint/2010/main" val="852885029"/>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FF8FA41-66B6-E84A-463F-DA93D0E38E41}"/>
              </a:ext>
            </a:extLst>
          </p:cNvPr>
          <p:cNvSpPr>
            <a:spLocks noGrp="1" noChangeArrowheads="1"/>
          </p:cNvSpPr>
          <p:nvPr>
            <p:ph type="title"/>
          </p:nvPr>
        </p:nvSpPr>
        <p:spPr>
          <a:xfrm>
            <a:off x="428625" y="571500"/>
            <a:ext cx="8229600" cy="650875"/>
          </a:xfrm>
        </p:spPr>
        <p:txBody>
          <a:bodyPr/>
          <a:lstStyle/>
          <a:p>
            <a:r>
              <a:rPr lang="zh-CN" altLang="en-US" sz="3200" b="1">
                <a:solidFill>
                  <a:srgbClr val="3907F1"/>
                </a:solidFill>
              </a:rPr>
              <a:t>学习要点</a:t>
            </a:r>
            <a:r>
              <a:rPr lang="en-US" altLang="zh-CN" sz="3200" b="1">
                <a:solidFill>
                  <a:srgbClr val="3907F1"/>
                </a:solidFill>
              </a:rPr>
              <a:t>: </a:t>
            </a:r>
            <a:endParaRPr lang="zh-CN" altLang="en-US" sz="3200" b="1">
              <a:solidFill>
                <a:srgbClr val="0000FF"/>
              </a:solidFill>
            </a:endParaRPr>
          </a:p>
        </p:txBody>
      </p:sp>
      <p:sp>
        <p:nvSpPr>
          <p:cNvPr id="18435" name="Rectangle 3">
            <a:extLst>
              <a:ext uri="{FF2B5EF4-FFF2-40B4-BE49-F238E27FC236}">
                <a16:creationId xmlns:a16="http://schemas.microsoft.com/office/drawing/2014/main" id="{09457B0C-A228-C6EC-6ADE-88F972A5090E}"/>
              </a:ext>
            </a:extLst>
          </p:cNvPr>
          <p:cNvSpPr>
            <a:spLocks noGrp="1" noChangeArrowheads="1"/>
          </p:cNvSpPr>
          <p:nvPr>
            <p:ph type="body" idx="1"/>
          </p:nvPr>
        </p:nvSpPr>
        <p:spPr>
          <a:xfrm>
            <a:off x="638175" y="1772816"/>
            <a:ext cx="7810500" cy="4799013"/>
          </a:xfrm>
        </p:spPr>
        <p:txBody>
          <a:bodyPr/>
          <a:lstStyle/>
          <a:p>
            <a:pPr>
              <a:lnSpc>
                <a:spcPct val="150000"/>
              </a:lnSpc>
              <a:buFont typeface="Symbol" panose="05050102010706020507" pitchFamily="18" charset="2"/>
              <a:buChar char="·"/>
            </a:pPr>
            <a:r>
              <a:rPr lang="zh-CN" altLang="en-US" sz="3200" b="1" dirty="0"/>
              <a:t>掌握算法的计算复杂性概念。</a:t>
            </a:r>
          </a:p>
          <a:p>
            <a:pPr>
              <a:lnSpc>
                <a:spcPct val="150000"/>
              </a:lnSpc>
              <a:buFont typeface="Symbol" panose="05050102010706020507" pitchFamily="18" charset="2"/>
              <a:buChar char="·"/>
            </a:pPr>
            <a:r>
              <a:rPr lang="zh-CN" altLang="en-US" sz="3200" b="1" dirty="0"/>
              <a:t>掌握算法渐近复杂性的数学表述。</a:t>
            </a:r>
            <a:endParaRPr lang="en-US" altLang="zh-CN" sz="3200" b="1" dirty="0"/>
          </a:p>
          <a:p>
            <a:pPr>
              <a:lnSpc>
                <a:spcPct val="150000"/>
              </a:lnSpc>
              <a:buFont typeface="Symbol" panose="05050102010706020507" pitchFamily="18" charset="2"/>
              <a:buChar char="·"/>
            </a:pPr>
            <a:r>
              <a:rPr lang="zh-CN" altLang="en-US" sz="3200" b="1" dirty="0"/>
              <a:t>掌握算法分析的基本法则。</a:t>
            </a:r>
            <a:endParaRPr lang="en-US" altLang="zh-CN" sz="3200" b="1" dirty="0"/>
          </a:p>
          <a:p>
            <a:pPr>
              <a:lnSpc>
                <a:spcPct val="150000"/>
              </a:lnSpc>
              <a:buFont typeface="Symbol" panose="05050102010706020507" pitchFamily="18" charset="2"/>
              <a:buChar char="·"/>
            </a:pPr>
            <a:r>
              <a:rPr lang="zh-CN" altLang="en-US" sz="3200" b="1" dirty="0"/>
              <a:t>掌握</a:t>
            </a:r>
            <a:r>
              <a:rPr lang="zh-CN" altLang="en-US" sz="3200" b="1" dirty="0">
                <a:solidFill>
                  <a:srgbClr val="FF0000"/>
                </a:solidFill>
              </a:rPr>
              <a:t>算法分析中常用的复杂函数</a:t>
            </a:r>
            <a:r>
              <a:rPr lang="zh-CN" altLang="en-US" sz="3200" b="1" dirty="0"/>
              <a:t>。</a:t>
            </a:r>
            <a:endParaRPr lang="en-US" altLang="zh-CN" sz="3200" b="1" dirty="0"/>
          </a:p>
          <a:p>
            <a:pPr>
              <a:lnSpc>
                <a:spcPct val="150000"/>
              </a:lnSpc>
              <a:buFont typeface="Symbol" panose="05050102010706020507" pitchFamily="18" charset="2"/>
              <a:buChar char="·"/>
            </a:pPr>
            <a:endParaRPr lang="zh-CN" altLang="en-US" sz="3200" b="1" dirty="0"/>
          </a:p>
        </p:txBody>
      </p:sp>
    </p:spTree>
    <p:extLst>
      <p:ext uri="{BB962C8B-B14F-4D97-AF65-F5344CB8AC3E}">
        <p14:creationId xmlns:p14="http://schemas.microsoft.com/office/powerpoint/2010/main" val="17876583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a:extLst>
              <a:ext uri="{FF2B5EF4-FFF2-40B4-BE49-F238E27FC236}">
                <a16:creationId xmlns:a16="http://schemas.microsoft.com/office/drawing/2014/main" id="{22632FAB-E527-9A7A-8B8E-A86074BB97F4}"/>
              </a:ext>
            </a:extLst>
          </p:cNvPr>
          <p:cNvSpPr>
            <a:spLocks noGrp="1" noChangeArrowheads="1"/>
          </p:cNvSpPr>
          <p:nvPr>
            <p:ph type="title"/>
          </p:nvPr>
        </p:nvSpPr>
        <p:spPr/>
        <p:txBody>
          <a:bodyPr/>
          <a:lstStyle/>
          <a:p>
            <a:r>
              <a:rPr lang="zh-CN" altLang="en-US" sz="3200" b="1" dirty="0">
                <a:solidFill>
                  <a:srgbClr val="0000FF"/>
                </a:solidFill>
                <a:latin typeface="微软雅黑" panose="020B0503020204020204" pitchFamily="34" charset="-122"/>
                <a:ea typeface="微软雅黑" panose="020B0503020204020204" pitchFamily="34" charset="-122"/>
              </a:rPr>
              <a:t>算法分析中常见的复杂性函数</a:t>
            </a:r>
          </a:p>
        </p:txBody>
      </p:sp>
      <p:sp>
        <p:nvSpPr>
          <p:cNvPr id="4" name="object 4"/>
          <p:cNvSpPr/>
          <p:nvPr/>
        </p:nvSpPr>
        <p:spPr>
          <a:xfrm>
            <a:off x="5180388" y="5122325"/>
            <a:ext cx="3166110" cy="0"/>
          </a:xfrm>
          <a:custGeom>
            <a:avLst/>
            <a:gdLst/>
            <a:ahLst/>
            <a:cxnLst/>
            <a:rect l="l" t="t" r="r" b="b"/>
            <a:pathLst>
              <a:path w="3166109">
                <a:moveTo>
                  <a:pt x="0" y="0"/>
                </a:moveTo>
                <a:lnTo>
                  <a:pt x="3165839" y="0"/>
                </a:lnTo>
              </a:path>
            </a:pathLst>
          </a:custGeom>
          <a:ln w="21200">
            <a:solidFill>
              <a:srgbClr val="BF311A"/>
            </a:solidFill>
          </a:ln>
        </p:spPr>
        <p:txBody>
          <a:bodyPr wrap="square" lIns="0" tIns="0" rIns="0" bIns="0" rtlCol="0"/>
          <a:lstStyle/>
          <a:p>
            <a:endParaRPr/>
          </a:p>
        </p:txBody>
      </p:sp>
      <p:grpSp>
        <p:nvGrpSpPr>
          <p:cNvPr id="5" name="object 5"/>
          <p:cNvGrpSpPr/>
          <p:nvPr/>
        </p:nvGrpSpPr>
        <p:grpSpPr>
          <a:xfrm>
            <a:off x="4750795" y="1581760"/>
            <a:ext cx="95885" cy="3215005"/>
            <a:chOff x="3340236" y="2983160"/>
            <a:chExt cx="95885" cy="3215005"/>
          </a:xfrm>
        </p:grpSpPr>
        <p:sp>
          <p:nvSpPr>
            <p:cNvPr id="6" name="object 6"/>
            <p:cNvSpPr/>
            <p:nvPr/>
          </p:nvSpPr>
          <p:spPr>
            <a:xfrm>
              <a:off x="3424942" y="2983160"/>
              <a:ext cx="0" cy="3201035"/>
            </a:xfrm>
            <a:custGeom>
              <a:avLst/>
              <a:gdLst/>
              <a:ahLst/>
              <a:cxnLst/>
              <a:rect l="l" t="t" r="r" b="b"/>
              <a:pathLst>
                <a:path h="3201035">
                  <a:moveTo>
                    <a:pt x="0" y="0"/>
                  </a:moveTo>
                  <a:lnTo>
                    <a:pt x="0" y="3201009"/>
                  </a:lnTo>
                </a:path>
              </a:pathLst>
            </a:custGeom>
            <a:ln w="21176">
              <a:solidFill>
                <a:srgbClr val="BF311A"/>
              </a:solidFill>
            </a:ln>
          </p:spPr>
          <p:txBody>
            <a:bodyPr wrap="square" lIns="0" tIns="0" rIns="0" bIns="0" rtlCol="0"/>
            <a:lstStyle/>
            <a:p>
              <a:endParaRPr/>
            </a:p>
          </p:txBody>
        </p:sp>
        <p:sp>
          <p:nvSpPr>
            <p:cNvPr id="7" name="object 7"/>
            <p:cNvSpPr/>
            <p:nvPr/>
          </p:nvSpPr>
          <p:spPr>
            <a:xfrm>
              <a:off x="3340236" y="6192460"/>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8" name="object 8"/>
            <p:cNvSpPr/>
            <p:nvPr/>
          </p:nvSpPr>
          <p:spPr>
            <a:xfrm>
              <a:off x="3340236" y="5853244"/>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9" name="object 9"/>
            <p:cNvSpPr/>
            <p:nvPr/>
          </p:nvSpPr>
          <p:spPr>
            <a:xfrm>
              <a:off x="3340236" y="5514029"/>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0" name="object 10"/>
            <p:cNvSpPr/>
            <p:nvPr/>
          </p:nvSpPr>
          <p:spPr>
            <a:xfrm>
              <a:off x="3340236" y="5174813"/>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1" name="object 11"/>
            <p:cNvSpPr/>
            <p:nvPr/>
          </p:nvSpPr>
          <p:spPr>
            <a:xfrm>
              <a:off x="3340236" y="4835597"/>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2" name="object 12"/>
            <p:cNvSpPr/>
            <p:nvPr/>
          </p:nvSpPr>
          <p:spPr>
            <a:xfrm>
              <a:off x="3340236" y="4496380"/>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3" name="object 13"/>
            <p:cNvSpPr/>
            <p:nvPr/>
          </p:nvSpPr>
          <p:spPr>
            <a:xfrm>
              <a:off x="3340236" y="4157164"/>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4" name="object 14"/>
            <p:cNvSpPr/>
            <p:nvPr/>
          </p:nvSpPr>
          <p:spPr>
            <a:xfrm>
              <a:off x="3340236" y="3817949"/>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5" name="object 15"/>
            <p:cNvSpPr/>
            <p:nvPr/>
          </p:nvSpPr>
          <p:spPr>
            <a:xfrm>
              <a:off x="3340236" y="3471673"/>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sp>
          <p:nvSpPr>
            <p:cNvPr id="16" name="object 16"/>
            <p:cNvSpPr/>
            <p:nvPr/>
          </p:nvSpPr>
          <p:spPr>
            <a:xfrm>
              <a:off x="3340236" y="3125378"/>
              <a:ext cx="88900" cy="0"/>
            </a:xfrm>
            <a:custGeom>
              <a:avLst/>
              <a:gdLst/>
              <a:ahLst/>
              <a:cxnLst/>
              <a:rect l="l" t="t" r="r" b="b"/>
              <a:pathLst>
                <a:path w="88900">
                  <a:moveTo>
                    <a:pt x="0" y="0"/>
                  </a:moveTo>
                  <a:lnTo>
                    <a:pt x="88516" y="0"/>
                  </a:lnTo>
                </a:path>
              </a:pathLst>
            </a:custGeom>
            <a:ln w="10600">
              <a:solidFill>
                <a:srgbClr val="BF311A"/>
              </a:solidFill>
            </a:ln>
          </p:spPr>
          <p:txBody>
            <a:bodyPr wrap="square" lIns="0" tIns="0" rIns="0" bIns="0" rtlCol="0"/>
            <a:lstStyle/>
            <a:p>
              <a:endParaRPr/>
            </a:p>
          </p:txBody>
        </p:sp>
      </p:grpSp>
      <p:sp>
        <p:nvSpPr>
          <p:cNvPr id="17" name="object 17"/>
          <p:cNvSpPr txBox="1"/>
          <p:nvPr/>
        </p:nvSpPr>
        <p:spPr>
          <a:xfrm>
            <a:off x="4567540" y="4692188"/>
            <a:ext cx="114935" cy="195580"/>
          </a:xfrm>
          <a:prstGeom prst="rect">
            <a:avLst/>
          </a:prstGeom>
        </p:spPr>
        <p:txBody>
          <a:bodyPr vert="horz" wrap="square" lIns="0" tIns="13970" rIns="0" bIns="0" rtlCol="0">
            <a:spAutoFit/>
          </a:bodyPr>
          <a:lstStyle/>
          <a:p>
            <a:pPr marL="12700">
              <a:lnSpc>
                <a:spcPct val="100000"/>
              </a:lnSpc>
              <a:spcBef>
                <a:spcPts val="110"/>
              </a:spcBef>
            </a:pPr>
            <a:r>
              <a:rPr sz="1100" spc="5" dirty="0">
                <a:solidFill>
                  <a:srgbClr val="231F20"/>
                </a:solidFill>
                <a:latin typeface="Lucida Sans"/>
                <a:cs typeface="Lucida Sans"/>
              </a:rPr>
              <a:t>T</a:t>
            </a:r>
            <a:endParaRPr sz="1100">
              <a:latin typeface="Lucida Sans"/>
              <a:cs typeface="Lucida Sans"/>
            </a:endParaRPr>
          </a:p>
        </p:txBody>
      </p:sp>
      <p:sp>
        <p:nvSpPr>
          <p:cNvPr id="18" name="object 18"/>
          <p:cNvSpPr txBox="1"/>
          <p:nvPr/>
        </p:nvSpPr>
        <p:spPr>
          <a:xfrm>
            <a:off x="4471118" y="4338836"/>
            <a:ext cx="204470" cy="195580"/>
          </a:xfrm>
          <a:prstGeom prst="rect">
            <a:avLst/>
          </a:prstGeom>
        </p:spPr>
        <p:txBody>
          <a:bodyPr vert="horz" wrap="square" lIns="0" tIns="13970" rIns="0" bIns="0" rtlCol="0">
            <a:spAutoFit/>
          </a:bodyPr>
          <a:lstStyle/>
          <a:p>
            <a:pPr marL="12700">
              <a:lnSpc>
                <a:spcPct val="100000"/>
              </a:lnSpc>
              <a:spcBef>
                <a:spcPts val="110"/>
              </a:spcBef>
            </a:pPr>
            <a:r>
              <a:rPr sz="1100" spc="-25" dirty="0">
                <a:solidFill>
                  <a:srgbClr val="231F20"/>
                </a:solidFill>
                <a:latin typeface="Lucida Sans"/>
                <a:cs typeface="Lucida Sans"/>
              </a:rPr>
              <a:t>2T</a:t>
            </a:r>
            <a:endParaRPr sz="1100">
              <a:latin typeface="Lucida Sans"/>
              <a:cs typeface="Lucida Sans"/>
            </a:endParaRPr>
          </a:p>
        </p:txBody>
      </p:sp>
      <p:sp>
        <p:nvSpPr>
          <p:cNvPr id="19" name="object 19"/>
          <p:cNvSpPr txBox="1"/>
          <p:nvPr/>
        </p:nvSpPr>
        <p:spPr>
          <a:xfrm>
            <a:off x="4471118" y="3667751"/>
            <a:ext cx="204470" cy="528320"/>
          </a:xfrm>
          <a:prstGeom prst="rect">
            <a:avLst/>
          </a:prstGeom>
        </p:spPr>
        <p:txBody>
          <a:bodyPr vert="horz" wrap="square" lIns="0" tIns="13970" rIns="0" bIns="0" rtlCol="0">
            <a:spAutoFit/>
          </a:bodyPr>
          <a:lstStyle/>
          <a:p>
            <a:pPr marL="12700">
              <a:lnSpc>
                <a:spcPct val="100000"/>
              </a:lnSpc>
              <a:spcBef>
                <a:spcPts val="110"/>
              </a:spcBef>
            </a:pPr>
            <a:r>
              <a:rPr sz="1100" spc="-25" dirty="0">
                <a:solidFill>
                  <a:srgbClr val="231F20"/>
                </a:solidFill>
                <a:latin typeface="Lucida Sans"/>
                <a:cs typeface="Lucida Sans"/>
              </a:rPr>
              <a:t>8T</a:t>
            </a:r>
            <a:endParaRPr sz="1100">
              <a:latin typeface="Lucida Sans"/>
              <a:cs typeface="Lucida Sans"/>
            </a:endParaRPr>
          </a:p>
          <a:p>
            <a:pPr>
              <a:lnSpc>
                <a:spcPct val="100000"/>
              </a:lnSpc>
              <a:spcBef>
                <a:spcPts val="10"/>
              </a:spcBef>
            </a:pPr>
            <a:endParaRPr sz="1100">
              <a:latin typeface="Lucida Sans"/>
              <a:cs typeface="Lucida Sans"/>
            </a:endParaRPr>
          </a:p>
          <a:p>
            <a:pPr marL="12700">
              <a:lnSpc>
                <a:spcPct val="100000"/>
              </a:lnSpc>
            </a:pPr>
            <a:r>
              <a:rPr sz="1100" spc="-25" dirty="0">
                <a:solidFill>
                  <a:srgbClr val="231F20"/>
                </a:solidFill>
                <a:latin typeface="Lucida Sans"/>
                <a:cs typeface="Lucida Sans"/>
              </a:rPr>
              <a:t>4T</a:t>
            </a:r>
            <a:endParaRPr sz="1100">
              <a:latin typeface="Lucida Sans"/>
              <a:cs typeface="Lucida Sans"/>
            </a:endParaRPr>
          </a:p>
        </p:txBody>
      </p:sp>
      <p:sp>
        <p:nvSpPr>
          <p:cNvPr id="20" name="object 20"/>
          <p:cNvSpPr txBox="1"/>
          <p:nvPr/>
        </p:nvSpPr>
        <p:spPr>
          <a:xfrm>
            <a:off x="4381754" y="2649393"/>
            <a:ext cx="294005" cy="195580"/>
          </a:xfrm>
          <a:prstGeom prst="rect">
            <a:avLst/>
          </a:prstGeom>
        </p:spPr>
        <p:txBody>
          <a:bodyPr vert="horz" wrap="square" lIns="0" tIns="13970" rIns="0" bIns="0" rtlCol="0">
            <a:spAutoFit/>
          </a:bodyPr>
          <a:lstStyle/>
          <a:p>
            <a:pPr marL="12700">
              <a:lnSpc>
                <a:spcPct val="100000"/>
              </a:lnSpc>
              <a:spcBef>
                <a:spcPts val="110"/>
              </a:spcBef>
            </a:pPr>
            <a:r>
              <a:rPr sz="1100" spc="-25" dirty="0">
                <a:solidFill>
                  <a:srgbClr val="231F20"/>
                </a:solidFill>
                <a:latin typeface="Lucida Sans"/>
                <a:cs typeface="Lucida Sans"/>
              </a:rPr>
              <a:t>64T</a:t>
            </a:r>
            <a:endParaRPr sz="1100">
              <a:latin typeface="Lucida Sans"/>
              <a:cs typeface="Lucida Sans"/>
            </a:endParaRPr>
          </a:p>
        </p:txBody>
      </p:sp>
      <p:sp>
        <p:nvSpPr>
          <p:cNvPr id="21" name="object 21"/>
          <p:cNvSpPr txBox="1"/>
          <p:nvPr/>
        </p:nvSpPr>
        <p:spPr>
          <a:xfrm>
            <a:off x="4292390" y="1621423"/>
            <a:ext cx="382905" cy="195580"/>
          </a:xfrm>
          <a:prstGeom prst="rect">
            <a:avLst/>
          </a:prstGeom>
        </p:spPr>
        <p:txBody>
          <a:bodyPr vert="horz" wrap="square" lIns="0" tIns="13970" rIns="0" bIns="0" rtlCol="0">
            <a:spAutoFit/>
          </a:bodyPr>
          <a:lstStyle/>
          <a:p>
            <a:pPr marL="12700">
              <a:lnSpc>
                <a:spcPct val="100000"/>
              </a:lnSpc>
              <a:spcBef>
                <a:spcPts val="110"/>
              </a:spcBef>
            </a:pPr>
            <a:r>
              <a:rPr sz="1100" spc="-20" dirty="0">
                <a:solidFill>
                  <a:srgbClr val="231F20"/>
                </a:solidFill>
                <a:latin typeface="Lucida Sans"/>
                <a:cs typeface="Lucida Sans"/>
              </a:rPr>
              <a:t>512T</a:t>
            </a:r>
            <a:endParaRPr sz="1100">
              <a:latin typeface="Lucida Sans"/>
              <a:cs typeface="Lucida Sans"/>
            </a:endParaRPr>
          </a:p>
        </p:txBody>
      </p:sp>
      <p:sp>
        <p:nvSpPr>
          <p:cNvPr id="22" name="object 22"/>
          <p:cNvSpPr txBox="1"/>
          <p:nvPr/>
        </p:nvSpPr>
        <p:spPr>
          <a:xfrm>
            <a:off x="7439497" y="4444548"/>
            <a:ext cx="777875" cy="229235"/>
          </a:xfrm>
          <a:prstGeom prst="rect">
            <a:avLst/>
          </a:prstGeom>
        </p:spPr>
        <p:txBody>
          <a:bodyPr vert="horz" wrap="square" lIns="0" tIns="17145" rIns="0" bIns="0" rtlCol="0">
            <a:spAutoFit/>
          </a:bodyPr>
          <a:lstStyle/>
          <a:p>
            <a:pPr marL="12700">
              <a:lnSpc>
                <a:spcPct val="100000"/>
              </a:lnSpc>
              <a:spcBef>
                <a:spcPts val="135"/>
              </a:spcBef>
            </a:pPr>
            <a:r>
              <a:rPr sz="1300" b="0" i="1" spc="-90" dirty="0">
                <a:solidFill>
                  <a:srgbClr val="BF311A"/>
                </a:solidFill>
                <a:latin typeface="Bookman Old Style"/>
                <a:cs typeface="Bookman Old Style"/>
              </a:rPr>
              <a:t>logarithmic</a:t>
            </a:r>
            <a:endParaRPr sz="1300" dirty="0">
              <a:latin typeface="Bookman Old Style"/>
              <a:cs typeface="Bookman Old Style"/>
            </a:endParaRPr>
          </a:p>
        </p:txBody>
      </p:sp>
      <p:sp>
        <p:nvSpPr>
          <p:cNvPr id="23" name="object 23"/>
          <p:cNvSpPr txBox="1"/>
          <p:nvPr/>
        </p:nvSpPr>
        <p:spPr>
          <a:xfrm>
            <a:off x="5038112" y="1707073"/>
            <a:ext cx="205740" cy="793750"/>
          </a:xfrm>
          <a:prstGeom prst="rect">
            <a:avLst/>
          </a:prstGeom>
        </p:spPr>
        <p:txBody>
          <a:bodyPr vert="vert270" wrap="square" lIns="0" tIns="0" rIns="0" bIns="0" rtlCol="0">
            <a:spAutoFit/>
          </a:bodyPr>
          <a:lstStyle/>
          <a:p>
            <a:pPr marL="12700">
              <a:lnSpc>
                <a:spcPts val="1445"/>
              </a:lnSpc>
            </a:pPr>
            <a:r>
              <a:rPr sz="1300" b="0" i="1" spc="-105" dirty="0">
                <a:solidFill>
                  <a:srgbClr val="BF311A"/>
                </a:solidFill>
                <a:latin typeface="Bookman Old Style"/>
                <a:cs typeface="Bookman Old Style"/>
              </a:rPr>
              <a:t>exponential</a:t>
            </a:r>
            <a:endParaRPr sz="1300" dirty="0">
              <a:latin typeface="Bookman Old Style"/>
              <a:cs typeface="Bookman Old Style"/>
            </a:endParaRPr>
          </a:p>
        </p:txBody>
      </p:sp>
      <p:sp>
        <p:nvSpPr>
          <p:cNvPr id="24" name="object 24"/>
          <p:cNvSpPr txBox="1"/>
          <p:nvPr/>
        </p:nvSpPr>
        <p:spPr>
          <a:xfrm>
            <a:off x="7639369" y="4741362"/>
            <a:ext cx="575945" cy="229235"/>
          </a:xfrm>
          <a:prstGeom prst="rect">
            <a:avLst/>
          </a:prstGeom>
        </p:spPr>
        <p:txBody>
          <a:bodyPr vert="horz" wrap="square" lIns="0" tIns="17145" rIns="0" bIns="0" rtlCol="0">
            <a:spAutoFit/>
          </a:bodyPr>
          <a:lstStyle/>
          <a:p>
            <a:pPr marL="12700">
              <a:lnSpc>
                <a:spcPct val="100000"/>
              </a:lnSpc>
              <a:spcBef>
                <a:spcPts val="135"/>
              </a:spcBef>
            </a:pPr>
            <a:r>
              <a:rPr sz="1300" b="0" i="1" spc="-125" dirty="0">
                <a:solidFill>
                  <a:srgbClr val="BF311A"/>
                </a:solidFill>
                <a:latin typeface="Bookman Old Style"/>
                <a:cs typeface="Bookman Old Style"/>
              </a:rPr>
              <a:t>constant</a:t>
            </a:r>
            <a:endParaRPr sz="1300" dirty="0">
              <a:latin typeface="Bookman Old Style"/>
              <a:cs typeface="Bookman Old Style"/>
            </a:endParaRPr>
          </a:p>
        </p:txBody>
      </p:sp>
      <p:sp>
        <p:nvSpPr>
          <p:cNvPr id="25" name="object 25"/>
          <p:cNvSpPr txBox="1"/>
          <p:nvPr/>
        </p:nvSpPr>
        <p:spPr>
          <a:xfrm rot="18900000">
            <a:off x="7333417" y="1925692"/>
            <a:ext cx="822836" cy="165100"/>
          </a:xfrm>
          <a:prstGeom prst="rect">
            <a:avLst/>
          </a:prstGeom>
        </p:spPr>
        <p:txBody>
          <a:bodyPr vert="horz" wrap="square" lIns="0" tIns="0" rIns="0" bIns="0" rtlCol="0">
            <a:spAutoFit/>
          </a:bodyPr>
          <a:lstStyle/>
          <a:p>
            <a:pPr>
              <a:lnSpc>
                <a:spcPts val="1285"/>
              </a:lnSpc>
            </a:pPr>
            <a:r>
              <a:rPr sz="1300" b="0" i="1" spc="-90" dirty="0">
                <a:solidFill>
                  <a:srgbClr val="BF311A"/>
                </a:solidFill>
                <a:latin typeface="Bookman Old Style"/>
                <a:cs typeface="Bookman Old Style"/>
              </a:rPr>
              <a:t>linearithmic</a:t>
            </a:r>
            <a:endParaRPr sz="1300" dirty="0">
              <a:latin typeface="Bookman Old Style"/>
              <a:cs typeface="Bookman Old Style"/>
            </a:endParaRPr>
          </a:p>
        </p:txBody>
      </p:sp>
      <p:sp>
        <p:nvSpPr>
          <p:cNvPr id="26" name="object 26"/>
          <p:cNvSpPr txBox="1"/>
          <p:nvPr/>
        </p:nvSpPr>
        <p:spPr>
          <a:xfrm rot="18900000">
            <a:off x="7860597" y="1988554"/>
            <a:ext cx="417601" cy="165100"/>
          </a:xfrm>
          <a:prstGeom prst="rect">
            <a:avLst/>
          </a:prstGeom>
        </p:spPr>
        <p:txBody>
          <a:bodyPr vert="horz" wrap="square" lIns="0" tIns="0" rIns="0" bIns="0" rtlCol="0">
            <a:spAutoFit/>
          </a:bodyPr>
          <a:lstStyle/>
          <a:p>
            <a:pPr>
              <a:lnSpc>
                <a:spcPts val="1280"/>
              </a:lnSpc>
            </a:pPr>
            <a:r>
              <a:rPr sz="1300" b="0" i="1" spc="-110" dirty="0">
                <a:solidFill>
                  <a:srgbClr val="BF311A"/>
                </a:solidFill>
                <a:latin typeface="Bookman Old Style"/>
                <a:cs typeface="Bookman Old Style"/>
              </a:rPr>
              <a:t>linear</a:t>
            </a:r>
            <a:endParaRPr sz="1300" dirty="0">
              <a:latin typeface="Bookman Old Style"/>
              <a:cs typeface="Bookman Old Style"/>
            </a:endParaRPr>
          </a:p>
        </p:txBody>
      </p:sp>
      <p:sp>
        <p:nvSpPr>
          <p:cNvPr id="27" name="object 27"/>
          <p:cNvSpPr txBox="1"/>
          <p:nvPr/>
        </p:nvSpPr>
        <p:spPr>
          <a:xfrm rot="17880000">
            <a:off x="6121550" y="1922067"/>
            <a:ext cx="652951" cy="165100"/>
          </a:xfrm>
          <a:prstGeom prst="rect">
            <a:avLst/>
          </a:prstGeom>
        </p:spPr>
        <p:txBody>
          <a:bodyPr vert="horz" wrap="square" lIns="0" tIns="0" rIns="0" bIns="0" rtlCol="0">
            <a:spAutoFit/>
          </a:bodyPr>
          <a:lstStyle/>
          <a:p>
            <a:pPr>
              <a:lnSpc>
                <a:spcPts val="1280"/>
              </a:lnSpc>
            </a:pPr>
            <a:r>
              <a:rPr sz="1300" b="0" i="1" spc="-120" dirty="0">
                <a:solidFill>
                  <a:srgbClr val="BF311A"/>
                </a:solidFill>
                <a:latin typeface="Bookman Old Style"/>
                <a:cs typeface="Bookman Old Style"/>
              </a:rPr>
              <a:t>quadratic</a:t>
            </a:r>
            <a:endParaRPr sz="1300" dirty="0">
              <a:latin typeface="Bookman Old Style"/>
              <a:cs typeface="Bookman Old Style"/>
            </a:endParaRPr>
          </a:p>
        </p:txBody>
      </p:sp>
      <p:sp>
        <p:nvSpPr>
          <p:cNvPr id="28" name="object 28"/>
          <p:cNvSpPr txBox="1"/>
          <p:nvPr/>
        </p:nvSpPr>
        <p:spPr>
          <a:xfrm rot="17280000">
            <a:off x="5848329" y="1810500"/>
            <a:ext cx="377978" cy="165100"/>
          </a:xfrm>
          <a:prstGeom prst="rect">
            <a:avLst/>
          </a:prstGeom>
        </p:spPr>
        <p:txBody>
          <a:bodyPr vert="horz" wrap="square" lIns="0" tIns="0" rIns="0" bIns="0" rtlCol="0">
            <a:spAutoFit/>
          </a:bodyPr>
          <a:lstStyle/>
          <a:p>
            <a:pPr>
              <a:lnSpc>
                <a:spcPts val="1280"/>
              </a:lnSpc>
            </a:pPr>
            <a:r>
              <a:rPr sz="1300" b="0" i="1" spc="-125" dirty="0">
                <a:solidFill>
                  <a:srgbClr val="BF311A"/>
                </a:solidFill>
                <a:latin typeface="Bookman Old Style"/>
                <a:cs typeface="Bookman Old Style"/>
              </a:rPr>
              <a:t>cubic</a:t>
            </a:r>
            <a:endParaRPr sz="1300">
              <a:latin typeface="Bookman Old Style"/>
              <a:cs typeface="Bookman Old Style"/>
            </a:endParaRPr>
          </a:p>
        </p:txBody>
      </p:sp>
      <p:sp>
        <p:nvSpPr>
          <p:cNvPr id="29" name="object 29"/>
          <p:cNvSpPr txBox="1"/>
          <p:nvPr/>
        </p:nvSpPr>
        <p:spPr>
          <a:xfrm>
            <a:off x="5059254" y="5226031"/>
            <a:ext cx="1258570" cy="195580"/>
          </a:xfrm>
          <a:prstGeom prst="rect">
            <a:avLst/>
          </a:prstGeom>
        </p:spPr>
        <p:txBody>
          <a:bodyPr vert="horz" wrap="square" lIns="0" tIns="13970" rIns="0" bIns="0" rtlCol="0">
            <a:spAutoFit/>
          </a:bodyPr>
          <a:lstStyle/>
          <a:p>
            <a:pPr marL="12700">
              <a:lnSpc>
                <a:spcPct val="100000"/>
              </a:lnSpc>
              <a:spcBef>
                <a:spcPts val="110"/>
              </a:spcBef>
              <a:tabLst>
                <a:tab pos="374650" algn="l"/>
                <a:tab pos="701675" algn="l"/>
                <a:tab pos="1063625" algn="l"/>
              </a:tabLst>
            </a:pPr>
            <a:r>
              <a:rPr sz="1100" spc="-25" dirty="0">
                <a:solidFill>
                  <a:srgbClr val="231F20"/>
                </a:solidFill>
                <a:latin typeface="Lucida Sans"/>
                <a:cs typeface="Lucida Sans"/>
              </a:rPr>
              <a:t>1K</a:t>
            </a:r>
            <a:r>
              <a:rPr sz="1100" dirty="0">
                <a:solidFill>
                  <a:srgbClr val="231F20"/>
                </a:solidFill>
                <a:latin typeface="Lucida Sans"/>
                <a:cs typeface="Lucida Sans"/>
              </a:rPr>
              <a:t>	</a:t>
            </a:r>
            <a:r>
              <a:rPr sz="1100" spc="-25" dirty="0">
                <a:solidFill>
                  <a:srgbClr val="231F20"/>
                </a:solidFill>
                <a:latin typeface="Lucida Sans"/>
                <a:cs typeface="Lucida Sans"/>
              </a:rPr>
              <a:t>2K</a:t>
            </a:r>
            <a:r>
              <a:rPr sz="1100" dirty="0">
                <a:solidFill>
                  <a:srgbClr val="231F20"/>
                </a:solidFill>
                <a:latin typeface="Lucida Sans"/>
                <a:cs typeface="Lucida Sans"/>
              </a:rPr>
              <a:t>	</a:t>
            </a:r>
            <a:r>
              <a:rPr sz="1100" spc="-25" dirty="0">
                <a:solidFill>
                  <a:srgbClr val="231F20"/>
                </a:solidFill>
                <a:latin typeface="Lucida Sans"/>
                <a:cs typeface="Lucida Sans"/>
              </a:rPr>
              <a:t>4K</a:t>
            </a:r>
            <a:r>
              <a:rPr sz="1100" dirty="0">
                <a:solidFill>
                  <a:srgbClr val="231F20"/>
                </a:solidFill>
                <a:latin typeface="Lucida Sans"/>
                <a:cs typeface="Lucida Sans"/>
              </a:rPr>
              <a:t>	</a:t>
            </a:r>
            <a:r>
              <a:rPr sz="1100" spc="-25" dirty="0">
                <a:solidFill>
                  <a:srgbClr val="231F20"/>
                </a:solidFill>
                <a:latin typeface="Lucida Sans"/>
                <a:cs typeface="Lucida Sans"/>
              </a:rPr>
              <a:t>8K</a:t>
            </a:r>
            <a:endParaRPr sz="1100">
              <a:latin typeface="Lucida Sans"/>
              <a:cs typeface="Lucida Sans"/>
            </a:endParaRPr>
          </a:p>
        </p:txBody>
      </p:sp>
      <p:sp>
        <p:nvSpPr>
          <p:cNvPr id="30" name="object 30"/>
          <p:cNvSpPr txBox="1"/>
          <p:nvPr/>
        </p:nvSpPr>
        <p:spPr>
          <a:xfrm>
            <a:off x="8022569" y="5226031"/>
            <a:ext cx="386080" cy="195580"/>
          </a:xfrm>
          <a:prstGeom prst="rect">
            <a:avLst/>
          </a:prstGeom>
        </p:spPr>
        <p:txBody>
          <a:bodyPr vert="horz" wrap="square" lIns="0" tIns="13970" rIns="0" bIns="0" rtlCol="0">
            <a:spAutoFit/>
          </a:bodyPr>
          <a:lstStyle/>
          <a:p>
            <a:pPr marL="12700">
              <a:lnSpc>
                <a:spcPct val="100000"/>
              </a:lnSpc>
              <a:spcBef>
                <a:spcPts val="110"/>
              </a:spcBef>
            </a:pPr>
            <a:r>
              <a:rPr sz="1100" spc="-20" dirty="0">
                <a:solidFill>
                  <a:srgbClr val="231F20"/>
                </a:solidFill>
                <a:latin typeface="Lucida Sans"/>
                <a:cs typeface="Lucida Sans"/>
              </a:rPr>
              <a:t>512K</a:t>
            </a:r>
            <a:endParaRPr sz="1100">
              <a:latin typeface="Lucida Sans"/>
              <a:cs typeface="Lucida Sans"/>
            </a:endParaRPr>
          </a:p>
        </p:txBody>
      </p:sp>
      <p:grpSp>
        <p:nvGrpSpPr>
          <p:cNvPr id="31" name="object 31"/>
          <p:cNvGrpSpPr/>
          <p:nvPr/>
        </p:nvGrpSpPr>
        <p:grpSpPr>
          <a:xfrm>
            <a:off x="5148204" y="1682138"/>
            <a:ext cx="3087370" cy="3125470"/>
            <a:chOff x="3737645" y="3083538"/>
            <a:chExt cx="3087370" cy="3125470"/>
          </a:xfrm>
        </p:grpSpPr>
        <p:sp>
          <p:nvSpPr>
            <p:cNvPr id="32" name="object 32"/>
            <p:cNvSpPr/>
            <p:nvPr/>
          </p:nvSpPr>
          <p:spPr>
            <a:xfrm>
              <a:off x="3765519" y="3141828"/>
              <a:ext cx="3043555" cy="3049270"/>
            </a:xfrm>
            <a:custGeom>
              <a:avLst/>
              <a:gdLst/>
              <a:ahLst/>
              <a:cxnLst/>
              <a:rect l="l" t="t" r="r" b="b"/>
              <a:pathLst>
                <a:path w="3043554" h="3049270">
                  <a:moveTo>
                    <a:pt x="0" y="3048871"/>
                  </a:moveTo>
                  <a:lnTo>
                    <a:pt x="3043102" y="0"/>
                  </a:lnTo>
                </a:path>
              </a:pathLst>
            </a:custGeom>
            <a:ln w="10594">
              <a:solidFill>
                <a:srgbClr val="231F20"/>
              </a:solidFill>
            </a:ln>
          </p:spPr>
          <p:txBody>
            <a:bodyPr wrap="square" lIns="0" tIns="0" rIns="0" bIns="0" rtlCol="0"/>
            <a:lstStyle/>
            <a:p>
              <a:endParaRPr/>
            </a:p>
          </p:txBody>
        </p:sp>
        <p:sp>
          <p:nvSpPr>
            <p:cNvPr id="33" name="object 33"/>
            <p:cNvSpPr/>
            <p:nvPr/>
          </p:nvSpPr>
          <p:spPr>
            <a:xfrm>
              <a:off x="3765519" y="3092695"/>
              <a:ext cx="1558290" cy="3096895"/>
            </a:xfrm>
            <a:custGeom>
              <a:avLst/>
              <a:gdLst/>
              <a:ahLst/>
              <a:cxnLst/>
              <a:rect l="l" t="t" r="r" b="b"/>
              <a:pathLst>
                <a:path w="1558289" h="3096895">
                  <a:moveTo>
                    <a:pt x="0" y="3096679"/>
                  </a:moveTo>
                  <a:lnTo>
                    <a:pt x="1558228" y="0"/>
                  </a:lnTo>
                </a:path>
                <a:path w="1558289" h="3096895">
                  <a:moveTo>
                    <a:pt x="0" y="3096679"/>
                  </a:moveTo>
                  <a:lnTo>
                    <a:pt x="1020776" y="6741"/>
                  </a:lnTo>
                </a:path>
              </a:pathLst>
            </a:custGeom>
            <a:ln w="10594">
              <a:solidFill>
                <a:srgbClr val="231F20"/>
              </a:solidFill>
            </a:ln>
          </p:spPr>
          <p:txBody>
            <a:bodyPr wrap="square" lIns="0" tIns="0" rIns="0" bIns="0" rtlCol="0"/>
            <a:lstStyle/>
            <a:p>
              <a:endParaRPr/>
            </a:p>
          </p:txBody>
        </p:sp>
        <p:sp>
          <p:nvSpPr>
            <p:cNvPr id="34" name="object 34"/>
            <p:cNvSpPr/>
            <p:nvPr/>
          </p:nvSpPr>
          <p:spPr>
            <a:xfrm>
              <a:off x="3764194" y="6191135"/>
              <a:ext cx="3055620" cy="635"/>
            </a:xfrm>
            <a:custGeom>
              <a:avLst/>
              <a:gdLst/>
              <a:ahLst/>
              <a:cxnLst/>
              <a:rect l="l" t="t" r="r" b="b"/>
              <a:pathLst>
                <a:path w="3055620" h="635">
                  <a:moveTo>
                    <a:pt x="0" y="0"/>
                  </a:moveTo>
                  <a:lnTo>
                    <a:pt x="3055003" y="445"/>
                  </a:lnTo>
                </a:path>
              </a:pathLst>
            </a:custGeom>
            <a:ln w="10600">
              <a:solidFill>
                <a:srgbClr val="231F20"/>
              </a:solidFill>
            </a:ln>
          </p:spPr>
          <p:txBody>
            <a:bodyPr wrap="square" lIns="0" tIns="0" rIns="0" bIns="0" rtlCol="0"/>
            <a:lstStyle/>
            <a:p>
              <a:endParaRPr/>
            </a:p>
          </p:txBody>
        </p:sp>
        <p:sp>
          <p:nvSpPr>
            <p:cNvPr id="35" name="object 35"/>
            <p:cNvSpPr/>
            <p:nvPr/>
          </p:nvSpPr>
          <p:spPr>
            <a:xfrm>
              <a:off x="3763761" y="6107507"/>
              <a:ext cx="3046095" cy="83820"/>
            </a:xfrm>
            <a:custGeom>
              <a:avLst/>
              <a:gdLst/>
              <a:ahLst/>
              <a:cxnLst/>
              <a:rect l="l" t="t" r="r" b="b"/>
              <a:pathLst>
                <a:path w="3046095" h="83820">
                  <a:moveTo>
                    <a:pt x="0" y="83192"/>
                  </a:moveTo>
                  <a:lnTo>
                    <a:pt x="70346" y="72989"/>
                  </a:lnTo>
                  <a:lnTo>
                    <a:pt x="264583" y="50079"/>
                  </a:lnTo>
                  <a:lnTo>
                    <a:pt x="557507" y="26012"/>
                  </a:lnTo>
                  <a:lnTo>
                    <a:pt x="923916" y="12338"/>
                  </a:lnTo>
                  <a:lnTo>
                    <a:pt x="961470" y="11899"/>
                  </a:lnTo>
                  <a:lnTo>
                    <a:pt x="998981" y="11461"/>
                  </a:lnTo>
                  <a:lnTo>
                    <a:pt x="1074075" y="10586"/>
                  </a:lnTo>
                  <a:lnTo>
                    <a:pt x="1149604" y="9719"/>
                  </a:lnTo>
                  <a:lnTo>
                    <a:pt x="1225974" y="8864"/>
                  </a:lnTo>
                  <a:lnTo>
                    <a:pt x="1264601" y="8441"/>
                  </a:lnTo>
                  <a:lnTo>
                    <a:pt x="1303591" y="8024"/>
                  </a:lnTo>
                  <a:lnTo>
                    <a:pt x="1342993" y="7611"/>
                  </a:lnTo>
                  <a:lnTo>
                    <a:pt x="1382859" y="7203"/>
                  </a:lnTo>
                  <a:lnTo>
                    <a:pt x="1423240" y="6802"/>
                  </a:lnTo>
                  <a:lnTo>
                    <a:pt x="1464185" y="6407"/>
                  </a:lnTo>
                  <a:lnTo>
                    <a:pt x="1505746" y="6019"/>
                  </a:lnTo>
                  <a:lnTo>
                    <a:pt x="1547974" y="5638"/>
                  </a:lnTo>
                  <a:lnTo>
                    <a:pt x="1590918" y="5265"/>
                  </a:lnTo>
                  <a:lnTo>
                    <a:pt x="1634631" y="4901"/>
                  </a:lnTo>
                  <a:lnTo>
                    <a:pt x="1679162" y="4545"/>
                  </a:lnTo>
                  <a:lnTo>
                    <a:pt x="1724562" y="4199"/>
                  </a:lnTo>
                  <a:lnTo>
                    <a:pt x="1770882" y="3863"/>
                  </a:lnTo>
                  <a:lnTo>
                    <a:pt x="1818172" y="3538"/>
                  </a:lnTo>
                  <a:lnTo>
                    <a:pt x="1866484" y="3223"/>
                  </a:lnTo>
                  <a:lnTo>
                    <a:pt x="1915867" y="2920"/>
                  </a:lnTo>
                  <a:lnTo>
                    <a:pt x="1966374" y="2629"/>
                  </a:lnTo>
                  <a:lnTo>
                    <a:pt x="2018053" y="2350"/>
                  </a:lnTo>
                  <a:lnTo>
                    <a:pt x="2070957" y="2084"/>
                  </a:lnTo>
                  <a:lnTo>
                    <a:pt x="2125135" y="1832"/>
                  </a:lnTo>
                  <a:lnTo>
                    <a:pt x="2180638" y="1594"/>
                  </a:lnTo>
                  <a:lnTo>
                    <a:pt x="2237518" y="1370"/>
                  </a:lnTo>
                  <a:lnTo>
                    <a:pt x="2295824" y="1161"/>
                  </a:lnTo>
                  <a:lnTo>
                    <a:pt x="2355608" y="968"/>
                  </a:lnTo>
                  <a:lnTo>
                    <a:pt x="2416920" y="791"/>
                  </a:lnTo>
                  <a:lnTo>
                    <a:pt x="2479810" y="630"/>
                  </a:lnTo>
                  <a:lnTo>
                    <a:pt x="2544330" y="487"/>
                  </a:lnTo>
                  <a:lnTo>
                    <a:pt x="2610531" y="360"/>
                  </a:lnTo>
                  <a:lnTo>
                    <a:pt x="2678462" y="252"/>
                  </a:lnTo>
                  <a:lnTo>
                    <a:pt x="2748175" y="163"/>
                  </a:lnTo>
                  <a:lnTo>
                    <a:pt x="2819720" y="92"/>
                  </a:lnTo>
                  <a:lnTo>
                    <a:pt x="2893147" y="41"/>
                  </a:lnTo>
                  <a:lnTo>
                    <a:pt x="2968509" y="10"/>
                  </a:lnTo>
                  <a:lnTo>
                    <a:pt x="3045855" y="0"/>
                  </a:lnTo>
                </a:path>
              </a:pathLst>
            </a:custGeom>
            <a:ln w="10600">
              <a:solidFill>
                <a:srgbClr val="231F20"/>
              </a:solidFill>
            </a:ln>
          </p:spPr>
          <p:txBody>
            <a:bodyPr wrap="square" lIns="0" tIns="0" rIns="0" bIns="0" rtlCol="0"/>
            <a:lstStyle/>
            <a:p>
              <a:endParaRPr/>
            </a:p>
          </p:txBody>
        </p:sp>
        <p:sp>
          <p:nvSpPr>
            <p:cNvPr id="36" name="object 36"/>
            <p:cNvSpPr/>
            <p:nvPr/>
          </p:nvSpPr>
          <p:spPr>
            <a:xfrm>
              <a:off x="3758032" y="3092144"/>
              <a:ext cx="83185" cy="3086100"/>
            </a:xfrm>
            <a:custGeom>
              <a:avLst/>
              <a:gdLst/>
              <a:ahLst/>
              <a:cxnLst/>
              <a:rect l="l" t="t" r="r" b="b"/>
              <a:pathLst>
                <a:path w="83185" h="3086100">
                  <a:moveTo>
                    <a:pt x="0" y="3085739"/>
                  </a:moveTo>
                  <a:lnTo>
                    <a:pt x="10191" y="3014474"/>
                  </a:lnTo>
                  <a:lnTo>
                    <a:pt x="33071" y="2817701"/>
                  </a:lnTo>
                  <a:lnTo>
                    <a:pt x="57104" y="2520951"/>
                  </a:lnTo>
                  <a:lnTo>
                    <a:pt x="70749" y="2149758"/>
                  </a:lnTo>
                  <a:lnTo>
                    <a:pt x="71188" y="2111708"/>
                  </a:lnTo>
                  <a:lnTo>
                    <a:pt x="71626" y="2073703"/>
                  </a:lnTo>
                  <a:lnTo>
                    <a:pt x="72499" y="1997618"/>
                  </a:lnTo>
                  <a:lnTo>
                    <a:pt x="72934" y="1959436"/>
                  </a:lnTo>
                  <a:lnTo>
                    <a:pt x="73365" y="1921093"/>
                  </a:lnTo>
                  <a:lnTo>
                    <a:pt x="73794" y="1882538"/>
                  </a:lnTo>
                  <a:lnTo>
                    <a:pt x="74220" y="1843718"/>
                  </a:lnTo>
                  <a:lnTo>
                    <a:pt x="74641" y="1804583"/>
                  </a:lnTo>
                  <a:lnTo>
                    <a:pt x="75059" y="1765081"/>
                  </a:lnTo>
                  <a:lnTo>
                    <a:pt x="75471" y="1725161"/>
                  </a:lnTo>
                  <a:lnTo>
                    <a:pt x="75878" y="1684771"/>
                  </a:lnTo>
                  <a:lnTo>
                    <a:pt x="76279" y="1643861"/>
                  </a:lnTo>
                  <a:lnTo>
                    <a:pt x="76674" y="1602378"/>
                  </a:lnTo>
                  <a:lnTo>
                    <a:pt x="77061" y="1560272"/>
                  </a:lnTo>
                  <a:lnTo>
                    <a:pt x="77442" y="1517490"/>
                  </a:lnTo>
                  <a:lnTo>
                    <a:pt x="77814" y="1473983"/>
                  </a:lnTo>
                  <a:lnTo>
                    <a:pt x="78178" y="1429697"/>
                  </a:lnTo>
                  <a:lnTo>
                    <a:pt x="78533" y="1384583"/>
                  </a:lnTo>
                  <a:lnTo>
                    <a:pt x="78879" y="1338588"/>
                  </a:lnTo>
                  <a:lnTo>
                    <a:pt x="79214" y="1291662"/>
                  </a:lnTo>
                  <a:lnTo>
                    <a:pt x="79539" y="1243752"/>
                  </a:lnTo>
                  <a:lnTo>
                    <a:pt x="79854" y="1194808"/>
                  </a:lnTo>
                  <a:lnTo>
                    <a:pt x="80156" y="1144778"/>
                  </a:lnTo>
                  <a:lnTo>
                    <a:pt x="80447" y="1093610"/>
                  </a:lnTo>
                  <a:lnTo>
                    <a:pt x="80726" y="1041254"/>
                  </a:lnTo>
                  <a:lnTo>
                    <a:pt x="80991" y="987659"/>
                  </a:lnTo>
                  <a:lnTo>
                    <a:pt x="81243" y="932771"/>
                  </a:lnTo>
                  <a:lnTo>
                    <a:pt x="81481" y="876542"/>
                  </a:lnTo>
                  <a:lnTo>
                    <a:pt x="81704" y="818918"/>
                  </a:lnTo>
                  <a:lnTo>
                    <a:pt x="81913" y="759848"/>
                  </a:lnTo>
                  <a:lnTo>
                    <a:pt x="82106" y="699282"/>
                  </a:lnTo>
                  <a:lnTo>
                    <a:pt x="82283" y="637168"/>
                  </a:lnTo>
                  <a:lnTo>
                    <a:pt x="82443" y="573454"/>
                  </a:lnTo>
                  <a:lnTo>
                    <a:pt x="82587" y="508090"/>
                  </a:lnTo>
                  <a:lnTo>
                    <a:pt x="82713" y="441023"/>
                  </a:lnTo>
                  <a:lnTo>
                    <a:pt x="82821" y="372203"/>
                  </a:lnTo>
                  <a:lnTo>
                    <a:pt x="82911" y="301577"/>
                  </a:lnTo>
                  <a:lnTo>
                    <a:pt x="82981" y="229096"/>
                  </a:lnTo>
                  <a:lnTo>
                    <a:pt x="83032" y="154707"/>
                  </a:lnTo>
                  <a:lnTo>
                    <a:pt x="83063" y="78358"/>
                  </a:lnTo>
                  <a:lnTo>
                    <a:pt x="83073" y="0"/>
                  </a:lnTo>
                </a:path>
              </a:pathLst>
            </a:custGeom>
            <a:ln w="10588">
              <a:solidFill>
                <a:srgbClr val="231F20"/>
              </a:solidFill>
            </a:ln>
          </p:spPr>
          <p:txBody>
            <a:bodyPr wrap="square" lIns="0" tIns="0" rIns="0" bIns="0" rtlCol="0"/>
            <a:lstStyle/>
            <a:p>
              <a:endParaRPr/>
            </a:p>
          </p:txBody>
        </p:sp>
        <p:sp>
          <p:nvSpPr>
            <p:cNvPr id="37" name="object 37"/>
            <p:cNvSpPr/>
            <p:nvPr/>
          </p:nvSpPr>
          <p:spPr>
            <a:xfrm>
              <a:off x="3778298" y="3088835"/>
              <a:ext cx="2999105" cy="3084195"/>
            </a:xfrm>
            <a:custGeom>
              <a:avLst/>
              <a:gdLst/>
              <a:ahLst/>
              <a:cxnLst/>
              <a:rect l="l" t="t" r="r" b="b"/>
              <a:pathLst>
                <a:path w="2999104" h="3084195">
                  <a:moveTo>
                    <a:pt x="0" y="3083916"/>
                  </a:moveTo>
                  <a:lnTo>
                    <a:pt x="81213" y="2958875"/>
                  </a:lnTo>
                  <a:lnTo>
                    <a:pt x="262588" y="2750934"/>
                  </a:lnTo>
                  <a:lnTo>
                    <a:pt x="608794" y="2400142"/>
                  </a:lnTo>
                  <a:lnTo>
                    <a:pt x="642662" y="2367164"/>
                  </a:lnTo>
                  <a:lnTo>
                    <a:pt x="676882" y="2333708"/>
                  </a:lnTo>
                  <a:lnTo>
                    <a:pt x="711437" y="2299796"/>
                  </a:lnTo>
                  <a:lnTo>
                    <a:pt x="746309" y="2265450"/>
                  </a:lnTo>
                  <a:lnTo>
                    <a:pt x="781481" y="2230691"/>
                  </a:lnTo>
                  <a:lnTo>
                    <a:pt x="816936" y="2195541"/>
                  </a:lnTo>
                  <a:lnTo>
                    <a:pt x="852656" y="2160022"/>
                  </a:lnTo>
                  <a:lnTo>
                    <a:pt x="888625" y="2124157"/>
                  </a:lnTo>
                  <a:lnTo>
                    <a:pt x="924825" y="2087966"/>
                  </a:lnTo>
                  <a:lnTo>
                    <a:pt x="961239" y="2051471"/>
                  </a:lnTo>
                  <a:lnTo>
                    <a:pt x="997850" y="2014695"/>
                  </a:lnTo>
                  <a:lnTo>
                    <a:pt x="1034640" y="1977659"/>
                  </a:lnTo>
                  <a:lnTo>
                    <a:pt x="1071592" y="1940385"/>
                  </a:lnTo>
                  <a:lnTo>
                    <a:pt x="1108690" y="1902895"/>
                  </a:lnTo>
                  <a:lnTo>
                    <a:pt x="1145915" y="1865211"/>
                  </a:lnTo>
                  <a:lnTo>
                    <a:pt x="1183251" y="1827354"/>
                  </a:lnTo>
                  <a:lnTo>
                    <a:pt x="1220681" y="1789346"/>
                  </a:lnTo>
                  <a:lnTo>
                    <a:pt x="1258187" y="1751210"/>
                  </a:lnTo>
                  <a:lnTo>
                    <a:pt x="1295752" y="1712966"/>
                  </a:lnTo>
                  <a:lnTo>
                    <a:pt x="1333358" y="1674638"/>
                  </a:lnTo>
                  <a:lnTo>
                    <a:pt x="1370989" y="1636246"/>
                  </a:lnTo>
                  <a:lnTo>
                    <a:pt x="1408628" y="1597812"/>
                  </a:lnTo>
                  <a:lnTo>
                    <a:pt x="1446256" y="1559359"/>
                  </a:lnTo>
                  <a:lnTo>
                    <a:pt x="1483858" y="1520907"/>
                  </a:lnTo>
                  <a:lnTo>
                    <a:pt x="1521415" y="1482480"/>
                  </a:lnTo>
                  <a:lnTo>
                    <a:pt x="1558911" y="1444098"/>
                  </a:lnTo>
                  <a:lnTo>
                    <a:pt x="1596328" y="1405784"/>
                  </a:lnTo>
                  <a:lnTo>
                    <a:pt x="1633649" y="1367559"/>
                  </a:lnTo>
                  <a:lnTo>
                    <a:pt x="1670857" y="1329446"/>
                  </a:lnTo>
                  <a:lnTo>
                    <a:pt x="1707934" y="1291465"/>
                  </a:lnTo>
                  <a:lnTo>
                    <a:pt x="1744864" y="1253639"/>
                  </a:lnTo>
                  <a:lnTo>
                    <a:pt x="1781629" y="1215990"/>
                  </a:lnTo>
                  <a:lnTo>
                    <a:pt x="1818212" y="1178539"/>
                  </a:lnTo>
                  <a:lnTo>
                    <a:pt x="1854596" y="1141309"/>
                  </a:lnTo>
                  <a:lnTo>
                    <a:pt x="1890763" y="1104321"/>
                  </a:lnTo>
                  <a:lnTo>
                    <a:pt x="1926697" y="1067597"/>
                  </a:lnTo>
                  <a:lnTo>
                    <a:pt x="1962380" y="1031158"/>
                  </a:lnTo>
                  <a:lnTo>
                    <a:pt x="1997794" y="995027"/>
                  </a:lnTo>
                  <a:lnTo>
                    <a:pt x="2032924" y="959226"/>
                  </a:lnTo>
                  <a:lnTo>
                    <a:pt x="2067750" y="923776"/>
                  </a:lnTo>
                  <a:lnTo>
                    <a:pt x="2102257" y="888699"/>
                  </a:lnTo>
                  <a:lnTo>
                    <a:pt x="2136427" y="854016"/>
                  </a:lnTo>
                  <a:lnTo>
                    <a:pt x="2170243" y="819751"/>
                  </a:lnTo>
                  <a:lnTo>
                    <a:pt x="2203687" y="785924"/>
                  </a:lnTo>
                  <a:lnTo>
                    <a:pt x="2236743" y="752557"/>
                  </a:lnTo>
                  <a:lnTo>
                    <a:pt x="2269392" y="719673"/>
                  </a:lnTo>
                  <a:lnTo>
                    <a:pt x="2301619" y="687292"/>
                  </a:lnTo>
                  <a:lnTo>
                    <a:pt x="2333406" y="655438"/>
                  </a:lnTo>
                  <a:lnTo>
                    <a:pt x="2364734" y="624131"/>
                  </a:lnTo>
                  <a:lnTo>
                    <a:pt x="2395589" y="593393"/>
                  </a:lnTo>
                  <a:lnTo>
                    <a:pt x="2425951" y="563247"/>
                  </a:lnTo>
                  <a:lnTo>
                    <a:pt x="2455804" y="533714"/>
                  </a:lnTo>
                  <a:lnTo>
                    <a:pt x="2485130" y="504816"/>
                  </a:lnTo>
                  <a:lnTo>
                    <a:pt x="2998547" y="0"/>
                  </a:lnTo>
                </a:path>
              </a:pathLst>
            </a:custGeom>
            <a:ln w="10594">
              <a:solidFill>
                <a:srgbClr val="231F20"/>
              </a:solidFill>
            </a:ln>
          </p:spPr>
          <p:txBody>
            <a:bodyPr wrap="square" lIns="0" tIns="0" rIns="0" bIns="0" rtlCol="0"/>
            <a:lstStyle/>
            <a:p>
              <a:endParaRPr/>
            </a:p>
          </p:txBody>
        </p:sp>
        <p:sp>
          <p:nvSpPr>
            <p:cNvPr id="38" name="object 38"/>
            <p:cNvSpPr/>
            <p:nvPr/>
          </p:nvSpPr>
          <p:spPr>
            <a:xfrm>
              <a:off x="3740293" y="6158445"/>
              <a:ext cx="47625" cy="47625"/>
            </a:xfrm>
            <a:custGeom>
              <a:avLst/>
              <a:gdLst/>
              <a:ahLst/>
              <a:cxnLst/>
              <a:rect l="l" t="t" r="r" b="b"/>
              <a:pathLst>
                <a:path w="47625" h="47625">
                  <a:moveTo>
                    <a:pt x="23760" y="0"/>
                  </a:moveTo>
                  <a:lnTo>
                    <a:pt x="14508" y="1871"/>
                  </a:lnTo>
                  <a:lnTo>
                    <a:pt x="6956" y="6975"/>
                  </a:lnTo>
                  <a:lnTo>
                    <a:pt x="1866" y="14543"/>
                  </a:lnTo>
                  <a:lnTo>
                    <a:pt x="0" y="23808"/>
                  </a:lnTo>
                  <a:lnTo>
                    <a:pt x="1866" y="33061"/>
                  </a:lnTo>
                  <a:lnTo>
                    <a:pt x="6956" y="40623"/>
                  </a:lnTo>
                  <a:lnTo>
                    <a:pt x="14508" y="45724"/>
                  </a:lnTo>
                  <a:lnTo>
                    <a:pt x="23760" y="47595"/>
                  </a:lnTo>
                  <a:lnTo>
                    <a:pt x="33011" y="45724"/>
                  </a:lnTo>
                  <a:lnTo>
                    <a:pt x="40563" y="40623"/>
                  </a:lnTo>
                  <a:lnTo>
                    <a:pt x="45653" y="33061"/>
                  </a:lnTo>
                  <a:lnTo>
                    <a:pt x="47519" y="23808"/>
                  </a:lnTo>
                  <a:lnTo>
                    <a:pt x="45653" y="14543"/>
                  </a:lnTo>
                  <a:lnTo>
                    <a:pt x="40563" y="6975"/>
                  </a:lnTo>
                  <a:lnTo>
                    <a:pt x="33011" y="1871"/>
                  </a:lnTo>
                  <a:lnTo>
                    <a:pt x="23760" y="0"/>
                  </a:lnTo>
                  <a:close/>
                </a:path>
              </a:pathLst>
            </a:custGeom>
            <a:solidFill>
              <a:srgbClr val="231F20"/>
            </a:solidFill>
          </p:spPr>
          <p:txBody>
            <a:bodyPr wrap="square" lIns="0" tIns="0" rIns="0" bIns="0" rtlCol="0"/>
            <a:lstStyle/>
            <a:p>
              <a:endParaRPr/>
            </a:p>
          </p:txBody>
        </p:sp>
        <p:sp>
          <p:nvSpPr>
            <p:cNvPr id="39" name="object 39"/>
            <p:cNvSpPr/>
            <p:nvPr/>
          </p:nvSpPr>
          <p:spPr>
            <a:xfrm>
              <a:off x="3740293" y="6158445"/>
              <a:ext cx="47625" cy="47625"/>
            </a:xfrm>
            <a:custGeom>
              <a:avLst/>
              <a:gdLst/>
              <a:ahLst/>
              <a:cxnLst/>
              <a:rect l="l" t="t" r="r" b="b"/>
              <a:pathLst>
                <a:path w="47625" h="47625">
                  <a:moveTo>
                    <a:pt x="47519" y="23808"/>
                  </a:moveTo>
                  <a:lnTo>
                    <a:pt x="45653" y="33061"/>
                  </a:lnTo>
                  <a:lnTo>
                    <a:pt x="40562" y="40623"/>
                  </a:lnTo>
                  <a:lnTo>
                    <a:pt x="33010" y="45724"/>
                  </a:lnTo>
                  <a:lnTo>
                    <a:pt x="23759" y="47596"/>
                  </a:lnTo>
                  <a:lnTo>
                    <a:pt x="14508" y="45724"/>
                  </a:lnTo>
                  <a:lnTo>
                    <a:pt x="6956" y="40623"/>
                  </a:lnTo>
                  <a:lnTo>
                    <a:pt x="1866" y="33061"/>
                  </a:lnTo>
                  <a:lnTo>
                    <a:pt x="0" y="23808"/>
                  </a:lnTo>
                  <a:lnTo>
                    <a:pt x="1866" y="14543"/>
                  </a:lnTo>
                  <a:lnTo>
                    <a:pt x="6956" y="6975"/>
                  </a:lnTo>
                  <a:lnTo>
                    <a:pt x="14508" y="1871"/>
                  </a:lnTo>
                  <a:lnTo>
                    <a:pt x="23759" y="0"/>
                  </a:lnTo>
                  <a:lnTo>
                    <a:pt x="33010" y="1871"/>
                  </a:lnTo>
                  <a:lnTo>
                    <a:pt x="40562" y="6975"/>
                  </a:lnTo>
                  <a:lnTo>
                    <a:pt x="45653" y="14543"/>
                  </a:lnTo>
                  <a:lnTo>
                    <a:pt x="47519" y="23808"/>
                  </a:lnTo>
                  <a:close/>
                </a:path>
              </a:pathLst>
            </a:custGeom>
            <a:ln w="5297">
              <a:solidFill>
                <a:srgbClr val="231F20"/>
              </a:solidFill>
            </a:ln>
          </p:spPr>
          <p:txBody>
            <a:bodyPr wrap="square" lIns="0" tIns="0" rIns="0" bIns="0" rtlCol="0"/>
            <a:lstStyle/>
            <a:p>
              <a:endParaRPr/>
            </a:p>
          </p:txBody>
        </p:sp>
      </p:grpSp>
      <p:grpSp>
        <p:nvGrpSpPr>
          <p:cNvPr id="40" name="object 40"/>
          <p:cNvGrpSpPr/>
          <p:nvPr/>
        </p:nvGrpSpPr>
        <p:grpSpPr>
          <a:xfrm>
            <a:off x="5169026" y="5110567"/>
            <a:ext cx="3060065" cy="88900"/>
            <a:chOff x="3758467" y="6511967"/>
            <a:chExt cx="3060065" cy="88900"/>
          </a:xfrm>
        </p:grpSpPr>
        <p:sp>
          <p:nvSpPr>
            <p:cNvPr id="41" name="object 41"/>
            <p:cNvSpPr/>
            <p:nvPr/>
          </p:nvSpPr>
          <p:spPr>
            <a:xfrm>
              <a:off x="4441399"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2" name="object 42"/>
            <p:cNvSpPr/>
            <p:nvPr/>
          </p:nvSpPr>
          <p:spPr>
            <a:xfrm>
              <a:off x="4102579"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3" name="object 43"/>
            <p:cNvSpPr/>
            <p:nvPr/>
          </p:nvSpPr>
          <p:spPr>
            <a:xfrm>
              <a:off x="4780217"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4" name="object 44"/>
            <p:cNvSpPr/>
            <p:nvPr/>
          </p:nvSpPr>
          <p:spPr>
            <a:xfrm>
              <a:off x="5457845"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5" name="object 45"/>
            <p:cNvSpPr/>
            <p:nvPr/>
          </p:nvSpPr>
          <p:spPr>
            <a:xfrm>
              <a:off x="6135482"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6" name="object 46"/>
            <p:cNvSpPr/>
            <p:nvPr/>
          </p:nvSpPr>
          <p:spPr>
            <a:xfrm>
              <a:off x="6813120"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7" name="object 47"/>
            <p:cNvSpPr/>
            <p:nvPr/>
          </p:nvSpPr>
          <p:spPr>
            <a:xfrm>
              <a:off x="5119036"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8" name="object 48"/>
            <p:cNvSpPr/>
            <p:nvPr/>
          </p:nvSpPr>
          <p:spPr>
            <a:xfrm>
              <a:off x="5796664"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49" name="object 49"/>
            <p:cNvSpPr/>
            <p:nvPr/>
          </p:nvSpPr>
          <p:spPr>
            <a:xfrm>
              <a:off x="6474302"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sp>
          <p:nvSpPr>
            <p:cNvPr id="50" name="object 50"/>
            <p:cNvSpPr/>
            <p:nvPr/>
          </p:nvSpPr>
          <p:spPr>
            <a:xfrm>
              <a:off x="3763761" y="6511967"/>
              <a:ext cx="0" cy="88900"/>
            </a:xfrm>
            <a:custGeom>
              <a:avLst/>
              <a:gdLst/>
              <a:ahLst/>
              <a:cxnLst/>
              <a:rect l="l" t="t" r="r" b="b"/>
              <a:pathLst>
                <a:path h="88900">
                  <a:moveTo>
                    <a:pt x="0" y="0"/>
                  </a:moveTo>
                  <a:lnTo>
                    <a:pt x="0" y="88620"/>
                  </a:lnTo>
                </a:path>
              </a:pathLst>
            </a:custGeom>
            <a:ln w="10588">
              <a:solidFill>
                <a:srgbClr val="BF311A"/>
              </a:solidFill>
            </a:ln>
          </p:spPr>
          <p:txBody>
            <a:bodyPr wrap="square" lIns="0" tIns="0" rIns="0" bIns="0" rtlCol="0"/>
            <a:lstStyle/>
            <a:p>
              <a:endParaRPr/>
            </a:p>
          </p:txBody>
        </p:sp>
      </p:grpSp>
      <p:sp>
        <p:nvSpPr>
          <p:cNvPr id="51" name="object 51"/>
          <p:cNvSpPr txBox="1"/>
          <p:nvPr/>
        </p:nvSpPr>
        <p:spPr>
          <a:xfrm>
            <a:off x="6559566" y="5261442"/>
            <a:ext cx="256540" cy="229235"/>
          </a:xfrm>
          <a:prstGeom prst="rect">
            <a:avLst/>
          </a:prstGeom>
        </p:spPr>
        <p:txBody>
          <a:bodyPr vert="horz" wrap="square" lIns="0" tIns="17145" rIns="0" bIns="0" rtlCol="0">
            <a:spAutoFit/>
          </a:bodyPr>
          <a:lstStyle/>
          <a:p>
            <a:pPr marL="12700">
              <a:lnSpc>
                <a:spcPct val="100000"/>
              </a:lnSpc>
              <a:spcBef>
                <a:spcPts val="135"/>
              </a:spcBef>
            </a:pPr>
            <a:r>
              <a:rPr sz="1300" b="0" i="1" spc="-150" dirty="0">
                <a:solidFill>
                  <a:srgbClr val="BF311A"/>
                </a:solidFill>
                <a:latin typeface="Bookman Old Style"/>
                <a:cs typeface="Bookman Old Style"/>
              </a:rPr>
              <a:t>size</a:t>
            </a:r>
            <a:endParaRPr sz="1300">
              <a:latin typeface="Bookman Old Style"/>
              <a:cs typeface="Bookman Old Style"/>
            </a:endParaRPr>
          </a:p>
        </p:txBody>
      </p:sp>
      <p:sp>
        <p:nvSpPr>
          <p:cNvPr id="52" name="object 52"/>
          <p:cNvSpPr txBox="1"/>
          <p:nvPr/>
        </p:nvSpPr>
        <p:spPr>
          <a:xfrm>
            <a:off x="4184968" y="2919704"/>
            <a:ext cx="205740" cy="321310"/>
          </a:xfrm>
          <a:prstGeom prst="rect">
            <a:avLst/>
          </a:prstGeom>
        </p:spPr>
        <p:txBody>
          <a:bodyPr vert="vert270" wrap="square" lIns="0" tIns="0" rIns="0" bIns="0" rtlCol="0">
            <a:spAutoFit/>
          </a:bodyPr>
          <a:lstStyle/>
          <a:p>
            <a:pPr marL="12700">
              <a:lnSpc>
                <a:spcPts val="1445"/>
              </a:lnSpc>
            </a:pPr>
            <a:r>
              <a:rPr sz="1300" b="0" i="1" spc="-75" dirty="0">
                <a:solidFill>
                  <a:srgbClr val="BF311A"/>
                </a:solidFill>
                <a:latin typeface="Bookman Old Style"/>
                <a:cs typeface="Bookman Old Style"/>
              </a:rPr>
              <a:t>time</a:t>
            </a:r>
            <a:endParaRPr sz="1300">
              <a:latin typeface="Bookman Old Style"/>
              <a:cs typeface="Bookman Old Style"/>
            </a:endParaRPr>
          </a:p>
        </p:txBody>
      </p:sp>
      <p:sp>
        <p:nvSpPr>
          <p:cNvPr id="54" name="object 54"/>
          <p:cNvSpPr txBox="1"/>
          <p:nvPr/>
        </p:nvSpPr>
        <p:spPr>
          <a:xfrm>
            <a:off x="1738204" y="595193"/>
            <a:ext cx="6642100" cy="993775"/>
          </a:xfrm>
          <a:prstGeom prst="rect">
            <a:avLst/>
          </a:prstGeom>
        </p:spPr>
        <p:txBody>
          <a:bodyPr vert="horz" wrap="square" lIns="0" tIns="13335" rIns="0" bIns="0" rtlCol="0">
            <a:spAutoFit/>
          </a:bodyPr>
          <a:lstStyle/>
          <a:p>
            <a:pPr marL="12700">
              <a:lnSpc>
                <a:spcPct val="100000"/>
              </a:lnSpc>
              <a:spcBef>
                <a:spcPts val="105"/>
              </a:spcBef>
            </a:pPr>
            <a:r>
              <a:rPr lang="en-US" sz="1850" dirty="0">
                <a:latin typeface="Lucida Sans"/>
                <a:cs typeface="Lucida Sans"/>
              </a:rPr>
              <a:t> </a:t>
            </a:r>
            <a:endParaRPr sz="1850" dirty="0">
              <a:latin typeface="Lucida Sans"/>
              <a:cs typeface="Lucida Sans"/>
            </a:endParaRPr>
          </a:p>
          <a:p>
            <a:pPr>
              <a:lnSpc>
                <a:spcPct val="100000"/>
              </a:lnSpc>
              <a:spcBef>
                <a:spcPts val="5"/>
              </a:spcBef>
            </a:pPr>
            <a:endParaRPr sz="3250" dirty="0">
              <a:latin typeface="Lucida Sans"/>
              <a:cs typeface="Lucida Sans"/>
            </a:endParaRPr>
          </a:p>
          <a:p>
            <a:pPr marL="2134870">
              <a:lnSpc>
                <a:spcPct val="100000"/>
              </a:lnSpc>
            </a:pPr>
            <a:r>
              <a:rPr sz="1300" b="1" spc="60" dirty="0">
                <a:solidFill>
                  <a:srgbClr val="BF311A"/>
                </a:solidFill>
                <a:latin typeface="Calibri"/>
                <a:cs typeface="Calibri"/>
              </a:rPr>
              <a:t>log-</a:t>
            </a:r>
            <a:r>
              <a:rPr sz="1300" b="1" spc="65" dirty="0">
                <a:solidFill>
                  <a:srgbClr val="BF311A"/>
                </a:solidFill>
                <a:latin typeface="Calibri"/>
                <a:cs typeface="Calibri"/>
              </a:rPr>
              <a:t>log</a:t>
            </a:r>
            <a:r>
              <a:rPr sz="1300" b="1" spc="-15" dirty="0">
                <a:solidFill>
                  <a:srgbClr val="BF311A"/>
                </a:solidFill>
                <a:latin typeface="Calibri"/>
                <a:cs typeface="Calibri"/>
              </a:rPr>
              <a:t> </a:t>
            </a:r>
            <a:r>
              <a:rPr sz="1300" b="1" spc="-20" dirty="0">
                <a:solidFill>
                  <a:srgbClr val="BF311A"/>
                </a:solidFill>
                <a:latin typeface="Calibri"/>
                <a:cs typeface="Calibri"/>
              </a:rPr>
              <a:t>plot</a:t>
            </a:r>
            <a:endParaRPr sz="1300" dirty="0">
              <a:latin typeface="Calibri"/>
              <a:cs typeface="Calibri"/>
            </a:endParaRPr>
          </a:p>
        </p:txBody>
      </p:sp>
      <p:pic>
        <p:nvPicPr>
          <p:cNvPr id="55" name="图片 54"/>
          <p:cNvPicPr>
            <a:picLocks noChangeAspect="1"/>
          </p:cNvPicPr>
          <p:nvPr/>
        </p:nvPicPr>
        <p:blipFill>
          <a:blip r:embed="rId3"/>
          <a:stretch>
            <a:fillRect/>
          </a:stretch>
        </p:blipFill>
        <p:spPr>
          <a:xfrm>
            <a:off x="659687" y="1267182"/>
            <a:ext cx="2699170" cy="4363480"/>
          </a:xfrm>
          <a:prstGeom prst="rect">
            <a:avLst/>
          </a:prstGeom>
        </p:spPr>
      </p:pic>
      <p:sp>
        <p:nvSpPr>
          <p:cNvPr id="39936" name="矩形 39935"/>
          <p:cNvSpPr/>
          <p:nvPr/>
        </p:nvSpPr>
        <p:spPr>
          <a:xfrm>
            <a:off x="2854121" y="3595033"/>
            <a:ext cx="1473480" cy="477054"/>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zh-CN" altLang="en-US" sz="2500" b="1" dirty="0">
                <a:solidFill>
                  <a:schemeClr val="tx1"/>
                </a:solidFill>
                <a:sym typeface="Symbol" panose="05050102010706020507" pitchFamily="18" charset="2"/>
              </a:rPr>
              <a:t>多项式阶</a:t>
            </a:r>
            <a:endParaRPr lang="zh-CN" altLang="en-US" sz="2500" dirty="0">
              <a:solidFill>
                <a:schemeClr val="tx1"/>
              </a:solidFill>
            </a:endParaRPr>
          </a:p>
        </p:txBody>
      </p:sp>
      <p:pic>
        <p:nvPicPr>
          <p:cNvPr id="39940" name="图片 39939"/>
          <p:cNvPicPr>
            <a:picLocks noChangeAspect="1"/>
          </p:cNvPicPr>
          <p:nvPr/>
        </p:nvPicPr>
        <p:blipFill>
          <a:blip r:embed="rId4"/>
          <a:stretch>
            <a:fillRect/>
          </a:stretch>
        </p:blipFill>
        <p:spPr>
          <a:xfrm>
            <a:off x="289455" y="6309216"/>
            <a:ext cx="8556170" cy="432484"/>
          </a:xfrm>
          <a:prstGeom prst="rect">
            <a:avLst/>
          </a:prstGeom>
          <a:ln>
            <a:solidFill>
              <a:schemeClr val="accent1"/>
            </a:solidFill>
          </a:ln>
        </p:spPr>
      </p:pic>
      <p:sp>
        <p:nvSpPr>
          <p:cNvPr id="71" name="矩形 70"/>
          <p:cNvSpPr/>
          <p:nvPr/>
        </p:nvSpPr>
        <p:spPr bwMode="auto">
          <a:xfrm>
            <a:off x="771929" y="1817003"/>
            <a:ext cx="1922279" cy="460117"/>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pPr>
            <a:endParaRPr kumimoji="0" lang="zh-CN" altLang="en-US" sz="3000" b="0" i="0" u="none" strike="noStrike" cap="none" normalizeH="0" baseline="0">
              <a:ln>
                <a:noFill/>
              </a:ln>
              <a:solidFill>
                <a:srgbClr val="000066"/>
              </a:solidFill>
              <a:effectLst/>
              <a:latin typeface="Arial" charset="0"/>
              <a:ea typeface="楷体_GB2312" pitchFamily="49" charset="-122"/>
              <a:cs typeface="Times New Roman" pitchFamily="18" charset="0"/>
            </a:endParaRPr>
          </a:p>
        </p:txBody>
      </p:sp>
      <p:sp>
        <p:nvSpPr>
          <p:cNvPr id="72" name="矩形 71"/>
          <p:cNvSpPr/>
          <p:nvPr/>
        </p:nvSpPr>
        <p:spPr bwMode="auto">
          <a:xfrm>
            <a:off x="762479" y="2750819"/>
            <a:ext cx="1931729" cy="460117"/>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pPr>
            <a:endParaRPr kumimoji="0" lang="zh-CN" altLang="en-US" sz="3000" b="0" i="0" u="none" strike="noStrike" cap="none" normalizeH="0" baseline="0">
              <a:ln>
                <a:noFill/>
              </a:ln>
              <a:solidFill>
                <a:srgbClr val="000066"/>
              </a:solidFill>
              <a:effectLst/>
              <a:latin typeface="Arial" charset="0"/>
              <a:ea typeface="楷体_GB2312" pitchFamily="49" charset="-122"/>
              <a:cs typeface="Times New Roman" pitchFamily="18" charset="0"/>
            </a:endParaRPr>
          </a:p>
        </p:txBody>
      </p:sp>
      <p:sp>
        <p:nvSpPr>
          <p:cNvPr id="73" name="矩形 72"/>
          <p:cNvSpPr/>
          <p:nvPr/>
        </p:nvSpPr>
        <p:spPr bwMode="auto">
          <a:xfrm>
            <a:off x="784560" y="3684635"/>
            <a:ext cx="1909648" cy="460117"/>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pPr>
            <a:endParaRPr kumimoji="0" lang="zh-CN" altLang="en-US" sz="3000" b="0" i="0" u="none" strike="noStrike" cap="none" normalizeH="0" baseline="0">
              <a:ln>
                <a:noFill/>
              </a:ln>
              <a:solidFill>
                <a:srgbClr val="000066"/>
              </a:solidFill>
              <a:effectLst/>
              <a:latin typeface="Arial" charset="0"/>
              <a:ea typeface="楷体_GB2312" pitchFamily="49" charset="-122"/>
              <a:cs typeface="Times New Roman" pitchFamily="18" charset="0"/>
            </a:endParaRPr>
          </a:p>
        </p:txBody>
      </p:sp>
      <p:sp>
        <p:nvSpPr>
          <p:cNvPr id="74" name="矩形 73"/>
          <p:cNvSpPr/>
          <p:nvPr/>
        </p:nvSpPr>
        <p:spPr bwMode="auto">
          <a:xfrm>
            <a:off x="782174" y="4160206"/>
            <a:ext cx="1922279" cy="460117"/>
          </a:xfrm>
          <a:prstGeom prst="rect">
            <a:avLst/>
          </a:prstGeom>
          <a:no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pPr>
            <a:endParaRPr kumimoji="0" lang="zh-CN" altLang="en-US" sz="3000" b="0" i="0" u="none" strike="noStrike" cap="none" normalizeH="0" baseline="0">
              <a:ln>
                <a:noFill/>
              </a:ln>
              <a:solidFill>
                <a:srgbClr val="000066"/>
              </a:solidFill>
              <a:effectLst/>
              <a:latin typeface="Arial" charset="0"/>
              <a:ea typeface="楷体_GB2312" pitchFamily="49" charset="-122"/>
              <a:cs typeface="Times New Roman" pitchFamily="18" charset="0"/>
            </a:endParaRPr>
          </a:p>
        </p:txBody>
      </p:sp>
    </p:spTree>
    <p:extLst>
      <p:ext uri="{BB962C8B-B14F-4D97-AF65-F5344CB8AC3E}">
        <p14:creationId xmlns:p14="http://schemas.microsoft.com/office/powerpoint/2010/main" val="20959224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9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 grpId="0" animBg="1"/>
      <p:bldP spid="71" grpId="0" animBg="1"/>
      <p:bldP spid="72" grpId="0" animBg="1"/>
      <p:bldP spid="73" grpId="0" animBg="1"/>
      <p:bldP spid="7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a:extLst>
              <a:ext uri="{FF2B5EF4-FFF2-40B4-BE49-F238E27FC236}">
                <a16:creationId xmlns:a16="http://schemas.microsoft.com/office/drawing/2014/main" id="{22632FAB-E527-9A7A-8B8E-A86074BB97F4}"/>
              </a:ext>
            </a:extLst>
          </p:cNvPr>
          <p:cNvSpPr>
            <a:spLocks noGrp="1" noChangeArrowheads="1"/>
          </p:cNvSpPr>
          <p:nvPr>
            <p:ph type="title"/>
          </p:nvPr>
        </p:nvSpPr>
        <p:spPr>
          <a:xfrm>
            <a:off x="457200" y="239713"/>
            <a:ext cx="8229600" cy="1139825"/>
          </a:xfrm>
        </p:spPr>
        <p:txBody>
          <a:bodyPr/>
          <a:lstStyle/>
          <a:p>
            <a:r>
              <a:rPr lang="zh-CN" altLang="en-US" sz="3200" b="1" dirty="0">
                <a:solidFill>
                  <a:srgbClr val="0000FF"/>
                </a:solidFill>
                <a:latin typeface="微软雅黑" panose="020B0503020204020204" pitchFamily="34" charset="-122"/>
                <a:ea typeface="微软雅黑" panose="020B0503020204020204" pitchFamily="34" charset="-122"/>
              </a:rPr>
              <a:t>算法分析中常见的复杂性函数</a:t>
            </a:r>
          </a:p>
        </p:txBody>
      </p:sp>
      <p:pic>
        <p:nvPicPr>
          <p:cNvPr id="55" name="图片 54"/>
          <p:cNvPicPr>
            <a:picLocks noChangeAspect="1"/>
          </p:cNvPicPr>
          <p:nvPr/>
        </p:nvPicPr>
        <p:blipFill>
          <a:blip r:embed="rId3"/>
          <a:stretch>
            <a:fillRect/>
          </a:stretch>
        </p:blipFill>
        <p:spPr>
          <a:xfrm>
            <a:off x="687538" y="1225760"/>
            <a:ext cx="2699170" cy="4363480"/>
          </a:xfrm>
          <a:prstGeom prst="rect">
            <a:avLst/>
          </a:prstGeom>
        </p:spPr>
      </p:pic>
      <p:pic>
        <p:nvPicPr>
          <p:cNvPr id="2" name="图片 1"/>
          <p:cNvPicPr>
            <a:picLocks noChangeAspect="1"/>
          </p:cNvPicPr>
          <p:nvPr/>
        </p:nvPicPr>
        <p:blipFill>
          <a:blip r:embed="rId4"/>
          <a:stretch>
            <a:fillRect/>
          </a:stretch>
        </p:blipFill>
        <p:spPr>
          <a:xfrm>
            <a:off x="4620857" y="2260322"/>
            <a:ext cx="2886611" cy="750730"/>
          </a:xfrm>
          <a:prstGeom prst="rect">
            <a:avLst/>
          </a:prstGeom>
        </p:spPr>
      </p:pic>
      <p:sp>
        <p:nvSpPr>
          <p:cNvPr id="3" name="矩形 2"/>
          <p:cNvSpPr/>
          <p:nvPr/>
        </p:nvSpPr>
        <p:spPr>
          <a:xfrm>
            <a:off x="3386708" y="1860559"/>
            <a:ext cx="5796780" cy="830997"/>
          </a:xfrm>
          <a:prstGeom prst="rect">
            <a:avLst/>
          </a:prstGeom>
        </p:spPr>
        <p:txBody>
          <a:bodyPr wrap="none">
            <a:spAutoFit/>
          </a:bodyPr>
          <a:lstStyle/>
          <a:p>
            <a:pPr>
              <a:lnSpc>
                <a:spcPct val="80000"/>
              </a:lnSpc>
              <a:buNone/>
            </a:pPr>
            <a:r>
              <a:rPr lang="zh-CN" altLang="en-US" sz="2000" dirty="0"/>
              <a:t>可证明：</a:t>
            </a:r>
            <a:r>
              <a:rPr lang="zh-CN" altLang="en-US" sz="2000" dirty="0">
                <a:solidFill>
                  <a:srgbClr val="FF0000"/>
                </a:solidFill>
              </a:rPr>
              <a:t>对数函数的阶低于多项式函数</a:t>
            </a:r>
            <a:r>
              <a:rPr lang="en-US" altLang="zh-CN" sz="2000" dirty="0">
                <a:solidFill>
                  <a:srgbClr val="FF0000"/>
                </a:solidFill>
              </a:rPr>
              <a:t>(k&gt;=1)</a:t>
            </a:r>
            <a:r>
              <a:rPr lang="zh-CN" altLang="en-US" sz="2000" dirty="0">
                <a:solidFill>
                  <a:srgbClr val="FF0000"/>
                </a:solidFill>
              </a:rPr>
              <a:t>的阶</a:t>
            </a:r>
            <a:endParaRPr lang="en-US" altLang="zh-CN" sz="2000" dirty="0">
              <a:solidFill>
                <a:srgbClr val="FF0000"/>
              </a:solidFill>
            </a:endParaRPr>
          </a:p>
          <a:p>
            <a:pPr>
              <a:lnSpc>
                <a:spcPct val="80000"/>
              </a:lnSpc>
              <a:buNone/>
            </a:pPr>
            <a:endParaRPr lang="en-US" altLang="zh-CN" sz="2000" dirty="0"/>
          </a:p>
          <a:p>
            <a:pPr>
              <a:lnSpc>
                <a:spcPct val="80000"/>
              </a:lnSpc>
              <a:buNone/>
            </a:pPr>
            <a:r>
              <a:rPr lang="en-US" altLang="zh-CN" sz="2000" dirty="0"/>
              <a:t> </a:t>
            </a:r>
            <a:endParaRPr lang="en-US" altLang="zh-CN" sz="2000" b="1" dirty="0">
              <a:solidFill>
                <a:srgbClr val="3907F1"/>
              </a:solidFill>
              <a:sym typeface="Symbol" panose="05050102010706020507" pitchFamily="18" charset="2"/>
            </a:endParaRPr>
          </a:p>
        </p:txBody>
      </p:sp>
      <p:sp>
        <p:nvSpPr>
          <p:cNvPr id="53" name="矩形 52"/>
          <p:cNvSpPr/>
          <p:nvPr/>
        </p:nvSpPr>
        <p:spPr>
          <a:xfrm>
            <a:off x="7507468" y="2492896"/>
            <a:ext cx="356188" cy="276999"/>
          </a:xfrm>
          <a:prstGeom prst="rect">
            <a:avLst/>
          </a:prstGeom>
        </p:spPr>
        <p:txBody>
          <a:bodyPr wrap="none">
            <a:spAutoFit/>
          </a:bodyPr>
          <a:lstStyle/>
          <a:p>
            <a:r>
              <a:rPr lang="en-US" altLang="zh-CN" sz="1200" dirty="0"/>
              <a:t>0  </a:t>
            </a:r>
            <a:endParaRPr lang="zh-CN" altLang="en-US" sz="1200" dirty="0"/>
          </a:p>
        </p:txBody>
      </p:sp>
      <p:sp>
        <p:nvSpPr>
          <p:cNvPr id="59" name="矩形 58"/>
          <p:cNvSpPr/>
          <p:nvPr/>
        </p:nvSpPr>
        <p:spPr>
          <a:xfrm>
            <a:off x="3851920" y="3530564"/>
            <a:ext cx="5057795" cy="830997"/>
          </a:xfrm>
          <a:prstGeom prst="rect">
            <a:avLst/>
          </a:prstGeom>
        </p:spPr>
        <p:txBody>
          <a:bodyPr wrap="none">
            <a:spAutoFit/>
          </a:bodyPr>
          <a:lstStyle/>
          <a:p>
            <a:pPr>
              <a:lnSpc>
                <a:spcPct val="80000"/>
              </a:lnSpc>
              <a:buNone/>
            </a:pPr>
            <a:r>
              <a:rPr lang="zh-CN" altLang="en-US" sz="2000" dirty="0"/>
              <a:t>可证明：</a:t>
            </a:r>
            <a:r>
              <a:rPr lang="zh-CN" altLang="en-US" sz="2000" dirty="0">
                <a:solidFill>
                  <a:srgbClr val="FF0000"/>
                </a:solidFill>
              </a:rPr>
              <a:t>多项式函数的阶低于指数函数的阶</a:t>
            </a:r>
            <a:endParaRPr lang="en-US" altLang="zh-CN" sz="2000" dirty="0">
              <a:solidFill>
                <a:srgbClr val="FF0000"/>
              </a:solidFill>
            </a:endParaRPr>
          </a:p>
          <a:p>
            <a:pPr>
              <a:lnSpc>
                <a:spcPct val="80000"/>
              </a:lnSpc>
              <a:buNone/>
            </a:pPr>
            <a:endParaRPr lang="en-US" altLang="zh-CN" sz="2000" dirty="0"/>
          </a:p>
          <a:p>
            <a:pPr>
              <a:lnSpc>
                <a:spcPct val="80000"/>
              </a:lnSpc>
              <a:buNone/>
            </a:pPr>
            <a:r>
              <a:rPr lang="en-US" altLang="zh-CN" sz="2000" dirty="0"/>
              <a:t> </a:t>
            </a:r>
            <a:endParaRPr lang="en-US" altLang="zh-CN" sz="2000" b="1" dirty="0">
              <a:solidFill>
                <a:srgbClr val="3907F1"/>
              </a:solidFill>
              <a:sym typeface="Symbol" panose="05050102010706020507" pitchFamily="18" charset="2"/>
            </a:endParaRPr>
          </a:p>
        </p:txBody>
      </p:sp>
      <p:sp>
        <p:nvSpPr>
          <p:cNvPr id="56" name="矩形 55"/>
          <p:cNvSpPr/>
          <p:nvPr/>
        </p:nvSpPr>
        <p:spPr>
          <a:xfrm>
            <a:off x="3851920" y="4884089"/>
            <a:ext cx="5314275" cy="338554"/>
          </a:xfrm>
          <a:prstGeom prst="rect">
            <a:avLst/>
          </a:prstGeom>
        </p:spPr>
        <p:txBody>
          <a:bodyPr wrap="none">
            <a:spAutoFit/>
          </a:bodyPr>
          <a:lstStyle/>
          <a:p>
            <a:pPr>
              <a:lnSpc>
                <a:spcPct val="80000"/>
              </a:lnSpc>
            </a:pPr>
            <a:r>
              <a:rPr lang="zh-CN" altLang="en-US" sz="2000" dirty="0"/>
              <a:t>可证明：</a:t>
            </a:r>
            <a:r>
              <a:rPr lang="zh-CN" altLang="en-US" sz="2000" dirty="0">
                <a:solidFill>
                  <a:srgbClr val="FF0000"/>
                </a:solidFill>
              </a:rPr>
              <a:t>指数函数的阶严格低于阶乘函数的阶</a:t>
            </a:r>
          </a:p>
        </p:txBody>
      </p:sp>
      <p:sp>
        <p:nvSpPr>
          <p:cNvPr id="61" name="矩形 60"/>
          <p:cNvSpPr/>
          <p:nvPr/>
        </p:nvSpPr>
        <p:spPr>
          <a:xfrm>
            <a:off x="3779912" y="2551380"/>
            <a:ext cx="1117614" cy="276999"/>
          </a:xfrm>
          <a:prstGeom prst="rect">
            <a:avLst/>
          </a:prstGeom>
        </p:spPr>
        <p:txBody>
          <a:bodyPr wrap="none">
            <a:spAutoFit/>
          </a:bodyPr>
          <a:lstStyle/>
          <a:p>
            <a:r>
              <a:rPr lang="zh-CN" altLang="en-US" sz="1200" dirty="0">
                <a:solidFill>
                  <a:schemeClr val="tx1"/>
                </a:solidFill>
              </a:rPr>
              <a:t>当 </a:t>
            </a:r>
            <a:r>
              <a:rPr lang="en-US" altLang="zh-CN" sz="1200" i="1" dirty="0">
                <a:solidFill>
                  <a:schemeClr val="tx1"/>
                </a:solidFill>
              </a:rPr>
              <a:t>k </a:t>
            </a:r>
            <a:r>
              <a:rPr lang="en-US" altLang="zh-CN" sz="1200" dirty="0">
                <a:solidFill>
                  <a:schemeClr val="tx1"/>
                </a:solidFill>
              </a:rPr>
              <a:t>&gt; =1</a:t>
            </a:r>
            <a:r>
              <a:rPr lang="zh-CN" altLang="en-US" sz="1200" dirty="0">
                <a:solidFill>
                  <a:schemeClr val="tx1"/>
                </a:solidFill>
              </a:rPr>
              <a:t>时，</a:t>
            </a:r>
          </a:p>
        </p:txBody>
      </p:sp>
    </p:spTree>
    <p:extLst>
      <p:ext uri="{BB962C8B-B14F-4D97-AF65-F5344CB8AC3E}">
        <p14:creationId xmlns:p14="http://schemas.microsoft.com/office/powerpoint/2010/main" val="41410492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5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4471" y="100853"/>
            <a:ext cx="8875059" cy="6656294"/>
          </a:xfrm>
          <a:custGeom>
            <a:avLst/>
            <a:gdLst/>
            <a:ahLst/>
            <a:cxnLst/>
            <a:rect l="l" t="t" r="r" b="b"/>
            <a:pathLst>
              <a:path w="10058400" h="7543800">
                <a:moveTo>
                  <a:pt x="0" y="0"/>
                </a:moveTo>
                <a:lnTo>
                  <a:pt x="10058400" y="0"/>
                </a:lnTo>
                <a:lnTo>
                  <a:pt x="10058400" y="7543800"/>
                </a:lnTo>
                <a:lnTo>
                  <a:pt x="0" y="7543800"/>
                </a:lnTo>
                <a:lnTo>
                  <a:pt x="0" y="0"/>
                </a:lnTo>
                <a:close/>
              </a:path>
            </a:pathLst>
          </a:custGeom>
          <a:solidFill>
            <a:srgbClr val="F5F5F5"/>
          </a:solidFill>
        </p:spPr>
        <p:txBody>
          <a:bodyPr wrap="square" lIns="0" tIns="0" rIns="0" bIns="0" rtlCol="0"/>
          <a:lstStyle/>
          <a:p>
            <a:endParaRPr sz="2647"/>
          </a:p>
        </p:txBody>
      </p:sp>
      <p:sp>
        <p:nvSpPr>
          <p:cNvPr id="3" name="object 3"/>
          <p:cNvSpPr/>
          <p:nvPr/>
        </p:nvSpPr>
        <p:spPr>
          <a:xfrm>
            <a:off x="2652554" y="100853"/>
            <a:ext cx="54909" cy="153521"/>
          </a:xfrm>
          <a:custGeom>
            <a:avLst/>
            <a:gdLst/>
            <a:ahLst/>
            <a:cxnLst/>
            <a:rect l="l" t="t" r="r" b="b"/>
            <a:pathLst>
              <a:path w="62230" h="173990">
                <a:moveTo>
                  <a:pt x="61977" y="0"/>
                </a:moveTo>
                <a:lnTo>
                  <a:pt x="0" y="86044"/>
                </a:lnTo>
                <a:lnTo>
                  <a:pt x="56886" y="173499"/>
                </a:lnTo>
              </a:path>
            </a:pathLst>
          </a:custGeom>
          <a:ln w="12150">
            <a:solidFill>
              <a:srgbClr val="6D6E71"/>
            </a:solidFill>
          </a:ln>
        </p:spPr>
        <p:txBody>
          <a:bodyPr wrap="square" lIns="0" tIns="0" rIns="0" bIns="0" rtlCol="0"/>
          <a:lstStyle/>
          <a:p>
            <a:endParaRPr sz="2647"/>
          </a:p>
        </p:txBody>
      </p:sp>
      <p:sp>
        <p:nvSpPr>
          <p:cNvPr id="4" name="object 4"/>
          <p:cNvSpPr/>
          <p:nvPr/>
        </p:nvSpPr>
        <p:spPr>
          <a:xfrm>
            <a:off x="5196939" y="100853"/>
            <a:ext cx="142315" cy="164726"/>
          </a:xfrm>
          <a:custGeom>
            <a:avLst/>
            <a:gdLst/>
            <a:ahLst/>
            <a:cxnLst/>
            <a:rect l="l" t="t" r="r" b="b"/>
            <a:pathLst>
              <a:path w="161289" h="186690">
                <a:moveTo>
                  <a:pt x="0" y="160402"/>
                </a:moveTo>
                <a:lnTo>
                  <a:pt x="65637" y="186621"/>
                </a:lnTo>
                <a:lnTo>
                  <a:pt x="87540" y="182271"/>
                </a:lnTo>
                <a:lnTo>
                  <a:pt x="109394" y="64150"/>
                </a:lnTo>
                <a:lnTo>
                  <a:pt x="157552" y="68573"/>
                </a:lnTo>
                <a:lnTo>
                  <a:pt x="161269" y="0"/>
                </a:lnTo>
              </a:path>
            </a:pathLst>
          </a:custGeom>
          <a:ln w="12152">
            <a:solidFill>
              <a:srgbClr val="6D6E71"/>
            </a:solidFill>
          </a:ln>
        </p:spPr>
        <p:txBody>
          <a:bodyPr wrap="square" lIns="0" tIns="0" rIns="0" bIns="0" rtlCol="0"/>
          <a:lstStyle/>
          <a:p>
            <a:endParaRPr sz="2647"/>
          </a:p>
        </p:txBody>
      </p:sp>
      <p:sp>
        <p:nvSpPr>
          <p:cNvPr id="5" name="object 5"/>
          <p:cNvSpPr/>
          <p:nvPr/>
        </p:nvSpPr>
        <p:spPr>
          <a:xfrm>
            <a:off x="6370707" y="100853"/>
            <a:ext cx="77321" cy="192180"/>
          </a:xfrm>
          <a:custGeom>
            <a:avLst/>
            <a:gdLst/>
            <a:ahLst/>
            <a:cxnLst/>
            <a:rect l="l" t="t" r="r" b="b"/>
            <a:pathLst>
              <a:path w="87629" h="217804">
                <a:moveTo>
                  <a:pt x="0" y="217263"/>
                </a:moveTo>
                <a:lnTo>
                  <a:pt x="13127" y="177922"/>
                </a:lnTo>
                <a:lnTo>
                  <a:pt x="8751" y="151654"/>
                </a:lnTo>
                <a:lnTo>
                  <a:pt x="87515" y="116662"/>
                </a:lnTo>
                <a:lnTo>
                  <a:pt x="87514" y="2915"/>
                </a:lnTo>
                <a:lnTo>
                  <a:pt x="81673" y="0"/>
                </a:lnTo>
              </a:path>
            </a:pathLst>
          </a:custGeom>
          <a:ln w="12150">
            <a:solidFill>
              <a:srgbClr val="6D6E71"/>
            </a:solidFill>
          </a:ln>
        </p:spPr>
        <p:txBody>
          <a:bodyPr wrap="square" lIns="0" tIns="0" rIns="0" bIns="0" rtlCol="0"/>
          <a:lstStyle/>
          <a:p>
            <a:endParaRPr sz="2647"/>
          </a:p>
        </p:txBody>
      </p:sp>
      <p:sp>
        <p:nvSpPr>
          <p:cNvPr id="6" name="object 6"/>
          <p:cNvSpPr/>
          <p:nvPr/>
        </p:nvSpPr>
        <p:spPr>
          <a:xfrm>
            <a:off x="6019331" y="100853"/>
            <a:ext cx="77321" cy="25773"/>
          </a:xfrm>
          <a:custGeom>
            <a:avLst/>
            <a:gdLst/>
            <a:ahLst/>
            <a:cxnLst/>
            <a:rect l="l" t="t" r="r" b="b"/>
            <a:pathLst>
              <a:path w="87629" h="29210">
                <a:moveTo>
                  <a:pt x="0" y="29183"/>
                </a:moveTo>
                <a:lnTo>
                  <a:pt x="78740" y="29183"/>
                </a:lnTo>
                <a:lnTo>
                  <a:pt x="87572" y="0"/>
                </a:lnTo>
              </a:path>
            </a:pathLst>
          </a:custGeom>
          <a:ln w="12154">
            <a:solidFill>
              <a:srgbClr val="6D6E71"/>
            </a:solidFill>
          </a:ln>
        </p:spPr>
        <p:txBody>
          <a:bodyPr wrap="square" lIns="0" tIns="0" rIns="0" bIns="0" rtlCol="0"/>
          <a:lstStyle/>
          <a:p>
            <a:endParaRPr sz="2647"/>
          </a:p>
        </p:txBody>
      </p:sp>
      <p:sp>
        <p:nvSpPr>
          <p:cNvPr id="7" name="object 7"/>
          <p:cNvSpPr/>
          <p:nvPr/>
        </p:nvSpPr>
        <p:spPr>
          <a:xfrm>
            <a:off x="2831621" y="100853"/>
            <a:ext cx="25773" cy="22412"/>
          </a:xfrm>
          <a:custGeom>
            <a:avLst/>
            <a:gdLst/>
            <a:ahLst/>
            <a:cxnLst/>
            <a:rect l="l" t="t" r="r" b="b"/>
            <a:pathLst>
              <a:path w="29210" h="25400">
                <a:moveTo>
                  <a:pt x="28974" y="24833"/>
                </a:moveTo>
                <a:lnTo>
                  <a:pt x="0" y="0"/>
                </a:lnTo>
              </a:path>
            </a:pathLst>
          </a:custGeom>
          <a:ln w="12152">
            <a:solidFill>
              <a:srgbClr val="6D6E71"/>
            </a:solidFill>
          </a:ln>
        </p:spPr>
        <p:txBody>
          <a:bodyPr wrap="square" lIns="0" tIns="0" rIns="0" bIns="0" rtlCol="0"/>
          <a:lstStyle/>
          <a:p>
            <a:endParaRPr sz="2647"/>
          </a:p>
        </p:txBody>
      </p:sp>
      <p:sp>
        <p:nvSpPr>
          <p:cNvPr id="8" name="object 8"/>
          <p:cNvSpPr/>
          <p:nvPr/>
        </p:nvSpPr>
        <p:spPr>
          <a:xfrm>
            <a:off x="4494234" y="100853"/>
            <a:ext cx="11206" cy="25773"/>
          </a:xfrm>
          <a:custGeom>
            <a:avLst/>
            <a:gdLst/>
            <a:ahLst/>
            <a:cxnLst/>
            <a:rect l="l" t="t" r="r" b="b"/>
            <a:pathLst>
              <a:path w="12700" h="29210">
                <a:moveTo>
                  <a:pt x="0" y="29183"/>
                </a:moveTo>
                <a:lnTo>
                  <a:pt x="12164" y="0"/>
                </a:lnTo>
              </a:path>
            </a:pathLst>
          </a:custGeom>
          <a:ln w="12150">
            <a:solidFill>
              <a:srgbClr val="6D6E71"/>
            </a:solidFill>
          </a:ln>
        </p:spPr>
        <p:txBody>
          <a:bodyPr wrap="square" lIns="0" tIns="0" rIns="0" bIns="0" rtlCol="0"/>
          <a:lstStyle/>
          <a:p>
            <a:endParaRPr sz="2647"/>
          </a:p>
        </p:txBody>
      </p:sp>
      <p:sp>
        <p:nvSpPr>
          <p:cNvPr id="9" name="object 9"/>
          <p:cNvSpPr/>
          <p:nvPr/>
        </p:nvSpPr>
        <p:spPr>
          <a:xfrm>
            <a:off x="7679567" y="100853"/>
            <a:ext cx="62193" cy="41462"/>
          </a:xfrm>
          <a:custGeom>
            <a:avLst/>
            <a:gdLst/>
            <a:ahLst/>
            <a:cxnLst/>
            <a:rect l="l" t="t" r="r" b="b"/>
            <a:pathLst>
              <a:path w="70484" h="46989">
                <a:moveTo>
                  <a:pt x="0" y="33557"/>
                </a:moveTo>
                <a:lnTo>
                  <a:pt x="70036" y="46654"/>
                </a:lnTo>
                <a:lnTo>
                  <a:pt x="63552" y="0"/>
                </a:lnTo>
              </a:path>
            </a:pathLst>
          </a:custGeom>
          <a:ln w="12153">
            <a:solidFill>
              <a:srgbClr val="6D6E71"/>
            </a:solidFill>
          </a:ln>
        </p:spPr>
        <p:txBody>
          <a:bodyPr wrap="square" lIns="0" tIns="0" rIns="0" bIns="0" rtlCol="0"/>
          <a:lstStyle/>
          <a:p>
            <a:endParaRPr sz="2647"/>
          </a:p>
        </p:txBody>
      </p:sp>
      <p:sp>
        <p:nvSpPr>
          <p:cNvPr id="10" name="object 10"/>
          <p:cNvSpPr/>
          <p:nvPr/>
        </p:nvSpPr>
        <p:spPr>
          <a:xfrm>
            <a:off x="2357571" y="100853"/>
            <a:ext cx="117662" cy="33618"/>
          </a:xfrm>
          <a:custGeom>
            <a:avLst/>
            <a:gdLst/>
            <a:ahLst/>
            <a:cxnLst/>
            <a:rect l="l" t="t" r="r" b="b"/>
            <a:pathLst>
              <a:path w="133350" h="38100">
                <a:moveTo>
                  <a:pt x="133025" y="37882"/>
                </a:moveTo>
                <a:lnTo>
                  <a:pt x="105918" y="0"/>
                </a:lnTo>
              </a:path>
              <a:path w="133350" h="38100">
                <a:moveTo>
                  <a:pt x="49586" y="0"/>
                </a:moveTo>
                <a:lnTo>
                  <a:pt x="14854" y="20410"/>
                </a:lnTo>
                <a:lnTo>
                  <a:pt x="0" y="0"/>
                </a:lnTo>
              </a:path>
            </a:pathLst>
          </a:custGeom>
          <a:ln w="12152">
            <a:solidFill>
              <a:srgbClr val="6D6E71"/>
            </a:solidFill>
          </a:ln>
        </p:spPr>
        <p:txBody>
          <a:bodyPr wrap="square" lIns="0" tIns="0" rIns="0" bIns="0" rtlCol="0"/>
          <a:lstStyle/>
          <a:p>
            <a:endParaRPr sz="2647"/>
          </a:p>
        </p:txBody>
      </p:sp>
      <p:sp>
        <p:nvSpPr>
          <p:cNvPr id="11" name="object 11"/>
          <p:cNvSpPr/>
          <p:nvPr/>
        </p:nvSpPr>
        <p:spPr>
          <a:xfrm>
            <a:off x="134471" y="250081"/>
            <a:ext cx="35859" cy="10085"/>
          </a:xfrm>
          <a:custGeom>
            <a:avLst/>
            <a:gdLst/>
            <a:ahLst/>
            <a:cxnLst/>
            <a:rect l="l" t="t" r="r" b="b"/>
            <a:pathLst>
              <a:path w="40640" h="11429">
                <a:moveTo>
                  <a:pt x="0" y="11042"/>
                </a:moveTo>
                <a:lnTo>
                  <a:pt x="40158" y="0"/>
                </a:lnTo>
              </a:path>
            </a:pathLst>
          </a:custGeom>
          <a:ln w="12154">
            <a:solidFill>
              <a:srgbClr val="6D6E71"/>
            </a:solidFill>
          </a:ln>
        </p:spPr>
        <p:txBody>
          <a:bodyPr wrap="square" lIns="0" tIns="0" rIns="0" bIns="0" rtlCol="0"/>
          <a:lstStyle/>
          <a:p>
            <a:endParaRPr sz="2647"/>
          </a:p>
        </p:txBody>
      </p:sp>
      <p:sp>
        <p:nvSpPr>
          <p:cNvPr id="12" name="object 12"/>
          <p:cNvSpPr/>
          <p:nvPr/>
        </p:nvSpPr>
        <p:spPr>
          <a:xfrm>
            <a:off x="6521266" y="100853"/>
            <a:ext cx="63313" cy="164726"/>
          </a:xfrm>
          <a:custGeom>
            <a:avLst/>
            <a:gdLst/>
            <a:ahLst/>
            <a:cxnLst/>
            <a:rect l="l" t="t" r="r" b="b"/>
            <a:pathLst>
              <a:path w="71754" h="186690">
                <a:moveTo>
                  <a:pt x="0" y="186621"/>
                </a:moveTo>
                <a:lnTo>
                  <a:pt x="61284" y="86044"/>
                </a:lnTo>
                <a:lnTo>
                  <a:pt x="71281" y="0"/>
                </a:lnTo>
              </a:path>
            </a:pathLst>
          </a:custGeom>
          <a:ln w="12150">
            <a:solidFill>
              <a:srgbClr val="6D6E71"/>
            </a:solidFill>
          </a:ln>
        </p:spPr>
        <p:txBody>
          <a:bodyPr wrap="square" lIns="0" tIns="0" rIns="0" bIns="0" rtlCol="0"/>
          <a:lstStyle/>
          <a:p>
            <a:endParaRPr sz="2647"/>
          </a:p>
        </p:txBody>
      </p:sp>
      <p:sp>
        <p:nvSpPr>
          <p:cNvPr id="13" name="object 13"/>
          <p:cNvSpPr/>
          <p:nvPr/>
        </p:nvSpPr>
        <p:spPr>
          <a:xfrm>
            <a:off x="4669200" y="100853"/>
            <a:ext cx="26334" cy="14568"/>
          </a:xfrm>
          <a:custGeom>
            <a:avLst/>
            <a:gdLst/>
            <a:ahLst/>
            <a:cxnLst/>
            <a:rect l="l" t="t" r="r" b="b"/>
            <a:pathLst>
              <a:path w="29845" h="16510">
                <a:moveTo>
                  <a:pt x="0" y="0"/>
                </a:moveTo>
                <a:lnTo>
                  <a:pt x="29271" y="16036"/>
                </a:lnTo>
              </a:path>
            </a:pathLst>
          </a:custGeom>
          <a:ln w="12153">
            <a:solidFill>
              <a:srgbClr val="6D6E71"/>
            </a:solidFill>
          </a:ln>
        </p:spPr>
        <p:txBody>
          <a:bodyPr wrap="square" lIns="0" tIns="0" rIns="0" bIns="0" rtlCol="0"/>
          <a:lstStyle/>
          <a:p>
            <a:endParaRPr sz="2647"/>
          </a:p>
        </p:txBody>
      </p:sp>
      <p:sp>
        <p:nvSpPr>
          <p:cNvPr id="14" name="object 14"/>
          <p:cNvSpPr/>
          <p:nvPr/>
        </p:nvSpPr>
        <p:spPr>
          <a:xfrm>
            <a:off x="2073402" y="100853"/>
            <a:ext cx="170329" cy="161365"/>
          </a:xfrm>
          <a:custGeom>
            <a:avLst/>
            <a:gdLst/>
            <a:ahLst/>
            <a:cxnLst/>
            <a:rect l="l" t="t" r="r" b="b"/>
            <a:pathLst>
              <a:path w="193039" h="182879">
                <a:moveTo>
                  <a:pt x="179409" y="182271"/>
                </a:moveTo>
                <a:lnTo>
                  <a:pt x="192512" y="116662"/>
                </a:lnTo>
                <a:lnTo>
                  <a:pt x="109395" y="20410"/>
                </a:lnTo>
                <a:lnTo>
                  <a:pt x="0" y="37882"/>
                </a:lnTo>
                <a:lnTo>
                  <a:pt x="13384" y="0"/>
                </a:lnTo>
              </a:path>
            </a:pathLst>
          </a:custGeom>
          <a:ln w="12152">
            <a:solidFill>
              <a:srgbClr val="6D6E71"/>
            </a:solidFill>
          </a:ln>
        </p:spPr>
        <p:txBody>
          <a:bodyPr wrap="square" lIns="0" tIns="0" rIns="0" bIns="0" rtlCol="0"/>
          <a:lstStyle/>
          <a:p>
            <a:endParaRPr sz="2647"/>
          </a:p>
        </p:txBody>
      </p:sp>
      <p:sp>
        <p:nvSpPr>
          <p:cNvPr id="15" name="object 15"/>
          <p:cNvSpPr/>
          <p:nvPr/>
        </p:nvSpPr>
        <p:spPr>
          <a:xfrm>
            <a:off x="6994512" y="100853"/>
            <a:ext cx="322169" cy="161365"/>
          </a:xfrm>
          <a:custGeom>
            <a:avLst/>
            <a:gdLst/>
            <a:ahLst/>
            <a:cxnLst/>
            <a:rect l="l" t="t" r="r" b="b"/>
            <a:pathLst>
              <a:path w="365125" h="182879">
                <a:moveTo>
                  <a:pt x="365096" y="156052"/>
                </a:moveTo>
                <a:lnTo>
                  <a:pt x="347592" y="160402"/>
                </a:lnTo>
                <a:lnTo>
                  <a:pt x="316986" y="182271"/>
                </a:lnTo>
                <a:lnTo>
                  <a:pt x="198815" y="151654"/>
                </a:lnTo>
                <a:lnTo>
                  <a:pt x="85018" y="55402"/>
                </a:lnTo>
                <a:lnTo>
                  <a:pt x="0" y="0"/>
                </a:lnTo>
              </a:path>
            </a:pathLst>
          </a:custGeom>
          <a:ln w="12154">
            <a:solidFill>
              <a:srgbClr val="6D6E71"/>
            </a:solidFill>
          </a:ln>
        </p:spPr>
        <p:txBody>
          <a:bodyPr wrap="square" lIns="0" tIns="0" rIns="0" bIns="0" rtlCol="0"/>
          <a:lstStyle/>
          <a:p>
            <a:endParaRPr sz="2647"/>
          </a:p>
        </p:txBody>
      </p:sp>
      <p:sp>
        <p:nvSpPr>
          <p:cNvPr id="16" name="object 16"/>
          <p:cNvSpPr/>
          <p:nvPr/>
        </p:nvSpPr>
        <p:spPr>
          <a:xfrm>
            <a:off x="5085852" y="100854"/>
            <a:ext cx="26334" cy="133910"/>
          </a:xfrm>
          <a:custGeom>
            <a:avLst/>
            <a:gdLst/>
            <a:ahLst/>
            <a:cxnLst/>
            <a:rect l="l" t="t" r="r" b="b"/>
            <a:pathLst>
              <a:path w="29845" h="151765">
                <a:moveTo>
                  <a:pt x="29679" y="151654"/>
                </a:moveTo>
                <a:lnTo>
                  <a:pt x="20927" y="125386"/>
                </a:lnTo>
                <a:lnTo>
                  <a:pt x="0" y="0"/>
                </a:lnTo>
              </a:path>
            </a:pathLst>
          </a:custGeom>
          <a:ln w="12150">
            <a:solidFill>
              <a:srgbClr val="6D6E71"/>
            </a:solidFill>
          </a:ln>
        </p:spPr>
        <p:txBody>
          <a:bodyPr wrap="square" lIns="0" tIns="0" rIns="0" bIns="0" rtlCol="0"/>
          <a:lstStyle/>
          <a:p>
            <a:endParaRPr sz="2647"/>
          </a:p>
        </p:txBody>
      </p:sp>
      <p:sp>
        <p:nvSpPr>
          <p:cNvPr id="17" name="object 17"/>
          <p:cNvSpPr/>
          <p:nvPr/>
        </p:nvSpPr>
        <p:spPr>
          <a:xfrm>
            <a:off x="1223982" y="100853"/>
            <a:ext cx="448235" cy="249891"/>
          </a:xfrm>
          <a:custGeom>
            <a:avLst/>
            <a:gdLst/>
            <a:ahLst/>
            <a:cxnLst/>
            <a:rect l="l" t="t" r="r" b="b"/>
            <a:pathLst>
              <a:path w="508000" h="283210">
                <a:moveTo>
                  <a:pt x="0" y="212841"/>
                </a:moveTo>
                <a:lnTo>
                  <a:pt x="21903" y="208515"/>
                </a:lnTo>
                <a:lnTo>
                  <a:pt x="56885" y="186621"/>
                </a:lnTo>
                <a:lnTo>
                  <a:pt x="105017" y="77272"/>
                </a:lnTo>
                <a:lnTo>
                  <a:pt x="258146" y="51052"/>
                </a:lnTo>
                <a:lnTo>
                  <a:pt x="241925" y="0"/>
                </a:lnTo>
              </a:path>
              <a:path w="508000" h="283210">
                <a:moveTo>
                  <a:pt x="297531" y="282848"/>
                </a:moveTo>
                <a:lnTo>
                  <a:pt x="284428" y="256580"/>
                </a:lnTo>
                <a:lnTo>
                  <a:pt x="323810" y="243483"/>
                </a:lnTo>
                <a:lnTo>
                  <a:pt x="341309" y="94792"/>
                </a:lnTo>
                <a:lnTo>
                  <a:pt x="507567" y="55402"/>
                </a:lnTo>
                <a:lnTo>
                  <a:pt x="501055" y="0"/>
                </a:lnTo>
              </a:path>
            </a:pathLst>
          </a:custGeom>
          <a:ln w="12152">
            <a:solidFill>
              <a:srgbClr val="6D6E71"/>
            </a:solidFill>
          </a:ln>
        </p:spPr>
        <p:txBody>
          <a:bodyPr wrap="square" lIns="0" tIns="0" rIns="0" bIns="0" rtlCol="0"/>
          <a:lstStyle/>
          <a:p>
            <a:endParaRPr sz="2647"/>
          </a:p>
        </p:txBody>
      </p:sp>
      <p:sp>
        <p:nvSpPr>
          <p:cNvPr id="18" name="object 18"/>
          <p:cNvSpPr/>
          <p:nvPr/>
        </p:nvSpPr>
        <p:spPr>
          <a:xfrm>
            <a:off x="938266" y="100853"/>
            <a:ext cx="127747" cy="245969"/>
          </a:xfrm>
          <a:custGeom>
            <a:avLst/>
            <a:gdLst/>
            <a:ahLst/>
            <a:cxnLst/>
            <a:rect l="l" t="t" r="r" b="b"/>
            <a:pathLst>
              <a:path w="144780" h="278765">
                <a:moveTo>
                  <a:pt x="122500" y="278474"/>
                </a:moveTo>
                <a:lnTo>
                  <a:pt x="144378" y="164751"/>
                </a:lnTo>
                <a:lnTo>
                  <a:pt x="0" y="86044"/>
                </a:lnTo>
                <a:lnTo>
                  <a:pt x="11937" y="0"/>
                </a:lnTo>
              </a:path>
            </a:pathLst>
          </a:custGeom>
          <a:ln w="12150">
            <a:solidFill>
              <a:srgbClr val="6D6E71"/>
            </a:solidFill>
          </a:ln>
        </p:spPr>
        <p:txBody>
          <a:bodyPr wrap="square" lIns="0" tIns="0" rIns="0" bIns="0" rtlCol="0"/>
          <a:lstStyle/>
          <a:p>
            <a:endParaRPr sz="2647"/>
          </a:p>
        </p:txBody>
      </p:sp>
      <p:sp>
        <p:nvSpPr>
          <p:cNvPr id="19" name="object 19"/>
          <p:cNvSpPr/>
          <p:nvPr/>
        </p:nvSpPr>
        <p:spPr>
          <a:xfrm>
            <a:off x="5733799" y="100853"/>
            <a:ext cx="15688" cy="72278"/>
          </a:xfrm>
          <a:custGeom>
            <a:avLst/>
            <a:gdLst/>
            <a:ahLst/>
            <a:cxnLst/>
            <a:rect l="l" t="t" r="r" b="b"/>
            <a:pathLst>
              <a:path w="17779" h="81914">
                <a:moveTo>
                  <a:pt x="17323" y="81670"/>
                </a:moveTo>
                <a:lnTo>
                  <a:pt x="4170" y="11662"/>
                </a:lnTo>
                <a:lnTo>
                  <a:pt x="0" y="0"/>
                </a:lnTo>
              </a:path>
            </a:pathLst>
          </a:custGeom>
          <a:ln w="12150">
            <a:solidFill>
              <a:srgbClr val="6D6E71"/>
            </a:solidFill>
          </a:ln>
        </p:spPr>
        <p:txBody>
          <a:bodyPr wrap="square" lIns="0" tIns="0" rIns="0" bIns="0" rtlCol="0"/>
          <a:lstStyle/>
          <a:p>
            <a:endParaRPr sz="2647"/>
          </a:p>
        </p:txBody>
      </p:sp>
      <p:sp>
        <p:nvSpPr>
          <p:cNvPr id="20" name="object 20"/>
          <p:cNvSpPr/>
          <p:nvPr/>
        </p:nvSpPr>
        <p:spPr>
          <a:xfrm>
            <a:off x="548311" y="504801"/>
            <a:ext cx="66115" cy="366993"/>
          </a:xfrm>
          <a:custGeom>
            <a:avLst/>
            <a:gdLst/>
            <a:ahLst/>
            <a:cxnLst/>
            <a:rect l="l" t="t" r="r" b="b"/>
            <a:pathLst>
              <a:path w="74929" h="415925">
                <a:moveTo>
                  <a:pt x="30602" y="0"/>
                </a:moveTo>
                <a:lnTo>
                  <a:pt x="74360" y="21894"/>
                </a:lnTo>
                <a:lnTo>
                  <a:pt x="43757" y="253690"/>
                </a:lnTo>
                <a:lnTo>
                  <a:pt x="0" y="345519"/>
                </a:lnTo>
                <a:lnTo>
                  <a:pt x="4376" y="415551"/>
                </a:lnTo>
              </a:path>
            </a:pathLst>
          </a:custGeom>
          <a:ln w="12150">
            <a:solidFill>
              <a:srgbClr val="6D6E71"/>
            </a:solidFill>
          </a:ln>
        </p:spPr>
        <p:txBody>
          <a:bodyPr wrap="square" lIns="0" tIns="0" rIns="0" bIns="0" rtlCol="0"/>
          <a:lstStyle/>
          <a:p>
            <a:endParaRPr sz="2647"/>
          </a:p>
        </p:txBody>
      </p:sp>
      <p:sp>
        <p:nvSpPr>
          <p:cNvPr id="21" name="object 21"/>
          <p:cNvSpPr/>
          <p:nvPr/>
        </p:nvSpPr>
        <p:spPr>
          <a:xfrm>
            <a:off x="9003879" y="663936"/>
            <a:ext cx="6163" cy="34178"/>
          </a:xfrm>
          <a:custGeom>
            <a:avLst/>
            <a:gdLst/>
            <a:ahLst/>
            <a:cxnLst/>
            <a:rect l="l" t="t" r="r" b="b"/>
            <a:pathLst>
              <a:path w="6984" h="38734">
                <a:moveTo>
                  <a:pt x="0" y="38345"/>
                </a:moveTo>
                <a:lnTo>
                  <a:pt x="6404" y="0"/>
                </a:lnTo>
              </a:path>
            </a:pathLst>
          </a:custGeom>
          <a:ln w="12150">
            <a:solidFill>
              <a:srgbClr val="6D6E71"/>
            </a:solidFill>
          </a:ln>
        </p:spPr>
        <p:txBody>
          <a:bodyPr wrap="square" lIns="0" tIns="0" rIns="0" bIns="0" rtlCol="0"/>
          <a:lstStyle/>
          <a:p>
            <a:endParaRPr sz="2647"/>
          </a:p>
        </p:txBody>
      </p:sp>
      <p:sp>
        <p:nvSpPr>
          <p:cNvPr id="22" name="object 22"/>
          <p:cNvSpPr/>
          <p:nvPr/>
        </p:nvSpPr>
        <p:spPr>
          <a:xfrm>
            <a:off x="8540601" y="254040"/>
            <a:ext cx="468966" cy="532840"/>
          </a:xfrm>
          <a:custGeom>
            <a:avLst/>
            <a:gdLst/>
            <a:ahLst/>
            <a:cxnLst/>
            <a:rect l="l" t="t" r="r" b="b"/>
            <a:pathLst>
              <a:path w="531495" h="603885">
                <a:moveTo>
                  <a:pt x="531452" y="392402"/>
                </a:moveTo>
                <a:lnTo>
                  <a:pt x="472585" y="362950"/>
                </a:lnTo>
                <a:lnTo>
                  <a:pt x="459408" y="319186"/>
                </a:lnTo>
                <a:lnTo>
                  <a:pt x="498813" y="227357"/>
                </a:lnTo>
                <a:lnTo>
                  <a:pt x="529443" y="135504"/>
                </a:lnTo>
                <a:lnTo>
                  <a:pt x="531452" y="73210"/>
                </a:lnTo>
              </a:path>
              <a:path w="531495" h="603885">
                <a:moveTo>
                  <a:pt x="531452" y="0"/>
                </a:moveTo>
                <a:lnTo>
                  <a:pt x="350009" y="8659"/>
                </a:lnTo>
                <a:lnTo>
                  <a:pt x="376289" y="61171"/>
                </a:lnTo>
                <a:lnTo>
                  <a:pt x="236287" y="74268"/>
                </a:lnTo>
                <a:lnTo>
                  <a:pt x="249391" y="118008"/>
                </a:lnTo>
                <a:lnTo>
                  <a:pt x="262520" y="227357"/>
                </a:lnTo>
              </a:path>
              <a:path w="531495" h="603885">
                <a:moveTo>
                  <a:pt x="0" y="603494"/>
                </a:moveTo>
                <a:lnTo>
                  <a:pt x="131273" y="590396"/>
                </a:lnTo>
                <a:lnTo>
                  <a:pt x="275675" y="524787"/>
                </a:lnTo>
                <a:lnTo>
                  <a:pt x="319407" y="411015"/>
                </a:lnTo>
                <a:lnTo>
                  <a:pt x="358838" y="402316"/>
                </a:lnTo>
                <a:lnTo>
                  <a:pt x="433179" y="463527"/>
                </a:lnTo>
                <a:lnTo>
                  <a:pt x="450707" y="481047"/>
                </a:lnTo>
                <a:lnTo>
                  <a:pt x="525096" y="502893"/>
                </a:lnTo>
                <a:lnTo>
                  <a:pt x="531452" y="500703"/>
                </a:lnTo>
              </a:path>
            </a:pathLst>
          </a:custGeom>
          <a:ln w="12152">
            <a:solidFill>
              <a:srgbClr val="6D6E71"/>
            </a:solidFill>
          </a:ln>
        </p:spPr>
        <p:txBody>
          <a:bodyPr wrap="square" lIns="0" tIns="0" rIns="0" bIns="0" rtlCol="0"/>
          <a:lstStyle/>
          <a:p>
            <a:endParaRPr sz="2647"/>
          </a:p>
        </p:txBody>
      </p:sp>
      <p:sp>
        <p:nvSpPr>
          <p:cNvPr id="39" name="object 39"/>
          <p:cNvSpPr txBox="1"/>
          <p:nvPr/>
        </p:nvSpPr>
        <p:spPr>
          <a:xfrm>
            <a:off x="803157" y="2068152"/>
            <a:ext cx="6876410" cy="3798739"/>
          </a:xfrm>
          <a:prstGeom prst="rect">
            <a:avLst/>
          </a:prstGeom>
        </p:spPr>
        <p:txBody>
          <a:bodyPr vert="horz" wrap="square" lIns="0" tIns="117101" rIns="0" bIns="0" rtlCol="0">
            <a:spAutoFit/>
          </a:bodyPr>
          <a:lstStyle/>
          <a:p>
            <a:pPr marL="226931" indent="-215725">
              <a:lnSpc>
                <a:spcPct val="150000"/>
              </a:lnSpc>
              <a:spcBef>
                <a:spcPts val="922"/>
              </a:spcBef>
              <a:buFont typeface="Tahoma"/>
              <a:buChar char="‣"/>
              <a:tabLst>
                <a:tab pos="226931" algn="l"/>
              </a:tabLst>
            </a:pPr>
            <a:r>
              <a:rPr lang="en-US" sz="2800" b="1" i="1" spc="-9" dirty="0">
                <a:latin typeface="Calibri"/>
                <a:cs typeface="Calibri"/>
              </a:rPr>
              <a:t>Why study algorithms?</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Course overview</a:t>
            </a:r>
          </a:p>
          <a:p>
            <a:pPr marL="226931" indent="-215725">
              <a:lnSpc>
                <a:spcPct val="150000"/>
              </a:lnSpc>
              <a:spcBef>
                <a:spcPts val="922"/>
              </a:spcBef>
              <a:buFont typeface="Tahoma"/>
              <a:buChar char="‣"/>
              <a:tabLst>
                <a:tab pos="226931" algn="l"/>
              </a:tabLst>
            </a:pPr>
            <a:r>
              <a:rPr lang="en-US" altLang="zh-CN" sz="2800" b="1" i="1" spc="-9" dirty="0">
                <a:latin typeface="Calibri"/>
                <a:cs typeface="Calibri"/>
              </a:rPr>
              <a:t>1.1 Algorithm and program</a:t>
            </a:r>
          </a:p>
          <a:p>
            <a:pPr marL="226931" indent="-215725">
              <a:lnSpc>
                <a:spcPct val="150000"/>
              </a:lnSpc>
              <a:spcBef>
                <a:spcPts val="922"/>
              </a:spcBef>
              <a:buFont typeface="Tahoma"/>
              <a:buChar char="‣"/>
              <a:tabLst>
                <a:tab pos="226931" algn="l"/>
              </a:tabLst>
            </a:pPr>
            <a:r>
              <a:rPr lang="en-US" sz="2800" b="1" i="1" dirty="0">
                <a:latin typeface="Calibri"/>
                <a:cs typeface="Calibri"/>
              </a:rPr>
              <a:t>1.2 </a:t>
            </a:r>
            <a:r>
              <a:rPr lang="en-US" altLang="zh-CN" sz="2800" b="1" i="1" dirty="0">
                <a:latin typeface="Calibri"/>
                <a:cs typeface="Calibri"/>
              </a:rPr>
              <a:t>A</a:t>
            </a:r>
            <a:r>
              <a:rPr lang="en-US" sz="2800" b="1" i="1" dirty="0">
                <a:latin typeface="Calibri"/>
                <a:cs typeface="Calibri"/>
              </a:rPr>
              <a:t>lgorithm complexity analysis</a:t>
            </a:r>
            <a:endParaRPr sz="2800" b="1" dirty="0">
              <a:latin typeface="Calibri"/>
              <a:cs typeface="Calibri"/>
            </a:endParaRPr>
          </a:p>
          <a:p>
            <a:pPr marL="226931" indent="-215725">
              <a:lnSpc>
                <a:spcPct val="150000"/>
              </a:lnSpc>
              <a:spcBef>
                <a:spcPts val="838"/>
              </a:spcBef>
              <a:buFont typeface="Tahoma"/>
              <a:buChar char="‣"/>
              <a:tabLst>
                <a:tab pos="226931" algn="l"/>
              </a:tabLst>
            </a:pPr>
            <a:r>
              <a:rPr lang="en-US" sz="2800" b="1" i="1" dirty="0">
                <a:solidFill>
                  <a:srgbClr val="FF0000"/>
                </a:solidFill>
                <a:latin typeface="Calibri"/>
                <a:cs typeface="Calibri"/>
              </a:rPr>
              <a:t>1.3 NP hard </a:t>
            </a:r>
            <a:r>
              <a:rPr sz="2800" b="1" i="1" dirty="0">
                <a:solidFill>
                  <a:srgbClr val="FF0000"/>
                </a:solidFill>
                <a:latin typeface="Calibri"/>
                <a:cs typeface="Calibri"/>
              </a:rPr>
              <a:t>theory</a:t>
            </a:r>
            <a:r>
              <a:rPr sz="2800" b="1" i="1" spc="190" dirty="0">
                <a:solidFill>
                  <a:srgbClr val="FF0000"/>
                </a:solidFill>
                <a:latin typeface="Calibri"/>
                <a:cs typeface="Calibri"/>
              </a:rPr>
              <a:t> </a:t>
            </a:r>
            <a:r>
              <a:rPr sz="2800" b="1" i="1" dirty="0">
                <a:solidFill>
                  <a:srgbClr val="FF0000"/>
                </a:solidFill>
                <a:latin typeface="Calibri"/>
                <a:cs typeface="Calibri"/>
              </a:rPr>
              <a:t>of</a:t>
            </a:r>
            <a:r>
              <a:rPr sz="2800" b="1" i="1" spc="190" dirty="0">
                <a:solidFill>
                  <a:srgbClr val="FF0000"/>
                </a:solidFill>
                <a:latin typeface="Calibri"/>
                <a:cs typeface="Calibri"/>
              </a:rPr>
              <a:t> </a:t>
            </a:r>
            <a:r>
              <a:rPr sz="2800" b="1" i="1" spc="-9" dirty="0">
                <a:solidFill>
                  <a:srgbClr val="FF0000"/>
                </a:solidFill>
                <a:latin typeface="Calibri"/>
                <a:cs typeface="Calibri"/>
              </a:rPr>
              <a:t>algorithms</a:t>
            </a:r>
            <a:endParaRPr sz="2800" b="1" dirty="0">
              <a:solidFill>
                <a:srgbClr val="FF0000"/>
              </a:solidFill>
              <a:latin typeface="Calibri"/>
              <a:cs typeface="Calibri"/>
            </a:endParaRPr>
          </a:p>
        </p:txBody>
      </p:sp>
      <p:sp>
        <p:nvSpPr>
          <p:cNvPr id="41" name="标题 40"/>
          <p:cNvSpPr>
            <a:spLocks noGrp="1"/>
          </p:cNvSpPr>
          <p:nvPr>
            <p:ph type="title"/>
          </p:nvPr>
        </p:nvSpPr>
        <p:spPr>
          <a:xfrm>
            <a:off x="420599" y="866694"/>
            <a:ext cx="8229600" cy="1139825"/>
          </a:xfrm>
        </p:spPr>
        <p:txBody>
          <a:bodyPr/>
          <a:lstStyle/>
          <a:p>
            <a:r>
              <a:rPr lang="en-US" altLang="zh-CN" sz="4400" b="1" spc="176" dirty="0">
                <a:latin typeface="微软雅黑" panose="020B0503020204020204" pitchFamily="34" charset="-122"/>
                <a:ea typeface="微软雅黑" panose="020B0503020204020204" pitchFamily="34" charset="-122"/>
                <a:cs typeface="Calibri"/>
              </a:rPr>
              <a:t>1</a:t>
            </a:r>
            <a:r>
              <a:rPr lang="zh-CN" altLang="en-US" sz="4400" b="1" spc="176" dirty="0">
                <a:latin typeface="微软雅黑" panose="020B0503020204020204" pitchFamily="34" charset="-122"/>
                <a:ea typeface="微软雅黑" panose="020B0503020204020204" pitchFamily="34" charset="-122"/>
                <a:cs typeface="Calibri"/>
              </a:rPr>
              <a:t>、 算法概述</a:t>
            </a:r>
            <a:r>
              <a:rPr lang="zh-CN" altLang="en-US" sz="4400" dirty="0">
                <a:latin typeface="微软雅黑" panose="020B0503020204020204" pitchFamily="34" charset="-122"/>
                <a:ea typeface="微软雅黑" panose="020B0503020204020204" pitchFamily="34" charset="-122"/>
                <a:cs typeface="Century Gothic"/>
              </a:rPr>
              <a:t/>
            </a:r>
            <a:br>
              <a:rPr lang="zh-CN" altLang="en-US" sz="4400" dirty="0">
                <a:latin typeface="微软雅黑" panose="020B0503020204020204" pitchFamily="34" charset="-122"/>
                <a:ea typeface="微软雅黑" panose="020B0503020204020204" pitchFamily="34" charset="-122"/>
                <a:cs typeface="Century Gothic"/>
              </a:rPr>
            </a:b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137872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5" descr="费马">
            <a:extLst>
              <a:ext uri="{FF2B5EF4-FFF2-40B4-BE49-F238E27FC236}">
                <a16:creationId xmlns:a16="http://schemas.microsoft.com/office/drawing/2014/main" id="{66AED3AD-6619-48F1-BEB1-C29A84044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06" y="2314204"/>
            <a:ext cx="1193953" cy="1582347"/>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185296F7-ED47-4A95-864E-19EF29FA03F6}"/>
              </a:ext>
            </a:extLst>
          </p:cNvPr>
          <p:cNvSpPr/>
          <p:nvPr/>
        </p:nvSpPr>
        <p:spPr>
          <a:xfrm>
            <a:off x="322250" y="4023860"/>
            <a:ext cx="2179928" cy="646331"/>
          </a:xfrm>
          <a:prstGeom prst="rect">
            <a:avLst/>
          </a:prstGeom>
        </p:spPr>
        <p:txBody>
          <a:bodyPr wrap="square">
            <a:spAutoFit/>
          </a:bodyPr>
          <a:lstStyle/>
          <a:p>
            <a:pPr algn="ctr"/>
            <a:r>
              <a:rPr lang="en-US" altLang="zh-CN" sz="1013" dirty="0">
                <a:latin typeface="Times New Roman" panose="02020603050405020304" pitchFamily="18" charset="0"/>
                <a:ea typeface="+mn-ea"/>
                <a:cs typeface="Times New Roman" panose="02020603050405020304" pitchFamily="18" charset="0"/>
              </a:rPr>
              <a:t> </a:t>
            </a:r>
            <a:r>
              <a:rPr lang="zh-CN" altLang="en-US" sz="1200" dirty="0">
                <a:latin typeface="Times New Roman" panose="02020603050405020304" pitchFamily="18" charset="0"/>
                <a:ea typeface="+mn-ea"/>
                <a:cs typeface="Times New Roman" panose="02020603050405020304" pitchFamily="18" charset="0"/>
              </a:rPr>
              <a:t>费马（</a:t>
            </a:r>
            <a:r>
              <a:rPr lang="en-US" altLang="zh-CN" sz="1200" dirty="0">
                <a:latin typeface="Times New Roman" panose="02020603050405020304" pitchFamily="18" charset="0"/>
                <a:ea typeface="+mn-ea"/>
                <a:cs typeface="Times New Roman" panose="02020603050405020304" pitchFamily="18" charset="0"/>
              </a:rPr>
              <a:t> Pierre de Fermat </a:t>
            </a:r>
            <a:r>
              <a:rPr lang="zh-CN" altLang="en-US" sz="1200" dirty="0">
                <a:latin typeface="Times New Roman" panose="02020603050405020304" pitchFamily="18" charset="0"/>
                <a:ea typeface="+mn-ea"/>
                <a:cs typeface="Times New Roman" panose="02020603050405020304" pitchFamily="18" charset="0"/>
              </a:rPr>
              <a:t>）</a:t>
            </a:r>
            <a:endParaRPr lang="en-US" altLang="zh-CN" sz="1200" dirty="0">
              <a:latin typeface="Times New Roman" panose="02020603050405020304" pitchFamily="18" charset="0"/>
              <a:ea typeface="+mn-ea"/>
              <a:cs typeface="Times New Roman" panose="02020603050405020304" pitchFamily="18" charset="0"/>
            </a:endParaRPr>
          </a:p>
          <a:p>
            <a:pPr algn="ctr"/>
            <a:r>
              <a:rPr lang="zh-CN" altLang="en-US" sz="1200" dirty="0">
                <a:latin typeface="Times New Roman" panose="02020603050405020304" pitchFamily="18" charset="0"/>
                <a:ea typeface="+mn-ea"/>
                <a:cs typeface="Times New Roman" panose="02020603050405020304" pitchFamily="18" charset="0"/>
              </a:rPr>
              <a:t>法国人，律师，业余数学家</a:t>
            </a:r>
            <a:endParaRPr lang="en-US" altLang="zh-CN" sz="1200" dirty="0">
              <a:latin typeface="Times New Roman" panose="02020603050405020304" pitchFamily="18" charset="0"/>
              <a:ea typeface="+mn-ea"/>
              <a:cs typeface="Times New Roman" panose="02020603050405020304" pitchFamily="18" charset="0"/>
            </a:endParaRPr>
          </a:p>
          <a:p>
            <a:pPr algn="ctr"/>
            <a:r>
              <a:rPr lang="zh-CN" altLang="en-US" sz="1200" dirty="0">
                <a:latin typeface="Times New Roman" panose="02020603050405020304" pitchFamily="18" charset="0"/>
                <a:ea typeface="+mn-ea"/>
                <a:cs typeface="Times New Roman" panose="02020603050405020304" pitchFamily="18" charset="0"/>
              </a:rPr>
              <a:t>（</a:t>
            </a:r>
            <a:r>
              <a:rPr lang="en-US" altLang="zh-CN" sz="1200" dirty="0">
                <a:latin typeface="Times New Roman" panose="02020603050405020304" pitchFamily="18" charset="0"/>
                <a:ea typeface="+mn-ea"/>
                <a:cs typeface="Times New Roman" panose="02020603050405020304" pitchFamily="18" charset="0"/>
              </a:rPr>
              <a:t>1601-1665</a:t>
            </a:r>
            <a:r>
              <a:rPr lang="zh-CN" altLang="en-US" sz="1200" dirty="0">
                <a:latin typeface="Times New Roman" panose="02020603050405020304" pitchFamily="18" charset="0"/>
                <a:ea typeface="+mn-ea"/>
                <a:cs typeface="Times New Roman" panose="02020603050405020304" pitchFamily="18" charset="0"/>
              </a:rPr>
              <a:t>）</a:t>
            </a:r>
          </a:p>
        </p:txBody>
      </p:sp>
      <p:pic>
        <p:nvPicPr>
          <p:cNvPr id="19" name="Picture 3">
            <a:extLst>
              <a:ext uri="{FF2B5EF4-FFF2-40B4-BE49-F238E27FC236}">
                <a16:creationId xmlns:a16="http://schemas.microsoft.com/office/drawing/2014/main" id="{8E62F1F0-2305-4234-9CCF-F52EFD36B1C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25745" y="2105689"/>
            <a:ext cx="1572035" cy="17908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矩形 19">
            <a:extLst>
              <a:ext uri="{FF2B5EF4-FFF2-40B4-BE49-F238E27FC236}">
                <a16:creationId xmlns:a16="http://schemas.microsoft.com/office/drawing/2014/main" id="{EE19B98D-8A6C-487C-B519-9CC3F838E45B}"/>
              </a:ext>
            </a:extLst>
          </p:cNvPr>
          <p:cNvSpPr/>
          <p:nvPr/>
        </p:nvSpPr>
        <p:spPr>
          <a:xfrm>
            <a:off x="2411760" y="4005064"/>
            <a:ext cx="6391284" cy="1708160"/>
          </a:xfrm>
          <a:prstGeom prst="rect">
            <a:avLst/>
          </a:prstGeom>
        </p:spPr>
        <p:txBody>
          <a:bodyPr wrap="square">
            <a:spAutoFit/>
          </a:bodyPr>
          <a:lstStyle/>
          <a:p>
            <a:pPr marL="214313" indent="-214313">
              <a:buFont typeface="Wingdings" panose="05000000000000000000" pitchFamily="2" charset="2"/>
              <a:buChar char="l"/>
            </a:pPr>
            <a:r>
              <a:rPr lang="en-US" altLang="zh-CN" sz="1500" dirty="0">
                <a:latin typeface="Times New Roman" panose="02020603050405020304" pitchFamily="18" charset="0"/>
                <a:ea typeface="+mn-ea"/>
                <a:cs typeface="Times New Roman" panose="02020603050405020304" pitchFamily="18" charset="0"/>
              </a:rPr>
              <a:t>1637</a:t>
            </a:r>
            <a:r>
              <a:rPr lang="zh-CN" altLang="en-US" sz="1500" dirty="0">
                <a:latin typeface="Times New Roman" panose="02020603050405020304" pitchFamily="18" charset="0"/>
                <a:ea typeface="+mn-ea"/>
                <a:cs typeface="Times New Roman" panose="02020603050405020304" pitchFamily="18" charset="0"/>
              </a:rPr>
              <a:t>年费马在阅读古希腊数学家丢番图的著作</a:t>
            </a:r>
            <a:r>
              <a:rPr lang="en-US" altLang="zh-CN" sz="1500" dirty="0">
                <a:latin typeface="Times New Roman" panose="02020603050405020304" pitchFamily="18" charset="0"/>
                <a:ea typeface="+mn-ea"/>
                <a:cs typeface="Times New Roman" panose="02020603050405020304" pitchFamily="18" charset="0"/>
              </a:rPr>
              <a:t>《</a:t>
            </a:r>
            <a:r>
              <a:rPr lang="zh-CN" altLang="en-US" sz="1500" dirty="0">
                <a:latin typeface="Times New Roman" panose="02020603050405020304" pitchFamily="18" charset="0"/>
                <a:ea typeface="+mn-ea"/>
                <a:cs typeface="Times New Roman" panose="02020603050405020304" pitchFamily="18" charset="0"/>
              </a:rPr>
              <a:t>算术</a:t>
            </a:r>
            <a:r>
              <a:rPr lang="en-US" altLang="zh-CN" sz="1500" dirty="0">
                <a:latin typeface="Times New Roman" panose="02020603050405020304" pitchFamily="18" charset="0"/>
                <a:ea typeface="+mn-ea"/>
                <a:cs typeface="Times New Roman" panose="02020603050405020304" pitchFamily="18" charset="0"/>
              </a:rPr>
              <a:t>》</a:t>
            </a:r>
            <a:r>
              <a:rPr lang="zh-CN" altLang="en-US" sz="1500" dirty="0">
                <a:latin typeface="Times New Roman" panose="02020603050405020304" pitchFamily="18" charset="0"/>
                <a:ea typeface="+mn-ea"/>
                <a:cs typeface="Times New Roman" panose="02020603050405020304" pitchFamily="18" charset="0"/>
              </a:rPr>
              <a:t>拉丁文译本时，在书右侧空白写下：</a:t>
            </a:r>
            <a:r>
              <a:rPr lang="zh-CN" altLang="zh-CN" sz="1500" dirty="0">
                <a:latin typeface="Times New Roman" panose="02020603050405020304" pitchFamily="18" charset="0"/>
                <a:ea typeface="+mn-ea"/>
                <a:cs typeface="Times New Roman" panose="02020603050405020304" pitchFamily="18" charset="0"/>
              </a:rPr>
              <a:t>将一个立方数分成两个立方数之和，或一个四次幂分成两个四次幂之和，或者一般地将一个高于二次的幂分成两个同次幂之和，这是不可能的。关于此，我确信我发现一种美妙的证法，可惜此处甚小，我无法写下证明过程。</a:t>
            </a:r>
            <a:endParaRPr lang="en-US" altLang="zh-CN" sz="1500" dirty="0">
              <a:latin typeface="Times New Roman" panose="02020603050405020304" pitchFamily="18" charset="0"/>
              <a:ea typeface="+mn-ea"/>
              <a:cs typeface="Times New Roman" panose="02020603050405020304" pitchFamily="18" charset="0"/>
            </a:endParaRPr>
          </a:p>
          <a:p>
            <a:pPr marL="214313" indent="-214313">
              <a:buFont typeface="Wingdings" panose="05000000000000000000" pitchFamily="2" charset="2"/>
              <a:buChar char="l"/>
            </a:pPr>
            <a:r>
              <a:rPr lang="zh-CN" altLang="en-US" sz="1500" dirty="0">
                <a:latin typeface="Times New Roman" panose="02020603050405020304" pitchFamily="18" charset="0"/>
                <a:ea typeface="+mn-ea"/>
                <a:cs typeface="Times New Roman" panose="02020603050405020304" pitchFamily="18" charset="0"/>
              </a:rPr>
              <a:t>英国数学家安德鲁</a:t>
            </a:r>
            <a:r>
              <a:rPr lang="en-US" altLang="zh-CN" sz="1500" dirty="0">
                <a:latin typeface="Times New Roman" panose="02020603050405020304" pitchFamily="18" charset="0"/>
                <a:ea typeface="+mn-ea"/>
                <a:cs typeface="Times New Roman" panose="02020603050405020304" pitchFamily="18" charset="0"/>
              </a:rPr>
              <a:t>·</a:t>
            </a:r>
            <a:r>
              <a:rPr lang="zh-CN" altLang="en-US" sz="1500" dirty="0">
                <a:latin typeface="Times New Roman" panose="02020603050405020304" pitchFamily="18" charset="0"/>
                <a:ea typeface="+mn-ea"/>
                <a:cs typeface="Times New Roman" panose="02020603050405020304" pitchFamily="18" charset="0"/>
              </a:rPr>
              <a:t>怀尔斯（</a:t>
            </a:r>
            <a:r>
              <a:rPr lang="en-US" altLang="zh-CN" sz="1500" dirty="0">
                <a:latin typeface="Times New Roman" panose="02020603050405020304" pitchFamily="18" charset="0"/>
                <a:ea typeface="+mn-ea"/>
                <a:cs typeface="Times New Roman" panose="02020603050405020304" pitchFamily="18" charset="0"/>
              </a:rPr>
              <a:t>Andrew Wiles</a:t>
            </a:r>
            <a:r>
              <a:rPr lang="zh-CN" altLang="en-US" sz="1500" dirty="0">
                <a:latin typeface="Times New Roman" panose="02020603050405020304" pitchFamily="18" charset="0"/>
                <a:ea typeface="+mn-ea"/>
                <a:cs typeface="Times New Roman" panose="02020603050405020304" pitchFamily="18" charset="0"/>
              </a:rPr>
              <a:t>）在</a:t>
            </a:r>
            <a:r>
              <a:rPr lang="en-US" altLang="zh-CN" sz="1500" dirty="0">
                <a:latin typeface="Times New Roman" panose="02020603050405020304" pitchFamily="18" charset="0"/>
                <a:ea typeface="+mn-ea"/>
                <a:cs typeface="Times New Roman" panose="02020603050405020304" pitchFamily="18" charset="0"/>
              </a:rPr>
              <a:t>1994</a:t>
            </a:r>
            <a:r>
              <a:rPr lang="zh-CN" altLang="en-US" sz="1500" dirty="0">
                <a:latin typeface="Times New Roman" panose="02020603050405020304" pitchFamily="18" charset="0"/>
                <a:ea typeface="+mn-ea"/>
                <a:cs typeface="Times New Roman" panose="02020603050405020304" pitchFamily="18" charset="0"/>
              </a:rPr>
              <a:t>年成功证明了费马大定理。</a:t>
            </a:r>
          </a:p>
        </p:txBody>
      </p:sp>
      <p:sp>
        <p:nvSpPr>
          <p:cNvPr id="22" name="矩形 21">
            <a:extLst>
              <a:ext uri="{FF2B5EF4-FFF2-40B4-BE49-F238E27FC236}">
                <a16:creationId xmlns:a16="http://schemas.microsoft.com/office/drawing/2014/main" id="{DBC56794-ADED-407D-B2C3-DECAC9470256}"/>
              </a:ext>
            </a:extLst>
          </p:cNvPr>
          <p:cNvSpPr/>
          <p:nvPr/>
        </p:nvSpPr>
        <p:spPr>
          <a:xfrm>
            <a:off x="821399" y="1535827"/>
            <a:ext cx="7690578" cy="456955"/>
          </a:xfrm>
          <a:prstGeom prst="rect">
            <a:avLst/>
          </a:prstGeom>
          <a:gradFill>
            <a:gsLst>
              <a:gs pos="37000">
                <a:srgbClr val="019196"/>
              </a:gs>
              <a:gs pos="100000">
                <a:schemeClr val="bg1"/>
              </a:gs>
              <a:gs pos="83000">
                <a:srgbClr val="81C7C9"/>
              </a:gs>
            </a:gsLst>
            <a:lin ang="12000000" scaled="0"/>
          </a:gradFill>
          <a:ln w="22225">
            <a:noFill/>
          </a:ln>
          <a:effectLst>
            <a:outerShdw blurRad="50800" dist="38100" dir="5400000" algn="l" rotWithShape="0">
              <a:schemeClr val="tx1">
                <a:lumMod val="85000"/>
                <a:lumOff val="15000"/>
                <a:alpha val="10000"/>
              </a:schemeClr>
            </a:outerShdw>
          </a:effectLst>
        </p:spPr>
        <p:txBody>
          <a:bodyPr anchor="ctr">
            <a:normAutofit/>
          </a:bodyPr>
          <a:lstStyle/>
          <a:p>
            <a:pPr algn="ctr">
              <a:lnSpc>
                <a:spcPct val="90000"/>
              </a:lnSpc>
              <a:spcBef>
                <a:spcPct val="0"/>
              </a:spcBef>
            </a:pPr>
            <a:endParaRPr lang="zh-CN" altLang="en-US" sz="225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D64CB3B4-92F1-43E4-B8AA-64EE9C715F78}"/>
                  </a:ext>
                </a:extLst>
              </p:cNvPr>
              <p:cNvSpPr/>
              <p:nvPr/>
            </p:nvSpPr>
            <p:spPr>
              <a:xfrm>
                <a:off x="1542317" y="1536096"/>
                <a:ext cx="6710444" cy="923330"/>
              </a:xfrm>
              <a:prstGeom prst="rect">
                <a:avLst/>
              </a:prstGeom>
            </p:spPr>
            <p:txBody>
              <a:bodyPr wrap="square">
                <a:spAutoFit/>
              </a:bodyPr>
              <a:lstStyle/>
              <a:p>
                <a:pPr algn="ctr">
                  <a:lnSpc>
                    <a:spcPct val="150000"/>
                  </a:lnSpc>
                </a:pPr>
                <a:r>
                  <a:rPr lang="zh-CN" altLang="en-US" sz="15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费马猜想：</a:t>
                </a:r>
                <a:r>
                  <a:rPr lang="zh-CN" altLang="en-US" sz="1500" dirty="0">
                    <a:latin typeface="微软雅黑" panose="020B0503020204020204" pitchFamily="34" charset="-122"/>
                    <a:ea typeface="微软雅黑" panose="020B0503020204020204" pitchFamily="34" charset="-122"/>
                  </a:rPr>
                  <a:t>当整数</a:t>
                </a:r>
                <a14:m>
                  <m:oMath xmlns:m="http://schemas.openxmlformats.org/officeDocument/2006/math">
                    <m:r>
                      <a:rPr lang="en-US" altLang="zh-CN" sz="1500" i="1">
                        <a:latin typeface="Cambria Math" panose="02040503050406030204" pitchFamily="18" charset="0"/>
                      </a:rPr>
                      <m:t>𝑛</m:t>
                    </m:r>
                    <m:r>
                      <a:rPr lang="en-US" altLang="zh-CN" sz="1500" i="1">
                        <a:latin typeface="Cambria Math" panose="02040503050406030204" pitchFamily="18" charset="0"/>
                        <a:ea typeface="Cambria Math" panose="02040503050406030204" pitchFamily="18" charset="0"/>
                      </a:rPr>
                      <m:t>&gt;2</m:t>
                    </m:r>
                  </m:oMath>
                </a14:m>
                <a:r>
                  <a:rPr lang="zh-CN" altLang="en-US" sz="1500" dirty="0">
                    <a:latin typeface="微软雅黑" panose="020B0503020204020204" pitchFamily="34" charset="-122"/>
                    <a:ea typeface="微软雅黑" panose="020B0503020204020204" pitchFamily="34" charset="-122"/>
                  </a:rPr>
                  <a:t>时，关于</a:t>
                </a:r>
                <a14:m>
                  <m:oMath xmlns:m="http://schemas.openxmlformats.org/officeDocument/2006/math">
                    <m:r>
                      <a:rPr lang="en-US" altLang="zh-CN" sz="1500" i="1">
                        <a:latin typeface="Cambria Math" panose="02040503050406030204" pitchFamily="18" charset="0"/>
                      </a:rPr>
                      <m:t>𝑥</m:t>
                    </m:r>
                    <m:r>
                      <a:rPr lang="en-US" altLang="zh-CN" sz="1500" i="1">
                        <a:latin typeface="Cambria Math" panose="02040503050406030204" pitchFamily="18" charset="0"/>
                      </a:rPr>
                      <m:t>,</m:t>
                    </m:r>
                    <m:r>
                      <a:rPr lang="en-US" altLang="zh-CN" sz="1500" i="1">
                        <a:latin typeface="Cambria Math" panose="02040503050406030204" pitchFamily="18" charset="0"/>
                      </a:rPr>
                      <m:t>𝑦</m:t>
                    </m:r>
                    <m:r>
                      <a:rPr lang="en-US" altLang="zh-CN" sz="1500" i="1">
                        <a:latin typeface="Cambria Math" panose="02040503050406030204" pitchFamily="18" charset="0"/>
                      </a:rPr>
                      <m:t>,</m:t>
                    </m:r>
                    <m:r>
                      <a:rPr lang="en-US" altLang="zh-CN" sz="1500" i="1">
                        <a:latin typeface="Cambria Math" panose="02040503050406030204" pitchFamily="18" charset="0"/>
                      </a:rPr>
                      <m:t>𝑧</m:t>
                    </m:r>
                  </m:oMath>
                </a14:m>
                <a:r>
                  <a:rPr lang="zh-CN" altLang="en-US" sz="1500" dirty="0">
                    <a:latin typeface="微软雅黑" panose="020B0503020204020204" pitchFamily="34" charset="-122"/>
                    <a:ea typeface="微软雅黑" panose="020B0503020204020204" pitchFamily="34" charset="-122"/>
                  </a:rPr>
                  <a:t>的方程</a:t>
                </a:r>
                <a14:m>
                  <m:oMath xmlns:m="http://schemas.openxmlformats.org/officeDocument/2006/math">
                    <m:sSup>
                      <m:sSupPr>
                        <m:ctrlPr>
                          <a:rPr lang="zh-CN" altLang="en-US" sz="1500" i="1">
                            <a:latin typeface="Cambria Math" panose="02040503050406030204" pitchFamily="18" charset="0"/>
                          </a:rPr>
                        </m:ctrlPr>
                      </m:sSupPr>
                      <m:e>
                        <m:r>
                          <a:rPr lang="zh-CN" altLang="en-US" sz="1500" i="1">
                            <a:latin typeface="Cambria Math" panose="02040503050406030204" pitchFamily="18" charset="0"/>
                          </a:rPr>
                          <m:t>𝑥</m:t>
                        </m:r>
                      </m:e>
                      <m:sup>
                        <m:r>
                          <m:rPr>
                            <m:sty m:val="p"/>
                          </m:rPr>
                          <a:rPr lang="en-US" altLang="zh-CN" sz="1500">
                            <a:latin typeface="Cambria Math" panose="02040503050406030204" pitchFamily="18" charset="0"/>
                          </a:rPr>
                          <m:t>n</m:t>
                        </m:r>
                      </m:sup>
                    </m:sSup>
                    <m:r>
                      <a:rPr lang="zh-CN" altLang="en-US" sz="1500">
                        <a:latin typeface="Cambria Math" panose="02040503050406030204" pitchFamily="18" charset="0"/>
                      </a:rPr>
                      <m:t>+</m:t>
                    </m:r>
                    <m:sSup>
                      <m:sSupPr>
                        <m:ctrlPr>
                          <a:rPr lang="zh-CN" altLang="en-US" sz="1500" i="1">
                            <a:latin typeface="Cambria Math" panose="02040503050406030204" pitchFamily="18" charset="0"/>
                          </a:rPr>
                        </m:ctrlPr>
                      </m:sSupPr>
                      <m:e>
                        <m:r>
                          <a:rPr lang="zh-CN" altLang="en-US" sz="1500" i="1">
                            <a:latin typeface="Cambria Math" panose="02040503050406030204" pitchFamily="18" charset="0"/>
                          </a:rPr>
                          <m:t>𝑦</m:t>
                        </m:r>
                      </m:e>
                      <m:sup>
                        <m:r>
                          <m:rPr>
                            <m:sty m:val="p"/>
                          </m:rPr>
                          <a:rPr lang="en-US" altLang="zh-CN" sz="1500">
                            <a:latin typeface="Cambria Math" panose="02040503050406030204" pitchFamily="18" charset="0"/>
                          </a:rPr>
                          <m:t>n</m:t>
                        </m:r>
                      </m:sup>
                    </m:sSup>
                    <m:r>
                      <a:rPr lang="zh-CN" altLang="en-US" sz="1500">
                        <a:latin typeface="Cambria Math" panose="02040503050406030204" pitchFamily="18" charset="0"/>
                      </a:rPr>
                      <m:t>=</m:t>
                    </m:r>
                    <m:sSup>
                      <m:sSupPr>
                        <m:ctrlPr>
                          <a:rPr lang="zh-CN" altLang="en-US" sz="1500" i="1">
                            <a:latin typeface="Cambria Math" panose="02040503050406030204" pitchFamily="18" charset="0"/>
                          </a:rPr>
                        </m:ctrlPr>
                      </m:sSupPr>
                      <m:e>
                        <m:r>
                          <a:rPr lang="zh-CN" altLang="en-US" sz="1500" i="1">
                            <a:latin typeface="Cambria Math" panose="02040503050406030204" pitchFamily="18" charset="0"/>
                          </a:rPr>
                          <m:t>𝑧</m:t>
                        </m:r>
                      </m:e>
                      <m:sup>
                        <m:r>
                          <m:rPr>
                            <m:sty m:val="p"/>
                          </m:rPr>
                          <a:rPr lang="en-US" altLang="zh-CN" sz="1500">
                            <a:latin typeface="Cambria Math" panose="02040503050406030204" pitchFamily="18" charset="0"/>
                          </a:rPr>
                          <m:t>n</m:t>
                        </m:r>
                      </m:sup>
                    </m:sSup>
                  </m:oMath>
                </a14:m>
                <a:r>
                  <a:rPr lang="zh-CN" altLang="en-US" sz="1500" dirty="0">
                    <a:latin typeface="微软雅黑" panose="020B0503020204020204" pitchFamily="34" charset="-122"/>
                    <a:ea typeface="微软雅黑" panose="020B0503020204020204" pitchFamily="34" charset="-122"/>
                  </a:rPr>
                  <a:t>没有正整数解</a:t>
                </a:r>
              </a:p>
              <a:p>
                <a:pPr algn="ctr">
                  <a:lnSpc>
                    <a:spcPct val="150000"/>
                  </a:lnSpc>
                </a:pPr>
                <a:r>
                  <a:rPr lang="zh-CN" altLang="en-US" sz="21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2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23" name="矩形 22">
                <a:extLst>
                  <a:ext uri="{FF2B5EF4-FFF2-40B4-BE49-F238E27FC236}">
                    <a16:creationId xmlns:a16="http://schemas.microsoft.com/office/drawing/2014/main" id="{D64CB3B4-92F1-43E4-B8AA-64EE9C715F78}"/>
                  </a:ext>
                </a:extLst>
              </p:cNvPr>
              <p:cNvSpPr>
                <a:spLocks noRot="1" noChangeAspect="1" noMove="1" noResize="1" noEditPoints="1" noAdjustHandles="1" noChangeArrowheads="1" noChangeShapeType="1" noTextEdit="1"/>
              </p:cNvSpPr>
              <p:nvPr/>
            </p:nvSpPr>
            <p:spPr>
              <a:xfrm>
                <a:off x="1542317" y="1536096"/>
                <a:ext cx="6710444" cy="923330"/>
              </a:xfrm>
              <a:prstGeom prst="rect">
                <a:avLst/>
              </a:prstGeom>
              <a:blipFill>
                <a:blip r:embed="rId5"/>
                <a:stretch>
                  <a:fillRect/>
                </a:stretch>
              </a:blipFill>
            </p:spPr>
            <p:txBody>
              <a:bodyPr/>
              <a:lstStyle/>
              <a:p>
                <a:r>
                  <a:rPr lang="zh-CN" altLang="en-US">
                    <a:noFill/>
                  </a:rPr>
                  <a:t> </a:t>
                </a:r>
              </a:p>
            </p:txBody>
          </p:sp>
        </mc:Fallback>
      </mc:AlternateContent>
      <p:grpSp>
        <p:nvGrpSpPr>
          <p:cNvPr id="24" name="组合 23">
            <a:extLst>
              <a:ext uri="{FF2B5EF4-FFF2-40B4-BE49-F238E27FC236}">
                <a16:creationId xmlns:a16="http://schemas.microsoft.com/office/drawing/2014/main" id="{6E9456C3-D737-4DC6-8AE4-3C289CB982B9}"/>
              </a:ext>
            </a:extLst>
          </p:cNvPr>
          <p:cNvGrpSpPr/>
          <p:nvPr/>
        </p:nvGrpSpPr>
        <p:grpSpPr>
          <a:xfrm>
            <a:off x="914223" y="1486388"/>
            <a:ext cx="614192" cy="614192"/>
            <a:chOff x="4082479" y="2760704"/>
            <a:chExt cx="1485324" cy="1485324"/>
          </a:xfrm>
        </p:grpSpPr>
        <p:sp>
          <p:nvSpPr>
            <p:cNvPr id="25" name="立方体 24">
              <a:extLst>
                <a:ext uri="{FF2B5EF4-FFF2-40B4-BE49-F238E27FC236}">
                  <a16:creationId xmlns:a16="http://schemas.microsoft.com/office/drawing/2014/main" id="{577F7497-1596-4C85-9A76-C0024D4F7660}"/>
                </a:ext>
              </a:extLst>
            </p:cNvPr>
            <p:cNvSpPr/>
            <p:nvPr/>
          </p:nvSpPr>
          <p:spPr>
            <a:xfrm rot="2700000">
              <a:off x="4082479" y="2760704"/>
              <a:ext cx="1485324" cy="1485324"/>
            </a:xfrm>
            <a:prstGeom prst="cube">
              <a:avLst>
                <a:gd name="adj" fmla="val 6189"/>
              </a:avLst>
            </a:prstGeom>
            <a:gradFill>
              <a:gsLst>
                <a:gs pos="0">
                  <a:srgbClr val="016773"/>
                </a:gs>
                <a:gs pos="26000">
                  <a:srgbClr val="007684"/>
                </a:gs>
                <a:gs pos="100000">
                  <a:srgbClr val="81C7C9"/>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50" dirty="0"/>
            </a:p>
          </p:txBody>
        </p:sp>
        <p:grpSp>
          <p:nvGrpSpPr>
            <p:cNvPr id="26" name="组合 25">
              <a:extLst>
                <a:ext uri="{FF2B5EF4-FFF2-40B4-BE49-F238E27FC236}">
                  <a16:creationId xmlns:a16="http://schemas.microsoft.com/office/drawing/2014/main" id="{AE37DA5E-589F-4974-8FF4-32C93DCCD19B}"/>
                </a:ext>
              </a:extLst>
            </p:cNvPr>
            <p:cNvGrpSpPr/>
            <p:nvPr/>
          </p:nvGrpSpPr>
          <p:grpSpPr>
            <a:xfrm>
              <a:off x="4494284" y="2979307"/>
              <a:ext cx="607190" cy="1121821"/>
              <a:chOff x="9632752" y="7542709"/>
              <a:chExt cx="890113" cy="1644542"/>
            </a:xfrm>
          </p:grpSpPr>
          <p:sp>
            <p:nvSpPr>
              <p:cNvPr id="27" name="任意多边形 30">
                <a:extLst>
                  <a:ext uri="{FF2B5EF4-FFF2-40B4-BE49-F238E27FC236}">
                    <a16:creationId xmlns:a16="http://schemas.microsoft.com/office/drawing/2014/main" id="{A45E335E-F71E-404E-A60D-00F322FDA212}"/>
                  </a:ext>
                </a:extLst>
              </p:cNvPr>
              <p:cNvSpPr/>
              <p:nvPr/>
            </p:nvSpPr>
            <p:spPr>
              <a:xfrm>
                <a:off x="9632752" y="7542709"/>
                <a:ext cx="890113" cy="1151185"/>
              </a:xfrm>
              <a:custGeom>
                <a:avLst/>
                <a:gdLst/>
                <a:ahLst/>
                <a:cxnLst/>
                <a:rect l="l" t="t" r="r" b="b"/>
                <a:pathLst>
                  <a:path w="890113" h="1151186">
                    <a:moveTo>
                      <a:pt x="393664" y="0"/>
                    </a:moveTo>
                    <a:cubicBezTo>
                      <a:pt x="550582" y="0"/>
                      <a:pt x="672552" y="35975"/>
                      <a:pt x="759577" y="107924"/>
                    </a:cubicBezTo>
                    <a:cubicBezTo>
                      <a:pt x="846601" y="179873"/>
                      <a:pt x="890113" y="277175"/>
                      <a:pt x="890113" y="399832"/>
                    </a:cubicBezTo>
                    <a:cubicBezTo>
                      <a:pt x="890113" y="478633"/>
                      <a:pt x="872297" y="551267"/>
                      <a:pt x="836665" y="617735"/>
                    </a:cubicBezTo>
                    <a:cubicBezTo>
                      <a:pt x="801033" y="684202"/>
                      <a:pt x="739705" y="752725"/>
                      <a:pt x="652681" y="823303"/>
                    </a:cubicBezTo>
                    <a:cubicBezTo>
                      <a:pt x="579361" y="881548"/>
                      <a:pt x="532594" y="927287"/>
                      <a:pt x="512380" y="960520"/>
                    </a:cubicBezTo>
                    <a:cubicBezTo>
                      <a:pt x="492166" y="993754"/>
                      <a:pt x="482059" y="1033669"/>
                      <a:pt x="482059" y="1080264"/>
                    </a:cubicBezTo>
                    <a:lnTo>
                      <a:pt x="482059" y="1151186"/>
                    </a:lnTo>
                    <a:lnTo>
                      <a:pt x="210708" y="1151186"/>
                    </a:lnTo>
                    <a:lnTo>
                      <a:pt x="210708" y="1054568"/>
                    </a:lnTo>
                    <a:cubicBezTo>
                      <a:pt x="210708" y="981249"/>
                      <a:pt x="224070" y="918722"/>
                      <a:pt x="250794" y="866987"/>
                    </a:cubicBezTo>
                    <a:cubicBezTo>
                      <a:pt x="277518" y="815252"/>
                      <a:pt x="322400" y="763346"/>
                      <a:pt x="385441" y="711268"/>
                    </a:cubicBezTo>
                    <a:cubicBezTo>
                      <a:pt x="458076" y="651653"/>
                      <a:pt x="506384" y="602831"/>
                      <a:pt x="530367" y="564801"/>
                    </a:cubicBezTo>
                    <a:cubicBezTo>
                      <a:pt x="554350" y="526770"/>
                      <a:pt x="566342" y="485828"/>
                      <a:pt x="566342" y="441973"/>
                    </a:cubicBezTo>
                    <a:cubicBezTo>
                      <a:pt x="566342" y="391266"/>
                      <a:pt x="548526" y="350838"/>
                      <a:pt x="512894" y="320688"/>
                    </a:cubicBezTo>
                    <a:cubicBezTo>
                      <a:pt x="477262" y="290537"/>
                      <a:pt x="426213" y="275462"/>
                      <a:pt x="359745" y="275462"/>
                    </a:cubicBezTo>
                    <a:cubicBezTo>
                      <a:pt x="230922" y="275462"/>
                      <a:pt x="111007" y="323428"/>
                      <a:pt x="0" y="419361"/>
                    </a:cubicBezTo>
                    <a:lnTo>
                      <a:pt x="0" y="102785"/>
                    </a:lnTo>
                    <a:cubicBezTo>
                      <a:pt x="122656" y="34262"/>
                      <a:pt x="253877" y="0"/>
                      <a:pt x="393664"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50" dirty="0"/>
              </a:p>
            </p:txBody>
          </p:sp>
          <p:sp>
            <p:nvSpPr>
              <p:cNvPr id="28" name="任意多边形 28">
                <a:extLst>
                  <a:ext uri="{FF2B5EF4-FFF2-40B4-BE49-F238E27FC236}">
                    <a16:creationId xmlns:a16="http://schemas.microsoft.com/office/drawing/2014/main" id="{31B1FA03-1DC3-40AA-B1A5-8C8293680142}"/>
                  </a:ext>
                </a:extLst>
              </p:cNvPr>
              <p:cNvSpPr/>
              <p:nvPr/>
            </p:nvSpPr>
            <p:spPr>
              <a:xfrm>
                <a:off x="9792059" y="8843951"/>
                <a:ext cx="377218" cy="343300"/>
              </a:xfrm>
              <a:custGeom>
                <a:avLst/>
                <a:gdLst/>
                <a:ahLst/>
                <a:cxnLst/>
                <a:rect l="l" t="t" r="r" b="b"/>
                <a:pathLst>
                  <a:path w="377218" h="343300">
                    <a:moveTo>
                      <a:pt x="188095" y="0"/>
                    </a:moveTo>
                    <a:cubicBezTo>
                      <a:pt x="240173" y="0"/>
                      <a:pt x="284713" y="16788"/>
                      <a:pt x="321715" y="50364"/>
                    </a:cubicBezTo>
                    <a:cubicBezTo>
                      <a:pt x="358717" y="83941"/>
                      <a:pt x="377218" y="124711"/>
                      <a:pt x="377218" y="172677"/>
                    </a:cubicBezTo>
                    <a:cubicBezTo>
                      <a:pt x="377218" y="219273"/>
                      <a:pt x="358717" y="259359"/>
                      <a:pt x="321715" y="292935"/>
                    </a:cubicBezTo>
                    <a:cubicBezTo>
                      <a:pt x="284713" y="326512"/>
                      <a:pt x="240173" y="343300"/>
                      <a:pt x="188095" y="343300"/>
                    </a:cubicBezTo>
                    <a:cubicBezTo>
                      <a:pt x="135332" y="343300"/>
                      <a:pt x="90793" y="326340"/>
                      <a:pt x="54475" y="292421"/>
                    </a:cubicBezTo>
                    <a:cubicBezTo>
                      <a:pt x="18158" y="258503"/>
                      <a:pt x="0" y="218588"/>
                      <a:pt x="0" y="172677"/>
                    </a:cubicBezTo>
                    <a:cubicBezTo>
                      <a:pt x="0" y="125397"/>
                      <a:pt x="18158" y="84797"/>
                      <a:pt x="54475" y="50878"/>
                    </a:cubicBezTo>
                    <a:cubicBezTo>
                      <a:pt x="90793" y="16959"/>
                      <a:pt x="135332" y="0"/>
                      <a:pt x="188095" y="0"/>
                    </a:cubicBezTo>
                    <a:close/>
                  </a:path>
                </a:pathLst>
              </a:custGeom>
              <a:solidFill>
                <a:schemeClr val="bg1"/>
              </a:solidFill>
              <a:ln>
                <a:noFill/>
              </a:ln>
              <a:effectLst>
                <a:outerShdw blurRad="63500" dist="25400" dir="2700000" sx="103000" sy="103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50" dirty="0"/>
              </a:p>
            </p:txBody>
          </p:sp>
        </p:grpSp>
      </p:grpSp>
      <p:pic>
        <p:nvPicPr>
          <p:cNvPr id="1026" name="Picture 2" descr="https://pics5.baidu.com/feed/e1fe9925bc315c60215b7fc31f0118184854770f.png@f_auto?token=94c4288ca99ca92b90f45966f898583e">
            <a:extLst>
              <a:ext uri="{FF2B5EF4-FFF2-40B4-BE49-F238E27FC236}">
                <a16:creationId xmlns:a16="http://schemas.microsoft.com/office/drawing/2014/main" id="{0FAA1418-764A-4B02-A7D4-0E77211A54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97850" y="2105689"/>
            <a:ext cx="2936169" cy="1752526"/>
          </a:xfrm>
          <a:prstGeom prst="rect">
            <a:avLst/>
          </a:prstGeom>
          <a:noFill/>
          <a:extLst>
            <a:ext uri="{909E8E84-426E-40DD-AFC4-6F175D3DCCD1}">
              <a14:hiddenFill xmlns:a14="http://schemas.microsoft.com/office/drawing/2010/main">
                <a:solidFill>
                  <a:srgbClr val="FFFFFF"/>
                </a:solidFill>
              </a14:hiddenFill>
            </a:ext>
          </a:extLst>
        </p:spPr>
      </p:pic>
      <p:sp>
        <p:nvSpPr>
          <p:cNvPr id="21" name="标题 1">
            <a:extLst>
              <a:ext uri="{FF2B5EF4-FFF2-40B4-BE49-F238E27FC236}">
                <a16:creationId xmlns:a16="http://schemas.microsoft.com/office/drawing/2014/main" id="{26997413-D9E1-EAD1-0C60-B5F900F90887}"/>
              </a:ext>
            </a:extLst>
          </p:cNvPr>
          <p:cNvSpPr txBox="1">
            <a:spLocks noChangeArrowheads="1"/>
          </p:cNvSpPr>
          <p:nvPr/>
        </p:nvSpPr>
        <p:spPr>
          <a:xfrm>
            <a:off x="457200" y="277813"/>
            <a:ext cx="8229600" cy="1139825"/>
          </a:xfrm>
          <a:prstGeom prst="rect">
            <a:avLst/>
          </a:prstGeom>
        </p:spPr>
        <p:txBody>
          <a:bodyPr/>
          <a:lstStyle>
            <a:lvl1pPr algn="l" rtl="0" eaLnBrk="0" fontAlgn="base" hangingPunct="0">
              <a:spcBef>
                <a:spcPct val="0"/>
              </a:spcBef>
              <a:spcAft>
                <a:spcPct val="0"/>
              </a:spcAft>
              <a:defRPr sz="4200">
                <a:solidFill>
                  <a:schemeClr val="tx1"/>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r>
              <a:rPr lang="zh-CN" altLang="en-US" kern="0" dirty="0">
                <a:latin typeface="Times New Roman" panose="02020603050405020304" pitchFamily="18" charset="0"/>
                <a:ea typeface="+mn-ea"/>
                <a:cs typeface="Times New Roman" panose="02020603050405020304" pitchFamily="18" charset="0"/>
              </a:rPr>
              <a:t>问题的难易程度</a:t>
            </a:r>
          </a:p>
        </p:txBody>
      </p:sp>
    </p:spTree>
    <p:extLst>
      <p:ext uri="{BB962C8B-B14F-4D97-AF65-F5344CB8AC3E}">
        <p14:creationId xmlns:p14="http://schemas.microsoft.com/office/powerpoint/2010/main" val="14960341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86024F8-0D0C-4D5E-9F70-A041F81C4302}"/>
              </a:ext>
            </a:extLst>
          </p:cNvPr>
          <p:cNvSpPr/>
          <p:nvPr/>
        </p:nvSpPr>
        <p:spPr>
          <a:xfrm>
            <a:off x="721238" y="1271263"/>
            <a:ext cx="7804697" cy="1230593"/>
          </a:xfrm>
          <a:prstGeom prst="rect">
            <a:avLst/>
          </a:prstGeom>
        </p:spPr>
        <p:txBody>
          <a:bodyPr wrap="square">
            <a:spAutoFit/>
          </a:bodyPr>
          <a:lstStyle/>
          <a:p>
            <a:pPr>
              <a:lnSpc>
                <a:spcPct val="200000"/>
              </a:lnSpc>
            </a:pPr>
            <a:r>
              <a:rPr lang="en-US" altLang="zh-CN" sz="2000" dirty="0">
                <a:latin typeface="+mn-lt"/>
                <a:ea typeface="+mn-ea"/>
                <a:cs typeface="Times New Roman" panose="02020603050405020304" pitchFamily="18" charset="0"/>
              </a:rPr>
              <a:t>20</a:t>
            </a:r>
            <a:r>
              <a:rPr lang="zh-CN" altLang="en-US" sz="2000" dirty="0">
                <a:latin typeface="+mn-lt"/>
                <a:ea typeface="+mn-ea"/>
                <a:cs typeface="Times New Roman" panose="02020603050405020304" pitchFamily="18" charset="0"/>
              </a:rPr>
              <a:t>世纪初，人们发现有许多问题无法找到解决的方法。于是开始怀疑，是否对这些问题来说，根本就不存在算法，即</a:t>
            </a:r>
            <a:r>
              <a:rPr lang="zh-CN" altLang="en-US" sz="2000" dirty="0">
                <a:solidFill>
                  <a:srgbClr val="FF0000"/>
                </a:solidFill>
                <a:latin typeface="+mn-lt"/>
                <a:ea typeface="+mn-ea"/>
                <a:cs typeface="Times New Roman" panose="02020603050405020304" pitchFamily="18" charset="0"/>
              </a:rPr>
              <a:t>不可计算</a:t>
            </a:r>
            <a:r>
              <a:rPr lang="zh-CN" altLang="en-US" sz="2000" dirty="0">
                <a:latin typeface="+mn-lt"/>
                <a:ea typeface="+mn-ea"/>
                <a:cs typeface="Times New Roman" panose="02020603050405020304" pitchFamily="18" charset="0"/>
              </a:rPr>
              <a:t>。</a:t>
            </a:r>
            <a:endParaRPr lang="en-US" altLang="zh-CN" sz="2000" dirty="0">
              <a:latin typeface="+mn-lt"/>
              <a:ea typeface="+mn-ea"/>
              <a:cs typeface="Times New Roman" panose="02020603050405020304" pitchFamily="18" charset="0"/>
            </a:endParaRPr>
          </a:p>
        </p:txBody>
      </p:sp>
      <p:sp>
        <p:nvSpPr>
          <p:cNvPr id="3" name="标题 1">
            <a:extLst>
              <a:ext uri="{FF2B5EF4-FFF2-40B4-BE49-F238E27FC236}">
                <a16:creationId xmlns:a16="http://schemas.microsoft.com/office/drawing/2014/main" id="{9BFD7B74-9F69-4ED5-A922-8CFE91C57099}"/>
              </a:ext>
            </a:extLst>
          </p:cNvPr>
          <p:cNvSpPr txBox="1">
            <a:spLocks noChangeArrowheads="1"/>
          </p:cNvSpPr>
          <p:nvPr/>
        </p:nvSpPr>
        <p:spPr>
          <a:xfrm>
            <a:off x="457200" y="277813"/>
            <a:ext cx="8229600" cy="1139825"/>
          </a:xfrm>
          <a:prstGeom prst="rect">
            <a:avLst/>
          </a:prstGeom>
        </p:spPr>
        <p:txBody>
          <a:bodyPr/>
          <a:lstStyle>
            <a:lvl1pPr algn="l" rtl="0" eaLnBrk="0" fontAlgn="base" hangingPunct="0">
              <a:spcBef>
                <a:spcPct val="0"/>
              </a:spcBef>
              <a:spcAft>
                <a:spcPct val="0"/>
              </a:spcAft>
              <a:defRPr sz="4200">
                <a:solidFill>
                  <a:schemeClr val="tx1"/>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r>
              <a:rPr lang="zh-CN" altLang="en-US" kern="0" dirty="0">
                <a:latin typeface="Times New Roman" panose="02020603050405020304" pitchFamily="18" charset="0"/>
                <a:ea typeface="+mn-ea"/>
                <a:cs typeface="Times New Roman" panose="02020603050405020304" pitchFamily="18" charset="0"/>
              </a:rPr>
              <a:t>不可计算问题</a:t>
            </a:r>
          </a:p>
        </p:txBody>
      </p:sp>
      <p:sp>
        <p:nvSpPr>
          <p:cNvPr id="4" name="矩形 3">
            <a:extLst>
              <a:ext uri="{FF2B5EF4-FFF2-40B4-BE49-F238E27FC236}">
                <a16:creationId xmlns:a16="http://schemas.microsoft.com/office/drawing/2014/main" id="{AAF29A5D-FD57-4C18-B228-54F10FBE3F07}"/>
              </a:ext>
            </a:extLst>
          </p:cNvPr>
          <p:cNvSpPr/>
          <p:nvPr/>
        </p:nvSpPr>
        <p:spPr>
          <a:xfrm>
            <a:off x="621904" y="2780928"/>
            <a:ext cx="8064896" cy="2554545"/>
          </a:xfrm>
          <a:prstGeom prst="rect">
            <a:avLst/>
          </a:prstGeom>
        </p:spPr>
        <p:txBody>
          <a:bodyPr wrap="square">
            <a:spAutoFit/>
          </a:bodyPr>
          <a:lstStyle/>
          <a:p>
            <a:pPr>
              <a:lnSpc>
                <a:spcPct val="200000"/>
              </a:lnSpc>
            </a:pPr>
            <a:r>
              <a:rPr lang="zh-CN" altLang="en-US" sz="2000" dirty="0">
                <a:solidFill>
                  <a:schemeClr val="tx1"/>
                </a:solidFill>
                <a:latin typeface="+mn-lt"/>
                <a:ea typeface="宋体" pitchFamily="2" charset="-122"/>
              </a:rPr>
              <a:t>这类问题在理论上可能无解，或者即使有解，也超出了现有计算模型的能力范围，</a:t>
            </a:r>
            <a:r>
              <a:rPr lang="zh-CN" altLang="en-US" sz="2000" b="1" dirty="0">
                <a:solidFill>
                  <a:srgbClr val="333333"/>
                </a:solidFill>
                <a:latin typeface="+mn-lt"/>
              </a:rPr>
              <a:t>无法在有限步骤内被解决的问题</a:t>
            </a:r>
            <a:r>
              <a:rPr lang="zh-CN" altLang="en-US" sz="2000" dirty="0">
                <a:solidFill>
                  <a:schemeClr val="tx1"/>
                </a:solidFill>
                <a:latin typeface="+mn-lt"/>
                <a:ea typeface="宋体" pitchFamily="2" charset="-122"/>
              </a:rPr>
              <a:t>。例如，停机问题就是最著名的不可计算问题之一，它指的是给定一个任意程序和输入，无法判断该程序在运行结束时会停机还是无限</a:t>
            </a:r>
            <a:r>
              <a:rPr lang="zh-CN" altLang="en-US" sz="2000" dirty="0" smtClean="0">
                <a:solidFill>
                  <a:schemeClr val="tx1"/>
                </a:solidFill>
                <a:latin typeface="+mn-lt"/>
                <a:ea typeface="宋体" pitchFamily="2" charset="-122"/>
              </a:rPr>
              <a:t>循环。</a:t>
            </a:r>
            <a:endParaRPr lang="zh-CN" altLang="en-US" sz="2000" dirty="0">
              <a:latin typeface="+mn-lt"/>
            </a:endParaRPr>
          </a:p>
        </p:txBody>
      </p:sp>
    </p:spTree>
    <p:extLst>
      <p:ext uri="{BB962C8B-B14F-4D97-AF65-F5344CB8AC3E}">
        <p14:creationId xmlns:p14="http://schemas.microsoft.com/office/powerpoint/2010/main" val="23984899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26997413-D9E1-EAD1-0C60-B5F900F90887}"/>
              </a:ext>
            </a:extLst>
          </p:cNvPr>
          <p:cNvSpPr>
            <a:spLocks noGrp="1" noChangeArrowheads="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类问题</a:t>
            </a:r>
          </a:p>
        </p:txBody>
      </p:sp>
      <p:sp>
        <p:nvSpPr>
          <p:cNvPr id="61443" name="内容占位符 2">
            <a:extLst>
              <a:ext uri="{FF2B5EF4-FFF2-40B4-BE49-F238E27FC236}">
                <a16:creationId xmlns:a16="http://schemas.microsoft.com/office/drawing/2014/main" id="{679E3F2D-04D4-F903-C619-4B5ED482B1D2}"/>
              </a:ext>
            </a:extLst>
          </p:cNvPr>
          <p:cNvSpPr>
            <a:spLocks noGrp="1" noChangeArrowheads="1"/>
          </p:cNvSpPr>
          <p:nvPr>
            <p:ph idx="1"/>
          </p:nvPr>
        </p:nvSpPr>
        <p:spPr>
          <a:xfrm>
            <a:off x="457200" y="1609726"/>
            <a:ext cx="8229600" cy="4862512"/>
          </a:xfrm>
        </p:spPr>
        <p:txBody>
          <a:bodyPr/>
          <a:lstStyle/>
          <a:p>
            <a:pPr>
              <a:lnSpc>
                <a:spcPct val="150000"/>
              </a:lnSpc>
            </a:pPr>
            <a:r>
              <a:rPr lang="en-US" altLang="zh-CN" b="1" dirty="0">
                <a:solidFill>
                  <a:srgbClr val="FF0000"/>
                </a:solidFill>
                <a:latin typeface="微软雅黑" panose="020B0503020204020204" pitchFamily="34" charset="-122"/>
                <a:ea typeface="微软雅黑" panose="020B0503020204020204" pitchFamily="34" charset="-122"/>
              </a:rPr>
              <a:t>P</a:t>
            </a:r>
            <a:r>
              <a:rPr lang="zh-CN" altLang="en-US" b="1" dirty="0">
                <a:solidFill>
                  <a:srgbClr val="FF0000"/>
                </a:solidFill>
                <a:latin typeface="微软雅黑" panose="020B0503020204020204" pitchFamily="34" charset="-122"/>
                <a:ea typeface="微软雅黑" panose="020B0503020204020204" pitchFamily="34" charset="-122"/>
              </a:rPr>
              <a:t>类问题</a:t>
            </a:r>
            <a:r>
              <a:rPr lang="en-US" altLang="zh-CN" sz="3200" dirty="0">
                <a:solidFill>
                  <a:srgbClr val="FF0000"/>
                </a:solidFill>
                <a:latin typeface="微软雅黑" panose="020B0503020204020204" pitchFamily="34" charset="-122"/>
                <a:ea typeface="微软雅黑" panose="020B0503020204020204" pitchFamily="34" charset="-122"/>
              </a:rPr>
              <a:t>(Polynomial Problem)</a:t>
            </a:r>
          </a:p>
          <a:p>
            <a:pPr lvl="1">
              <a:lnSpc>
                <a:spcPct val="150000"/>
              </a:lnSpc>
            </a:pPr>
            <a:r>
              <a:rPr lang="zh-CN" altLang="en-US" sz="2200" dirty="0">
                <a:latin typeface="微软雅黑" panose="020B0503020204020204" pitchFamily="34" charset="-122"/>
                <a:ea typeface="微软雅黑" panose="020B0503020204020204" pitchFamily="34" charset="-122"/>
              </a:rPr>
              <a:t>可以在</a:t>
            </a:r>
            <a:r>
              <a:rPr lang="zh-CN" altLang="en-US" sz="2200" dirty="0">
                <a:solidFill>
                  <a:srgbClr val="FF0000"/>
                </a:solidFill>
                <a:latin typeface="微软雅黑" panose="020B0503020204020204" pitchFamily="34" charset="-122"/>
                <a:ea typeface="微软雅黑" panose="020B0503020204020204" pitchFamily="34" charset="-122"/>
              </a:rPr>
              <a:t>多项式时间内</a:t>
            </a:r>
            <a:r>
              <a:rPr lang="zh-CN" altLang="en-US" sz="2200" dirty="0">
                <a:latin typeface="微软雅黑" panose="020B0503020204020204" pitchFamily="34" charset="-122"/>
                <a:ea typeface="微软雅黑" panose="020B0503020204020204" pitchFamily="34" charset="-122"/>
              </a:rPr>
              <a:t>通过算法求解的问题</a:t>
            </a:r>
            <a:r>
              <a:rPr lang="en-US" altLang="zh-CN"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高效可解的问题</a:t>
            </a:r>
            <a:endParaRPr lang="en-US" altLang="zh-CN" sz="2200" dirty="0">
              <a:latin typeface="微软雅黑" panose="020B0503020204020204" pitchFamily="34" charset="-122"/>
              <a:ea typeface="微软雅黑" panose="020B0503020204020204" pitchFamily="34" charset="-122"/>
            </a:endParaRPr>
          </a:p>
          <a:p>
            <a:pPr lvl="1" algn="just">
              <a:lnSpc>
                <a:spcPct val="150000"/>
              </a:lnSpc>
            </a:pPr>
            <a:r>
              <a:rPr lang="zh-CN" altLang="en-US" sz="2200" dirty="0">
                <a:latin typeface="微软雅黑" panose="020B0503020204020204" pitchFamily="34" charset="-122"/>
                <a:ea typeface="微软雅黑" panose="020B0503020204020204" pitchFamily="34" charset="-122"/>
              </a:rPr>
              <a:t>算法时间复杂度小于多项式阶，例如</a:t>
            </a:r>
            <a:r>
              <a:rPr lang="en-US" altLang="zh-CN" sz="2400" dirty="0">
                <a:latin typeface="微软雅黑" panose="020B0503020204020204" pitchFamily="34" charset="-122"/>
                <a:ea typeface="微软雅黑" panose="020B0503020204020204" pitchFamily="34" charset="-122"/>
              </a:rPr>
              <a:t>n</a:t>
            </a:r>
            <a:r>
              <a:rPr lang="en-US" altLang="zh-CN" sz="2400" baseline="30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,n</a:t>
            </a:r>
            <a:r>
              <a:rPr lang="en-US" altLang="zh-CN" sz="2400" baseline="30000" dirty="0">
                <a:latin typeface="微软雅黑" panose="020B0503020204020204" pitchFamily="34" charset="-122"/>
                <a:ea typeface="微软雅黑" panose="020B0503020204020204" pitchFamily="34" charset="-122"/>
              </a:rPr>
              <a:t>4</a:t>
            </a:r>
            <a:r>
              <a:rPr lang="en-US" altLang="zh-CN" sz="2400" dirty="0">
                <a:latin typeface="微软雅黑" panose="020B0503020204020204" pitchFamily="34" charset="-122"/>
                <a:ea typeface="微软雅黑" panose="020B0503020204020204" pitchFamily="34" charset="-122"/>
              </a:rPr>
              <a:t>, n(log(n))</a:t>
            </a:r>
            <a:r>
              <a:rPr lang="zh-CN" altLang="en-US" sz="2400" dirty="0">
                <a:latin typeface="微软雅黑" panose="020B0503020204020204" pitchFamily="34" charset="-122"/>
                <a:ea typeface="微软雅黑" panose="020B0503020204020204" pitchFamily="34" charset="-122"/>
              </a:rPr>
              <a:t>都是</a:t>
            </a:r>
            <a:r>
              <a:rPr lang="en-US" altLang="zh-CN" sz="2400" dirty="0">
                <a:latin typeface="微软雅黑" panose="020B0503020204020204" pitchFamily="34" charset="-122"/>
                <a:ea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rPr>
              <a:t>时间的。指数级别如</a:t>
            </a:r>
            <a:r>
              <a:rPr lang="en-US" altLang="zh-CN" sz="2400" dirty="0">
                <a:latin typeface="微软雅黑" panose="020B0503020204020204" pitchFamily="34" charset="-122"/>
                <a:ea typeface="微软雅黑" panose="020B0503020204020204" pitchFamily="34" charset="-122"/>
              </a:rPr>
              <a:t>2</a:t>
            </a:r>
            <a:r>
              <a:rPr lang="en-US" altLang="zh-CN" sz="2400" baseline="30000" dirty="0">
                <a:latin typeface="微软雅黑" panose="020B0503020204020204" pitchFamily="34" charset="-122"/>
                <a:ea typeface="微软雅黑" panose="020B0503020204020204" pitchFamily="34" charset="-122"/>
              </a:rPr>
              <a:t>n</a:t>
            </a:r>
            <a:r>
              <a:rPr lang="en-US" altLang="zh-CN" sz="2400" dirty="0">
                <a:latin typeface="微软雅黑" panose="020B0503020204020204" pitchFamily="34" charset="-122"/>
                <a:ea typeface="微软雅黑" panose="020B0503020204020204" pitchFamily="34" charset="-122"/>
              </a:rPr>
              <a:t>,n</a:t>
            </a:r>
            <a:r>
              <a:rPr lang="en-US" altLang="zh-CN" sz="2400" baseline="30000" dirty="0">
                <a:latin typeface="微软雅黑" panose="020B0503020204020204" pitchFamily="34" charset="-122"/>
                <a:ea typeface="微软雅黑" panose="020B0503020204020204" pitchFamily="34" charset="-122"/>
              </a:rPr>
              <a:t>n</a:t>
            </a:r>
            <a:r>
              <a:rPr lang="zh-CN" altLang="en-US" sz="2400" dirty="0">
                <a:latin typeface="微软雅黑" panose="020B0503020204020204" pitchFamily="34" charset="-122"/>
                <a:ea typeface="微软雅黑" panose="020B0503020204020204" pitchFamily="34" charset="-122"/>
              </a:rPr>
              <a:t>就不是</a:t>
            </a:r>
            <a:r>
              <a:rPr lang="en-US" altLang="zh-CN" sz="2400" dirty="0">
                <a:latin typeface="微软雅黑" panose="020B0503020204020204" pitchFamily="34" charset="-122"/>
                <a:ea typeface="微软雅黑" panose="020B0503020204020204" pitchFamily="34" charset="-122"/>
              </a:rPr>
              <a:t>P</a:t>
            </a:r>
            <a:r>
              <a:rPr lang="zh-CN" altLang="en-US" sz="2400" dirty="0">
                <a:latin typeface="微软雅黑" panose="020B0503020204020204" pitchFamily="34" charset="-122"/>
                <a:ea typeface="微软雅黑" panose="020B0503020204020204" pitchFamily="34" charset="-122"/>
              </a:rPr>
              <a:t>时间</a:t>
            </a:r>
            <a:endParaRPr lang="en-US" altLang="zh-CN" sz="2400" dirty="0">
              <a:latin typeface="微软雅黑" panose="020B0503020204020204" pitchFamily="34" charset="-122"/>
              <a:ea typeface="微软雅黑" panose="020B0503020204020204" pitchFamily="34" charset="-122"/>
            </a:endParaRPr>
          </a:p>
          <a:p>
            <a:pPr lvl="1">
              <a:lnSpc>
                <a:spcPct val="150000"/>
              </a:lnSpc>
            </a:pPr>
            <a:r>
              <a:rPr lang="en-US" altLang="zh-CN" sz="2200" dirty="0">
                <a:latin typeface="微软雅黑" panose="020B0503020204020204" pitchFamily="34" charset="-122"/>
                <a:ea typeface="微软雅黑" panose="020B0503020204020204" pitchFamily="34" charset="-122"/>
              </a:rPr>
              <a:t>P</a:t>
            </a:r>
            <a:r>
              <a:rPr lang="zh-CN" altLang="en-US" sz="2200" dirty="0">
                <a:latin typeface="微软雅黑" panose="020B0503020204020204" pitchFamily="34" charset="-122"/>
                <a:ea typeface="微软雅黑" panose="020B0503020204020204" pitchFamily="34" charset="-122"/>
              </a:rPr>
              <a:t>类问题，如：数值排序问题、查找问题</a:t>
            </a:r>
            <a:endParaRPr lang="en-US" altLang="zh-CN" sz="2200" dirty="0">
              <a:latin typeface="微软雅黑" panose="020B0503020204020204" pitchFamily="34" charset="-122"/>
              <a:ea typeface="微软雅黑" panose="020B0503020204020204" pitchFamily="34" charset="-122"/>
            </a:endParaRPr>
          </a:p>
        </p:txBody>
      </p:sp>
      <p:sp>
        <p:nvSpPr>
          <p:cNvPr id="61444" name="灯片编号占位符 3">
            <a:extLst>
              <a:ext uri="{FF2B5EF4-FFF2-40B4-BE49-F238E27FC236}">
                <a16:creationId xmlns:a16="http://schemas.microsoft.com/office/drawing/2014/main" id="{2F57CF1A-5B1B-3C61-8A7A-D6D41A9D21A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A8D9A466-643A-4D6D-89BF-6C536610B7A5}" type="slidenum">
              <a:rPr lang="en-US" altLang="zh-CN" sz="1200">
                <a:solidFill>
                  <a:schemeClr val="tx1"/>
                </a:solidFill>
                <a:latin typeface="Garamond" pitchFamily="18" charset="0"/>
                <a:ea typeface="宋体" panose="02010600030101010101" pitchFamily="2" charset="-122"/>
              </a:rPr>
              <a:pPr/>
              <a:t>76</a:t>
            </a:fld>
            <a:endParaRPr lang="en-US" altLang="zh-CN" sz="1200">
              <a:solidFill>
                <a:schemeClr val="tx1"/>
              </a:solidFill>
              <a:latin typeface="Garamond" pitchFamily="18" charset="0"/>
              <a:ea typeface="宋体" panose="02010600030101010101" pitchFamily="2"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BC9A830B-1D7D-E2D0-A37B-05A563007E6A}"/>
              </a:ext>
            </a:extLst>
          </p:cNvPr>
          <p:cNvSpPr>
            <a:spLocks noGrp="1" noChangeArrowheads="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NP</a:t>
            </a:r>
            <a:r>
              <a:rPr lang="zh-CN" altLang="en-US" dirty="0">
                <a:latin typeface="微软雅黑" panose="020B0503020204020204" pitchFamily="34" charset="-122"/>
                <a:ea typeface="微软雅黑" panose="020B0503020204020204" pitchFamily="34" charset="-122"/>
              </a:rPr>
              <a:t>类问题</a:t>
            </a:r>
          </a:p>
        </p:txBody>
      </p:sp>
      <p:sp>
        <p:nvSpPr>
          <p:cNvPr id="63491" name="内容占位符 2">
            <a:extLst>
              <a:ext uri="{FF2B5EF4-FFF2-40B4-BE49-F238E27FC236}">
                <a16:creationId xmlns:a16="http://schemas.microsoft.com/office/drawing/2014/main" id="{4563CE24-BA9D-2BC8-9107-E3F536332B22}"/>
              </a:ext>
            </a:extLst>
          </p:cNvPr>
          <p:cNvSpPr>
            <a:spLocks noGrp="1" noChangeArrowheads="1"/>
          </p:cNvSpPr>
          <p:nvPr>
            <p:ph idx="1"/>
          </p:nvPr>
        </p:nvSpPr>
        <p:spPr>
          <a:xfrm>
            <a:off x="457200" y="1196752"/>
            <a:ext cx="8363272" cy="4530725"/>
          </a:xfrm>
        </p:spPr>
        <p:txBody>
          <a:bodyPr/>
          <a:lstStyle/>
          <a:p>
            <a:pPr>
              <a:lnSpc>
                <a:spcPct val="150000"/>
              </a:lnSpc>
            </a:pPr>
            <a:r>
              <a:rPr lang="en-US" altLang="zh-CN" sz="2400" b="1" dirty="0">
                <a:solidFill>
                  <a:srgbClr val="FF0000"/>
                </a:solidFill>
                <a:latin typeface="微软雅黑" panose="020B0503020204020204" pitchFamily="34" charset="-122"/>
                <a:ea typeface="微软雅黑" panose="020B0503020204020204" pitchFamily="34" charset="-122"/>
              </a:rPr>
              <a:t>NP</a:t>
            </a:r>
            <a:r>
              <a:rPr lang="zh-CN" altLang="en-US" sz="2400" b="1" dirty="0">
                <a:solidFill>
                  <a:srgbClr val="FF0000"/>
                </a:solidFill>
                <a:latin typeface="微软雅黑" panose="020B0503020204020204" pitchFamily="34" charset="-122"/>
                <a:ea typeface="微软雅黑" panose="020B0503020204020204" pitchFamily="34" charset="-122"/>
              </a:rPr>
              <a:t> </a:t>
            </a:r>
            <a:r>
              <a:rPr lang="en-US" altLang="zh-CN" sz="2400" b="1" dirty="0">
                <a:solidFill>
                  <a:srgbClr val="FF0000"/>
                </a:solidFill>
                <a:latin typeface="微软雅黑" panose="020B0503020204020204" pitchFamily="34" charset="-122"/>
                <a:ea typeface="微软雅黑" panose="020B0503020204020204" pitchFamily="34" charset="-122"/>
              </a:rPr>
              <a:t>(Nondeterministic </a:t>
            </a:r>
            <a:r>
              <a:rPr lang="en-US" altLang="zh-CN" sz="2400" b="1" dirty="0" err="1">
                <a:solidFill>
                  <a:srgbClr val="FF0000"/>
                </a:solidFill>
                <a:latin typeface="微软雅黑" panose="020B0503020204020204" pitchFamily="34" charset="-122"/>
                <a:ea typeface="微软雅黑" panose="020B0503020204020204" pitchFamily="34" charset="-122"/>
              </a:rPr>
              <a:t>Polynomially</a:t>
            </a:r>
            <a:r>
              <a:rPr lang="zh-CN" altLang="en-US" sz="2400" b="1" dirty="0">
                <a:solidFill>
                  <a:srgbClr val="FF0000"/>
                </a:solidFill>
                <a:latin typeface="微软雅黑" panose="020B0503020204020204" pitchFamily="34" charset="-122"/>
                <a:ea typeface="微软雅黑" panose="020B0503020204020204" pitchFamily="34" charset="-122"/>
              </a:rPr>
              <a:t>，非确定性多项式</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类问题</a:t>
            </a:r>
            <a:r>
              <a:rPr lang="zh-CN" altLang="en-US" sz="2400" dirty="0">
                <a:solidFill>
                  <a:srgbClr val="FF0000"/>
                </a:solidFill>
                <a:latin typeface="微软雅黑" panose="020B0503020204020204" pitchFamily="34" charset="-122"/>
                <a:ea typeface="微软雅黑" panose="020B0503020204020204" pitchFamily="34" charset="-122"/>
              </a:rPr>
              <a:t>：</a:t>
            </a:r>
            <a:endParaRPr lang="en-US" altLang="zh-CN" sz="2400" dirty="0">
              <a:solidFill>
                <a:srgbClr val="FF0000"/>
              </a:solidFill>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可以在多项式时间内</a:t>
            </a:r>
            <a:r>
              <a:rPr lang="zh-CN" altLang="en-US" sz="2000" dirty="0">
                <a:solidFill>
                  <a:srgbClr val="FF0000"/>
                </a:solidFill>
                <a:latin typeface="微软雅黑" panose="020B0503020204020204" pitchFamily="34" charset="-122"/>
                <a:ea typeface="微软雅黑" panose="020B0503020204020204" pitchFamily="34" charset="-122"/>
              </a:rPr>
              <a:t>验证解</a:t>
            </a:r>
            <a:r>
              <a:rPr lang="zh-CN" altLang="en-US" sz="2000" dirty="0">
                <a:latin typeface="微软雅黑" panose="020B0503020204020204" pitchFamily="34" charset="-122"/>
                <a:ea typeface="微软雅黑" panose="020B0503020204020204" pitchFamily="34" charset="-122"/>
              </a:rPr>
              <a:t>的问题（尚未找到多项式时间算法）</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en-US" altLang="zh-CN" sz="2000" dirty="0">
                <a:latin typeface="微软雅黑" panose="020B0503020204020204" pitchFamily="34" charset="-122"/>
                <a:ea typeface="微软雅黑" panose="020B0503020204020204" pitchFamily="34" charset="-122"/>
              </a:rPr>
              <a:t>NP</a:t>
            </a:r>
            <a:r>
              <a:rPr lang="zh-CN" altLang="en-US" sz="2000" dirty="0">
                <a:latin typeface="微软雅黑" panose="020B0503020204020204" pitchFamily="34" charset="-122"/>
                <a:ea typeface="微软雅黑" panose="020B0503020204020204" pitchFamily="34" charset="-122"/>
              </a:rPr>
              <a:t>类问题是比</a:t>
            </a:r>
            <a:r>
              <a:rPr lang="en-US" altLang="zh-CN" sz="2000" dirty="0">
                <a:latin typeface="微软雅黑" panose="020B0503020204020204" pitchFamily="34" charset="-122"/>
                <a:ea typeface="微软雅黑" panose="020B0503020204020204" pitchFamily="34" charset="-122"/>
              </a:rPr>
              <a:t>P</a:t>
            </a:r>
            <a:r>
              <a:rPr lang="zh-CN" altLang="en-US" sz="2000" dirty="0">
                <a:latin typeface="微软雅黑" panose="020B0503020204020204" pitchFamily="34" charset="-122"/>
                <a:ea typeface="微软雅黑" panose="020B0503020204020204" pitchFamily="34" charset="-122"/>
              </a:rPr>
              <a:t>类问题更困难的问题</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通常</a:t>
            </a:r>
            <a:r>
              <a:rPr lang="en-US" altLang="zh-CN" sz="2000" dirty="0">
                <a:latin typeface="微软雅黑" panose="020B0503020204020204" pitchFamily="34" charset="-122"/>
                <a:ea typeface="微软雅黑" panose="020B0503020204020204" pitchFamily="34" charset="-122"/>
              </a:rPr>
              <a:t>NP</a:t>
            </a:r>
            <a:r>
              <a:rPr lang="zh-CN" altLang="en-US" sz="2000" dirty="0">
                <a:latin typeface="微软雅黑" panose="020B0503020204020204" pitchFamily="34" charset="-122"/>
                <a:ea typeface="微软雅黑" panose="020B0503020204020204" pitchFamily="34" charset="-122"/>
              </a:rPr>
              <a:t>的时间复杂度都是指数阶</a:t>
            </a:r>
            <a:endParaRPr lang="en-US" altLang="zh-CN" sz="2000" dirty="0">
              <a:latin typeface="微软雅黑" panose="020B0503020204020204" pitchFamily="34" charset="-122"/>
              <a:ea typeface="微软雅黑" panose="020B0503020204020204" pitchFamily="34" charset="-122"/>
            </a:endParaRPr>
          </a:p>
          <a:p>
            <a:pPr lvl="1">
              <a:lnSpc>
                <a:spcPct val="150000"/>
              </a:lnSpc>
            </a:pPr>
            <a:r>
              <a:rPr lang="zh-CN" altLang="en-US" sz="2000" dirty="0">
                <a:latin typeface="微软雅黑" panose="020B0503020204020204" pitchFamily="34" charset="-122"/>
                <a:ea typeface="微软雅黑" panose="020B0503020204020204" pitchFamily="34" charset="-122"/>
              </a:rPr>
              <a:t>例如猜密码问题。验证密码是否正确容易，但暴力破解耗时极长。</a:t>
            </a:r>
            <a:endParaRPr lang="en-US" altLang="zh-CN" sz="2000" dirty="0">
              <a:latin typeface="微软雅黑" panose="020B0503020204020204" pitchFamily="34" charset="-122"/>
              <a:ea typeface="微软雅黑" panose="020B0503020204020204" pitchFamily="34" charset="-122"/>
            </a:endParaRPr>
          </a:p>
        </p:txBody>
      </p:sp>
      <p:sp>
        <p:nvSpPr>
          <p:cNvPr id="63492" name="灯片编号占位符 3">
            <a:extLst>
              <a:ext uri="{FF2B5EF4-FFF2-40B4-BE49-F238E27FC236}">
                <a16:creationId xmlns:a16="http://schemas.microsoft.com/office/drawing/2014/main" id="{2F329C93-41F8-D5C2-1FC2-6E3374F298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69A8F17-652B-4EF4-8CAA-9E28C6301C15}" type="slidenum">
              <a:rPr lang="en-US" altLang="zh-CN" sz="1200">
                <a:solidFill>
                  <a:schemeClr val="tx1"/>
                </a:solidFill>
                <a:latin typeface="Garamond" pitchFamily="18" charset="0"/>
                <a:ea typeface="宋体" panose="02010600030101010101" pitchFamily="2" charset="-122"/>
              </a:rPr>
              <a:pPr/>
              <a:t>77</a:t>
            </a:fld>
            <a:endParaRPr lang="en-US" altLang="zh-CN" sz="1200">
              <a:solidFill>
                <a:schemeClr val="tx1"/>
              </a:solidFill>
              <a:latin typeface="Garamond" pitchFamily="18" charset="0"/>
              <a:ea typeface="宋体" panose="02010600030101010101" pitchFamily="2" charset="-122"/>
            </a:endParaRPr>
          </a:p>
        </p:txBody>
      </p:sp>
      <p:sp>
        <p:nvSpPr>
          <p:cNvPr id="3" name="矩形 2"/>
          <p:cNvSpPr/>
          <p:nvPr/>
        </p:nvSpPr>
        <p:spPr>
          <a:xfrm>
            <a:off x="1131343" y="4597097"/>
            <a:ext cx="7992888" cy="400110"/>
          </a:xfrm>
          <a:prstGeom prst="rect">
            <a:avLst/>
          </a:prstGeom>
        </p:spPr>
        <p:txBody>
          <a:bodyPr wrap="square">
            <a:spAutoFit/>
          </a:bodyPr>
          <a:lstStyle/>
          <a:p>
            <a:r>
              <a:rPr lang="zh-CN" altLang="en-US" sz="2000" dirty="0">
                <a:solidFill>
                  <a:srgbClr val="333333"/>
                </a:solidFill>
                <a:latin typeface="Helvetica Neue"/>
              </a:rPr>
              <a:t>例如，对方程                 求解很难，但是验证     很容易。</a:t>
            </a:r>
            <a:endParaRPr lang="zh-CN" altLang="en-US" sz="2000" dirty="0"/>
          </a:p>
        </p:txBody>
      </p:sp>
      <p:pic>
        <p:nvPicPr>
          <p:cNvPr id="5" name="图片 4"/>
          <p:cNvPicPr>
            <a:picLocks noChangeAspect="1"/>
          </p:cNvPicPr>
          <p:nvPr/>
        </p:nvPicPr>
        <p:blipFill>
          <a:blip r:embed="rId2"/>
          <a:stretch>
            <a:fillRect/>
          </a:stretch>
        </p:blipFill>
        <p:spPr>
          <a:xfrm>
            <a:off x="2860453" y="4600304"/>
            <a:ext cx="1944216" cy="347641"/>
          </a:xfrm>
          <a:prstGeom prst="rect">
            <a:avLst/>
          </a:prstGeom>
        </p:spPr>
      </p:pic>
      <p:pic>
        <p:nvPicPr>
          <p:cNvPr id="6" name="图片 5"/>
          <p:cNvPicPr>
            <a:picLocks noChangeAspect="1"/>
          </p:cNvPicPr>
          <p:nvPr/>
        </p:nvPicPr>
        <p:blipFill>
          <a:blip r:embed="rId3"/>
          <a:stretch>
            <a:fillRect/>
          </a:stretch>
        </p:blipFill>
        <p:spPr>
          <a:xfrm>
            <a:off x="7236296" y="4672992"/>
            <a:ext cx="593209" cy="248320"/>
          </a:xfrm>
          <a:prstGeom prst="rect">
            <a:avLst/>
          </a:prstGeom>
        </p:spPr>
      </p:pic>
    </p:spTree>
    <p:extLst>
      <p:ext uri="{BB962C8B-B14F-4D97-AF65-F5344CB8AC3E}">
        <p14:creationId xmlns:p14="http://schemas.microsoft.com/office/powerpoint/2010/main" val="2590927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BC9A830B-1D7D-E2D0-A37B-05A563007E6A}"/>
              </a:ext>
            </a:extLst>
          </p:cNvPr>
          <p:cNvSpPr>
            <a:spLocks noGrp="1" noChangeArrowheads="1"/>
          </p:cNvSpPr>
          <p:nvPr>
            <p:ph type="title"/>
          </p:nvPr>
        </p:nvSpPr>
        <p:spPr/>
        <p:txBody>
          <a:bodyPr/>
          <a:lstStyle/>
          <a:p>
            <a:r>
              <a:rPr lang="en-US" altLang="zh-CN" dirty="0">
                <a:latin typeface="+mn-ea"/>
                <a:ea typeface="+mn-ea"/>
              </a:rPr>
              <a:t>NP</a:t>
            </a:r>
            <a:r>
              <a:rPr lang="zh-CN" altLang="en-US" dirty="0">
                <a:latin typeface="+mn-ea"/>
                <a:ea typeface="+mn-ea"/>
              </a:rPr>
              <a:t>完全性理论</a:t>
            </a:r>
          </a:p>
        </p:txBody>
      </p:sp>
      <p:sp>
        <p:nvSpPr>
          <p:cNvPr id="63491" name="内容占位符 2">
            <a:extLst>
              <a:ext uri="{FF2B5EF4-FFF2-40B4-BE49-F238E27FC236}">
                <a16:creationId xmlns:a16="http://schemas.microsoft.com/office/drawing/2014/main" id="{4563CE24-BA9D-2BC8-9107-E3F536332B22}"/>
              </a:ext>
            </a:extLst>
          </p:cNvPr>
          <p:cNvSpPr>
            <a:spLocks noGrp="1" noChangeArrowheads="1"/>
          </p:cNvSpPr>
          <p:nvPr>
            <p:ph idx="1"/>
          </p:nvPr>
        </p:nvSpPr>
        <p:spPr>
          <a:xfrm>
            <a:off x="457200" y="1712913"/>
            <a:ext cx="8363272" cy="4530725"/>
          </a:xfrm>
        </p:spPr>
        <p:txBody>
          <a:bodyPr/>
          <a:lstStyle/>
          <a:p>
            <a:pPr>
              <a:lnSpc>
                <a:spcPct val="150000"/>
              </a:lnSpc>
            </a:pPr>
            <a:r>
              <a:rPr lang="en-US" altLang="zh-CN" sz="2400" b="1" dirty="0">
                <a:solidFill>
                  <a:srgbClr val="FF0000"/>
                </a:solidFill>
                <a:latin typeface="+mn-ea"/>
              </a:rPr>
              <a:t>NP-Hard</a:t>
            </a:r>
            <a:r>
              <a:rPr lang="zh-CN" altLang="en-US" sz="2400" b="1" dirty="0">
                <a:solidFill>
                  <a:srgbClr val="FF0000"/>
                </a:solidFill>
                <a:latin typeface="+mn-ea"/>
              </a:rPr>
              <a:t>类问题</a:t>
            </a:r>
            <a:r>
              <a:rPr lang="zh-CN" altLang="en-US" sz="2400" dirty="0">
                <a:solidFill>
                  <a:srgbClr val="FF0000"/>
                </a:solidFill>
                <a:latin typeface="+mn-ea"/>
              </a:rPr>
              <a:t>：</a:t>
            </a:r>
            <a:endParaRPr lang="en-US" altLang="zh-CN" sz="2400" dirty="0">
              <a:solidFill>
                <a:srgbClr val="FF0000"/>
              </a:solidFill>
              <a:latin typeface="+mn-ea"/>
            </a:endParaRPr>
          </a:p>
          <a:p>
            <a:pPr lvl="1">
              <a:lnSpc>
                <a:spcPct val="150000"/>
              </a:lnSpc>
            </a:pPr>
            <a:r>
              <a:rPr lang="zh-CN" altLang="en-US" sz="2000" dirty="0">
                <a:latin typeface="+mn-ea"/>
              </a:rPr>
              <a:t>其难度不低于任何的</a:t>
            </a:r>
            <a:r>
              <a:rPr lang="en-US" altLang="zh-CN" sz="2000" dirty="0">
                <a:latin typeface="+mn-ea"/>
              </a:rPr>
              <a:t>NP</a:t>
            </a:r>
            <a:r>
              <a:rPr lang="zh-CN" altLang="en-US" sz="2000" dirty="0">
                <a:latin typeface="+mn-ea"/>
              </a:rPr>
              <a:t>问题，但可能超出</a:t>
            </a:r>
            <a:r>
              <a:rPr lang="en-US" altLang="zh-CN" sz="2000" dirty="0">
                <a:latin typeface="+mn-ea"/>
              </a:rPr>
              <a:t>NP</a:t>
            </a:r>
            <a:r>
              <a:rPr lang="zh-CN" altLang="en-US" sz="2000" dirty="0">
                <a:latin typeface="+mn-ea"/>
              </a:rPr>
              <a:t>类的范围。如不可判定问题</a:t>
            </a:r>
            <a:r>
              <a:rPr lang="en-US" altLang="zh-CN" sz="2000" dirty="0">
                <a:latin typeface="+mn-ea"/>
              </a:rPr>
              <a:t>(</a:t>
            </a:r>
            <a:r>
              <a:rPr lang="zh-CN" altLang="en-US" sz="2000" dirty="0">
                <a:latin typeface="+mn-ea"/>
              </a:rPr>
              <a:t>停机问题</a:t>
            </a:r>
            <a:r>
              <a:rPr lang="en-US" altLang="zh-CN" sz="2000" dirty="0">
                <a:latin typeface="+mn-ea"/>
              </a:rPr>
              <a:t>)</a:t>
            </a:r>
            <a:r>
              <a:rPr lang="zh-CN" altLang="en-US" sz="2000" dirty="0">
                <a:latin typeface="+mn-ea"/>
              </a:rPr>
              <a:t>，</a:t>
            </a:r>
            <a:r>
              <a:rPr lang="en-US" altLang="zh-CN" sz="2000" dirty="0">
                <a:latin typeface="+mn-ea"/>
              </a:rPr>
              <a:t> </a:t>
            </a:r>
            <a:r>
              <a:rPr lang="zh-CN" altLang="en-US" sz="2000" dirty="0">
                <a:latin typeface="+mn-ea"/>
              </a:rPr>
              <a:t>解无法在多项式时间内验证</a:t>
            </a:r>
            <a:endParaRPr lang="en-US" altLang="zh-CN" sz="2000" dirty="0">
              <a:latin typeface="+mn-ea"/>
            </a:endParaRPr>
          </a:p>
          <a:p>
            <a:pPr lvl="1">
              <a:lnSpc>
                <a:spcPct val="150000"/>
              </a:lnSpc>
            </a:pPr>
            <a:endParaRPr lang="en-US" altLang="zh-CN" sz="2000" dirty="0">
              <a:latin typeface="+mn-ea"/>
            </a:endParaRPr>
          </a:p>
          <a:p>
            <a:pPr>
              <a:lnSpc>
                <a:spcPct val="150000"/>
              </a:lnSpc>
            </a:pPr>
            <a:r>
              <a:rPr lang="en-US" altLang="zh-CN" sz="2400" b="1" dirty="0">
                <a:solidFill>
                  <a:srgbClr val="FF0000"/>
                </a:solidFill>
                <a:latin typeface="+mn-ea"/>
              </a:rPr>
              <a:t>NP-Complete</a:t>
            </a:r>
            <a:r>
              <a:rPr lang="zh-CN" altLang="en-US" sz="2400" b="1" dirty="0">
                <a:solidFill>
                  <a:srgbClr val="FF0000"/>
                </a:solidFill>
                <a:latin typeface="+mn-ea"/>
              </a:rPr>
              <a:t>类问题</a:t>
            </a:r>
            <a:endParaRPr lang="en-US" altLang="zh-CN" sz="2400" dirty="0">
              <a:solidFill>
                <a:srgbClr val="FF0000"/>
              </a:solidFill>
              <a:latin typeface="+mn-ea"/>
            </a:endParaRPr>
          </a:p>
          <a:p>
            <a:pPr lvl="1">
              <a:lnSpc>
                <a:spcPct val="150000"/>
              </a:lnSpc>
            </a:pPr>
            <a:r>
              <a:rPr lang="en-US" altLang="zh-CN" sz="2000" dirty="0">
                <a:latin typeface="+mn-ea"/>
              </a:rPr>
              <a:t>NP</a:t>
            </a:r>
            <a:r>
              <a:rPr lang="zh-CN" altLang="en-US" sz="2000" dirty="0">
                <a:latin typeface="+mn-ea"/>
              </a:rPr>
              <a:t>中最难的问题，是</a:t>
            </a:r>
            <a:r>
              <a:rPr lang="en-US" altLang="zh-CN" sz="2000" dirty="0">
                <a:latin typeface="+mn-ea"/>
              </a:rPr>
              <a:t>NP</a:t>
            </a:r>
            <a:r>
              <a:rPr lang="zh-CN" altLang="en-US" sz="2000" dirty="0">
                <a:latin typeface="+mn-ea"/>
              </a:rPr>
              <a:t>与</a:t>
            </a:r>
            <a:r>
              <a:rPr lang="en-US" altLang="zh-CN" sz="2000" dirty="0">
                <a:latin typeface="+mn-ea"/>
              </a:rPr>
              <a:t>NP-Hard</a:t>
            </a:r>
            <a:r>
              <a:rPr lang="zh-CN" altLang="en-US" sz="2000" dirty="0">
                <a:latin typeface="+mn-ea"/>
              </a:rPr>
              <a:t>的交集</a:t>
            </a:r>
            <a:r>
              <a:rPr lang="en-US" altLang="zh-CN" sz="2000" dirty="0">
                <a:latin typeface="+mn-ea"/>
              </a:rPr>
              <a:t> </a:t>
            </a:r>
          </a:p>
          <a:p>
            <a:pPr lvl="1">
              <a:lnSpc>
                <a:spcPct val="150000"/>
              </a:lnSpc>
            </a:pPr>
            <a:endParaRPr lang="en-US" altLang="zh-CN" sz="2000" dirty="0">
              <a:latin typeface="+mn-ea"/>
            </a:endParaRPr>
          </a:p>
        </p:txBody>
      </p:sp>
      <p:sp>
        <p:nvSpPr>
          <p:cNvPr id="63492" name="灯片编号占位符 3">
            <a:extLst>
              <a:ext uri="{FF2B5EF4-FFF2-40B4-BE49-F238E27FC236}">
                <a16:creationId xmlns:a16="http://schemas.microsoft.com/office/drawing/2014/main" id="{2F329C93-41F8-D5C2-1FC2-6E3374F298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69A8F17-652B-4EF4-8CAA-9E28C6301C15}" type="slidenum">
              <a:rPr lang="en-US" altLang="zh-CN" sz="1200">
                <a:solidFill>
                  <a:schemeClr val="tx1"/>
                </a:solidFill>
                <a:latin typeface="Garamond" pitchFamily="18" charset="0"/>
                <a:ea typeface="宋体" panose="02010600030101010101" pitchFamily="2" charset="-122"/>
              </a:rPr>
              <a:pPr/>
              <a:t>78</a:t>
            </a:fld>
            <a:endParaRPr lang="en-US" altLang="zh-CN" sz="1200">
              <a:solidFill>
                <a:schemeClr val="tx1"/>
              </a:solidFill>
              <a:latin typeface="Garamond" pitchFamily="18" charset="0"/>
              <a:ea typeface="宋体" panose="02010600030101010101" pitchFamily="2" charset="-122"/>
            </a:endParaRPr>
          </a:p>
        </p:txBody>
      </p:sp>
    </p:spTree>
    <p:extLst>
      <p:ext uri="{BB962C8B-B14F-4D97-AF65-F5344CB8AC3E}">
        <p14:creationId xmlns:p14="http://schemas.microsoft.com/office/powerpoint/2010/main" val="5750929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57200" y="1335218"/>
            <a:ext cx="8017544" cy="4990841"/>
          </a:xfrm>
          <a:prstGeom prst="rect">
            <a:avLst/>
          </a:prstGeom>
        </p:spPr>
      </p:pic>
      <p:sp>
        <p:nvSpPr>
          <p:cNvPr id="63490" name="标题 1">
            <a:extLst>
              <a:ext uri="{FF2B5EF4-FFF2-40B4-BE49-F238E27FC236}">
                <a16:creationId xmlns:a16="http://schemas.microsoft.com/office/drawing/2014/main" id="{BC9A830B-1D7D-E2D0-A37B-05A563007E6A}"/>
              </a:ext>
            </a:extLst>
          </p:cNvPr>
          <p:cNvSpPr>
            <a:spLocks noGrp="1" noChangeArrowheads="1"/>
          </p:cNvSpPr>
          <p:nvPr>
            <p:ph type="title"/>
          </p:nvPr>
        </p:nvSpPr>
        <p:spPr/>
        <p:txBody>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NP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完全性理论</a:t>
            </a:r>
          </a:p>
        </p:txBody>
      </p:sp>
      <p:sp>
        <p:nvSpPr>
          <p:cNvPr id="63492" name="灯片编号占位符 3">
            <a:extLst>
              <a:ext uri="{FF2B5EF4-FFF2-40B4-BE49-F238E27FC236}">
                <a16:creationId xmlns:a16="http://schemas.microsoft.com/office/drawing/2014/main" id="{2F329C93-41F8-D5C2-1FC2-6E3374F298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69A8F17-652B-4EF4-8CAA-9E28C6301C15}" type="slidenum">
              <a:rPr lang="en-US" altLang="zh-CN" sz="1200">
                <a:solidFill>
                  <a:schemeClr val="tx1"/>
                </a:solidFill>
                <a:latin typeface="Times New Roman" panose="02020603050405020304" pitchFamily="18" charset="0"/>
                <a:ea typeface="微软雅黑" panose="020B0503020204020204" pitchFamily="34" charset="-122"/>
              </a:rPr>
              <a:pPr/>
              <a:t>79</a:t>
            </a:fld>
            <a:endParaRPr lang="en-US" altLang="zh-CN" sz="1200">
              <a:solidFill>
                <a:schemeClr val="tx1"/>
              </a:solidFill>
              <a:latin typeface="Times New Roman" panose="02020603050405020304" pitchFamily="18" charset="0"/>
              <a:ea typeface="微软雅黑" panose="020B0503020204020204" pitchFamily="34" charset="-122"/>
            </a:endParaRPr>
          </a:p>
        </p:txBody>
      </p:sp>
      <p:sp>
        <p:nvSpPr>
          <p:cNvPr id="3" name="矩形 2"/>
          <p:cNvSpPr/>
          <p:nvPr/>
        </p:nvSpPr>
        <p:spPr>
          <a:xfrm>
            <a:off x="3714800" y="1554406"/>
            <a:ext cx="1210588"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dirty="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停机问题</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3679032" y="2490510"/>
            <a:ext cx="1467068" cy="861774"/>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pPr>
              <a:lnSpc>
                <a:spcPct val="150000"/>
              </a:lnSpc>
            </a:pPr>
            <a:r>
              <a:rPr lang="zh-CN" altLang="en-US" sz="2000" dirty="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旅行商问题</a:t>
            </a:r>
            <a:endParaRPr lang="en-US" altLang="zh-CN" sz="2000" dirty="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dirty="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背包问题</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689698" y="4409689"/>
            <a:ext cx="1467068"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dirty="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排序、查找</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3666588" y="3601343"/>
            <a:ext cx="1467068" cy="400110"/>
          </a:xfrm>
          <a:prstGeom prst="rect">
            <a:avLst/>
          </a:prstGeom>
        </p:spPr>
        <p:style>
          <a:lnRef idx="2">
            <a:schemeClr val="accent5"/>
          </a:lnRef>
          <a:fillRef idx="1">
            <a:schemeClr val="lt1"/>
          </a:fillRef>
          <a:effectRef idx="0">
            <a:schemeClr val="accent5"/>
          </a:effectRef>
          <a:fontRef idx="minor">
            <a:schemeClr val="dk1"/>
          </a:fontRef>
        </p:style>
        <p:txBody>
          <a:bodyPr wrap="none">
            <a:spAutoFit/>
          </a:bodyPr>
          <a:lstStyle/>
          <a:p>
            <a:r>
              <a:rPr lang="zh-CN" altLang="en-US" sz="2000" dirty="0">
                <a:solidFill>
                  <a:srgbClr val="404040"/>
                </a:solidFill>
                <a:latin typeface="Times New Roman" panose="02020603050405020304" pitchFamily="18" charset="0"/>
                <a:ea typeface="微软雅黑" panose="020B0503020204020204" pitchFamily="34" charset="-122"/>
                <a:cs typeface="Times New Roman" panose="02020603050405020304" pitchFamily="18" charset="0"/>
              </a:rPr>
              <a:t>猜密码问题</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394604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0"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BC9A830B-1D7D-E2D0-A37B-05A563007E6A}"/>
              </a:ext>
            </a:extLst>
          </p:cNvPr>
          <p:cNvSpPr>
            <a:spLocks noGrp="1" noChangeArrowheads="1"/>
          </p:cNvSpPr>
          <p:nvPr>
            <p:ph type="title"/>
          </p:nvPr>
        </p:nvSpPr>
        <p:spPr/>
        <p:txBody>
          <a:bodyPr/>
          <a:lstStyle/>
          <a:p>
            <a:r>
              <a:rPr lang="en-US" altLang="zh-CN" dirty="0">
                <a:latin typeface="微软雅黑" panose="020B0503020204020204" pitchFamily="34" charset="-122"/>
                <a:ea typeface="微软雅黑" panose="020B0503020204020204" pitchFamily="34" charset="-122"/>
              </a:rPr>
              <a:t>NP</a:t>
            </a:r>
            <a:r>
              <a:rPr lang="zh-CN" altLang="en-US" dirty="0">
                <a:latin typeface="微软雅黑" panose="020B0503020204020204" pitchFamily="34" charset="-122"/>
                <a:ea typeface="微软雅黑" panose="020B0503020204020204" pitchFamily="34" charset="-122"/>
              </a:rPr>
              <a:t>完全性理论</a:t>
            </a:r>
          </a:p>
        </p:txBody>
      </p:sp>
      <p:sp>
        <p:nvSpPr>
          <p:cNvPr id="63491" name="内容占位符 2">
            <a:extLst>
              <a:ext uri="{FF2B5EF4-FFF2-40B4-BE49-F238E27FC236}">
                <a16:creationId xmlns:a16="http://schemas.microsoft.com/office/drawing/2014/main" id="{4563CE24-BA9D-2BC8-9107-E3F536332B22}"/>
              </a:ext>
            </a:extLst>
          </p:cNvPr>
          <p:cNvSpPr>
            <a:spLocks noGrp="1" noChangeArrowheads="1"/>
          </p:cNvSpPr>
          <p:nvPr>
            <p:ph idx="1"/>
          </p:nvPr>
        </p:nvSpPr>
        <p:spPr>
          <a:xfrm>
            <a:off x="475903" y="1340768"/>
            <a:ext cx="8363272" cy="4530725"/>
          </a:xfrm>
        </p:spPr>
        <p:txBody>
          <a:bodyPr/>
          <a:lstStyle/>
          <a:p>
            <a:pPr>
              <a:lnSpc>
                <a:spcPct val="150000"/>
              </a:lnSpc>
            </a:pPr>
            <a:r>
              <a:rPr lang="en-US" altLang="zh-CN" b="1" dirty="0">
                <a:latin typeface="微软雅黑" panose="020B0503020204020204" pitchFamily="34" charset="-122"/>
                <a:ea typeface="微软雅黑" panose="020B0503020204020204" pitchFamily="34" charset="-122"/>
              </a:rPr>
              <a:t>P ⊆ NP</a:t>
            </a:r>
            <a:r>
              <a:rPr lang="zh-CN" altLang="en-US" dirty="0">
                <a:latin typeface="微软雅黑" panose="020B0503020204020204" pitchFamily="34" charset="-122"/>
                <a:ea typeface="微软雅黑" panose="020B0503020204020204" pitchFamily="34" charset="-122"/>
              </a:rPr>
              <a:t>：所有</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类问题均属于</a:t>
            </a:r>
            <a:r>
              <a:rPr lang="en-US" altLang="zh-CN" dirty="0">
                <a:latin typeface="微软雅黑" panose="020B0503020204020204" pitchFamily="34" charset="-122"/>
                <a:ea typeface="微软雅黑" panose="020B0503020204020204" pitchFamily="34" charset="-122"/>
              </a:rPr>
              <a:t>NP</a:t>
            </a:r>
            <a:r>
              <a:rPr lang="zh-CN" altLang="en-US" dirty="0">
                <a:latin typeface="微软雅黑" panose="020B0503020204020204" pitchFamily="34" charset="-122"/>
                <a:ea typeface="微软雅黑" panose="020B0503020204020204" pitchFamily="34" charset="-122"/>
              </a:rPr>
              <a:t>类问题。</a:t>
            </a:r>
          </a:p>
          <a:p>
            <a:pPr>
              <a:lnSpc>
                <a:spcPct val="150000"/>
              </a:lnSpc>
            </a:pPr>
            <a:endParaRPr lang="en-US" altLang="zh-CN" sz="800" b="1" dirty="0">
              <a:latin typeface="微软雅黑" panose="020B0503020204020204" pitchFamily="34" charset="-122"/>
              <a:ea typeface="微软雅黑" panose="020B0503020204020204" pitchFamily="34" charset="-122"/>
            </a:endParaRPr>
          </a:p>
          <a:p>
            <a:pPr>
              <a:lnSpc>
                <a:spcPct val="150000"/>
              </a:lnSpc>
            </a:pPr>
            <a:r>
              <a:rPr lang="en-US" altLang="zh-CN" sz="2600" b="1" dirty="0">
                <a:latin typeface="微软雅黑" panose="020B0503020204020204" pitchFamily="34" charset="-122"/>
                <a:ea typeface="微软雅黑" panose="020B0503020204020204" pitchFamily="34" charset="-122"/>
              </a:rPr>
              <a:t>P vs NP</a:t>
            </a:r>
            <a:r>
              <a:rPr lang="zh-CN" altLang="en-US" sz="2600" b="1" dirty="0">
                <a:latin typeface="微软雅黑" panose="020B0503020204020204" pitchFamily="34" charset="-122"/>
                <a:ea typeface="微软雅黑" panose="020B0503020204020204" pitchFamily="34" charset="-122"/>
              </a:rPr>
              <a:t>问题的意义</a:t>
            </a:r>
          </a:p>
          <a:p>
            <a:pPr lvl="1">
              <a:lnSpc>
                <a:spcPct val="150000"/>
              </a:lnSpc>
            </a:pPr>
            <a:r>
              <a:rPr lang="zh-CN" altLang="en-US" sz="2200" b="1" dirty="0">
                <a:latin typeface="微软雅黑" panose="020B0503020204020204" pitchFamily="34" charset="-122"/>
                <a:ea typeface="微软雅黑" panose="020B0503020204020204" pitchFamily="34" charset="-122"/>
              </a:rPr>
              <a:t>若</a:t>
            </a:r>
            <a:r>
              <a:rPr lang="en-US" altLang="zh-CN" sz="2200" b="1" dirty="0">
                <a:latin typeface="微软雅黑" panose="020B0503020204020204" pitchFamily="34" charset="-122"/>
                <a:ea typeface="微软雅黑" panose="020B0503020204020204" pitchFamily="34" charset="-122"/>
              </a:rPr>
              <a:t>P=NP</a:t>
            </a:r>
            <a:r>
              <a:rPr lang="zh-CN" altLang="en-US" sz="2200" dirty="0">
                <a:latin typeface="微软雅黑" panose="020B0503020204020204" pitchFamily="34" charset="-122"/>
                <a:ea typeface="微软雅黑" panose="020B0503020204020204" pitchFamily="34" charset="-122"/>
              </a:rPr>
              <a:t>：所有</a:t>
            </a:r>
            <a:r>
              <a:rPr lang="en-US" altLang="zh-CN" sz="2200" dirty="0">
                <a:latin typeface="微软雅黑" panose="020B0503020204020204" pitchFamily="34" charset="-122"/>
                <a:ea typeface="微软雅黑" panose="020B0503020204020204" pitchFamily="34" charset="-122"/>
              </a:rPr>
              <a:t>NP</a:t>
            </a:r>
            <a:r>
              <a:rPr lang="zh-CN" altLang="en-US" sz="2200" dirty="0">
                <a:latin typeface="微软雅黑" panose="020B0503020204020204" pitchFamily="34" charset="-122"/>
                <a:ea typeface="微软雅黑" panose="020B0503020204020204" pitchFamily="34" charset="-122"/>
              </a:rPr>
              <a:t>问题均可在多项式时间内解决。</a:t>
            </a:r>
          </a:p>
          <a:p>
            <a:pPr lvl="1">
              <a:lnSpc>
                <a:spcPct val="150000"/>
              </a:lnSpc>
            </a:pPr>
            <a:r>
              <a:rPr lang="zh-CN" altLang="en-US" sz="2200" b="1" dirty="0">
                <a:latin typeface="微软雅黑" panose="020B0503020204020204" pitchFamily="34" charset="-122"/>
                <a:ea typeface="微软雅黑" panose="020B0503020204020204" pitchFamily="34" charset="-122"/>
              </a:rPr>
              <a:t>若</a:t>
            </a:r>
            <a:r>
              <a:rPr lang="en-US" altLang="zh-CN" sz="2200" b="1" dirty="0">
                <a:latin typeface="微软雅黑" panose="020B0503020204020204" pitchFamily="34" charset="-122"/>
                <a:ea typeface="微软雅黑" panose="020B0503020204020204" pitchFamily="34" charset="-122"/>
              </a:rPr>
              <a:t>P≠NP</a:t>
            </a:r>
            <a:r>
              <a:rPr lang="zh-CN" altLang="en-US" sz="2200" dirty="0">
                <a:latin typeface="微软雅黑" panose="020B0503020204020204" pitchFamily="34" charset="-122"/>
                <a:ea typeface="微软雅黑" panose="020B0503020204020204" pitchFamily="34" charset="-122"/>
              </a:rPr>
              <a:t>：存在</a:t>
            </a:r>
            <a:r>
              <a:rPr lang="en-US" altLang="zh-CN" sz="2200" dirty="0">
                <a:latin typeface="微软雅黑" panose="020B0503020204020204" pitchFamily="34" charset="-122"/>
                <a:ea typeface="微软雅黑" panose="020B0503020204020204" pitchFamily="34" charset="-122"/>
              </a:rPr>
              <a:t>NP</a:t>
            </a:r>
            <a:r>
              <a:rPr lang="zh-CN" altLang="en-US" sz="2200" dirty="0">
                <a:latin typeface="微软雅黑" panose="020B0503020204020204" pitchFamily="34" charset="-122"/>
                <a:ea typeface="微软雅黑" panose="020B0503020204020204" pitchFamily="34" charset="-122"/>
              </a:rPr>
              <a:t>问题无法高效解决，</a:t>
            </a:r>
            <a:r>
              <a:rPr lang="en-US" altLang="zh-CN" sz="2200" dirty="0">
                <a:latin typeface="微软雅黑" panose="020B0503020204020204" pitchFamily="34" charset="-122"/>
                <a:ea typeface="微软雅黑" panose="020B0503020204020204" pitchFamily="34" charset="-122"/>
              </a:rPr>
              <a:t>NP-Complete</a:t>
            </a:r>
            <a:r>
              <a:rPr lang="zh-CN" altLang="en-US" sz="2200" dirty="0">
                <a:latin typeface="微软雅黑" panose="020B0503020204020204" pitchFamily="34" charset="-122"/>
                <a:ea typeface="微软雅黑" panose="020B0503020204020204" pitchFamily="34" charset="-122"/>
              </a:rPr>
              <a:t>问题属于此范畴。</a:t>
            </a:r>
          </a:p>
          <a:p>
            <a:pPr>
              <a:lnSpc>
                <a:spcPct val="150000"/>
              </a:lnSpc>
            </a:pPr>
            <a:r>
              <a:rPr lang="zh-CN" altLang="en-US" sz="2600" b="1" dirty="0">
                <a:latin typeface="微软雅黑" panose="020B0503020204020204" pitchFamily="34" charset="-122"/>
                <a:ea typeface="微软雅黑" panose="020B0503020204020204" pitchFamily="34" charset="-122"/>
              </a:rPr>
              <a:t>现状</a:t>
            </a:r>
            <a:r>
              <a:rPr lang="zh-CN" altLang="en-US" sz="2600" dirty="0">
                <a:latin typeface="微软雅黑" panose="020B0503020204020204" pitchFamily="34" charset="-122"/>
                <a:ea typeface="微软雅黑" panose="020B0503020204020204" pitchFamily="34" charset="-122"/>
              </a:rPr>
              <a:t>：</a:t>
            </a:r>
            <a:r>
              <a:rPr lang="en-US" altLang="zh-CN" sz="2600" dirty="0">
                <a:latin typeface="微软雅黑" panose="020B0503020204020204" pitchFamily="34" charset="-122"/>
                <a:ea typeface="微软雅黑" panose="020B0503020204020204" pitchFamily="34" charset="-122"/>
              </a:rPr>
              <a:t>P</a:t>
            </a:r>
            <a:r>
              <a:rPr lang="zh-CN" altLang="en-US" sz="2600" dirty="0">
                <a:latin typeface="微软雅黑" panose="020B0503020204020204" pitchFamily="34" charset="-122"/>
                <a:ea typeface="微软雅黑" panose="020B0503020204020204" pitchFamily="34" charset="-122"/>
              </a:rPr>
              <a:t>与</a:t>
            </a:r>
            <a:r>
              <a:rPr lang="en-US" altLang="zh-CN" sz="2600" dirty="0">
                <a:latin typeface="微软雅黑" panose="020B0503020204020204" pitchFamily="34" charset="-122"/>
                <a:ea typeface="微软雅黑" panose="020B0503020204020204" pitchFamily="34" charset="-122"/>
              </a:rPr>
              <a:t>NP</a:t>
            </a:r>
            <a:r>
              <a:rPr lang="zh-CN" altLang="en-US" sz="2600" dirty="0">
                <a:latin typeface="微软雅黑" panose="020B0503020204020204" pitchFamily="34" charset="-122"/>
                <a:ea typeface="微软雅黑" panose="020B0503020204020204" pitchFamily="34" charset="-122"/>
              </a:rPr>
              <a:t>的关系是计算机科学中最重要的未解问题之一 。</a:t>
            </a:r>
          </a:p>
        </p:txBody>
      </p:sp>
      <p:sp>
        <p:nvSpPr>
          <p:cNvPr id="63492" name="灯片编号占位符 3">
            <a:extLst>
              <a:ext uri="{FF2B5EF4-FFF2-40B4-BE49-F238E27FC236}">
                <a16:creationId xmlns:a16="http://schemas.microsoft.com/office/drawing/2014/main" id="{2F329C93-41F8-D5C2-1FC2-6E3374F298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000">
                <a:solidFill>
                  <a:srgbClr val="000066"/>
                </a:solidFill>
                <a:latin typeface="Arial" panose="020B0604020202020204" pitchFamily="34" charset="0"/>
                <a:ea typeface="楷体_GB2312" pitchFamily="49" charset="-122"/>
              </a:defRPr>
            </a:lvl1pPr>
            <a:lvl2pPr marL="742950" indent="-285750">
              <a:defRPr sz="3000">
                <a:solidFill>
                  <a:srgbClr val="000066"/>
                </a:solidFill>
                <a:latin typeface="Arial" panose="020B0604020202020204" pitchFamily="34" charset="0"/>
                <a:ea typeface="楷体_GB2312" pitchFamily="49" charset="-122"/>
              </a:defRPr>
            </a:lvl2pPr>
            <a:lvl3pPr marL="1143000" indent="-228600">
              <a:defRPr sz="3000">
                <a:solidFill>
                  <a:srgbClr val="000066"/>
                </a:solidFill>
                <a:latin typeface="Arial" panose="020B0604020202020204" pitchFamily="34" charset="0"/>
                <a:ea typeface="楷体_GB2312" pitchFamily="49" charset="-122"/>
              </a:defRPr>
            </a:lvl3pPr>
            <a:lvl4pPr marL="1600200" indent="-228600">
              <a:defRPr sz="3000">
                <a:solidFill>
                  <a:srgbClr val="000066"/>
                </a:solidFill>
                <a:latin typeface="Arial" panose="020B0604020202020204" pitchFamily="34" charset="0"/>
                <a:ea typeface="楷体_GB2312" pitchFamily="49" charset="-122"/>
              </a:defRPr>
            </a:lvl4pPr>
            <a:lvl5pPr marL="2057400" indent="-228600">
              <a:defRPr sz="3000">
                <a:solidFill>
                  <a:srgbClr val="000066"/>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3000">
                <a:solidFill>
                  <a:srgbClr val="000066"/>
                </a:solidFill>
                <a:latin typeface="Arial" panose="020B0604020202020204" pitchFamily="34" charset="0"/>
                <a:ea typeface="楷体_GB2312" pitchFamily="49" charset="-122"/>
              </a:defRPr>
            </a:lvl9pPr>
          </a:lstStyle>
          <a:p>
            <a:fld id="{569A8F17-652B-4EF4-8CAA-9E28C6301C15}" type="slidenum">
              <a:rPr lang="en-US" altLang="zh-CN" sz="1200">
                <a:solidFill>
                  <a:schemeClr val="tx1"/>
                </a:solidFill>
                <a:latin typeface="Garamond" pitchFamily="18" charset="0"/>
                <a:ea typeface="宋体" panose="02010600030101010101" pitchFamily="2" charset="-122"/>
              </a:rPr>
              <a:pPr/>
              <a:t>80</a:t>
            </a:fld>
            <a:endParaRPr lang="en-US" altLang="zh-CN" sz="1200">
              <a:solidFill>
                <a:schemeClr val="tx1"/>
              </a:solidFill>
              <a:latin typeface="Garamond" pitchFamily="18" charset="0"/>
              <a:ea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1381" y="228981"/>
            <a:ext cx="8229600" cy="609600"/>
          </a:xfrm>
          <a:custGeom>
            <a:avLst/>
            <a:gdLst/>
            <a:ahLst/>
            <a:cxnLst/>
            <a:rect l="l" t="t" r="r" b="b"/>
            <a:pathLst>
              <a:path w="8229600" h="609600">
                <a:moveTo>
                  <a:pt x="0" y="609600"/>
                </a:moveTo>
                <a:lnTo>
                  <a:pt x="0" y="0"/>
                </a:lnTo>
                <a:lnTo>
                  <a:pt x="8229600" y="0"/>
                </a:lnTo>
              </a:path>
            </a:pathLst>
          </a:custGeom>
          <a:ln w="19050">
            <a:solidFill>
              <a:srgbClr val="CC9900"/>
            </a:solidFill>
          </a:ln>
        </p:spPr>
        <p:txBody>
          <a:bodyPr wrap="square" lIns="0" tIns="0" rIns="0" bIns="0" rtlCol="0"/>
          <a:lstStyle/>
          <a:p>
            <a:endParaRPr/>
          </a:p>
        </p:txBody>
      </p:sp>
      <p:sp>
        <p:nvSpPr>
          <p:cNvPr id="3" name="object 3"/>
          <p:cNvSpPr txBox="1">
            <a:spLocks noGrp="1"/>
          </p:cNvSpPr>
          <p:nvPr>
            <p:ph type="title"/>
          </p:nvPr>
        </p:nvSpPr>
        <p:spPr>
          <a:xfrm>
            <a:off x="535940" y="280415"/>
            <a:ext cx="1092200" cy="665480"/>
          </a:xfrm>
          <a:prstGeom prst="rect">
            <a:avLst/>
          </a:prstGeom>
        </p:spPr>
        <p:txBody>
          <a:bodyPr vert="horz" wrap="square" lIns="0" tIns="12700" rIns="0" bIns="0" rtlCol="0">
            <a:spAutoFit/>
          </a:bodyPr>
          <a:lstStyle/>
          <a:p>
            <a:pPr marL="12700">
              <a:lnSpc>
                <a:spcPct val="100000"/>
              </a:lnSpc>
              <a:spcBef>
                <a:spcPts val="100"/>
              </a:spcBef>
            </a:pPr>
            <a:r>
              <a:rPr spc="-25" dirty="0">
                <a:latin typeface="宋体"/>
                <a:cs typeface="宋体"/>
              </a:rPr>
              <a:t>作业</a:t>
            </a:r>
          </a:p>
        </p:txBody>
      </p:sp>
      <p:pic>
        <p:nvPicPr>
          <p:cNvPr id="5" name="图片 4"/>
          <p:cNvPicPr>
            <a:picLocks noChangeAspect="1"/>
          </p:cNvPicPr>
          <p:nvPr/>
        </p:nvPicPr>
        <p:blipFill>
          <a:blip r:embed="rId2"/>
          <a:stretch>
            <a:fillRect/>
          </a:stretch>
        </p:blipFill>
        <p:spPr>
          <a:xfrm>
            <a:off x="2627784" y="228981"/>
            <a:ext cx="5366251" cy="5380833"/>
          </a:xfrm>
          <a:prstGeom prst="rect">
            <a:avLst/>
          </a:prstGeom>
        </p:spPr>
      </p:pic>
      <p:sp>
        <p:nvSpPr>
          <p:cNvPr id="6" name="矩形 5"/>
          <p:cNvSpPr/>
          <p:nvPr/>
        </p:nvSpPr>
        <p:spPr>
          <a:xfrm>
            <a:off x="507762" y="4941168"/>
            <a:ext cx="8428548" cy="1092607"/>
          </a:xfrm>
          <a:prstGeom prst="rect">
            <a:avLst/>
          </a:prstGeom>
        </p:spPr>
        <p:txBody>
          <a:bodyPr wrap="square">
            <a:spAutoFit/>
          </a:bodyPr>
          <a:lstStyle/>
          <a:p>
            <a:r>
              <a:rPr lang="zh-CN" altLang="en-US" sz="2500" dirty="0"/>
              <a:t>程序实现题：</a:t>
            </a:r>
            <a:endParaRPr lang="en-US" altLang="zh-CN" sz="2500" dirty="0"/>
          </a:p>
          <a:p>
            <a:endParaRPr lang="en-US" altLang="zh-CN" sz="2000" dirty="0"/>
          </a:p>
          <a:p>
            <a:r>
              <a:rPr lang="zh-CN" altLang="en-US" sz="2000" dirty="0"/>
              <a:t>https://leetcode.cn/problems/contains-duplicate/ </a:t>
            </a:r>
            <a:r>
              <a:rPr lang="en-US" altLang="zh-CN" sz="2000" dirty="0"/>
              <a:t>217. </a:t>
            </a:r>
            <a:r>
              <a:rPr lang="zh-CN" altLang="en-US" sz="2000" dirty="0"/>
              <a:t>存在重复元素</a:t>
            </a:r>
          </a:p>
        </p:txBody>
      </p:sp>
    </p:spTree>
    <p:extLst>
      <p:ext uri="{BB962C8B-B14F-4D97-AF65-F5344CB8AC3E}">
        <p14:creationId xmlns:p14="http://schemas.microsoft.com/office/powerpoint/2010/main" val="4186680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VSECTIONID" val="QUq8QELArFIgadhH063fpq"/>
</p:tagLst>
</file>

<file path=ppt/tags/tag2.xml><?xml version="1.0" encoding="utf-8"?>
<p:tagLst xmlns:a="http://schemas.openxmlformats.org/drawingml/2006/main" xmlns:r="http://schemas.openxmlformats.org/officeDocument/2006/relationships" xmlns:p="http://schemas.openxmlformats.org/presentationml/2006/main">
  <p:tag name="DVSHAPEID" val="InkrlxYPS4jAzciXk8ToAM"/>
</p:tagLst>
</file>

<file path=ppt/tags/tag3.xml><?xml version="1.0" encoding="utf-8"?>
<p:tagLst xmlns:a="http://schemas.openxmlformats.org/drawingml/2006/main" xmlns:r="http://schemas.openxmlformats.org/officeDocument/2006/relationships" xmlns:p="http://schemas.openxmlformats.org/presentationml/2006/main">
  <p:tag name="DVSHAPEID" val="retnMj4SFfqbVIhVK0Rf8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68.50755905511811,&quot;top&quot;:44.026614173228346,&quot;width&quot;:263.792362204724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49.19795275590551,&quot;top&quot;:44.026614173228346,&quot;width&quot;:848.861496062992}"/>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45.0537007874016,&quot;left&quot;:49.19795275590551,&quot;top&quot;:44.026614173228346,&quot;width&quot;:848.861496062992}"/>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自定义 1">
      <a:majorFont>
        <a:latin typeface="微软雅黑"/>
        <a:ea typeface="宋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0000"/>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3000" b="0" i="0" u="none" strike="noStrike" cap="none" normalizeH="0" baseline="0" smtClean="0">
            <a:ln>
              <a:noFill/>
            </a:ln>
            <a:solidFill>
              <a:srgbClr val="000066"/>
            </a:solidFill>
            <a:effectLst/>
            <a:latin typeface="Arial" charset="0"/>
            <a:ea typeface="楷体_GB2312" pitchFamily="49" charset="-122"/>
            <a:cs typeface="Times New Roman" pitchFamily="18" charset="0"/>
          </a:defRPr>
        </a:defPPr>
      </a:lstStyle>
    </a:spDef>
    <a:lnDef>
      <a:spPr bwMode="auto">
        <a:xfrm>
          <a:off x="0" y="0"/>
          <a:ext cx="1" cy="1"/>
        </a:xfrm>
        <a:custGeom>
          <a:avLst/>
          <a:gdLst/>
          <a:ahLst/>
          <a:cxnLst/>
          <a:rect l="0" t="0" r="0" b="0"/>
          <a:pathLst/>
        </a:custGeom>
        <a:solidFill>
          <a:srgbClr val="FF0000"/>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itchFamily="2" charset="2"/>
          <a:buChar char="n"/>
          <a:tabLst/>
          <a:defRPr kumimoji="0" lang="en-US" sz="3000" b="0" i="0" u="none" strike="noStrike" cap="none" normalizeH="0" baseline="0" smtClean="0">
            <a:ln>
              <a:noFill/>
            </a:ln>
            <a:solidFill>
              <a:srgbClr val="000066"/>
            </a:solidFill>
            <a:effectLst/>
            <a:latin typeface="Arial" charset="0"/>
            <a:ea typeface="楷体_GB2312" pitchFamily="49" charset="-122"/>
            <a:cs typeface="Times New Roman" pitchFamily="18"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25866</TotalTime>
  <Words>7287</Words>
  <Application>Microsoft Office PowerPoint</Application>
  <PresentationFormat>全屏显示(4:3)</PresentationFormat>
  <Paragraphs>874</Paragraphs>
  <Slides>81</Slides>
  <Notes>38</Notes>
  <HiddenSlides>1</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2</vt:i4>
      </vt:variant>
      <vt:variant>
        <vt:lpstr>幻灯片标题</vt:lpstr>
      </vt:variant>
      <vt:variant>
        <vt:i4>81</vt:i4>
      </vt:variant>
    </vt:vector>
  </HeadingPairs>
  <TitlesOfParts>
    <vt:vector size="108" baseType="lpstr">
      <vt:lpstr>Helvetica Neue</vt:lpstr>
      <vt:lpstr>Mangal</vt:lpstr>
      <vt:lpstr>MS PGothic</vt:lpstr>
      <vt:lpstr>PingFang SC</vt:lpstr>
      <vt:lpstr>楷体</vt:lpstr>
      <vt:lpstr>楷体_GB2312</vt:lpstr>
      <vt:lpstr>宋体</vt:lpstr>
      <vt:lpstr>微软雅黑</vt:lpstr>
      <vt:lpstr>Arial</vt:lpstr>
      <vt:lpstr>Arial</vt:lpstr>
      <vt:lpstr>Book Antiqua</vt:lpstr>
      <vt:lpstr>Bookman Old Style</vt:lpstr>
      <vt:lpstr>Calibri</vt:lpstr>
      <vt:lpstr>Cambria Math</vt:lpstr>
      <vt:lpstr>Century Gothic</vt:lpstr>
      <vt:lpstr>Courier New</vt:lpstr>
      <vt:lpstr>Garamond</vt:lpstr>
      <vt:lpstr>Lucida Sans</vt:lpstr>
      <vt:lpstr>Lucida Sans Typewriter</vt:lpstr>
      <vt:lpstr>Lucida Sans Unicode</vt:lpstr>
      <vt:lpstr>Symbol</vt:lpstr>
      <vt:lpstr>Tahoma</vt:lpstr>
      <vt:lpstr>Times New Roman</vt:lpstr>
      <vt:lpstr>Wingdings</vt:lpstr>
      <vt:lpstr>Edge</vt:lpstr>
      <vt:lpstr>公式</vt:lpstr>
      <vt:lpstr>Equation</vt:lpstr>
      <vt:lpstr>                                   王俊丽 junliwang@tongji.edu.cn  </vt:lpstr>
      <vt:lpstr>1、 算法概述 </vt:lpstr>
      <vt:lpstr>1、 算法概述 </vt:lpstr>
      <vt:lpstr>Why study algorithms?</vt:lpstr>
      <vt:lpstr>Why study algorithms?</vt:lpstr>
      <vt:lpstr>Why study algorithms?</vt:lpstr>
      <vt:lpstr>Why study algorithms?</vt:lpstr>
      <vt:lpstr>Why study algorithms?</vt:lpstr>
      <vt:lpstr>Why study algorithms?</vt:lpstr>
      <vt:lpstr>Why study algorithms?</vt:lpstr>
      <vt:lpstr>1、 算法概述 </vt:lpstr>
      <vt:lpstr>课程目标</vt:lpstr>
      <vt:lpstr>教材</vt:lpstr>
      <vt:lpstr>参考教材</vt:lpstr>
      <vt:lpstr>课程知识图谱</vt:lpstr>
      <vt:lpstr>课程考核</vt:lpstr>
      <vt:lpstr>作业要求</vt:lpstr>
      <vt:lpstr>伪代码示例（选择排序）</vt:lpstr>
      <vt:lpstr>1、 算法概述 </vt:lpstr>
      <vt:lpstr>学习要点: </vt:lpstr>
      <vt:lpstr>1.1 算法(Algorithm)</vt:lpstr>
      <vt:lpstr>1.1 算法(Algorithm)</vt:lpstr>
      <vt:lpstr>算法(Algorithm)</vt:lpstr>
      <vt:lpstr>算法(Algorithm)</vt:lpstr>
      <vt:lpstr>1.1 算法(Algorithm)</vt:lpstr>
      <vt:lpstr>算法(Algorithm)</vt:lpstr>
      <vt:lpstr>1.1 程序(Program)</vt:lpstr>
      <vt:lpstr>Question</vt:lpstr>
      <vt:lpstr>分治法找书算法 </vt:lpstr>
      <vt:lpstr>如何证明算法正确性</vt:lpstr>
      <vt:lpstr>1、 算法概述 </vt:lpstr>
      <vt:lpstr>Integer Multiplication</vt:lpstr>
      <vt:lpstr>Integer Multiplication</vt:lpstr>
      <vt:lpstr>Integer Multiplication</vt:lpstr>
      <vt:lpstr>Implemented  on a laptop</vt:lpstr>
      <vt:lpstr>Implemented by hand</vt:lpstr>
      <vt:lpstr>Why is big-Oh notation meaningful?</vt:lpstr>
      <vt:lpstr>Let n get bigger…</vt:lpstr>
      <vt:lpstr>Can we do better?</vt:lpstr>
      <vt:lpstr>学习要点: </vt:lpstr>
      <vt:lpstr>PowerPoint 演示文稿</vt:lpstr>
      <vt:lpstr>1.2 算法的时间复杂性</vt:lpstr>
      <vt:lpstr>算法分析方法</vt:lpstr>
      <vt:lpstr>PowerPoint 演示文稿</vt:lpstr>
      <vt:lpstr>PowerPoint 演示文稿</vt:lpstr>
      <vt:lpstr>学习要点: </vt:lpstr>
      <vt:lpstr>PowerPoint 演示文稿</vt:lpstr>
      <vt:lpstr>渐近分析的记号 O      o  w</vt:lpstr>
      <vt:lpstr>PowerPoint 演示文稿</vt:lpstr>
      <vt:lpstr>PowerPoint 演示文稿</vt:lpstr>
      <vt:lpstr>Big-O W Q 之间的关系</vt:lpstr>
      <vt:lpstr>Big-O, Q, W实例</vt:lpstr>
      <vt:lpstr>PowerPoint 演示文稿</vt:lpstr>
      <vt:lpstr>渐近分析中函数比较</vt:lpstr>
      <vt:lpstr>渐近分析中函数比较</vt:lpstr>
      <vt:lpstr>渐近分析记号的若干性质</vt:lpstr>
      <vt:lpstr>PowerPoint 演示文稿</vt:lpstr>
      <vt:lpstr>PowerPoint 演示文稿</vt:lpstr>
      <vt:lpstr>PowerPoint 演示文稿</vt:lpstr>
      <vt:lpstr>PowerPoint 演示文稿</vt:lpstr>
      <vt:lpstr>学习要点: </vt:lpstr>
      <vt:lpstr>算法分析的基本法则</vt:lpstr>
      <vt:lpstr>算法分析的基本法则</vt:lpstr>
      <vt:lpstr>嵌套循环</vt:lpstr>
      <vt:lpstr>嵌套循环</vt:lpstr>
      <vt:lpstr>插入排序（Insertion Sort）</vt:lpstr>
      <vt:lpstr>PowerPoint 演示文稿</vt:lpstr>
      <vt:lpstr>PowerPoint 演示文稿</vt:lpstr>
      <vt:lpstr>最优算法</vt:lpstr>
      <vt:lpstr>学习要点: </vt:lpstr>
      <vt:lpstr>算法分析中常见的复杂性函数</vt:lpstr>
      <vt:lpstr>算法分析中常见的复杂性函数</vt:lpstr>
      <vt:lpstr>1、 算法概述 </vt:lpstr>
      <vt:lpstr>PowerPoint 演示文稿</vt:lpstr>
      <vt:lpstr>PowerPoint 演示文稿</vt:lpstr>
      <vt:lpstr>P类问题</vt:lpstr>
      <vt:lpstr>NP类问题</vt:lpstr>
      <vt:lpstr>NP完全性理论</vt:lpstr>
      <vt:lpstr>NP完全性理论</vt:lpstr>
      <vt:lpstr>NP完全性理论</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动态规划</dc:title>
  <dc:creator>wang</dc:creator>
  <cp:lastModifiedBy>WJL</cp:lastModifiedBy>
  <cp:revision>509</cp:revision>
  <cp:lastPrinted>2013-04-09T01:39:03Z</cp:lastPrinted>
  <dcterms:created xsi:type="dcterms:W3CDTF">2003-05-27T06:14:28Z</dcterms:created>
  <dcterms:modified xsi:type="dcterms:W3CDTF">2026-03-16T08:50:55Z</dcterms:modified>
</cp:coreProperties>
</file>