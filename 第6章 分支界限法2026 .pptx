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79"/>
  </p:notesMasterIdLst>
  <p:handoutMasterIdLst>
    <p:handoutMasterId r:id="rId80"/>
  </p:handoutMasterIdLst>
  <p:sldIdLst>
    <p:sldId id="256" r:id="rId2"/>
    <p:sldId id="327" r:id="rId3"/>
    <p:sldId id="410" r:id="rId4"/>
    <p:sldId id="555" r:id="rId5"/>
    <p:sldId id="328" r:id="rId6"/>
    <p:sldId id="330" r:id="rId7"/>
    <p:sldId id="423" r:id="rId8"/>
    <p:sldId id="424" r:id="rId9"/>
    <p:sldId id="425" r:id="rId10"/>
    <p:sldId id="367" r:id="rId11"/>
    <p:sldId id="368" r:id="rId12"/>
    <p:sldId id="369" r:id="rId13"/>
    <p:sldId id="370" r:id="rId14"/>
    <p:sldId id="411" r:id="rId15"/>
    <p:sldId id="336" r:id="rId16"/>
    <p:sldId id="553" r:id="rId17"/>
    <p:sldId id="427" r:id="rId18"/>
    <p:sldId id="338" r:id="rId19"/>
    <p:sldId id="417" r:id="rId20"/>
    <p:sldId id="339" r:id="rId21"/>
    <p:sldId id="340" r:id="rId22"/>
    <p:sldId id="341" r:id="rId23"/>
    <p:sldId id="342" r:id="rId24"/>
    <p:sldId id="343" r:id="rId25"/>
    <p:sldId id="421" r:id="rId26"/>
    <p:sldId id="412" r:id="rId27"/>
    <p:sldId id="479" r:id="rId28"/>
    <p:sldId id="480" r:id="rId29"/>
    <p:sldId id="481" r:id="rId30"/>
    <p:sldId id="482" r:id="rId31"/>
    <p:sldId id="483" r:id="rId32"/>
    <p:sldId id="484" r:id="rId33"/>
    <p:sldId id="485" r:id="rId34"/>
    <p:sldId id="486" r:id="rId35"/>
    <p:sldId id="487" r:id="rId36"/>
    <p:sldId id="488" r:id="rId37"/>
    <p:sldId id="489" r:id="rId38"/>
    <p:sldId id="490" r:id="rId39"/>
    <p:sldId id="491" r:id="rId40"/>
    <p:sldId id="492" r:id="rId41"/>
    <p:sldId id="494" r:id="rId42"/>
    <p:sldId id="537" r:id="rId43"/>
    <p:sldId id="495" r:id="rId44"/>
    <p:sldId id="496" r:id="rId45"/>
    <p:sldId id="529" r:id="rId46"/>
    <p:sldId id="498" r:id="rId47"/>
    <p:sldId id="499" r:id="rId48"/>
    <p:sldId id="500" r:id="rId49"/>
    <p:sldId id="501" r:id="rId50"/>
    <p:sldId id="502" r:id="rId51"/>
    <p:sldId id="503" r:id="rId52"/>
    <p:sldId id="504" r:id="rId53"/>
    <p:sldId id="505" r:id="rId54"/>
    <p:sldId id="506" r:id="rId55"/>
    <p:sldId id="551" r:id="rId56"/>
    <p:sldId id="552" r:id="rId57"/>
    <p:sldId id="508" r:id="rId58"/>
    <p:sldId id="509" r:id="rId59"/>
    <p:sldId id="510" r:id="rId60"/>
    <p:sldId id="545" r:id="rId61"/>
    <p:sldId id="544" r:id="rId62"/>
    <p:sldId id="550" r:id="rId63"/>
    <p:sldId id="514" r:id="rId64"/>
    <p:sldId id="515" r:id="rId65"/>
    <p:sldId id="541" r:id="rId66"/>
    <p:sldId id="543" r:id="rId67"/>
    <p:sldId id="517" r:id="rId68"/>
    <p:sldId id="518" r:id="rId69"/>
    <p:sldId id="519" r:id="rId70"/>
    <p:sldId id="548" r:id="rId71"/>
    <p:sldId id="546" r:id="rId72"/>
    <p:sldId id="547" r:id="rId73"/>
    <p:sldId id="549" r:id="rId74"/>
    <p:sldId id="523" r:id="rId75"/>
    <p:sldId id="524" r:id="rId76"/>
    <p:sldId id="525" r:id="rId77"/>
    <p:sldId id="526" r:id="rId78"/>
  </p:sldIdLst>
  <p:sldSz cx="9144000" cy="6858000" type="screen4x3"/>
  <p:notesSz cx="6858000" cy="9947275"/>
  <p:defaultTextStyle>
    <a:defPPr>
      <a:defRPr lang="en-US"/>
    </a:defPPr>
    <a:lvl1pPr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5pPr>
    <a:lvl6pPr marL="22860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6pPr>
    <a:lvl7pPr marL="27432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7pPr>
    <a:lvl8pPr marL="32004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8pPr>
    <a:lvl9pPr marL="36576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9900FF"/>
    <a:srgbClr val="DDDDDD"/>
    <a:srgbClr val="663300"/>
    <a:srgbClr val="CC0000"/>
    <a:srgbClr val="800000"/>
    <a:srgbClr val="A50021"/>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94" autoAdjust="0"/>
    <p:restoredTop sz="83744" autoAdjust="0"/>
  </p:normalViewPr>
  <p:slideViewPr>
    <p:cSldViewPr>
      <p:cViewPr varScale="1">
        <p:scale>
          <a:sx n="92" d="100"/>
          <a:sy n="92" d="100"/>
        </p:scale>
        <p:origin x="1504" y="68"/>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_rels/viewProps.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slide" Target="slides/slide5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AF65DA72-A7FB-4CA6-837E-55D3E5CE3FE1}"/>
              </a:ext>
            </a:extLst>
          </p:cNvPr>
          <p:cNvSpPr>
            <a:spLocks noGrp="1" noChangeArrowheads="1"/>
          </p:cNvSpPr>
          <p:nvPr>
            <p:ph type="hdr" sz="quarter"/>
          </p:nvPr>
        </p:nvSpPr>
        <p:spPr bwMode="auto">
          <a:xfrm>
            <a:off x="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zh-CN" altLang="en-US"/>
          </a:p>
        </p:txBody>
      </p:sp>
      <p:sp>
        <p:nvSpPr>
          <p:cNvPr id="108547" name="Rectangle 3">
            <a:extLst>
              <a:ext uri="{FF2B5EF4-FFF2-40B4-BE49-F238E27FC236}">
                <a16:creationId xmlns:a16="http://schemas.microsoft.com/office/drawing/2014/main" id="{6296C594-F467-45CB-B60D-B14FF34D6BAC}"/>
              </a:ext>
            </a:extLst>
          </p:cNvPr>
          <p:cNvSpPr>
            <a:spLocks noGrp="1" noChangeArrowheads="1"/>
          </p:cNvSpPr>
          <p:nvPr>
            <p:ph type="dt" sz="quarter" idx="1"/>
          </p:nvPr>
        </p:nvSpPr>
        <p:spPr bwMode="auto">
          <a:xfrm>
            <a:off x="388620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108548" name="Rectangle 4">
            <a:extLst>
              <a:ext uri="{FF2B5EF4-FFF2-40B4-BE49-F238E27FC236}">
                <a16:creationId xmlns:a16="http://schemas.microsoft.com/office/drawing/2014/main" id="{6448FD51-086C-467C-AAAF-E96B1841B256}"/>
              </a:ext>
            </a:extLst>
          </p:cNvPr>
          <p:cNvSpPr>
            <a:spLocks noGrp="1" noChangeArrowheads="1"/>
          </p:cNvSpPr>
          <p:nvPr>
            <p:ph type="ftr" sz="quarter" idx="2"/>
          </p:nvPr>
        </p:nvSpPr>
        <p:spPr bwMode="auto">
          <a:xfrm>
            <a:off x="0" y="9450388"/>
            <a:ext cx="29718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108549" name="Rectangle 5">
            <a:extLst>
              <a:ext uri="{FF2B5EF4-FFF2-40B4-BE49-F238E27FC236}">
                <a16:creationId xmlns:a16="http://schemas.microsoft.com/office/drawing/2014/main" id="{18271651-E423-4024-A07B-9254DC95213E}"/>
              </a:ext>
            </a:extLst>
          </p:cNvPr>
          <p:cNvSpPr>
            <a:spLocks noGrp="1" noChangeArrowheads="1"/>
          </p:cNvSpPr>
          <p:nvPr>
            <p:ph type="sldNum" sz="quarter" idx="3"/>
          </p:nvPr>
        </p:nvSpPr>
        <p:spPr bwMode="auto">
          <a:xfrm>
            <a:off x="3886200" y="9450388"/>
            <a:ext cx="29718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fld id="{D3FF28F1-8666-4473-B556-85648753CA53}"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6-10T13:22:29.040"/>
    </inkml:context>
    <inkml:brush xml:id="br0">
      <inkml:brushProperty name="width" value="0.05292" units="cm"/>
      <inkml:brushProperty name="height" value="0.05292" units="cm"/>
      <inkml:brushProperty name="color" value="#FF0000"/>
    </inkml:brush>
  </inkml:definitions>
  <inkml:trace contextRef="#ctx0" brushRef="#br0">6853 11891 371 0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4E95A21-5B7E-4F7B-8F68-8672B9410B82}"/>
              </a:ext>
            </a:extLst>
          </p:cNvPr>
          <p:cNvSpPr>
            <a:spLocks noGrp="1" noChangeArrowheads="1"/>
          </p:cNvSpPr>
          <p:nvPr>
            <p:ph type="hdr" sz="quarter"/>
          </p:nvPr>
        </p:nvSpPr>
        <p:spPr bwMode="auto">
          <a:xfrm>
            <a:off x="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zh-CN" altLang="en-US"/>
          </a:p>
        </p:txBody>
      </p:sp>
      <p:sp>
        <p:nvSpPr>
          <p:cNvPr id="26627" name="Rectangle 3">
            <a:extLst>
              <a:ext uri="{FF2B5EF4-FFF2-40B4-BE49-F238E27FC236}">
                <a16:creationId xmlns:a16="http://schemas.microsoft.com/office/drawing/2014/main" id="{EA7C950D-2F24-4454-AC22-9AE7B9C46CDB}"/>
              </a:ext>
            </a:extLst>
          </p:cNvPr>
          <p:cNvSpPr>
            <a:spLocks noGrp="1" noChangeArrowheads="1"/>
          </p:cNvSpPr>
          <p:nvPr>
            <p:ph type="dt" idx="1"/>
          </p:nvPr>
        </p:nvSpPr>
        <p:spPr bwMode="auto">
          <a:xfrm>
            <a:off x="388620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3076" name="Rectangle 4">
            <a:extLst>
              <a:ext uri="{FF2B5EF4-FFF2-40B4-BE49-F238E27FC236}">
                <a16:creationId xmlns:a16="http://schemas.microsoft.com/office/drawing/2014/main" id="{43797772-F234-C71C-CB32-8B4FEA5B4B79}"/>
              </a:ext>
            </a:extLst>
          </p:cNvPr>
          <p:cNvSpPr>
            <a:spLocks noGrp="1" noRot="1" noChangeAspect="1" noChangeArrowheads="1" noTextEdit="1"/>
          </p:cNvSpPr>
          <p:nvPr>
            <p:ph type="sldImg" idx="2"/>
          </p:nvPr>
        </p:nvSpPr>
        <p:spPr bwMode="auto">
          <a:xfrm>
            <a:off x="942975" y="746125"/>
            <a:ext cx="4972050" cy="3730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a:extLst>
              <a:ext uri="{FF2B5EF4-FFF2-40B4-BE49-F238E27FC236}">
                <a16:creationId xmlns:a16="http://schemas.microsoft.com/office/drawing/2014/main" id="{E9A613B8-AAAB-4949-B9AA-73314C05BAC0}"/>
              </a:ext>
            </a:extLst>
          </p:cNvPr>
          <p:cNvSpPr>
            <a:spLocks noGrp="1" noChangeArrowheads="1"/>
          </p:cNvSpPr>
          <p:nvPr>
            <p:ph type="body" sz="quarter" idx="3"/>
          </p:nvPr>
        </p:nvSpPr>
        <p:spPr bwMode="auto">
          <a:xfrm>
            <a:off x="914400" y="4724400"/>
            <a:ext cx="5029200" cy="4476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6630" name="Rectangle 6">
            <a:extLst>
              <a:ext uri="{FF2B5EF4-FFF2-40B4-BE49-F238E27FC236}">
                <a16:creationId xmlns:a16="http://schemas.microsoft.com/office/drawing/2014/main" id="{1B11DDAF-F059-4125-8C14-CCB7EF3A1124}"/>
              </a:ext>
            </a:extLst>
          </p:cNvPr>
          <p:cNvSpPr>
            <a:spLocks noGrp="1" noChangeArrowheads="1"/>
          </p:cNvSpPr>
          <p:nvPr>
            <p:ph type="ftr" sz="quarter" idx="4"/>
          </p:nvPr>
        </p:nvSpPr>
        <p:spPr bwMode="auto">
          <a:xfrm>
            <a:off x="0" y="9450388"/>
            <a:ext cx="29718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26631" name="Rectangle 7">
            <a:extLst>
              <a:ext uri="{FF2B5EF4-FFF2-40B4-BE49-F238E27FC236}">
                <a16:creationId xmlns:a16="http://schemas.microsoft.com/office/drawing/2014/main" id="{91C5C42D-0FD0-4462-A75A-E51C10D2C40E}"/>
              </a:ext>
            </a:extLst>
          </p:cNvPr>
          <p:cNvSpPr>
            <a:spLocks noGrp="1" noChangeArrowheads="1"/>
          </p:cNvSpPr>
          <p:nvPr>
            <p:ph type="sldNum" sz="quarter" idx="5"/>
          </p:nvPr>
        </p:nvSpPr>
        <p:spPr bwMode="auto">
          <a:xfrm>
            <a:off x="3886200" y="9450388"/>
            <a:ext cx="29718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fld id="{1B15E40E-735E-40D7-885E-9A271A8E551E}"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F5C3C4C-3E11-BD16-997A-BC20ADC3F7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3609945-93EB-46BE-8EED-FBAEEFDDADDC}" type="slidenum">
              <a:rPr lang="zh-CN" altLang="en-US" sz="1200">
                <a:solidFill>
                  <a:schemeClr val="tx1"/>
                </a:solidFill>
                <a:latin typeface="Times New Roman" panose="02020603050405020304" pitchFamily="18" charset="0"/>
                <a:ea typeface="宋体" panose="02010600030101010101" pitchFamily="2" charset="-122"/>
              </a:rPr>
              <a:pPr/>
              <a:t>1</a:t>
            </a:fld>
            <a:endParaRPr lang="en-US" altLang="zh-CN" sz="1200">
              <a:solidFill>
                <a:schemeClr val="tx1"/>
              </a:solidFill>
              <a:latin typeface="Times New Roman" panose="02020603050405020304" pitchFamily="18" charset="0"/>
              <a:ea typeface="宋体" panose="02010600030101010101" pitchFamily="2" charset="-122"/>
            </a:endParaRPr>
          </a:p>
        </p:txBody>
      </p:sp>
      <p:sp>
        <p:nvSpPr>
          <p:cNvPr id="6147" name="Rectangle 2">
            <a:extLst>
              <a:ext uri="{FF2B5EF4-FFF2-40B4-BE49-F238E27FC236}">
                <a16:creationId xmlns:a16="http://schemas.microsoft.com/office/drawing/2014/main" id="{92963627-5092-AAF1-CBAA-304D1EE793E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2B706C01-F8E5-0C76-5742-B32956508D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欢迎辞</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05C9F07C-1805-AFA5-C482-419384D0DEAF}"/>
              </a:ext>
            </a:extLst>
          </p:cNvPr>
          <p:cNvSpPr>
            <a:spLocks noGrp="1" noRot="1" noChangeAspect="1" noChangeArrowheads="1" noTextEdit="1"/>
          </p:cNvSpPr>
          <p:nvPr>
            <p:ph type="sldImg"/>
          </p:nvPr>
        </p:nvSpPr>
        <p:spPr>
          <a:ln/>
        </p:spPr>
      </p:sp>
      <p:sp>
        <p:nvSpPr>
          <p:cNvPr id="8195" name="备注占位符 2">
            <a:extLst>
              <a:ext uri="{FF2B5EF4-FFF2-40B4-BE49-F238E27FC236}">
                <a16:creationId xmlns:a16="http://schemas.microsoft.com/office/drawing/2014/main" id="{E2AE9B87-9CAF-09AF-7CF4-B3494FF4F9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分支限界，一定有限界函数</a:t>
            </a:r>
            <a:endParaRPr lang="en-US" altLang="zh-CN"/>
          </a:p>
          <a:p>
            <a:endParaRPr lang="en-US" altLang="zh-CN"/>
          </a:p>
          <a:p>
            <a:r>
              <a:rPr lang="zh-CN" altLang="en-US"/>
              <a:t>和第</a:t>
            </a:r>
            <a:r>
              <a:rPr lang="en-US" altLang="zh-CN"/>
              <a:t>5</a:t>
            </a:r>
            <a:r>
              <a:rPr lang="zh-CN" altLang="en-US"/>
              <a:t>章的问题做对照，这一章都是优化问题</a:t>
            </a:r>
          </a:p>
        </p:txBody>
      </p:sp>
      <p:sp>
        <p:nvSpPr>
          <p:cNvPr id="8196" name="灯片编号占位符 3">
            <a:extLst>
              <a:ext uri="{FF2B5EF4-FFF2-40B4-BE49-F238E27FC236}">
                <a16:creationId xmlns:a16="http://schemas.microsoft.com/office/drawing/2014/main" id="{7D0AC81E-2ACF-B4D1-123E-A67A12CE6CD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B14D4FB-8E22-4C64-A712-6CE120776AF1}" type="slidenum">
              <a:rPr lang="zh-CN" altLang="en-US" sz="1200">
                <a:solidFill>
                  <a:schemeClr val="tx1"/>
                </a:solidFill>
                <a:latin typeface="Times New Roman" panose="02020603050405020304" pitchFamily="18" charset="0"/>
                <a:ea typeface="宋体" panose="02010600030101010101" pitchFamily="2" charset="-122"/>
              </a:rPr>
              <a:pPr/>
              <a:t>2</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62CE44FB-D2BC-C3A7-0F41-27929C83712C}"/>
              </a:ext>
            </a:extLst>
          </p:cNvPr>
          <p:cNvSpPr>
            <a:spLocks noGrp="1" noRot="1" noChangeAspect="1" noChangeArrowheads="1" noTextEdit="1"/>
          </p:cNvSpPr>
          <p:nvPr>
            <p:ph type="sldImg"/>
          </p:nvPr>
        </p:nvSpPr>
        <p:spPr>
          <a:ln/>
        </p:spPr>
      </p:sp>
      <p:sp>
        <p:nvSpPr>
          <p:cNvPr id="10243" name="备注占位符 2">
            <a:extLst>
              <a:ext uri="{FF2B5EF4-FFF2-40B4-BE49-F238E27FC236}">
                <a16:creationId xmlns:a16="http://schemas.microsoft.com/office/drawing/2014/main" id="{090565B2-70CD-72B4-36B0-DC63DCE93B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回溯法，通用问题求解器，为什么还要用分支限界？</a:t>
            </a:r>
            <a:endParaRPr lang="en-US" altLang="zh-CN"/>
          </a:p>
          <a:p>
            <a:endParaRPr lang="en-US" altLang="zh-CN"/>
          </a:p>
          <a:p>
            <a:r>
              <a:rPr lang="zh-CN" altLang="en-US" b="1"/>
              <a:t>“被动劝退” </a:t>
            </a:r>
            <a:r>
              <a:rPr lang="en-US" altLang="zh-CN" b="1"/>
              <a:t>vs “</a:t>
            </a:r>
            <a:r>
              <a:rPr lang="zh-CN" altLang="en-US" b="1"/>
              <a:t>主动淘汰”</a:t>
            </a:r>
          </a:p>
          <a:p>
            <a:r>
              <a:rPr lang="zh-CN" altLang="en-US"/>
              <a:t>回溯法（被动剪枝）： 它的剪枝是被动的。回溯法坚持“一条路走到黑”（深度优先），只有当它深入走到某个节点，发现当前的上界（比如背包还能装的最大理论价值）已经不如手里已有的最优解时，才会触发剪枝并回退。这意味着，在触发剪枝之前，它可能已经在这条没前途的路上生成了大量无用的子节点。</a:t>
            </a:r>
          </a:p>
          <a:p>
            <a:r>
              <a:rPr lang="zh-CN" altLang="en-US"/>
              <a:t>分支限界法（主动剪枝）： 它的剪枝是主动的。在生成子节点的瞬间，它就会用限界函数进行评估。如果某个节点的上界不如当前最优解，它会直接把这个节点丢弃，绝不加入待探索的队列中。这种“出生即淘汰”的机制，从源头上就杜绝了大量无效节点的生成。</a:t>
            </a:r>
          </a:p>
          <a:p>
            <a:endParaRPr lang="zh-CN" altLang="en-US"/>
          </a:p>
        </p:txBody>
      </p:sp>
      <p:sp>
        <p:nvSpPr>
          <p:cNvPr id="10244" name="灯片编号占位符 3">
            <a:extLst>
              <a:ext uri="{FF2B5EF4-FFF2-40B4-BE49-F238E27FC236}">
                <a16:creationId xmlns:a16="http://schemas.microsoft.com/office/drawing/2014/main" id="{917B4D3D-68E0-0A56-08BF-33C5883C38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129B5433-18EF-44FF-B5D7-4135760D0BEA}" type="slidenum">
              <a:rPr lang="zh-CN" altLang="en-US" sz="1200">
                <a:solidFill>
                  <a:schemeClr val="tx1"/>
                </a:solidFill>
                <a:latin typeface="Times New Roman" panose="02020603050405020304" pitchFamily="18" charset="0"/>
                <a:ea typeface="宋体" panose="02010600030101010101" pitchFamily="2" charset="-122"/>
              </a:rPr>
              <a:pPr/>
              <a:t>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030C9EBC-AA21-D67B-01EE-CE7993795248}"/>
              </a:ext>
            </a:extLst>
          </p:cNvPr>
          <p:cNvSpPr>
            <a:spLocks noGrp="1" noRot="1" noChangeAspect="1" noChangeArrowheads="1" noTextEdit="1"/>
          </p:cNvSpPr>
          <p:nvPr>
            <p:ph type="sldImg"/>
          </p:nvPr>
        </p:nvSpPr>
        <p:spPr>
          <a:ln/>
        </p:spPr>
      </p:sp>
      <p:sp>
        <p:nvSpPr>
          <p:cNvPr id="12291" name="备注占位符 2">
            <a:extLst>
              <a:ext uri="{FF2B5EF4-FFF2-40B4-BE49-F238E27FC236}">
                <a16:creationId xmlns:a16="http://schemas.microsoft.com/office/drawing/2014/main" id="{B52E831A-C7D4-3E59-D63D-C867FB6052A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回溯法，通用问题求解器，为什么还要用分支限界？</a:t>
            </a:r>
            <a:endParaRPr lang="en-US" altLang="zh-CN"/>
          </a:p>
          <a:p>
            <a:endParaRPr lang="en-US" altLang="zh-CN"/>
          </a:p>
          <a:p>
            <a:r>
              <a:rPr lang="zh-CN" altLang="en-US" b="1"/>
              <a:t>“被动劝退” </a:t>
            </a:r>
            <a:r>
              <a:rPr lang="en-US" altLang="zh-CN" b="1"/>
              <a:t>vs “</a:t>
            </a:r>
            <a:r>
              <a:rPr lang="zh-CN" altLang="en-US" b="1"/>
              <a:t>主动淘汰”</a:t>
            </a:r>
          </a:p>
          <a:p>
            <a:r>
              <a:rPr lang="zh-CN" altLang="en-US"/>
              <a:t>回溯法（被动剪枝）： 它的剪枝是被动的。回溯法坚持“一条路走到黑”（深度优先），只有当它深入走到某个节点，发现当前的上界（比如背包还能装的最大理论价值）已经不如手里已有的最优解时，才会触发剪枝并回退。这意味着，在触发剪枝之前，它可能已经在这条没前途的路上生成了大量无用的子节点。</a:t>
            </a:r>
          </a:p>
          <a:p>
            <a:r>
              <a:rPr lang="zh-CN" altLang="en-US"/>
              <a:t>分支限界法（主动剪枝）： 它的剪枝是主动的。在生成子节点的瞬间，它就会用限界函数进行评估。如果某个节点的上界不如当前最优解，它会直接把这个节点丢弃，绝不加入待探索的队列中。这种“出生即淘汰”的机制，从源头上就杜绝了大量无效节点的生成。</a:t>
            </a:r>
          </a:p>
          <a:p>
            <a:endParaRPr lang="zh-CN" altLang="en-US"/>
          </a:p>
        </p:txBody>
      </p:sp>
      <p:sp>
        <p:nvSpPr>
          <p:cNvPr id="12292" name="灯片编号占位符 3">
            <a:extLst>
              <a:ext uri="{FF2B5EF4-FFF2-40B4-BE49-F238E27FC236}">
                <a16:creationId xmlns:a16="http://schemas.microsoft.com/office/drawing/2014/main" id="{662129A4-A390-BA36-CDCA-07D9B334BC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C68291EB-5AD0-4A0D-A329-2F5A0B2C0983}" type="slidenum">
              <a:rPr lang="zh-CN" altLang="en-US" sz="1200">
                <a:solidFill>
                  <a:schemeClr val="tx1"/>
                </a:solidFill>
                <a:latin typeface="Times New Roman" panose="02020603050405020304" pitchFamily="18" charset="0"/>
                <a:ea typeface="宋体" panose="02010600030101010101" pitchFamily="2" charset="-122"/>
              </a:rPr>
              <a:pPr/>
              <a:t>4</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B1BEAA50-08FF-EF53-3176-1E5D90A597F4}"/>
              </a:ext>
            </a:extLst>
          </p:cNvPr>
          <p:cNvSpPr>
            <a:spLocks noGrp="1" noRot="1" noChangeAspect="1" noChangeArrowheads="1" noTextEdit="1"/>
          </p:cNvSpPr>
          <p:nvPr>
            <p:ph type="sldImg"/>
          </p:nvPr>
        </p:nvSpPr>
        <p:spPr>
          <a:ln/>
        </p:spPr>
      </p:sp>
      <p:sp>
        <p:nvSpPr>
          <p:cNvPr id="15363" name="备注占位符 2">
            <a:extLst>
              <a:ext uri="{FF2B5EF4-FFF2-40B4-BE49-F238E27FC236}">
                <a16:creationId xmlns:a16="http://schemas.microsoft.com/office/drawing/2014/main" id="{429C0F7E-09B7-710F-452B-C07C04C3CD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深度优先，数据结构：栈，先进后出</a:t>
            </a:r>
            <a:endParaRPr lang="en-US" altLang="zh-CN"/>
          </a:p>
          <a:p>
            <a:endParaRPr lang="en-US" altLang="zh-CN"/>
          </a:p>
          <a:p>
            <a:r>
              <a:rPr lang="zh-CN" altLang="en-US"/>
              <a:t>常用的数据结构有：数组（</a:t>
            </a:r>
            <a:r>
              <a:rPr lang="en-US" altLang="zh-CN"/>
              <a:t>Array</a:t>
            </a:r>
            <a:r>
              <a:rPr lang="zh-CN" altLang="en-US"/>
              <a:t>）、栈（</a:t>
            </a:r>
            <a:r>
              <a:rPr lang="en-US" altLang="zh-CN"/>
              <a:t>Stack</a:t>
            </a:r>
            <a:r>
              <a:rPr lang="zh-CN" altLang="en-US"/>
              <a:t>）、队列（</a:t>
            </a:r>
            <a:r>
              <a:rPr lang="en-US" altLang="zh-CN"/>
              <a:t>Queue</a:t>
            </a:r>
            <a:r>
              <a:rPr lang="zh-CN" altLang="en-US"/>
              <a:t>）、链表（</a:t>
            </a:r>
            <a:r>
              <a:rPr lang="en-US" altLang="zh-CN"/>
              <a:t>Linked List</a:t>
            </a:r>
            <a:r>
              <a:rPr lang="zh-CN" altLang="en-US"/>
              <a:t>）、树（</a:t>
            </a:r>
            <a:r>
              <a:rPr lang="en-US" altLang="zh-CN"/>
              <a:t>Tree</a:t>
            </a:r>
            <a:r>
              <a:rPr lang="zh-CN" altLang="en-US"/>
              <a:t>）、图（</a:t>
            </a:r>
            <a:r>
              <a:rPr lang="en-US" altLang="zh-CN"/>
              <a:t>Graph</a:t>
            </a:r>
            <a:r>
              <a:rPr lang="zh-CN" altLang="en-US"/>
              <a:t>）、堆（</a:t>
            </a:r>
            <a:r>
              <a:rPr lang="en-US" altLang="zh-CN"/>
              <a:t>Heap</a:t>
            </a:r>
            <a:r>
              <a:rPr lang="zh-CN" altLang="en-US"/>
              <a:t>）、散列表（</a:t>
            </a:r>
            <a:r>
              <a:rPr lang="en-US" altLang="zh-CN"/>
              <a:t>Hash</a:t>
            </a:r>
            <a:r>
              <a:rPr lang="zh-CN" altLang="en-US"/>
              <a:t>）</a:t>
            </a:r>
          </a:p>
        </p:txBody>
      </p:sp>
      <p:sp>
        <p:nvSpPr>
          <p:cNvPr id="15364" name="灯片编号占位符 3">
            <a:extLst>
              <a:ext uri="{FF2B5EF4-FFF2-40B4-BE49-F238E27FC236}">
                <a16:creationId xmlns:a16="http://schemas.microsoft.com/office/drawing/2014/main" id="{8EE8DFEE-316A-D020-7EF1-F03B3E0F5F6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B5A8072-4D22-4783-B72C-349B6BF80D70}" type="slidenum">
              <a:rPr lang="zh-CN" altLang="en-US" sz="1200">
                <a:solidFill>
                  <a:schemeClr val="tx1"/>
                </a:solidFill>
                <a:latin typeface="Times New Roman" panose="02020603050405020304" pitchFamily="18" charset="0"/>
                <a:ea typeface="宋体" panose="02010600030101010101" pitchFamily="2" charset="-122"/>
              </a:rPr>
              <a:pPr/>
              <a:t>6</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CDAEFFEA-F7E4-F951-D784-3652FAC08E16}"/>
              </a:ext>
            </a:extLst>
          </p:cNvPr>
          <p:cNvSpPr>
            <a:spLocks noGrp="1" noRot="1" noChangeAspect="1" noChangeArrowheads="1" noTextEdit="1"/>
          </p:cNvSpPr>
          <p:nvPr>
            <p:ph type="sldImg"/>
          </p:nvPr>
        </p:nvSpPr>
        <p:spPr>
          <a:ln/>
        </p:spPr>
      </p:sp>
      <p:sp>
        <p:nvSpPr>
          <p:cNvPr id="23555" name="备注占位符 2">
            <a:extLst>
              <a:ext uri="{FF2B5EF4-FFF2-40B4-BE49-F238E27FC236}">
                <a16:creationId xmlns:a16="http://schemas.microsoft.com/office/drawing/2014/main" id="{E3F3CBBF-C32C-DEFF-412F-DCAC777AA56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队列式，如果采用队列为空作为终止条件，是可以找到最优解的。</a:t>
            </a:r>
            <a:endParaRPr lang="en-US" altLang="zh-CN"/>
          </a:p>
          <a:p>
            <a:endParaRPr lang="en-US" altLang="zh-CN"/>
          </a:p>
          <a:p>
            <a:r>
              <a:rPr lang="zh-CN" altLang="en-US"/>
              <a:t>队列中的结点按 </a:t>
            </a:r>
            <a:r>
              <a:rPr lang="zh-CN" altLang="en-US" b="1"/>
              <a:t>价值上界（</a:t>
            </a:r>
            <a:r>
              <a:rPr lang="en-US" altLang="zh-CN" b="1"/>
              <a:t>Bound</a:t>
            </a:r>
            <a:r>
              <a:rPr lang="zh-CN" altLang="en-US" b="1"/>
              <a:t>）从大到小</a:t>
            </a:r>
            <a:r>
              <a:rPr lang="zh-CN" altLang="en-US"/>
              <a:t> 排序。</a:t>
            </a:r>
          </a:p>
          <a:p>
            <a:r>
              <a:rPr lang="zh-CN" altLang="en-US" b="1"/>
              <a:t>每次扩展</a:t>
            </a:r>
            <a:r>
              <a:rPr lang="zh-CN" altLang="en-US"/>
              <a:t>的是当前队列中上界最大的结点</a:t>
            </a:r>
            <a:endParaRPr lang="en-US" altLang="zh-CN"/>
          </a:p>
          <a:p>
            <a:endParaRPr lang="en-US" altLang="zh-CN"/>
          </a:p>
          <a:p>
            <a:r>
              <a:rPr lang="zh-CN" altLang="en-US"/>
              <a:t>按“价值上界”排序，优先扩展可能更优的分支，</a:t>
            </a:r>
            <a:r>
              <a:rPr lang="zh-CN" altLang="en-US" b="1"/>
              <a:t>第一次找到的可行解就是最优解</a:t>
            </a:r>
            <a:r>
              <a:rPr lang="zh-CN" altLang="en-US"/>
              <a:t>。</a:t>
            </a:r>
          </a:p>
          <a:p>
            <a:endParaRPr lang="zh-CN" altLang="en-US"/>
          </a:p>
        </p:txBody>
      </p:sp>
      <p:sp>
        <p:nvSpPr>
          <p:cNvPr id="23556" name="灯片编号占位符 3">
            <a:extLst>
              <a:ext uri="{FF2B5EF4-FFF2-40B4-BE49-F238E27FC236}">
                <a16:creationId xmlns:a16="http://schemas.microsoft.com/office/drawing/2014/main" id="{DCB1104D-07F7-23BD-BE5F-27BF83376B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3946F16-6217-4D69-8DC8-204F5E7A3A65}" type="slidenum">
              <a:rPr lang="zh-CN" altLang="en-US" sz="1200">
                <a:solidFill>
                  <a:schemeClr val="tx1"/>
                </a:solidFill>
                <a:latin typeface="Times New Roman" panose="02020603050405020304" pitchFamily="18" charset="0"/>
                <a:ea typeface="宋体" panose="02010600030101010101" pitchFamily="2" charset="-122"/>
              </a:rPr>
              <a:pPr/>
              <a:t>13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D14F25D8-15C4-52E6-8826-A82F22AFEAC2}"/>
              </a:ext>
            </a:extLst>
          </p:cNvPr>
          <p:cNvSpPr>
            <a:spLocks noGrp="1" noRot="1" noChangeAspect="1" noChangeArrowheads="1" noTextEdit="1"/>
          </p:cNvSpPr>
          <p:nvPr>
            <p:ph type="sldImg"/>
          </p:nvPr>
        </p:nvSpPr>
        <p:spPr>
          <a:ln/>
        </p:spPr>
      </p:sp>
      <p:sp>
        <p:nvSpPr>
          <p:cNvPr id="25603" name="备注占位符 2">
            <a:extLst>
              <a:ext uri="{FF2B5EF4-FFF2-40B4-BE49-F238E27FC236}">
                <a16:creationId xmlns:a16="http://schemas.microsoft.com/office/drawing/2014/main" id="{182DF583-490F-414F-D50E-20C3066AB2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t>子集树像“开关”</a:t>
            </a:r>
            <a:r>
              <a:rPr lang="zh-CN" altLang="en-US"/>
              <a:t>：每个元素只有选或不选两种状态，适合组合问题。</a:t>
            </a:r>
          </a:p>
          <a:p>
            <a:r>
              <a:rPr lang="zh-CN" altLang="en-US" b="1"/>
              <a:t>排列树像“排序”</a:t>
            </a:r>
            <a:r>
              <a:rPr lang="zh-CN" altLang="en-US"/>
              <a:t>：每个步骤选择下一个元素，适合顺序问题。</a:t>
            </a:r>
          </a:p>
        </p:txBody>
      </p:sp>
      <p:sp>
        <p:nvSpPr>
          <p:cNvPr id="25604" name="灯片编号占位符 3">
            <a:extLst>
              <a:ext uri="{FF2B5EF4-FFF2-40B4-BE49-F238E27FC236}">
                <a16:creationId xmlns:a16="http://schemas.microsoft.com/office/drawing/2014/main" id="{324F106B-C3D1-0054-10C8-598D9A7431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03DD174-193D-4AF0-ACAD-B8FBBDB41367}" type="slidenum">
              <a:rPr lang="zh-CN" altLang="en-US" sz="1200">
                <a:solidFill>
                  <a:schemeClr val="tx1"/>
                </a:solidFill>
                <a:latin typeface="Times New Roman" panose="02020603050405020304" pitchFamily="18" charset="0"/>
                <a:ea typeface="宋体" panose="02010600030101010101" pitchFamily="2" charset="-122"/>
              </a:rPr>
              <a:pPr/>
              <a:t>14</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7EF08F84-745F-B2EF-4E83-D9731E5BE4D2}"/>
              </a:ext>
            </a:extLst>
          </p:cNvPr>
          <p:cNvSpPr>
            <a:spLocks noGrp="1" noRot="1" noChangeAspect="1" noChangeArrowheads="1" noTextEdit="1"/>
          </p:cNvSpPr>
          <p:nvPr>
            <p:ph type="sldImg"/>
          </p:nvPr>
        </p:nvSpPr>
        <p:spPr>
          <a:ln/>
        </p:spPr>
      </p:sp>
      <p:sp>
        <p:nvSpPr>
          <p:cNvPr id="28675" name="备注占位符 2">
            <a:extLst>
              <a:ext uri="{FF2B5EF4-FFF2-40B4-BE49-F238E27FC236}">
                <a16:creationId xmlns:a16="http://schemas.microsoft.com/office/drawing/2014/main" id="{508B8EE9-7FFD-E148-3657-EF6E48352D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0-1</a:t>
            </a:r>
            <a:r>
              <a:rPr lang="zh-CN" altLang="en-US"/>
              <a:t>背包问题，动态规划方法的时间复杂度</a:t>
            </a:r>
            <a:r>
              <a:rPr lang="en-US" altLang="zh-CN"/>
              <a:t>O(nc1)</a:t>
            </a:r>
            <a:endParaRPr lang="zh-CN" altLang="en-US"/>
          </a:p>
        </p:txBody>
      </p:sp>
      <p:sp>
        <p:nvSpPr>
          <p:cNvPr id="28676" name="灯片编号占位符 3">
            <a:extLst>
              <a:ext uri="{FF2B5EF4-FFF2-40B4-BE49-F238E27FC236}">
                <a16:creationId xmlns:a16="http://schemas.microsoft.com/office/drawing/2014/main" id="{AAF51672-EE6F-BAC9-2D4C-4F5DE87AE1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6698BB1-9F84-4856-B34B-394943F5F1B2}" type="slidenum">
              <a:rPr lang="zh-CN" altLang="en-US" sz="1200">
                <a:solidFill>
                  <a:schemeClr val="tx1"/>
                </a:solidFill>
                <a:latin typeface="Times New Roman" panose="02020603050405020304" pitchFamily="18" charset="0"/>
                <a:ea typeface="宋体" panose="02010600030101010101" pitchFamily="2" charset="-122"/>
              </a:rPr>
              <a:pPr/>
              <a:t>16</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C5B05F09-51D5-73E7-F527-84EA75B3B419}"/>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915C0B56-9D5A-49D2-A2D9-405E71AE51D2}"/>
              </a:ext>
            </a:extLst>
          </p:cNvPr>
          <p:cNvSpPr>
            <a:spLocks noGrp="1"/>
          </p:cNvSpPr>
          <p:nvPr>
            <p:ph type="body" idx="1"/>
          </p:nvPr>
        </p:nvSpPr>
        <p:spPr/>
        <p:txBody>
          <a:bodyPr/>
          <a:lstStyle/>
          <a:p>
            <a:pPr>
              <a:defRPr/>
            </a:pPr>
            <a:r>
              <a:rPr lang="zh-CN" altLang="en-US" dirty="0">
                <a:latin typeface="+mj-ea"/>
              </a:rPr>
              <a:t>设</a:t>
            </a:r>
            <a:r>
              <a:rPr lang="en-US" altLang="zh-CN" dirty="0" err="1">
                <a:latin typeface="+mj-ea"/>
              </a:rPr>
              <a:t>bestw</a:t>
            </a:r>
            <a:r>
              <a:rPr lang="zh-CN" altLang="en-US" dirty="0">
                <a:latin typeface="+mj-ea"/>
              </a:rPr>
              <a:t>是当前最优解；</a:t>
            </a:r>
            <a:r>
              <a:rPr lang="en-US" altLang="zh-CN" dirty="0" err="1">
                <a:latin typeface="+mj-ea"/>
              </a:rPr>
              <a:t>Ew</a:t>
            </a:r>
            <a:r>
              <a:rPr lang="zh-CN" altLang="en-US" dirty="0">
                <a:latin typeface="+mj-ea"/>
              </a:rPr>
              <a:t>是当前扩展结点所相应的重量；</a:t>
            </a:r>
            <a:r>
              <a:rPr kumimoji="1" lang="en-US" altLang="zh-CN" dirty="0">
                <a:latin typeface="+mj-ea"/>
              </a:rPr>
              <a:t>Q</a:t>
            </a:r>
            <a:r>
              <a:rPr kumimoji="1" lang="zh-CN" altLang="en-US" dirty="0">
                <a:latin typeface="+mj-ea"/>
              </a:rPr>
              <a:t>是搜索队列，用于存放活结点表。</a:t>
            </a:r>
            <a:endParaRPr lang="zh-CN" altLang="en-US" dirty="0">
              <a:latin typeface="+mj-ea"/>
            </a:endParaRPr>
          </a:p>
          <a:p>
            <a:pPr>
              <a:defRPr/>
            </a:pPr>
            <a:endParaRPr lang="zh-CN" altLang="en-US" dirty="0"/>
          </a:p>
        </p:txBody>
      </p:sp>
      <p:sp>
        <p:nvSpPr>
          <p:cNvPr id="30724" name="灯片编号占位符 3">
            <a:extLst>
              <a:ext uri="{FF2B5EF4-FFF2-40B4-BE49-F238E27FC236}">
                <a16:creationId xmlns:a16="http://schemas.microsoft.com/office/drawing/2014/main" id="{33C7D672-D512-AA0A-A728-2AF189C80E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AA31532-0B4F-4F36-B098-F344B02065A3}" type="slidenum">
              <a:rPr lang="zh-CN" altLang="en-US" sz="1200">
                <a:solidFill>
                  <a:schemeClr val="tx1"/>
                </a:solidFill>
                <a:latin typeface="Times New Roman" panose="02020603050405020304" pitchFamily="18" charset="0"/>
                <a:ea typeface="宋体" panose="02010600030101010101" pitchFamily="2" charset="-122"/>
              </a:rPr>
              <a:pPr/>
              <a:t>17</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7DDDBFE3-833C-52C6-7EDB-3B36081A7526}"/>
              </a:ext>
            </a:extLst>
          </p:cNvPr>
          <p:cNvSpPr>
            <a:spLocks noGrp="1" noRot="1" noChangeAspect="1" noChangeArrowheads="1" noTextEdit="1"/>
          </p:cNvSpPr>
          <p:nvPr>
            <p:ph type="sldImg"/>
          </p:nvPr>
        </p:nvSpPr>
        <p:spPr>
          <a:ln/>
        </p:spPr>
      </p:sp>
      <p:sp>
        <p:nvSpPr>
          <p:cNvPr id="33795" name="备注占位符 2">
            <a:extLst>
              <a:ext uri="{FF2B5EF4-FFF2-40B4-BE49-F238E27FC236}">
                <a16:creationId xmlns:a16="http://schemas.microsoft.com/office/drawing/2014/main" id="{14F6805C-767E-0357-F4AC-F657A8F278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a:t>EnQueue</a:t>
            </a:r>
            <a:r>
              <a:rPr kumimoji="1" lang="zh-CN" altLang="en-US"/>
              <a:t>：将活结点加入队列</a:t>
            </a:r>
            <a:r>
              <a:rPr kumimoji="1" lang="en-US" altLang="zh-CN"/>
              <a:t>Q</a:t>
            </a:r>
            <a:r>
              <a:rPr kumimoji="1" lang="zh-CN" altLang="en-US"/>
              <a:t>中</a:t>
            </a:r>
            <a:endParaRPr lang="zh-CN" altLang="en-US"/>
          </a:p>
        </p:txBody>
      </p:sp>
      <p:sp>
        <p:nvSpPr>
          <p:cNvPr id="33796" name="灯片编号占位符 3">
            <a:extLst>
              <a:ext uri="{FF2B5EF4-FFF2-40B4-BE49-F238E27FC236}">
                <a16:creationId xmlns:a16="http://schemas.microsoft.com/office/drawing/2014/main" id="{10CD8CF8-767A-0777-48D6-31A4EE497B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F9F4CA0D-3C57-4F22-A787-18392590507B}" type="slidenum">
              <a:rPr lang="zh-CN" altLang="en-US" sz="1200">
                <a:solidFill>
                  <a:schemeClr val="tx1"/>
                </a:solidFill>
                <a:latin typeface="Times New Roman" panose="02020603050405020304" pitchFamily="18" charset="0"/>
                <a:ea typeface="宋体" panose="02010600030101010101" pitchFamily="2" charset="-122"/>
              </a:rPr>
              <a:pPr/>
              <a:t>19</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B99451F1-9642-82E6-0C19-3D2A3E91FC98}"/>
              </a:ext>
            </a:extLst>
          </p:cNvPr>
          <p:cNvSpPr>
            <a:spLocks noGrp="1" noRot="1" noChangeAspect="1" noChangeArrowheads="1" noTextEdit="1"/>
          </p:cNvSpPr>
          <p:nvPr>
            <p:ph type="sldImg"/>
          </p:nvPr>
        </p:nvSpPr>
        <p:spPr>
          <a:ln/>
        </p:spPr>
      </p:sp>
      <p:sp>
        <p:nvSpPr>
          <p:cNvPr id="37891" name="备注占位符 2">
            <a:extLst>
              <a:ext uri="{FF2B5EF4-FFF2-40B4-BE49-F238E27FC236}">
                <a16:creationId xmlns:a16="http://schemas.microsoft.com/office/drawing/2014/main" id="{EF9302F0-227B-3CCA-AD7D-95102946EA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为什么回溯不需要？</a:t>
            </a:r>
          </a:p>
        </p:txBody>
      </p:sp>
      <p:sp>
        <p:nvSpPr>
          <p:cNvPr id="37892" name="灯片编号占位符 3">
            <a:extLst>
              <a:ext uri="{FF2B5EF4-FFF2-40B4-BE49-F238E27FC236}">
                <a16:creationId xmlns:a16="http://schemas.microsoft.com/office/drawing/2014/main" id="{5969A4AF-BD3B-0681-1D7D-2ADBBF20C1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3595185-3036-47DD-A54C-9357600B4E8D}" type="slidenum">
              <a:rPr lang="zh-CN" altLang="en-US" sz="1200">
                <a:solidFill>
                  <a:schemeClr val="tx1"/>
                </a:solidFill>
                <a:latin typeface="Times New Roman" panose="02020603050405020304" pitchFamily="18" charset="0"/>
                <a:ea typeface="宋体" panose="02010600030101010101" pitchFamily="2" charset="-122"/>
              </a:rPr>
              <a:pPr/>
              <a:t>22</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124BB06B-1203-B0B1-B042-D6AE7F6E72AE}"/>
              </a:ext>
            </a:extLst>
          </p:cNvPr>
          <p:cNvSpPr>
            <a:spLocks noGrp="1" noRot="1" noChangeAspect="1" noChangeArrowheads="1" noTextEdit="1"/>
          </p:cNvSpPr>
          <p:nvPr>
            <p:ph type="sldImg"/>
          </p:nvPr>
        </p:nvSpPr>
        <p:spPr>
          <a:ln/>
        </p:spPr>
      </p:sp>
      <p:sp>
        <p:nvSpPr>
          <p:cNvPr id="39939" name="备注占位符 2">
            <a:extLst>
              <a:ext uri="{FF2B5EF4-FFF2-40B4-BE49-F238E27FC236}">
                <a16:creationId xmlns:a16="http://schemas.microsoft.com/office/drawing/2014/main" id="{2EB7F468-69A9-969E-6715-50667BDAF7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40" name="灯片编号占位符 3">
            <a:extLst>
              <a:ext uri="{FF2B5EF4-FFF2-40B4-BE49-F238E27FC236}">
                <a16:creationId xmlns:a16="http://schemas.microsoft.com/office/drawing/2014/main" id="{25A8F0DD-C9C1-5AD5-BD8C-AB0B8273CC3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AFC05EF-44B3-408B-A4AC-4743C129D61F}" type="slidenum">
              <a:rPr lang="zh-CN" altLang="en-US" sz="1200">
                <a:solidFill>
                  <a:schemeClr val="tx1"/>
                </a:solidFill>
                <a:latin typeface="Times New Roman" panose="02020603050405020304" pitchFamily="18" charset="0"/>
                <a:ea typeface="宋体" panose="02010600030101010101" pitchFamily="2" charset="-122"/>
              </a:rPr>
              <a:pPr/>
              <a:t>23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5E73F697-F672-D72F-2C3B-16ACACB9A2AF}"/>
              </a:ext>
            </a:extLst>
          </p:cNvPr>
          <p:cNvSpPr>
            <a:spLocks noGrp="1" noRot="1" noChangeAspect="1" noChangeArrowheads="1" noTextEdit="1"/>
          </p:cNvSpPr>
          <p:nvPr>
            <p:ph type="sldImg"/>
          </p:nvPr>
        </p:nvSpPr>
        <p:spPr>
          <a:ln/>
        </p:spPr>
      </p:sp>
      <p:sp>
        <p:nvSpPr>
          <p:cNvPr id="49155" name="备注占位符 2">
            <a:extLst>
              <a:ext uri="{FF2B5EF4-FFF2-40B4-BE49-F238E27FC236}">
                <a16:creationId xmlns:a16="http://schemas.microsoft.com/office/drawing/2014/main" id="{14B50337-E821-C83F-5AFC-31D9087514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6" name="灯片编号占位符 3">
            <a:extLst>
              <a:ext uri="{FF2B5EF4-FFF2-40B4-BE49-F238E27FC236}">
                <a16:creationId xmlns:a16="http://schemas.microsoft.com/office/drawing/2014/main" id="{5A5ED83D-3F4D-0B76-2EA1-9B31B20CD5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167E056E-239B-40A2-93DA-E1C1536BC50C}" type="slidenum">
              <a:rPr lang="zh-CN" altLang="en-US" sz="1200">
                <a:solidFill>
                  <a:schemeClr val="tx1"/>
                </a:solidFill>
                <a:latin typeface="Times New Roman" panose="02020603050405020304" pitchFamily="18" charset="0"/>
                <a:ea typeface="宋体" panose="02010600030101010101" pitchFamily="2" charset="-122"/>
              </a:rPr>
              <a:pPr/>
              <a:t>31</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0B9EF1E2-7136-F8B8-1B1D-83E17FE30644}"/>
              </a:ext>
            </a:extLst>
          </p:cNvPr>
          <p:cNvSpPr>
            <a:spLocks noGrp="1" noRot="1" noChangeAspect="1" noChangeArrowheads="1" noTextEdit="1"/>
          </p:cNvSpPr>
          <p:nvPr>
            <p:ph type="sldImg"/>
          </p:nvPr>
        </p:nvSpPr>
        <p:spPr>
          <a:ln/>
        </p:spPr>
      </p:sp>
      <p:sp>
        <p:nvSpPr>
          <p:cNvPr id="59395" name="备注占位符 2">
            <a:extLst>
              <a:ext uri="{FF2B5EF4-FFF2-40B4-BE49-F238E27FC236}">
                <a16:creationId xmlns:a16="http://schemas.microsoft.com/office/drawing/2014/main" id="{9EE92D2F-F999-996A-B3AF-96FE15E372E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优先队列是按照某种优先级进行排列的队列</a:t>
            </a:r>
            <a:r>
              <a:rPr lang="en-US" altLang="zh-CN"/>
              <a:t>,</a:t>
            </a:r>
            <a:r>
              <a:rPr lang="zh-CN" altLang="en-US"/>
              <a:t>优先级越高的元素出队越早</a:t>
            </a:r>
            <a:r>
              <a:rPr lang="en-US" altLang="zh-CN"/>
              <a:t>,</a:t>
            </a:r>
            <a:r>
              <a:rPr lang="zh-CN" altLang="en-US"/>
              <a:t>优先级相同者按照先进先出的原则进行处理</a:t>
            </a:r>
          </a:p>
        </p:txBody>
      </p:sp>
      <p:sp>
        <p:nvSpPr>
          <p:cNvPr id="59396" name="灯片编号占位符 3">
            <a:extLst>
              <a:ext uri="{FF2B5EF4-FFF2-40B4-BE49-F238E27FC236}">
                <a16:creationId xmlns:a16="http://schemas.microsoft.com/office/drawing/2014/main" id="{FED6C6E5-5DBD-E7D4-2DC5-CB7C72FBB7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DA81585-01DD-46B5-AB6B-05DDA80F1A5B}" type="slidenum">
              <a:rPr lang="zh-CN" altLang="en-US" sz="1200">
                <a:solidFill>
                  <a:schemeClr val="tx1"/>
                </a:solidFill>
                <a:latin typeface="Times New Roman" panose="02020603050405020304" pitchFamily="18" charset="0"/>
                <a:ea typeface="宋体" panose="02010600030101010101" pitchFamily="2" charset="-122"/>
              </a:rPr>
              <a:pPr/>
              <a:t>40</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DB434932-AC2D-077F-3383-47FFB040BBE5}"/>
              </a:ext>
            </a:extLst>
          </p:cNvPr>
          <p:cNvSpPr>
            <a:spLocks noGrp="1" noRot="1" noChangeAspect="1" noChangeArrowheads="1" noTextEdit="1"/>
          </p:cNvSpPr>
          <p:nvPr>
            <p:ph type="sldImg"/>
          </p:nvPr>
        </p:nvSpPr>
        <p:spPr>
          <a:ln/>
        </p:spPr>
      </p:sp>
      <p:sp>
        <p:nvSpPr>
          <p:cNvPr id="62467" name="备注占位符 2">
            <a:extLst>
              <a:ext uri="{FF2B5EF4-FFF2-40B4-BE49-F238E27FC236}">
                <a16:creationId xmlns:a16="http://schemas.microsoft.com/office/drawing/2014/main" id="{82132C20-5890-BB0E-F889-D0AA866141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分支限界法的优势在于通过‌</a:t>
            </a:r>
            <a:r>
              <a:rPr lang="zh-CN" altLang="en-US" b="1"/>
              <a:t>限界函数动态剪枝</a:t>
            </a:r>
            <a:r>
              <a:rPr lang="zh-CN" altLang="en-US"/>
              <a:t>‌，平均效率通常优于回溯法和穷举法，但其最坏时间复杂度仍为指数级。算法的实际性能高度依赖于问题特性与限界函数设计</a:t>
            </a:r>
          </a:p>
        </p:txBody>
      </p:sp>
      <p:sp>
        <p:nvSpPr>
          <p:cNvPr id="62468" name="灯片编号占位符 3">
            <a:extLst>
              <a:ext uri="{FF2B5EF4-FFF2-40B4-BE49-F238E27FC236}">
                <a16:creationId xmlns:a16="http://schemas.microsoft.com/office/drawing/2014/main" id="{DC8312D5-E6B7-1670-4F66-3908CDA4E6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D1EE0F11-C546-444C-87A3-B54C78C95D16}" type="slidenum">
              <a:rPr lang="zh-CN" altLang="en-US" sz="1200">
                <a:solidFill>
                  <a:schemeClr val="tx1"/>
                </a:solidFill>
                <a:latin typeface="Times New Roman" panose="02020603050405020304" pitchFamily="18" charset="0"/>
                <a:ea typeface="宋体" panose="02010600030101010101" pitchFamily="2" charset="-122"/>
              </a:rPr>
              <a:pPr/>
              <a:t>42</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DF838085-D15B-2A92-3FD2-6E781FF42F1D}"/>
              </a:ext>
            </a:extLst>
          </p:cNvPr>
          <p:cNvSpPr>
            <a:spLocks noGrp="1" noRot="1" noChangeAspect="1" noChangeArrowheads="1" noTextEdit="1"/>
          </p:cNvSpPr>
          <p:nvPr>
            <p:ph type="sldImg"/>
          </p:nvPr>
        </p:nvSpPr>
        <p:spPr>
          <a:ln/>
        </p:spPr>
      </p:sp>
      <p:sp>
        <p:nvSpPr>
          <p:cNvPr id="64515" name="备注占位符 2">
            <a:extLst>
              <a:ext uri="{FF2B5EF4-FFF2-40B4-BE49-F238E27FC236}">
                <a16:creationId xmlns:a16="http://schemas.microsoft.com/office/drawing/2014/main" id="{2B31FBE0-BF52-0321-9561-1680A0C7C4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buClr>
                <a:schemeClr val="accent1"/>
              </a:buClr>
              <a:buSzPct val="65000"/>
              <a:buFont typeface="Wingdings" panose="05000000000000000000" pitchFamily="2" charset="2"/>
              <a:buChar char="n"/>
            </a:pPr>
            <a:r>
              <a:rPr lang="zh-CN" altLang="en-US">
                <a:latin typeface="楷体_GB2312" pitchFamily="49" charset="-122"/>
              </a:rPr>
              <a:t>路线是一个带权图。图中各边的费用（权）为正数。图的一条周游路线是包括</a:t>
            </a:r>
            <a:r>
              <a:rPr lang="en-US" altLang="zh-CN">
                <a:latin typeface="楷体_GB2312" pitchFamily="49" charset="-122"/>
              </a:rPr>
              <a:t>V</a:t>
            </a:r>
            <a:r>
              <a:rPr lang="zh-CN" altLang="en-US">
                <a:latin typeface="楷体_GB2312" pitchFamily="49" charset="-122"/>
              </a:rPr>
              <a:t>中的每个顶点在内的一条回路。周游路线的费用是这条路线上所有边的费用之和。</a:t>
            </a:r>
          </a:p>
          <a:p>
            <a:pPr eaLnBrk="1" hangingPunct="1">
              <a:spcBef>
                <a:spcPct val="50000"/>
              </a:spcBef>
              <a:buClr>
                <a:schemeClr val="accent1"/>
              </a:buClr>
              <a:buSzPct val="65000"/>
              <a:buFont typeface="Wingdings" panose="05000000000000000000" pitchFamily="2" charset="2"/>
              <a:buChar char="n"/>
            </a:pPr>
            <a:r>
              <a:rPr lang="zh-CN" altLang="en-US">
                <a:latin typeface="楷体_GB2312" pitchFamily="49" charset="-122"/>
              </a:rPr>
              <a:t>旅行售货员问题的解空间可以组织成一棵树，从树的根结点到任一叶结点的路径定义了图的一条周游路线。旅行售货员问题要在图</a:t>
            </a:r>
            <a:r>
              <a:rPr lang="en-US" altLang="zh-CN">
                <a:latin typeface="楷体_GB2312" pitchFamily="49" charset="-122"/>
              </a:rPr>
              <a:t>G</a:t>
            </a:r>
            <a:r>
              <a:rPr lang="zh-CN" altLang="en-US">
                <a:latin typeface="楷体_GB2312" pitchFamily="49" charset="-122"/>
              </a:rPr>
              <a:t>中找出费用最小的周游路线。</a:t>
            </a:r>
            <a:endParaRPr lang="en-US" altLang="zh-CN">
              <a:latin typeface="楷体_GB2312" pitchFamily="49" charset="-122"/>
            </a:endParaRPr>
          </a:p>
          <a:p>
            <a:endParaRPr lang="zh-CN" altLang="en-US"/>
          </a:p>
        </p:txBody>
      </p:sp>
      <p:sp>
        <p:nvSpPr>
          <p:cNvPr id="64516" name="灯片编号占位符 3">
            <a:extLst>
              <a:ext uri="{FF2B5EF4-FFF2-40B4-BE49-F238E27FC236}">
                <a16:creationId xmlns:a16="http://schemas.microsoft.com/office/drawing/2014/main" id="{EF2B6F4D-91FD-339A-C193-54C6B9C672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91D8D63-AFF8-491E-A0DD-51AB3D6662F3}" type="slidenum">
              <a:rPr lang="zh-CN" altLang="en-US" sz="1200">
                <a:solidFill>
                  <a:schemeClr val="tx1"/>
                </a:solidFill>
                <a:latin typeface="Times New Roman" panose="02020603050405020304" pitchFamily="18" charset="0"/>
                <a:ea typeface="宋体" panose="02010600030101010101" pitchFamily="2" charset="-122"/>
              </a:rPr>
              <a:pPr/>
              <a:t>43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D0D6FD30-B9B2-FB2F-DC70-983ED5E22CC1}"/>
              </a:ext>
            </a:extLst>
          </p:cNvPr>
          <p:cNvSpPr>
            <a:spLocks noGrp="1" noRot="1" noChangeAspect="1" noChangeArrowheads="1" noTextEdit="1"/>
          </p:cNvSpPr>
          <p:nvPr>
            <p:ph type="sldImg"/>
          </p:nvPr>
        </p:nvSpPr>
        <p:spPr>
          <a:ln/>
        </p:spPr>
      </p:sp>
      <p:sp>
        <p:nvSpPr>
          <p:cNvPr id="70659" name="备注占位符 2">
            <a:extLst>
              <a:ext uri="{FF2B5EF4-FFF2-40B4-BE49-F238E27FC236}">
                <a16:creationId xmlns:a16="http://schemas.microsoft.com/office/drawing/2014/main" id="{C6533ECB-8574-D1C4-A4E1-4D85AFAE7FE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t>保留 </a:t>
            </a:r>
            <a:r>
              <a:rPr lang="en-US" altLang="zh-CN" b="1"/>
              <a:t>Min == NoEdge</a:t>
            </a:r>
            <a:r>
              <a:rPr lang="zh-CN" altLang="en-US"/>
              <a:t>：</a:t>
            </a:r>
            <a:r>
              <a:rPr lang="zh-CN" altLang="en-US" b="1"/>
              <a:t>最健壮</a:t>
            </a:r>
            <a:r>
              <a:rPr lang="zh-CN" altLang="en-US"/>
              <a:t>的写法，适用于任何 </a:t>
            </a:r>
            <a:r>
              <a:rPr lang="en-US" altLang="zh-CN"/>
              <a:t>NoEdge </a:t>
            </a:r>
            <a:r>
              <a:rPr lang="zh-CN" altLang="en-US"/>
              <a:t>的实现。</a:t>
            </a:r>
          </a:p>
          <a:p>
            <a:r>
              <a:rPr lang="zh-CN" altLang="en-US" b="1"/>
              <a:t>去掉 </a:t>
            </a:r>
            <a:r>
              <a:rPr lang="en-US" altLang="zh-CN" b="1"/>
              <a:t>Min == NoEdge</a:t>
            </a:r>
            <a:r>
              <a:rPr lang="zh-CN" altLang="en-US"/>
              <a:t>：需额外</a:t>
            </a:r>
            <a:r>
              <a:rPr lang="zh-CN" altLang="en-US" b="1"/>
              <a:t>初始化 </a:t>
            </a:r>
            <a:r>
              <a:rPr lang="en-US" altLang="zh-CN" b="1"/>
              <a:t>Min </a:t>
            </a:r>
            <a:r>
              <a:rPr lang="zh-CN" altLang="en-US" b="1"/>
              <a:t>为极大值</a:t>
            </a:r>
            <a:r>
              <a:rPr lang="zh-CN" altLang="en-US"/>
              <a:t>，并确保比较逻辑安全，否则会引入错误。</a:t>
            </a:r>
          </a:p>
          <a:p>
            <a:endParaRPr lang="zh-CN" altLang="en-US"/>
          </a:p>
        </p:txBody>
      </p:sp>
      <p:sp>
        <p:nvSpPr>
          <p:cNvPr id="70660" name="灯片编号占位符 3">
            <a:extLst>
              <a:ext uri="{FF2B5EF4-FFF2-40B4-BE49-F238E27FC236}">
                <a16:creationId xmlns:a16="http://schemas.microsoft.com/office/drawing/2014/main" id="{916B9D91-5EDE-B815-4E0A-C6962397DD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E7A90A1-C54B-4BBB-8ECD-845FD08680A3}" type="slidenum">
              <a:rPr lang="zh-CN" altLang="en-US" sz="1200">
                <a:solidFill>
                  <a:schemeClr val="tx1"/>
                </a:solidFill>
                <a:latin typeface="Times New Roman" panose="02020603050405020304" pitchFamily="18" charset="0"/>
                <a:ea typeface="宋体" panose="02010600030101010101" pitchFamily="2" charset="-122"/>
              </a:rPr>
              <a:pPr/>
              <a:t>48</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a:extLst>
              <a:ext uri="{FF2B5EF4-FFF2-40B4-BE49-F238E27FC236}">
                <a16:creationId xmlns:a16="http://schemas.microsoft.com/office/drawing/2014/main" id="{3D80FF63-5A68-CAC9-A8B9-09CE4E9636B5}"/>
              </a:ext>
            </a:extLst>
          </p:cNvPr>
          <p:cNvSpPr>
            <a:spLocks noGrp="1" noRot="1" noChangeAspect="1" noChangeArrowheads="1" noTextEdit="1"/>
          </p:cNvSpPr>
          <p:nvPr>
            <p:ph type="sldImg"/>
          </p:nvPr>
        </p:nvSpPr>
        <p:spPr>
          <a:ln/>
        </p:spPr>
      </p:sp>
      <p:sp>
        <p:nvSpPr>
          <p:cNvPr id="77827" name="备注占位符 2">
            <a:extLst>
              <a:ext uri="{FF2B5EF4-FFF2-40B4-BE49-F238E27FC236}">
                <a16:creationId xmlns:a16="http://schemas.microsoft.com/office/drawing/2014/main" id="{D1A12DF5-914F-B128-6844-AA35668B0F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通过 </a:t>
            </a:r>
            <a:r>
              <a:rPr lang="en-US" altLang="zh-CN"/>
              <a:t>try-catch </a:t>
            </a:r>
            <a:r>
              <a:rPr lang="zh-CN" altLang="en-US"/>
              <a:t>确保队列空时正常退出，避免访问无效内存</a:t>
            </a:r>
          </a:p>
        </p:txBody>
      </p:sp>
      <p:sp>
        <p:nvSpPr>
          <p:cNvPr id="77828" name="灯片编号占位符 3">
            <a:extLst>
              <a:ext uri="{FF2B5EF4-FFF2-40B4-BE49-F238E27FC236}">
                <a16:creationId xmlns:a16="http://schemas.microsoft.com/office/drawing/2014/main" id="{AE9671B6-A2A8-B141-7301-351FE146BD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D51B16A-40D9-433D-94D3-C5C869D8246E}" type="slidenum">
              <a:rPr lang="zh-CN" altLang="en-US" sz="1200">
                <a:solidFill>
                  <a:schemeClr val="tx1"/>
                </a:solidFill>
                <a:latin typeface="Times New Roman" panose="02020603050405020304" pitchFamily="18" charset="0"/>
                <a:ea typeface="宋体" panose="02010600030101010101" pitchFamily="2" charset="-122"/>
              </a:rPr>
              <a:pPr/>
              <a:t>54</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BCE17805-860F-F1EE-E34F-A483B24462A5}"/>
              </a:ext>
            </a:extLst>
          </p:cNvPr>
          <p:cNvSpPr>
            <a:spLocks noChangeArrowheads="1"/>
          </p:cNvSpPr>
          <p:nvPr/>
        </p:nvSpPr>
        <p:spPr bwMode="auto">
          <a:xfrm>
            <a:off x="3886200" y="0"/>
            <a:ext cx="29718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p>
        </p:txBody>
      </p:sp>
      <p:sp>
        <p:nvSpPr>
          <p:cNvPr id="79875" name="Rectangle 3">
            <a:extLst>
              <a:ext uri="{FF2B5EF4-FFF2-40B4-BE49-F238E27FC236}">
                <a16:creationId xmlns:a16="http://schemas.microsoft.com/office/drawing/2014/main" id="{31DA709F-E035-1AD0-FBED-B988728BF00C}"/>
              </a:ext>
            </a:extLst>
          </p:cNvPr>
          <p:cNvSpPr>
            <a:spLocks noChangeArrowheads="1"/>
          </p:cNvSpPr>
          <p:nvPr/>
        </p:nvSpPr>
        <p:spPr bwMode="auto">
          <a:xfrm>
            <a:off x="3886200" y="9450388"/>
            <a:ext cx="29718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r">
              <a:spcBef>
                <a:spcPct val="20000"/>
              </a:spcBef>
              <a:buClr>
                <a:schemeClr val="accent1"/>
              </a:buClr>
              <a:buSzPct val="65000"/>
              <a:buFont typeface="Wingdings" panose="05000000000000000000" pitchFamily="2" charset="2"/>
              <a:buChar char="n"/>
            </a:pPr>
            <a:r>
              <a:rPr lang="en-US" altLang="zh-CN" sz="1200"/>
              <a:t>25</a:t>
            </a:r>
          </a:p>
        </p:txBody>
      </p:sp>
      <p:sp>
        <p:nvSpPr>
          <p:cNvPr id="79876" name="Rectangle 4">
            <a:extLst>
              <a:ext uri="{FF2B5EF4-FFF2-40B4-BE49-F238E27FC236}">
                <a16:creationId xmlns:a16="http://schemas.microsoft.com/office/drawing/2014/main" id="{8603E35C-058E-9C35-9033-51BA8D5525C9}"/>
              </a:ext>
            </a:extLst>
          </p:cNvPr>
          <p:cNvSpPr>
            <a:spLocks noChangeArrowheads="1"/>
          </p:cNvSpPr>
          <p:nvPr/>
        </p:nvSpPr>
        <p:spPr bwMode="auto">
          <a:xfrm>
            <a:off x="0" y="9450388"/>
            <a:ext cx="29718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p>
        </p:txBody>
      </p:sp>
      <p:sp>
        <p:nvSpPr>
          <p:cNvPr id="79877" name="Rectangle 5">
            <a:extLst>
              <a:ext uri="{FF2B5EF4-FFF2-40B4-BE49-F238E27FC236}">
                <a16:creationId xmlns:a16="http://schemas.microsoft.com/office/drawing/2014/main" id="{50598B80-3379-B542-212F-524DBABC31C1}"/>
              </a:ext>
            </a:extLst>
          </p:cNvPr>
          <p:cNvSpPr>
            <a:spLocks noChangeArrowheads="1"/>
          </p:cNvSpPr>
          <p:nvPr/>
        </p:nvSpPr>
        <p:spPr bwMode="auto">
          <a:xfrm>
            <a:off x="0" y="0"/>
            <a:ext cx="29718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p>
        </p:txBody>
      </p:sp>
      <p:sp>
        <p:nvSpPr>
          <p:cNvPr id="79878" name="Rectangle 6">
            <a:extLst>
              <a:ext uri="{FF2B5EF4-FFF2-40B4-BE49-F238E27FC236}">
                <a16:creationId xmlns:a16="http://schemas.microsoft.com/office/drawing/2014/main" id="{5B3DF86A-DC35-D052-00A0-A243F5711640}"/>
              </a:ext>
            </a:extLst>
          </p:cNvPr>
          <p:cNvSpPr>
            <a:spLocks noGrp="1" noRot="1" noChangeAspect="1" noChangeArrowheads="1" noTextEdit="1"/>
          </p:cNvSpPr>
          <p:nvPr>
            <p:ph type="sldImg"/>
          </p:nvPr>
        </p:nvSpPr>
        <p:spPr>
          <a:xfrm>
            <a:off x="952500" y="752475"/>
            <a:ext cx="4953000" cy="3716338"/>
          </a:xfrm>
          <a:ln cap="flat"/>
        </p:spPr>
      </p:sp>
      <p:sp>
        <p:nvSpPr>
          <p:cNvPr id="79879" name="Rectangle 7">
            <a:extLst>
              <a:ext uri="{FF2B5EF4-FFF2-40B4-BE49-F238E27FC236}">
                <a16:creationId xmlns:a16="http://schemas.microsoft.com/office/drawing/2014/main" id="{A15117E3-DABF-856D-5802-CCE7A27E93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第一步：访问结点</a:t>
            </a:r>
            <a:r>
              <a:rPr lang="en-US" altLang="zh-CN" dirty="0"/>
              <a:t>A</a:t>
            </a:r>
            <a:r>
              <a:rPr lang="zh-CN" altLang="en-US" dirty="0"/>
              <a:t>。并将子结点</a:t>
            </a:r>
            <a:r>
              <a:rPr lang="en-US" altLang="zh-CN" dirty="0"/>
              <a:t>B</a:t>
            </a:r>
            <a:r>
              <a:rPr lang="zh-CN" altLang="en-US" dirty="0"/>
              <a:t>、</a:t>
            </a:r>
            <a:r>
              <a:rPr lang="en-US" altLang="zh-CN" dirty="0"/>
              <a:t>C</a:t>
            </a:r>
            <a:r>
              <a:rPr lang="zh-CN" altLang="en-US" dirty="0"/>
              <a:t>、</a:t>
            </a:r>
            <a:r>
              <a:rPr lang="en-US" altLang="zh-CN" dirty="0"/>
              <a:t>D</a:t>
            </a:r>
            <a:r>
              <a:rPr lang="zh-CN" altLang="en-US" dirty="0"/>
              <a:t>放入优先队列</a:t>
            </a:r>
            <a:endParaRPr lang="en-US" altLang="zh-CN" dirty="0"/>
          </a:p>
          <a:p>
            <a:endParaRPr lang="en-US" altLang="zh-CN" dirty="0"/>
          </a:p>
          <a:p>
            <a:r>
              <a:rPr lang="zh-CN" altLang="en-US" dirty="0"/>
              <a:t>第二步：从队列中取出最小</a:t>
            </a:r>
            <a:r>
              <a:rPr lang="en-US" altLang="zh-CN" dirty="0" err="1"/>
              <a:t>lcost</a:t>
            </a:r>
            <a:r>
              <a:rPr lang="zh-CN" altLang="en-US" dirty="0"/>
              <a:t>结点，即访问</a:t>
            </a:r>
            <a:r>
              <a:rPr lang="en-US" altLang="zh-CN" dirty="0"/>
              <a:t>D</a:t>
            </a:r>
            <a:r>
              <a:rPr lang="zh-CN" altLang="en-US" dirty="0"/>
              <a:t>。并将子结点</a:t>
            </a:r>
            <a:r>
              <a:rPr lang="en-US" altLang="zh-CN" dirty="0"/>
              <a:t>I</a:t>
            </a:r>
            <a:r>
              <a:rPr lang="zh-CN" altLang="en-US" dirty="0"/>
              <a:t>、</a:t>
            </a:r>
            <a:r>
              <a:rPr lang="en-US" altLang="zh-CN" dirty="0"/>
              <a:t>J</a:t>
            </a:r>
            <a:r>
              <a:rPr lang="zh-CN" altLang="en-US" dirty="0"/>
              <a:t>放入优先队列</a:t>
            </a:r>
            <a:endParaRPr lang="en-US" altLang="zh-CN" dirty="0"/>
          </a:p>
          <a:p>
            <a:endParaRPr lang="en-US" altLang="zh-CN" dirty="0"/>
          </a:p>
          <a:p>
            <a:r>
              <a:rPr lang="zh-CN" altLang="en-US" dirty="0"/>
              <a:t>第三步：从队列中取出最小</a:t>
            </a:r>
            <a:r>
              <a:rPr lang="en-US" altLang="zh-CN" dirty="0" err="1"/>
              <a:t>lcost</a:t>
            </a:r>
            <a:r>
              <a:rPr lang="zh-CN" altLang="en-US" dirty="0"/>
              <a:t>结点，即访问</a:t>
            </a:r>
            <a:r>
              <a:rPr lang="en-US" altLang="zh-CN" dirty="0"/>
              <a:t>C</a:t>
            </a:r>
            <a:r>
              <a:rPr lang="zh-CN" altLang="en-US" dirty="0"/>
              <a:t>。并将子结点</a:t>
            </a:r>
            <a:r>
              <a:rPr lang="en-US" altLang="zh-CN" dirty="0"/>
              <a:t>G</a:t>
            </a:r>
            <a:r>
              <a:rPr lang="zh-CN" altLang="en-US" dirty="0"/>
              <a:t>、</a:t>
            </a:r>
            <a:r>
              <a:rPr lang="en-US" altLang="zh-CN" dirty="0"/>
              <a:t>H</a:t>
            </a:r>
            <a:r>
              <a:rPr lang="zh-CN" altLang="en-US" dirty="0"/>
              <a:t>放入优先队列</a:t>
            </a:r>
            <a:endParaRPr lang="en-US" altLang="zh-CN" dirty="0"/>
          </a:p>
          <a:p>
            <a:endParaRPr lang="en-US" altLang="zh-CN" dirty="0"/>
          </a:p>
          <a:p>
            <a:r>
              <a:rPr lang="zh-CN" altLang="en-US" dirty="0"/>
              <a:t>第四步：从队列中取出最小</a:t>
            </a:r>
            <a:r>
              <a:rPr lang="en-US" altLang="zh-CN" dirty="0" err="1"/>
              <a:t>lcost</a:t>
            </a:r>
            <a:r>
              <a:rPr lang="zh-CN" altLang="en-US" dirty="0"/>
              <a:t>结点，即访问</a:t>
            </a:r>
            <a:r>
              <a:rPr lang="en-US" altLang="zh-CN" dirty="0"/>
              <a:t>G</a:t>
            </a:r>
            <a:r>
              <a:rPr lang="zh-CN" altLang="en-US" dirty="0"/>
              <a:t>。计算对应的回路花费：</a:t>
            </a:r>
            <a:r>
              <a:rPr lang="en-US" altLang="zh-CN" dirty="0"/>
              <a:t>25   </a:t>
            </a:r>
            <a:r>
              <a:rPr lang="zh-CN" altLang="en-US" dirty="0"/>
              <a:t>，将叶子结点</a:t>
            </a:r>
            <a:r>
              <a:rPr lang="en-US" altLang="zh-CN" dirty="0"/>
              <a:t>M</a:t>
            </a:r>
            <a:r>
              <a:rPr lang="zh-CN" altLang="en-US" dirty="0"/>
              <a:t>放回优先队列</a:t>
            </a:r>
            <a:endParaRPr lang="en-US" altLang="zh-CN" dirty="0"/>
          </a:p>
          <a:p>
            <a:endParaRPr lang="en-US" altLang="zh-CN" dirty="0"/>
          </a:p>
          <a:p>
            <a:r>
              <a:rPr lang="zh-CN" altLang="en-US" dirty="0"/>
              <a:t>第五步：从队列中取出最小</a:t>
            </a:r>
            <a:r>
              <a:rPr lang="en-US" altLang="zh-CN" dirty="0" err="1"/>
              <a:t>lcost</a:t>
            </a:r>
            <a:r>
              <a:rPr lang="zh-CN" altLang="en-US" dirty="0"/>
              <a:t>结点，即访问</a:t>
            </a:r>
            <a:r>
              <a:rPr lang="en-US" altLang="zh-CN" dirty="0"/>
              <a:t>I</a:t>
            </a:r>
            <a:r>
              <a:rPr lang="zh-CN" altLang="en-US" dirty="0"/>
              <a:t>。计算对应的回路花费：</a:t>
            </a:r>
            <a:r>
              <a:rPr lang="en-US" altLang="zh-CN" dirty="0"/>
              <a:t>25</a:t>
            </a:r>
            <a:r>
              <a:rPr lang="zh-CN" altLang="en-US" dirty="0"/>
              <a:t>，与当前最小回路花费相等，无需更新最小回路花费</a:t>
            </a:r>
            <a:r>
              <a:rPr lang="en-US" altLang="zh-CN" dirty="0"/>
              <a:t>  </a:t>
            </a:r>
          </a:p>
          <a:p>
            <a:endParaRPr lang="en-US" altLang="zh-CN" dirty="0"/>
          </a:p>
          <a:p>
            <a:r>
              <a:rPr lang="zh-CN" altLang="en-US" dirty="0"/>
              <a:t>第六步：从队列中取出最小</a:t>
            </a:r>
            <a:r>
              <a:rPr lang="en-US" altLang="zh-CN" dirty="0" err="1"/>
              <a:t>lcost</a:t>
            </a:r>
            <a:r>
              <a:rPr lang="zh-CN" altLang="en-US" dirty="0"/>
              <a:t>结点，即访问</a:t>
            </a:r>
            <a:r>
              <a:rPr lang="en-US" altLang="zh-CN" dirty="0"/>
              <a:t>M</a:t>
            </a:r>
            <a:r>
              <a:rPr lang="zh-CN" altLang="en-US" dirty="0"/>
              <a:t>，此时结点</a:t>
            </a:r>
            <a:r>
              <a:rPr lang="en-US" altLang="zh-CN" dirty="0"/>
              <a:t>M</a:t>
            </a:r>
            <a:r>
              <a:rPr lang="zh-CN" altLang="en-US" dirty="0"/>
              <a:t>的层数（</a:t>
            </a:r>
            <a:r>
              <a:rPr lang="en-US" altLang="zh-CN" dirty="0"/>
              <a:t>E.s</a:t>
            </a:r>
            <a:r>
              <a:rPr lang="zh-CN" altLang="en-US" dirty="0"/>
              <a:t>）为</a:t>
            </a:r>
            <a:r>
              <a:rPr lang="en-US" altLang="zh-CN" dirty="0"/>
              <a:t>n-1</a:t>
            </a:r>
            <a:r>
              <a:rPr lang="zh-CN" altLang="en-US" dirty="0"/>
              <a:t>，触发循环终止条件，队列中其他结点的</a:t>
            </a:r>
            <a:r>
              <a:rPr lang="en-US" altLang="zh-CN" dirty="0" err="1"/>
              <a:t>lcost</a:t>
            </a:r>
            <a:r>
              <a:rPr lang="zh-CN" altLang="en-US" dirty="0"/>
              <a:t>大于当前最小回路花费</a:t>
            </a:r>
            <a:r>
              <a:rPr lang="en-US" altLang="zh-CN" dirty="0"/>
              <a:t>(</a:t>
            </a:r>
            <a:r>
              <a:rPr lang="en-US" altLang="zh-CN" dirty="0" err="1"/>
              <a:t>bestc</a:t>
            </a:r>
            <a:r>
              <a:rPr lang="en-US" altLang="zh-CN" dirty="0"/>
              <a:t>)</a:t>
            </a:r>
            <a:r>
              <a:rPr lang="zh-CN" altLang="en-US" dirty="0"/>
              <a:t>，相当于被剪枝</a:t>
            </a:r>
            <a:endParaRPr lang="zh-CN" altLang="zh-CN" dirty="0"/>
          </a:p>
          <a:p>
            <a:endParaRPr lang="zh-CN" altLang="zh-CN" dirty="0"/>
          </a:p>
          <a:p>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F4F9AB52-06B5-C03A-935B-20596F0F4B03}"/>
              </a:ext>
            </a:extLst>
          </p:cNvPr>
          <p:cNvSpPr>
            <a:spLocks noChangeArrowheads="1"/>
          </p:cNvSpPr>
          <p:nvPr/>
        </p:nvSpPr>
        <p:spPr bwMode="auto">
          <a:xfrm>
            <a:off x="3886200" y="0"/>
            <a:ext cx="29718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p>
        </p:txBody>
      </p:sp>
      <p:sp>
        <p:nvSpPr>
          <p:cNvPr id="81923" name="Rectangle 3">
            <a:extLst>
              <a:ext uri="{FF2B5EF4-FFF2-40B4-BE49-F238E27FC236}">
                <a16:creationId xmlns:a16="http://schemas.microsoft.com/office/drawing/2014/main" id="{B134DE2F-1AC4-51AC-D66C-3A6CF014F84B}"/>
              </a:ext>
            </a:extLst>
          </p:cNvPr>
          <p:cNvSpPr>
            <a:spLocks noChangeArrowheads="1"/>
          </p:cNvSpPr>
          <p:nvPr/>
        </p:nvSpPr>
        <p:spPr bwMode="auto">
          <a:xfrm>
            <a:off x="3886200" y="9450388"/>
            <a:ext cx="29718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r">
              <a:spcBef>
                <a:spcPct val="20000"/>
              </a:spcBef>
              <a:buClr>
                <a:schemeClr val="accent1"/>
              </a:buClr>
              <a:buSzPct val="65000"/>
              <a:buFont typeface="Wingdings" panose="05000000000000000000" pitchFamily="2" charset="2"/>
              <a:buChar char="n"/>
            </a:pPr>
            <a:r>
              <a:rPr lang="en-US" altLang="zh-CN" sz="1200"/>
              <a:t>25</a:t>
            </a:r>
          </a:p>
        </p:txBody>
      </p:sp>
      <p:sp>
        <p:nvSpPr>
          <p:cNvPr id="81924" name="Rectangle 4">
            <a:extLst>
              <a:ext uri="{FF2B5EF4-FFF2-40B4-BE49-F238E27FC236}">
                <a16:creationId xmlns:a16="http://schemas.microsoft.com/office/drawing/2014/main" id="{A3318CA4-8CA7-52E7-9A08-A7086768A6F4}"/>
              </a:ext>
            </a:extLst>
          </p:cNvPr>
          <p:cNvSpPr>
            <a:spLocks noChangeArrowheads="1"/>
          </p:cNvSpPr>
          <p:nvPr/>
        </p:nvSpPr>
        <p:spPr bwMode="auto">
          <a:xfrm>
            <a:off x="0" y="9450388"/>
            <a:ext cx="29718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p>
        </p:txBody>
      </p:sp>
      <p:sp>
        <p:nvSpPr>
          <p:cNvPr id="81925" name="Rectangle 5">
            <a:extLst>
              <a:ext uri="{FF2B5EF4-FFF2-40B4-BE49-F238E27FC236}">
                <a16:creationId xmlns:a16="http://schemas.microsoft.com/office/drawing/2014/main" id="{C11CBEEF-A66C-43BE-4B19-463C066EC765}"/>
              </a:ext>
            </a:extLst>
          </p:cNvPr>
          <p:cNvSpPr>
            <a:spLocks noChangeArrowheads="1"/>
          </p:cNvSpPr>
          <p:nvPr/>
        </p:nvSpPr>
        <p:spPr bwMode="auto">
          <a:xfrm>
            <a:off x="0" y="0"/>
            <a:ext cx="29718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p>
        </p:txBody>
      </p:sp>
      <p:sp>
        <p:nvSpPr>
          <p:cNvPr id="81926" name="Rectangle 6">
            <a:extLst>
              <a:ext uri="{FF2B5EF4-FFF2-40B4-BE49-F238E27FC236}">
                <a16:creationId xmlns:a16="http://schemas.microsoft.com/office/drawing/2014/main" id="{1D092E20-D8B6-4A80-6E10-32BC45B40B50}"/>
              </a:ext>
            </a:extLst>
          </p:cNvPr>
          <p:cNvSpPr>
            <a:spLocks noGrp="1" noRot="1" noChangeAspect="1" noChangeArrowheads="1" noTextEdit="1"/>
          </p:cNvSpPr>
          <p:nvPr>
            <p:ph type="sldImg"/>
          </p:nvPr>
        </p:nvSpPr>
        <p:spPr>
          <a:xfrm>
            <a:off x="952500" y="752475"/>
            <a:ext cx="4953000" cy="3716338"/>
          </a:xfrm>
          <a:ln cap="flat"/>
        </p:spPr>
      </p:sp>
      <p:sp>
        <p:nvSpPr>
          <p:cNvPr id="81927" name="Rectangle 7">
            <a:extLst>
              <a:ext uri="{FF2B5EF4-FFF2-40B4-BE49-F238E27FC236}">
                <a16:creationId xmlns:a16="http://schemas.microsoft.com/office/drawing/2014/main" id="{A572856A-9940-EFF2-65BE-005F8C060E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第一步：访问结点</a:t>
            </a:r>
            <a:r>
              <a:rPr lang="en-US" altLang="zh-CN"/>
              <a:t>A</a:t>
            </a:r>
            <a:r>
              <a:rPr lang="zh-CN" altLang="en-US"/>
              <a:t>。并将子结点</a:t>
            </a:r>
            <a:r>
              <a:rPr lang="en-US" altLang="zh-CN"/>
              <a:t>B</a:t>
            </a:r>
            <a:r>
              <a:rPr lang="zh-CN" altLang="en-US"/>
              <a:t>、</a:t>
            </a:r>
            <a:r>
              <a:rPr lang="en-US" altLang="zh-CN"/>
              <a:t>C</a:t>
            </a:r>
            <a:r>
              <a:rPr lang="zh-CN" altLang="en-US"/>
              <a:t>、</a:t>
            </a:r>
            <a:r>
              <a:rPr lang="en-US" altLang="zh-CN"/>
              <a:t>D</a:t>
            </a:r>
            <a:r>
              <a:rPr lang="zh-CN" altLang="en-US"/>
              <a:t>放入优先队列</a:t>
            </a:r>
            <a:endParaRPr lang="en-US" altLang="zh-CN"/>
          </a:p>
          <a:p>
            <a:endParaRPr lang="en-US" altLang="zh-CN"/>
          </a:p>
          <a:p>
            <a:r>
              <a:rPr lang="zh-CN" altLang="en-US"/>
              <a:t>第二步：从队列中取出最小</a:t>
            </a:r>
            <a:r>
              <a:rPr lang="en-US" altLang="zh-CN"/>
              <a:t>lcost</a:t>
            </a:r>
            <a:r>
              <a:rPr lang="zh-CN" altLang="en-US"/>
              <a:t>结点，即访问</a:t>
            </a:r>
            <a:r>
              <a:rPr lang="en-US" altLang="zh-CN"/>
              <a:t>C</a:t>
            </a:r>
            <a:r>
              <a:rPr lang="zh-CN" altLang="en-US"/>
              <a:t>。并将子结点</a:t>
            </a:r>
            <a:r>
              <a:rPr lang="en-US" altLang="zh-CN"/>
              <a:t>G</a:t>
            </a:r>
            <a:r>
              <a:rPr lang="zh-CN" altLang="en-US"/>
              <a:t>、</a:t>
            </a:r>
            <a:r>
              <a:rPr lang="en-US" altLang="zh-CN"/>
              <a:t>H</a:t>
            </a:r>
            <a:r>
              <a:rPr lang="zh-CN" altLang="en-US"/>
              <a:t>放入优先队列</a:t>
            </a:r>
            <a:endParaRPr lang="en-US" altLang="zh-CN"/>
          </a:p>
          <a:p>
            <a:endParaRPr lang="en-US" altLang="zh-CN"/>
          </a:p>
          <a:p>
            <a:r>
              <a:rPr lang="zh-CN" altLang="en-US"/>
              <a:t>第三步：从队列中取出最小</a:t>
            </a:r>
            <a:r>
              <a:rPr lang="en-US" altLang="zh-CN"/>
              <a:t>lcost</a:t>
            </a:r>
            <a:r>
              <a:rPr lang="zh-CN" altLang="en-US"/>
              <a:t>结点，即访问</a:t>
            </a:r>
            <a:r>
              <a:rPr lang="en-US" altLang="zh-CN"/>
              <a:t>G</a:t>
            </a:r>
            <a:r>
              <a:rPr lang="zh-CN" altLang="en-US"/>
              <a:t>。计算对应的回路花费：</a:t>
            </a:r>
            <a:r>
              <a:rPr lang="en-US" altLang="zh-CN"/>
              <a:t>13, </a:t>
            </a:r>
            <a:r>
              <a:rPr lang="zh-CN" altLang="en-US"/>
              <a:t>将叶子结点</a:t>
            </a:r>
            <a:r>
              <a:rPr lang="en-US" altLang="zh-CN"/>
              <a:t>M</a:t>
            </a:r>
            <a:r>
              <a:rPr lang="zh-CN" altLang="en-US"/>
              <a:t>放回优先队列</a:t>
            </a:r>
            <a:endParaRPr lang="en-US" altLang="zh-CN"/>
          </a:p>
          <a:p>
            <a:endParaRPr lang="en-US" altLang="zh-CN"/>
          </a:p>
          <a:p>
            <a:r>
              <a:rPr lang="zh-CN" altLang="en-US"/>
              <a:t>第四步：从队列中取出最小</a:t>
            </a:r>
            <a:r>
              <a:rPr lang="en-US" altLang="zh-CN"/>
              <a:t>lcost</a:t>
            </a:r>
            <a:r>
              <a:rPr lang="zh-CN" altLang="en-US"/>
              <a:t>结点，即访问</a:t>
            </a:r>
            <a:r>
              <a:rPr lang="en-US" altLang="zh-CN"/>
              <a:t>H</a:t>
            </a:r>
            <a:r>
              <a:rPr lang="zh-CN" altLang="en-US"/>
              <a:t>。计算对应的回路花费</a:t>
            </a:r>
            <a:r>
              <a:rPr lang="en-US" altLang="zh-CN"/>
              <a:t>: 8,</a:t>
            </a:r>
            <a:r>
              <a:rPr lang="zh-CN" altLang="en-US"/>
              <a:t> 小于当前最小回路花费，更新最小回路花费</a:t>
            </a:r>
            <a:r>
              <a:rPr lang="en-US" altLang="zh-CN"/>
              <a:t>(bestc)</a:t>
            </a:r>
            <a:r>
              <a:rPr lang="zh-CN" altLang="en-US"/>
              <a:t>为</a:t>
            </a:r>
            <a:r>
              <a:rPr lang="en-US" altLang="zh-CN"/>
              <a:t>8 , </a:t>
            </a:r>
            <a:r>
              <a:rPr lang="zh-CN" altLang="en-US"/>
              <a:t>将叶子结点</a:t>
            </a:r>
            <a:r>
              <a:rPr lang="en-US" altLang="zh-CN"/>
              <a:t>N</a:t>
            </a:r>
            <a:r>
              <a:rPr lang="zh-CN" altLang="en-US"/>
              <a:t>放回优先队列</a:t>
            </a:r>
            <a:endParaRPr lang="en-US" altLang="zh-CN"/>
          </a:p>
          <a:p>
            <a:endParaRPr lang="en-US" altLang="zh-CN"/>
          </a:p>
          <a:p>
            <a:r>
              <a:rPr lang="zh-CN" altLang="en-US"/>
              <a:t>第五步：从队列中取出最小</a:t>
            </a:r>
            <a:r>
              <a:rPr lang="en-US" altLang="zh-CN"/>
              <a:t>lcost</a:t>
            </a:r>
            <a:r>
              <a:rPr lang="zh-CN" altLang="en-US"/>
              <a:t>结点，即访问</a:t>
            </a:r>
            <a:r>
              <a:rPr lang="en-US" altLang="zh-CN"/>
              <a:t>B</a:t>
            </a:r>
            <a:r>
              <a:rPr lang="zh-CN" altLang="en-US"/>
              <a:t>。并将子结点</a:t>
            </a:r>
            <a:r>
              <a:rPr lang="en-US" altLang="zh-CN"/>
              <a:t>E</a:t>
            </a:r>
            <a:r>
              <a:rPr lang="zh-CN" altLang="en-US"/>
              <a:t>、</a:t>
            </a:r>
            <a:r>
              <a:rPr lang="en-US" altLang="zh-CN"/>
              <a:t>F</a:t>
            </a:r>
            <a:r>
              <a:rPr lang="zh-CN" altLang="en-US"/>
              <a:t>放入优先队列。</a:t>
            </a:r>
            <a:endParaRPr lang="en-US" altLang="zh-CN"/>
          </a:p>
          <a:p>
            <a:endParaRPr lang="en-US" altLang="zh-CN"/>
          </a:p>
          <a:p>
            <a:r>
              <a:rPr lang="zh-CN" altLang="en-US"/>
              <a:t>第六步：从队列中取出最小</a:t>
            </a:r>
            <a:r>
              <a:rPr lang="en-US" altLang="zh-CN"/>
              <a:t>lcost</a:t>
            </a:r>
            <a:r>
              <a:rPr lang="zh-CN" altLang="en-US"/>
              <a:t>结点，即访问</a:t>
            </a:r>
            <a:r>
              <a:rPr lang="en-US" altLang="zh-CN"/>
              <a:t>E</a:t>
            </a:r>
            <a:r>
              <a:rPr lang="zh-CN" altLang="en-US"/>
              <a:t>。计算对应的回路花费：</a:t>
            </a:r>
            <a:r>
              <a:rPr lang="en-US" altLang="zh-CN"/>
              <a:t>17</a:t>
            </a:r>
            <a:r>
              <a:rPr lang="zh-CN" altLang="en-US"/>
              <a:t>，大于当前最小回路花费，无需更新最小回路花费</a:t>
            </a:r>
            <a:r>
              <a:rPr lang="en-US" altLang="zh-CN"/>
              <a:t> </a:t>
            </a:r>
          </a:p>
          <a:p>
            <a:endParaRPr lang="en-US" altLang="zh-CN"/>
          </a:p>
          <a:p>
            <a:r>
              <a:rPr lang="zh-CN" altLang="en-US"/>
              <a:t>第七步：从队列中取出最小</a:t>
            </a:r>
            <a:r>
              <a:rPr lang="en-US" altLang="zh-CN"/>
              <a:t>lcost</a:t>
            </a:r>
            <a:r>
              <a:rPr lang="zh-CN" altLang="en-US"/>
              <a:t>结点，即访问</a:t>
            </a:r>
            <a:r>
              <a:rPr lang="en-US" altLang="zh-CN"/>
              <a:t>F</a:t>
            </a:r>
            <a:r>
              <a:rPr lang="zh-CN" altLang="en-US"/>
              <a:t>。计算对应的回路花费：</a:t>
            </a:r>
            <a:r>
              <a:rPr lang="en-US" altLang="zh-CN"/>
              <a:t>8</a:t>
            </a:r>
            <a:r>
              <a:rPr lang="zh-CN" altLang="en-US"/>
              <a:t>，等于当前最小回路花费，无需更新最小回路花费</a:t>
            </a:r>
            <a:r>
              <a:rPr lang="en-US" altLang="zh-CN"/>
              <a:t> </a:t>
            </a:r>
          </a:p>
          <a:p>
            <a:endParaRPr lang="en-US" altLang="zh-CN"/>
          </a:p>
          <a:p>
            <a:r>
              <a:rPr lang="zh-CN" altLang="en-US"/>
              <a:t>第八步：从队列中取出最小</a:t>
            </a:r>
            <a:r>
              <a:rPr lang="en-US" altLang="zh-CN"/>
              <a:t>lcost</a:t>
            </a:r>
            <a:r>
              <a:rPr lang="zh-CN" altLang="en-US"/>
              <a:t>结点，即访问</a:t>
            </a:r>
            <a:r>
              <a:rPr lang="en-US" altLang="zh-CN"/>
              <a:t>N</a:t>
            </a:r>
            <a:r>
              <a:rPr lang="zh-CN" altLang="en-US"/>
              <a:t>，此时结点</a:t>
            </a:r>
            <a:r>
              <a:rPr lang="en-US" altLang="zh-CN"/>
              <a:t>N</a:t>
            </a:r>
            <a:r>
              <a:rPr lang="zh-CN" altLang="en-US"/>
              <a:t>的层数（</a:t>
            </a:r>
            <a:r>
              <a:rPr lang="en-US" altLang="zh-CN"/>
              <a:t>E.s</a:t>
            </a:r>
            <a:r>
              <a:rPr lang="zh-CN" altLang="en-US"/>
              <a:t>）为</a:t>
            </a:r>
            <a:r>
              <a:rPr lang="en-US" altLang="zh-CN"/>
              <a:t>n-1</a:t>
            </a:r>
            <a:r>
              <a:rPr lang="zh-CN" altLang="en-US"/>
              <a:t>，触发循环终止条件，队列中其他结点的</a:t>
            </a:r>
            <a:r>
              <a:rPr lang="en-US" altLang="zh-CN"/>
              <a:t>lcost</a:t>
            </a:r>
            <a:r>
              <a:rPr lang="zh-CN" altLang="en-US"/>
              <a:t>大于当前最小回路花费</a:t>
            </a:r>
            <a:r>
              <a:rPr lang="en-US" altLang="zh-CN"/>
              <a:t>(bestc)</a:t>
            </a:r>
            <a:r>
              <a:rPr lang="zh-CN" altLang="en-US"/>
              <a:t>，相当于被剪枝</a:t>
            </a:r>
            <a:endParaRPr lang="zh-CN" altLang="zh-CN"/>
          </a:p>
          <a:p>
            <a:endParaRPr lang="en-US" altLang="zh-CN"/>
          </a:p>
          <a:p>
            <a:endParaRPr lang="en-US" altLang="zh-CN"/>
          </a:p>
          <a:p>
            <a:endParaRPr lang="en-US" altLang="zh-CN"/>
          </a:p>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61C98E93-6EA5-0804-F55E-32EB84A8376F}"/>
              </a:ext>
            </a:extLst>
          </p:cNvPr>
          <p:cNvSpPr>
            <a:spLocks noGrp="1" noRot="1" noChangeAspect="1" noChangeArrowheads="1" noTextEdit="1"/>
          </p:cNvSpPr>
          <p:nvPr>
            <p:ph type="sldImg"/>
          </p:nvPr>
        </p:nvSpPr>
        <p:spPr>
          <a:ln/>
        </p:spPr>
      </p:sp>
      <p:sp>
        <p:nvSpPr>
          <p:cNvPr id="84995" name="备注占位符 2">
            <a:extLst>
              <a:ext uri="{FF2B5EF4-FFF2-40B4-BE49-F238E27FC236}">
                <a16:creationId xmlns:a16="http://schemas.microsoft.com/office/drawing/2014/main" id="{D1BC0260-C6FA-1EFB-74ED-A4F61E329F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是一种简单的路径，通常不包含环路的路径</a:t>
            </a:r>
            <a:endParaRPr lang="en-US" altLang="zh-CN"/>
          </a:p>
          <a:p>
            <a:endParaRPr lang="en-US" altLang="zh-CN"/>
          </a:p>
          <a:p>
            <a:r>
              <a:rPr lang="zh-CN" altLang="en-US"/>
              <a:t>为什么单源最短路径问题，不用回溯法？</a:t>
            </a:r>
          </a:p>
        </p:txBody>
      </p:sp>
      <p:sp>
        <p:nvSpPr>
          <p:cNvPr id="84996" name="灯片编号占位符 3">
            <a:extLst>
              <a:ext uri="{FF2B5EF4-FFF2-40B4-BE49-F238E27FC236}">
                <a16:creationId xmlns:a16="http://schemas.microsoft.com/office/drawing/2014/main" id="{D71EB120-1D7C-564E-B59D-AB88242871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F2FEC54E-5BDA-44B9-9D54-947D7260749A}" type="slidenum">
              <a:rPr lang="zh-CN" altLang="en-US" sz="1200">
                <a:solidFill>
                  <a:schemeClr val="tx1"/>
                </a:solidFill>
                <a:latin typeface="Times New Roman" panose="02020603050405020304" pitchFamily="18" charset="0"/>
                <a:ea typeface="宋体" panose="02010600030101010101" pitchFamily="2" charset="-122"/>
              </a:rPr>
              <a:pPr/>
              <a:t>58</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6CFFA471-8E6E-4E09-C776-43345572297E}"/>
              </a:ext>
            </a:extLst>
          </p:cNvPr>
          <p:cNvSpPr>
            <a:spLocks noGrp="1" noRot="1" noChangeAspect="1" noChangeArrowheads="1" noTextEdit="1"/>
          </p:cNvSpPr>
          <p:nvPr>
            <p:ph type="sldImg"/>
          </p:nvPr>
        </p:nvSpPr>
        <p:spPr>
          <a:ln/>
        </p:spPr>
      </p:sp>
      <p:sp>
        <p:nvSpPr>
          <p:cNvPr id="87043" name="备注占位符 2">
            <a:extLst>
              <a:ext uri="{FF2B5EF4-FFF2-40B4-BE49-F238E27FC236}">
                <a16:creationId xmlns:a16="http://schemas.microsoft.com/office/drawing/2014/main" id="{6FED30B8-5570-66BC-495A-6B97218351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7044" name="灯片编号占位符 3">
            <a:extLst>
              <a:ext uri="{FF2B5EF4-FFF2-40B4-BE49-F238E27FC236}">
                <a16:creationId xmlns:a16="http://schemas.microsoft.com/office/drawing/2014/main" id="{5DF24391-8F72-9A12-0C41-969784961D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E9058F08-3D7D-45BE-9638-8CBDBEC88C4F}" type="slidenum">
              <a:rPr lang="zh-CN" altLang="en-US" sz="1200">
                <a:solidFill>
                  <a:schemeClr val="tx1"/>
                </a:solidFill>
                <a:latin typeface="Times New Roman" panose="02020603050405020304" pitchFamily="18" charset="0"/>
                <a:ea typeface="宋体" panose="02010600030101010101" pitchFamily="2" charset="-122"/>
              </a:rPr>
              <a:pPr/>
              <a:t>59</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a:extLst>
              <a:ext uri="{FF2B5EF4-FFF2-40B4-BE49-F238E27FC236}">
                <a16:creationId xmlns:a16="http://schemas.microsoft.com/office/drawing/2014/main" id="{FE43019E-60CA-9407-1E16-48FEFA79AA60}"/>
              </a:ext>
            </a:extLst>
          </p:cNvPr>
          <p:cNvSpPr>
            <a:spLocks noGrp="1" noRot="1" noChangeAspect="1" noTextEdit="1"/>
          </p:cNvSpPr>
          <p:nvPr>
            <p:ph type="sldImg"/>
          </p:nvPr>
        </p:nvSpPr>
        <p:spPr>
          <a:ln/>
        </p:spPr>
      </p:sp>
      <p:sp>
        <p:nvSpPr>
          <p:cNvPr id="90115" name="备注占位符 2">
            <a:extLst>
              <a:ext uri="{FF2B5EF4-FFF2-40B4-BE49-F238E27FC236}">
                <a16:creationId xmlns:a16="http://schemas.microsoft.com/office/drawing/2014/main" id="{7E840BA0-E375-424D-78CF-A7FC91314C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a:solidFill>
                  <a:srgbClr val="FF0000"/>
                </a:solidFill>
              </a:rPr>
              <a:t>E.length+c[E.i][j]</a:t>
            </a:r>
            <a:r>
              <a:rPr kumimoji="1" lang="zh-CN" altLang="en-US">
                <a:solidFill>
                  <a:srgbClr val="FF0000"/>
                </a:solidFill>
              </a:rPr>
              <a:t>是真实的值，比</a:t>
            </a:r>
            <a:r>
              <a:rPr kumimoji="1" lang="en-US" altLang="zh-CN">
                <a:solidFill>
                  <a:srgbClr val="FF0000"/>
                </a:solidFill>
              </a:rPr>
              <a:t>Minout</a:t>
            </a:r>
            <a:r>
              <a:rPr kumimoji="1" lang="zh-CN" altLang="en-US">
                <a:solidFill>
                  <a:srgbClr val="FF0000"/>
                </a:solidFill>
              </a:rPr>
              <a:t>更紧</a:t>
            </a:r>
            <a:endParaRPr lang="zh-CN" altLang="en-US"/>
          </a:p>
        </p:txBody>
      </p:sp>
      <p:sp>
        <p:nvSpPr>
          <p:cNvPr id="90116" name="灯片编号占位符 3">
            <a:extLst>
              <a:ext uri="{FF2B5EF4-FFF2-40B4-BE49-F238E27FC236}">
                <a16:creationId xmlns:a16="http://schemas.microsoft.com/office/drawing/2014/main" id="{F75BA5BA-5277-9573-C548-AAA0D3DFF2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609D265-26CC-4761-81FA-7D9833926399}" type="slidenum">
              <a:rPr lang="zh-CN" altLang="en-US" sz="1200">
                <a:solidFill>
                  <a:schemeClr val="tx1"/>
                </a:solidFill>
                <a:latin typeface="Times New Roman" panose="02020603050405020304" pitchFamily="18" charset="0"/>
                <a:ea typeface="宋体" panose="02010600030101010101" pitchFamily="2" charset="-122"/>
              </a:rPr>
              <a:pPr/>
              <a:t>61</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37A797B5-AF04-BE71-9328-DFF81840B30E}"/>
              </a:ext>
            </a:extLst>
          </p:cNvPr>
          <p:cNvSpPr>
            <a:spLocks noGrp="1" noRot="1" noChangeAspect="1" noTextEdit="1"/>
          </p:cNvSpPr>
          <p:nvPr>
            <p:ph type="sldImg"/>
          </p:nvPr>
        </p:nvSpPr>
        <p:spPr>
          <a:ln/>
        </p:spPr>
      </p:sp>
      <p:sp>
        <p:nvSpPr>
          <p:cNvPr id="94211" name="备注占位符 2">
            <a:extLst>
              <a:ext uri="{FF2B5EF4-FFF2-40B4-BE49-F238E27FC236}">
                <a16:creationId xmlns:a16="http://schemas.microsoft.com/office/drawing/2014/main" id="{D2490946-1DE5-3AC2-EF67-6CCCE3C713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E.i</a:t>
            </a:r>
            <a:r>
              <a:rPr lang="zh-CN" altLang="en-US"/>
              <a:t>初始化为源顶点；</a:t>
            </a:r>
            <a:r>
              <a:rPr lang="en-US" altLang="zh-CN"/>
              <a:t>dist[j]</a:t>
            </a:r>
            <a:r>
              <a:rPr lang="zh-CN" altLang="en-US"/>
              <a:t>初始化为一个比较大的数值</a:t>
            </a:r>
            <a:endParaRPr lang="en-US" altLang="zh-CN"/>
          </a:p>
          <a:p>
            <a:endParaRPr lang="zh-CN" altLang="en-US"/>
          </a:p>
        </p:txBody>
      </p:sp>
      <p:sp>
        <p:nvSpPr>
          <p:cNvPr id="94212" name="灯片编号占位符 3">
            <a:extLst>
              <a:ext uri="{FF2B5EF4-FFF2-40B4-BE49-F238E27FC236}">
                <a16:creationId xmlns:a16="http://schemas.microsoft.com/office/drawing/2014/main" id="{127DC19B-0DB6-E38C-03DD-86119E4D99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EC06EC8-8907-4082-9C66-9D729EC9A217}" type="slidenum">
              <a:rPr lang="zh-CN" altLang="en-US" sz="1200">
                <a:solidFill>
                  <a:schemeClr val="tx1"/>
                </a:solidFill>
                <a:latin typeface="Times New Roman" panose="02020603050405020304" pitchFamily="18" charset="0"/>
                <a:ea typeface="宋体" panose="02010600030101010101" pitchFamily="2" charset="-122"/>
              </a:rPr>
              <a:pPr/>
              <a:t>64</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a:extLst>
              <a:ext uri="{FF2B5EF4-FFF2-40B4-BE49-F238E27FC236}">
                <a16:creationId xmlns:a16="http://schemas.microsoft.com/office/drawing/2014/main" id="{AB21EDE6-A07F-9640-B5E8-E12148446AF1}"/>
              </a:ext>
            </a:extLst>
          </p:cNvPr>
          <p:cNvSpPr>
            <a:spLocks noGrp="1" noRot="1" noChangeAspect="1" noChangeArrowheads="1" noTextEdit="1"/>
          </p:cNvSpPr>
          <p:nvPr>
            <p:ph type="sldImg"/>
          </p:nvPr>
        </p:nvSpPr>
        <p:spPr>
          <a:ln/>
        </p:spPr>
      </p:sp>
      <p:sp>
        <p:nvSpPr>
          <p:cNvPr id="96259" name="备注占位符 2">
            <a:extLst>
              <a:ext uri="{FF2B5EF4-FFF2-40B4-BE49-F238E27FC236}">
                <a16:creationId xmlns:a16="http://schemas.microsoft.com/office/drawing/2014/main" id="{F50FADAD-9473-96A7-56FC-B58FF3E8589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60" name="灯片编号占位符 3">
            <a:extLst>
              <a:ext uri="{FF2B5EF4-FFF2-40B4-BE49-F238E27FC236}">
                <a16:creationId xmlns:a16="http://schemas.microsoft.com/office/drawing/2014/main" id="{7E49332F-B410-577A-749D-56CEDCEF14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C59E790-2D5C-44A7-B83B-F9FE9BB3BE55}" type="slidenum">
              <a:rPr lang="zh-CN" altLang="en-US" sz="1200">
                <a:solidFill>
                  <a:schemeClr val="tx1"/>
                </a:solidFill>
                <a:latin typeface="Times New Roman" panose="02020603050405020304" pitchFamily="18" charset="0"/>
                <a:ea typeface="宋体" panose="02010600030101010101" pitchFamily="2" charset="-122"/>
              </a:rPr>
              <a:pPr/>
              <a:t>65</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a:extLst>
              <a:ext uri="{FF2B5EF4-FFF2-40B4-BE49-F238E27FC236}">
                <a16:creationId xmlns:a16="http://schemas.microsoft.com/office/drawing/2014/main" id="{01625186-3C34-0775-D5C2-D4EAE24CEE36}"/>
              </a:ext>
            </a:extLst>
          </p:cNvPr>
          <p:cNvSpPr>
            <a:spLocks noGrp="1" noRot="1" noChangeAspect="1" noChangeArrowheads="1" noTextEdit="1"/>
          </p:cNvSpPr>
          <p:nvPr>
            <p:ph type="sldImg"/>
          </p:nvPr>
        </p:nvSpPr>
        <p:spPr>
          <a:ln/>
        </p:spPr>
      </p:sp>
      <p:sp>
        <p:nvSpPr>
          <p:cNvPr id="98307" name="备注占位符 2">
            <a:extLst>
              <a:ext uri="{FF2B5EF4-FFF2-40B4-BE49-F238E27FC236}">
                <a16:creationId xmlns:a16="http://schemas.microsoft.com/office/drawing/2014/main" id="{1AC495F5-4486-F20F-69B9-3C8C9F0D6A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8308" name="灯片编号占位符 3">
            <a:extLst>
              <a:ext uri="{FF2B5EF4-FFF2-40B4-BE49-F238E27FC236}">
                <a16:creationId xmlns:a16="http://schemas.microsoft.com/office/drawing/2014/main" id="{279FA319-C640-0C17-0FF0-A9D66A4EDC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1F28084-9A04-43FF-9DC2-854D09E24402}" type="slidenum">
              <a:rPr lang="zh-CN" altLang="en-US" sz="1200">
                <a:solidFill>
                  <a:schemeClr val="tx1"/>
                </a:solidFill>
                <a:latin typeface="Times New Roman" panose="02020603050405020304" pitchFamily="18" charset="0"/>
                <a:ea typeface="宋体" panose="02010600030101010101" pitchFamily="2" charset="-122"/>
              </a:rPr>
              <a:pPr/>
              <a:t>66</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a:extLst>
              <a:ext uri="{FF2B5EF4-FFF2-40B4-BE49-F238E27FC236}">
                <a16:creationId xmlns:a16="http://schemas.microsoft.com/office/drawing/2014/main" id="{47600241-A970-918E-80DE-65CE35B1DB09}"/>
              </a:ext>
            </a:extLst>
          </p:cNvPr>
          <p:cNvSpPr>
            <a:spLocks noGrp="1" noRot="1" noChangeAspect="1" noChangeArrowheads="1" noTextEdit="1"/>
          </p:cNvSpPr>
          <p:nvPr>
            <p:ph type="sldImg"/>
          </p:nvPr>
        </p:nvSpPr>
        <p:spPr>
          <a:ln/>
        </p:spPr>
      </p:sp>
      <p:sp>
        <p:nvSpPr>
          <p:cNvPr id="110595" name="备注占位符 2">
            <a:extLst>
              <a:ext uri="{FF2B5EF4-FFF2-40B4-BE49-F238E27FC236}">
                <a16:creationId xmlns:a16="http://schemas.microsoft.com/office/drawing/2014/main" id="{6BE004DB-7914-D08B-964D-94668EAAEF97}"/>
              </a:ext>
            </a:extLst>
          </p:cNvPr>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dirty="0"/>
              <a:t>以</a:t>
            </a:r>
            <a:r>
              <a:rPr lang="en-US" altLang="zh-CN" dirty="0"/>
              <a:t>B</a:t>
            </a:r>
            <a:r>
              <a:rPr lang="zh-CN" altLang="en-US" dirty="0"/>
              <a:t>结点为例，</a:t>
            </a:r>
            <a:r>
              <a:rPr lang="en-US" altLang="zh-CN" dirty="0"/>
              <a:t>r=1</a:t>
            </a:r>
            <a:r>
              <a:rPr lang="zh-CN" altLang="en-US" dirty="0"/>
              <a:t>，只有作业</a:t>
            </a:r>
            <a:r>
              <a:rPr lang="en-US" altLang="zh-CN" dirty="0"/>
              <a:t>1</a:t>
            </a:r>
            <a:r>
              <a:rPr lang="zh-CN" altLang="en-US" dirty="0"/>
              <a:t>已完成。</a:t>
            </a:r>
            <a:r>
              <a:rPr lang="en-US" altLang="zh-CN" dirty="0">
                <a:latin typeface="+mj-ea"/>
              </a:rPr>
              <a:t>F</a:t>
            </a:r>
            <a:r>
              <a:rPr lang="en-US" altLang="zh-CN" baseline="-25000" dirty="0">
                <a:latin typeface="+mj-ea"/>
              </a:rPr>
              <a:t>21</a:t>
            </a:r>
            <a:r>
              <a:rPr lang="en-US" altLang="zh-CN" dirty="0">
                <a:latin typeface="+mj-ea"/>
              </a:rPr>
              <a:t> =3</a:t>
            </a:r>
          </a:p>
          <a:p>
            <a:pPr>
              <a:defRPr/>
            </a:pPr>
            <a:endParaRPr lang="en-US" altLang="zh-CN" dirty="0">
              <a:latin typeface="+mj-ea"/>
            </a:endParaRPr>
          </a:p>
          <a:p>
            <a:pPr>
              <a:defRPr/>
            </a:pPr>
            <a:r>
              <a:rPr lang="zh-CN" altLang="en-US" dirty="0">
                <a:latin typeface="+mj-ea"/>
              </a:rPr>
              <a:t>此时要估计未完成的作业，需要的时间总和</a:t>
            </a:r>
            <a:endParaRPr lang="en-US" altLang="zh-CN" dirty="0">
              <a:latin typeface="+mj-ea"/>
            </a:endParaRPr>
          </a:p>
          <a:p>
            <a:pPr>
              <a:defRPr/>
            </a:pPr>
            <a:endParaRPr lang="en-US" altLang="zh-CN" dirty="0">
              <a:latin typeface="+mj-ea"/>
            </a:endParaRPr>
          </a:p>
          <a:p>
            <a:pPr>
              <a:defRPr/>
            </a:pPr>
            <a:r>
              <a:rPr lang="en-US" altLang="zh-CN" dirty="0">
                <a:latin typeface="+mj-ea"/>
              </a:rPr>
              <a:t>F22= F21+f12+f22</a:t>
            </a:r>
          </a:p>
          <a:p>
            <a:pPr>
              <a:defRPr/>
            </a:pPr>
            <a:r>
              <a:rPr lang="en-US" altLang="zh-CN" dirty="0">
                <a:latin typeface="+mj-ea"/>
              </a:rPr>
              <a:t>F23= F21+f12+f13+f23</a:t>
            </a:r>
          </a:p>
          <a:p>
            <a:pPr>
              <a:defRPr/>
            </a:pPr>
            <a:endParaRPr lang="en-US" altLang="zh-CN" dirty="0">
              <a:latin typeface="+mj-ea"/>
            </a:endParaRPr>
          </a:p>
          <a:p>
            <a:pPr>
              <a:defRPr/>
            </a:pPr>
            <a:endParaRPr lang="zh-CN" altLang="en-US" dirty="0"/>
          </a:p>
        </p:txBody>
      </p:sp>
      <p:sp>
        <p:nvSpPr>
          <p:cNvPr id="103428" name="灯片编号占位符 3">
            <a:extLst>
              <a:ext uri="{FF2B5EF4-FFF2-40B4-BE49-F238E27FC236}">
                <a16:creationId xmlns:a16="http://schemas.microsoft.com/office/drawing/2014/main" id="{88605179-267E-56A1-6510-84C3153662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E5CCAD79-2DA7-409E-BCB0-690E6C135940}" type="slidenum">
              <a:rPr lang="zh-CN" altLang="en-US" sz="1200">
                <a:solidFill>
                  <a:schemeClr val="tx1"/>
                </a:solidFill>
                <a:latin typeface="Times New Roman" panose="02020603050405020304" pitchFamily="18" charset="0"/>
                <a:ea typeface="宋体" panose="02010600030101010101" pitchFamily="2" charset="-122"/>
              </a:rPr>
              <a:pPr/>
              <a:t>70</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a:extLst>
              <a:ext uri="{FF2B5EF4-FFF2-40B4-BE49-F238E27FC236}">
                <a16:creationId xmlns:a16="http://schemas.microsoft.com/office/drawing/2014/main" id="{F8826641-8211-8C4F-89F4-37E7A188A78F}"/>
              </a:ext>
            </a:extLst>
          </p:cNvPr>
          <p:cNvSpPr>
            <a:spLocks noGrp="1" noRot="1" noChangeAspect="1" noTextEdit="1"/>
          </p:cNvSpPr>
          <p:nvPr>
            <p:ph type="sldImg"/>
          </p:nvPr>
        </p:nvSpPr>
        <p:spPr>
          <a:ln/>
        </p:spPr>
      </p:sp>
      <p:sp>
        <p:nvSpPr>
          <p:cNvPr id="105475" name="备注占位符 2">
            <a:extLst>
              <a:ext uri="{FF2B5EF4-FFF2-40B4-BE49-F238E27FC236}">
                <a16:creationId xmlns:a16="http://schemas.microsoft.com/office/drawing/2014/main" id="{E4DF95E7-6F0D-77E8-6965-B87F7F1260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K= r+1:  F1pr+t1pr+1+t2pr+1</a:t>
            </a:r>
          </a:p>
          <a:p>
            <a:r>
              <a:rPr lang="en-US" altLang="zh-CN"/>
              <a:t>K=r+2:   F1pr+t1pr+1++t1pr+2+t2pr+2</a:t>
            </a:r>
          </a:p>
          <a:p>
            <a:r>
              <a:rPr lang="en-US" altLang="zh-CN"/>
              <a:t>..</a:t>
            </a:r>
          </a:p>
          <a:p>
            <a:r>
              <a:rPr lang="en-US" altLang="zh-CN"/>
              <a:t>K=n: F1pr+t1pr+1++t1pr+2+…+t1pn+t2pn</a:t>
            </a:r>
          </a:p>
          <a:p>
            <a:endParaRPr lang="en-US" altLang="zh-CN"/>
          </a:p>
          <a:p>
            <a:r>
              <a:rPr lang="zh-CN" altLang="en-US"/>
              <a:t>将其中相同项整理到首次出现的那一行，即可得到对应的</a:t>
            </a:r>
            <a:r>
              <a:rPr lang="en-US" altLang="zh-CN"/>
              <a:t>S1</a:t>
            </a:r>
          </a:p>
          <a:p>
            <a:r>
              <a:rPr lang="en-US" altLang="zh-CN"/>
              <a:t>     </a:t>
            </a:r>
          </a:p>
        </p:txBody>
      </p:sp>
      <p:sp>
        <p:nvSpPr>
          <p:cNvPr id="105476" name="灯片编号占位符 3">
            <a:extLst>
              <a:ext uri="{FF2B5EF4-FFF2-40B4-BE49-F238E27FC236}">
                <a16:creationId xmlns:a16="http://schemas.microsoft.com/office/drawing/2014/main" id="{F9540C4C-1E9A-4B26-D974-34B8D23B2C7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9A8FEA3-E233-4B6B-8A94-19A05CDB0FCB}" type="slidenum">
              <a:rPr lang="zh-CN" altLang="en-US" sz="1200">
                <a:solidFill>
                  <a:schemeClr val="tx1"/>
                </a:solidFill>
                <a:latin typeface="Times New Roman" panose="02020603050405020304" pitchFamily="18" charset="0"/>
                <a:ea typeface="宋体" panose="02010600030101010101" pitchFamily="2" charset="-122"/>
              </a:rPr>
              <a:pPr/>
              <a:t>71</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BC69CD34-BDF0-FDC2-2DFB-57535562ABC6}"/>
              </a:ext>
            </a:extLst>
          </p:cNvPr>
          <p:cNvSpPr>
            <a:spLocks noGrp="1" noRot="1" noChangeAspect="1" noTextEdit="1"/>
          </p:cNvSpPr>
          <p:nvPr>
            <p:ph type="sldImg"/>
          </p:nvPr>
        </p:nvSpPr>
        <p:spPr>
          <a:ln/>
        </p:spPr>
      </p:sp>
      <p:sp>
        <p:nvSpPr>
          <p:cNvPr id="107523" name="备注占位符 2">
            <a:extLst>
              <a:ext uri="{FF2B5EF4-FFF2-40B4-BE49-F238E27FC236}">
                <a16:creationId xmlns:a16="http://schemas.microsoft.com/office/drawing/2014/main" id="{E611BBA9-C6CC-7638-5754-46B8345EA6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以</a:t>
            </a:r>
            <a:r>
              <a:rPr lang="en-US" altLang="zh-CN"/>
              <a:t>r=1</a:t>
            </a:r>
            <a:r>
              <a:rPr lang="zh-CN" altLang="en-US"/>
              <a:t>为例，</a:t>
            </a:r>
            <a:r>
              <a:rPr lang="en-US" altLang="zh-CN"/>
              <a:t>k=r+1=2</a:t>
            </a:r>
            <a:r>
              <a:rPr lang="zh-CN" altLang="en-US"/>
              <a:t>，</a:t>
            </a:r>
            <a:r>
              <a:rPr lang="en-US" altLang="zh-CN"/>
              <a:t>max(F2pr,F1pr+mim ti1i)</a:t>
            </a:r>
            <a:r>
              <a:rPr lang="zh-CN" altLang="en-US"/>
              <a:t>表示第一个作业在机器</a:t>
            </a:r>
            <a:r>
              <a:rPr lang="en-US" altLang="zh-CN"/>
              <a:t>2</a:t>
            </a:r>
            <a:r>
              <a:rPr lang="zh-CN" altLang="en-US"/>
              <a:t>上的完成时间，和第一个作业在机器</a:t>
            </a:r>
            <a:r>
              <a:rPr lang="en-US" altLang="zh-CN"/>
              <a:t>1</a:t>
            </a:r>
            <a:r>
              <a:rPr lang="zh-CN" altLang="en-US"/>
              <a:t>上的完成时间</a:t>
            </a:r>
            <a:r>
              <a:rPr lang="en-US" altLang="zh-CN"/>
              <a:t>+</a:t>
            </a:r>
            <a:r>
              <a:rPr lang="zh-CN" altLang="en-US"/>
              <a:t>后续没有开始的作业最短的在机器</a:t>
            </a:r>
            <a:r>
              <a:rPr lang="en-US" altLang="zh-CN"/>
              <a:t>1</a:t>
            </a:r>
            <a:r>
              <a:rPr lang="zh-CN" altLang="en-US"/>
              <a:t>上的时间</a:t>
            </a:r>
          </a:p>
        </p:txBody>
      </p:sp>
      <p:sp>
        <p:nvSpPr>
          <p:cNvPr id="107524" name="灯片编号占位符 3">
            <a:extLst>
              <a:ext uri="{FF2B5EF4-FFF2-40B4-BE49-F238E27FC236}">
                <a16:creationId xmlns:a16="http://schemas.microsoft.com/office/drawing/2014/main" id="{E02919FB-E1AD-71D2-AA6E-BFDBE7AE63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16A10CD6-D125-446A-9682-7FBB57CE9058}" type="slidenum">
              <a:rPr lang="zh-CN" altLang="en-US" sz="1200">
                <a:solidFill>
                  <a:schemeClr val="tx1"/>
                </a:solidFill>
                <a:latin typeface="Times New Roman" panose="02020603050405020304" pitchFamily="18" charset="0"/>
                <a:ea typeface="宋体" panose="02010600030101010101" pitchFamily="2" charset="-122"/>
              </a:rPr>
              <a:pPr/>
              <a:t>72</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529C9E8E-5604-B9AD-A2C1-DD946088ABFD}"/>
              </a:ext>
            </a:extLst>
          </p:cNvPr>
          <p:cNvSpPr>
            <a:spLocks noGrp="1" noRot="1" noChangeAspect="1" noChangeArrowheads="1" noTextEdit="1"/>
          </p:cNvSpPr>
          <p:nvPr>
            <p:ph type="sldImg"/>
          </p:nvPr>
        </p:nvSpPr>
        <p:spPr>
          <a:ln/>
        </p:spPr>
      </p:sp>
      <p:sp>
        <p:nvSpPr>
          <p:cNvPr id="110595" name="备注占位符 2">
            <a:extLst>
              <a:ext uri="{FF2B5EF4-FFF2-40B4-BE49-F238E27FC236}">
                <a16:creationId xmlns:a16="http://schemas.microsoft.com/office/drawing/2014/main" id="{B5170F30-0161-3174-6FD5-FD2A1C3D9D24}"/>
              </a:ext>
            </a:extLst>
          </p:cNvPr>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dirty="0"/>
              <a:t>以</a:t>
            </a:r>
            <a:r>
              <a:rPr lang="en-US" altLang="zh-CN" dirty="0"/>
              <a:t>B</a:t>
            </a:r>
            <a:r>
              <a:rPr lang="zh-CN" altLang="en-US" dirty="0"/>
              <a:t>结点为例，</a:t>
            </a:r>
            <a:r>
              <a:rPr lang="en-US" altLang="zh-CN" dirty="0"/>
              <a:t>r=1</a:t>
            </a:r>
            <a:r>
              <a:rPr lang="zh-CN" altLang="en-US" dirty="0"/>
              <a:t>，只有作业</a:t>
            </a:r>
            <a:r>
              <a:rPr lang="en-US" altLang="zh-CN" dirty="0"/>
              <a:t>1</a:t>
            </a:r>
            <a:r>
              <a:rPr lang="zh-CN" altLang="en-US" dirty="0"/>
              <a:t>已完成。</a:t>
            </a:r>
            <a:r>
              <a:rPr lang="en-US" altLang="zh-CN" dirty="0">
                <a:latin typeface="+mj-ea"/>
              </a:rPr>
              <a:t>F</a:t>
            </a:r>
            <a:r>
              <a:rPr lang="en-US" altLang="zh-CN" baseline="-25000" dirty="0">
                <a:latin typeface="+mj-ea"/>
              </a:rPr>
              <a:t>21</a:t>
            </a:r>
            <a:r>
              <a:rPr lang="en-US" altLang="zh-CN" dirty="0">
                <a:latin typeface="+mj-ea"/>
              </a:rPr>
              <a:t> =3</a:t>
            </a:r>
          </a:p>
          <a:p>
            <a:pPr>
              <a:defRPr/>
            </a:pPr>
            <a:endParaRPr lang="en-US" altLang="zh-CN" dirty="0">
              <a:latin typeface="+mj-ea"/>
            </a:endParaRPr>
          </a:p>
          <a:p>
            <a:pPr>
              <a:defRPr/>
            </a:pPr>
            <a:r>
              <a:rPr lang="zh-CN" altLang="en-US" dirty="0">
                <a:latin typeface="+mj-ea"/>
              </a:rPr>
              <a:t>此时要估计未完成的作业，需要的时间总和</a:t>
            </a:r>
            <a:endParaRPr lang="en-US" altLang="zh-CN" dirty="0">
              <a:latin typeface="+mj-ea"/>
            </a:endParaRPr>
          </a:p>
          <a:p>
            <a:pPr>
              <a:defRPr/>
            </a:pPr>
            <a:endParaRPr lang="en-US" altLang="zh-CN" dirty="0">
              <a:latin typeface="+mj-ea"/>
            </a:endParaRPr>
          </a:p>
          <a:p>
            <a:pPr>
              <a:defRPr/>
            </a:pPr>
            <a:r>
              <a:rPr lang="en-US" altLang="zh-CN" dirty="0">
                <a:latin typeface="+mj-ea"/>
              </a:rPr>
              <a:t>F22= F21+f12+f22</a:t>
            </a:r>
          </a:p>
          <a:p>
            <a:pPr>
              <a:defRPr/>
            </a:pPr>
            <a:r>
              <a:rPr lang="en-US" altLang="zh-CN" dirty="0">
                <a:latin typeface="+mj-ea"/>
              </a:rPr>
              <a:t>F23= F21+f12+f13+f23</a:t>
            </a:r>
          </a:p>
          <a:p>
            <a:pPr>
              <a:defRPr/>
            </a:pPr>
            <a:endParaRPr lang="en-US" altLang="zh-CN" dirty="0">
              <a:latin typeface="+mj-ea"/>
            </a:endParaRPr>
          </a:p>
          <a:p>
            <a:pPr>
              <a:defRPr/>
            </a:pPr>
            <a:endParaRPr lang="zh-CN" altLang="en-US" dirty="0"/>
          </a:p>
        </p:txBody>
      </p:sp>
      <p:sp>
        <p:nvSpPr>
          <p:cNvPr id="109572" name="灯片编号占位符 3">
            <a:extLst>
              <a:ext uri="{FF2B5EF4-FFF2-40B4-BE49-F238E27FC236}">
                <a16:creationId xmlns:a16="http://schemas.microsoft.com/office/drawing/2014/main" id="{33509739-1ECF-568B-5FF9-678807F5A1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3754982-F19D-4145-94A7-EA7815AD8931}" type="slidenum">
              <a:rPr lang="zh-CN" altLang="en-US" sz="1200">
                <a:solidFill>
                  <a:schemeClr val="tx1"/>
                </a:solidFill>
                <a:latin typeface="Times New Roman" panose="02020603050405020304" pitchFamily="18" charset="0"/>
                <a:ea typeface="宋体" panose="02010600030101010101" pitchFamily="2" charset="-122"/>
              </a:rPr>
              <a:pPr/>
              <a:t>73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a:extLst>
              <a:ext uri="{FF2B5EF4-FFF2-40B4-BE49-F238E27FC236}">
                <a16:creationId xmlns:a16="http://schemas.microsoft.com/office/drawing/2014/main" id="{CF6B32EF-B46D-64F2-3AC1-179A5A0E566D}"/>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6A6FAA3F-1B69-4C32-A52C-904BC620771D}"/>
              </a:ext>
            </a:extLst>
          </p:cNvPr>
          <p:cNvSpPr>
            <a:spLocks noGrp="1"/>
          </p:cNvSpPr>
          <p:nvPr>
            <p:ph type="body" idx="1"/>
          </p:nvPr>
        </p:nvSpPr>
        <p:spPr/>
        <p:txBody>
          <a:bodyPr/>
          <a:lstStyle/>
          <a:p>
            <a:pPr>
              <a:defRPr/>
            </a:pPr>
            <a:r>
              <a:rPr kumimoji="1" lang="en-US" altLang="zh-CN" dirty="0">
                <a:latin typeface="+mj-ea"/>
              </a:rPr>
              <a:t> if (bb &lt; </a:t>
            </a:r>
            <a:r>
              <a:rPr kumimoji="1" lang="en-US" altLang="zh-CN" dirty="0" err="1">
                <a:latin typeface="+mj-ea"/>
              </a:rPr>
              <a:t>bestc</a:t>
            </a:r>
            <a:r>
              <a:rPr kumimoji="1" lang="en-US" altLang="zh-CN" dirty="0">
                <a:latin typeface="+mj-ea"/>
              </a:rPr>
              <a:t> ) {   //</a:t>
            </a:r>
            <a:r>
              <a:rPr lang="zh-CN" altLang="en-US" b="1" dirty="0">
                <a:latin typeface="+mj-ea"/>
              </a:rPr>
              <a:t>将儿子结点插入到活结点优先队列中</a:t>
            </a:r>
            <a:endParaRPr lang="zh-CN" altLang="en-US" dirty="0"/>
          </a:p>
        </p:txBody>
      </p:sp>
      <p:sp>
        <p:nvSpPr>
          <p:cNvPr id="113668" name="灯片编号占位符 3">
            <a:extLst>
              <a:ext uri="{FF2B5EF4-FFF2-40B4-BE49-F238E27FC236}">
                <a16:creationId xmlns:a16="http://schemas.microsoft.com/office/drawing/2014/main" id="{CF9C73C4-D09B-6C37-14CA-11949B65B8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05D5B7B-214E-4120-A4AC-3FF269ACB436}" type="slidenum">
              <a:rPr lang="zh-CN" altLang="en-US" sz="1200">
                <a:solidFill>
                  <a:schemeClr val="tx1"/>
                </a:solidFill>
                <a:latin typeface="Times New Roman" panose="02020603050405020304" pitchFamily="18" charset="0"/>
                <a:ea typeface="宋体" panose="02010600030101010101" pitchFamily="2" charset="-122"/>
              </a:rPr>
              <a:pPr/>
              <a:t>76</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30A267D3-5037-58B0-6EC6-BEA862E0E35F}"/>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Line 8">
            <a:extLst>
              <a:ext uri="{FF2B5EF4-FFF2-40B4-BE49-F238E27FC236}">
                <a16:creationId xmlns:a16="http://schemas.microsoft.com/office/drawing/2014/main" id="{53D85EFA-C412-0C61-BEE0-84CFB22FA4F2}"/>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114" name="Rectangle 2"/>
          <p:cNvSpPr>
            <a:spLocks noGrp="1" noChangeArrowheads="1"/>
          </p:cNvSpPr>
          <p:nvPr>
            <p:ph type="ctrTitle"/>
          </p:nvPr>
        </p:nvSpPr>
        <p:spPr>
          <a:xfrm>
            <a:off x="914400" y="1524000"/>
            <a:ext cx="7623175" cy="1752600"/>
          </a:xfrm>
        </p:spPr>
        <p:txBody>
          <a:bodyPr/>
          <a:lstStyle>
            <a:lvl1pPr>
              <a:defRPr sz="5000"/>
            </a:lvl1pPr>
          </a:lstStyle>
          <a:p>
            <a:r>
              <a:rPr lang="en-US" altLang="zh-CN"/>
              <a:t>单击此处编辑母版标题样式</a:t>
            </a:r>
          </a:p>
        </p:txBody>
      </p:sp>
      <p:sp>
        <p:nvSpPr>
          <p:cNvPr id="346115"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zh-CN"/>
              <a:t>单击此处编辑母版副标题样式</a:t>
            </a:r>
          </a:p>
        </p:txBody>
      </p:sp>
      <p:sp>
        <p:nvSpPr>
          <p:cNvPr id="4" name="Rectangle 4">
            <a:extLst>
              <a:ext uri="{FF2B5EF4-FFF2-40B4-BE49-F238E27FC236}">
                <a16:creationId xmlns:a16="http://schemas.microsoft.com/office/drawing/2014/main" id="{4A0E6E26-82F6-B029-1698-66DC44CCB720}"/>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5AF4C35-060E-92FB-D1C4-970F7D10EB65}"/>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9FC60CE-4BE1-ACD3-DB60-A147AC2B8A8D}"/>
              </a:ext>
            </a:extLst>
          </p:cNvPr>
          <p:cNvSpPr>
            <a:spLocks noGrp="1" noChangeArrowheads="1"/>
          </p:cNvSpPr>
          <p:nvPr>
            <p:ph type="sldNum" sz="quarter" idx="12"/>
          </p:nvPr>
        </p:nvSpPr>
        <p:spPr/>
        <p:txBody>
          <a:bodyPr/>
          <a:lstStyle>
            <a:lvl1pPr>
              <a:defRPr/>
            </a:lvl1pPr>
          </a:lstStyle>
          <a:p>
            <a:fld id="{BF630325-E9BD-4978-96AA-55D4E366ABE9}" type="slidenum">
              <a:rPr lang="en-US" altLang="zh-CN"/>
              <a:pPr/>
              <a:t>‹#›</a:t>
            </a:fld>
            <a:endParaRPr lang="en-US" altLang="zh-CN"/>
          </a:p>
        </p:txBody>
      </p:sp>
    </p:spTree>
    <p:extLst>
      <p:ext uri="{BB962C8B-B14F-4D97-AF65-F5344CB8AC3E}">
        <p14:creationId xmlns:p14="http://schemas.microsoft.com/office/powerpoint/2010/main" val="2914896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79B7DEA-3F33-2A56-3B12-04519C55C87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F19B6E3-12F9-8717-C8F0-AF8BF91BE11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DC7A9B7-07F6-177D-9AC2-5FC70A60F249}"/>
              </a:ext>
            </a:extLst>
          </p:cNvPr>
          <p:cNvSpPr>
            <a:spLocks noGrp="1" noChangeArrowheads="1"/>
          </p:cNvSpPr>
          <p:nvPr>
            <p:ph type="sldNum" sz="quarter" idx="12"/>
          </p:nvPr>
        </p:nvSpPr>
        <p:spPr>
          <a:ln/>
        </p:spPr>
        <p:txBody>
          <a:bodyPr/>
          <a:lstStyle>
            <a:lvl1pPr>
              <a:defRPr/>
            </a:lvl1pPr>
          </a:lstStyle>
          <a:p>
            <a:fld id="{9466E651-111B-475D-92EE-52A81F583204}" type="slidenum">
              <a:rPr lang="en-US" altLang="zh-CN"/>
              <a:pPr/>
              <a:t>‹#›</a:t>
            </a:fld>
            <a:endParaRPr lang="en-US" altLang="zh-CN"/>
          </a:p>
        </p:txBody>
      </p:sp>
    </p:spTree>
    <p:extLst>
      <p:ext uri="{BB962C8B-B14F-4D97-AF65-F5344CB8AC3E}">
        <p14:creationId xmlns:p14="http://schemas.microsoft.com/office/powerpoint/2010/main" val="1996051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3B3F32C-8C2C-A9F3-683A-08EE25A1D5B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99D7700-6BB9-558A-2622-FB84B31DA1F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AAB3FB7-41AD-0BAB-170C-7E64209B57F9}"/>
              </a:ext>
            </a:extLst>
          </p:cNvPr>
          <p:cNvSpPr>
            <a:spLocks noGrp="1" noChangeArrowheads="1"/>
          </p:cNvSpPr>
          <p:nvPr>
            <p:ph type="sldNum" sz="quarter" idx="12"/>
          </p:nvPr>
        </p:nvSpPr>
        <p:spPr>
          <a:ln/>
        </p:spPr>
        <p:txBody>
          <a:bodyPr/>
          <a:lstStyle>
            <a:lvl1pPr>
              <a:defRPr/>
            </a:lvl1pPr>
          </a:lstStyle>
          <a:p>
            <a:fld id="{BA23DBC7-0CCB-43E7-BF8E-1BA49813D18A}" type="slidenum">
              <a:rPr lang="en-US" altLang="zh-CN"/>
              <a:pPr/>
              <a:t>‹#›</a:t>
            </a:fld>
            <a:endParaRPr lang="en-US" altLang="zh-CN"/>
          </a:p>
        </p:txBody>
      </p:sp>
    </p:spTree>
    <p:extLst>
      <p:ext uri="{BB962C8B-B14F-4D97-AF65-F5344CB8AC3E}">
        <p14:creationId xmlns:p14="http://schemas.microsoft.com/office/powerpoint/2010/main" val="20577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C8F8DF2-2C27-EC79-9125-452B6E01A88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EFC0970-042B-F934-1ABD-432C51A5FB1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F8C63B4-B5DE-7518-48CA-E6748CCA4981}"/>
              </a:ext>
            </a:extLst>
          </p:cNvPr>
          <p:cNvSpPr>
            <a:spLocks noGrp="1" noChangeArrowheads="1"/>
          </p:cNvSpPr>
          <p:nvPr>
            <p:ph type="sldNum" sz="quarter" idx="12"/>
          </p:nvPr>
        </p:nvSpPr>
        <p:spPr>
          <a:ln/>
        </p:spPr>
        <p:txBody>
          <a:bodyPr/>
          <a:lstStyle>
            <a:lvl1pPr>
              <a:defRPr/>
            </a:lvl1pPr>
          </a:lstStyle>
          <a:p>
            <a:fld id="{FC74C807-1434-47A4-A014-721C37782C30}" type="slidenum">
              <a:rPr lang="en-US" altLang="zh-CN"/>
              <a:pPr/>
              <a:t>‹#›</a:t>
            </a:fld>
            <a:endParaRPr lang="en-US" altLang="zh-CN"/>
          </a:p>
        </p:txBody>
      </p:sp>
    </p:spTree>
    <p:extLst>
      <p:ext uri="{BB962C8B-B14F-4D97-AF65-F5344CB8AC3E}">
        <p14:creationId xmlns:p14="http://schemas.microsoft.com/office/powerpoint/2010/main" val="250251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CD7FA85D-327D-1D8E-8955-8924AFDAD00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4E45C170-7A16-2A6D-E7CD-5ABC595C1C3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5C20E88A-64A1-4566-51FE-4149770EE959}"/>
              </a:ext>
            </a:extLst>
          </p:cNvPr>
          <p:cNvSpPr>
            <a:spLocks noGrp="1" noChangeArrowheads="1"/>
          </p:cNvSpPr>
          <p:nvPr>
            <p:ph type="sldNum" sz="quarter" idx="12"/>
          </p:nvPr>
        </p:nvSpPr>
        <p:spPr>
          <a:ln/>
        </p:spPr>
        <p:txBody>
          <a:bodyPr/>
          <a:lstStyle>
            <a:lvl1pPr>
              <a:defRPr/>
            </a:lvl1pPr>
          </a:lstStyle>
          <a:p>
            <a:fld id="{100BD2B1-4F0B-4EE4-9D0E-1B35CE7BE217}" type="slidenum">
              <a:rPr lang="en-US" altLang="zh-CN"/>
              <a:pPr/>
              <a:t>‹#›</a:t>
            </a:fld>
            <a:endParaRPr lang="en-US" altLang="zh-CN"/>
          </a:p>
        </p:txBody>
      </p:sp>
    </p:spTree>
    <p:extLst>
      <p:ext uri="{BB962C8B-B14F-4D97-AF65-F5344CB8AC3E}">
        <p14:creationId xmlns:p14="http://schemas.microsoft.com/office/powerpoint/2010/main" val="3989450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52EDE1A3-0135-9E96-C161-B1370ED579D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C17E0C6-FAF4-96F0-2AA2-59A7461B64C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AAF7C43-EF79-D6A8-765C-957651A87882}"/>
              </a:ext>
            </a:extLst>
          </p:cNvPr>
          <p:cNvSpPr>
            <a:spLocks noGrp="1" noChangeArrowheads="1"/>
          </p:cNvSpPr>
          <p:nvPr>
            <p:ph type="sldNum" sz="quarter" idx="12"/>
          </p:nvPr>
        </p:nvSpPr>
        <p:spPr>
          <a:ln/>
        </p:spPr>
        <p:txBody>
          <a:bodyPr/>
          <a:lstStyle>
            <a:lvl1pPr>
              <a:defRPr/>
            </a:lvl1pPr>
          </a:lstStyle>
          <a:p>
            <a:fld id="{56F939CE-B363-4496-A639-91F71E3AF8C0}" type="slidenum">
              <a:rPr lang="en-US" altLang="zh-CN"/>
              <a:pPr/>
              <a:t>‹#›</a:t>
            </a:fld>
            <a:endParaRPr lang="en-US" altLang="zh-CN"/>
          </a:p>
        </p:txBody>
      </p:sp>
    </p:spTree>
    <p:extLst>
      <p:ext uri="{BB962C8B-B14F-4D97-AF65-F5344CB8AC3E}">
        <p14:creationId xmlns:p14="http://schemas.microsoft.com/office/powerpoint/2010/main" val="3340461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C0B62F9-2EB8-D5A5-CA85-A16F4B9B0CF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0236DE7A-8F12-C8B5-1EA0-9FD0C90BEBC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B42CB7FA-9168-8963-363B-5E2665BA9027}"/>
              </a:ext>
            </a:extLst>
          </p:cNvPr>
          <p:cNvSpPr>
            <a:spLocks noGrp="1" noChangeArrowheads="1"/>
          </p:cNvSpPr>
          <p:nvPr>
            <p:ph type="sldNum" sz="quarter" idx="12"/>
          </p:nvPr>
        </p:nvSpPr>
        <p:spPr>
          <a:ln/>
        </p:spPr>
        <p:txBody>
          <a:bodyPr/>
          <a:lstStyle>
            <a:lvl1pPr>
              <a:defRPr/>
            </a:lvl1pPr>
          </a:lstStyle>
          <a:p>
            <a:fld id="{E60DC7D1-6FAE-4892-A8D1-110D166C62E1}" type="slidenum">
              <a:rPr lang="en-US" altLang="zh-CN"/>
              <a:pPr/>
              <a:t>‹#›</a:t>
            </a:fld>
            <a:endParaRPr lang="en-US" altLang="zh-CN"/>
          </a:p>
        </p:txBody>
      </p:sp>
    </p:spTree>
    <p:extLst>
      <p:ext uri="{BB962C8B-B14F-4D97-AF65-F5344CB8AC3E}">
        <p14:creationId xmlns:p14="http://schemas.microsoft.com/office/powerpoint/2010/main" val="1826334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DFC08C1-0509-ADC6-C147-8CAE743439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CE50EDF-3AB0-8D8D-13F1-79E89C9E2A8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1DA5FF9-B08E-CA7E-34A1-FDC30C4B2794}"/>
              </a:ext>
            </a:extLst>
          </p:cNvPr>
          <p:cNvSpPr>
            <a:spLocks noGrp="1" noChangeArrowheads="1"/>
          </p:cNvSpPr>
          <p:nvPr>
            <p:ph type="sldNum" sz="quarter" idx="12"/>
          </p:nvPr>
        </p:nvSpPr>
        <p:spPr>
          <a:ln/>
        </p:spPr>
        <p:txBody>
          <a:bodyPr/>
          <a:lstStyle>
            <a:lvl1pPr>
              <a:defRPr/>
            </a:lvl1pPr>
          </a:lstStyle>
          <a:p>
            <a:fld id="{0AA8CF83-B740-41C0-9D52-A4023D775E77}" type="slidenum">
              <a:rPr lang="en-US" altLang="zh-CN"/>
              <a:pPr/>
              <a:t>‹#›</a:t>
            </a:fld>
            <a:endParaRPr lang="en-US" altLang="zh-CN"/>
          </a:p>
        </p:txBody>
      </p:sp>
    </p:spTree>
    <p:extLst>
      <p:ext uri="{BB962C8B-B14F-4D97-AF65-F5344CB8AC3E}">
        <p14:creationId xmlns:p14="http://schemas.microsoft.com/office/powerpoint/2010/main" val="3084514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F7E2BBF-0C3E-54D8-02B7-E5F18E371F5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545A0F6-E42D-FDCF-2EA7-707542D87DD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BB00EED-0BCB-B204-1613-1496C0741975}"/>
              </a:ext>
            </a:extLst>
          </p:cNvPr>
          <p:cNvSpPr>
            <a:spLocks noGrp="1" noChangeArrowheads="1"/>
          </p:cNvSpPr>
          <p:nvPr>
            <p:ph type="sldNum" sz="quarter" idx="12"/>
          </p:nvPr>
        </p:nvSpPr>
        <p:spPr>
          <a:ln/>
        </p:spPr>
        <p:txBody>
          <a:bodyPr/>
          <a:lstStyle>
            <a:lvl1pPr>
              <a:defRPr/>
            </a:lvl1pPr>
          </a:lstStyle>
          <a:p>
            <a:fld id="{7D05E6DE-5B54-4EAA-B9F1-842C97DC3C87}" type="slidenum">
              <a:rPr lang="en-US" altLang="zh-CN"/>
              <a:pPr/>
              <a:t>‹#›</a:t>
            </a:fld>
            <a:endParaRPr lang="en-US" altLang="zh-CN"/>
          </a:p>
        </p:txBody>
      </p:sp>
    </p:spTree>
    <p:extLst>
      <p:ext uri="{BB962C8B-B14F-4D97-AF65-F5344CB8AC3E}">
        <p14:creationId xmlns:p14="http://schemas.microsoft.com/office/powerpoint/2010/main" val="3115364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7366C01-D57B-6A79-2542-208D4AA5BD1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BD1EF85-3A77-79DC-889A-EE4C32B756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D40995E-E3AF-3C6C-87B9-45C718B0DB99}"/>
              </a:ext>
            </a:extLst>
          </p:cNvPr>
          <p:cNvSpPr>
            <a:spLocks noGrp="1" noChangeArrowheads="1"/>
          </p:cNvSpPr>
          <p:nvPr>
            <p:ph type="sldNum" sz="quarter" idx="12"/>
          </p:nvPr>
        </p:nvSpPr>
        <p:spPr>
          <a:ln/>
        </p:spPr>
        <p:txBody>
          <a:bodyPr/>
          <a:lstStyle>
            <a:lvl1pPr>
              <a:defRPr/>
            </a:lvl1pPr>
          </a:lstStyle>
          <a:p>
            <a:fld id="{DAF3C3D6-2226-4B55-A326-047CA02C122B}" type="slidenum">
              <a:rPr lang="en-US" altLang="zh-CN"/>
              <a:pPr/>
              <a:t>‹#›</a:t>
            </a:fld>
            <a:endParaRPr lang="en-US" altLang="zh-CN"/>
          </a:p>
        </p:txBody>
      </p:sp>
    </p:spTree>
    <p:extLst>
      <p:ext uri="{BB962C8B-B14F-4D97-AF65-F5344CB8AC3E}">
        <p14:creationId xmlns:p14="http://schemas.microsoft.com/office/powerpoint/2010/main" val="789735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BC483D3-1A94-03DC-A3F9-52DBEE1AEC6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AD989EF-4767-300D-8100-0983A7366A0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501415A-B684-EF24-4582-E8B4ED01C2ED}"/>
              </a:ext>
            </a:extLst>
          </p:cNvPr>
          <p:cNvSpPr>
            <a:spLocks noGrp="1" noChangeArrowheads="1"/>
          </p:cNvSpPr>
          <p:nvPr>
            <p:ph type="sldNum" sz="quarter" idx="12"/>
          </p:nvPr>
        </p:nvSpPr>
        <p:spPr>
          <a:ln/>
        </p:spPr>
        <p:txBody>
          <a:bodyPr/>
          <a:lstStyle>
            <a:lvl1pPr>
              <a:defRPr/>
            </a:lvl1pPr>
          </a:lstStyle>
          <a:p>
            <a:fld id="{59452C43-8136-4F72-A169-925F21DB1BAC}" type="slidenum">
              <a:rPr lang="en-US" altLang="zh-CN"/>
              <a:pPr/>
              <a:t>‹#›</a:t>
            </a:fld>
            <a:endParaRPr lang="en-US" altLang="zh-CN"/>
          </a:p>
        </p:txBody>
      </p:sp>
    </p:spTree>
    <p:extLst>
      <p:ext uri="{BB962C8B-B14F-4D97-AF65-F5344CB8AC3E}">
        <p14:creationId xmlns:p14="http://schemas.microsoft.com/office/powerpoint/2010/main" val="1906028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C06D3132-3F7B-9890-6550-29D2D7EC792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8DE0756-D227-69E3-03CD-863DE7030C6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5782557-1FC2-97A5-451D-22D8514AB0C7}"/>
              </a:ext>
            </a:extLst>
          </p:cNvPr>
          <p:cNvSpPr>
            <a:spLocks noGrp="1" noChangeArrowheads="1"/>
          </p:cNvSpPr>
          <p:nvPr>
            <p:ph type="sldNum" sz="quarter" idx="12"/>
          </p:nvPr>
        </p:nvSpPr>
        <p:spPr>
          <a:ln/>
        </p:spPr>
        <p:txBody>
          <a:bodyPr/>
          <a:lstStyle>
            <a:lvl1pPr>
              <a:defRPr/>
            </a:lvl1pPr>
          </a:lstStyle>
          <a:p>
            <a:fld id="{ECA04D1A-B21E-4074-A572-06090A71BEFB}" type="slidenum">
              <a:rPr lang="en-US" altLang="zh-CN"/>
              <a:pPr/>
              <a:t>‹#›</a:t>
            </a:fld>
            <a:endParaRPr lang="en-US" altLang="zh-CN"/>
          </a:p>
        </p:txBody>
      </p:sp>
    </p:spTree>
    <p:extLst>
      <p:ext uri="{BB962C8B-B14F-4D97-AF65-F5344CB8AC3E}">
        <p14:creationId xmlns:p14="http://schemas.microsoft.com/office/powerpoint/2010/main" val="1780211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29D5460-DBB5-8F1F-E12D-A6963CAAD879}"/>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单击此处编辑母版标题样式</a:t>
            </a:r>
          </a:p>
        </p:txBody>
      </p:sp>
      <p:sp>
        <p:nvSpPr>
          <p:cNvPr id="1027" name="Rectangle 3">
            <a:extLst>
              <a:ext uri="{FF2B5EF4-FFF2-40B4-BE49-F238E27FC236}">
                <a16:creationId xmlns:a16="http://schemas.microsoft.com/office/drawing/2014/main" id="{C7498031-BFCF-B028-F2B5-14F90F6DCE40}"/>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单击此处编辑母版文本样式</a:t>
            </a:r>
          </a:p>
          <a:p>
            <a:pPr lvl="1"/>
            <a:r>
              <a:rPr lang="en-US" altLang="zh-CN"/>
              <a:t>第二级</a:t>
            </a:r>
          </a:p>
          <a:p>
            <a:pPr lvl="2"/>
            <a:r>
              <a:rPr lang="en-US" altLang="zh-CN"/>
              <a:t>第三级</a:t>
            </a:r>
          </a:p>
          <a:p>
            <a:pPr lvl="3"/>
            <a:r>
              <a:rPr lang="en-US" altLang="zh-CN"/>
              <a:t>第四级</a:t>
            </a:r>
          </a:p>
          <a:p>
            <a:pPr lvl="4"/>
            <a:r>
              <a:rPr lang="en-US" altLang="zh-CN"/>
              <a:t>第五级</a:t>
            </a:r>
          </a:p>
        </p:txBody>
      </p:sp>
      <p:sp>
        <p:nvSpPr>
          <p:cNvPr id="345092" name="Rectangle 4">
            <a:extLst>
              <a:ext uri="{FF2B5EF4-FFF2-40B4-BE49-F238E27FC236}">
                <a16:creationId xmlns:a16="http://schemas.microsoft.com/office/drawing/2014/main" id="{39E64491-0AAE-4AA9-8E13-3175D1D13D6D}"/>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a:solidFill>
                  <a:schemeClr val="tx1"/>
                </a:solidFill>
                <a:latin typeface="+mj-lt"/>
                <a:ea typeface="+mn-ea"/>
                <a:cs typeface="+mn-cs"/>
              </a:defRPr>
            </a:lvl1pPr>
          </a:lstStyle>
          <a:p>
            <a:pPr>
              <a:defRPr/>
            </a:pPr>
            <a:endParaRPr lang="en-US" altLang="zh-CN"/>
          </a:p>
        </p:txBody>
      </p:sp>
      <p:sp>
        <p:nvSpPr>
          <p:cNvPr id="345093" name="Rectangle 5">
            <a:extLst>
              <a:ext uri="{FF2B5EF4-FFF2-40B4-BE49-F238E27FC236}">
                <a16:creationId xmlns:a16="http://schemas.microsoft.com/office/drawing/2014/main" id="{49F319FD-A4F9-4A40-B740-0E9BB119C41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buClrTx/>
              <a:buSzTx/>
              <a:buFontTx/>
              <a:buNone/>
              <a:defRPr sz="1200">
                <a:solidFill>
                  <a:schemeClr val="tx1"/>
                </a:solidFill>
                <a:latin typeface="+mj-lt"/>
                <a:ea typeface="+mn-ea"/>
                <a:cs typeface="+mn-cs"/>
              </a:defRPr>
            </a:lvl1pPr>
          </a:lstStyle>
          <a:p>
            <a:pPr>
              <a:defRPr/>
            </a:pPr>
            <a:endParaRPr lang="en-US" altLang="zh-CN"/>
          </a:p>
        </p:txBody>
      </p:sp>
      <p:sp>
        <p:nvSpPr>
          <p:cNvPr id="345094" name="Rectangle 6">
            <a:extLst>
              <a:ext uri="{FF2B5EF4-FFF2-40B4-BE49-F238E27FC236}">
                <a16:creationId xmlns:a16="http://schemas.microsoft.com/office/drawing/2014/main" id="{F359DB99-D808-40F6-94FB-BB0A0B1867E3}"/>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Garamond" panose="02020404030301010803" pitchFamily="18" charset="0"/>
                <a:ea typeface="宋体" panose="02010600030101010101" pitchFamily="2" charset="-122"/>
                <a:cs typeface="Times New Roman" panose="02020603050405020304" pitchFamily="18" charset="0"/>
              </a:defRPr>
            </a:lvl1pPr>
          </a:lstStyle>
          <a:p>
            <a:fld id="{D6449D7D-11BA-4A7B-8DAD-9E0D14104539}" type="slidenum">
              <a:rPr lang="en-US" altLang="zh-CN"/>
              <a:pPr/>
              <a:t>‹#›</a:t>
            </a:fld>
            <a:endParaRPr lang="en-US" altLang="zh-CN"/>
          </a:p>
        </p:txBody>
      </p:sp>
      <p:sp>
        <p:nvSpPr>
          <p:cNvPr id="1031" name="Freeform 7">
            <a:extLst>
              <a:ext uri="{FF2B5EF4-FFF2-40B4-BE49-F238E27FC236}">
                <a16:creationId xmlns:a16="http://schemas.microsoft.com/office/drawing/2014/main" id="{0F85645A-6DCD-C6B9-2E24-36BFE8B399DB}"/>
              </a:ext>
            </a:extLst>
          </p:cNvPr>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a:extLst>
              <a:ext uri="{FF2B5EF4-FFF2-40B4-BE49-F238E27FC236}">
                <a16:creationId xmlns:a16="http://schemas.microsoft.com/office/drawing/2014/main" id="{A1315E88-B760-582C-69CD-DD3A7FAEEA89}"/>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557" r:id="rId1"/>
    <p:sldLayoutId id="2147484546" r:id="rId2"/>
    <p:sldLayoutId id="2147484547" r:id="rId3"/>
    <p:sldLayoutId id="2147484548" r:id="rId4"/>
    <p:sldLayoutId id="2147484549" r:id="rId5"/>
    <p:sldLayoutId id="2147484550" r:id="rId6"/>
    <p:sldLayoutId id="2147484551" r:id="rId7"/>
    <p:sldLayoutId id="2147484552" r:id="rId8"/>
    <p:sldLayoutId id="2147484553" r:id="rId9"/>
    <p:sldLayoutId id="2147484554" r:id="rId10"/>
    <p:sldLayoutId id="2147484555" r:id="rId11"/>
    <p:sldLayoutId id="2147484556" r:id="rId12"/>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Black" panose="020B0A04020102020204" pitchFamily="34" charset="0"/>
          <a:ea typeface="宋体" pitchFamily="2" charset="-122"/>
        </a:defRPr>
      </a:lvl2pPr>
      <a:lvl3pPr algn="l" rtl="0" eaLnBrk="0" fontAlgn="base" hangingPunct="0">
        <a:spcBef>
          <a:spcPct val="0"/>
        </a:spcBef>
        <a:spcAft>
          <a:spcPct val="0"/>
        </a:spcAft>
        <a:defRPr sz="4200">
          <a:solidFill>
            <a:schemeClr val="tx2"/>
          </a:solidFill>
          <a:latin typeface="Arial Black" panose="020B0A04020102020204" pitchFamily="34" charset="0"/>
          <a:ea typeface="宋体" pitchFamily="2" charset="-122"/>
        </a:defRPr>
      </a:lvl3pPr>
      <a:lvl4pPr algn="l" rtl="0" eaLnBrk="0" fontAlgn="base" hangingPunct="0">
        <a:spcBef>
          <a:spcPct val="0"/>
        </a:spcBef>
        <a:spcAft>
          <a:spcPct val="0"/>
        </a:spcAft>
        <a:defRPr sz="4200">
          <a:solidFill>
            <a:schemeClr val="tx2"/>
          </a:solidFill>
          <a:latin typeface="Arial Black" panose="020B0A04020102020204" pitchFamily="34" charset="0"/>
          <a:ea typeface="宋体" pitchFamily="2" charset="-122"/>
        </a:defRPr>
      </a:lvl4pPr>
      <a:lvl5pPr algn="l" rtl="0" eaLnBrk="0" fontAlgn="base" hangingPunct="0">
        <a:spcBef>
          <a:spcPct val="0"/>
        </a:spcBef>
        <a:spcAft>
          <a:spcPct val="0"/>
        </a:spcAft>
        <a:defRPr sz="4200">
          <a:solidFill>
            <a:schemeClr val="tx2"/>
          </a:solidFill>
          <a:latin typeface="Arial Black" panose="020B0A04020102020204" pitchFamily="34"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baidu.com/link?url=IUb_MgUkO8TMqS8izY8yZWePhbIiBGSL9LIv1DNYsmr8yXuulDElnBm5FsvXnTqPJCYkrYXENFg91nPZHpnYkq"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image" Target="../media/image12.wmf"/></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w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7.bin"/><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9.png"/></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31.png"/><Relationship Id="rId4" Type="http://schemas.openxmlformats.org/officeDocument/2006/relationships/image" Target="../media/image32.wmf"/></Relationships>
</file>

<file path=ppt/slides/_rels/slide7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0.png"/></Relationships>
</file>

<file path=ppt/slides/_rels/slide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4.png"/></Relationships>
</file>

<file path=ppt/slides/_rels/slide7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36.w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32.wmf"/><Relationship Id="rId4" Type="http://schemas.openxmlformats.org/officeDocument/2006/relationships/oleObject" Target="../embeddings/oleObject8.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CA3DC2DB-8873-0266-54FA-6019510C24D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8551D7D-5E78-4D69-847E-E319546EBDB1}" type="slidenum">
              <a:rPr lang="en-US" altLang="zh-CN" sz="1200">
                <a:solidFill>
                  <a:schemeClr val="tx1"/>
                </a:solidFill>
                <a:latin typeface="Garamond" panose="02020404030301010803" pitchFamily="18" charset="0"/>
                <a:ea typeface="宋体" panose="02010600030101010101" pitchFamily="2" charset="-122"/>
              </a:rPr>
              <a:pPr/>
              <a:t>1</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5" name="Rectangle 2">
            <a:extLst>
              <a:ext uri="{FF2B5EF4-FFF2-40B4-BE49-F238E27FC236}">
                <a16:creationId xmlns:a16="http://schemas.microsoft.com/office/drawing/2014/main" id="{EF7C1383-E05F-44FB-B4B8-AA9F1CDAE76A}"/>
              </a:ext>
            </a:extLst>
          </p:cNvPr>
          <p:cNvSpPr txBox="1">
            <a:spLocks noChangeArrowheads="1"/>
          </p:cNvSpPr>
          <p:nvPr/>
        </p:nvSpPr>
        <p:spPr bwMode="auto">
          <a:xfrm>
            <a:off x="1116013" y="2205038"/>
            <a:ext cx="5921375" cy="1081087"/>
          </a:xfrm>
          <a:prstGeom prst="rect">
            <a:avLst/>
          </a:prstGeom>
          <a:noFill/>
          <a:ln w="9525">
            <a:noFill/>
            <a:miter lim="800000"/>
            <a:headEnd/>
            <a:tailEnd/>
          </a:ln>
        </p:spPr>
        <p:txBody>
          <a:bodyPr/>
          <a:lstStyle/>
          <a:p>
            <a:pPr algn="ctr">
              <a:defRPr/>
            </a:pPr>
            <a:r>
              <a:rPr lang="zh-CN" altLang="en-US" sz="3600" kern="0" dirty="0">
                <a:solidFill>
                  <a:srgbClr val="800000"/>
                </a:solidFill>
                <a:effectLst>
                  <a:outerShdw blurRad="38100" dist="38100" dir="2700000" algn="tl">
                    <a:srgbClr val="C0C0C0"/>
                  </a:outerShdw>
                </a:effectLst>
                <a:latin typeface="+mj-lt"/>
                <a:ea typeface="黑体" pitchFamily="49" charset="-122"/>
                <a:cs typeface="+mj-cs"/>
              </a:rPr>
              <a:t>第</a:t>
            </a:r>
            <a:r>
              <a:rPr lang="en-US" altLang="zh-CN" sz="3600" kern="0" dirty="0">
                <a:solidFill>
                  <a:srgbClr val="800000"/>
                </a:solidFill>
                <a:effectLst>
                  <a:outerShdw blurRad="38100" dist="38100" dir="2700000" algn="tl">
                    <a:srgbClr val="C0C0C0"/>
                  </a:outerShdw>
                </a:effectLst>
                <a:latin typeface="+mj-lt"/>
                <a:ea typeface="黑体" pitchFamily="49" charset="-122"/>
                <a:cs typeface="+mj-cs"/>
              </a:rPr>
              <a:t>6</a:t>
            </a:r>
            <a:r>
              <a:rPr lang="zh-CN" altLang="en-US" sz="3600" kern="0" dirty="0">
                <a:solidFill>
                  <a:srgbClr val="800000"/>
                </a:solidFill>
                <a:effectLst>
                  <a:outerShdw blurRad="38100" dist="38100" dir="2700000" algn="tl">
                    <a:srgbClr val="C0C0C0"/>
                  </a:outerShdw>
                </a:effectLst>
                <a:latin typeface="+mj-lt"/>
                <a:ea typeface="黑体" pitchFamily="49" charset="-122"/>
                <a:cs typeface="+mj-cs"/>
              </a:rPr>
              <a:t>章    分支限界法</a:t>
            </a:r>
            <a:endParaRPr lang="en-US" altLang="zh-CN" sz="3600" kern="0" dirty="0">
              <a:solidFill>
                <a:srgbClr val="800000"/>
              </a:solidFill>
              <a:effectLst>
                <a:outerShdw blurRad="38100" dist="38100" dir="2700000" algn="tl">
                  <a:srgbClr val="C0C0C0"/>
                </a:outerShdw>
              </a:effectLst>
              <a:latin typeface="+mj-lt"/>
              <a:ea typeface="黑体" pitchFamily="49" charset="-122"/>
              <a:cs typeface="+mj-cs"/>
            </a:endParaRPr>
          </a:p>
          <a:p>
            <a:pPr algn="ctr">
              <a:defRPr/>
            </a:pPr>
            <a:r>
              <a:rPr lang="en-US" altLang="zh-CN" sz="3600" kern="0" dirty="0">
                <a:solidFill>
                  <a:srgbClr val="800000"/>
                </a:solidFill>
                <a:effectLst>
                  <a:outerShdw blurRad="38100" dist="38100" dir="2700000" algn="tl">
                    <a:srgbClr val="C0C0C0"/>
                  </a:outerShdw>
                </a:effectLst>
                <a:latin typeface="+mj-lt"/>
                <a:ea typeface="黑体" pitchFamily="49" charset="-122"/>
                <a:cs typeface="+mj-cs"/>
                <a:hlinkClick r:id="rId3"/>
              </a:rPr>
              <a:t>(Branch and Bound</a:t>
            </a:r>
            <a:r>
              <a:rPr lang="en-US" altLang="zh-CN" sz="3600" kern="0" dirty="0">
                <a:solidFill>
                  <a:srgbClr val="800000"/>
                </a:solidFill>
                <a:effectLst>
                  <a:outerShdw blurRad="38100" dist="38100" dir="2700000" algn="tl">
                    <a:srgbClr val="C0C0C0"/>
                  </a:outerShdw>
                </a:effectLst>
                <a:latin typeface="+mj-lt"/>
                <a:ea typeface="黑体" pitchFamily="49" charset="-122"/>
                <a:cs typeface="+mj-cs"/>
              </a:rPr>
              <a:t>)</a:t>
            </a:r>
          </a:p>
          <a:p>
            <a:pPr>
              <a:defRPr/>
            </a:pPr>
            <a:endParaRPr lang="zh-CN" altLang="en-US" sz="3600" kern="0" dirty="0">
              <a:solidFill>
                <a:srgbClr val="800000"/>
              </a:solidFill>
              <a:effectLst>
                <a:outerShdw blurRad="38100" dist="38100" dir="2700000" algn="tl">
                  <a:srgbClr val="C0C0C0"/>
                </a:outerShdw>
              </a:effectLst>
              <a:latin typeface="+mj-lt"/>
              <a:ea typeface="黑体" pitchFamily="49"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a:extLst>
              <a:ext uri="{FF2B5EF4-FFF2-40B4-BE49-F238E27FC236}">
                <a16:creationId xmlns:a16="http://schemas.microsoft.com/office/drawing/2014/main" id="{C9E7D3A1-434A-4887-B35C-96292926B226}"/>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2A1A38AA-58AC-430B-AA28-6BCDD5DB6570}" type="slidenum">
              <a:rPr lang="zh-CN" altLang="en-US" sz="1200">
                <a:solidFill>
                  <a:schemeClr val="tx1"/>
                </a:solidFill>
                <a:latin typeface="微软雅黑" panose="020B0503020204020204" pitchFamily="34" charset="-122"/>
                <a:ea typeface="微软雅黑" panose="020B0503020204020204" pitchFamily="34" charset="-122"/>
              </a:rPr>
              <a:pPr/>
              <a:t>2</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42019" name="Rectangle 3">
            <a:extLst>
              <a:ext uri="{FF2B5EF4-FFF2-40B4-BE49-F238E27FC236}">
                <a16:creationId xmlns:a16="http://schemas.microsoft.com/office/drawing/2014/main" id="{6EB8F0AF-729B-48B1-8648-982B823A57E0}"/>
              </a:ext>
            </a:extLst>
          </p:cNvPr>
          <p:cNvSpPr>
            <a:spLocks noGrp="1" noChangeArrowheads="1"/>
          </p:cNvSpPr>
          <p:nvPr>
            <p:ph type="body" idx="1"/>
          </p:nvPr>
        </p:nvSpPr>
        <p:spPr>
          <a:xfrm>
            <a:off x="428625" y="571500"/>
            <a:ext cx="8715375" cy="5286375"/>
          </a:xfrm>
        </p:spPr>
        <p:txBody>
          <a:bodyPr/>
          <a:lstStyle/>
          <a:p>
            <a:pPr>
              <a:buFont typeface="Wingdings" panose="05000000000000000000" pitchFamily="2" charset="2"/>
              <a:buNone/>
              <a:defRPr/>
            </a:pPr>
            <a:r>
              <a:rPr lang="zh-CN" altLang="en-US" sz="3600" b="1" dirty="0">
                <a:solidFill>
                  <a:schemeClr val="tx2"/>
                </a:solidFill>
                <a:latin typeface="+mj-ea"/>
                <a:ea typeface="+mj-ea"/>
                <a:cs typeface="+mj-cs"/>
              </a:rPr>
              <a:t>学习要点</a:t>
            </a:r>
            <a:endParaRPr lang="en-US" altLang="zh-CN" sz="2400" b="1" dirty="0">
              <a:latin typeface="+mj-ea"/>
              <a:ea typeface="+mj-ea"/>
            </a:endParaRPr>
          </a:p>
          <a:p>
            <a:pPr>
              <a:lnSpc>
                <a:spcPct val="130000"/>
              </a:lnSpc>
              <a:buFont typeface="Symbol" pitchFamily="18" charset="2"/>
              <a:buChar char="·"/>
              <a:defRPr/>
            </a:pPr>
            <a:r>
              <a:rPr lang="zh-CN" altLang="en-US" sz="2400" b="1" dirty="0">
                <a:latin typeface="+mj-ea"/>
                <a:ea typeface="+mj-ea"/>
              </a:rPr>
              <a:t>理解分支限界法的剪枝搜索策略。</a:t>
            </a:r>
          </a:p>
          <a:p>
            <a:pPr>
              <a:lnSpc>
                <a:spcPct val="130000"/>
              </a:lnSpc>
              <a:buFont typeface="Symbol" pitchFamily="18" charset="2"/>
              <a:buChar char="·"/>
              <a:defRPr/>
            </a:pPr>
            <a:r>
              <a:rPr lang="zh-CN" altLang="en-US" sz="2400" b="1" dirty="0">
                <a:latin typeface="+mj-ea"/>
                <a:ea typeface="+mj-ea"/>
              </a:rPr>
              <a:t>掌握分支限界法的算法框架</a:t>
            </a:r>
          </a:p>
          <a:p>
            <a:pPr>
              <a:lnSpc>
                <a:spcPct val="130000"/>
              </a:lnSpc>
              <a:buFont typeface="Wingdings" panose="05000000000000000000" pitchFamily="2" charset="2"/>
              <a:buNone/>
              <a:defRPr/>
            </a:pPr>
            <a:r>
              <a:rPr lang="zh-CN" altLang="en-US" sz="2400" b="1" dirty="0">
                <a:latin typeface="+mj-ea"/>
                <a:ea typeface="+mj-ea"/>
              </a:rPr>
              <a:t>（</a:t>
            </a:r>
            <a:r>
              <a:rPr lang="en-US" altLang="zh-CN" sz="2400" b="1" dirty="0">
                <a:latin typeface="+mj-ea"/>
                <a:ea typeface="+mj-ea"/>
              </a:rPr>
              <a:t>1</a:t>
            </a:r>
            <a:r>
              <a:rPr lang="zh-CN" altLang="en-US" sz="2400" b="1" dirty="0">
                <a:latin typeface="+mj-ea"/>
                <a:ea typeface="+mj-ea"/>
              </a:rPr>
              <a:t>）队列式</a:t>
            </a:r>
            <a:r>
              <a:rPr lang="en-US" altLang="zh-CN" sz="2400" b="1" dirty="0">
                <a:latin typeface="+mj-ea"/>
                <a:ea typeface="+mj-ea"/>
              </a:rPr>
              <a:t>(FIFO)</a:t>
            </a:r>
            <a:r>
              <a:rPr lang="zh-CN" altLang="en-US" sz="2400" b="1" dirty="0">
                <a:latin typeface="+mj-ea"/>
                <a:ea typeface="+mj-ea"/>
              </a:rPr>
              <a:t>分支限界法</a:t>
            </a:r>
          </a:p>
          <a:p>
            <a:pPr>
              <a:lnSpc>
                <a:spcPct val="130000"/>
              </a:lnSpc>
              <a:buFont typeface="Wingdings" panose="05000000000000000000" pitchFamily="2" charset="2"/>
              <a:buNone/>
              <a:defRPr/>
            </a:pPr>
            <a:r>
              <a:rPr lang="zh-CN" altLang="en-US" sz="2400" b="1" dirty="0">
                <a:latin typeface="+mj-ea"/>
                <a:ea typeface="+mj-ea"/>
              </a:rPr>
              <a:t>（</a:t>
            </a:r>
            <a:r>
              <a:rPr lang="en-US" altLang="zh-CN" sz="2400" b="1" dirty="0">
                <a:latin typeface="+mj-ea"/>
                <a:ea typeface="+mj-ea"/>
              </a:rPr>
              <a:t>2</a:t>
            </a:r>
            <a:r>
              <a:rPr lang="zh-CN" altLang="en-US" sz="2400" b="1" dirty="0">
                <a:latin typeface="+mj-ea"/>
                <a:ea typeface="+mj-ea"/>
              </a:rPr>
              <a:t>）优先队列式分支限界法   </a:t>
            </a:r>
            <a:endParaRPr lang="en-US" altLang="zh-CN" sz="2400" b="1" dirty="0">
              <a:latin typeface="+mj-ea"/>
              <a:ea typeface="+mj-ea"/>
            </a:endParaRPr>
          </a:p>
          <a:p>
            <a:pPr>
              <a:lnSpc>
                <a:spcPct val="130000"/>
              </a:lnSpc>
              <a:buFont typeface="Wingdings" panose="05000000000000000000" pitchFamily="2" charset="2"/>
              <a:buNone/>
              <a:defRPr/>
            </a:pPr>
            <a:endParaRPr lang="zh-CN" altLang="en-US" sz="2400" b="1" dirty="0">
              <a:latin typeface="+mj-ea"/>
              <a:ea typeface="+mj-ea"/>
              <a:sym typeface="Symbol" pitchFamily="18" charset="2"/>
            </a:endParaRPr>
          </a:p>
          <a:p>
            <a:pPr>
              <a:lnSpc>
                <a:spcPct val="130000"/>
              </a:lnSpc>
              <a:buFont typeface="Symbol" pitchFamily="18" charset="2"/>
              <a:buChar char="·"/>
              <a:defRPr/>
            </a:pPr>
            <a:r>
              <a:rPr lang="zh-CN" altLang="en-US" sz="2400" b="1" dirty="0">
                <a:latin typeface="+mj-ea"/>
                <a:ea typeface="+mj-ea"/>
              </a:rPr>
              <a:t>通过应用范例学习分支限界法的设计策略。</a:t>
            </a:r>
          </a:p>
          <a:p>
            <a:pPr>
              <a:lnSpc>
                <a:spcPct val="130000"/>
              </a:lnSpc>
              <a:buFont typeface="Wingdings" panose="05000000000000000000" pitchFamily="2" charset="2"/>
              <a:buNone/>
              <a:defRPr/>
            </a:pPr>
            <a:r>
              <a:rPr lang="en-US" altLang="zh-CN" sz="2400" b="1" dirty="0">
                <a:latin typeface="+mj-ea"/>
                <a:ea typeface="+mj-ea"/>
              </a:rPr>
              <a:t>(1)</a:t>
            </a:r>
            <a:r>
              <a:rPr lang="zh-CN" altLang="en-US" sz="2400" b="1" dirty="0">
                <a:latin typeface="+mj-ea"/>
                <a:ea typeface="+mj-ea"/>
              </a:rPr>
              <a:t>单源最短路径问题；</a:t>
            </a:r>
            <a:r>
              <a:rPr lang="en-US" altLang="zh-CN" sz="2400" b="1" dirty="0">
                <a:latin typeface="+mj-ea"/>
                <a:ea typeface="+mj-ea"/>
              </a:rPr>
              <a:t>(2)</a:t>
            </a:r>
            <a:r>
              <a:rPr lang="zh-CN" altLang="en-US" sz="2400" b="1" dirty="0">
                <a:latin typeface="+mj-ea"/>
                <a:ea typeface="+mj-ea"/>
              </a:rPr>
              <a:t>装载问题；</a:t>
            </a:r>
            <a:r>
              <a:rPr lang="en-US" altLang="zh-CN" sz="2400" b="1" dirty="0">
                <a:latin typeface="+mj-ea"/>
                <a:ea typeface="+mj-ea"/>
              </a:rPr>
              <a:t>(3)0-1</a:t>
            </a:r>
            <a:r>
              <a:rPr lang="zh-CN" altLang="en-US" sz="2400" b="1" dirty="0">
                <a:latin typeface="+mj-ea"/>
                <a:ea typeface="+mj-ea"/>
              </a:rPr>
              <a:t>背包问题；</a:t>
            </a:r>
            <a:endParaRPr lang="en-US" altLang="zh-CN" sz="2400" b="1" dirty="0">
              <a:latin typeface="+mj-ea"/>
              <a:ea typeface="+mj-ea"/>
            </a:endParaRPr>
          </a:p>
          <a:p>
            <a:pPr>
              <a:lnSpc>
                <a:spcPct val="130000"/>
              </a:lnSpc>
              <a:buFont typeface="Wingdings" panose="05000000000000000000" pitchFamily="2" charset="2"/>
              <a:buNone/>
              <a:defRPr/>
            </a:pPr>
            <a:r>
              <a:rPr lang="en-US" altLang="zh-CN" sz="2400" b="1" dirty="0">
                <a:latin typeface="+mj-ea"/>
                <a:ea typeface="+mj-ea"/>
              </a:rPr>
              <a:t>(4)</a:t>
            </a:r>
            <a:r>
              <a:rPr lang="zh-CN" altLang="en-US" sz="2400" b="1" dirty="0">
                <a:latin typeface="+mj-ea"/>
                <a:ea typeface="+mj-ea"/>
              </a:rPr>
              <a:t>最大团问题；</a:t>
            </a:r>
            <a:r>
              <a:rPr lang="en-US" altLang="zh-CN" sz="2400" b="1" dirty="0">
                <a:latin typeface="+mj-ea"/>
                <a:ea typeface="+mj-ea"/>
              </a:rPr>
              <a:t>(5)</a:t>
            </a:r>
            <a:r>
              <a:rPr lang="zh-CN" altLang="en-US" sz="2400" b="1" dirty="0">
                <a:latin typeface="+mj-ea"/>
                <a:ea typeface="+mj-ea"/>
              </a:rPr>
              <a:t>旅行售货员问题；</a:t>
            </a:r>
            <a:r>
              <a:rPr lang="en-US" altLang="zh-CN" sz="2400" b="1" dirty="0">
                <a:latin typeface="+mj-ea"/>
                <a:ea typeface="+mj-ea"/>
              </a:rPr>
              <a:t>(6)</a:t>
            </a:r>
            <a:r>
              <a:rPr lang="zh-CN" altLang="en-US" sz="2400" b="1" dirty="0">
                <a:latin typeface="+mj-ea"/>
                <a:ea typeface="+mj-ea"/>
              </a:rPr>
              <a:t>批处理作业调度问题</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B49F768-5F6F-4D32-A9F7-AD1273903180}"/>
              </a:ext>
            </a:extLst>
          </p:cNvPr>
          <p:cNvSpPr>
            <a:spLocks noGrp="1" noChangeArrowheads="1"/>
          </p:cNvSpPr>
          <p:nvPr>
            <p:ph type="title"/>
          </p:nvPr>
        </p:nvSpPr>
        <p:spPr/>
        <p:txBody>
          <a:bodyPr/>
          <a:lstStyle/>
          <a:p>
            <a:pPr>
              <a:defRPr/>
            </a:pPr>
            <a:r>
              <a:rPr lang="zh-CN" altLang="en-US">
                <a:latin typeface="+mj-ea"/>
              </a:rPr>
              <a:t>6.1	分支限界法的基本思想</a:t>
            </a:r>
          </a:p>
        </p:txBody>
      </p:sp>
      <p:sp>
        <p:nvSpPr>
          <p:cNvPr id="8195" name="灯片编号占位符 5">
            <a:extLst>
              <a:ext uri="{FF2B5EF4-FFF2-40B4-BE49-F238E27FC236}">
                <a16:creationId xmlns:a16="http://schemas.microsoft.com/office/drawing/2014/main" id="{067A3FDE-ABA2-4CC5-8B8A-433F1BAF4ABA}"/>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D8D20FD4-C1D1-4FC1-9F73-795559DD8E01}" type="slidenum">
              <a:rPr lang="zh-CN" altLang="en-US" sz="1200">
                <a:solidFill>
                  <a:schemeClr val="tx1"/>
                </a:solidFill>
                <a:latin typeface="微软雅黑" panose="020B0503020204020204" pitchFamily="34" charset="-122"/>
                <a:ea typeface="微软雅黑" panose="020B0503020204020204" pitchFamily="34" charset="-122"/>
              </a:rPr>
              <a:pPr/>
              <a:t>3</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284676" name="Text Box 4">
            <a:extLst>
              <a:ext uri="{FF2B5EF4-FFF2-40B4-BE49-F238E27FC236}">
                <a16:creationId xmlns:a16="http://schemas.microsoft.com/office/drawing/2014/main" id="{4360733A-3C08-407D-A474-A84F8D5B8216}"/>
              </a:ext>
            </a:extLst>
          </p:cNvPr>
          <p:cNvSpPr txBox="1">
            <a:spLocks noChangeArrowheads="1"/>
          </p:cNvSpPr>
          <p:nvPr/>
        </p:nvSpPr>
        <p:spPr bwMode="auto">
          <a:xfrm>
            <a:off x="428625" y="1104900"/>
            <a:ext cx="7086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kumimoji="1" lang="zh-CN" altLang="en-US" sz="3200">
                <a:solidFill>
                  <a:schemeClr val="accent2"/>
                </a:solidFill>
                <a:latin typeface="+mj-ea"/>
                <a:ea typeface="+mj-ea"/>
              </a:rPr>
              <a:t>分支限界法与回溯法</a:t>
            </a:r>
          </a:p>
        </p:txBody>
      </p:sp>
      <p:sp>
        <p:nvSpPr>
          <p:cNvPr id="284677" name="Text Box 5">
            <a:extLst>
              <a:ext uri="{FF2B5EF4-FFF2-40B4-BE49-F238E27FC236}">
                <a16:creationId xmlns:a16="http://schemas.microsoft.com/office/drawing/2014/main" id="{8CDC92CD-B92E-46FA-A756-14D1F70A74A4}"/>
              </a:ext>
            </a:extLst>
          </p:cNvPr>
          <p:cNvSpPr txBox="1">
            <a:spLocks noChangeArrowheads="1"/>
          </p:cNvSpPr>
          <p:nvPr/>
        </p:nvSpPr>
        <p:spPr bwMode="auto">
          <a:xfrm>
            <a:off x="428625" y="1760538"/>
            <a:ext cx="80010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lnSpc>
                <a:spcPct val="150000"/>
              </a:lnSpc>
              <a:spcBef>
                <a:spcPct val="20000"/>
              </a:spcBef>
              <a:buClr>
                <a:schemeClr val="accent1"/>
              </a:buClr>
              <a:buSzPct val="65000"/>
              <a:buFont typeface="Wingdings" panose="05000000000000000000" pitchFamily="2" charset="2"/>
              <a:buChar char="n"/>
              <a:defRPr/>
            </a:pPr>
            <a:r>
              <a:rPr lang="zh-CN" altLang="en-US" sz="2600">
                <a:solidFill>
                  <a:schemeClr val="tx1"/>
                </a:solidFill>
                <a:latin typeface="+mj-ea"/>
                <a:ea typeface="+mj-ea"/>
              </a:rPr>
              <a:t>求解目标：</a:t>
            </a:r>
            <a:r>
              <a:rPr lang="zh-CN" altLang="en-US" sz="2600" b="1">
                <a:solidFill>
                  <a:schemeClr val="tx1"/>
                </a:solidFill>
                <a:latin typeface="+mj-ea"/>
                <a:ea typeface="+mj-ea"/>
              </a:rPr>
              <a:t>回溯法</a:t>
            </a:r>
            <a:r>
              <a:rPr lang="zh-CN" altLang="en-US" sz="2600">
                <a:solidFill>
                  <a:schemeClr val="tx1"/>
                </a:solidFill>
                <a:latin typeface="+mj-ea"/>
                <a:ea typeface="+mj-ea"/>
              </a:rPr>
              <a:t>的求解可以找出解空间树中满足约束条件的</a:t>
            </a:r>
            <a:r>
              <a:rPr lang="zh-CN" altLang="en-US" sz="2600" u="sng">
                <a:solidFill>
                  <a:schemeClr val="tx1"/>
                </a:solidFill>
                <a:latin typeface="+mj-ea"/>
                <a:ea typeface="+mj-ea"/>
              </a:rPr>
              <a:t>所有解</a:t>
            </a:r>
            <a:r>
              <a:rPr lang="zh-CN" altLang="en-US" sz="2600">
                <a:solidFill>
                  <a:schemeClr val="tx1"/>
                </a:solidFill>
                <a:latin typeface="+mj-ea"/>
                <a:ea typeface="+mj-ea"/>
              </a:rPr>
              <a:t>。而</a:t>
            </a:r>
            <a:r>
              <a:rPr lang="zh-CN" altLang="en-US" sz="2600" b="1">
                <a:solidFill>
                  <a:schemeClr val="tx1"/>
                </a:solidFill>
                <a:latin typeface="+mj-ea"/>
                <a:ea typeface="+mj-ea"/>
              </a:rPr>
              <a:t>分支限界法</a:t>
            </a:r>
            <a:r>
              <a:rPr lang="zh-CN" altLang="en-US" sz="2600">
                <a:solidFill>
                  <a:schemeClr val="tx1"/>
                </a:solidFill>
                <a:latin typeface="+mj-ea"/>
                <a:ea typeface="+mj-ea"/>
              </a:rPr>
              <a:t>的求解目标则是找出满足约束条件的</a:t>
            </a:r>
            <a:r>
              <a:rPr lang="zh-CN" altLang="en-US" sz="2600" u="sng">
                <a:solidFill>
                  <a:schemeClr val="tx1"/>
                </a:solidFill>
                <a:latin typeface="+mj-ea"/>
                <a:ea typeface="+mj-ea"/>
              </a:rPr>
              <a:t>一个解</a:t>
            </a:r>
            <a:r>
              <a:rPr lang="zh-CN" altLang="en-US" sz="2600">
                <a:solidFill>
                  <a:schemeClr val="tx1"/>
                </a:solidFill>
                <a:latin typeface="+mj-ea"/>
                <a:ea typeface="+mj-ea"/>
              </a:rPr>
              <a:t>，或是在满足约束条件的解中找出在某种意义下的</a:t>
            </a:r>
            <a:r>
              <a:rPr lang="zh-CN" altLang="en-US" sz="2600" u="sng">
                <a:solidFill>
                  <a:schemeClr val="tx1"/>
                </a:solidFill>
                <a:latin typeface="+mj-ea"/>
                <a:ea typeface="+mj-ea"/>
              </a:rPr>
              <a:t>最优解</a:t>
            </a:r>
            <a:r>
              <a:rPr lang="zh-CN" altLang="en-US" sz="2600">
                <a:solidFill>
                  <a:schemeClr val="tx1"/>
                </a:solidFill>
                <a:latin typeface="+mj-ea"/>
                <a:ea typeface="+mj-ea"/>
              </a:rPr>
              <a:t>。</a:t>
            </a:r>
          </a:p>
        </p:txBody>
      </p:sp>
      <p:sp>
        <p:nvSpPr>
          <p:cNvPr id="284678" name="Text Box 6">
            <a:extLst>
              <a:ext uri="{FF2B5EF4-FFF2-40B4-BE49-F238E27FC236}">
                <a16:creationId xmlns:a16="http://schemas.microsoft.com/office/drawing/2014/main" id="{5D7141CA-C46E-4578-8A65-11A5DAA3F641}"/>
              </a:ext>
            </a:extLst>
          </p:cNvPr>
          <p:cNvSpPr txBox="1">
            <a:spLocks noChangeArrowheads="1"/>
          </p:cNvSpPr>
          <p:nvPr/>
        </p:nvSpPr>
        <p:spPr bwMode="auto">
          <a:xfrm>
            <a:off x="428625" y="4310063"/>
            <a:ext cx="8001000"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lnSpc>
                <a:spcPct val="150000"/>
              </a:lnSpc>
              <a:spcBef>
                <a:spcPct val="50000"/>
              </a:spcBef>
              <a:buClr>
                <a:schemeClr val="accent1"/>
              </a:buClr>
              <a:buSzPct val="65000"/>
              <a:buFont typeface="Wingdings" panose="05000000000000000000" pitchFamily="2" charset="2"/>
              <a:buChar char="n"/>
              <a:defRPr/>
            </a:pPr>
            <a:r>
              <a:rPr lang="zh-CN" altLang="en-US" sz="2600">
                <a:solidFill>
                  <a:schemeClr val="tx1"/>
                </a:solidFill>
                <a:latin typeface="+mj-ea"/>
                <a:ea typeface="+mj-ea"/>
              </a:rPr>
              <a:t>搜索方式的不同：</a:t>
            </a:r>
            <a:r>
              <a:rPr lang="zh-CN" altLang="en-US" sz="2600" b="1">
                <a:solidFill>
                  <a:schemeClr val="tx1"/>
                </a:solidFill>
                <a:latin typeface="+mj-ea"/>
                <a:ea typeface="+mj-ea"/>
              </a:rPr>
              <a:t>回溯法以深度优先的方式</a:t>
            </a:r>
            <a:r>
              <a:rPr lang="zh-CN" altLang="en-US" sz="2600">
                <a:solidFill>
                  <a:schemeClr val="tx1"/>
                </a:solidFill>
                <a:latin typeface="+mj-ea"/>
                <a:ea typeface="+mj-ea"/>
              </a:rPr>
              <a:t>搜索解空间树，而</a:t>
            </a:r>
            <a:r>
              <a:rPr lang="zh-CN" altLang="en-US" sz="2600" b="1">
                <a:solidFill>
                  <a:schemeClr val="tx1"/>
                </a:solidFill>
                <a:latin typeface="+mj-ea"/>
                <a:ea typeface="+mj-ea"/>
              </a:rPr>
              <a:t>分支限界法则以宽度优先或以最小耗费优先的方式</a:t>
            </a:r>
            <a:r>
              <a:rPr lang="zh-CN" altLang="en-US" sz="2600">
                <a:solidFill>
                  <a:schemeClr val="tx1"/>
                </a:solidFill>
                <a:latin typeface="+mj-ea"/>
                <a:ea typeface="+mj-ea"/>
              </a:rPr>
              <a:t>搜索解空间树。 </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4676"/>
                                        </p:tgtEl>
                                        <p:attrNameLst>
                                          <p:attrName>style.visibility</p:attrName>
                                        </p:attrNameLst>
                                      </p:cBhvr>
                                      <p:to>
                                        <p:strVal val="visible"/>
                                      </p:to>
                                    </p:set>
                                    <p:anim calcmode="lin" valueType="num">
                                      <p:cBhvr additive="base">
                                        <p:cTn id="7" dur="500" fill="hold"/>
                                        <p:tgtEl>
                                          <p:spTgt spid="284676"/>
                                        </p:tgtEl>
                                        <p:attrNameLst>
                                          <p:attrName>ppt_x</p:attrName>
                                        </p:attrNameLst>
                                      </p:cBhvr>
                                      <p:tavLst>
                                        <p:tav tm="0">
                                          <p:val>
                                            <p:strVal val="1+#ppt_w/2"/>
                                          </p:val>
                                        </p:tav>
                                        <p:tav tm="100000">
                                          <p:val>
                                            <p:strVal val="#ppt_x"/>
                                          </p:val>
                                        </p:tav>
                                      </p:tavLst>
                                    </p:anim>
                                    <p:anim calcmode="lin" valueType="num">
                                      <p:cBhvr additive="base">
                                        <p:cTn id="8" dur="500" fill="hold"/>
                                        <p:tgtEl>
                                          <p:spTgt spid="2846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84677"/>
                                        </p:tgtEl>
                                        <p:attrNameLst>
                                          <p:attrName>style.visibility</p:attrName>
                                        </p:attrNameLst>
                                      </p:cBhvr>
                                      <p:to>
                                        <p:strVal val="visible"/>
                                      </p:to>
                                    </p:set>
                                    <p:animEffect transition="in" filter="blinds(horizontal)">
                                      <p:cBhvr>
                                        <p:cTn id="13" dur="500"/>
                                        <p:tgtEl>
                                          <p:spTgt spid="28467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46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6" grpId="0" autoUpdateAnimBg="0"/>
      <p:bldP spid="284677" grpId="0" autoUpdateAnimBg="0"/>
      <p:bldP spid="28467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B49F768-5F6F-4D32-A9F7-AD1273903180}"/>
              </a:ext>
            </a:extLst>
          </p:cNvPr>
          <p:cNvSpPr>
            <a:spLocks noGrp="1" noChangeArrowheads="1"/>
          </p:cNvSpPr>
          <p:nvPr>
            <p:ph type="title"/>
          </p:nvPr>
        </p:nvSpPr>
        <p:spPr/>
        <p:txBody>
          <a:bodyPr/>
          <a:lstStyle/>
          <a:p>
            <a:pPr>
              <a:defRPr/>
            </a:pPr>
            <a:r>
              <a:rPr lang="zh-CN" altLang="en-US">
                <a:latin typeface="+mj-ea"/>
              </a:rPr>
              <a:t>6.1	分支限界法的基本思想</a:t>
            </a:r>
          </a:p>
        </p:txBody>
      </p:sp>
      <p:sp>
        <p:nvSpPr>
          <p:cNvPr id="8195" name="灯片编号占位符 5">
            <a:extLst>
              <a:ext uri="{FF2B5EF4-FFF2-40B4-BE49-F238E27FC236}">
                <a16:creationId xmlns:a16="http://schemas.microsoft.com/office/drawing/2014/main" id="{067A3FDE-ABA2-4CC5-8B8A-433F1BAF4ABA}"/>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2FD146A-F5DC-4F92-A3E7-5DD77BA98D04}" type="slidenum">
              <a:rPr lang="zh-CN" altLang="en-US" sz="1200">
                <a:solidFill>
                  <a:schemeClr val="tx1"/>
                </a:solidFill>
                <a:latin typeface="微软雅黑" panose="020B0503020204020204" pitchFamily="34" charset="-122"/>
                <a:ea typeface="微软雅黑" panose="020B0503020204020204" pitchFamily="34" charset="-122"/>
              </a:rPr>
              <a:pPr/>
              <a:t>4</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284676" name="Text Box 4">
            <a:extLst>
              <a:ext uri="{FF2B5EF4-FFF2-40B4-BE49-F238E27FC236}">
                <a16:creationId xmlns:a16="http://schemas.microsoft.com/office/drawing/2014/main" id="{4360733A-3C08-407D-A474-A84F8D5B8216}"/>
              </a:ext>
            </a:extLst>
          </p:cNvPr>
          <p:cNvSpPr txBox="1">
            <a:spLocks noChangeArrowheads="1"/>
          </p:cNvSpPr>
          <p:nvPr/>
        </p:nvSpPr>
        <p:spPr bwMode="auto">
          <a:xfrm>
            <a:off x="428625" y="1104900"/>
            <a:ext cx="7086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kumimoji="1" lang="zh-CN" altLang="en-US" sz="3200">
                <a:solidFill>
                  <a:schemeClr val="accent2"/>
                </a:solidFill>
                <a:latin typeface="+mj-ea"/>
                <a:ea typeface="+mj-ea"/>
              </a:rPr>
              <a:t>分支限界法与回溯法</a:t>
            </a:r>
          </a:p>
        </p:txBody>
      </p:sp>
      <p:pic>
        <p:nvPicPr>
          <p:cNvPr id="11269" name="Picture 2">
            <a:extLst>
              <a:ext uri="{FF2B5EF4-FFF2-40B4-BE49-F238E27FC236}">
                <a16:creationId xmlns:a16="http://schemas.microsoft.com/office/drawing/2014/main" id="{EAA02F84-642C-1EE3-36A8-826CBEA92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708275"/>
            <a:ext cx="703580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270" name="矩形 2">
            <a:extLst>
              <a:ext uri="{FF2B5EF4-FFF2-40B4-BE49-F238E27FC236}">
                <a16:creationId xmlns:a16="http://schemas.microsoft.com/office/drawing/2014/main" id="{3078DBCD-55FF-19D7-1DC3-7ACCE251B6E6}"/>
              </a:ext>
            </a:extLst>
          </p:cNvPr>
          <p:cNvSpPr>
            <a:spLocks noChangeArrowheads="1"/>
          </p:cNvSpPr>
          <p:nvPr/>
        </p:nvSpPr>
        <p:spPr bwMode="auto">
          <a:xfrm>
            <a:off x="611188" y="1854200"/>
            <a:ext cx="16271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2800" b="1">
                <a:solidFill>
                  <a:schemeClr val="tx1"/>
                </a:solidFill>
                <a:latin typeface="微软雅黑" panose="020B0503020204020204" pitchFamily="34" charset="-122"/>
                <a:ea typeface="微软雅黑" panose="020B0503020204020204" pitchFamily="34" charset="-122"/>
              </a:rPr>
              <a:t>主动淘汰</a:t>
            </a:r>
            <a:endParaRPr lang="zh-CN" altLang="en-US">
              <a:latin typeface="微软雅黑" panose="020B0503020204020204" pitchFamily="34" charset="-122"/>
              <a:ea typeface="微软雅黑" panose="020B0503020204020204" pitchFamily="34" charset="-122"/>
            </a:endParaRPr>
          </a:p>
        </p:txBody>
      </p:sp>
      <p:sp>
        <p:nvSpPr>
          <p:cNvPr id="11271" name="矩形 3">
            <a:extLst>
              <a:ext uri="{FF2B5EF4-FFF2-40B4-BE49-F238E27FC236}">
                <a16:creationId xmlns:a16="http://schemas.microsoft.com/office/drawing/2014/main" id="{D34C38DF-2A39-1D9B-E15A-3B292D91EF35}"/>
              </a:ext>
            </a:extLst>
          </p:cNvPr>
          <p:cNvSpPr>
            <a:spLocks noChangeArrowheads="1"/>
          </p:cNvSpPr>
          <p:nvPr/>
        </p:nvSpPr>
        <p:spPr bwMode="auto">
          <a:xfrm>
            <a:off x="3059113" y="1838325"/>
            <a:ext cx="16287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2800" b="1">
                <a:solidFill>
                  <a:schemeClr val="tx1"/>
                </a:solidFill>
                <a:latin typeface="微软雅黑" panose="020B0503020204020204" pitchFamily="34" charset="-122"/>
                <a:ea typeface="微软雅黑" panose="020B0503020204020204" pitchFamily="34" charset="-122"/>
              </a:rPr>
              <a:t>被动劝退</a:t>
            </a:r>
            <a:endParaRPr lang="zh-CN" altLang="en-US">
              <a:latin typeface="微软雅黑" panose="020B0503020204020204" pitchFamily="34" charset="-122"/>
              <a:ea typeface="微软雅黑" panose="020B0503020204020204" pitchFamily="34"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4676"/>
                                        </p:tgtEl>
                                        <p:attrNameLst>
                                          <p:attrName>style.visibility</p:attrName>
                                        </p:attrNameLst>
                                      </p:cBhvr>
                                      <p:to>
                                        <p:strVal val="visible"/>
                                      </p:to>
                                    </p:set>
                                    <p:anim calcmode="lin" valueType="num">
                                      <p:cBhvr additive="base">
                                        <p:cTn id="7" dur="500" fill="hold"/>
                                        <p:tgtEl>
                                          <p:spTgt spid="284676"/>
                                        </p:tgtEl>
                                        <p:attrNameLst>
                                          <p:attrName>ppt_x</p:attrName>
                                        </p:attrNameLst>
                                      </p:cBhvr>
                                      <p:tavLst>
                                        <p:tav tm="0">
                                          <p:val>
                                            <p:strVal val="1+#ppt_w/2"/>
                                          </p:val>
                                        </p:tav>
                                        <p:tav tm="100000">
                                          <p:val>
                                            <p:strVal val="#ppt_x"/>
                                          </p:val>
                                        </p:tav>
                                      </p:tavLst>
                                    </p:anim>
                                    <p:anim calcmode="lin" valueType="num">
                                      <p:cBhvr additive="base">
                                        <p:cTn id="8" dur="500" fill="hold"/>
                                        <p:tgtEl>
                                          <p:spTgt spid="2846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314" name="图片 6">
            <a:extLst>
              <a:ext uri="{FF2B5EF4-FFF2-40B4-BE49-F238E27FC236}">
                <a16:creationId xmlns:a16="http://schemas.microsoft.com/office/drawing/2014/main" id="{B94E5C83-DA43-8364-B97A-2138B9E5EF7D}"/>
              </a:ext>
            </a:extLst>
          </p:cNvPr>
          <p:cNvPicPr>
            <a:picLocks noChangeAspect="1"/>
          </p:cNvPicPr>
          <p:nvPr/>
        </p:nvPicPr>
        <p:blipFill>
          <a:blip r:embed="rId2">
            <a:extLst>
              <a:ext uri="{28A0092B-C50C-407E-A947-70E740481C1C}">
                <a14:useLocalDpi xmlns:a14="http://schemas.microsoft.com/office/drawing/2010/main" val="0"/>
              </a:ext>
            </a:extLst>
          </a:blip>
          <a:srcRect t="20335"/>
          <a:stretch>
            <a:fillRect/>
          </a:stretch>
        </p:blipFill>
        <p:spPr bwMode="auto">
          <a:xfrm>
            <a:off x="1042988" y="1557338"/>
            <a:ext cx="6837362"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2">
            <a:extLst>
              <a:ext uri="{FF2B5EF4-FFF2-40B4-BE49-F238E27FC236}">
                <a16:creationId xmlns:a16="http://schemas.microsoft.com/office/drawing/2014/main" id="{3C58E771-DC5E-6049-D56B-7DF61F140362}"/>
              </a:ext>
            </a:extLst>
          </p:cNvPr>
          <p:cNvSpPr>
            <a:spLocks noGrp="1" noChangeArrowheads="1"/>
          </p:cNvSpPr>
          <p:nvPr>
            <p:ph type="title"/>
          </p:nvPr>
        </p:nvSpPr>
        <p:spPr/>
        <p:txBody>
          <a:bodyPr/>
          <a:lstStyle/>
          <a:p>
            <a:r>
              <a:rPr lang="zh-CN" altLang="en-US"/>
              <a:t>6.1	分支限界法的基本思想</a:t>
            </a:r>
          </a:p>
        </p:txBody>
      </p:sp>
      <p:sp>
        <p:nvSpPr>
          <p:cNvPr id="13316" name="灯片编号占位符 5">
            <a:extLst>
              <a:ext uri="{FF2B5EF4-FFF2-40B4-BE49-F238E27FC236}">
                <a16:creationId xmlns:a16="http://schemas.microsoft.com/office/drawing/2014/main" id="{3A19BD25-3D34-E792-E658-42CC1214F3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0F6F237-DFF2-45C2-AA43-A7679E78CD13}" type="slidenum">
              <a:rPr lang="zh-CN" altLang="en-US" sz="1200">
                <a:solidFill>
                  <a:schemeClr val="tx1"/>
                </a:solidFill>
                <a:latin typeface="Garamond" panose="02020404030301010803" pitchFamily="18" charset="0"/>
                <a:ea typeface="宋体" panose="02010600030101010101" pitchFamily="2" charset="-122"/>
              </a:rPr>
              <a:pPr/>
              <a:t>5</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3317" name="Text Box 4">
            <a:extLst>
              <a:ext uri="{FF2B5EF4-FFF2-40B4-BE49-F238E27FC236}">
                <a16:creationId xmlns:a16="http://schemas.microsoft.com/office/drawing/2014/main" id="{58A7DEE8-BD2E-2D5C-BDD4-AC91F474EC56}"/>
              </a:ext>
            </a:extLst>
          </p:cNvPr>
          <p:cNvSpPr txBox="1">
            <a:spLocks noChangeArrowheads="1"/>
          </p:cNvSpPr>
          <p:nvPr/>
        </p:nvSpPr>
        <p:spPr bwMode="auto">
          <a:xfrm>
            <a:off x="428625" y="1104900"/>
            <a:ext cx="70866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pPr>
            <a:r>
              <a:rPr lang="zh-CN" altLang="en-US" sz="3200" b="1">
                <a:solidFill>
                  <a:schemeClr val="tx1"/>
                </a:solidFill>
                <a:latin typeface="Times New Roman" panose="02020603050405020304" pitchFamily="18" charset="0"/>
              </a:rPr>
              <a:t>宽度优先搜索</a:t>
            </a:r>
            <a:endParaRPr kumimoji="1" lang="zh-CN" altLang="en-US" sz="3200">
              <a:solidFill>
                <a:schemeClr val="accent2"/>
              </a:solidFill>
              <a:latin typeface="Times New Roman" panose="02020603050405020304" pitchFamily="18" charset="0"/>
              <a:ea typeface="黑体" panose="02010609060101010101" pitchFamily="49" charset="-122"/>
            </a:endParaRPr>
          </a:p>
        </p:txBody>
      </p:sp>
      <p:sp>
        <p:nvSpPr>
          <p:cNvPr id="8" name="Text Box 9">
            <a:extLst>
              <a:ext uri="{FF2B5EF4-FFF2-40B4-BE49-F238E27FC236}">
                <a16:creationId xmlns:a16="http://schemas.microsoft.com/office/drawing/2014/main" id="{C1D66461-5A28-3429-B847-749C2954912D}"/>
              </a:ext>
            </a:extLst>
          </p:cNvPr>
          <p:cNvSpPr txBox="1">
            <a:spLocks noChangeArrowheads="1"/>
          </p:cNvSpPr>
          <p:nvPr/>
        </p:nvSpPr>
        <p:spPr bwMode="auto">
          <a:xfrm>
            <a:off x="642938" y="4538663"/>
            <a:ext cx="785812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pPr>
            <a:r>
              <a:rPr lang="zh-CN" altLang="en-US" sz="2400">
                <a:solidFill>
                  <a:schemeClr val="tx1"/>
                </a:solidFill>
                <a:latin typeface="楷体_GB2312" pitchFamily="49" charset="-122"/>
              </a:rPr>
              <a:t>从根节点开始，活结点一旦成为扩展结点，就一次性产生其所有儿子结点。此后，从活结点表中取下一结点成为当前扩展结点，并重复上述结点扩展过程。这个过程一直持续到找到所需的解或活结点表为空时为止</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ou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8EA1142-AD71-4776-85BF-E4992B3AFC5E}"/>
              </a:ext>
            </a:extLst>
          </p:cNvPr>
          <p:cNvSpPr>
            <a:spLocks noGrp="1" noChangeArrowheads="1"/>
          </p:cNvSpPr>
          <p:nvPr>
            <p:ph type="title"/>
          </p:nvPr>
        </p:nvSpPr>
        <p:spPr/>
        <p:txBody>
          <a:bodyPr/>
          <a:lstStyle/>
          <a:p>
            <a:pPr>
              <a:defRPr/>
            </a:pPr>
            <a:r>
              <a:rPr lang="zh-CN" altLang="en-US">
                <a:latin typeface="+mj-ea"/>
              </a:rPr>
              <a:t>6.1	分支限界法的基本思想</a:t>
            </a:r>
          </a:p>
        </p:txBody>
      </p:sp>
      <p:sp>
        <p:nvSpPr>
          <p:cNvPr id="10243" name="灯片编号占位符 5">
            <a:extLst>
              <a:ext uri="{FF2B5EF4-FFF2-40B4-BE49-F238E27FC236}">
                <a16:creationId xmlns:a16="http://schemas.microsoft.com/office/drawing/2014/main" id="{1BB13C56-80E3-44F3-A798-E3EEFD417061}"/>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29CA1B3-D0C8-438C-8CE6-F9A896A2DCFA}" type="slidenum">
              <a:rPr lang="zh-CN" altLang="en-US" sz="1200">
                <a:solidFill>
                  <a:schemeClr val="tx1"/>
                </a:solidFill>
                <a:latin typeface="微软雅黑" panose="020B0503020204020204" pitchFamily="34" charset="-122"/>
                <a:ea typeface="微软雅黑" panose="020B0503020204020204" pitchFamily="34" charset="-122"/>
              </a:rPr>
              <a:pPr/>
              <a:t>6</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10244" name="Text Box 4">
            <a:extLst>
              <a:ext uri="{FF2B5EF4-FFF2-40B4-BE49-F238E27FC236}">
                <a16:creationId xmlns:a16="http://schemas.microsoft.com/office/drawing/2014/main" id="{F22354F0-8B84-446F-8B18-A0C2543723FB}"/>
              </a:ext>
            </a:extLst>
          </p:cNvPr>
          <p:cNvSpPr txBox="1">
            <a:spLocks noChangeArrowheads="1"/>
          </p:cNvSpPr>
          <p:nvPr/>
        </p:nvSpPr>
        <p:spPr bwMode="auto">
          <a:xfrm>
            <a:off x="609600" y="2286000"/>
            <a:ext cx="6858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50000"/>
              </a:spcBef>
              <a:buClr>
                <a:schemeClr val="accent1"/>
              </a:buClr>
              <a:buSzPct val="65000"/>
              <a:buFont typeface="Wingdings" panose="05000000000000000000" pitchFamily="2" charset="2"/>
              <a:buChar char="n"/>
              <a:defRPr/>
            </a:pPr>
            <a:endParaRPr lang="zh-CN" altLang="en-US">
              <a:solidFill>
                <a:schemeClr val="accent2"/>
              </a:solidFill>
              <a:latin typeface="+mj-ea"/>
              <a:ea typeface="+mj-ea"/>
            </a:endParaRPr>
          </a:p>
        </p:txBody>
      </p:sp>
      <p:sp>
        <p:nvSpPr>
          <p:cNvPr id="286725" name="Text Box 5">
            <a:extLst>
              <a:ext uri="{FF2B5EF4-FFF2-40B4-BE49-F238E27FC236}">
                <a16:creationId xmlns:a16="http://schemas.microsoft.com/office/drawing/2014/main" id="{78BBD0D1-4AE1-47DF-9E59-1A441697F192}"/>
              </a:ext>
            </a:extLst>
          </p:cNvPr>
          <p:cNvSpPr txBox="1">
            <a:spLocks noChangeArrowheads="1"/>
          </p:cNvSpPr>
          <p:nvPr/>
        </p:nvSpPr>
        <p:spPr bwMode="auto">
          <a:xfrm>
            <a:off x="428625" y="1214438"/>
            <a:ext cx="6705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kumimoji="1" lang="zh-CN" altLang="en-US" sz="3200">
                <a:solidFill>
                  <a:schemeClr val="accent2"/>
                </a:solidFill>
                <a:latin typeface="+mj-ea"/>
                <a:ea typeface="+mj-ea"/>
              </a:rPr>
              <a:t>常见的两种分支限界法</a:t>
            </a:r>
            <a:endParaRPr lang="zh-CN" altLang="en-US">
              <a:solidFill>
                <a:schemeClr val="accent2"/>
              </a:solidFill>
              <a:latin typeface="+mj-ea"/>
              <a:ea typeface="+mj-ea"/>
            </a:endParaRPr>
          </a:p>
        </p:txBody>
      </p:sp>
      <p:sp>
        <p:nvSpPr>
          <p:cNvPr id="286727" name="Text Box 7">
            <a:extLst>
              <a:ext uri="{FF2B5EF4-FFF2-40B4-BE49-F238E27FC236}">
                <a16:creationId xmlns:a16="http://schemas.microsoft.com/office/drawing/2014/main" id="{07D8F9D2-ACD6-485F-8DA5-21594399DC2D}"/>
              </a:ext>
            </a:extLst>
          </p:cNvPr>
          <p:cNvSpPr txBox="1">
            <a:spLocks noChangeArrowheads="1"/>
          </p:cNvSpPr>
          <p:nvPr/>
        </p:nvSpPr>
        <p:spPr bwMode="auto">
          <a:xfrm>
            <a:off x="428625" y="1928813"/>
            <a:ext cx="85725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（1）</a:t>
            </a:r>
            <a:r>
              <a:rPr lang="zh-CN" altLang="en-US" sz="2400" b="1" dirty="0">
                <a:solidFill>
                  <a:schemeClr val="tx1"/>
                </a:solidFill>
                <a:latin typeface="+mj-ea"/>
                <a:ea typeface="+mj-ea"/>
              </a:rPr>
              <a:t>队列式(</a:t>
            </a:r>
            <a:r>
              <a:rPr lang="en-US" altLang="zh-CN" sz="2400" b="1" dirty="0">
                <a:solidFill>
                  <a:schemeClr val="tx1"/>
                </a:solidFill>
                <a:latin typeface="+mj-ea"/>
                <a:ea typeface="+mj-ea"/>
              </a:rPr>
              <a:t>FIFO)</a:t>
            </a:r>
            <a:r>
              <a:rPr lang="zh-CN" altLang="en-US" sz="2400" b="1" dirty="0">
                <a:solidFill>
                  <a:schemeClr val="tx1"/>
                </a:solidFill>
                <a:latin typeface="+mj-ea"/>
                <a:ea typeface="+mj-ea"/>
              </a:rPr>
              <a:t>分支限界法</a:t>
            </a:r>
          </a:p>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按照队列先进先出（</a:t>
            </a:r>
            <a:r>
              <a:rPr lang="en-US" altLang="zh-CN" sz="2400" dirty="0">
                <a:solidFill>
                  <a:schemeClr val="tx1"/>
                </a:solidFill>
                <a:latin typeface="+mj-ea"/>
                <a:ea typeface="+mj-ea"/>
              </a:rPr>
              <a:t>FIFO）</a:t>
            </a:r>
            <a:r>
              <a:rPr lang="zh-CN" altLang="en-US" sz="2400" dirty="0">
                <a:solidFill>
                  <a:schemeClr val="tx1"/>
                </a:solidFill>
                <a:latin typeface="+mj-ea"/>
                <a:ea typeface="+mj-ea"/>
              </a:rPr>
              <a:t>原则选取</a:t>
            </a:r>
            <a:r>
              <a:rPr lang="zh-CN" altLang="en-US" sz="2400" dirty="0">
                <a:solidFill>
                  <a:srgbClr val="FF0000"/>
                </a:solidFill>
                <a:latin typeface="+mj-ea"/>
                <a:ea typeface="+mj-ea"/>
              </a:rPr>
              <a:t>下一个节点</a:t>
            </a:r>
            <a:r>
              <a:rPr lang="zh-CN" altLang="en-US" sz="2400" dirty="0">
                <a:solidFill>
                  <a:schemeClr val="tx1"/>
                </a:solidFill>
                <a:latin typeface="+mj-ea"/>
                <a:ea typeface="+mj-ea"/>
              </a:rPr>
              <a:t>为扩展节点。</a:t>
            </a:r>
            <a:endParaRPr lang="en-US" altLang="zh-CN" sz="2400" dirty="0">
              <a:solidFill>
                <a:schemeClr val="tx1"/>
              </a:solidFill>
              <a:latin typeface="+mj-ea"/>
              <a:ea typeface="+mj-ea"/>
            </a:endParaRPr>
          </a:p>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数据结构：队列 </a:t>
            </a:r>
          </a:p>
        </p:txBody>
      </p:sp>
      <p:sp>
        <p:nvSpPr>
          <p:cNvPr id="286729" name="Text Box 9">
            <a:extLst>
              <a:ext uri="{FF2B5EF4-FFF2-40B4-BE49-F238E27FC236}">
                <a16:creationId xmlns:a16="http://schemas.microsoft.com/office/drawing/2014/main" id="{BC492E4D-7839-4CC2-B6F4-B9081356C9DB}"/>
              </a:ext>
            </a:extLst>
          </p:cNvPr>
          <p:cNvSpPr txBox="1">
            <a:spLocks noChangeArrowheads="1"/>
          </p:cNvSpPr>
          <p:nvPr/>
        </p:nvSpPr>
        <p:spPr bwMode="auto">
          <a:xfrm>
            <a:off x="357188" y="3643313"/>
            <a:ext cx="8572500"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（2）</a:t>
            </a:r>
            <a:r>
              <a:rPr lang="zh-CN" altLang="en-US" sz="2400" b="1" dirty="0">
                <a:solidFill>
                  <a:schemeClr val="tx1"/>
                </a:solidFill>
                <a:latin typeface="+mj-ea"/>
                <a:ea typeface="+mj-ea"/>
              </a:rPr>
              <a:t>优先队列式分支限界法</a:t>
            </a:r>
          </a:p>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 按照优先队列中规定的</a:t>
            </a:r>
            <a:r>
              <a:rPr lang="zh-CN" altLang="en-US" sz="2400" dirty="0">
                <a:solidFill>
                  <a:srgbClr val="FF0000"/>
                </a:solidFill>
                <a:latin typeface="+mj-ea"/>
                <a:ea typeface="+mj-ea"/>
              </a:rPr>
              <a:t>优先级选取优先级最高的节点</a:t>
            </a:r>
            <a:r>
              <a:rPr lang="zh-CN" altLang="en-US" sz="2400" dirty="0">
                <a:solidFill>
                  <a:schemeClr val="tx1"/>
                </a:solidFill>
                <a:latin typeface="+mj-ea"/>
                <a:ea typeface="+mj-ea"/>
              </a:rPr>
              <a:t>成为当前扩展节点。</a:t>
            </a:r>
            <a:endParaRPr lang="en-US" altLang="zh-CN" sz="2400" dirty="0">
              <a:solidFill>
                <a:schemeClr val="tx1"/>
              </a:solidFill>
              <a:latin typeface="+mj-ea"/>
              <a:ea typeface="+mj-ea"/>
            </a:endParaRPr>
          </a:p>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数据结构：堆</a:t>
            </a:r>
            <a:endParaRPr lang="en-US" altLang="zh-CN" sz="2400" dirty="0">
              <a:solidFill>
                <a:schemeClr val="tx1"/>
              </a:solidFill>
              <a:latin typeface="+mj-ea"/>
              <a:ea typeface="+mj-ea"/>
            </a:endParaRPr>
          </a:p>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最大优先队列：最大堆，体现最大效益优先</a:t>
            </a:r>
            <a:endParaRPr lang="en-US" altLang="zh-CN" sz="2400" dirty="0">
              <a:solidFill>
                <a:schemeClr val="tx1"/>
              </a:solidFill>
              <a:latin typeface="+mj-ea"/>
              <a:ea typeface="+mj-ea"/>
            </a:endParaRPr>
          </a:p>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最小优先队列：最小堆，体现最小费用优先</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6725"/>
                                        </p:tgtEl>
                                        <p:attrNameLst>
                                          <p:attrName>style.visibility</p:attrName>
                                        </p:attrNameLst>
                                      </p:cBhvr>
                                      <p:to>
                                        <p:strVal val="visible"/>
                                      </p:to>
                                    </p:set>
                                    <p:anim calcmode="lin" valueType="num">
                                      <p:cBhvr additive="base">
                                        <p:cTn id="7" dur="500" fill="hold"/>
                                        <p:tgtEl>
                                          <p:spTgt spid="286725"/>
                                        </p:tgtEl>
                                        <p:attrNameLst>
                                          <p:attrName>ppt_x</p:attrName>
                                        </p:attrNameLst>
                                      </p:cBhvr>
                                      <p:tavLst>
                                        <p:tav tm="0">
                                          <p:val>
                                            <p:strVal val="1+#ppt_w/2"/>
                                          </p:val>
                                        </p:tav>
                                        <p:tav tm="100000">
                                          <p:val>
                                            <p:strVal val="#ppt_x"/>
                                          </p:val>
                                        </p:tav>
                                      </p:tavLst>
                                    </p:anim>
                                    <p:anim calcmode="lin" valueType="num">
                                      <p:cBhvr additive="base">
                                        <p:cTn id="8" dur="500" fill="hold"/>
                                        <p:tgtEl>
                                          <p:spTgt spid="28672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86727"/>
                                        </p:tgtEl>
                                        <p:attrNameLst>
                                          <p:attrName>style.visibility</p:attrName>
                                        </p:attrNameLst>
                                      </p:cBhvr>
                                      <p:to>
                                        <p:strVal val="visible"/>
                                      </p:to>
                                    </p:set>
                                    <p:animEffect transition="in" filter="blinds(horizontal)">
                                      <p:cBhvr>
                                        <p:cTn id="13" dur="500"/>
                                        <p:tgtEl>
                                          <p:spTgt spid="28672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286729"/>
                                        </p:tgtEl>
                                        <p:attrNameLst>
                                          <p:attrName>style.visibility</p:attrName>
                                        </p:attrNameLst>
                                      </p:cBhvr>
                                      <p:to>
                                        <p:strVal val="visible"/>
                                      </p:to>
                                    </p:set>
                                    <p:animEffect transition="in" filter="blinds(vertical)">
                                      <p:cBhvr>
                                        <p:cTn id="18" dur="500"/>
                                        <p:tgtEl>
                                          <p:spTgt spid="286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5" grpId="0" autoUpdateAnimBg="0"/>
      <p:bldP spid="286727" grpId="0" autoUpdateAnimBg="0"/>
      <p:bldP spid="28672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6E6DE2C4-4D01-D3C4-0430-66D71612BB8D}"/>
              </a:ext>
            </a:extLst>
          </p:cNvPr>
          <p:cNvSpPr>
            <a:spLocks noGrp="1" noChangeArrowheads="1"/>
          </p:cNvSpPr>
          <p:nvPr>
            <p:ph type="title"/>
          </p:nvPr>
        </p:nvSpPr>
        <p:spPr/>
        <p:txBody>
          <a:bodyPr/>
          <a:lstStyle/>
          <a:p>
            <a:r>
              <a:rPr lang="zh-CN" altLang="en-US" sz="4400">
                <a:solidFill>
                  <a:schemeClr val="tx1"/>
                </a:solidFill>
                <a:latin typeface="楷体_GB2312" pitchFamily="49" charset="-122"/>
              </a:rPr>
              <a:t>数据结构</a:t>
            </a:r>
            <a:endParaRPr lang="zh-CN" altLang="en-US"/>
          </a:p>
        </p:txBody>
      </p:sp>
      <p:sp>
        <p:nvSpPr>
          <p:cNvPr id="16387" name="灯片编号占位符 3">
            <a:extLst>
              <a:ext uri="{FF2B5EF4-FFF2-40B4-BE49-F238E27FC236}">
                <a16:creationId xmlns:a16="http://schemas.microsoft.com/office/drawing/2014/main" id="{4B27EBDB-8879-7915-4B03-C14DD3D576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FA7EB7F5-29EE-414A-8E7D-3D4710F8B6AD}" type="slidenum">
              <a:rPr lang="en-US" altLang="zh-CN" sz="1200">
                <a:solidFill>
                  <a:schemeClr val="tx1"/>
                </a:solidFill>
                <a:latin typeface="Garamond" panose="02020404030301010803" pitchFamily="18" charset="0"/>
                <a:ea typeface="宋体" panose="02010600030101010101" pitchFamily="2" charset="-122"/>
              </a:rPr>
              <a:pPr/>
              <a:t>7</a:t>
            </a:fld>
            <a:endParaRPr lang="en-US" altLang="zh-CN" sz="1200">
              <a:solidFill>
                <a:schemeClr val="tx1"/>
              </a:solidFill>
              <a:latin typeface="Garamond" panose="02020404030301010803" pitchFamily="18" charset="0"/>
              <a:ea typeface="宋体" panose="02010600030101010101" pitchFamily="2" charset="-122"/>
            </a:endParaRPr>
          </a:p>
        </p:txBody>
      </p:sp>
      <p:pic>
        <p:nvPicPr>
          <p:cNvPr id="16388" name="Picture 2" descr="https://img-blog.csdnimg.cn/f2e00c35c4334767a1ce8b00dfc4c04c.png">
            <a:extLst>
              <a:ext uri="{FF2B5EF4-FFF2-40B4-BE49-F238E27FC236}">
                <a16:creationId xmlns:a16="http://schemas.microsoft.com/office/drawing/2014/main" id="{14F65473-D204-243D-F70D-DEEBD4A627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8225" y="381000"/>
            <a:ext cx="5394325"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0" name="Picture 4" descr="https://img-blog.csdnimg.cn/3cec58e6cd3d4234bf7089fe3fa3e10d.png">
            <a:extLst>
              <a:ext uri="{FF2B5EF4-FFF2-40B4-BE49-F238E27FC236}">
                <a16:creationId xmlns:a16="http://schemas.microsoft.com/office/drawing/2014/main" id="{35AD6174-4661-93CD-6D4C-159705173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3240088"/>
            <a:ext cx="5427663" cy="328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矩形 4">
            <a:extLst>
              <a:ext uri="{FF2B5EF4-FFF2-40B4-BE49-F238E27FC236}">
                <a16:creationId xmlns:a16="http://schemas.microsoft.com/office/drawing/2014/main" id="{E83E52E0-D285-EACE-C5F1-0929257EEC21}"/>
              </a:ext>
            </a:extLst>
          </p:cNvPr>
          <p:cNvSpPr>
            <a:spLocks noChangeArrowheads="1"/>
          </p:cNvSpPr>
          <p:nvPr/>
        </p:nvSpPr>
        <p:spPr bwMode="auto">
          <a:xfrm>
            <a:off x="457200" y="1735138"/>
            <a:ext cx="30353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pPr>
            <a:r>
              <a:rPr lang="zh-CN" altLang="en-US" sz="2800">
                <a:solidFill>
                  <a:schemeClr val="tx1"/>
                </a:solidFill>
                <a:latin typeface="楷体_GB2312" pitchFamily="49" charset="-122"/>
              </a:rPr>
              <a:t>队列</a:t>
            </a:r>
            <a:endParaRPr lang="en-US" altLang="zh-CN" sz="2800">
              <a:solidFill>
                <a:schemeClr val="tx1"/>
              </a:solidFill>
              <a:latin typeface="楷体_GB2312" pitchFamily="49" charset="-122"/>
            </a:endParaRPr>
          </a:p>
          <a:p>
            <a:pPr eaLnBrk="1" hangingPunct="1">
              <a:spcBef>
                <a:spcPct val="50000"/>
              </a:spcBef>
              <a:buClr>
                <a:schemeClr val="accent1"/>
              </a:buClr>
              <a:buSzPct val="65000"/>
              <a:buFont typeface="Wingdings" panose="05000000000000000000" pitchFamily="2" charset="2"/>
              <a:buNone/>
            </a:pPr>
            <a:r>
              <a:rPr lang="zh-CN" altLang="en-US" sz="2000">
                <a:solidFill>
                  <a:schemeClr val="tx1"/>
                </a:solidFill>
                <a:latin typeface="楷体_GB2312" pitchFamily="49" charset="-122"/>
              </a:rPr>
              <a:t>通常用数组或链表来实现。 </a:t>
            </a:r>
          </a:p>
        </p:txBody>
      </p:sp>
      <p:sp>
        <p:nvSpPr>
          <p:cNvPr id="6" name="矩形 5">
            <a:extLst>
              <a:ext uri="{FF2B5EF4-FFF2-40B4-BE49-F238E27FC236}">
                <a16:creationId xmlns:a16="http://schemas.microsoft.com/office/drawing/2014/main" id="{1DD3A3D0-DF64-0A39-545D-6CB203645BD9}"/>
              </a:ext>
            </a:extLst>
          </p:cNvPr>
          <p:cNvSpPr>
            <a:spLocks noChangeArrowheads="1"/>
          </p:cNvSpPr>
          <p:nvPr/>
        </p:nvSpPr>
        <p:spPr bwMode="auto">
          <a:xfrm>
            <a:off x="611188" y="3789363"/>
            <a:ext cx="2646362"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pPr>
            <a:r>
              <a:rPr lang="zh-CN" altLang="en-US" sz="2800">
                <a:solidFill>
                  <a:schemeClr val="tx1"/>
                </a:solidFill>
                <a:latin typeface="楷体_GB2312" pitchFamily="49" charset="-122"/>
              </a:rPr>
              <a:t>堆</a:t>
            </a:r>
            <a:endParaRPr lang="en-US" altLang="zh-CN" sz="2800">
              <a:solidFill>
                <a:schemeClr val="tx1"/>
              </a:solidFill>
              <a:latin typeface="楷体_GB2312" pitchFamily="49" charset="-122"/>
            </a:endParaRPr>
          </a:p>
          <a:p>
            <a:pPr eaLnBrk="1" hangingPunct="1">
              <a:spcBef>
                <a:spcPct val="50000"/>
              </a:spcBef>
              <a:buClr>
                <a:schemeClr val="accent1"/>
              </a:buClr>
              <a:buSzPct val="65000"/>
              <a:buFont typeface="Wingdings" panose="05000000000000000000" pitchFamily="2" charset="2"/>
              <a:buNone/>
            </a:pPr>
            <a:r>
              <a:rPr lang="zh-CN" altLang="en-US" sz="2000">
                <a:solidFill>
                  <a:schemeClr val="tx1"/>
                </a:solidFill>
                <a:latin typeface="楷体_GB2312" pitchFamily="49" charset="-122"/>
              </a:rPr>
              <a:t>堆通常可以被看做一棵完全二叉树。堆中某个结点的值总是不大于或不小于其父节点的值。</a:t>
            </a:r>
            <a:endParaRPr lang="en-US" altLang="zh-CN" sz="2000">
              <a:solidFill>
                <a:schemeClr val="tx1"/>
              </a:solidFill>
              <a:latin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6">
            <a:extLst>
              <a:ext uri="{FF2B5EF4-FFF2-40B4-BE49-F238E27FC236}">
                <a16:creationId xmlns:a16="http://schemas.microsoft.com/office/drawing/2014/main" id="{62EDB317-1E99-1519-A2A0-8ACA5BF8D6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1475" y="1093788"/>
            <a:ext cx="3441700" cy="269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标题 1">
            <a:extLst>
              <a:ext uri="{FF2B5EF4-FFF2-40B4-BE49-F238E27FC236}">
                <a16:creationId xmlns:a16="http://schemas.microsoft.com/office/drawing/2014/main" id="{A3AD7602-D735-D6F9-0951-C0AFAA532B87}"/>
              </a:ext>
            </a:extLst>
          </p:cNvPr>
          <p:cNvSpPr>
            <a:spLocks noGrp="1" noChangeArrowheads="1"/>
          </p:cNvSpPr>
          <p:nvPr>
            <p:ph type="title"/>
          </p:nvPr>
        </p:nvSpPr>
        <p:spPr/>
        <p:txBody>
          <a:bodyPr/>
          <a:lstStyle/>
          <a:p>
            <a:r>
              <a:rPr lang="zh-CN" altLang="en-US" sz="4400">
                <a:solidFill>
                  <a:schemeClr val="tx1"/>
                </a:solidFill>
                <a:latin typeface="楷体_GB2312" pitchFamily="49" charset="-122"/>
              </a:rPr>
              <a:t>数据结构</a:t>
            </a:r>
            <a:endParaRPr lang="zh-CN" altLang="en-US"/>
          </a:p>
        </p:txBody>
      </p:sp>
      <p:sp>
        <p:nvSpPr>
          <p:cNvPr id="17412" name="灯片编号占位符 3">
            <a:extLst>
              <a:ext uri="{FF2B5EF4-FFF2-40B4-BE49-F238E27FC236}">
                <a16:creationId xmlns:a16="http://schemas.microsoft.com/office/drawing/2014/main" id="{AE325E72-2C5D-1352-C8A8-AE16D900D2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A1C5796-59F1-4AE0-9949-EE6171EDB5C3}" type="slidenum">
              <a:rPr lang="en-US" altLang="zh-CN" sz="1200">
                <a:solidFill>
                  <a:schemeClr val="tx1"/>
                </a:solidFill>
                <a:latin typeface="Garamond" panose="02020404030301010803" pitchFamily="18" charset="0"/>
                <a:ea typeface="宋体" panose="02010600030101010101" pitchFamily="2" charset="-122"/>
              </a:rPr>
              <a:pPr/>
              <a:t>8</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7413" name="矩形 5">
            <a:extLst>
              <a:ext uri="{FF2B5EF4-FFF2-40B4-BE49-F238E27FC236}">
                <a16:creationId xmlns:a16="http://schemas.microsoft.com/office/drawing/2014/main" id="{2AFDB85B-FA0C-A20E-7F7D-956793DED76A}"/>
              </a:ext>
            </a:extLst>
          </p:cNvPr>
          <p:cNvSpPr>
            <a:spLocks noChangeArrowheads="1"/>
          </p:cNvSpPr>
          <p:nvPr/>
        </p:nvSpPr>
        <p:spPr bwMode="auto">
          <a:xfrm>
            <a:off x="250825" y="1354138"/>
            <a:ext cx="5184775"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pPr>
            <a:r>
              <a:rPr lang="zh-CN" altLang="en-US" sz="2800">
                <a:solidFill>
                  <a:srgbClr val="FF0000"/>
                </a:solidFill>
                <a:latin typeface="楷体_GB2312" pitchFamily="49" charset="-122"/>
              </a:rPr>
              <a:t>堆的存储</a:t>
            </a:r>
            <a:r>
              <a:rPr lang="zh-CN" altLang="en-US" sz="2800">
                <a:solidFill>
                  <a:schemeClr val="tx1"/>
                </a:solidFill>
                <a:latin typeface="楷体_GB2312" pitchFamily="49" charset="-122"/>
              </a:rPr>
              <a:t>：</a:t>
            </a:r>
            <a:endParaRPr lang="en-US" altLang="zh-CN" sz="2800">
              <a:solidFill>
                <a:schemeClr val="tx1"/>
              </a:solidFill>
              <a:latin typeface="楷体_GB2312" pitchFamily="49" charset="-122"/>
            </a:endParaRPr>
          </a:p>
          <a:p>
            <a:pPr eaLnBrk="1" hangingPunct="1">
              <a:lnSpc>
                <a:spcPct val="150000"/>
              </a:lnSpc>
              <a:spcBef>
                <a:spcPct val="50000"/>
              </a:spcBef>
              <a:buClr>
                <a:schemeClr val="accent1"/>
              </a:buClr>
              <a:buSzPct val="65000"/>
              <a:buFont typeface="Wingdings" panose="05000000000000000000" pitchFamily="2" charset="2"/>
              <a:buNone/>
            </a:pPr>
            <a:r>
              <a:rPr lang="zh-CN" altLang="en-US" sz="2400">
                <a:solidFill>
                  <a:schemeClr val="tx1"/>
                </a:solidFill>
                <a:latin typeface="楷体_GB2312" pitchFamily="49" charset="-122"/>
              </a:rPr>
              <a:t>数据都是存储在数组中的，通过数组对应的下标，找出二叉树的父子关系。</a:t>
            </a:r>
            <a:endParaRPr lang="en-US" altLang="zh-CN" sz="2400">
              <a:solidFill>
                <a:schemeClr val="tx1"/>
              </a:solidFill>
              <a:latin typeface="楷体_GB2312" pitchFamily="49" charset="-122"/>
            </a:endParaRPr>
          </a:p>
          <a:p>
            <a:pPr eaLnBrk="1" hangingPunct="1">
              <a:spcBef>
                <a:spcPct val="50000"/>
              </a:spcBef>
              <a:buClr>
                <a:schemeClr val="accent1"/>
              </a:buClr>
              <a:buSzPct val="65000"/>
              <a:buFont typeface="Wingdings" panose="05000000000000000000" pitchFamily="2" charset="2"/>
              <a:buNone/>
            </a:pPr>
            <a:endParaRPr lang="en-US" altLang="zh-CN" sz="2800">
              <a:solidFill>
                <a:schemeClr val="tx1"/>
              </a:solidFill>
              <a:latin typeface="楷体_GB2312" pitchFamily="49" charset="-122"/>
            </a:endParaRPr>
          </a:p>
        </p:txBody>
      </p:sp>
      <p:pic>
        <p:nvPicPr>
          <p:cNvPr id="17414" name="图片 2">
            <a:extLst>
              <a:ext uri="{FF2B5EF4-FFF2-40B4-BE49-F238E27FC236}">
                <a16:creationId xmlns:a16="http://schemas.microsoft.com/office/drawing/2014/main" id="{319010AB-6DB1-F269-1F9D-5030FEB2E4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4137025"/>
            <a:ext cx="6762750"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1341D67A-B386-424E-C880-1D0C97658F33}"/>
              </a:ext>
            </a:extLst>
          </p:cNvPr>
          <p:cNvSpPr>
            <a:spLocks noGrp="1" noChangeArrowheads="1"/>
          </p:cNvSpPr>
          <p:nvPr>
            <p:ph type="title"/>
          </p:nvPr>
        </p:nvSpPr>
        <p:spPr/>
        <p:txBody>
          <a:bodyPr/>
          <a:lstStyle/>
          <a:p>
            <a:r>
              <a:rPr lang="zh-CN" altLang="en-US" sz="4400">
                <a:solidFill>
                  <a:schemeClr val="tx1"/>
                </a:solidFill>
                <a:latin typeface="楷体_GB2312" pitchFamily="49" charset="-122"/>
              </a:rPr>
              <a:t>数据结构</a:t>
            </a:r>
            <a:endParaRPr lang="zh-CN" altLang="en-US"/>
          </a:p>
        </p:txBody>
      </p:sp>
      <p:sp>
        <p:nvSpPr>
          <p:cNvPr id="18435" name="灯片编号占位符 3">
            <a:extLst>
              <a:ext uri="{FF2B5EF4-FFF2-40B4-BE49-F238E27FC236}">
                <a16:creationId xmlns:a16="http://schemas.microsoft.com/office/drawing/2014/main" id="{203BD65C-180B-5699-FE9D-F0AAC7B8D2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350F809-8FB7-4C29-96FA-BA77C1FBFFC9}" type="slidenum">
              <a:rPr lang="en-US" altLang="zh-CN" sz="1200">
                <a:solidFill>
                  <a:schemeClr val="tx1"/>
                </a:solidFill>
                <a:latin typeface="Garamond" panose="02020404030301010803" pitchFamily="18" charset="0"/>
                <a:ea typeface="宋体" panose="02010600030101010101" pitchFamily="2" charset="-122"/>
              </a:rPr>
              <a:pPr/>
              <a:t>9</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8436" name="矩形 5">
            <a:extLst>
              <a:ext uri="{FF2B5EF4-FFF2-40B4-BE49-F238E27FC236}">
                <a16:creationId xmlns:a16="http://schemas.microsoft.com/office/drawing/2014/main" id="{CC50F6BB-4527-0DDE-1C9C-B03A891875C2}"/>
              </a:ext>
            </a:extLst>
          </p:cNvPr>
          <p:cNvSpPr>
            <a:spLocks noChangeArrowheads="1"/>
          </p:cNvSpPr>
          <p:nvPr/>
        </p:nvSpPr>
        <p:spPr bwMode="auto">
          <a:xfrm>
            <a:off x="511175" y="1323975"/>
            <a:ext cx="5184775"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pPr>
            <a:r>
              <a:rPr lang="zh-CN" altLang="en-US" sz="2800">
                <a:solidFill>
                  <a:srgbClr val="FF0000"/>
                </a:solidFill>
                <a:latin typeface="楷体_GB2312" pitchFamily="49" charset="-122"/>
              </a:rPr>
              <a:t>堆的插入</a:t>
            </a:r>
            <a:endParaRPr lang="en-US" altLang="zh-CN" sz="2800">
              <a:solidFill>
                <a:srgbClr val="FF0000"/>
              </a:solidFill>
              <a:latin typeface="楷体_GB2312" pitchFamily="49" charset="-122"/>
            </a:endParaRPr>
          </a:p>
          <a:p>
            <a:pPr eaLnBrk="1" hangingPunct="1">
              <a:spcBef>
                <a:spcPct val="50000"/>
              </a:spcBef>
              <a:buClr>
                <a:schemeClr val="accent1"/>
              </a:buClr>
              <a:buSzPct val="65000"/>
              <a:buFont typeface="Wingdings" panose="05000000000000000000" pitchFamily="2" charset="2"/>
              <a:buNone/>
            </a:pPr>
            <a:r>
              <a:rPr lang="zh-CN" altLang="en-US" sz="2800">
                <a:solidFill>
                  <a:schemeClr val="tx1"/>
                </a:solidFill>
                <a:latin typeface="楷体_GB2312" pitchFamily="49" charset="-122"/>
              </a:rPr>
              <a:t>例如，插入一个元素</a:t>
            </a:r>
            <a:r>
              <a:rPr lang="en-US" altLang="zh-CN" sz="2800">
                <a:solidFill>
                  <a:schemeClr val="tx1"/>
                </a:solidFill>
                <a:latin typeface="楷体_GB2312" pitchFamily="49" charset="-122"/>
              </a:rPr>
              <a:t>{2}</a:t>
            </a:r>
          </a:p>
        </p:txBody>
      </p:sp>
      <p:pic>
        <p:nvPicPr>
          <p:cNvPr id="5" name="图片 4">
            <a:extLst>
              <a:ext uri="{FF2B5EF4-FFF2-40B4-BE49-F238E27FC236}">
                <a16:creationId xmlns:a16="http://schemas.microsoft.com/office/drawing/2014/main" id="{9D30FB34-D0C0-0CDD-4FF2-A83DCA44D7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3284538"/>
            <a:ext cx="4040188"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03BA6B57-B64D-71BC-2492-7959B9FA7C7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59300" y="3284538"/>
            <a:ext cx="3987800" cy="214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图片 8">
            <a:extLst>
              <a:ext uri="{FF2B5EF4-FFF2-40B4-BE49-F238E27FC236}">
                <a16:creationId xmlns:a16="http://schemas.microsoft.com/office/drawing/2014/main" id="{4B866C00-F29C-1F6C-170C-D36EEA63F33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78425" y="523875"/>
            <a:ext cx="3321050" cy="261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25B4092E-19C2-070E-E507-12626BF0740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932363" y="5337175"/>
            <a:ext cx="3822700"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3BBAAC3E-CA9B-4275-83E1-A46DC4B524B2}"/>
              </a:ext>
            </a:extLst>
          </p:cNvPr>
          <p:cNvSpPr>
            <a:spLocks noGrp="1" noChangeArrowheads="1"/>
          </p:cNvSpPr>
          <p:nvPr>
            <p:ph type="title"/>
          </p:nvPr>
        </p:nvSpPr>
        <p:spPr/>
        <p:txBody>
          <a:bodyPr/>
          <a:lstStyle/>
          <a:p>
            <a:pPr>
              <a:defRPr/>
            </a:pPr>
            <a:r>
              <a:rPr lang="zh-CN" altLang="en-US">
                <a:latin typeface="+mj-ea"/>
              </a:rPr>
              <a:t>队列式(</a:t>
            </a:r>
            <a:r>
              <a:rPr lang="en-US" altLang="zh-CN">
                <a:latin typeface="+mj-ea"/>
              </a:rPr>
              <a:t>FIFO)</a:t>
            </a:r>
            <a:r>
              <a:rPr lang="zh-CN" altLang="en-US">
                <a:latin typeface="+mj-ea"/>
              </a:rPr>
              <a:t>分支限界法</a:t>
            </a:r>
          </a:p>
        </p:txBody>
      </p:sp>
      <p:sp>
        <p:nvSpPr>
          <p:cNvPr id="17411" name="内容占位符 2">
            <a:extLst>
              <a:ext uri="{FF2B5EF4-FFF2-40B4-BE49-F238E27FC236}">
                <a16:creationId xmlns:a16="http://schemas.microsoft.com/office/drawing/2014/main" id="{CBD1CB0F-7712-4361-81C5-6C16E78FDE39}"/>
              </a:ext>
            </a:extLst>
          </p:cNvPr>
          <p:cNvSpPr>
            <a:spLocks noGrp="1" noChangeArrowheads="1"/>
          </p:cNvSpPr>
          <p:nvPr>
            <p:ph idx="1"/>
          </p:nvPr>
        </p:nvSpPr>
        <p:spPr>
          <a:xfrm>
            <a:off x="285750" y="1428750"/>
            <a:ext cx="8631238" cy="4530725"/>
          </a:xfrm>
        </p:spPr>
        <p:txBody>
          <a:bodyPr/>
          <a:lstStyle/>
          <a:p>
            <a:pPr>
              <a:lnSpc>
                <a:spcPct val="150000"/>
              </a:lnSpc>
              <a:defRPr/>
            </a:pPr>
            <a:r>
              <a:rPr lang="zh-CN" altLang="en-US" sz="2800" dirty="0">
                <a:latin typeface="+mj-ea"/>
                <a:ea typeface="+mj-ea"/>
              </a:rPr>
              <a:t>搜索策略：一开始，根结点是唯一的活结点，根结点入队。从活结点队列中取出根结点后，作为当前扩展结点。对当前扩展结点，</a:t>
            </a:r>
            <a:r>
              <a:rPr lang="zh-CN" altLang="en-US" sz="2800" dirty="0">
                <a:solidFill>
                  <a:srgbClr val="FF0000"/>
                </a:solidFill>
                <a:latin typeface="+mj-ea"/>
                <a:ea typeface="+mj-ea"/>
              </a:rPr>
              <a:t>先从左到右地产生它的所有儿子</a:t>
            </a:r>
            <a:r>
              <a:rPr lang="zh-CN" altLang="en-US" sz="2800" dirty="0">
                <a:latin typeface="+mj-ea"/>
                <a:ea typeface="+mj-ea"/>
              </a:rPr>
              <a:t>，</a:t>
            </a:r>
            <a:r>
              <a:rPr lang="zh-CN" altLang="en-US" sz="2800" dirty="0">
                <a:solidFill>
                  <a:srgbClr val="FF0000"/>
                </a:solidFill>
                <a:latin typeface="+mj-ea"/>
                <a:ea typeface="+mj-ea"/>
              </a:rPr>
              <a:t>用约束条件检查</a:t>
            </a:r>
            <a:r>
              <a:rPr lang="zh-CN" altLang="en-US" sz="2800" dirty="0">
                <a:latin typeface="+mj-ea"/>
                <a:ea typeface="+mj-ea"/>
              </a:rPr>
              <a:t>，把所有满足约束函数的儿子加入活结点队列中。再从活结点表中取出队首结点为当前扩展结点，</a:t>
            </a:r>
            <a:r>
              <a:rPr lang="en-US" altLang="zh-CN" sz="2800" dirty="0">
                <a:latin typeface="+mj-ea"/>
                <a:ea typeface="+mj-ea"/>
              </a:rPr>
              <a:t>……</a:t>
            </a:r>
            <a:r>
              <a:rPr lang="zh-CN" altLang="en-US" sz="2800" dirty="0">
                <a:latin typeface="+mj-ea"/>
                <a:ea typeface="+mj-ea"/>
              </a:rPr>
              <a:t>，直到</a:t>
            </a:r>
            <a:r>
              <a:rPr lang="zh-CN" altLang="en-US" sz="2800" dirty="0">
                <a:solidFill>
                  <a:srgbClr val="FF0000"/>
                </a:solidFill>
                <a:latin typeface="+mj-ea"/>
                <a:ea typeface="+mj-ea"/>
              </a:rPr>
              <a:t>活结点队列为空</a:t>
            </a:r>
            <a:r>
              <a:rPr lang="zh-CN" altLang="en-US" sz="2800" dirty="0">
                <a:latin typeface="+mj-ea"/>
                <a:ea typeface="+mj-ea"/>
              </a:rPr>
              <a:t>为止。</a:t>
            </a:r>
          </a:p>
        </p:txBody>
      </p:sp>
      <p:sp>
        <p:nvSpPr>
          <p:cNvPr id="17412" name="灯片编号占位符 3">
            <a:extLst>
              <a:ext uri="{FF2B5EF4-FFF2-40B4-BE49-F238E27FC236}">
                <a16:creationId xmlns:a16="http://schemas.microsoft.com/office/drawing/2014/main" id="{83DD0CD0-8353-4E33-9447-7C652A482C4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B0BE46B-D5FC-4C6A-9EB9-04CAFDEE22BD}" type="slidenum">
              <a:rPr lang="en-US" altLang="zh-CN" sz="1200">
                <a:solidFill>
                  <a:schemeClr val="tx1"/>
                </a:solidFill>
                <a:latin typeface="微软雅黑" panose="020B0503020204020204" pitchFamily="34" charset="-122"/>
                <a:ea typeface="微软雅黑" panose="020B0503020204020204" pitchFamily="34" charset="-122"/>
              </a:rPr>
              <a:pPr/>
              <a:t>10</a:t>
            </a:fld>
            <a:endParaRPr lang="en-US" altLang="zh-CN" sz="12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030EB309-8C82-4EB2-9B73-CE2F51BEB119}"/>
              </a:ext>
            </a:extLst>
          </p:cNvPr>
          <p:cNvSpPr>
            <a:spLocks noGrp="1" noChangeArrowheads="1"/>
          </p:cNvSpPr>
          <p:nvPr>
            <p:ph type="title"/>
          </p:nvPr>
        </p:nvSpPr>
        <p:spPr/>
        <p:txBody>
          <a:bodyPr/>
          <a:lstStyle/>
          <a:p>
            <a:pPr>
              <a:defRPr/>
            </a:pPr>
            <a:r>
              <a:rPr lang="zh-CN" altLang="en-US">
                <a:latin typeface="+mj-ea"/>
              </a:rPr>
              <a:t>优先队列式分支限界法</a:t>
            </a:r>
          </a:p>
        </p:txBody>
      </p:sp>
      <p:sp>
        <p:nvSpPr>
          <p:cNvPr id="18435" name="内容占位符 2">
            <a:extLst>
              <a:ext uri="{FF2B5EF4-FFF2-40B4-BE49-F238E27FC236}">
                <a16:creationId xmlns:a16="http://schemas.microsoft.com/office/drawing/2014/main" id="{B9641A88-092B-4363-B9A4-F74BC56A0217}"/>
              </a:ext>
            </a:extLst>
          </p:cNvPr>
          <p:cNvSpPr>
            <a:spLocks noGrp="1" noChangeArrowheads="1"/>
          </p:cNvSpPr>
          <p:nvPr>
            <p:ph idx="1"/>
          </p:nvPr>
        </p:nvSpPr>
        <p:spPr>
          <a:xfrm>
            <a:off x="457200" y="1268413"/>
            <a:ext cx="8229600" cy="4530725"/>
          </a:xfrm>
        </p:spPr>
        <p:txBody>
          <a:bodyPr/>
          <a:lstStyle/>
          <a:p>
            <a:pPr>
              <a:lnSpc>
                <a:spcPct val="150000"/>
              </a:lnSpc>
              <a:defRPr/>
            </a:pPr>
            <a:r>
              <a:rPr lang="zh-CN" altLang="en-US" sz="2600" dirty="0">
                <a:latin typeface="+mj-ea"/>
                <a:ea typeface="+mj-ea"/>
              </a:rPr>
              <a:t>搜索策略：对每一活结点计算一个</a:t>
            </a:r>
            <a:r>
              <a:rPr lang="zh-CN" altLang="en-US" sz="2600" dirty="0">
                <a:solidFill>
                  <a:srgbClr val="FF0000"/>
                </a:solidFill>
                <a:latin typeface="+mj-ea"/>
                <a:ea typeface="+mj-ea"/>
              </a:rPr>
              <a:t>优先级</a:t>
            </a:r>
            <a:r>
              <a:rPr lang="zh-CN" altLang="en-US" sz="2600" dirty="0">
                <a:latin typeface="+mj-ea"/>
                <a:ea typeface="+mj-ea"/>
              </a:rPr>
              <a:t>（某些信息的函数值）；并根据这些优先级，从当前活结点表中优先选择一个</a:t>
            </a:r>
            <a:r>
              <a:rPr lang="zh-CN" altLang="en-US" sz="2600" dirty="0">
                <a:solidFill>
                  <a:srgbClr val="FF0000"/>
                </a:solidFill>
                <a:latin typeface="+mj-ea"/>
                <a:ea typeface="+mj-ea"/>
              </a:rPr>
              <a:t>优先级最高</a:t>
            </a:r>
            <a:r>
              <a:rPr lang="zh-CN" altLang="en-US" sz="2600" dirty="0">
                <a:latin typeface="+mj-ea"/>
                <a:ea typeface="+mj-ea"/>
              </a:rPr>
              <a:t>（最有利）的结点作为扩展结点，使搜索朝着解空间树上有最优解的分支推进，以便尽快地找出一个最优解。再从活结点表中下一个优先级别最高的结点为当前扩展结点，</a:t>
            </a:r>
            <a:r>
              <a:rPr lang="en-US" altLang="zh-CN" sz="2600" dirty="0">
                <a:latin typeface="+mj-ea"/>
                <a:ea typeface="+mj-ea"/>
              </a:rPr>
              <a:t>……</a:t>
            </a:r>
            <a:r>
              <a:rPr lang="zh-CN" altLang="en-US" sz="2600" dirty="0">
                <a:latin typeface="+mj-ea"/>
                <a:ea typeface="+mj-ea"/>
              </a:rPr>
              <a:t>，直到</a:t>
            </a:r>
            <a:r>
              <a:rPr lang="zh-CN" altLang="en-US" sz="2600" dirty="0">
                <a:solidFill>
                  <a:srgbClr val="FF0000"/>
                </a:solidFill>
                <a:latin typeface="+mj-ea"/>
                <a:ea typeface="+mj-ea"/>
              </a:rPr>
              <a:t>找到一个解或活结点队列为空</a:t>
            </a:r>
            <a:r>
              <a:rPr lang="zh-CN" altLang="en-US" sz="2600" dirty="0">
                <a:latin typeface="+mj-ea"/>
                <a:ea typeface="+mj-ea"/>
              </a:rPr>
              <a:t>为止。</a:t>
            </a:r>
          </a:p>
        </p:txBody>
      </p:sp>
      <p:sp>
        <p:nvSpPr>
          <p:cNvPr id="18436" name="灯片编号占位符 3">
            <a:extLst>
              <a:ext uri="{FF2B5EF4-FFF2-40B4-BE49-F238E27FC236}">
                <a16:creationId xmlns:a16="http://schemas.microsoft.com/office/drawing/2014/main" id="{D10F4D1D-56BA-461B-8990-BD2333FDCF4C}"/>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702A2E1C-F42D-413C-8570-558E7CA0EB79}" type="slidenum">
              <a:rPr lang="en-US" altLang="zh-CN" sz="1200">
                <a:solidFill>
                  <a:schemeClr val="tx1"/>
                </a:solidFill>
                <a:latin typeface="微软雅黑" panose="020B0503020204020204" pitchFamily="34" charset="-122"/>
                <a:ea typeface="微软雅黑" panose="020B0503020204020204" pitchFamily="34" charset="-122"/>
              </a:rPr>
              <a:pPr/>
              <a:t>11</a:t>
            </a:fld>
            <a:endParaRPr lang="en-US" altLang="zh-CN" sz="12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D639807F-EFFB-4DDB-AF36-78228699F1E1}"/>
              </a:ext>
            </a:extLst>
          </p:cNvPr>
          <p:cNvSpPr>
            <a:spLocks noGrp="1" noChangeArrowheads="1"/>
          </p:cNvSpPr>
          <p:nvPr>
            <p:ph type="title"/>
          </p:nvPr>
        </p:nvSpPr>
        <p:spPr/>
        <p:txBody>
          <a:bodyPr/>
          <a:lstStyle/>
          <a:p>
            <a:pPr>
              <a:defRPr/>
            </a:pPr>
            <a:r>
              <a:rPr lang="zh-CN" altLang="en-US">
                <a:latin typeface="+mj-ea"/>
              </a:rPr>
              <a:t>分支限界法搜索应用举例</a:t>
            </a:r>
          </a:p>
        </p:txBody>
      </p:sp>
      <p:sp>
        <p:nvSpPr>
          <p:cNvPr id="19459" name="内容占位符 2">
            <a:extLst>
              <a:ext uri="{FF2B5EF4-FFF2-40B4-BE49-F238E27FC236}">
                <a16:creationId xmlns:a16="http://schemas.microsoft.com/office/drawing/2014/main" id="{3F20D774-143C-4CBF-A8E6-9D39A97C2311}"/>
              </a:ext>
            </a:extLst>
          </p:cNvPr>
          <p:cNvSpPr>
            <a:spLocks noGrp="1" noChangeArrowheads="1"/>
          </p:cNvSpPr>
          <p:nvPr>
            <p:ph idx="1"/>
          </p:nvPr>
        </p:nvSpPr>
        <p:spPr>
          <a:xfrm>
            <a:off x="357188" y="1071563"/>
            <a:ext cx="8229600" cy="1000125"/>
          </a:xfrm>
        </p:spPr>
        <p:txBody>
          <a:bodyPr/>
          <a:lstStyle/>
          <a:p>
            <a:pPr>
              <a:defRPr/>
            </a:pPr>
            <a:r>
              <a:rPr lang="en-US" altLang="zh-CN">
                <a:latin typeface="+mj-ea"/>
                <a:ea typeface="+mj-ea"/>
              </a:rPr>
              <a:t>0-1</a:t>
            </a:r>
            <a:r>
              <a:rPr lang="zh-CN" altLang="en-US">
                <a:latin typeface="+mj-ea"/>
                <a:ea typeface="+mj-ea"/>
              </a:rPr>
              <a:t>背包问题，当</a:t>
            </a:r>
            <a:r>
              <a:rPr lang="en-US" altLang="zh-CN">
                <a:latin typeface="+mj-ea"/>
                <a:ea typeface="+mj-ea"/>
              </a:rPr>
              <a:t>n=3</a:t>
            </a:r>
            <a:r>
              <a:rPr lang="zh-CN" altLang="en-US">
                <a:latin typeface="+mj-ea"/>
                <a:ea typeface="+mj-ea"/>
              </a:rPr>
              <a:t>时，</a:t>
            </a:r>
            <a:r>
              <a:rPr lang="en-US" altLang="zh-CN">
                <a:latin typeface="+mj-ea"/>
                <a:ea typeface="+mj-ea"/>
              </a:rPr>
              <a:t>w={16,15,15}, p={45,25,25}, c=30</a:t>
            </a:r>
            <a:endParaRPr lang="zh-CN" altLang="en-US">
              <a:latin typeface="+mj-ea"/>
              <a:ea typeface="+mj-ea"/>
            </a:endParaRPr>
          </a:p>
        </p:txBody>
      </p:sp>
      <p:sp>
        <p:nvSpPr>
          <p:cNvPr id="19460" name="灯片编号占位符 3">
            <a:extLst>
              <a:ext uri="{FF2B5EF4-FFF2-40B4-BE49-F238E27FC236}">
                <a16:creationId xmlns:a16="http://schemas.microsoft.com/office/drawing/2014/main" id="{9220ECAA-AF44-4ECA-BFCE-C34622DCE802}"/>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70D544D9-745B-482C-8F0B-E5E7AD1D6F01}" type="slidenum">
              <a:rPr lang="en-US" altLang="zh-CN" sz="1200">
                <a:solidFill>
                  <a:schemeClr val="tx1"/>
                </a:solidFill>
                <a:latin typeface="微软雅黑" panose="020B0503020204020204" pitchFamily="34" charset="-122"/>
                <a:ea typeface="微软雅黑" panose="020B0503020204020204" pitchFamily="34" charset="-122"/>
              </a:rPr>
              <a:pPr/>
              <a:t>12</a:t>
            </a:fld>
            <a:endParaRPr lang="en-US" altLang="zh-CN" sz="1200">
              <a:solidFill>
                <a:schemeClr val="tx1"/>
              </a:solidFill>
              <a:latin typeface="微软雅黑" panose="020B0503020204020204" pitchFamily="34" charset="-122"/>
              <a:ea typeface="微软雅黑" panose="020B0503020204020204" pitchFamily="34" charset="-122"/>
            </a:endParaRPr>
          </a:p>
        </p:txBody>
      </p:sp>
      <p:pic>
        <p:nvPicPr>
          <p:cNvPr id="21509" name="Picture 2">
            <a:extLst>
              <a:ext uri="{FF2B5EF4-FFF2-40B4-BE49-F238E27FC236}">
                <a16:creationId xmlns:a16="http://schemas.microsoft.com/office/drawing/2014/main" id="{5E6E45D0-2494-064B-9141-58D7FAE698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409825"/>
            <a:ext cx="703580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3D088381-36A0-CFD6-CF7C-466EB79E98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4263" y="581025"/>
            <a:ext cx="4249737" cy="194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2531" name="标题 1">
            <a:extLst>
              <a:ext uri="{FF2B5EF4-FFF2-40B4-BE49-F238E27FC236}">
                <a16:creationId xmlns:a16="http://schemas.microsoft.com/office/drawing/2014/main" id="{3909BB31-5FFC-DFD4-0C81-31677A8FC2E4}"/>
              </a:ext>
            </a:extLst>
          </p:cNvPr>
          <p:cNvSpPr>
            <a:spLocks noGrp="1" noChangeArrowheads="1"/>
          </p:cNvSpPr>
          <p:nvPr>
            <p:ph type="title"/>
          </p:nvPr>
        </p:nvSpPr>
        <p:spPr/>
        <p:txBody>
          <a:bodyPr/>
          <a:lstStyle/>
          <a:p>
            <a:r>
              <a:rPr lang="zh-CN" altLang="en-US"/>
              <a:t>分支限界法搜索应用举例</a:t>
            </a:r>
          </a:p>
        </p:txBody>
      </p:sp>
      <p:sp>
        <p:nvSpPr>
          <p:cNvPr id="2" name="内容占位符 2">
            <a:extLst>
              <a:ext uri="{FF2B5EF4-FFF2-40B4-BE49-F238E27FC236}">
                <a16:creationId xmlns:a16="http://schemas.microsoft.com/office/drawing/2014/main" id="{3BE86417-8125-4A46-9F3C-18DBB1AB3415}"/>
              </a:ext>
            </a:extLst>
          </p:cNvPr>
          <p:cNvSpPr>
            <a:spLocks noGrp="1"/>
          </p:cNvSpPr>
          <p:nvPr>
            <p:ph idx="1"/>
          </p:nvPr>
        </p:nvSpPr>
        <p:spPr>
          <a:xfrm>
            <a:off x="196850" y="2587625"/>
            <a:ext cx="8750300" cy="3592513"/>
          </a:xfrm>
          <a:ln>
            <a:solidFill>
              <a:srgbClr val="FF0000"/>
            </a:solidFill>
            <a:miter lim="800000"/>
            <a:headEnd/>
            <a:tailEnd/>
          </a:ln>
        </p:spPr>
        <p:txBody>
          <a:bodyPr/>
          <a:lstStyle/>
          <a:p>
            <a:pPr>
              <a:defRPr/>
            </a:pPr>
            <a:r>
              <a:rPr lang="zh-CN" altLang="en-US" dirty="0">
                <a:solidFill>
                  <a:srgbClr val="FF0000"/>
                </a:solidFill>
                <a:ea typeface="楷体_GB2312" pitchFamily="49" charset="-122"/>
                <a:cs typeface="Times New Roman" panose="02020603050405020304" pitchFamily="18" charset="0"/>
              </a:rPr>
              <a:t>队列式分支限界法</a:t>
            </a:r>
            <a:r>
              <a:rPr lang="en-US" altLang="zh-CN" dirty="0">
                <a:ea typeface="楷体_GB2312" pitchFamily="49" charset="-122"/>
                <a:cs typeface="Times New Roman" panose="02020603050405020304" pitchFamily="18" charset="0"/>
              </a:rPr>
              <a:t>(</a:t>
            </a:r>
            <a:r>
              <a:rPr lang="zh-CN" altLang="en-US" dirty="0">
                <a:ea typeface="楷体_GB2312" pitchFamily="49" charset="-122"/>
                <a:cs typeface="Times New Roman" panose="02020603050405020304" pitchFamily="18" charset="0"/>
              </a:rPr>
              <a:t>处理法则</a:t>
            </a:r>
            <a:r>
              <a:rPr lang="en-US" altLang="zh-CN" dirty="0">
                <a:ea typeface="楷体_GB2312" pitchFamily="49" charset="-122"/>
                <a:cs typeface="Times New Roman" panose="02020603050405020304" pitchFamily="18" charset="0"/>
              </a:rPr>
              <a:t>:</a:t>
            </a:r>
            <a:r>
              <a:rPr lang="zh-CN" altLang="en-US" dirty="0">
                <a:ea typeface="楷体_GB2312" pitchFamily="49" charset="-122"/>
                <a:cs typeface="Times New Roman" panose="02020603050405020304" pitchFamily="18" charset="0"/>
              </a:rPr>
              <a:t>先进先出</a:t>
            </a:r>
            <a:r>
              <a:rPr lang="en-US" altLang="zh-CN" dirty="0">
                <a:ea typeface="楷体_GB2312" pitchFamily="49" charset="-122"/>
                <a:cs typeface="Times New Roman" panose="02020603050405020304" pitchFamily="18" charset="0"/>
              </a:rPr>
              <a:t>)</a:t>
            </a:r>
            <a:r>
              <a:rPr lang="zh-CN" altLang="en-US" dirty="0">
                <a:ea typeface="楷体_GB2312" pitchFamily="49" charset="-122"/>
                <a:cs typeface="Times New Roman" panose="02020603050405020304" pitchFamily="18" charset="0"/>
              </a:rPr>
              <a:t>：        </a:t>
            </a:r>
            <a:r>
              <a:rPr lang="en-US" altLang="zh-CN" dirty="0">
                <a:ea typeface="楷体_GB2312" pitchFamily="49" charset="-122"/>
                <a:cs typeface="Times New Roman" panose="02020603050405020304" pitchFamily="18" charset="0"/>
              </a:rPr>
              <a:t>{}—&gt;{A}—&gt;{B,C}—&gt;{C,D,E}—&gt;{E,F,G}—&gt; {F,G,J,K}—&gt;{G,K,L,M}—&gt; {</a:t>
            </a:r>
            <a:r>
              <a:rPr lang="en-US" altLang="zh-CN" dirty="0">
                <a:solidFill>
                  <a:schemeClr val="accent1"/>
                </a:solidFill>
                <a:ea typeface="楷体_GB2312" pitchFamily="49" charset="-122"/>
                <a:cs typeface="Times New Roman" panose="02020603050405020304" pitchFamily="18" charset="0"/>
              </a:rPr>
              <a:t>K</a:t>
            </a:r>
            <a:r>
              <a:rPr lang="en-US" altLang="zh-CN" dirty="0">
                <a:ea typeface="楷体_GB2312" pitchFamily="49" charset="-122"/>
                <a:cs typeface="Times New Roman" panose="02020603050405020304" pitchFamily="18" charset="0"/>
              </a:rPr>
              <a:t>,L,M,N,O} —&gt; {</a:t>
            </a:r>
            <a:r>
              <a:rPr lang="en-US" altLang="zh-CN" dirty="0">
                <a:solidFill>
                  <a:srgbClr val="FF0000"/>
                </a:solidFill>
                <a:ea typeface="楷体_GB2312" pitchFamily="49" charset="-122"/>
                <a:cs typeface="Times New Roman" panose="02020603050405020304" pitchFamily="18" charset="0"/>
              </a:rPr>
              <a:t>L</a:t>
            </a:r>
            <a:r>
              <a:rPr lang="en-US" altLang="zh-CN" dirty="0">
                <a:ea typeface="楷体_GB2312" pitchFamily="49" charset="-122"/>
                <a:cs typeface="Times New Roman" panose="02020603050405020304" pitchFamily="18" charset="0"/>
              </a:rPr>
              <a:t>,M,N,O} —&gt; {M,N,O} —&gt; {N,O} —&gt; {O} —&gt; {}</a:t>
            </a:r>
          </a:p>
          <a:p>
            <a:pPr>
              <a:defRPr/>
            </a:pPr>
            <a:endParaRPr lang="en-US" altLang="zh-CN" dirty="0">
              <a:ea typeface="楷体_GB2312" pitchFamily="49" charset="-122"/>
              <a:cs typeface="Times New Roman" panose="02020603050405020304" pitchFamily="18" charset="0"/>
            </a:endParaRPr>
          </a:p>
          <a:p>
            <a:pPr>
              <a:defRPr/>
            </a:pPr>
            <a:r>
              <a:rPr lang="en-US" altLang="zh-CN" dirty="0">
                <a:ea typeface="楷体_GB2312" pitchFamily="49" charset="-122"/>
                <a:cs typeface="Times New Roman" panose="02020603050405020304" pitchFamily="18" charset="0"/>
              </a:rPr>
              <a:t> </a:t>
            </a:r>
            <a:r>
              <a:rPr lang="zh-CN" altLang="en-US" dirty="0">
                <a:solidFill>
                  <a:srgbClr val="FF0000"/>
                </a:solidFill>
                <a:ea typeface="楷体_GB2312" pitchFamily="49" charset="-122"/>
                <a:cs typeface="Times New Roman" panose="02020603050405020304" pitchFamily="18" charset="0"/>
              </a:rPr>
              <a:t>优先队列式分支限界法</a:t>
            </a:r>
            <a:r>
              <a:rPr lang="en-US" altLang="zh-CN" dirty="0">
                <a:ea typeface="楷体_GB2312" pitchFamily="49" charset="-122"/>
                <a:cs typeface="Times New Roman" panose="02020603050405020304" pitchFamily="18" charset="0"/>
              </a:rPr>
              <a:t>(</a:t>
            </a:r>
            <a:r>
              <a:rPr lang="zh-CN" altLang="en-US" dirty="0">
                <a:ea typeface="楷体_GB2312" pitchFamily="49" charset="-122"/>
                <a:cs typeface="Times New Roman" panose="02020603050405020304" pitchFamily="18" charset="0"/>
              </a:rPr>
              <a:t>处理法则</a:t>
            </a:r>
            <a:r>
              <a:rPr lang="en-US" altLang="zh-CN" dirty="0">
                <a:ea typeface="楷体_GB2312" pitchFamily="49" charset="-122"/>
                <a:cs typeface="Times New Roman" panose="02020603050405020304" pitchFamily="18" charset="0"/>
              </a:rPr>
              <a:t>:</a:t>
            </a:r>
            <a:r>
              <a:rPr lang="zh-CN" altLang="en-US" dirty="0">
                <a:ea typeface="楷体_GB2312" pitchFamily="49" charset="-122"/>
                <a:cs typeface="Times New Roman" panose="02020603050405020304" pitchFamily="18" charset="0"/>
              </a:rPr>
              <a:t>价值大者优先</a:t>
            </a:r>
            <a:r>
              <a:rPr lang="en-US" altLang="zh-CN" dirty="0">
                <a:ea typeface="楷体_GB2312" pitchFamily="49" charset="-122"/>
                <a:cs typeface="Times New Roman" panose="02020603050405020304" pitchFamily="18" charset="0"/>
              </a:rPr>
              <a:t>)</a:t>
            </a:r>
          </a:p>
          <a:p>
            <a:pPr marL="0" indent="0">
              <a:buFont typeface="Wingdings" panose="05000000000000000000" pitchFamily="2" charset="2"/>
              <a:buNone/>
              <a:defRPr/>
            </a:pPr>
            <a:r>
              <a:rPr lang="en-US" altLang="zh-CN" dirty="0">
                <a:ea typeface="楷体_GB2312" pitchFamily="49" charset="-122"/>
                <a:cs typeface="Times New Roman" panose="02020603050405020304" pitchFamily="18" charset="0"/>
              </a:rPr>
              <a:t>   </a:t>
            </a:r>
            <a:r>
              <a:rPr lang="zh-CN" altLang="en-US" dirty="0">
                <a:ea typeface="楷体_GB2312" pitchFamily="49" charset="-122"/>
                <a:cs typeface="Times New Roman" panose="02020603050405020304" pitchFamily="18" charset="0"/>
              </a:rPr>
              <a:t> </a:t>
            </a:r>
            <a:r>
              <a:rPr lang="en-US" altLang="zh-CN" dirty="0">
                <a:ea typeface="楷体_GB2312" pitchFamily="49" charset="-122"/>
                <a:cs typeface="Times New Roman" panose="02020603050405020304" pitchFamily="18" charset="0"/>
              </a:rPr>
              <a:t>{}—&gt;{A}—&gt;{B,C}—&gt;{E,C,D} —&gt; {C,K}—&gt; {F,K,G}—&gt;        {</a:t>
            </a:r>
            <a:r>
              <a:rPr lang="en-US" altLang="zh-CN" dirty="0">
                <a:solidFill>
                  <a:srgbClr val="FF0000"/>
                </a:solidFill>
                <a:ea typeface="楷体_GB2312" pitchFamily="49" charset="-122"/>
                <a:cs typeface="Times New Roman" panose="02020603050405020304" pitchFamily="18" charset="0"/>
              </a:rPr>
              <a:t>L</a:t>
            </a:r>
            <a:r>
              <a:rPr lang="en-US" altLang="zh-CN" dirty="0">
                <a:ea typeface="楷体_GB2312" pitchFamily="49" charset="-122"/>
                <a:cs typeface="Times New Roman" panose="02020603050405020304" pitchFamily="18" charset="0"/>
              </a:rPr>
              <a:t>,K,M,G}</a:t>
            </a:r>
            <a:endParaRPr lang="zh-CN" altLang="en-US" dirty="0">
              <a:ea typeface="楷体_GB2312" pitchFamily="49" charset="-122"/>
              <a:cs typeface="Times New Roman" panose="02020603050405020304" pitchFamily="18" charset="0"/>
            </a:endParaRPr>
          </a:p>
        </p:txBody>
      </p:sp>
      <p:sp>
        <p:nvSpPr>
          <p:cNvPr id="22533" name="灯片编号占位符 3">
            <a:extLst>
              <a:ext uri="{FF2B5EF4-FFF2-40B4-BE49-F238E27FC236}">
                <a16:creationId xmlns:a16="http://schemas.microsoft.com/office/drawing/2014/main" id="{96009C43-0C57-5FFF-EBFB-439253A632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F1198032-4C3B-46FC-A9FA-A7156FB41A4E}" type="slidenum">
              <a:rPr lang="en-US" altLang="zh-CN" sz="1200">
                <a:solidFill>
                  <a:schemeClr val="tx1"/>
                </a:solidFill>
                <a:latin typeface="Garamond" panose="02020404030301010803" pitchFamily="18" charset="0"/>
                <a:ea typeface="宋体" panose="02010600030101010101" pitchFamily="2" charset="-122"/>
              </a:rPr>
              <a:pPr/>
              <a:t>13</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6" name="内容占位符 2">
            <a:extLst>
              <a:ext uri="{FF2B5EF4-FFF2-40B4-BE49-F238E27FC236}">
                <a16:creationId xmlns:a16="http://schemas.microsoft.com/office/drawing/2014/main" id="{E862B771-0D82-4353-8B13-70EA89CE207C}"/>
              </a:ext>
            </a:extLst>
          </p:cNvPr>
          <p:cNvSpPr txBox="1">
            <a:spLocks/>
          </p:cNvSpPr>
          <p:nvPr/>
        </p:nvSpPr>
        <p:spPr bwMode="auto">
          <a:xfrm>
            <a:off x="142875" y="1465263"/>
            <a:ext cx="4857750" cy="857250"/>
          </a:xfrm>
          <a:prstGeom prst="rect">
            <a:avLst/>
          </a:prstGeom>
          <a:noFill/>
          <a:ln w="9525">
            <a:noFill/>
            <a:miter lim="800000"/>
            <a:headEnd/>
            <a:tailEnd/>
          </a:ln>
        </p:spPr>
        <p:txBody>
          <a:bodyPr/>
          <a:lstStyle/>
          <a:p>
            <a:pPr marL="342900" indent="-342900">
              <a:spcBef>
                <a:spcPct val="20000"/>
              </a:spcBef>
              <a:buClr>
                <a:schemeClr val="accent1"/>
              </a:buClr>
              <a:buSzPct val="65000"/>
              <a:buFont typeface="Wingdings" panose="05000000000000000000" pitchFamily="2" charset="2"/>
              <a:buNone/>
              <a:defRPr/>
            </a:pPr>
            <a:r>
              <a:rPr lang="en-US" altLang="zh-CN" sz="2400" b="1" kern="0" dirty="0">
                <a:solidFill>
                  <a:schemeClr val="tx1"/>
                </a:solidFill>
                <a:latin typeface="楷体_GB2312" pitchFamily="49" charset="-122"/>
              </a:rPr>
              <a:t>0-1</a:t>
            </a:r>
            <a:r>
              <a:rPr lang="zh-CN" altLang="en-US" sz="2400" b="1" kern="0" dirty="0">
                <a:solidFill>
                  <a:schemeClr val="tx1"/>
                </a:solidFill>
                <a:latin typeface="楷体_GB2312" pitchFamily="49" charset="-122"/>
              </a:rPr>
              <a:t>背包问题，当</a:t>
            </a:r>
            <a:r>
              <a:rPr lang="en-US" altLang="zh-CN" sz="2400" b="1" kern="0" dirty="0">
                <a:solidFill>
                  <a:schemeClr val="tx1"/>
                </a:solidFill>
                <a:latin typeface="楷体_GB2312" pitchFamily="49" charset="-122"/>
              </a:rPr>
              <a:t>n=3</a:t>
            </a:r>
            <a:r>
              <a:rPr lang="zh-CN" altLang="en-US" sz="2400" b="1" kern="0" dirty="0">
                <a:solidFill>
                  <a:schemeClr val="tx1"/>
                </a:solidFill>
                <a:latin typeface="楷体_GB2312" pitchFamily="49" charset="-122"/>
              </a:rPr>
              <a:t>时，</a:t>
            </a:r>
            <a:r>
              <a:rPr lang="en-US" altLang="zh-CN" sz="2400" b="1" kern="0" dirty="0">
                <a:solidFill>
                  <a:schemeClr val="tx1"/>
                </a:solidFill>
                <a:latin typeface="楷体_GB2312" pitchFamily="49" charset="-122"/>
              </a:rPr>
              <a:t> c=30 w={16,15,15}, p={45,25,25}</a:t>
            </a:r>
            <a:endParaRPr lang="zh-CN" altLang="en-US" sz="2400" b="1" kern="0" dirty="0">
              <a:solidFill>
                <a:schemeClr val="tx1"/>
              </a:solidFill>
              <a:latin typeface="楷体_GB2312" pitchFamily="49" charset="-122"/>
            </a:endParaRPr>
          </a:p>
        </p:txBody>
      </p:sp>
      <p:cxnSp>
        <p:nvCxnSpPr>
          <p:cNvPr id="20487" name="直接连接符 3">
            <a:extLst>
              <a:ext uri="{FF2B5EF4-FFF2-40B4-BE49-F238E27FC236}">
                <a16:creationId xmlns:a16="http://schemas.microsoft.com/office/drawing/2014/main" id="{C635AE62-5261-7651-C244-31EC914B4C93}"/>
              </a:ext>
            </a:extLst>
          </p:cNvPr>
          <p:cNvCxnSpPr>
            <a:cxnSpLocks noChangeShapeType="1"/>
          </p:cNvCxnSpPr>
          <p:nvPr/>
        </p:nvCxnSpPr>
        <p:spPr bwMode="auto">
          <a:xfrm>
            <a:off x="1476375" y="3789363"/>
            <a:ext cx="360363" cy="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9" name="直接连接符 3">
            <a:extLst>
              <a:ext uri="{FF2B5EF4-FFF2-40B4-BE49-F238E27FC236}">
                <a16:creationId xmlns:a16="http://schemas.microsoft.com/office/drawing/2014/main" id="{554ABB0E-C139-6421-94A6-D3698B3545A6}"/>
              </a:ext>
            </a:extLst>
          </p:cNvPr>
          <p:cNvCxnSpPr>
            <a:cxnSpLocks noChangeShapeType="1"/>
          </p:cNvCxnSpPr>
          <p:nvPr/>
        </p:nvCxnSpPr>
        <p:spPr bwMode="auto">
          <a:xfrm>
            <a:off x="4533900" y="3284538"/>
            <a:ext cx="360363" cy="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10" name="直接连接符 3">
            <a:extLst>
              <a:ext uri="{FF2B5EF4-FFF2-40B4-BE49-F238E27FC236}">
                <a16:creationId xmlns:a16="http://schemas.microsoft.com/office/drawing/2014/main" id="{7EE5760A-1CA4-21A3-6001-444DBFCD1B4E}"/>
              </a:ext>
            </a:extLst>
          </p:cNvPr>
          <p:cNvCxnSpPr>
            <a:cxnSpLocks noChangeShapeType="1"/>
          </p:cNvCxnSpPr>
          <p:nvPr/>
        </p:nvCxnSpPr>
        <p:spPr bwMode="auto">
          <a:xfrm>
            <a:off x="5000625" y="5876925"/>
            <a:ext cx="360363" cy="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B51C18F5-C3DF-452A-ABB9-32B6AA12771C}"/>
              </a:ext>
            </a:extLst>
          </p:cNvPr>
          <p:cNvSpPr>
            <a:spLocks noGrp="1" noChangeArrowheads="1"/>
          </p:cNvSpPr>
          <p:nvPr>
            <p:ph idx="1"/>
          </p:nvPr>
        </p:nvSpPr>
        <p:spPr>
          <a:xfrm>
            <a:off x="428625" y="571500"/>
            <a:ext cx="8472488" cy="5391150"/>
          </a:xfrm>
        </p:spPr>
        <p:txBody>
          <a:bodyPr/>
          <a:lstStyle/>
          <a:p>
            <a:pPr>
              <a:lnSpc>
                <a:spcPct val="150000"/>
              </a:lnSpc>
              <a:defRPr/>
            </a:pPr>
            <a:r>
              <a:rPr lang="zh-CN" altLang="en-US" sz="2800" b="1" dirty="0">
                <a:latin typeface="+mj-ea"/>
                <a:ea typeface="+mj-ea"/>
              </a:rPr>
              <a:t>通过应用范例学习分支限界法的设计策略。</a:t>
            </a: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1</a:t>
            </a:r>
            <a:r>
              <a:rPr lang="zh-CN" altLang="en-US" sz="2800" b="1" dirty="0">
                <a:latin typeface="+mj-ea"/>
                <a:ea typeface="+mj-ea"/>
              </a:rPr>
              <a:t>）</a:t>
            </a:r>
            <a:r>
              <a:rPr lang="zh-CN" altLang="en-US" sz="2800" b="1" dirty="0">
                <a:solidFill>
                  <a:srgbClr val="FF0000"/>
                </a:solidFill>
                <a:latin typeface="+mj-ea"/>
                <a:ea typeface="+mj-ea"/>
              </a:rPr>
              <a:t>装载问题</a:t>
            </a:r>
            <a:r>
              <a:rPr lang="zh-CN" altLang="en-US" sz="2800" b="1" dirty="0">
                <a:latin typeface="+mj-ea"/>
                <a:ea typeface="+mj-ea"/>
              </a:rPr>
              <a:t>；</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2</a:t>
            </a:r>
            <a:r>
              <a:rPr lang="zh-CN" altLang="en-US" sz="2800" b="1" dirty="0">
                <a:latin typeface="+mj-ea"/>
                <a:ea typeface="+mj-ea"/>
              </a:rPr>
              <a:t>）</a:t>
            </a:r>
            <a:r>
              <a:rPr lang="en-US" altLang="zh-CN" sz="2800" b="1" dirty="0">
                <a:latin typeface="+mj-ea"/>
                <a:ea typeface="+mj-ea"/>
              </a:rPr>
              <a:t>0-1</a:t>
            </a:r>
            <a:r>
              <a:rPr lang="zh-CN" altLang="en-US" sz="2800" b="1" dirty="0">
                <a:latin typeface="+mj-ea"/>
                <a:ea typeface="+mj-ea"/>
              </a:rPr>
              <a:t>背包问题；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3</a:t>
            </a:r>
            <a:r>
              <a:rPr lang="zh-CN" altLang="en-US" sz="2800" b="1" dirty="0">
                <a:latin typeface="+mj-ea"/>
                <a:ea typeface="+mj-ea"/>
              </a:rPr>
              <a:t>）最大团问题；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4</a:t>
            </a:r>
            <a:r>
              <a:rPr lang="zh-CN" altLang="en-US" sz="2800" b="1" dirty="0">
                <a:latin typeface="+mj-ea"/>
                <a:ea typeface="+mj-ea"/>
              </a:rPr>
              <a:t>）旅行售货员问题；</a:t>
            </a: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5</a:t>
            </a:r>
            <a:r>
              <a:rPr lang="zh-CN" altLang="en-US" sz="2800" b="1" dirty="0">
                <a:latin typeface="+mj-ea"/>
                <a:ea typeface="+mj-ea"/>
              </a:rPr>
              <a:t>）单源最短路问题；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6</a:t>
            </a:r>
            <a:r>
              <a:rPr lang="zh-CN" altLang="en-US" sz="2800" b="1" dirty="0">
                <a:latin typeface="+mj-ea"/>
                <a:ea typeface="+mj-ea"/>
              </a:rPr>
              <a:t>）批处理作业调度问题</a:t>
            </a:r>
            <a:endParaRPr lang="zh-CN" altLang="en-US" sz="2800" b="1" dirty="0">
              <a:solidFill>
                <a:srgbClr val="FF0000"/>
              </a:solidFill>
              <a:latin typeface="+mj-ea"/>
              <a:ea typeface="+mj-ea"/>
            </a:endParaRPr>
          </a:p>
        </p:txBody>
      </p:sp>
      <p:sp>
        <p:nvSpPr>
          <p:cNvPr id="21507" name="灯片编号占位符 4">
            <a:extLst>
              <a:ext uri="{FF2B5EF4-FFF2-40B4-BE49-F238E27FC236}">
                <a16:creationId xmlns:a16="http://schemas.microsoft.com/office/drawing/2014/main" id="{A0F36CCD-291E-4A8E-82FC-491ADDA45405}"/>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E39AC7A-E095-418E-B01F-280CA399B403}"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14</a:t>
            </a:fld>
            <a:endParaRPr lang="en-US" altLang="zh-CN" sz="1200">
              <a:latin typeface="微软雅黑" panose="020B0503020204020204" pitchFamily="34" charset="-122"/>
              <a:ea typeface="微软雅黑" panose="020B0503020204020204" pitchFamily="34" charset="-122"/>
            </a:endParaRPr>
          </a:p>
        </p:txBody>
      </p:sp>
      <p:sp>
        <p:nvSpPr>
          <p:cNvPr id="21508" name="矩形 1">
            <a:extLst>
              <a:ext uri="{FF2B5EF4-FFF2-40B4-BE49-F238E27FC236}">
                <a16:creationId xmlns:a16="http://schemas.microsoft.com/office/drawing/2014/main" id="{A4B1B316-812E-4D26-85F9-5CB3F52D2AE2}"/>
              </a:ext>
            </a:extLst>
          </p:cNvPr>
          <p:cNvSpPr>
            <a:spLocks noChangeArrowheads="1"/>
          </p:cNvSpPr>
          <p:nvPr/>
        </p:nvSpPr>
        <p:spPr bwMode="auto">
          <a:xfrm>
            <a:off x="5580063" y="2132013"/>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a:latin typeface="+mj-ea"/>
                <a:ea typeface="+mj-ea"/>
              </a:rPr>
              <a:t>子集树</a:t>
            </a:r>
            <a:endParaRPr lang="zh-CN" altLang="en-US">
              <a:latin typeface="+mj-ea"/>
              <a:ea typeface="+mj-ea"/>
            </a:endParaRPr>
          </a:p>
        </p:txBody>
      </p:sp>
      <p:sp>
        <p:nvSpPr>
          <p:cNvPr id="21509" name="矩形 4">
            <a:extLst>
              <a:ext uri="{FF2B5EF4-FFF2-40B4-BE49-F238E27FC236}">
                <a16:creationId xmlns:a16="http://schemas.microsoft.com/office/drawing/2014/main" id="{6A43AAB1-7AF8-4450-983C-D5FE4363F242}"/>
              </a:ext>
            </a:extLst>
          </p:cNvPr>
          <p:cNvSpPr>
            <a:spLocks noChangeArrowheads="1"/>
          </p:cNvSpPr>
          <p:nvPr/>
        </p:nvSpPr>
        <p:spPr bwMode="auto">
          <a:xfrm>
            <a:off x="5580063" y="4221163"/>
            <a:ext cx="14160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a:latin typeface="+mj-ea"/>
                <a:ea typeface="+mj-ea"/>
              </a:rPr>
              <a:t>排列树</a:t>
            </a:r>
            <a:endParaRPr lang="zh-CN" altLang="en-US">
              <a:latin typeface="+mj-ea"/>
              <a:ea typeface="+mj-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2862449-A18B-4AE0-A6A2-6F8D1D1036B9}"/>
              </a:ext>
            </a:extLst>
          </p:cNvPr>
          <p:cNvSpPr>
            <a:spLocks noGrp="1" noChangeArrowheads="1"/>
          </p:cNvSpPr>
          <p:nvPr>
            <p:ph type="title"/>
          </p:nvPr>
        </p:nvSpPr>
        <p:spPr/>
        <p:txBody>
          <a:bodyPr/>
          <a:lstStyle/>
          <a:p>
            <a:pPr>
              <a:defRPr/>
            </a:pPr>
            <a:r>
              <a:rPr lang="zh-CN" altLang="en-US">
                <a:latin typeface="+mj-ea"/>
              </a:rPr>
              <a:t>6.3 装载问题</a:t>
            </a:r>
          </a:p>
        </p:txBody>
      </p:sp>
      <p:sp>
        <p:nvSpPr>
          <p:cNvPr id="22531" name="灯片编号占位符 5">
            <a:extLst>
              <a:ext uri="{FF2B5EF4-FFF2-40B4-BE49-F238E27FC236}">
                <a16:creationId xmlns:a16="http://schemas.microsoft.com/office/drawing/2014/main" id="{31F813FD-586E-4C9C-A487-41D56260B501}"/>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78874770-4F50-449D-9B74-D9A82D1E0FA2}" type="slidenum">
              <a:rPr lang="zh-CN" altLang="en-US" sz="1200">
                <a:solidFill>
                  <a:schemeClr val="tx1"/>
                </a:solidFill>
                <a:latin typeface="微软雅黑" panose="020B0503020204020204" pitchFamily="34" charset="-122"/>
                <a:ea typeface="微软雅黑" panose="020B0503020204020204" pitchFamily="34" charset="-122"/>
              </a:rPr>
              <a:pPr/>
              <a:t>15</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22532" name="Text Box 4">
            <a:extLst>
              <a:ext uri="{FF2B5EF4-FFF2-40B4-BE49-F238E27FC236}">
                <a16:creationId xmlns:a16="http://schemas.microsoft.com/office/drawing/2014/main" id="{BA75FFB6-C167-4250-AC4F-CFFE509D23CA}"/>
              </a:ext>
            </a:extLst>
          </p:cNvPr>
          <p:cNvSpPr txBox="1">
            <a:spLocks noChangeArrowheads="1"/>
          </p:cNvSpPr>
          <p:nvPr/>
        </p:nvSpPr>
        <p:spPr bwMode="auto">
          <a:xfrm>
            <a:off x="357188" y="1143000"/>
            <a:ext cx="7696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1. 问题描述</a:t>
            </a:r>
            <a:endParaRPr lang="zh-CN" altLang="en-US">
              <a:solidFill>
                <a:schemeClr val="accent2"/>
              </a:solidFill>
              <a:latin typeface="+mj-ea"/>
              <a:ea typeface="+mj-ea"/>
            </a:endParaRPr>
          </a:p>
        </p:txBody>
      </p:sp>
      <p:sp>
        <p:nvSpPr>
          <p:cNvPr id="22533" name="Text Box 7">
            <a:extLst>
              <a:ext uri="{FF2B5EF4-FFF2-40B4-BE49-F238E27FC236}">
                <a16:creationId xmlns:a16="http://schemas.microsoft.com/office/drawing/2014/main" id="{789935AD-DF35-4047-8E74-D686E87A6D4D}"/>
              </a:ext>
            </a:extLst>
          </p:cNvPr>
          <p:cNvSpPr txBox="1">
            <a:spLocks noChangeArrowheads="1"/>
          </p:cNvSpPr>
          <p:nvPr/>
        </p:nvSpPr>
        <p:spPr bwMode="auto">
          <a:xfrm>
            <a:off x="500063" y="1785938"/>
            <a:ext cx="81438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spcBef>
                <a:spcPct val="50000"/>
              </a:spcBef>
              <a:buClr>
                <a:schemeClr val="accent1"/>
              </a:buClr>
              <a:buSzPct val="65000"/>
              <a:buFont typeface="Wingdings" panose="05000000000000000000" pitchFamily="2" charset="2"/>
              <a:buNone/>
              <a:defRPr/>
            </a:pPr>
            <a:r>
              <a:rPr lang="zh-CN" altLang="en-US" sz="2400">
                <a:solidFill>
                  <a:schemeClr val="tx1"/>
                </a:solidFill>
                <a:latin typeface="+mj-ea"/>
                <a:ea typeface="+mj-ea"/>
              </a:rPr>
              <a:t>有一批共个集装箱要装上2艘载重量分别为</a:t>
            </a:r>
            <a:r>
              <a:rPr lang="en-US" altLang="zh-CN" sz="2400" i="1">
                <a:solidFill>
                  <a:schemeClr val="tx1"/>
                </a:solidFill>
                <a:latin typeface="+mj-ea"/>
                <a:ea typeface="+mj-ea"/>
              </a:rPr>
              <a:t>c</a:t>
            </a:r>
            <a:r>
              <a:rPr lang="en-US" altLang="zh-CN" sz="2400" baseline="-25000">
                <a:solidFill>
                  <a:schemeClr val="tx1"/>
                </a:solidFill>
                <a:latin typeface="+mj-ea"/>
                <a:ea typeface="+mj-ea"/>
              </a:rPr>
              <a:t>1</a:t>
            </a:r>
            <a:r>
              <a:rPr lang="zh-CN" altLang="en-US" sz="2400">
                <a:solidFill>
                  <a:schemeClr val="tx1"/>
                </a:solidFill>
                <a:latin typeface="+mj-ea"/>
                <a:ea typeface="+mj-ea"/>
              </a:rPr>
              <a:t>和</a:t>
            </a:r>
            <a:r>
              <a:rPr lang="en-US" altLang="zh-CN" sz="2400" i="1">
                <a:solidFill>
                  <a:schemeClr val="tx1"/>
                </a:solidFill>
                <a:latin typeface="+mj-ea"/>
                <a:ea typeface="+mj-ea"/>
              </a:rPr>
              <a:t>c</a:t>
            </a:r>
            <a:r>
              <a:rPr lang="en-US" altLang="zh-CN" sz="2400" baseline="-25000">
                <a:solidFill>
                  <a:schemeClr val="tx1"/>
                </a:solidFill>
                <a:latin typeface="+mj-ea"/>
                <a:ea typeface="+mj-ea"/>
              </a:rPr>
              <a:t>2</a:t>
            </a:r>
            <a:r>
              <a:rPr lang="zh-CN" altLang="en-US" sz="2400">
                <a:solidFill>
                  <a:schemeClr val="tx1"/>
                </a:solidFill>
                <a:latin typeface="+mj-ea"/>
                <a:ea typeface="+mj-ea"/>
              </a:rPr>
              <a:t>的轮船，其中集装箱</a:t>
            </a:r>
            <a:r>
              <a:rPr lang="en-US" altLang="zh-CN" sz="2400">
                <a:solidFill>
                  <a:schemeClr val="tx1"/>
                </a:solidFill>
                <a:latin typeface="+mj-ea"/>
                <a:ea typeface="+mj-ea"/>
              </a:rPr>
              <a:t>i</a:t>
            </a:r>
            <a:r>
              <a:rPr lang="zh-CN" altLang="en-US" sz="2400">
                <a:solidFill>
                  <a:schemeClr val="tx1"/>
                </a:solidFill>
                <a:latin typeface="+mj-ea"/>
                <a:ea typeface="+mj-ea"/>
              </a:rPr>
              <a:t>的重量为</a:t>
            </a:r>
            <a:r>
              <a:rPr lang="en-US" altLang="zh-CN" sz="2400" i="1">
                <a:solidFill>
                  <a:schemeClr val="tx1"/>
                </a:solidFill>
                <a:latin typeface="+mj-ea"/>
                <a:ea typeface="+mj-ea"/>
              </a:rPr>
              <a:t>w</a:t>
            </a:r>
            <a:r>
              <a:rPr lang="en-US" altLang="zh-CN" sz="2400" baseline="-25000">
                <a:solidFill>
                  <a:schemeClr val="tx1"/>
                </a:solidFill>
                <a:latin typeface="+mj-ea"/>
                <a:ea typeface="+mj-ea"/>
              </a:rPr>
              <a:t>i</a:t>
            </a:r>
            <a:r>
              <a:rPr lang="en-US" altLang="zh-CN" sz="2400">
                <a:solidFill>
                  <a:schemeClr val="tx1"/>
                </a:solidFill>
                <a:latin typeface="+mj-ea"/>
                <a:ea typeface="+mj-ea"/>
              </a:rPr>
              <a:t>，</a:t>
            </a:r>
            <a:r>
              <a:rPr lang="zh-CN" altLang="en-US" sz="2400">
                <a:solidFill>
                  <a:schemeClr val="tx1"/>
                </a:solidFill>
                <a:latin typeface="+mj-ea"/>
                <a:ea typeface="+mj-ea"/>
              </a:rPr>
              <a:t>且</a:t>
            </a:r>
          </a:p>
        </p:txBody>
      </p:sp>
      <p:sp>
        <p:nvSpPr>
          <p:cNvPr id="22534" name="Rectangle 11">
            <a:extLst>
              <a:ext uri="{FF2B5EF4-FFF2-40B4-BE49-F238E27FC236}">
                <a16:creationId xmlns:a16="http://schemas.microsoft.com/office/drawing/2014/main" id="{0C46311C-71FB-4C9B-A331-5424001BA45A}"/>
              </a:ext>
            </a:extLst>
          </p:cNvPr>
          <p:cNvSpPr>
            <a:spLocks noChangeArrowheads="1"/>
          </p:cNvSpPr>
          <p:nvPr/>
        </p:nvSpPr>
        <p:spPr bwMode="auto">
          <a:xfrm>
            <a:off x="4110038" y="3214688"/>
            <a:ext cx="9144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endParaRPr>
          </a:p>
        </p:txBody>
      </p:sp>
      <p:graphicFrame>
        <p:nvGraphicFramePr>
          <p:cNvPr id="26631" name="Object 2">
            <a:extLst>
              <a:ext uri="{FF2B5EF4-FFF2-40B4-BE49-F238E27FC236}">
                <a16:creationId xmlns:a16="http://schemas.microsoft.com/office/drawing/2014/main" id="{D5EB6408-E06D-4040-6341-973A4E40332B}"/>
              </a:ext>
            </a:extLst>
          </p:cNvPr>
          <p:cNvGraphicFramePr>
            <a:graphicFrameLocks noChangeAspect="1"/>
          </p:cNvGraphicFramePr>
          <p:nvPr/>
        </p:nvGraphicFramePr>
        <p:xfrm>
          <a:off x="4572000" y="2143125"/>
          <a:ext cx="1447800" cy="762000"/>
        </p:xfrm>
        <a:graphic>
          <a:graphicData uri="http://schemas.openxmlformats.org/presentationml/2006/ole">
            <mc:AlternateContent xmlns:mc="http://schemas.openxmlformats.org/markup-compatibility/2006">
              <mc:Choice xmlns:v="urn:schemas-microsoft-com:vml" Requires="v">
                <p:oleObj name="Microsoft 公式 3.0" r:id="rId2" imgW="927100" imgH="431800" progId="Equation.3">
                  <p:embed/>
                </p:oleObj>
              </mc:Choice>
              <mc:Fallback>
                <p:oleObj name="Microsoft 公式 3.0" r:id="rId2" imgW="927100" imgH="431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143125"/>
                        <a:ext cx="1447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6" name="Text Box 12">
            <a:extLst>
              <a:ext uri="{FF2B5EF4-FFF2-40B4-BE49-F238E27FC236}">
                <a16:creationId xmlns:a16="http://schemas.microsoft.com/office/drawing/2014/main" id="{06949FBC-2097-4BDF-AEC8-0ECE15D199D2}"/>
              </a:ext>
            </a:extLst>
          </p:cNvPr>
          <p:cNvSpPr txBox="1">
            <a:spLocks noChangeArrowheads="1"/>
          </p:cNvSpPr>
          <p:nvPr/>
        </p:nvSpPr>
        <p:spPr bwMode="auto">
          <a:xfrm>
            <a:off x="500063" y="2928938"/>
            <a:ext cx="81438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lang="zh-CN" altLang="en-US" sz="2400">
                <a:solidFill>
                  <a:schemeClr val="tx1"/>
                </a:solidFill>
                <a:latin typeface="+mj-ea"/>
                <a:ea typeface="+mj-ea"/>
              </a:rPr>
              <a:t>装载问题要求确定是否有一个合理的装载方案可将这个集装箱装上这2艘轮船。如果有，找出一种装载方案。 </a:t>
            </a:r>
          </a:p>
        </p:txBody>
      </p:sp>
      <p:sp>
        <p:nvSpPr>
          <p:cNvPr id="22537" name="Text Box 13">
            <a:extLst>
              <a:ext uri="{FF2B5EF4-FFF2-40B4-BE49-F238E27FC236}">
                <a16:creationId xmlns:a16="http://schemas.microsoft.com/office/drawing/2014/main" id="{B233D3A2-0D8A-41B2-A4DA-A12ED9DA77D2}"/>
              </a:ext>
            </a:extLst>
          </p:cNvPr>
          <p:cNvSpPr txBox="1">
            <a:spLocks noChangeArrowheads="1"/>
          </p:cNvSpPr>
          <p:nvPr/>
        </p:nvSpPr>
        <p:spPr bwMode="auto">
          <a:xfrm>
            <a:off x="571500" y="4000500"/>
            <a:ext cx="814387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容易证明：如果一个给定装载问题有解，则采用下面的策略可得到最优装载方案。 </a:t>
            </a:r>
          </a:p>
          <a:p>
            <a:pPr algn="just"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(1)首先</a:t>
            </a:r>
            <a:r>
              <a:rPr lang="zh-CN" altLang="en-US" sz="2400" b="1" dirty="0">
                <a:solidFill>
                  <a:schemeClr val="tx1"/>
                </a:solidFill>
                <a:latin typeface="+mj-ea"/>
                <a:ea typeface="+mj-ea"/>
              </a:rPr>
              <a:t>将第一艘轮船尽可能装满</a:t>
            </a:r>
            <a:r>
              <a:rPr lang="zh-CN" altLang="en-US" sz="2400" dirty="0">
                <a:solidFill>
                  <a:schemeClr val="tx1"/>
                </a:solidFill>
                <a:latin typeface="+mj-ea"/>
                <a:ea typeface="+mj-ea"/>
              </a:rPr>
              <a:t>；</a:t>
            </a:r>
          </a:p>
          <a:p>
            <a:pPr algn="just"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(2)将剩余的集装箱装上第二艘轮船。 </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6" name="Rectangle 4">
            <a:extLst>
              <a:ext uri="{FF2B5EF4-FFF2-40B4-BE49-F238E27FC236}">
                <a16:creationId xmlns:a16="http://schemas.microsoft.com/office/drawing/2014/main" id="{ECCCC676-A59F-4B4E-B934-83AA6C964002}"/>
              </a:ext>
            </a:extLst>
          </p:cNvPr>
          <p:cNvSpPr>
            <a:spLocks noChangeArrowheads="1"/>
          </p:cNvSpPr>
          <p:nvPr/>
        </p:nvSpPr>
        <p:spPr bwMode="auto">
          <a:xfrm>
            <a:off x="357188" y="214313"/>
            <a:ext cx="7772400" cy="803275"/>
          </a:xfrm>
          <a:prstGeom prst="rect">
            <a:avLst/>
          </a:prstGeom>
          <a:noFill/>
          <a:ln w="9525">
            <a:noFill/>
            <a:miter lim="800000"/>
            <a:headEnd/>
            <a:tailEnd/>
          </a:ln>
          <a:effectLst/>
        </p:spPr>
        <p:txBody>
          <a:bodyPr anchor="ctr"/>
          <a:lstStyle/>
          <a:p>
            <a:pPr eaLnBrk="1" hangingPunct="1">
              <a:spcBef>
                <a:spcPct val="20000"/>
              </a:spcBef>
              <a:buClr>
                <a:schemeClr val="accent1"/>
              </a:buClr>
              <a:buSzPct val="65000"/>
              <a:buFont typeface="Wingdings" panose="05000000000000000000" pitchFamily="2" charset="2"/>
              <a:buNone/>
              <a:defRPr/>
            </a:pPr>
            <a:r>
              <a:rPr lang="en-US" altLang="zh-CN" sz="4200" dirty="0">
                <a:solidFill>
                  <a:schemeClr val="tx2"/>
                </a:solidFill>
                <a:effectLst>
                  <a:outerShdw blurRad="38100" dist="38100" dir="2700000" algn="tl">
                    <a:srgbClr val="C0C0C0"/>
                  </a:outerShdw>
                </a:effectLst>
                <a:latin typeface="+mj-ea"/>
                <a:ea typeface="+mj-ea"/>
                <a:cs typeface="+mj-cs"/>
              </a:rPr>
              <a:t>6.3 </a:t>
            </a:r>
            <a:r>
              <a:rPr lang="zh-CN" altLang="en-US" sz="4200" dirty="0">
                <a:solidFill>
                  <a:schemeClr val="tx2"/>
                </a:solidFill>
                <a:effectLst>
                  <a:outerShdw blurRad="38100" dist="38100" dir="2700000" algn="tl">
                    <a:srgbClr val="C0C0C0"/>
                  </a:outerShdw>
                </a:effectLst>
                <a:latin typeface="+mj-ea"/>
                <a:ea typeface="+mj-ea"/>
                <a:cs typeface="+mj-cs"/>
              </a:rPr>
              <a:t>装载问题</a:t>
            </a:r>
          </a:p>
        </p:txBody>
      </p:sp>
      <p:sp>
        <p:nvSpPr>
          <p:cNvPr id="34820" name="Rectangle 7">
            <a:extLst>
              <a:ext uri="{FF2B5EF4-FFF2-40B4-BE49-F238E27FC236}">
                <a16:creationId xmlns:a16="http://schemas.microsoft.com/office/drawing/2014/main" id="{6BD9E50B-69E3-472B-8652-4CBAF33D5B8A}"/>
              </a:ext>
            </a:extLst>
          </p:cNvPr>
          <p:cNvSpPr>
            <a:spLocks noChangeArrowheads="1"/>
          </p:cNvSpPr>
          <p:nvPr/>
        </p:nvSpPr>
        <p:spPr bwMode="auto">
          <a:xfrm>
            <a:off x="0" y="29384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endParaRPr>
          </a:p>
        </p:txBody>
      </p:sp>
      <p:sp>
        <p:nvSpPr>
          <p:cNvPr id="34821" name="Text Box 8">
            <a:extLst>
              <a:ext uri="{FF2B5EF4-FFF2-40B4-BE49-F238E27FC236}">
                <a16:creationId xmlns:a16="http://schemas.microsoft.com/office/drawing/2014/main" id="{0DEC893F-22DC-4012-A70C-3E4E54A63B89}"/>
              </a:ext>
            </a:extLst>
          </p:cNvPr>
          <p:cNvSpPr txBox="1">
            <a:spLocks noChangeArrowheads="1"/>
          </p:cNvSpPr>
          <p:nvPr/>
        </p:nvSpPr>
        <p:spPr bwMode="auto">
          <a:xfrm>
            <a:off x="385763" y="1268413"/>
            <a:ext cx="8588375"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zh-CN" altLang="en-US" sz="2400" dirty="0">
                <a:solidFill>
                  <a:srgbClr val="000066"/>
                </a:solidFill>
                <a:latin typeface="+mj-ea"/>
                <a:ea typeface="+mj-ea"/>
              </a:rPr>
              <a:t>有一批共</a:t>
            </a:r>
            <a:r>
              <a:rPr lang="en-US" altLang="zh-CN" sz="2400" dirty="0">
                <a:solidFill>
                  <a:srgbClr val="000066"/>
                </a:solidFill>
                <a:latin typeface="+mj-ea"/>
                <a:ea typeface="+mj-ea"/>
              </a:rPr>
              <a:t>n</a:t>
            </a:r>
            <a:r>
              <a:rPr lang="zh-CN" altLang="en-US" sz="2400" dirty="0">
                <a:solidFill>
                  <a:srgbClr val="000066"/>
                </a:solidFill>
                <a:latin typeface="+mj-ea"/>
                <a:ea typeface="+mj-ea"/>
              </a:rPr>
              <a:t>个集装箱要装上载重量为</a:t>
            </a:r>
            <a:r>
              <a:rPr lang="en-US" altLang="zh-CN" sz="2400" dirty="0">
                <a:solidFill>
                  <a:srgbClr val="000066"/>
                </a:solidFill>
                <a:latin typeface="+mj-ea"/>
                <a:ea typeface="+mj-ea"/>
              </a:rPr>
              <a:t>c1</a:t>
            </a:r>
            <a:r>
              <a:rPr lang="zh-CN" altLang="en-US" sz="2400" dirty="0">
                <a:solidFill>
                  <a:srgbClr val="000066"/>
                </a:solidFill>
                <a:latin typeface="+mj-ea"/>
                <a:ea typeface="+mj-ea"/>
              </a:rPr>
              <a:t>的轮船，其中集装箱</a:t>
            </a:r>
            <a:r>
              <a:rPr lang="en-US" altLang="zh-CN" sz="2400" dirty="0" err="1">
                <a:solidFill>
                  <a:srgbClr val="000066"/>
                </a:solidFill>
                <a:latin typeface="+mj-ea"/>
                <a:ea typeface="+mj-ea"/>
              </a:rPr>
              <a:t>i</a:t>
            </a:r>
            <a:r>
              <a:rPr lang="zh-CN" altLang="en-US" sz="2400" dirty="0">
                <a:solidFill>
                  <a:srgbClr val="000066"/>
                </a:solidFill>
                <a:latin typeface="+mj-ea"/>
                <a:ea typeface="+mj-ea"/>
              </a:rPr>
              <a:t>的重量为</a:t>
            </a:r>
            <a:r>
              <a:rPr lang="en-US" altLang="zh-CN" sz="2400" dirty="0" err="1">
                <a:solidFill>
                  <a:srgbClr val="000066"/>
                </a:solidFill>
                <a:latin typeface="+mj-ea"/>
                <a:ea typeface="+mj-ea"/>
              </a:rPr>
              <a:t>wi</a:t>
            </a:r>
            <a:r>
              <a:rPr lang="zh-CN" altLang="en-US" sz="2400" dirty="0">
                <a:solidFill>
                  <a:srgbClr val="000066"/>
                </a:solidFill>
                <a:latin typeface="+mj-ea"/>
                <a:ea typeface="+mj-ea"/>
              </a:rPr>
              <a:t>，要求</a:t>
            </a:r>
            <a:r>
              <a:rPr lang="zh-CN" altLang="en-US" sz="2400" dirty="0">
                <a:solidFill>
                  <a:srgbClr val="FF0000"/>
                </a:solidFill>
                <a:latin typeface="+mj-ea"/>
                <a:ea typeface="+mj-ea"/>
              </a:rPr>
              <a:t>装载重量最大化</a:t>
            </a:r>
            <a:r>
              <a:rPr lang="zh-CN" altLang="en-US" sz="2400" dirty="0">
                <a:solidFill>
                  <a:srgbClr val="000066"/>
                </a:solidFill>
                <a:latin typeface="+mj-ea"/>
                <a:ea typeface="+mj-ea"/>
              </a:rPr>
              <a:t>。</a:t>
            </a:r>
            <a:endParaRPr lang="en-US" altLang="zh-CN" sz="2400" dirty="0">
              <a:solidFill>
                <a:srgbClr val="000066"/>
              </a:solidFill>
              <a:latin typeface="+mj-ea"/>
              <a:ea typeface="+mj-ea"/>
            </a:endParaRPr>
          </a:p>
          <a:p>
            <a:pPr eaLnBrk="1" hangingPunct="1">
              <a:buFont typeface="Wingdings" panose="05000000000000000000" pitchFamily="2" charset="2"/>
              <a:buNone/>
              <a:defRPr/>
            </a:pPr>
            <a:endParaRPr lang="en-US" altLang="zh-CN" sz="2400" dirty="0">
              <a:solidFill>
                <a:srgbClr val="000066"/>
              </a:solidFill>
              <a:latin typeface="+mj-ea"/>
              <a:ea typeface="+mj-ea"/>
            </a:endParaRPr>
          </a:p>
          <a:p>
            <a:pPr eaLnBrk="1" hangingPunct="1">
              <a:buFont typeface="Wingdings" panose="05000000000000000000" pitchFamily="2" charset="2"/>
              <a:buNone/>
              <a:defRPr/>
            </a:pPr>
            <a:r>
              <a:rPr lang="zh-CN" altLang="en-US" sz="2400" dirty="0">
                <a:solidFill>
                  <a:srgbClr val="000066"/>
                </a:solidFill>
                <a:latin typeface="+mj-ea"/>
                <a:ea typeface="+mj-ea"/>
              </a:rPr>
              <a:t>装载问题等价于以下特殊的</a:t>
            </a:r>
            <a:r>
              <a:rPr lang="en-US" altLang="zh-CN" sz="2400" dirty="0">
                <a:solidFill>
                  <a:srgbClr val="000066"/>
                </a:solidFill>
                <a:latin typeface="+mj-ea"/>
                <a:ea typeface="+mj-ea"/>
              </a:rPr>
              <a:t>0-1</a:t>
            </a:r>
            <a:r>
              <a:rPr lang="zh-CN" altLang="en-US" sz="2400" dirty="0">
                <a:solidFill>
                  <a:srgbClr val="000066"/>
                </a:solidFill>
                <a:latin typeface="+mj-ea"/>
                <a:ea typeface="+mj-ea"/>
              </a:rPr>
              <a:t>背包问题。</a:t>
            </a:r>
          </a:p>
          <a:p>
            <a:pPr eaLnBrk="1" hangingPunct="1">
              <a:buFont typeface="Wingdings" panose="05000000000000000000" pitchFamily="2" charset="2"/>
              <a:buNone/>
              <a:defRPr/>
            </a:pPr>
            <a:endParaRPr lang="zh-CN" altLang="en-US" sz="2400" dirty="0">
              <a:solidFill>
                <a:srgbClr val="000066"/>
              </a:solidFill>
              <a:latin typeface="+mj-ea"/>
              <a:ea typeface="+mj-ea"/>
            </a:endParaRPr>
          </a:p>
        </p:txBody>
      </p:sp>
      <p:sp>
        <p:nvSpPr>
          <p:cNvPr id="34822" name="Rectangle 10">
            <a:extLst>
              <a:ext uri="{FF2B5EF4-FFF2-40B4-BE49-F238E27FC236}">
                <a16:creationId xmlns:a16="http://schemas.microsoft.com/office/drawing/2014/main" id="{6351136A-1CEB-48CE-ACD3-23CE0534AD72}"/>
              </a:ext>
            </a:extLst>
          </p:cNvPr>
          <p:cNvSpPr>
            <a:spLocks noChangeArrowheads="1"/>
          </p:cNvSpPr>
          <p:nvPr/>
        </p:nvSpPr>
        <p:spPr bwMode="auto">
          <a:xfrm>
            <a:off x="0" y="29384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endParaRPr>
          </a:p>
        </p:txBody>
      </p:sp>
      <p:graphicFrame>
        <p:nvGraphicFramePr>
          <p:cNvPr id="34823" name="Object 4">
            <a:extLst>
              <a:ext uri="{FF2B5EF4-FFF2-40B4-BE49-F238E27FC236}">
                <a16:creationId xmlns:a16="http://schemas.microsoft.com/office/drawing/2014/main" id="{A6331901-416C-1481-3566-454B1F0BF648}"/>
              </a:ext>
            </a:extLst>
          </p:cNvPr>
          <p:cNvGraphicFramePr>
            <a:graphicFrameLocks noChangeAspect="1"/>
          </p:cNvGraphicFramePr>
          <p:nvPr/>
        </p:nvGraphicFramePr>
        <p:xfrm>
          <a:off x="1614488" y="3760788"/>
          <a:ext cx="1452562" cy="823912"/>
        </p:xfrm>
        <a:graphic>
          <a:graphicData uri="http://schemas.openxmlformats.org/presentationml/2006/ole">
            <mc:AlternateContent xmlns:mc="http://schemas.openxmlformats.org/markup-compatibility/2006">
              <mc:Choice xmlns:v="urn:schemas-microsoft-com:vml" Requires="v">
                <p:oleObj name="Equation" r:id="rId3" imgW="761669" imgH="431613" progId="Equation.DSMT4">
                  <p:embed/>
                </p:oleObj>
              </mc:Choice>
              <mc:Fallback>
                <p:oleObj name="Equation" r:id="rId3" imgW="761669" imgH="431613"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4488" y="3760788"/>
                        <a:ext cx="1452562" cy="82391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4" name="Object 5">
            <a:extLst>
              <a:ext uri="{FF2B5EF4-FFF2-40B4-BE49-F238E27FC236}">
                <a16:creationId xmlns:a16="http://schemas.microsoft.com/office/drawing/2014/main" id="{B8797587-9B9F-C6B3-D3BA-68D617ED8BB5}"/>
              </a:ext>
            </a:extLst>
          </p:cNvPr>
          <p:cNvGraphicFramePr>
            <a:graphicFrameLocks noChangeAspect="1"/>
          </p:cNvGraphicFramePr>
          <p:nvPr/>
        </p:nvGraphicFramePr>
        <p:xfrm>
          <a:off x="3917950" y="3760788"/>
          <a:ext cx="1857375" cy="865187"/>
        </p:xfrm>
        <a:graphic>
          <a:graphicData uri="http://schemas.openxmlformats.org/presentationml/2006/ole">
            <mc:AlternateContent xmlns:mc="http://schemas.openxmlformats.org/markup-compatibility/2006">
              <mc:Choice xmlns:v="urn:schemas-microsoft-com:vml" Requires="v">
                <p:oleObj name="Equation" r:id="rId5" imgW="927100" imgH="431800" progId="Equation.DSMT4">
                  <p:embed/>
                </p:oleObj>
              </mc:Choice>
              <mc:Fallback>
                <p:oleObj name="Equation" r:id="rId5" imgW="927100" imgH="431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7950" y="3760788"/>
                        <a:ext cx="1857375" cy="865187"/>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5" name="Object 6">
            <a:extLst>
              <a:ext uri="{FF2B5EF4-FFF2-40B4-BE49-F238E27FC236}">
                <a16:creationId xmlns:a16="http://schemas.microsoft.com/office/drawing/2014/main" id="{EB809C85-883B-CAFF-D1E0-CB810CEBBB7E}"/>
              </a:ext>
            </a:extLst>
          </p:cNvPr>
          <p:cNvGraphicFramePr>
            <a:graphicFrameLocks noChangeAspect="1"/>
          </p:cNvGraphicFramePr>
          <p:nvPr/>
        </p:nvGraphicFramePr>
        <p:xfrm>
          <a:off x="4356100" y="4724400"/>
          <a:ext cx="2119313" cy="428625"/>
        </p:xfrm>
        <a:graphic>
          <a:graphicData uri="http://schemas.openxmlformats.org/presentationml/2006/ole">
            <mc:AlternateContent xmlns:mc="http://schemas.openxmlformats.org/markup-compatibility/2006">
              <mc:Choice xmlns:v="urn:schemas-microsoft-com:vml" Requires="v">
                <p:oleObj name="Equation" r:id="rId7" imgW="1130300" imgH="228600" progId="Equation.DSMT4">
                  <p:embed/>
                </p:oleObj>
              </mc:Choice>
              <mc:Fallback>
                <p:oleObj name="Equation" r:id="rId7" imgW="1130300" imgH="228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56100" y="4724400"/>
                        <a:ext cx="2119313" cy="42862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2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48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8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9" descr="t51">
            <a:extLst>
              <a:ext uri="{FF2B5EF4-FFF2-40B4-BE49-F238E27FC236}">
                <a16:creationId xmlns:a16="http://schemas.microsoft.com/office/drawing/2014/main" id="{F246CD54-8E87-F200-0049-9BF171E70D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298450"/>
            <a:ext cx="390525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灯片编号占位符 2">
            <a:extLst>
              <a:ext uri="{FF2B5EF4-FFF2-40B4-BE49-F238E27FC236}">
                <a16:creationId xmlns:a16="http://schemas.microsoft.com/office/drawing/2014/main" id="{5F024BA4-4C92-4346-B186-0958285F20E6}"/>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995876A-EE29-4D15-B9C1-F5622F104653}"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17</a:t>
            </a:fld>
            <a:endParaRPr lang="en-US" altLang="zh-CN" sz="1200">
              <a:latin typeface="微软雅黑" panose="020B0503020204020204" pitchFamily="34" charset="-122"/>
              <a:ea typeface="微软雅黑" panose="020B0503020204020204" pitchFamily="34" charset="-122"/>
            </a:endParaRPr>
          </a:p>
        </p:txBody>
      </p:sp>
      <p:sp>
        <p:nvSpPr>
          <p:cNvPr id="291845" name="Rectangle 5">
            <a:extLst>
              <a:ext uri="{FF2B5EF4-FFF2-40B4-BE49-F238E27FC236}">
                <a16:creationId xmlns:a16="http://schemas.microsoft.com/office/drawing/2014/main" id="{DC4BC568-B112-45A5-B1A9-481CE4518C29}"/>
              </a:ext>
            </a:extLst>
          </p:cNvPr>
          <p:cNvSpPr>
            <a:spLocks noChangeArrowheads="1"/>
          </p:cNvSpPr>
          <p:nvPr/>
        </p:nvSpPr>
        <p:spPr bwMode="auto">
          <a:xfrm>
            <a:off x="428625" y="214313"/>
            <a:ext cx="7772400" cy="803275"/>
          </a:xfrm>
          <a:prstGeom prst="rect">
            <a:avLst/>
          </a:prstGeom>
          <a:noFill/>
          <a:ln w="9525">
            <a:noFill/>
            <a:miter lim="800000"/>
            <a:headEnd/>
            <a:tailEnd/>
          </a:ln>
          <a:effectLst/>
        </p:spPr>
        <p:txBody>
          <a:bodyPr anchor="ctr"/>
          <a:lstStyle/>
          <a:p>
            <a:pPr eaLnBrk="1" hangingPunct="1">
              <a:spcBef>
                <a:spcPct val="20000"/>
              </a:spcBef>
              <a:buClr>
                <a:schemeClr val="accent1"/>
              </a:buClr>
              <a:buSzPct val="65000"/>
              <a:buFont typeface="Wingdings" panose="05000000000000000000" pitchFamily="2" charset="2"/>
              <a:buNone/>
              <a:defRPr/>
            </a:pPr>
            <a:r>
              <a:rPr lang="en-US" altLang="zh-CN" sz="4200" dirty="0">
                <a:solidFill>
                  <a:schemeClr val="tx2"/>
                </a:solidFill>
                <a:effectLst>
                  <a:outerShdw blurRad="38100" dist="38100" dir="2700000" algn="tl">
                    <a:srgbClr val="C0C0C0"/>
                  </a:outerShdw>
                </a:effectLst>
                <a:latin typeface="+mj-ea"/>
                <a:ea typeface="+mj-ea"/>
              </a:rPr>
              <a:t>6.3 </a:t>
            </a:r>
            <a:r>
              <a:rPr lang="zh-CN" altLang="en-US" sz="4200" dirty="0">
                <a:solidFill>
                  <a:schemeClr val="tx2"/>
                </a:solidFill>
                <a:effectLst>
                  <a:outerShdw blurRad="38100" dist="38100" dir="2700000" algn="tl">
                    <a:srgbClr val="C0C0C0"/>
                  </a:outerShdw>
                </a:effectLst>
                <a:latin typeface="+mj-ea"/>
                <a:ea typeface="+mj-ea"/>
                <a:cs typeface="+mj-cs"/>
              </a:rPr>
              <a:t>装载问题</a:t>
            </a:r>
          </a:p>
        </p:txBody>
      </p:sp>
      <p:sp>
        <p:nvSpPr>
          <p:cNvPr id="23557" name="Text Box 6">
            <a:extLst>
              <a:ext uri="{FF2B5EF4-FFF2-40B4-BE49-F238E27FC236}">
                <a16:creationId xmlns:a16="http://schemas.microsoft.com/office/drawing/2014/main" id="{59184F14-7CE5-4852-B038-B865B3343F62}"/>
              </a:ext>
            </a:extLst>
          </p:cNvPr>
          <p:cNvSpPr txBox="1">
            <a:spLocks noChangeArrowheads="1"/>
          </p:cNvSpPr>
          <p:nvPr/>
        </p:nvSpPr>
        <p:spPr bwMode="auto">
          <a:xfrm>
            <a:off x="450850" y="1360488"/>
            <a:ext cx="8353425" cy="356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2"/>
              </a:buClr>
              <a:buFont typeface="Wingdings" panose="05000000000000000000" pitchFamily="2" charset="2"/>
              <a:buNone/>
              <a:defRPr/>
            </a:pPr>
            <a:r>
              <a:rPr lang="zh-CN" altLang="en-US" sz="2400" b="1" dirty="0">
                <a:solidFill>
                  <a:srgbClr val="000066"/>
                </a:solidFill>
                <a:latin typeface="+mj-ea"/>
                <a:ea typeface="+mj-ea"/>
              </a:rPr>
              <a:t>解空间：子集树</a:t>
            </a:r>
            <a:endParaRPr lang="en-US" altLang="zh-CN" sz="2400" b="1" dirty="0">
              <a:solidFill>
                <a:srgbClr val="000066"/>
              </a:solidFill>
              <a:latin typeface="+mj-ea"/>
              <a:ea typeface="+mj-ea"/>
            </a:endParaRPr>
          </a:p>
          <a:p>
            <a:pPr eaLnBrk="1" hangingPunct="1">
              <a:buClr>
                <a:schemeClr val="accent2"/>
              </a:buClr>
              <a:buFontTx/>
              <a:buChar char="•"/>
              <a:defRPr/>
            </a:pPr>
            <a:endParaRPr lang="en-US" altLang="zh-CN" sz="2400" b="1" dirty="0">
              <a:solidFill>
                <a:srgbClr val="000066"/>
              </a:solidFill>
              <a:latin typeface="+mj-ea"/>
              <a:ea typeface="+mj-ea"/>
            </a:endParaRPr>
          </a:p>
          <a:p>
            <a:pPr eaLnBrk="1" hangingPunct="1">
              <a:buClr>
                <a:schemeClr val="accent2"/>
              </a:buClr>
              <a:buFontTx/>
              <a:buChar char="•"/>
              <a:defRPr/>
            </a:pPr>
            <a:endParaRPr lang="en-US" altLang="zh-CN" sz="2400" b="1" dirty="0">
              <a:solidFill>
                <a:srgbClr val="000066"/>
              </a:solidFill>
              <a:latin typeface="+mj-ea"/>
              <a:ea typeface="+mj-ea"/>
            </a:endParaRPr>
          </a:p>
          <a:p>
            <a:pPr eaLnBrk="1" hangingPunct="1">
              <a:buClr>
                <a:schemeClr val="accent2"/>
              </a:buClr>
              <a:buFont typeface="Wingdings" panose="05000000000000000000" pitchFamily="2" charset="2"/>
              <a:buNone/>
              <a:defRPr/>
            </a:pPr>
            <a:r>
              <a:rPr lang="zh-CN" altLang="en-US" sz="2400" b="1" dirty="0">
                <a:solidFill>
                  <a:srgbClr val="000066"/>
                </a:solidFill>
                <a:latin typeface="+mj-ea"/>
                <a:ea typeface="+mj-ea"/>
              </a:rPr>
              <a:t>可行性约束函数</a:t>
            </a:r>
            <a:r>
              <a:rPr lang="en-US" altLang="zh-CN" sz="2400" b="1" dirty="0">
                <a:solidFill>
                  <a:srgbClr val="000066"/>
                </a:solidFill>
                <a:latin typeface="+mj-ea"/>
                <a:ea typeface="+mj-ea"/>
              </a:rPr>
              <a:t>(</a:t>
            </a:r>
            <a:r>
              <a:rPr lang="zh-CN" altLang="en-US" sz="2400" b="1" dirty="0">
                <a:solidFill>
                  <a:srgbClr val="000066"/>
                </a:solidFill>
                <a:latin typeface="+mj-ea"/>
                <a:ea typeface="+mj-ea"/>
              </a:rPr>
              <a:t>选择当前元素</a:t>
            </a:r>
            <a:r>
              <a:rPr lang="en-US" altLang="zh-CN" sz="2400" b="1" dirty="0">
                <a:solidFill>
                  <a:srgbClr val="000066"/>
                </a:solidFill>
                <a:latin typeface="+mj-ea"/>
                <a:ea typeface="+mj-ea"/>
              </a:rPr>
              <a:t>)</a:t>
            </a:r>
            <a:r>
              <a:rPr lang="zh-CN" altLang="en-US" sz="2400" b="1" dirty="0">
                <a:solidFill>
                  <a:srgbClr val="000066"/>
                </a:solidFill>
                <a:latin typeface="+mj-ea"/>
                <a:ea typeface="+mj-ea"/>
              </a:rPr>
              <a:t>：</a:t>
            </a:r>
            <a:endParaRPr lang="en-US" altLang="zh-CN" sz="2400" b="1" dirty="0">
              <a:solidFill>
                <a:srgbClr val="000066"/>
              </a:solidFill>
              <a:latin typeface="+mj-ea"/>
              <a:ea typeface="+mj-ea"/>
            </a:endParaRPr>
          </a:p>
          <a:p>
            <a:pPr eaLnBrk="1" hangingPunct="1">
              <a:buClr>
                <a:schemeClr val="accent2"/>
              </a:buClr>
              <a:buFontTx/>
              <a:buChar char="•"/>
              <a:defRPr/>
            </a:pPr>
            <a:endParaRPr lang="en-US" altLang="zh-CN" sz="2400" b="1" dirty="0">
              <a:solidFill>
                <a:srgbClr val="000066"/>
              </a:solidFill>
              <a:latin typeface="+mj-ea"/>
              <a:ea typeface="+mj-ea"/>
            </a:endParaRPr>
          </a:p>
          <a:p>
            <a:pPr eaLnBrk="1" hangingPunct="1">
              <a:buClr>
                <a:schemeClr val="accent2"/>
              </a:buClr>
              <a:buFont typeface="Wingdings" panose="05000000000000000000" pitchFamily="2" charset="2"/>
              <a:buNone/>
              <a:defRPr/>
            </a:pPr>
            <a:r>
              <a:rPr lang="zh-CN" altLang="en-US" sz="2400" b="1" dirty="0">
                <a:solidFill>
                  <a:srgbClr val="000066"/>
                </a:solidFill>
                <a:latin typeface="+mj-ea"/>
                <a:ea typeface="+mj-ea"/>
              </a:rPr>
              <a:t>加入队列的算法</a:t>
            </a:r>
            <a:r>
              <a:rPr kumimoji="1" lang="en-US" altLang="zh-CN" sz="2400" dirty="0" err="1">
                <a:latin typeface="+mj-ea"/>
              </a:rPr>
              <a:t>EnQueue</a:t>
            </a:r>
            <a:endParaRPr lang="en-US" altLang="zh-CN" sz="2400" b="1" dirty="0">
              <a:solidFill>
                <a:srgbClr val="000066"/>
              </a:solidFill>
              <a:latin typeface="+mj-ea"/>
              <a:ea typeface="+mj-ea"/>
            </a:endParaRPr>
          </a:p>
          <a:p>
            <a:pPr eaLnBrk="1" hangingPunct="1">
              <a:buClr>
                <a:schemeClr val="accent2"/>
              </a:buClr>
              <a:buFontTx/>
              <a:buChar char="•"/>
              <a:defRPr/>
            </a:pPr>
            <a:endParaRPr lang="zh-CN" altLang="en-US" sz="2400" b="1" dirty="0">
              <a:solidFill>
                <a:srgbClr val="000066"/>
              </a:solidFill>
              <a:latin typeface="+mj-ea"/>
              <a:ea typeface="+mj-ea"/>
            </a:endParaRPr>
          </a:p>
          <a:p>
            <a:pPr eaLnBrk="1" hangingPunct="1">
              <a:buClr>
                <a:schemeClr val="accent2"/>
              </a:buClr>
              <a:buFontTx/>
              <a:buChar char="•"/>
              <a:defRPr/>
            </a:pPr>
            <a:endParaRPr lang="en-US" altLang="zh-CN" sz="2400" b="1" dirty="0">
              <a:solidFill>
                <a:srgbClr val="000066"/>
              </a:solidFill>
              <a:latin typeface="+mj-ea"/>
              <a:ea typeface="+mj-ea"/>
            </a:endParaRPr>
          </a:p>
        </p:txBody>
      </p:sp>
      <p:graphicFrame>
        <p:nvGraphicFramePr>
          <p:cNvPr id="29702" name="Object 2">
            <a:extLst>
              <a:ext uri="{FF2B5EF4-FFF2-40B4-BE49-F238E27FC236}">
                <a16:creationId xmlns:a16="http://schemas.microsoft.com/office/drawing/2014/main" id="{84AF0870-F503-582A-5149-113ABD0EF3C8}"/>
              </a:ext>
            </a:extLst>
          </p:cNvPr>
          <p:cNvGraphicFramePr>
            <a:graphicFrameLocks noChangeAspect="1"/>
          </p:cNvGraphicFramePr>
          <p:nvPr/>
        </p:nvGraphicFramePr>
        <p:xfrm>
          <a:off x="5184775" y="2508250"/>
          <a:ext cx="1368425" cy="768350"/>
        </p:xfrm>
        <a:graphic>
          <a:graphicData uri="http://schemas.openxmlformats.org/presentationml/2006/ole">
            <mc:AlternateContent xmlns:mc="http://schemas.openxmlformats.org/markup-compatibility/2006">
              <mc:Choice xmlns:v="urn:schemas-microsoft-com:vml" Requires="v">
                <p:oleObj name="公式" r:id="rId4" imgW="761669" imgH="431613" progId="Equation.3">
                  <p:embed/>
                </p:oleObj>
              </mc:Choice>
              <mc:Fallback>
                <p:oleObj name="公式" r:id="rId4" imgW="761669" imgH="431613"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4775" y="2508250"/>
                        <a:ext cx="136842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7">
            <a:extLst>
              <a:ext uri="{FF2B5EF4-FFF2-40B4-BE49-F238E27FC236}">
                <a16:creationId xmlns:a16="http://schemas.microsoft.com/office/drawing/2014/main" id="{1DB94A77-2128-4E74-BED7-AB33096D0BB1}"/>
              </a:ext>
            </a:extLst>
          </p:cNvPr>
          <p:cNvSpPr txBox="1">
            <a:spLocks noChangeArrowheads="1"/>
          </p:cNvSpPr>
          <p:nvPr/>
        </p:nvSpPr>
        <p:spPr bwMode="auto">
          <a:xfrm>
            <a:off x="631825" y="4221163"/>
            <a:ext cx="6954838"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err="1">
                <a:solidFill>
                  <a:schemeClr val="tx1"/>
                </a:solidFill>
                <a:latin typeface="+mj-ea"/>
                <a:ea typeface="+mj-ea"/>
              </a:rPr>
              <a:t>EnQueue</a:t>
            </a:r>
            <a:r>
              <a:rPr kumimoji="1" lang="en-US" altLang="zh-CN" sz="1800" dirty="0">
                <a:solidFill>
                  <a:schemeClr val="tx1"/>
                </a:solidFill>
                <a:latin typeface="+mj-ea"/>
                <a:ea typeface="+mj-ea"/>
              </a:rPr>
              <a:t>(Q, </a:t>
            </a:r>
            <a:r>
              <a:rPr kumimoji="1" lang="en-US" altLang="zh-CN" sz="1800" dirty="0" err="1">
                <a:solidFill>
                  <a:schemeClr val="tx1"/>
                </a:solidFill>
                <a:latin typeface="+mj-ea"/>
                <a:ea typeface="+mj-ea"/>
              </a:rPr>
              <a:t>wt</a:t>
            </a: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bestw</a:t>
            </a: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i</a:t>
            </a:r>
            <a:r>
              <a:rPr kumimoji="1" lang="en-US" altLang="zh-CN" sz="1800" dirty="0">
                <a:solidFill>
                  <a:schemeClr val="tx1"/>
                </a:solidFill>
                <a:latin typeface="+mj-ea"/>
                <a:ea typeface="+mj-ea"/>
              </a:rPr>
              <a:t>, n)    //</a:t>
            </a:r>
            <a:r>
              <a:rPr kumimoji="1" lang="zh-CN" altLang="en-US" sz="1800" dirty="0">
                <a:solidFill>
                  <a:schemeClr val="tx1"/>
                </a:solidFill>
                <a:latin typeface="+mj-ea"/>
                <a:ea typeface="+mj-ea"/>
              </a:rPr>
              <a:t>将活结点加入到活结点队列</a:t>
            </a:r>
            <a:r>
              <a:rPr kumimoji="1" lang="en-US" altLang="zh-CN" sz="1800" dirty="0">
                <a:solidFill>
                  <a:schemeClr val="tx1"/>
                </a:solidFill>
                <a:latin typeface="+mj-ea"/>
                <a:ea typeface="+mj-ea"/>
              </a:rPr>
              <a:t>Q</a:t>
            </a:r>
            <a:r>
              <a:rPr kumimoji="1" lang="zh-CN" altLang="en-US" sz="1800" dirty="0">
                <a:solidFill>
                  <a:schemeClr val="tx1"/>
                </a:solidFill>
                <a:latin typeface="+mj-ea"/>
                <a:ea typeface="+mj-ea"/>
              </a:rPr>
              <a:t>中</a:t>
            </a:r>
            <a:endParaRPr kumimoji="1" lang="en-US" altLang="zh-CN" sz="1800" dirty="0">
              <a:solidFill>
                <a:schemeClr val="tx1"/>
              </a:solidFill>
              <a:latin typeface="+mj-ea"/>
              <a:ea typeface="+mj-ea"/>
            </a:endParaRP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   if (</a:t>
            </a:r>
            <a:r>
              <a:rPr kumimoji="1" lang="en-US" altLang="zh-CN" sz="1800" dirty="0" err="1">
                <a:solidFill>
                  <a:srgbClr val="FF0000"/>
                </a:solidFill>
                <a:latin typeface="+mj-ea"/>
                <a:ea typeface="+mj-ea"/>
              </a:rPr>
              <a:t>i</a:t>
            </a:r>
            <a:r>
              <a:rPr kumimoji="1" lang="en-US" altLang="zh-CN" sz="1800" dirty="0">
                <a:solidFill>
                  <a:srgbClr val="FF0000"/>
                </a:solidFill>
                <a:latin typeface="+mj-ea"/>
                <a:ea typeface="+mj-ea"/>
              </a:rPr>
              <a:t> == n</a:t>
            </a:r>
            <a:r>
              <a:rPr kumimoji="1" lang="en-US" altLang="zh-CN" sz="1800" dirty="0">
                <a:solidFill>
                  <a:schemeClr val="tx1"/>
                </a:solidFill>
                <a:latin typeface="+mj-ea"/>
                <a:ea typeface="+mj-ea"/>
              </a:rPr>
              <a:t>) {             // </a:t>
            </a:r>
            <a:r>
              <a:rPr kumimoji="1" lang="zh-CN" altLang="en-US" sz="1800" dirty="0">
                <a:solidFill>
                  <a:srgbClr val="FF0000"/>
                </a:solidFill>
                <a:latin typeface="+mj-ea"/>
                <a:ea typeface="+mj-ea"/>
              </a:rPr>
              <a:t>可行叶子结点</a:t>
            </a:r>
          </a:p>
          <a:p>
            <a:pPr eaLnBrk="1" hangingPunct="1">
              <a:lnSpc>
                <a:spcPct val="120000"/>
              </a:lnSpc>
              <a:spcBef>
                <a:spcPct val="20000"/>
              </a:spcBef>
              <a:buClr>
                <a:schemeClr val="accent1"/>
              </a:buClr>
              <a:buSzPct val="65000"/>
              <a:defRPr/>
            </a:pPr>
            <a:r>
              <a:rPr kumimoji="1" lang="zh-CN" altLang="en-US" sz="1800" dirty="0">
                <a:solidFill>
                  <a:srgbClr val="FF0000"/>
                </a:solidFill>
                <a:latin typeface="+mj-ea"/>
                <a:ea typeface="+mj-ea"/>
              </a:rPr>
              <a:t>         </a:t>
            </a:r>
            <a:r>
              <a:rPr kumimoji="1" lang="en-US" altLang="zh-CN" sz="1800" dirty="0">
                <a:solidFill>
                  <a:schemeClr val="tx1"/>
                </a:solidFill>
                <a:latin typeface="+mj-ea"/>
                <a:ea typeface="+mj-ea"/>
              </a:rPr>
              <a:t>if (</a:t>
            </a:r>
            <a:r>
              <a:rPr kumimoji="1" lang="en-US" altLang="zh-CN" sz="1800" dirty="0" err="1">
                <a:solidFill>
                  <a:schemeClr val="tx1"/>
                </a:solidFill>
                <a:latin typeface="+mj-ea"/>
                <a:ea typeface="+mj-ea"/>
              </a:rPr>
              <a:t>wt</a:t>
            </a:r>
            <a:r>
              <a:rPr kumimoji="1" lang="en-US" altLang="zh-CN" sz="1800" dirty="0">
                <a:solidFill>
                  <a:schemeClr val="tx1"/>
                </a:solidFill>
                <a:latin typeface="+mj-ea"/>
                <a:ea typeface="+mj-ea"/>
              </a:rPr>
              <a:t> &gt; </a:t>
            </a:r>
            <a:r>
              <a:rPr kumimoji="1" lang="en-US" altLang="zh-CN" sz="1800" dirty="0" err="1">
                <a:solidFill>
                  <a:schemeClr val="tx1"/>
                </a:solidFill>
                <a:latin typeface="+mj-ea"/>
                <a:ea typeface="+mj-ea"/>
              </a:rPr>
              <a:t>bestw</a:t>
            </a: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bestw</a:t>
            </a:r>
            <a:r>
              <a:rPr kumimoji="1" lang="en-US" altLang="zh-CN" sz="1800" dirty="0">
                <a:solidFill>
                  <a:schemeClr val="tx1"/>
                </a:solidFill>
                <a:latin typeface="+mj-ea"/>
                <a:ea typeface="+mj-ea"/>
              </a:rPr>
              <a:t> = </a:t>
            </a:r>
            <a:r>
              <a:rPr kumimoji="1" lang="en-US" altLang="zh-CN" sz="1800" dirty="0" err="1">
                <a:solidFill>
                  <a:schemeClr val="tx1"/>
                </a:solidFill>
                <a:latin typeface="+mj-ea"/>
                <a:ea typeface="+mj-ea"/>
              </a:rPr>
              <a:t>wt</a:t>
            </a:r>
            <a:r>
              <a:rPr kumimoji="1" lang="en-US" altLang="zh-CN" sz="1800" dirty="0">
                <a:solidFill>
                  <a:schemeClr val="tx1"/>
                </a:solidFill>
                <a:latin typeface="+mj-ea"/>
                <a:ea typeface="+mj-ea"/>
              </a:rPr>
              <a:t>; }</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    else </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 </a:t>
            </a:r>
            <a:r>
              <a:rPr kumimoji="1" lang="zh-CN" altLang="en-US" sz="1800" dirty="0">
                <a:solidFill>
                  <a:schemeClr val="tx1"/>
                </a:solidFill>
                <a:latin typeface="+mj-ea"/>
                <a:ea typeface="+mj-ea"/>
              </a:rPr>
              <a:t>        </a:t>
            </a:r>
            <a:r>
              <a:rPr kumimoji="1" lang="en-US" altLang="zh-CN" sz="1800" dirty="0" err="1">
                <a:solidFill>
                  <a:schemeClr val="tx1"/>
                </a:solidFill>
                <a:latin typeface="+mj-ea"/>
                <a:ea typeface="+mj-ea"/>
              </a:rPr>
              <a:t>Q.Add</a:t>
            </a:r>
            <a:r>
              <a:rPr kumimoji="1" lang="en-US" altLang="zh-CN" sz="1800" dirty="0">
                <a:solidFill>
                  <a:schemeClr val="tx1"/>
                </a:solidFill>
                <a:latin typeface="+mj-ea"/>
                <a:ea typeface="+mj-ea"/>
              </a:rPr>
              <a:t>(</a:t>
            </a:r>
            <a:r>
              <a:rPr kumimoji="1" lang="en-US" altLang="zh-CN" sz="1800" dirty="0" err="1">
                <a:solidFill>
                  <a:schemeClr val="tx1"/>
                </a:solidFill>
                <a:latin typeface="+mj-ea"/>
                <a:ea typeface="+mj-ea"/>
              </a:rPr>
              <a:t>wt</a:t>
            </a:r>
            <a:r>
              <a:rPr kumimoji="1" lang="en-US" altLang="zh-CN" sz="1800" dirty="0">
                <a:solidFill>
                  <a:schemeClr val="tx1"/>
                </a:solidFill>
                <a:latin typeface="+mj-ea"/>
                <a:ea typeface="+mj-ea"/>
              </a:rPr>
              <a:t>);        // </a:t>
            </a:r>
            <a:r>
              <a:rPr kumimoji="1" lang="zh-CN" altLang="en-US" sz="1800" dirty="0">
                <a:solidFill>
                  <a:schemeClr val="tx1"/>
                </a:solidFill>
                <a:latin typeface="+mj-ea"/>
                <a:ea typeface="+mj-ea"/>
              </a:rPr>
              <a:t>非叶子节点</a:t>
            </a:r>
            <a:endParaRPr kumimoji="1" lang="en-US" altLang="zh-CN" sz="1800" dirty="0">
              <a:solidFill>
                <a:schemeClr val="tx1"/>
              </a:solidFill>
              <a:latin typeface="+mj-ea"/>
              <a:ea typeface="+mj-ea"/>
            </a:endParaRP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rPr>
              <a:t>}</a:t>
            </a:r>
            <a:endParaRPr kumimoji="1" lang="en-US" altLang="zh-CN" sz="1800" dirty="0">
              <a:solidFill>
                <a:schemeClr val="tx1"/>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9824D68-0958-43EB-ABC1-A3B3BA672F90}"/>
              </a:ext>
            </a:extLst>
          </p:cNvPr>
          <p:cNvSpPr>
            <a:spLocks noGrp="1" noChangeArrowheads="1"/>
          </p:cNvSpPr>
          <p:nvPr>
            <p:ph type="title"/>
          </p:nvPr>
        </p:nvSpPr>
        <p:spPr/>
        <p:txBody>
          <a:bodyPr/>
          <a:lstStyle/>
          <a:p>
            <a:pPr>
              <a:defRPr/>
            </a:pPr>
            <a:r>
              <a:rPr lang="zh-CN" altLang="en-US">
                <a:latin typeface="+mj-ea"/>
              </a:rPr>
              <a:t>6.3 装载问题</a:t>
            </a:r>
          </a:p>
        </p:txBody>
      </p:sp>
      <p:sp>
        <p:nvSpPr>
          <p:cNvPr id="24579" name="灯片编号占位符 5">
            <a:extLst>
              <a:ext uri="{FF2B5EF4-FFF2-40B4-BE49-F238E27FC236}">
                <a16:creationId xmlns:a16="http://schemas.microsoft.com/office/drawing/2014/main" id="{F920555A-68AA-463D-90CE-7226A5FEB398}"/>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7125D9B-C8A4-4B49-B02E-FB3E66658B06}" type="slidenum">
              <a:rPr lang="zh-CN" altLang="en-US" sz="1200">
                <a:solidFill>
                  <a:schemeClr val="tx1"/>
                </a:solidFill>
                <a:latin typeface="微软雅黑" panose="020B0503020204020204" pitchFamily="34" charset="-122"/>
                <a:ea typeface="微软雅黑" panose="020B0503020204020204" pitchFamily="34" charset="-122"/>
              </a:rPr>
              <a:pPr/>
              <a:t>18</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17444" name="Text Box 4">
            <a:extLst>
              <a:ext uri="{FF2B5EF4-FFF2-40B4-BE49-F238E27FC236}">
                <a16:creationId xmlns:a16="http://schemas.microsoft.com/office/drawing/2014/main" id="{27BEBA50-B6FF-4E0A-9BD8-6B6CA12239FA}"/>
              </a:ext>
            </a:extLst>
          </p:cNvPr>
          <p:cNvSpPr txBox="1">
            <a:spLocks noChangeArrowheads="1"/>
          </p:cNvSpPr>
          <p:nvPr/>
        </p:nvSpPr>
        <p:spPr bwMode="auto">
          <a:xfrm>
            <a:off x="357188" y="928688"/>
            <a:ext cx="7696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dirty="0">
                <a:solidFill>
                  <a:schemeClr val="accent2"/>
                </a:solidFill>
                <a:latin typeface="+mj-ea"/>
                <a:ea typeface="+mj-ea"/>
              </a:rPr>
              <a:t>2. 队列式分支限界法</a:t>
            </a:r>
            <a:endParaRPr lang="zh-CN" altLang="en-US" dirty="0">
              <a:solidFill>
                <a:schemeClr val="accent2"/>
              </a:solidFill>
              <a:latin typeface="+mj-ea"/>
              <a:ea typeface="+mj-ea"/>
            </a:endParaRPr>
          </a:p>
        </p:txBody>
      </p:sp>
      <p:sp>
        <p:nvSpPr>
          <p:cNvPr id="24581" name="Text Box 5">
            <a:extLst>
              <a:ext uri="{FF2B5EF4-FFF2-40B4-BE49-F238E27FC236}">
                <a16:creationId xmlns:a16="http://schemas.microsoft.com/office/drawing/2014/main" id="{733C888B-438B-4BC4-91E7-61D500AEC9BC}"/>
              </a:ext>
            </a:extLst>
          </p:cNvPr>
          <p:cNvSpPr txBox="1">
            <a:spLocks noChangeArrowheads="1"/>
          </p:cNvSpPr>
          <p:nvPr/>
        </p:nvSpPr>
        <p:spPr bwMode="auto">
          <a:xfrm>
            <a:off x="228600" y="3124200"/>
            <a:ext cx="8001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50000"/>
              </a:spcBef>
              <a:buClr>
                <a:schemeClr val="accent1"/>
              </a:buClr>
              <a:buSzPct val="65000"/>
              <a:buFont typeface="Wingdings" panose="05000000000000000000" pitchFamily="2" charset="2"/>
              <a:buChar char="n"/>
              <a:defRPr/>
            </a:pPr>
            <a:endParaRPr lang="zh-CN" altLang="en-US">
              <a:solidFill>
                <a:schemeClr val="accent2"/>
              </a:solidFill>
              <a:latin typeface="+mj-ea"/>
              <a:ea typeface="+mj-ea"/>
            </a:endParaRPr>
          </a:p>
        </p:txBody>
      </p:sp>
      <p:sp>
        <p:nvSpPr>
          <p:cNvPr id="317447" name="Text Box 7">
            <a:extLst>
              <a:ext uri="{FF2B5EF4-FFF2-40B4-BE49-F238E27FC236}">
                <a16:creationId xmlns:a16="http://schemas.microsoft.com/office/drawing/2014/main" id="{8F1DC354-17F3-4E7C-AA30-CE87CB304DE0}"/>
              </a:ext>
            </a:extLst>
          </p:cNvPr>
          <p:cNvSpPr txBox="1">
            <a:spLocks noChangeArrowheads="1"/>
          </p:cNvSpPr>
          <p:nvPr/>
        </p:nvSpPr>
        <p:spPr bwMode="auto">
          <a:xfrm>
            <a:off x="209550" y="1539875"/>
            <a:ext cx="5002213" cy="46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rgbClr val="FF0000"/>
                </a:solidFill>
                <a:latin typeface="+mj-ea"/>
                <a:ea typeface="+mj-ea"/>
              </a:rPr>
              <a:t>while (true) </a:t>
            </a:r>
            <a:r>
              <a:rPr kumimoji="1" lang="en-US" altLang="zh-CN" sz="1800" dirty="0">
                <a:solidFill>
                  <a:schemeClr val="tx1"/>
                </a:solidFill>
                <a:latin typeface="+mj-ea"/>
                <a:ea typeface="+mj-ea"/>
              </a:rPr>
              <a:t>{</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      // </a:t>
            </a:r>
            <a:r>
              <a:rPr kumimoji="1" lang="zh-CN" altLang="en-US" sz="1800" dirty="0">
                <a:solidFill>
                  <a:schemeClr val="tx1"/>
                </a:solidFill>
                <a:latin typeface="+mj-ea"/>
                <a:ea typeface="+mj-ea"/>
              </a:rPr>
              <a:t>检查左儿子结点</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800" dirty="0">
                <a:solidFill>
                  <a:schemeClr val="tx1"/>
                </a:solidFill>
                <a:latin typeface="+mj-ea"/>
                <a:ea typeface="+mj-ea"/>
              </a:rPr>
              <a:t>      </a:t>
            </a:r>
            <a:r>
              <a:rPr kumimoji="1" lang="en-US" altLang="zh-CN" sz="1800" dirty="0">
                <a:solidFill>
                  <a:schemeClr val="tx1"/>
                </a:solidFill>
                <a:latin typeface="+mj-ea"/>
                <a:ea typeface="+mj-ea"/>
              </a:rPr>
              <a:t>if (</a:t>
            </a:r>
            <a:r>
              <a:rPr kumimoji="1" lang="en-US" altLang="zh-CN" sz="1800" dirty="0" err="1">
                <a:solidFill>
                  <a:srgbClr val="0070C0"/>
                </a:solidFill>
                <a:latin typeface="+mj-ea"/>
                <a:ea typeface="+mj-ea"/>
              </a:rPr>
              <a:t>Ew</a:t>
            </a:r>
            <a:r>
              <a:rPr kumimoji="1" lang="en-US" altLang="zh-CN" sz="1800" dirty="0">
                <a:solidFill>
                  <a:srgbClr val="0070C0"/>
                </a:solidFill>
                <a:latin typeface="+mj-ea"/>
                <a:ea typeface="+mj-ea"/>
              </a:rPr>
              <a:t> + w[</a:t>
            </a:r>
            <a:r>
              <a:rPr kumimoji="1" lang="en-US" altLang="zh-CN" sz="1800" dirty="0" err="1">
                <a:solidFill>
                  <a:srgbClr val="0070C0"/>
                </a:solidFill>
                <a:latin typeface="+mj-ea"/>
                <a:ea typeface="+mj-ea"/>
              </a:rPr>
              <a:t>i</a:t>
            </a:r>
            <a:r>
              <a:rPr kumimoji="1" lang="en-US" altLang="zh-CN" sz="1800" dirty="0">
                <a:solidFill>
                  <a:srgbClr val="0070C0"/>
                </a:solidFill>
                <a:latin typeface="+mj-ea"/>
                <a:ea typeface="+mj-ea"/>
              </a:rPr>
              <a:t>] &lt;= c</a:t>
            </a:r>
            <a:r>
              <a:rPr kumimoji="1" lang="en-US" altLang="zh-CN" sz="1800" dirty="0">
                <a:solidFill>
                  <a:schemeClr val="tx1"/>
                </a:solidFill>
                <a:latin typeface="+mj-ea"/>
                <a:ea typeface="+mj-ea"/>
              </a:rPr>
              <a:t>) // x[</a:t>
            </a:r>
            <a:r>
              <a:rPr kumimoji="1" lang="en-US" altLang="zh-CN" sz="1800" dirty="0" err="1">
                <a:solidFill>
                  <a:schemeClr val="tx1"/>
                </a:solidFill>
                <a:latin typeface="+mj-ea"/>
                <a:ea typeface="+mj-ea"/>
              </a:rPr>
              <a:t>i</a:t>
            </a:r>
            <a:r>
              <a:rPr kumimoji="1" lang="en-US" altLang="zh-CN" sz="1800" dirty="0">
                <a:solidFill>
                  <a:schemeClr val="tx1"/>
                </a:solidFill>
                <a:latin typeface="+mj-ea"/>
                <a:ea typeface="+mj-ea"/>
              </a:rPr>
              <a:t>] = 1</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         </a:t>
            </a:r>
            <a:r>
              <a:rPr kumimoji="1" lang="en-US" altLang="zh-CN" sz="1800" u="sng" dirty="0" err="1">
                <a:solidFill>
                  <a:schemeClr val="tx1"/>
                </a:solidFill>
                <a:latin typeface="+mj-ea"/>
                <a:ea typeface="+mj-ea"/>
              </a:rPr>
              <a:t>EnQueue</a:t>
            </a:r>
            <a:r>
              <a:rPr kumimoji="1" lang="en-US" altLang="zh-CN" sz="1800" dirty="0">
                <a:solidFill>
                  <a:schemeClr val="tx1"/>
                </a:solidFill>
                <a:latin typeface="+mj-ea"/>
                <a:ea typeface="+mj-ea"/>
              </a:rPr>
              <a:t>(Q, </a:t>
            </a:r>
            <a:r>
              <a:rPr kumimoji="1" lang="en-US" altLang="zh-CN" sz="1800" dirty="0" err="1">
                <a:solidFill>
                  <a:srgbClr val="FF0000"/>
                </a:solidFill>
                <a:latin typeface="+mj-ea"/>
                <a:ea typeface="+mj-ea"/>
              </a:rPr>
              <a:t>Ew</a:t>
            </a:r>
            <a:r>
              <a:rPr kumimoji="1" lang="en-US" altLang="zh-CN" sz="1800" dirty="0">
                <a:solidFill>
                  <a:srgbClr val="FF0000"/>
                </a:solidFill>
                <a:latin typeface="+mj-ea"/>
                <a:ea typeface="+mj-ea"/>
              </a:rPr>
              <a:t> + w[</a:t>
            </a:r>
            <a:r>
              <a:rPr kumimoji="1" lang="en-US" altLang="zh-CN" sz="1800" dirty="0" err="1">
                <a:solidFill>
                  <a:srgbClr val="FF0000"/>
                </a:solidFill>
                <a:latin typeface="+mj-ea"/>
                <a:ea typeface="+mj-ea"/>
              </a:rPr>
              <a:t>i</a:t>
            </a:r>
            <a:r>
              <a:rPr kumimoji="1" lang="en-US" altLang="zh-CN" sz="1800" dirty="0">
                <a:solidFill>
                  <a:srgbClr val="FF0000"/>
                </a:solidFill>
                <a:latin typeface="+mj-ea"/>
                <a:ea typeface="+mj-ea"/>
              </a:rPr>
              <a:t>], </a:t>
            </a:r>
            <a:r>
              <a:rPr kumimoji="1" lang="en-US" altLang="zh-CN" sz="1800" dirty="0" err="1">
                <a:solidFill>
                  <a:schemeClr val="tx1"/>
                </a:solidFill>
                <a:latin typeface="+mj-ea"/>
                <a:ea typeface="+mj-ea"/>
              </a:rPr>
              <a:t>bestw</a:t>
            </a: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i</a:t>
            </a:r>
            <a:r>
              <a:rPr kumimoji="1" lang="en-US" altLang="zh-CN" sz="1800" dirty="0">
                <a:solidFill>
                  <a:schemeClr val="tx1"/>
                </a:solidFill>
                <a:latin typeface="+mj-ea"/>
                <a:ea typeface="+mj-ea"/>
              </a:rPr>
              <a:t>, n);</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      // </a:t>
            </a:r>
            <a:r>
              <a:rPr kumimoji="1" lang="zh-CN" altLang="en-US" sz="1800" dirty="0">
                <a:solidFill>
                  <a:schemeClr val="tx1"/>
                </a:solidFill>
                <a:latin typeface="+mj-ea"/>
                <a:ea typeface="+mj-ea"/>
              </a:rPr>
              <a:t>右儿子结点总是可行的</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800" dirty="0">
                <a:solidFill>
                  <a:schemeClr val="tx1"/>
                </a:solidFill>
                <a:latin typeface="+mj-ea"/>
                <a:ea typeface="+mj-ea"/>
              </a:rPr>
              <a:t>      </a:t>
            </a:r>
            <a:r>
              <a:rPr kumimoji="1" lang="en-US" altLang="zh-CN" sz="1800" u="sng" dirty="0" err="1">
                <a:solidFill>
                  <a:schemeClr val="tx1"/>
                </a:solidFill>
                <a:latin typeface="+mj-ea"/>
                <a:ea typeface="+mj-ea"/>
              </a:rPr>
              <a:t>EnQueue</a:t>
            </a:r>
            <a:r>
              <a:rPr kumimoji="1" lang="en-US" altLang="zh-CN" sz="1800" dirty="0">
                <a:solidFill>
                  <a:schemeClr val="tx1"/>
                </a:solidFill>
                <a:latin typeface="+mj-ea"/>
                <a:ea typeface="+mj-ea"/>
              </a:rPr>
              <a:t>(Q, </a:t>
            </a:r>
            <a:r>
              <a:rPr kumimoji="1" lang="en-US" altLang="zh-CN" sz="1800" dirty="0" err="1">
                <a:solidFill>
                  <a:srgbClr val="FF0000"/>
                </a:solidFill>
                <a:latin typeface="+mj-ea"/>
                <a:ea typeface="+mj-ea"/>
              </a:rPr>
              <a:t>Ew</a:t>
            </a: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bestw</a:t>
            </a: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i</a:t>
            </a:r>
            <a:r>
              <a:rPr kumimoji="1" lang="en-US" altLang="zh-CN" sz="1800" dirty="0">
                <a:solidFill>
                  <a:schemeClr val="tx1"/>
                </a:solidFill>
                <a:latin typeface="+mj-ea"/>
                <a:ea typeface="+mj-ea"/>
              </a:rPr>
              <a:t>, n); // x[</a:t>
            </a:r>
            <a:r>
              <a:rPr kumimoji="1" lang="en-US" altLang="zh-CN" sz="1800" dirty="0" err="1">
                <a:solidFill>
                  <a:schemeClr val="tx1"/>
                </a:solidFill>
                <a:latin typeface="+mj-ea"/>
                <a:ea typeface="+mj-ea"/>
              </a:rPr>
              <a:t>i</a:t>
            </a:r>
            <a:r>
              <a:rPr kumimoji="1" lang="en-US" altLang="zh-CN" sz="1800" dirty="0">
                <a:solidFill>
                  <a:schemeClr val="tx1"/>
                </a:solidFill>
                <a:latin typeface="+mj-ea"/>
                <a:ea typeface="+mj-ea"/>
              </a:rPr>
              <a:t>] = 0</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Q.Delete</a:t>
            </a:r>
            <a:r>
              <a:rPr kumimoji="1" lang="en-US" altLang="zh-CN" sz="1800" dirty="0">
                <a:solidFill>
                  <a:schemeClr val="tx1"/>
                </a:solidFill>
                <a:latin typeface="+mj-ea"/>
                <a:ea typeface="+mj-ea"/>
              </a:rPr>
              <a:t>(</a:t>
            </a:r>
            <a:r>
              <a:rPr kumimoji="1" lang="en-US" altLang="zh-CN" sz="1800" dirty="0" err="1">
                <a:solidFill>
                  <a:schemeClr val="tx1"/>
                </a:solidFill>
                <a:latin typeface="+mj-ea"/>
                <a:ea typeface="+mj-ea"/>
              </a:rPr>
              <a:t>Ew</a:t>
            </a:r>
            <a:r>
              <a:rPr kumimoji="1" lang="en-US" altLang="zh-CN" sz="1800" dirty="0">
                <a:solidFill>
                  <a:schemeClr val="tx1"/>
                </a:solidFill>
                <a:latin typeface="+mj-ea"/>
                <a:ea typeface="+mj-ea"/>
              </a:rPr>
              <a:t>);     // </a:t>
            </a:r>
            <a:r>
              <a:rPr kumimoji="1" lang="zh-CN" altLang="en-US" sz="1800" dirty="0">
                <a:solidFill>
                  <a:schemeClr val="tx1"/>
                </a:solidFill>
                <a:latin typeface="+mj-ea"/>
                <a:ea typeface="+mj-ea"/>
              </a:rPr>
              <a:t>取下一扩展结点</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800" dirty="0">
                <a:solidFill>
                  <a:schemeClr val="tx1"/>
                </a:solidFill>
                <a:latin typeface="+mj-ea"/>
                <a:ea typeface="+mj-ea"/>
              </a:rPr>
              <a:t>      </a:t>
            </a:r>
            <a:r>
              <a:rPr kumimoji="1" lang="en-US" altLang="zh-CN" sz="1800" dirty="0">
                <a:solidFill>
                  <a:schemeClr val="tx1"/>
                </a:solidFill>
                <a:latin typeface="+mj-ea"/>
                <a:ea typeface="+mj-ea"/>
              </a:rPr>
              <a:t>if (</a:t>
            </a:r>
            <a:r>
              <a:rPr kumimoji="1" lang="en-US" altLang="zh-CN" sz="1800" dirty="0" err="1">
                <a:solidFill>
                  <a:srgbClr val="0070C0"/>
                </a:solidFill>
                <a:latin typeface="+mj-ea"/>
                <a:ea typeface="+mj-ea"/>
              </a:rPr>
              <a:t>Ew</a:t>
            </a:r>
            <a:r>
              <a:rPr kumimoji="1" lang="en-US" altLang="zh-CN" sz="1800" dirty="0">
                <a:solidFill>
                  <a:srgbClr val="0070C0"/>
                </a:solidFill>
                <a:latin typeface="+mj-ea"/>
                <a:ea typeface="+mj-ea"/>
              </a:rPr>
              <a:t> == -1</a:t>
            </a:r>
            <a:r>
              <a:rPr kumimoji="1" lang="en-US" altLang="zh-CN" sz="1800" dirty="0">
                <a:solidFill>
                  <a:schemeClr val="tx1"/>
                </a:solidFill>
                <a:latin typeface="+mj-ea"/>
                <a:ea typeface="+mj-ea"/>
              </a:rPr>
              <a:t>) {      // </a:t>
            </a:r>
            <a:r>
              <a:rPr kumimoji="1" lang="zh-CN" altLang="en-US" sz="1800" dirty="0">
                <a:solidFill>
                  <a:schemeClr val="tx1"/>
                </a:solidFill>
                <a:latin typeface="+mj-ea"/>
                <a:ea typeface="+mj-ea"/>
              </a:rPr>
              <a:t>同层结点尾部</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800" dirty="0">
                <a:solidFill>
                  <a:srgbClr val="FF0000"/>
                </a:solidFill>
                <a:latin typeface="+mj-ea"/>
                <a:ea typeface="+mj-ea"/>
              </a:rPr>
              <a:t>         </a:t>
            </a:r>
            <a:r>
              <a:rPr kumimoji="1" lang="en-US" altLang="zh-CN" sz="1800" dirty="0">
                <a:solidFill>
                  <a:srgbClr val="FF0000"/>
                </a:solidFill>
                <a:latin typeface="+mj-ea"/>
                <a:ea typeface="+mj-ea"/>
              </a:rPr>
              <a:t>if (</a:t>
            </a:r>
            <a:r>
              <a:rPr kumimoji="1" lang="en-US" altLang="zh-CN" sz="1800" dirty="0" err="1">
                <a:solidFill>
                  <a:srgbClr val="FF0000"/>
                </a:solidFill>
                <a:latin typeface="+mj-ea"/>
                <a:ea typeface="+mj-ea"/>
              </a:rPr>
              <a:t>Q.IsEmpty</a:t>
            </a:r>
            <a:r>
              <a:rPr kumimoji="1" lang="en-US" altLang="zh-CN" sz="1800" dirty="0">
                <a:solidFill>
                  <a:srgbClr val="FF0000"/>
                </a:solidFill>
                <a:latin typeface="+mj-ea"/>
                <a:ea typeface="+mj-ea"/>
              </a:rPr>
              <a:t>()) return </a:t>
            </a:r>
            <a:r>
              <a:rPr kumimoji="1" lang="en-US" altLang="zh-CN" sz="1800" dirty="0" err="1">
                <a:solidFill>
                  <a:srgbClr val="FF0000"/>
                </a:solidFill>
                <a:latin typeface="+mj-ea"/>
                <a:ea typeface="+mj-ea"/>
              </a:rPr>
              <a:t>bestw</a:t>
            </a:r>
            <a:r>
              <a:rPr kumimoji="1" lang="en-US" altLang="zh-CN" sz="1800" dirty="0">
                <a:solidFill>
                  <a:srgbClr val="FF0000"/>
                </a:solidFill>
                <a:latin typeface="+mj-ea"/>
                <a:ea typeface="+mj-ea"/>
              </a:rPr>
              <a:t>;</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Q.Add</a:t>
            </a:r>
            <a:r>
              <a:rPr kumimoji="1" lang="en-US" altLang="zh-CN" sz="1800" dirty="0">
                <a:solidFill>
                  <a:schemeClr val="tx1"/>
                </a:solidFill>
                <a:latin typeface="+mj-ea"/>
                <a:ea typeface="+mj-ea"/>
              </a:rPr>
              <a:t>(-1);        // </a:t>
            </a:r>
            <a:r>
              <a:rPr kumimoji="1" lang="zh-CN" altLang="en-US" sz="1800" dirty="0">
                <a:solidFill>
                  <a:schemeClr val="tx1"/>
                </a:solidFill>
                <a:latin typeface="+mj-ea"/>
                <a:ea typeface="+mj-ea"/>
              </a:rPr>
              <a:t>同层结点尾部标志</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800" dirty="0">
                <a:solidFill>
                  <a:schemeClr val="tx1"/>
                </a:solidFill>
                <a:latin typeface="+mj-ea"/>
                <a:ea typeface="+mj-ea"/>
              </a:rPr>
              <a:t>         </a:t>
            </a:r>
            <a:r>
              <a:rPr kumimoji="1" lang="en-US" altLang="zh-CN" sz="1800" dirty="0" err="1">
                <a:solidFill>
                  <a:schemeClr val="tx1"/>
                </a:solidFill>
                <a:latin typeface="+mj-ea"/>
                <a:ea typeface="+mj-ea"/>
              </a:rPr>
              <a:t>Q.Delete</a:t>
            </a:r>
            <a:r>
              <a:rPr kumimoji="1" lang="en-US" altLang="zh-CN" sz="1800" dirty="0">
                <a:solidFill>
                  <a:schemeClr val="tx1"/>
                </a:solidFill>
                <a:latin typeface="+mj-ea"/>
                <a:ea typeface="+mj-ea"/>
              </a:rPr>
              <a:t>(</a:t>
            </a:r>
            <a:r>
              <a:rPr kumimoji="1" lang="en-US" altLang="zh-CN" sz="1800" dirty="0" err="1">
                <a:solidFill>
                  <a:schemeClr val="tx1"/>
                </a:solidFill>
                <a:latin typeface="+mj-ea"/>
                <a:ea typeface="+mj-ea"/>
              </a:rPr>
              <a:t>Ew</a:t>
            </a:r>
            <a:r>
              <a:rPr kumimoji="1" lang="en-US" altLang="zh-CN" sz="1800" dirty="0">
                <a:solidFill>
                  <a:schemeClr val="tx1"/>
                </a:solidFill>
                <a:latin typeface="+mj-ea"/>
                <a:ea typeface="+mj-ea"/>
              </a:rPr>
              <a:t>);  // </a:t>
            </a:r>
            <a:r>
              <a:rPr kumimoji="1" lang="zh-CN" altLang="en-US" sz="1800" dirty="0">
                <a:solidFill>
                  <a:schemeClr val="tx1"/>
                </a:solidFill>
                <a:latin typeface="+mj-ea"/>
                <a:ea typeface="+mj-ea"/>
              </a:rPr>
              <a:t>取下一扩展结点</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800" dirty="0">
                <a:solidFill>
                  <a:schemeClr val="tx1"/>
                </a:solidFill>
                <a:latin typeface="+mj-ea"/>
                <a:ea typeface="+mj-ea"/>
              </a:rPr>
              <a:t>         </a:t>
            </a:r>
            <a:r>
              <a:rPr kumimoji="1" lang="en-US" altLang="zh-CN" sz="1800" dirty="0" err="1">
                <a:solidFill>
                  <a:schemeClr val="tx1"/>
                </a:solidFill>
                <a:latin typeface="+mj-ea"/>
                <a:ea typeface="+mj-ea"/>
              </a:rPr>
              <a:t>i</a:t>
            </a:r>
            <a:r>
              <a:rPr kumimoji="1" lang="en-US" altLang="zh-CN" sz="1800" dirty="0">
                <a:solidFill>
                  <a:schemeClr val="tx1"/>
                </a:solidFill>
                <a:latin typeface="+mj-ea"/>
                <a:ea typeface="+mj-ea"/>
              </a:rPr>
              <a:t>++;}                 // </a:t>
            </a:r>
            <a:r>
              <a:rPr kumimoji="1" lang="zh-CN" altLang="en-US" sz="1800" dirty="0">
                <a:solidFill>
                  <a:schemeClr val="tx1"/>
                </a:solidFill>
                <a:latin typeface="+mj-ea"/>
                <a:ea typeface="+mj-ea"/>
              </a:rPr>
              <a:t>进入下一层      </a:t>
            </a:r>
            <a:r>
              <a:rPr kumimoji="1" lang="en-US" altLang="zh-CN" sz="1800" dirty="0">
                <a:solidFill>
                  <a:schemeClr val="tx1"/>
                </a:solidFill>
                <a:latin typeface="+mj-ea"/>
                <a:ea typeface="+mj-ea"/>
              </a:rPr>
              <a:t>}  }</a:t>
            </a:r>
          </a:p>
        </p:txBody>
      </p:sp>
      <p:sp>
        <p:nvSpPr>
          <p:cNvPr id="7" name="Text Box 5">
            <a:extLst>
              <a:ext uri="{FF2B5EF4-FFF2-40B4-BE49-F238E27FC236}">
                <a16:creationId xmlns:a16="http://schemas.microsoft.com/office/drawing/2014/main" id="{8FC850FC-F4A8-41C0-8AA9-90B5ED82CA87}"/>
              </a:ext>
            </a:extLst>
          </p:cNvPr>
          <p:cNvSpPr txBox="1">
            <a:spLocks noChangeArrowheads="1"/>
          </p:cNvSpPr>
          <p:nvPr/>
        </p:nvSpPr>
        <p:spPr bwMode="auto">
          <a:xfrm>
            <a:off x="4972050" y="700088"/>
            <a:ext cx="3856038"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spcBef>
                <a:spcPct val="50000"/>
              </a:spcBef>
              <a:buClr>
                <a:schemeClr val="accent1"/>
              </a:buClr>
              <a:buSzPct val="65000"/>
              <a:buFont typeface="Wingdings" panose="05000000000000000000" pitchFamily="2" charset="2"/>
              <a:buChar char="n"/>
              <a:defRPr/>
            </a:pPr>
            <a:r>
              <a:rPr lang="zh-CN" altLang="en-US" sz="2000" dirty="0">
                <a:solidFill>
                  <a:schemeClr val="tx1"/>
                </a:solidFill>
                <a:latin typeface="+mj-ea"/>
                <a:ea typeface="+mj-ea"/>
              </a:rPr>
              <a:t>在算法的</a:t>
            </a:r>
            <a:r>
              <a:rPr lang="en-US" altLang="zh-CN" sz="2000" dirty="0">
                <a:solidFill>
                  <a:schemeClr val="tx1"/>
                </a:solidFill>
                <a:latin typeface="+mj-ea"/>
                <a:ea typeface="+mj-ea"/>
              </a:rPr>
              <a:t>while</a:t>
            </a:r>
            <a:r>
              <a:rPr lang="zh-CN" altLang="en-US" sz="2000" dirty="0">
                <a:solidFill>
                  <a:schemeClr val="tx1"/>
                </a:solidFill>
                <a:latin typeface="+mj-ea"/>
                <a:ea typeface="+mj-ea"/>
              </a:rPr>
              <a:t>循环中，首先检测当前扩展结点的</a:t>
            </a:r>
            <a:r>
              <a:rPr lang="zh-CN" altLang="en-US" sz="2000" dirty="0">
                <a:solidFill>
                  <a:srgbClr val="FF0000"/>
                </a:solidFill>
                <a:latin typeface="+mj-ea"/>
                <a:ea typeface="+mj-ea"/>
              </a:rPr>
              <a:t>左儿子结点是否为可行结点</a:t>
            </a:r>
            <a:r>
              <a:rPr lang="zh-CN" altLang="en-US" sz="2000" dirty="0">
                <a:solidFill>
                  <a:schemeClr val="tx1"/>
                </a:solidFill>
                <a:latin typeface="+mj-ea"/>
                <a:ea typeface="+mj-ea"/>
              </a:rPr>
              <a:t>。如果是则将其加入到活结点队列中。然后将其</a:t>
            </a:r>
            <a:r>
              <a:rPr lang="zh-CN" altLang="en-US" sz="2000" dirty="0">
                <a:solidFill>
                  <a:srgbClr val="FF0000"/>
                </a:solidFill>
                <a:latin typeface="+mj-ea"/>
                <a:ea typeface="+mj-ea"/>
              </a:rPr>
              <a:t>右儿子</a:t>
            </a:r>
            <a:r>
              <a:rPr lang="zh-CN" altLang="en-US" sz="2000" dirty="0">
                <a:solidFill>
                  <a:schemeClr val="tx1"/>
                </a:solidFill>
                <a:latin typeface="+mj-ea"/>
                <a:ea typeface="+mj-ea"/>
              </a:rPr>
              <a:t>结点加入到活结点队列中(右儿子结点一定是可行结点)。2个儿子结点都产生后，当前扩展结点被舍弃。</a:t>
            </a:r>
          </a:p>
          <a:p>
            <a:pPr algn="just" eaLnBrk="1" hangingPunct="1">
              <a:spcBef>
                <a:spcPct val="50000"/>
              </a:spcBef>
              <a:buClr>
                <a:schemeClr val="accent1"/>
              </a:buClr>
              <a:buSzPct val="65000"/>
              <a:buFont typeface="Wingdings" panose="05000000000000000000" pitchFamily="2" charset="2"/>
              <a:buChar char="n"/>
              <a:defRPr/>
            </a:pPr>
            <a:r>
              <a:rPr lang="zh-CN" altLang="en-US" sz="2000" dirty="0">
                <a:solidFill>
                  <a:schemeClr val="tx1"/>
                </a:solidFill>
                <a:latin typeface="+mj-ea"/>
                <a:ea typeface="+mj-ea"/>
              </a:rPr>
              <a:t>活结点队列中的队首元素</a:t>
            </a:r>
            <a:r>
              <a:rPr kumimoji="1" lang="en-US" altLang="zh-CN" sz="2000" dirty="0" err="1">
                <a:solidFill>
                  <a:schemeClr val="tx1"/>
                </a:solidFill>
                <a:latin typeface="+mj-ea"/>
              </a:rPr>
              <a:t>Ew</a:t>
            </a:r>
            <a:r>
              <a:rPr lang="zh-CN" altLang="en-US" sz="2000" dirty="0">
                <a:solidFill>
                  <a:schemeClr val="tx1"/>
                </a:solidFill>
                <a:latin typeface="+mj-ea"/>
                <a:ea typeface="+mj-ea"/>
              </a:rPr>
              <a:t>被取出作为当前扩展结点，由于</a:t>
            </a:r>
            <a:r>
              <a:rPr lang="zh-CN" altLang="en-US" sz="2000" dirty="0">
                <a:solidFill>
                  <a:srgbClr val="FF0000"/>
                </a:solidFill>
                <a:latin typeface="+mj-ea"/>
                <a:ea typeface="+mj-ea"/>
              </a:rPr>
              <a:t>队列中每一层结点之后都有一个尾部标记-1</a:t>
            </a:r>
            <a:r>
              <a:rPr lang="zh-CN" altLang="en-US" sz="2000" dirty="0">
                <a:solidFill>
                  <a:schemeClr val="tx1"/>
                </a:solidFill>
                <a:latin typeface="+mj-ea"/>
                <a:ea typeface="+mj-ea"/>
              </a:rPr>
              <a:t>，故在取队首元素时，活结点队列一定不空。当取出的元素是-1时，再判断当前队列是否为空。如果队列非空，则将尾部标记-1加入活结点队列，算法开始处理下一层的活结点。</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17444"/>
                                        </p:tgtEl>
                                        <p:attrNameLst>
                                          <p:attrName>style.visibility</p:attrName>
                                        </p:attrNameLst>
                                      </p:cBhvr>
                                      <p:to>
                                        <p:strVal val="visible"/>
                                      </p:to>
                                    </p:set>
                                    <p:anim calcmode="lin" valueType="num">
                                      <p:cBhvr additive="base">
                                        <p:cTn id="7" dur="500" fill="hold"/>
                                        <p:tgtEl>
                                          <p:spTgt spid="317444"/>
                                        </p:tgtEl>
                                        <p:attrNameLst>
                                          <p:attrName>ppt_x</p:attrName>
                                        </p:attrNameLst>
                                      </p:cBhvr>
                                      <p:tavLst>
                                        <p:tav tm="0">
                                          <p:val>
                                            <p:strVal val="1+#ppt_w/2"/>
                                          </p:val>
                                        </p:tav>
                                        <p:tav tm="100000">
                                          <p:val>
                                            <p:strVal val="#ppt_x"/>
                                          </p:val>
                                        </p:tav>
                                      </p:tavLst>
                                    </p:anim>
                                    <p:anim calcmode="lin" valueType="num">
                                      <p:cBhvr additive="base">
                                        <p:cTn id="8" dur="500" fill="hold"/>
                                        <p:tgtEl>
                                          <p:spTgt spid="3174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317447"/>
                                        </p:tgtEl>
                                        <p:attrNameLst>
                                          <p:attrName>style.visibility</p:attrName>
                                        </p:attrNameLst>
                                      </p:cBhvr>
                                      <p:to>
                                        <p:strVal val="visible"/>
                                      </p:to>
                                    </p:set>
                                    <p:animEffect transition="in" filter="wipe(right)">
                                      <p:cBhvr>
                                        <p:cTn id="13" dur="500"/>
                                        <p:tgtEl>
                                          <p:spTgt spid="31744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4" grpId="0" autoUpdateAnimBg="0"/>
      <p:bldP spid="317447" grpId="0" autoUpdateAnimBg="0"/>
      <p:bldP spid="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191D3FE-8F0B-4774-9553-9BA0F0FFB550}"/>
              </a:ext>
            </a:extLst>
          </p:cNvPr>
          <p:cNvSpPr>
            <a:spLocks noGrp="1" noChangeArrowheads="1"/>
          </p:cNvSpPr>
          <p:nvPr>
            <p:ph type="title"/>
          </p:nvPr>
        </p:nvSpPr>
        <p:spPr/>
        <p:txBody>
          <a:bodyPr/>
          <a:lstStyle/>
          <a:p>
            <a:pPr>
              <a:defRPr/>
            </a:pPr>
            <a:r>
              <a:rPr lang="zh-CN" altLang="en-US">
                <a:latin typeface="+mj-ea"/>
              </a:rPr>
              <a:t>6.3 装载问题</a:t>
            </a:r>
          </a:p>
        </p:txBody>
      </p:sp>
      <p:sp>
        <p:nvSpPr>
          <p:cNvPr id="25603" name="灯片编号占位符 5">
            <a:extLst>
              <a:ext uri="{FF2B5EF4-FFF2-40B4-BE49-F238E27FC236}">
                <a16:creationId xmlns:a16="http://schemas.microsoft.com/office/drawing/2014/main" id="{233BF772-B53F-4917-9633-C45B5D3D1C0F}"/>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DC7DBD5-7C4A-47C1-BE9D-D16FF9F44BDE}" type="slidenum">
              <a:rPr lang="zh-CN" altLang="en-US" sz="1200">
                <a:solidFill>
                  <a:schemeClr val="tx1"/>
                </a:solidFill>
                <a:latin typeface="微软雅黑" panose="020B0503020204020204" pitchFamily="34" charset="-122"/>
                <a:ea typeface="微软雅黑" panose="020B0503020204020204" pitchFamily="34" charset="-122"/>
              </a:rPr>
              <a:pPr/>
              <a:t>19</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25604" name="Text Box 4">
            <a:extLst>
              <a:ext uri="{FF2B5EF4-FFF2-40B4-BE49-F238E27FC236}">
                <a16:creationId xmlns:a16="http://schemas.microsoft.com/office/drawing/2014/main" id="{E5B4FC86-39D9-46FE-882C-7FA0BC99A545}"/>
              </a:ext>
            </a:extLst>
          </p:cNvPr>
          <p:cNvSpPr txBox="1">
            <a:spLocks noChangeArrowheads="1"/>
          </p:cNvSpPr>
          <p:nvPr/>
        </p:nvSpPr>
        <p:spPr bwMode="auto">
          <a:xfrm>
            <a:off x="357188" y="928688"/>
            <a:ext cx="7696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2. 队列式分支限界法</a:t>
            </a:r>
            <a:endParaRPr lang="zh-CN" altLang="en-US">
              <a:solidFill>
                <a:schemeClr val="accent2"/>
              </a:solidFill>
              <a:latin typeface="+mj-ea"/>
              <a:ea typeface="+mj-ea"/>
            </a:endParaRPr>
          </a:p>
        </p:txBody>
      </p:sp>
      <p:sp>
        <p:nvSpPr>
          <p:cNvPr id="25605" name="Text Box 5">
            <a:extLst>
              <a:ext uri="{FF2B5EF4-FFF2-40B4-BE49-F238E27FC236}">
                <a16:creationId xmlns:a16="http://schemas.microsoft.com/office/drawing/2014/main" id="{154D09A5-EAA6-45FC-AF90-9D5CA8AD2A46}"/>
              </a:ext>
            </a:extLst>
          </p:cNvPr>
          <p:cNvSpPr txBox="1">
            <a:spLocks noChangeArrowheads="1"/>
          </p:cNvSpPr>
          <p:nvPr/>
        </p:nvSpPr>
        <p:spPr bwMode="auto">
          <a:xfrm>
            <a:off x="228600" y="3124200"/>
            <a:ext cx="8001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50000"/>
              </a:spcBef>
              <a:buClr>
                <a:schemeClr val="accent1"/>
              </a:buClr>
              <a:buSzPct val="65000"/>
              <a:buFont typeface="Wingdings" panose="05000000000000000000" pitchFamily="2" charset="2"/>
              <a:buChar char="n"/>
              <a:defRPr/>
            </a:pPr>
            <a:endParaRPr lang="zh-CN" altLang="en-US">
              <a:solidFill>
                <a:schemeClr val="accent2"/>
              </a:solidFill>
              <a:latin typeface="+mj-ea"/>
              <a:ea typeface="+mj-ea"/>
            </a:endParaRPr>
          </a:p>
        </p:txBody>
      </p:sp>
      <p:pic>
        <p:nvPicPr>
          <p:cNvPr id="32774" name="Picture 2" descr="在这里插入图片描述">
            <a:extLst>
              <a:ext uri="{FF2B5EF4-FFF2-40B4-BE49-F238E27FC236}">
                <a16:creationId xmlns:a16="http://schemas.microsoft.com/office/drawing/2014/main" id="{74AB5367-7AA7-4BD3-3651-85B25E26FC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02"/>
          <a:stretch>
            <a:fillRect/>
          </a:stretch>
        </p:blipFill>
        <p:spPr bwMode="auto">
          <a:xfrm>
            <a:off x="3265488" y="1647825"/>
            <a:ext cx="5878512"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Text Box 7">
            <a:extLst>
              <a:ext uri="{FF2B5EF4-FFF2-40B4-BE49-F238E27FC236}">
                <a16:creationId xmlns:a16="http://schemas.microsoft.com/office/drawing/2014/main" id="{09FA5F5A-02B8-46AD-A2CF-E6723C1B2153}"/>
              </a:ext>
            </a:extLst>
          </p:cNvPr>
          <p:cNvSpPr txBox="1">
            <a:spLocks noChangeArrowheads="1"/>
          </p:cNvSpPr>
          <p:nvPr/>
        </p:nvSpPr>
        <p:spPr bwMode="auto">
          <a:xfrm>
            <a:off x="-107950" y="1654175"/>
            <a:ext cx="7924800" cy="364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400" dirty="0">
                <a:solidFill>
                  <a:schemeClr val="tx1"/>
                </a:solidFill>
                <a:latin typeface="+mj-ea"/>
                <a:ea typeface="+mj-ea"/>
              </a:rPr>
              <a:t>while (true) {</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400" dirty="0">
                <a:solidFill>
                  <a:schemeClr val="tx1"/>
                </a:solidFill>
                <a:latin typeface="+mj-ea"/>
                <a:ea typeface="+mj-ea"/>
              </a:rPr>
              <a:t>      // </a:t>
            </a:r>
            <a:r>
              <a:rPr kumimoji="1" lang="zh-CN" altLang="en-US" sz="1400" dirty="0">
                <a:solidFill>
                  <a:schemeClr val="tx1"/>
                </a:solidFill>
                <a:latin typeface="+mj-ea"/>
                <a:ea typeface="+mj-ea"/>
              </a:rPr>
              <a:t>检查左儿子结点</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400" dirty="0">
                <a:solidFill>
                  <a:schemeClr val="tx1"/>
                </a:solidFill>
                <a:latin typeface="+mj-ea"/>
                <a:ea typeface="+mj-ea"/>
              </a:rPr>
              <a:t>      </a:t>
            </a:r>
            <a:r>
              <a:rPr kumimoji="1" lang="en-US" altLang="zh-CN" sz="1400" dirty="0">
                <a:solidFill>
                  <a:srgbClr val="FF0000"/>
                </a:solidFill>
                <a:latin typeface="+mj-ea"/>
                <a:ea typeface="+mj-ea"/>
              </a:rPr>
              <a:t>if (</a:t>
            </a:r>
            <a:r>
              <a:rPr kumimoji="1" lang="en-US" altLang="zh-CN" sz="1400" dirty="0" err="1">
                <a:solidFill>
                  <a:srgbClr val="FF0000"/>
                </a:solidFill>
                <a:latin typeface="+mj-ea"/>
                <a:ea typeface="+mj-ea"/>
              </a:rPr>
              <a:t>Ew</a:t>
            </a:r>
            <a:r>
              <a:rPr kumimoji="1" lang="en-US" altLang="zh-CN" sz="1400" dirty="0">
                <a:solidFill>
                  <a:srgbClr val="FF0000"/>
                </a:solidFill>
                <a:latin typeface="+mj-ea"/>
                <a:ea typeface="+mj-ea"/>
              </a:rPr>
              <a:t> + w[</a:t>
            </a:r>
            <a:r>
              <a:rPr kumimoji="1" lang="en-US" altLang="zh-CN" sz="1400" dirty="0" err="1">
                <a:solidFill>
                  <a:srgbClr val="FF0000"/>
                </a:solidFill>
                <a:latin typeface="+mj-ea"/>
                <a:ea typeface="+mj-ea"/>
              </a:rPr>
              <a:t>i</a:t>
            </a:r>
            <a:r>
              <a:rPr kumimoji="1" lang="en-US" altLang="zh-CN" sz="1400" dirty="0">
                <a:solidFill>
                  <a:srgbClr val="FF0000"/>
                </a:solidFill>
                <a:latin typeface="+mj-ea"/>
                <a:ea typeface="+mj-ea"/>
              </a:rPr>
              <a:t>] &lt;= c) // x[</a:t>
            </a:r>
            <a:r>
              <a:rPr kumimoji="1" lang="en-US" altLang="zh-CN" sz="1400" dirty="0" err="1">
                <a:solidFill>
                  <a:srgbClr val="FF0000"/>
                </a:solidFill>
                <a:latin typeface="+mj-ea"/>
                <a:ea typeface="+mj-ea"/>
              </a:rPr>
              <a:t>i</a:t>
            </a:r>
            <a:r>
              <a:rPr kumimoji="1" lang="en-US" altLang="zh-CN" sz="1400" dirty="0">
                <a:solidFill>
                  <a:srgbClr val="FF0000"/>
                </a:solidFill>
                <a:latin typeface="+mj-ea"/>
                <a:ea typeface="+mj-ea"/>
              </a:rPr>
              <a:t>] = 1</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400" dirty="0">
                <a:solidFill>
                  <a:srgbClr val="FF0000"/>
                </a:solidFill>
                <a:latin typeface="+mj-ea"/>
                <a:ea typeface="+mj-ea"/>
              </a:rPr>
              <a:t>         </a:t>
            </a:r>
            <a:r>
              <a:rPr kumimoji="1" lang="en-US" altLang="zh-CN" sz="1400" dirty="0" err="1">
                <a:solidFill>
                  <a:srgbClr val="FF0000"/>
                </a:solidFill>
                <a:latin typeface="+mj-ea"/>
                <a:ea typeface="+mj-ea"/>
              </a:rPr>
              <a:t>EnQueue</a:t>
            </a:r>
            <a:r>
              <a:rPr kumimoji="1" lang="en-US" altLang="zh-CN" sz="1400" dirty="0">
                <a:solidFill>
                  <a:srgbClr val="FF0000"/>
                </a:solidFill>
                <a:latin typeface="+mj-ea"/>
                <a:ea typeface="+mj-ea"/>
              </a:rPr>
              <a:t>(Q, </a:t>
            </a:r>
            <a:r>
              <a:rPr kumimoji="1" lang="en-US" altLang="zh-CN" sz="1400" dirty="0" err="1">
                <a:solidFill>
                  <a:srgbClr val="FF0000"/>
                </a:solidFill>
                <a:latin typeface="+mj-ea"/>
                <a:ea typeface="+mj-ea"/>
              </a:rPr>
              <a:t>Ew</a:t>
            </a:r>
            <a:r>
              <a:rPr kumimoji="1" lang="en-US" altLang="zh-CN" sz="1400" dirty="0">
                <a:solidFill>
                  <a:srgbClr val="FF0000"/>
                </a:solidFill>
                <a:latin typeface="+mj-ea"/>
                <a:ea typeface="+mj-ea"/>
              </a:rPr>
              <a:t> + w[</a:t>
            </a:r>
            <a:r>
              <a:rPr kumimoji="1" lang="en-US" altLang="zh-CN" sz="1400" dirty="0" err="1">
                <a:solidFill>
                  <a:srgbClr val="FF0000"/>
                </a:solidFill>
                <a:latin typeface="+mj-ea"/>
                <a:ea typeface="+mj-ea"/>
              </a:rPr>
              <a:t>i</a:t>
            </a:r>
            <a:r>
              <a:rPr kumimoji="1" lang="en-US" altLang="zh-CN" sz="1400" dirty="0">
                <a:solidFill>
                  <a:srgbClr val="FF0000"/>
                </a:solidFill>
                <a:latin typeface="+mj-ea"/>
                <a:ea typeface="+mj-ea"/>
              </a:rPr>
              <a:t>], </a:t>
            </a:r>
            <a:r>
              <a:rPr kumimoji="1" lang="en-US" altLang="zh-CN" sz="1400" dirty="0" err="1">
                <a:solidFill>
                  <a:srgbClr val="FF0000"/>
                </a:solidFill>
                <a:latin typeface="+mj-ea"/>
                <a:ea typeface="+mj-ea"/>
              </a:rPr>
              <a:t>bestw</a:t>
            </a:r>
            <a:r>
              <a:rPr kumimoji="1" lang="en-US" altLang="zh-CN" sz="1400" dirty="0">
                <a:solidFill>
                  <a:srgbClr val="FF0000"/>
                </a:solidFill>
                <a:latin typeface="+mj-ea"/>
                <a:ea typeface="+mj-ea"/>
              </a:rPr>
              <a:t>, </a:t>
            </a:r>
            <a:r>
              <a:rPr kumimoji="1" lang="en-US" altLang="zh-CN" sz="1400" dirty="0" err="1">
                <a:solidFill>
                  <a:srgbClr val="FF0000"/>
                </a:solidFill>
                <a:latin typeface="+mj-ea"/>
                <a:ea typeface="+mj-ea"/>
              </a:rPr>
              <a:t>i</a:t>
            </a:r>
            <a:r>
              <a:rPr kumimoji="1" lang="en-US" altLang="zh-CN" sz="1400" dirty="0">
                <a:solidFill>
                  <a:srgbClr val="FF0000"/>
                </a:solidFill>
                <a:latin typeface="+mj-ea"/>
                <a:ea typeface="+mj-ea"/>
              </a:rPr>
              <a:t>, n);</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400" dirty="0">
                <a:solidFill>
                  <a:srgbClr val="FF0000"/>
                </a:solidFill>
                <a:latin typeface="+mj-ea"/>
                <a:ea typeface="+mj-ea"/>
              </a:rPr>
              <a:t>      // </a:t>
            </a:r>
            <a:r>
              <a:rPr kumimoji="1" lang="zh-CN" altLang="en-US" sz="1400" dirty="0">
                <a:solidFill>
                  <a:srgbClr val="FF0000"/>
                </a:solidFill>
                <a:latin typeface="+mj-ea"/>
                <a:ea typeface="+mj-ea"/>
              </a:rPr>
              <a:t>右儿子结点总是可行的</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400" dirty="0">
                <a:solidFill>
                  <a:srgbClr val="FF0000"/>
                </a:solidFill>
                <a:latin typeface="+mj-ea"/>
                <a:ea typeface="+mj-ea"/>
              </a:rPr>
              <a:t>      </a:t>
            </a:r>
            <a:r>
              <a:rPr kumimoji="1" lang="en-US" altLang="zh-CN" sz="1400" dirty="0" err="1">
                <a:solidFill>
                  <a:srgbClr val="FF0000"/>
                </a:solidFill>
                <a:latin typeface="+mj-ea"/>
                <a:ea typeface="+mj-ea"/>
              </a:rPr>
              <a:t>EnQueue</a:t>
            </a:r>
            <a:r>
              <a:rPr kumimoji="1" lang="en-US" altLang="zh-CN" sz="1400" dirty="0">
                <a:solidFill>
                  <a:srgbClr val="FF0000"/>
                </a:solidFill>
                <a:latin typeface="+mj-ea"/>
                <a:ea typeface="+mj-ea"/>
              </a:rPr>
              <a:t>(Q, </a:t>
            </a:r>
            <a:r>
              <a:rPr kumimoji="1" lang="en-US" altLang="zh-CN" sz="1400" dirty="0" err="1">
                <a:solidFill>
                  <a:srgbClr val="FF0000"/>
                </a:solidFill>
                <a:latin typeface="+mj-ea"/>
                <a:ea typeface="+mj-ea"/>
              </a:rPr>
              <a:t>Ew</a:t>
            </a:r>
            <a:r>
              <a:rPr kumimoji="1" lang="en-US" altLang="zh-CN" sz="1400" dirty="0">
                <a:solidFill>
                  <a:srgbClr val="FF0000"/>
                </a:solidFill>
                <a:latin typeface="+mj-ea"/>
                <a:ea typeface="+mj-ea"/>
              </a:rPr>
              <a:t>, </a:t>
            </a:r>
            <a:r>
              <a:rPr kumimoji="1" lang="en-US" altLang="zh-CN" sz="1400" dirty="0" err="1">
                <a:solidFill>
                  <a:srgbClr val="FF0000"/>
                </a:solidFill>
                <a:latin typeface="+mj-ea"/>
                <a:ea typeface="+mj-ea"/>
              </a:rPr>
              <a:t>bestw</a:t>
            </a:r>
            <a:r>
              <a:rPr kumimoji="1" lang="en-US" altLang="zh-CN" sz="1400" dirty="0">
                <a:solidFill>
                  <a:srgbClr val="FF0000"/>
                </a:solidFill>
                <a:latin typeface="+mj-ea"/>
                <a:ea typeface="+mj-ea"/>
              </a:rPr>
              <a:t>, </a:t>
            </a:r>
            <a:r>
              <a:rPr kumimoji="1" lang="en-US" altLang="zh-CN" sz="1400" dirty="0" err="1">
                <a:solidFill>
                  <a:srgbClr val="FF0000"/>
                </a:solidFill>
                <a:latin typeface="+mj-ea"/>
                <a:ea typeface="+mj-ea"/>
              </a:rPr>
              <a:t>i</a:t>
            </a:r>
            <a:r>
              <a:rPr kumimoji="1" lang="en-US" altLang="zh-CN" sz="1400" dirty="0">
                <a:solidFill>
                  <a:srgbClr val="FF0000"/>
                </a:solidFill>
                <a:latin typeface="+mj-ea"/>
                <a:ea typeface="+mj-ea"/>
              </a:rPr>
              <a:t>, n);  </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400" dirty="0">
                <a:solidFill>
                  <a:schemeClr val="tx1"/>
                </a:solidFill>
                <a:latin typeface="+mj-ea"/>
                <a:ea typeface="+mj-ea"/>
              </a:rPr>
              <a:t>      </a:t>
            </a:r>
            <a:r>
              <a:rPr kumimoji="1" lang="en-US" altLang="zh-CN" sz="1400" dirty="0" err="1">
                <a:solidFill>
                  <a:schemeClr val="tx1"/>
                </a:solidFill>
                <a:latin typeface="+mj-ea"/>
                <a:ea typeface="+mj-ea"/>
              </a:rPr>
              <a:t>Q.Delete</a:t>
            </a:r>
            <a:r>
              <a:rPr kumimoji="1" lang="en-US" altLang="zh-CN" sz="1400" dirty="0">
                <a:solidFill>
                  <a:schemeClr val="tx1"/>
                </a:solidFill>
                <a:latin typeface="+mj-ea"/>
                <a:ea typeface="+mj-ea"/>
              </a:rPr>
              <a:t>(</a:t>
            </a:r>
            <a:r>
              <a:rPr kumimoji="1" lang="en-US" altLang="zh-CN" sz="1400" dirty="0" err="1">
                <a:solidFill>
                  <a:schemeClr val="tx1"/>
                </a:solidFill>
                <a:latin typeface="+mj-ea"/>
                <a:ea typeface="+mj-ea"/>
              </a:rPr>
              <a:t>Ew</a:t>
            </a:r>
            <a:r>
              <a:rPr kumimoji="1" lang="en-US" altLang="zh-CN" sz="1400" dirty="0">
                <a:solidFill>
                  <a:schemeClr val="tx1"/>
                </a:solidFill>
                <a:latin typeface="+mj-ea"/>
                <a:ea typeface="+mj-ea"/>
              </a:rPr>
              <a:t>);      </a:t>
            </a:r>
            <a:endParaRPr kumimoji="1" lang="zh-CN" altLang="en-US" sz="1400" dirty="0">
              <a:solidFill>
                <a:schemeClr val="tx1"/>
              </a:solidFill>
              <a:latin typeface="+mj-ea"/>
              <a:ea typeface="+mj-ea"/>
            </a:endParaRP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400" dirty="0">
                <a:solidFill>
                  <a:schemeClr val="tx1"/>
                </a:solidFill>
                <a:latin typeface="+mj-ea"/>
                <a:ea typeface="+mj-ea"/>
              </a:rPr>
              <a:t>      </a:t>
            </a:r>
            <a:r>
              <a:rPr kumimoji="1" lang="en-US" altLang="zh-CN" sz="1400" dirty="0">
                <a:solidFill>
                  <a:schemeClr val="tx1"/>
                </a:solidFill>
                <a:latin typeface="+mj-ea"/>
                <a:ea typeface="+mj-ea"/>
              </a:rPr>
              <a:t>if (</a:t>
            </a:r>
            <a:r>
              <a:rPr kumimoji="1" lang="en-US" altLang="zh-CN" sz="1400" dirty="0" err="1">
                <a:solidFill>
                  <a:schemeClr val="tx1"/>
                </a:solidFill>
                <a:latin typeface="+mj-ea"/>
                <a:ea typeface="+mj-ea"/>
              </a:rPr>
              <a:t>Ew</a:t>
            </a:r>
            <a:r>
              <a:rPr kumimoji="1" lang="en-US" altLang="zh-CN" sz="1400" dirty="0">
                <a:solidFill>
                  <a:schemeClr val="tx1"/>
                </a:solidFill>
                <a:latin typeface="+mj-ea"/>
                <a:ea typeface="+mj-ea"/>
              </a:rPr>
              <a:t> == -1) {       </a:t>
            </a:r>
            <a:endParaRPr kumimoji="1" lang="zh-CN" altLang="en-US" sz="1400" dirty="0">
              <a:solidFill>
                <a:schemeClr val="tx1"/>
              </a:solidFill>
              <a:latin typeface="+mj-ea"/>
              <a:ea typeface="+mj-ea"/>
            </a:endParaRP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400" dirty="0">
                <a:solidFill>
                  <a:schemeClr val="tx1"/>
                </a:solidFill>
                <a:latin typeface="+mj-ea"/>
                <a:ea typeface="+mj-ea"/>
              </a:rPr>
              <a:t>         </a:t>
            </a:r>
            <a:r>
              <a:rPr kumimoji="1" lang="en-US" altLang="zh-CN" sz="1400" dirty="0">
                <a:solidFill>
                  <a:schemeClr val="tx1"/>
                </a:solidFill>
                <a:latin typeface="+mj-ea"/>
                <a:ea typeface="+mj-ea"/>
              </a:rPr>
              <a:t>if (</a:t>
            </a:r>
            <a:r>
              <a:rPr kumimoji="1" lang="en-US" altLang="zh-CN" sz="1400" dirty="0" err="1">
                <a:solidFill>
                  <a:schemeClr val="tx1"/>
                </a:solidFill>
                <a:latin typeface="+mj-ea"/>
                <a:ea typeface="+mj-ea"/>
              </a:rPr>
              <a:t>Q.IsEmpty</a:t>
            </a:r>
            <a:r>
              <a:rPr kumimoji="1" lang="en-US" altLang="zh-CN" sz="1400" dirty="0">
                <a:solidFill>
                  <a:schemeClr val="tx1"/>
                </a:solidFill>
                <a:latin typeface="+mj-ea"/>
                <a:ea typeface="+mj-ea"/>
              </a:rPr>
              <a:t>()) return </a:t>
            </a:r>
            <a:r>
              <a:rPr kumimoji="1" lang="en-US" altLang="zh-CN" sz="1400" dirty="0" err="1">
                <a:solidFill>
                  <a:schemeClr val="tx1"/>
                </a:solidFill>
                <a:latin typeface="+mj-ea"/>
                <a:ea typeface="+mj-ea"/>
              </a:rPr>
              <a:t>bestw</a:t>
            </a:r>
            <a:r>
              <a:rPr kumimoji="1" lang="en-US" altLang="zh-CN" sz="1400" dirty="0">
                <a:solidFill>
                  <a:schemeClr val="tx1"/>
                </a:solidFill>
                <a:latin typeface="+mj-ea"/>
                <a:ea typeface="+mj-ea"/>
              </a:rPr>
              <a:t>;</a:t>
            </a:r>
          </a:p>
          <a:p>
            <a:pPr eaLnBrk="1" hangingPunct="1">
              <a:lnSpc>
                <a:spcPct val="120000"/>
              </a:lnSpc>
              <a:spcBef>
                <a:spcPct val="20000"/>
              </a:spcBef>
              <a:buClr>
                <a:schemeClr val="accent1"/>
              </a:buClr>
              <a:buSzPct val="65000"/>
              <a:buFont typeface="Wingdings" panose="05000000000000000000" pitchFamily="2" charset="2"/>
              <a:buNone/>
              <a:defRPr/>
            </a:pPr>
            <a:r>
              <a:rPr kumimoji="1" lang="en-US" altLang="zh-CN" sz="1400" dirty="0">
                <a:solidFill>
                  <a:schemeClr val="tx1"/>
                </a:solidFill>
                <a:latin typeface="+mj-ea"/>
                <a:ea typeface="+mj-ea"/>
              </a:rPr>
              <a:t>         </a:t>
            </a:r>
            <a:r>
              <a:rPr kumimoji="1" lang="en-US" altLang="zh-CN" sz="1400" dirty="0" err="1">
                <a:solidFill>
                  <a:schemeClr val="tx1"/>
                </a:solidFill>
                <a:latin typeface="+mj-ea"/>
                <a:ea typeface="+mj-ea"/>
              </a:rPr>
              <a:t>Q.Add</a:t>
            </a:r>
            <a:r>
              <a:rPr kumimoji="1" lang="en-US" altLang="zh-CN" sz="1400" dirty="0">
                <a:solidFill>
                  <a:schemeClr val="tx1"/>
                </a:solidFill>
                <a:latin typeface="+mj-ea"/>
                <a:ea typeface="+mj-ea"/>
              </a:rPr>
              <a:t>(-1);         </a:t>
            </a:r>
            <a:endParaRPr kumimoji="1" lang="zh-CN" altLang="en-US" sz="1400" dirty="0">
              <a:solidFill>
                <a:schemeClr val="tx1"/>
              </a:solidFill>
              <a:latin typeface="+mj-ea"/>
              <a:ea typeface="+mj-ea"/>
            </a:endParaRP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400" dirty="0">
                <a:solidFill>
                  <a:schemeClr val="tx1"/>
                </a:solidFill>
                <a:latin typeface="+mj-ea"/>
                <a:ea typeface="+mj-ea"/>
              </a:rPr>
              <a:t>         </a:t>
            </a:r>
            <a:r>
              <a:rPr kumimoji="1" lang="en-US" altLang="zh-CN" sz="1400" dirty="0" err="1">
                <a:solidFill>
                  <a:schemeClr val="tx1"/>
                </a:solidFill>
                <a:latin typeface="+mj-ea"/>
                <a:ea typeface="+mj-ea"/>
              </a:rPr>
              <a:t>Q.Delete</a:t>
            </a:r>
            <a:r>
              <a:rPr kumimoji="1" lang="en-US" altLang="zh-CN" sz="1400" dirty="0">
                <a:solidFill>
                  <a:schemeClr val="tx1"/>
                </a:solidFill>
                <a:latin typeface="+mj-ea"/>
                <a:ea typeface="+mj-ea"/>
              </a:rPr>
              <a:t>(</a:t>
            </a:r>
            <a:r>
              <a:rPr kumimoji="1" lang="en-US" altLang="zh-CN" sz="1400" dirty="0" err="1">
                <a:solidFill>
                  <a:schemeClr val="tx1"/>
                </a:solidFill>
                <a:latin typeface="+mj-ea"/>
                <a:ea typeface="+mj-ea"/>
              </a:rPr>
              <a:t>Ew</a:t>
            </a:r>
            <a:r>
              <a:rPr kumimoji="1" lang="en-US" altLang="zh-CN" sz="1400" dirty="0">
                <a:solidFill>
                  <a:schemeClr val="tx1"/>
                </a:solidFill>
                <a:latin typeface="+mj-ea"/>
                <a:ea typeface="+mj-ea"/>
              </a:rPr>
              <a:t>);  // </a:t>
            </a:r>
            <a:r>
              <a:rPr kumimoji="1" lang="zh-CN" altLang="en-US" sz="1400" dirty="0">
                <a:solidFill>
                  <a:schemeClr val="tx1"/>
                </a:solidFill>
                <a:latin typeface="+mj-ea"/>
                <a:ea typeface="+mj-ea"/>
              </a:rPr>
              <a:t>取下一扩展结点</a:t>
            </a:r>
          </a:p>
          <a:p>
            <a:pPr eaLnBrk="1" hangingPunct="1">
              <a:lnSpc>
                <a:spcPct val="120000"/>
              </a:lnSpc>
              <a:spcBef>
                <a:spcPct val="20000"/>
              </a:spcBef>
              <a:buClr>
                <a:schemeClr val="accent1"/>
              </a:buClr>
              <a:buSzPct val="65000"/>
              <a:buFont typeface="Wingdings" panose="05000000000000000000" pitchFamily="2" charset="2"/>
              <a:buNone/>
              <a:defRPr/>
            </a:pPr>
            <a:r>
              <a:rPr kumimoji="1" lang="zh-CN" altLang="en-US" sz="1400" dirty="0">
                <a:solidFill>
                  <a:schemeClr val="tx1"/>
                </a:solidFill>
                <a:latin typeface="+mj-ea"/>
                <a:ea typeface="+mj-ea"/>
              </a:rPr>
              <a:t>         </a:t>
            </a:r>
            <a:r>
              <a:rPr kumimoji="1" lang="en-US" altLang="zh-CN" sz="1400" dirty="0" err="1">
                <a:solidFill>
                  <a:schemeClr val="tx1"/>
                </a:solidFill>
                <a:latin typeface="+mj-ea"/>
                <a:ea typeface="+mj-ea"/>
              </a:rPr>
              <a:t>i</a:t>
            </a:r>
            <a:r>
              <a:rPr kumimoji="1" lang="en-US" altLang="zh-CN" sz="1400" dirty="0">
                <a:solidFill>
                  <a:schemeClr val="tx1"/>
                </a:solidFill>
                <a:latin typeface="+mj-ea"/>
                <a:ea typeface="+mj-ea"/>
              </a:rPr>
              <a:t>++;}                 // </a:t>
            </a:r>
            <a:r>
              <a:rPr kumimoji="1" lang="zh-CN" altLang="en-US" sz="1400" dirty="0">
                <a:solidFill>
                  <a:schemeClr val="tx1"/>
                </a:solidFill>
                <a:latin typeface="+mj-ea"/>
                <a:ea typeface="+mj-ea"/>
              </a:rPr>
              <a:t>进入下一层 </a:t>
            </a:r>
            <a:r>
              <a:rPr kumimoji="1" lang="en-US" altLang="zh-CN" sz="1400" dirty="0">
                <a:solidFill>
                  <a:schemeClr val="tx1"/>
                </a:solidFill>
                <a:latin typeface="+mj-ea"/>
                <a:ea typeface="+mj-ea"/>
              </a:rPr>
              <a:t>}</a:t>
            </a:r>
          </a:p>
        </p:txBody>
      </p:sp>
      <p:sp>
        <p:nvSpPr>
          <p:cNvPr id="25608" name="矩形 1">
            <a:extLst>
              <a:ext uri="{FF2B5EF4-FFF2-40B4-BE49-F238E27FC236}">
                <a16:creationId xmlns:a16="http://schemas.microsoft.com/office/drawing/2014/main" id="{E7E36879-8211-44BF-8375-14BE2E389FE7}"/>
              </a:ext>
            </a:extLst>
          </p:cNvPr>
          <p:cNvSpPr>
            <a:spLocks noChangeArrowheads="1"/>
          </p:cNvSpPr>
          <p:nvPr/>
        </p:nvSpPr>
        <p:spPr bwMode="auto">
          <a:xfrm>
            <a:off x="3305175" y="3243263"/>
            <a:ext cx="3694113" cy="617537"/>
          </a:xfrm>
          <a:prstGeom prst="rect">
            <a:avLst/>
          </a:prstGeom>
          <a:solidFill>
            <a:schemeClr val="bg1"/>
          </a:solidFill>
          <a:ln w="9525" algn="ctr">
            <a:solidFill>
              <a:schemeClr val="bg1"/>
            </a:solidFill>
            <a:round/>
            <a:headEnd/>
            <a:tailEnd/>
          </a:ln>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cs typeface="Times New Roman" panose="02020603050405020304" pitchFamily="18" charset="0"/>
            </a:endParaRPr>
          </a:p>
        </p:txBody>
      </p:sp>
      <p:pic>
        <p:nvPicPr>
          <p:cNvPr id="32777" name="Picture 9" descr="t51">
            <a:extLst>
              <a:ext uri="{FF2B5EF4-FFF2-40B4-BE49-F238E27FC236}">
                <a16:creationId xmlns:a16="http://schemas.microsoft.com/office/drawing/2014/main" id="{5AEF4F6A-F9B7-431F-BE67-493D205D95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3113" y="1657350"/>
            <a:ext cx="3371850"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0" name="矩形 1">
            <a:extLst>
              <a:ext uri="{FF2B5EF4-FFF2-40B4-BE49-F238E27FC236}">
                <a16:creationId xmlns:a16="http://schemas.microsoft.com/office/drawing/2014/main" id="{017FA7AD-37AE-49E6-92A6-948ECA6A1C3A}"/>
              </a:ext>
            </a:extLst>
          </p:cNvPr>
          <p:cNvSpPr>
            <a:spLocks noChangeArrowheads="1"/>
          </p:cNvSpPr>
          <p:nvPr/>
        </p:nvSpPr>
        <p:spPr bwMode="auto">
          <a:xfrm>
            <a:off x="3328988" y="3003550"/>
            <a:ext cx="3562350" cy="5873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cs typeface="Times New Roman" panose="02020603050405020304" pitchFamily="18" charset="0"/>
            </a:endParaRPr>
          </a:p>
        </p:txBody>
      </p:sp>
      <p:sp>
        <p:nvSpPr>
          <p:cNvPr id="2" name="矩形 1">
            <a:extLst>
              <a:ext uri="{FF2B5EF4-FFF2-40B4-BE49-F238E27FC236}">
                <a16:creationId xmlns:a16="http://schemas.microsoft.com/office/drawing/2014/main" id="{DB0718A0-2E80-4E1B-9373-CD27E04BE3BA}"/>
              </a:ext>
            </a:extLst>
          </p:cNvPr>
          <p:cNvSpPr/>
          <p:nvPr/>
        </p:nvSpPr>
        <p:spPr>
          <a:xfrm>
            <a:off x="755650" y="6243638"/>
            <a:ext cx="2338388" cy="523875"/>
          </a:xfrm>
          <a:prstGeom prst="rect">
            <a:avLst/>
          </a:prstGeom>
        </p:spPr>
        <p:txBody>
          <a:bodyPr wrap="none">
            <a:spAutoFit/>
          </a:bodyPr>
          <a:lstStyle/>
          <a:p>
            <a:pPr eaLnBrk="1" hangingPunct="1">
              <a:spcBef>
                <a:spcPct val="50000"/>
              </a:spcBef>
              <a:buClr>
                <a:schemeClr val="accent1"/>
              </a:buClr>
              <a:buSzPct val="65000"/>
              <a:buFont typeface="Wingdings" panose="05000000000000000000" pitchFamily="2" charset="2"/>
              <a:buNone/>
              <a:defRPr/>
            </a:pPr>
            <a:r>
              <a:rPr kumimoji="1" lang="zh-CN" altLang="en-US" sz="2800" dirty="0">
                <a:solidFill>
                  <a:srgbClr val="0070C0"/>
                </a:solidFill>
                <a:latin typeface="+mj-ea"/>
              </a:rPr>
              <a:t>算法的改进？</a:t>
            </a:r>
            <a:endParaRPr lang="zh-CN" altLang="en-US" sz="2800" dirty="0">
              <a:solidFill>
                <a:srgbClr val="0070C0"/>
              </a:solidFill>
              <a:latin typeface="+mj-ea"/>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EDDCAFB-EA44-4630-98CE-2B18BAC6E733}"/>
              </a:ext>
            </a:extLst>
          </p:cNvPr>
          <p:cNvSpPr>
            <a:spLocks noGrp="1" noChangeArrowheads="1"/>
          </p:cNvSpPr>
          <p:nvPr>
            <p:ph type="title"/>
          </p:nvPr>
        </p:nvSpPr>
        <p:spPr/>
        <p:txBody>
          <a:bodyPr/>
          <a:lstStyle/>
          <a:p>
            <a:pPr>
              <a:defRPr/>
            </a:pPr>
            <a:r>
              <a:rPr lang="zh-CN" altLang="en-US">
                <a:latin typeface="+mj-ea"/>
              </a:rPr>
              <a:t>6.3 装载问题</a:t>
            </a:r>
          </a:p>
        </p:txBody>
      </p:sp>
      <p:sp>
        <p:nvSpPr>
          <p:cNvPr id="27651" name="灯片编号占位符 5">
            <a:extLst>
              <a:ext uri="{FF2B5EF4-FFF2-40B4-BE49-F238E27FC236}">
                <a16:creationId xmlns:a16="http://schemas.microsoft.com/office/drawing/2014/main" id="{109280F8-03E3-4C38-9BF5-6129A4408D61}"/>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4EE1740-52B9-4DE4-9DB0-8A0C871D6477}" type="slidenum">
              <a:rPr lang="zh-CN" altLang="en-US" sz="1200">
                <a:solidFill>
                  <a:schemeClr val="tx1"/>
                </a:solidFill>
                <a:latin typeface="微软雅黑" panose="020B0503020204020204" pitchFamily="34" charset="-122"/>
                <a:ea typeface="微软雅黑" panose="020B0503020204020204" pitchFamily="34" charset="-122"/>
              </a:rPr>
              <a:pPr/>
              <a:t>20</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27652" name="Text Box 4">
            <a:extLst>
              <a:ext uri="{FF2B5EF4-FFF2-40B4-BE49-F238E27FC236}">
                <a16:creationId xmlns:a16="http://schemas.microsoft.com/office/drawing/2014/main" id="{06E9A437-3135-451F-9456-D1D7EB0419A2}"/>
              </a:ext>
            </a:extLst>
          </p:cNvPr>
          <p:cNvSpPr txBox="1">
            <a:spLocks noChangeArrowheads="1"/>
          </p:cNvSpPr>
          <p:nvPr/>
        </p:nvSpPr>
        <p:spPr bwMode="auto">
          <a:xfrm>
            <a:off x="428625" y="1143000"/>
            <a:ext cx="632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en-US" altLang="zh-CN" sz="3200" dirty="0">
                <a:solidFill>
                  <a:schemeClr val="accent2"/>
                </a:solidFill>
                <a:latin typeface="+mj-ea"/>
                <a:ea typeface="+mj-ea"/>
              </a:rPr>
              <a:t>3</a:t>
            </a:r>
            <a:r>
              <a:rPr kumimoji="1" lang="zh-CN" altLang="en-US" sz="3200" dirty="0">
                <a:solidFill>
                  <a:schemeClr val="accent2"/>
                </a:solidFill>
                <a:latin typeface="+mj-ea"/>
                <a:ea typeface="+mj-ea"/>
              </a:rPr>
              <a:t>. 算法的改进</a:t>
            </a:r>
            <a:endParaRPr lang="zh-CN" altLang="en-US" dirty="0">
              <a:solidFill>
                <a:schemeClr val="accent2"/>
              </a:solidFill>
              <a:latin typeface="+mj-ea"/>
              <a:ea typeface="+mj-ea"/>
            </a:endParaRPr>
          </a:p>
        </p:txBody>
      </p:sp>
      <p:sp>
        <p:nvSpPr>
          <p:cNvPr id="27653" name="Text Box 6">
            <a:extLst>
              <a:ext uri="{FF2B5EF4-FFF2-40B4-BE49-F238E27FC236}">
                <a16:creationId xmlns:a16="http://schemas.microsoft.com/office/drawing/2014/main" id="{62F8C551-D234-4FF9-8D6A-F07AE40BF8A4}"/>
              </a:ext>
            </a:extLst>
          </p:cNvPr>
          <p:cNvSpPr txBox="1">
            <a:spLocks noChangeArrowheads="1"/>
          </p:cNvSpPr>
          <p:nvPr/>
        </p:nvSpPr>
        <p:spPr bwMode="auto">
          <a:xfrm>
            <a:off x="593725" y="4937125"/>
            <a:ext cx="68738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20000"/>
              </a:spcBef>
              <a:buClr>
                <a:schemeClr val="accent1"/>
              </a:buClr>
              <a:buSzPct val="65000"/>
              <a:buFont typeface="Wingdings" panose="05000000000000000000" pitchFamily="2" charset="2"/>
              <a:buChar char="n"/>
              <a:defRPr/>
            </a:pPr>
            <a:endParaRPr lang="zh-CN" altLang="en-US">
              <a:solidFill>
                <a:schemeClr val="accent2"/>
              </a:solidFill>
              <a:latin typeface="+mj-ea"/>
              <a:ea typeface="+mj-ea"/>
            </a:endParaRPr>
          </a:p>
        </p:txBody>
      </p:sp>
      <p:sp>
        <p:nvSpPr>
          <p:cNvPr id="27654" name="Text Box 7">
            <a:extLst>
              <a:ext uri="{FF2B5EF4-FFF2-40B4-BE49-F238E27FC236}">
                <a16:creationId xmlns:a16="http://schemas.microsoft.com/office/drawing/2014/main" id="{571A829B-3FEB-42C1-814F-F1B748994079}"/>
              </a:ext>
            </a:extLst>
          </p:cNvPr>
          <p:cNvSpPr txBox="1">
            <a:spLocks noChangeArrowheads="1"/>
          </p:cNvSpPr>
          <p:nvPr/>
        </p:nvSpPr>
        <p:spPr bwMode="auto">
          <a:xfrm>
            <a:off x="400050" y="4383088"/>
            <a:ext cx="828675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50000"/>
              </a:spcBef>
              <a:buClr>
                <a:schemeClr val="accent1"/>
              </a:buClr>
              <a:buSzPct val="65000"/>
              <a:buFont typeface="Wingdings" panose="05000000000000000000" pitchFamily="2" charset="2"/>
              <a:buChar char="n"/>
              <a:defRPr/>
            </a:pPr>
            <a:r>
              <a:rPr lang="zh-CN" altLang="en-US" sz="2800" dirty="0">
                <a:solidFill>
                  <a:schemeClr val="tx1"/>
                </a:solidFill>
                <a:latin typeface="+mj-ea"/>
                <a:ea typeface="+mj-ea"/>
              </a:rPr>
              <a:t>另外，为了确保右子树成功剪枝，应该在算法每一次进入左子树的时候更新</a:t>
            </a:r>
            <a:r>
              <a:rPr lang="en-US" altLang="zh-CN" sz="2800" dirty="0" err="1">
                <a:solidFill>
                  <a:schemeClr val="tx1"/>
                </a:solidFill>
                <a:latin typeface="+mj-ea"/>
                <a:ea typeface="+mj-ea"/>
              </a:rPr>
              <a:t>bestw</a:t>
            </a:r>
            <a:r>
              <a:rPr lang="zh-CN" altLang="en-US" sz="2800" dirty="0">
                <a:solidFill>
                  <a:schemeClr val="tx1"/>
                </a:solidFill>
                <a:latin typeface="+mj-ea"/>
                <a:ea typeface="+mj-ea"/>
              </a:rPr>
              <a:t>的值。</a:t>
            </a:r>
          </a:p>
        </p:txBody>
      </p:sp>
      <p:sp>
        <p:nvSpPr>
          <p:cNvPr id="27655" name="矩形 1">
            <a:extLst>
              <a:ext uri="{FF2B5EF4-FFF2-40B4-BE49-F238E27FC236}">
                <a16:creationId xmlns:a16="http://schemas.microsoft.com/office/drawing/2014/main" id="{B86A646A-6590-4965-82DC-5DFFE6EB35BE}"/>
              </a:ext>
            </a:extLst>
          </p:cNvPr>
          <p:cNvSpPr>
            <a:spLocks noChangeArrowheads="1"/>
          </p:cNvSpPr>
          <p:nvPr/>
        </p:nvSpPr>
        <p:spPr bwMode="auto">
          <a:xfrm>
            <a:off x="463550" y="2087563"/>
            <a:ext cx="808196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buClr>
                <a:schemeClr val="accent2"/>
              </a:buClr>
              <a:buFontTx/>
              <a:buChar char="•"/>
              <a:defRPr/>
            </a:pPr>
            <a:r>
              <a:rPr lang="zh-CN" altLang="en-US" sz="2800" dirty="0">
                <a:solidFill>
                  <a:schemeClr val="tx1"/>
                </a:solidFill>
                <a:latin typeface="+mj-ea"/>
                <a:ea typeface="+mj-ea"/>
              </a:rPr>
              <a:t>限界函数</a:t>
            </a:r>
            <a:r>
              <a:rPr lang="en-US" altLang="zh-CN" sz="2800" dirty="0">
                <a:solidFill>
                  <a:schemeClr val="tx1"/>
                </a:solidFill>
                <a:latin typeface="+mj-ea"/>
                <a:ea typeface="+mj-ea"/>
              </a:rPr>
              <a:t>(</a:t>
            </a:r>
            <a:r>
              <a:rPr lang="zh-CN" altLang="en-US" sz="2800" dirty="0">
                <a:solidFill>
                  <a:schemeClr val="tx1"/>
                </a:solidFill>
                <a:latin typeface="+mj-ea"/>
                <a:ea typeface="+mj-ea"/>
              </a:rPr>
              <a:t>不选择当前元素</a:t>
            </a:r>
            <a:r>
              <a:rPr lang="en-US" altLang="zh-CN" sz="2800" dirty="0">
                <a:solidFill>
                  <a:schemeClr val="tx1"/>
                </a:solidFill>
                <a:latin typeface="+mj-ea"/>
                <a:ea typeface="+mj-ea"/>
              </a:rPr>
              <a:t>)</a:t>
            </a:r>
            <a:r>
              <a:rPr lang="zh-CN" altLang="en-US" sz="2800" dirty="0">
                <a:solidFill>
                  <a:schemeClr val="tx1"/>
                </a:solidFill>
                <a:latin typeface="+mj-ea"/>
                <a:ea typeface="+mj-ea"/>
              </a:rPr>
              <a:t>：当前载重量</a:t>
            </a:r>
            <a:r>
              <a:rPr lang="en-US" altLang="zh-CN" sz="2800" dirty="0" err="1">
                <a:solidFill>
                  <a:schemeClr val="tx1"/>
                </a:solidFill>
                <a:latin typeface="+mj-ea"/>
                <a:ea typeface="+mj-ea"/>
              </a:rPr>
              <a:t>Ew</a:t>
            </a:r>
            <a:r>
              <a:rPr lang="en-US" altLang="zh-CN" sz="2800" dirty="0">
                <a:solidFill>
                  <a:schemeClr val="tx1"/>
                </a:solidFill>
                <a:latin typeface="+mj-ea"/>
                <a:ea typeface="+mj-ea"/>
              </a:rPr>
              <a:t>+</a:t>
            </a:r>
            <a:r>
              <a:rPr lang="zh-CN" altLang="en-US" sz="2800" dirty="0">
                <a:solidFill>
                  <a:schemeClr val="tx1"/>
                </a:solidFill>
                <a:latin typeface="+mj-ea"/>
                <a:ea typeface="+mj-ea"/>
              </a:rPr>
              <a:t>剩余集装箱的重量</a:t>
            </a:r>
            <a:r>
              <a:rPr lang="en-US" altLang="zh-CN" sz="2800" dirty="0">
                <a:solidFill>
                  <a:schemeClr val="tx1"/>
                </a:solidFill>
                <a:latin typeface="+mj-ea"/>
                <a:ea typeface="+mj-ea"/>
              </a:rPr>
              <a:t>r</a:t>
            </a:r>
            <a:r>
              <a:rPr lang="en-US" altLang="zh-CN" sz="2800" dirty="0">
                <a:solidFill>
                  <a:schemeClr val="tx1"/>
                </a:solidFill>
                <a:latin typeface="+mj-ea"/>
                <a:ea typeface="+mj-ea"/>
                <a:sym typeface="Symbol" panose="05050102010706020507" pitchFamily="18" charset="2"/>
              </a:rPr>
              <a:t></a:t>
            </a:r>
            <a:r>
              <a:rPr lang="zh-CN" altLang="en-US" sz="2800" dirty="0">
                <a:solidFill>
                  <a:schemeClr val="tx1"/>
                </a:solidFill>
                <a:latin typeface="+mj-ea"/>
                <a:ea typeface="+mj-ea"/>
              </a:rPr>
              <a:t>当前最优载重量</a:t>
            </a:r>
            <a:r>
              <a:rPr lang="en-US" altLang="zh-CN" sz="2800" dirty="0" err="1">
                <a:solidFill>
                  <a:schemeClr val="tx1"/>
                </a:solidFill>
                <a:latin typeface="+mj-ea"/>
                <a:ea typeface="+mj-ea"/>
              </a:rPr>
              <a:t>bestw</a:t>
            </a:r>
            <a:r>
              <a:rPr lang="zh-CN" altLang="en-US" sz="2800" dirty="0">
                <a:solidFill>
                  <a:schemeClr val="tx1"/>
                </a:solidFill>
                <a:latin typeface="+mj-ea"/>
                <a:ea typeface="+mj-ea"/>
              </a:rPr>
              <a:t>，可将其右子树剪去</a:t>
            </a:r>
            <a:endParaRPr lang="en-US" altLang="zh-CN" sz="2800" dirty="0">
              <a:solidFill>
                <a:schemeClr val="tx1"/>
              </a:solidFill>
              <a:latin typeface="+mj-ea"/>
              <a:ea typeface="+mj-ea"/>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p:bldP spid="2765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8CD9C5F-F81E-42B1-B22F-C138532F8D9C}"/>
              </a:ext>
            </a:extLst>
          </p:cNvPr>
          <p:cNvSpPr>
            <a:spLocks noGrp="1" noChangeArrowheads="1"/>
          </p:cNvSpPr>
          <p:nvPr>
            <p:ph type="title"/>
          </p:nvPr>
        </p:nvSpPr>
        <p:spPr/>
        <p:txBody>
          <a:bodyPr/>
          <a:lstStyle/>
          <a:p>
            <a:pPr>
              <a:defRPr/>
            </a:pPr>
            <a:r>
              <a:rPr lang="zh-CN" altLang="en-US">
                <a:latin typeface="+mj-ea"/>
              </a:rPr>
              <a:t>6.3 装载问题</a:t>
            </a:r>
          </a:p>
        </p:txBody>
      </p:sp>
      <p:sp>
        <p:nvSpPr>
          <p:cNvPr id="28675" name="灯片编号占位符 5">
            <a:extLst>
              <a:ext uri="{FF2B5EF4-FFF2-40B4-BE49-F238E27FC236}">
                <a16:creationId xmlns:a16="http://schemas.microsoft.com/office/drawing/2014/main" id="{E7DF4FC6-2E7C-4419-A432-3C3C4F3639C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367CE4A-2F90-4DAD-BEF6-4C2297100762}" type="slidenum">
              <a:rPr lang="zh-CN" altLang="en-US" sz="1200">
                <a:solidFill>
                  <a:schemeClr val="tx1"/>
                </a:solidFill>
                <a:latin typeface="微软雅黑" panose="020B0503020204020204" pitchFamily="34" charset="-122"/>
                <a:ea typeface="微软雅黑" panose="020B0503020204020204" pitchFamily="34" charset="-122"/>
              </a:rPr>
              <a:pPr/>
              <a:t>21</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18468" name="Text Box 4">
            <a:extLst>
              <a:ext uri="{FF2B5EF4-FFF2-40B4-BE49-F238E27FC236}">
                <a16:creationId xmlns:a16="http://schemas.microsoft.com/office/drawing/2014/main" id="{24639C80-AB9C-46F5-96E8-8E717E0F4B20}"/>
              </a:ext>
            </a:extLst>
          </p:cNvPr>
          <p:cNvSpPr txBox="1">
            <a:spLocks noChangeArrowheads="1"/>
          </p:cNvSpPr>
          <p:nvPr/>
        </p:nvSpPr>
        <p:spPr bwMode="auto">
          <a:xfrm>
            <a:off x="428625" y="1214438"/>
            <a:ext cx="6324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3. 算法的改进</a:t>
            </a:r>
            <a:endParaRPr lang="zh-CN" altLang="en-US">
              <a:solidFill>
                <a:schemeClr val="accent2"/>
              </a:solidFill>
              <a:latin typeface="+mj-ea"/>
              <a:ea typeface="+mj-ea"/>
            </a:endParaRPr>
          </a:p>
        </p:txBody>
      </p:sp>
      <p:sp>
        <p:nvSpPr>
          <p:cNvPr id="318470" name="Text Box 6">
            <a:extLst>
              <a:ext uri="{FF2B5EF4-FFF2-40B4-BE49-F238E27FC236}">
                <a16:creationId xmlns:a16="http://schemas.microsoft.com/office/drawing/2014/main" id="{30B10ADF-79B0-4F83-A088-A1BA20E5872A}"/>
              </a:ext>
            </a:extLst>
          </p:cNvPr>
          <p:cNvSpPr txBox="1">
            <a:spLocks noChangeArrowheads="1"/>
          </p:cNvSpPr>
          <p:nvPr/>
        </p:nvSpPr>
        <p:spPr bwMode="auto">
          <a:xfrm>
            <a:off x="428625" y="2000250"/>
            <a:ext cx="41148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65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a:t>
            </a:r>
            <a:r>
              <a:rPr kumimoji="1" lang="zh-CN" altLang="en-US" sz="2000" dirty="0">
                <a:solidFill>
                  <a:schemeClr val="tx1"/>
                </a:solidFill>
                <a:latin typeface="+mj-ea"/>
                <a:ea typeface="+mj-ea"/>
              </a:rPr>
              <a:t>检查左儿子结点</a:t>
            </a:r>
          </a:p>
          <a:p>
            <a:pPr eaLnBrk="1" hangingPunct="1">
              <a:lnSpc>
                <a:spcPct val="165000"/>
              </a:lnSpc>
              <a:spcBef>
                <a:spcPct val="20000"/>
              </a:spcBef>
              <a:buClr>
                <a:schemeClr val="accent1"/>
              </a:buClr>
              <a:buSzPct val="65000"/>
              <a:buFont typeface="Wingdings" panose="05000000000000000000" pitchFamily="2" charset="2"/>
              <a:buNone/>
              <a:defRPr/>
            </a:pPr>
            <a:r>
              <a:rPr kumimoji="1" lang="zh-CN" altLang="en-US" sz="2000" dirty="0">
                <a:solidFill>
                  <a:schemeClr val="tx1"/>
                </a:solidFill>
                <a:latin typeface="+mj-ea"/>
                <a:ea typeface="+mj-ea"/>
              </a:rPr>
              <a:t> </a:t>
            </a:r>
            <a:r>
              <a:rPr kumimoji="1" lang="en-US" altLang="zh-CN" sz="2000" dirty="0">
                <a:solidFill>
                  <a:schemeClr val="tx1"/>
                </a:solidFill>
                <a:latin typeface="+mj-ea"/>
                <a:ea typeface="+mj-ea"/>
              </a:rPr>
              <a:t>Type </a:t>
            </a:r>
            <a:r>
              <a:rPr kumimoji="1" lang="en-US" altLang="zh-CN" sz="2000" dirty="0" err="1">
                <a:solidFill>
                  <a:schemeClr val="tx1"/>
                </a:solidFill>
                <a:latin typeface="+mj-ea"/>
                <a:ea typeface="+mj-ea"/>
              </a:rPr>
              <a:t>wt</a:t>
            </a:r>
            <a:r>
              <a:rPr kumimoji="1" lang="en-US" altLang="zh-CN" sz="2000" dirty="0">
                <a:solidFill>
                  <a:schemeClr val="tx1"/>
                </a:solidFill>
                <a:latin typeface="+mj-ea"/>
                <a:ea typeface="+mj-ea"/>
              </a:rPr>
              <a:t> = </a:t>
            </a:r>
            <a:r>
              <a:rPr kumimoji="1" lang="en-US" altLang="zh-CN" sz="2000" dirty="0" err="1">
                <a:solidFill>
                  <a:schemeClr val="tx1"/>
                </a:solidFill>
                <a:latin typeface="+mj-ea"/>
                <a:ea typeface="+mj-ea"/>
              </a:rPr>
              <a:t>Ew</a:t>
            </a:r>
            <a:r>
              <a:rPr kumimoji="1" lang="en-US" altLang="zh-CN" sz="2000" dirty="0">
                <a:solidFill>
                  <a:schemeClr val="tx1"/>
                </a:solidFill>
                <a:latin typeface="+mj-ea"/>
                <a:ea typeface="+mj-ea"/>
              </a:rPr>
              <a:t> + w[</a:t>
            </a:r>
            <a:r>
              <a:rPr kumimoji="1" lang="en-US" altLang="zh-CN" sz="2000" dirty="0" err="1">
                <a:solidFill>
                  <a:schemeClr val="tx1"/>
                </a:solidFill>
                <a:latin typeface="+mj-ea"/>
                <a:ea typeface="+mj-ea"/>
              </a:rPr>
              <a:t>i</a:t>
            </a:r>
            <a:r>
              <a:rPr kumimoji="1" lang="en-US" altLang="zh-CN" sz="2000" dirty="0">
                <a:solidFill>
                  <a:schemeClr val="tx1"/>
                </a:solidFill>
                <a:latin typeface="+mj-ea"/>
                <a:ea typeface="+mj-ea"/>
              </a:rPr>
              <a:t>]; // </a:t>
            </a:r>
            <a:r>
              <a:rPr kumimoji="1" lang="zh-CN" altLang="en-US" sz="2000" dirty="0">
                <a:solidFill>
                  <a:schemeClr val="tx1"/>
                </a:solidFill>
                <a:latin typeface="+mj-ea"/>
                <a:ea typeface="+mj-ea"/>
              </a:rPr>
              <a:t>左儿子结点的重量</a:t>
            </a:r>
          </a:p>
          <a:p>
            <a:pPr eaLnBrk="1" hangingPunct="1">
              <a:lnSpc>
                <a:spcPct val="165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if (</a:t>
            </a:r>
            <a:r>
              <a:rPr kumimoji="1" lang="en-US" altLang="zh-CN" sz="2000" dirty="0" err="1">
                <a:solidFill>
                  <a:srgbClr val="FF0000"/>
                </a:solidFill>
                <a:latin typeface="+mj-ea"/>
                <a:ea typeface="+mj-ea"/>
              </a:rPr>
              <a:t>wt</a:t>
            </a:r>
            <a:r>
              <a:rPr kumimoji="1" lang="en-US" altLang="zh-CN" sz="2000" dirty="0">
                <a:solidFill>
                  <a:srgbClr val="FF0000"/>
                </a:solidFill>
                <a:latin typeface="+mj-ea"/>
                <a:ea typeface="+mj-ea"/>
              </a:rPr>
              <a:t> &lt;= c</a:t>
            </a:r>
            <a:r>
              <a:rPr kumimoji="1" lang="en-US" altLang="zh-CN" sz="2000" dirty="0">
                <a:solidFill>
                  <a:schemeClr val="tx1"/>
                </a:solidFill>
                <a:latin typeface="+mj-ea"/>
                <a:ea typeface="+mj-ea"/>
              </a:rPr>
              <a:t>) {     // </a:t>
            </a:r>
            <a:r>
              <a:rPr kumimoji="1" lang="zh-CN" altLang="en-US" sz="2000" dirty="0">
                <a:solidFill>
                  <a:schemeClr val="tx1"/>
                </a:solidFill>
                <a:latin typeface="+mj-ea"/>
                <a:ea typeface="+mj-ea"/>
              </a:rPr>
              <a:t>可行结点</a:t>
            </a:r>
          </a:p>
          <a:p>
            <a:pPr eaLnBrk="1" hangingPunct="1">
              <a:lnSpc>
                <a:spcPct val="165000"/>
              </a:lnSpc>
              <a:spcBef>
                <a:spcPct val="20000"/>
              </a:spcBef>
              <a:buClr>
                <a:schemeClr val="accent1"/>
              </a:buClr>
              <a:buSzPct val="65000"/>
              <a:buFont typeface="Wingdings" panose="05000000000000000000" pitchFamily="2" charset="2"/>
              <a:buNone/>
              <a:defRPr/>
            </a:pPr>
            <a:r>
              <a:rPr kumimoji="1" lang="zh-CN" altLang="en-US" sz="2000" dirty="0">
                <a:solidFill>
                  <a:schemeClr val="tx1"/>
                </a:solidFill>
                <a:latin typeface="+mj-ea"/>
                <a:ea typeface="+mj-ea"/>
              </a:rPr>
              <a:t>         </a:t>
            </a:r>
            <a:r>
              <a:rPr kumimoji="1" lang="en-US" altLang="zh-CN" sz="2000" dirty="0">
                <a:solidFill>
                  <a:schemeClr val="tx1"/>
                </a:solidFill>
                <a:latin typeface="+mj-ea"/>
                <a:ea typeface="+mj-ea"/>
              </a:rPr>
              <a:t>if (</a:t>
            </a:r>
            <a:r>
              <a:rPr kumimoji="1" lang="en-US" altLang="zh-CN" sz="2000" dirty="0" err="1">
                <a:solidFill>
                  <a:schemeClr val="tx1"/>
                </a:solidFill>
                <a:latin typeface="+mj-ea"/>
                <a:ea typeface="+mj-ea"/>
              </a:rPr>
              <a:t>wt</a:t>
            </a:r>
            <a:r>
              <a:rPr kumimoji="1" lang="en-US" altLang="zh-CN" sz="2000" dirty="0">
                <a:solidFill>
                  <a:schemeClr val="tx1"/>
                </a:solidFill>
                <a:latin typeface="+mj-ea"/>
                <a:ea typeface="+mj-ea"/>
              </a:rPr>
              <a:t> &gt; </a:t>
            </a:r>
            <a:r>
              <a:rPr kumimoji="1" lang="en-US" altLang="zh-CN" sz="2000" dirty="0" err="1">
                <a:solidFill>
                  <a:schemeClr val="tx1"/>
                </a:solidFill>
                <a:latin typeface="+mj-ea"/>
                <a:ea typeface="+mj-ea"/>
              </a:rPr>
              <a:t>bestw</a:t>
            </a:r>
            <a:r>
              <a:rPr kumimoji="1" lang="en-US" altLang="zh-CN" sz="2000" dirty="0">
                <a:solidFill>
                  <a:schemeClr val="tx1"/>
                </a:solidFill>
                <a:latin typeface="+mj-ea"/>
                <a:ea typeface="+mj-ea"/>
              </a:rPr>
              <a:t>) </a:t>
            </a:r>
            <a:r>
              <a:rPr kumimoji="1" lang="en-US" altLang="zh-CN" sz="2000" dirty="0" err="1">
                <a:solidFill>
                  <a:schemeClr val="tx1"/>
                </a:solidFill>
                <a:latin typeface="+mj-ea"/>
                <a:ea typeface="+mj-ea"/>
              </a:rPr>
              <a:t>bestw</a:t>
            </a:r>
            <a:r>
              <a:rPr kumimoji="1" lang="en-US" altLang="zh-CN" sz="2000" dirty="0">
                <a:solidFill>
                  <a:schemeClr val="tx1"/>
                </a:solidFill>
                <a:latin typeface="+mj-ea"/>
                <a:ea typeface="+mj-ea"/>
              </a:rPr>
              <a:t> = </a:t>
            </a:r>
            <a:r>
              <a:rPr kumimoji="1" lang="en-US" altLang="zh-CN" sz="2000" dirty="0" err="1">
                <a:solidFill>
                  <a:schemeClr val="tx1"/>
                </a:solidFill>
                <a:latin typeface="+mj-ea"/>
                <a:ea typeface="+mj-ea"/>
              </a:rPr>
              <a:t>wt</a:t>
            </a:r>
            <a:r>
              <a:rPr kumimoji="1" lang="en-US" altLang="zh-CN" sz="2000" dirty="0">
                <a:solidFill>
                  <a:schemeClr val="tx1"/>
                </a:solidFill>
                <a:latin typeface="+mj-ea"/>
                <a:ea typeface="+mj-ea"/>
              </a:rPr>
              <a:t>;</a:t>
            </a:r>
          </a:p>
          <a:p>
            <a:pPr eaLnBrk="1" hangingPunct="1">
              <a:lnSpc>
                <a:spcPct val="165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 </a:t>
            </a:r>
            <a:r>
              <a:rPr kumimoji="1" lang="zh-CN" altLang="en-US" sz="2000" dirty="0">
                <a:solidFill>
                  <a:schemeClr val="tx1"/>
                </a:solidFill>
                <a:latin typeface="+mj-ea"/>
                <a:ea typeface="+mj-ea"/>
              </a:rPr>
              <a:t>加入活结点队列</a:t>
            </a:r>
          </a:p>
          <a:p>
            <a:pPr eaLnBrk="1" hangingPunct="1">
              <a:lnSpc>
                <a:spcPct val="165000"/>
              </a:lnSpc>
              <a:spcBef>
                <a:spcPct val="20000"/>
              </a:spcBef>
              <a:buClr>
                <a:schemeClr val="accent1"/>
              </a:buClr>
              <a:buSzPct val="65000"/>
              <a:buFont typeface="Wingdings" panose="05000000000000000000" pitchFamily="2" charset="2"/>
              <a:buNone/>
              <a:defRPr/>
            </a:pPr>
            <a:r>
              <a:rPr kumimoji="1" lang="zh-CN" altLang="en-US" sz="2000" dirty="0">
                <a:solidFill>
                  <a:schemeClr val="tx1"/>
                </a:solidFill>
                <a:latin typeface="+mj-ea"/>
                <a:ea typeface="+mj-ea"/>
              </a:rPr>
              <a:t>         </a:t>
            </a:r>
            <a:r>
              <a:rPr kumimoji="1" lang="en-US" altLang="zh-CN" sz="2000" dirty="0">
                <a:solidFill>
                  <a:schemeClr val="tx1"/>
                </a:solidFill>
                <a:latin typeface="+mj-ea"/>
                <a:ea typeface="+mj-ea"/>
              </a:rPr>
              <a:t>if (</a:t>
            </a:r>
            <a:r>
              <a:rPr kumimoji="1" lang="en-US" altLang="zh-CN" sz="2000" dirty="0" err="1">
                <a:solidFill>
                  <a:schemeClr val="tx1"/>
                </a:solidFill>
                <a:latin typeface="+mj-ea"/>
                <a:ea typeface="+mj-ea"/>
              </a:rPr>
              <a:t>i</a:t>
            </a:r>
            <a:r>
              <a:rPr kumimoji="1" lang="en-US" altLang="zh-CN" sz="2000" dirty="0">
                <a:solidFill>
                  <a:schemeClr val="tx1"/>
                </a:solidFill>
                <a:latin typeface="+mj-ea"/>
                <a:ea typeface="+mj-ea"/>
              </a:rPr>
              <a:t> &lt; n) </a:t>
            </a:r>
            <a:r>
              <a:rPr kumimoji="1" lang="en-US" altLang="zh-CN" sz="2000" dirty="0" err="1">
                <a:solidFill>
                  <a:schemeClr val="tx1"/>
                </a:solidFill>
                <a:latin typeface="+mj-ea"/>
                <a:ea typeface="+mj-ea"/>
              </a:rPr>
              <a:t>Q.Add</a:t>
            </a:r>
            <a:r>
              <a:rPr kumimoji="1" lang="en-US" altLang="zh-CN" sz="2000" dirty="0">
                <a:solidFill>
                  <a:schemeClr val="tx1"/>
                </a:solidFill>
                <a:latin typeface="+mj-ea"/>
                <a:ea typeface="+mj-ea"/>
              </a:rPr>
              <a:t>(</a:t>
            </a:r>
            <a:r>
              <a:rPr kumimoji="1" lang="en-US" altLang="zh-CN" sz="2000" dirty="0" err="1">
                <a:solidFill>
                  <a:schemeClr val="tx1"/>
                </a:solidFill>
                <a:latin typeface="+mj-ea"/>
                <a:ea typeface="+mj-ea"/>
              </a:rPr>
              <a:t>wt</a:t>
            </a:r>
            <a:r>
              <a:rPr kumimoji="1" lang="en-US" altLang="zh-CN" sz="2000" dirty="0">
                <a:solidFill>
                  <a:schemeClr val="tx1"/>
                </a:solidFill>
                <a:latin typeface="+mj-ea"/>
                <a:ea typeface="+mj-ea"/>
              </a:rPr>
              <a:t>);</a:t>
            </a:r>
          </a:p>
          <a:p>
            <a:pPr eaLnBrk="1" hangingPunct="1">
              <a:lnSpc>
                <a:spcPct val="165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a:t>
            </a:r>
          </a:p>
        </p:txBody>
      </p:sp>
      <p:sp>
        <p:nvSpPr>
          <p:cNvPr id="318471" name="AutoShape 7">
            <a:extLst>
              <a:ext uri="{FF2B5EF4-FFF2-40B4-BE49-F238E27FC236}">
                <a16:creationId xmlns:a16="http://schemas.microsoft.com/office/drawing/2014/main" id="{9C20D946-B4D4-492A-B5C9-B18C2760D6A8}"/>
              </a:ext>
            </a:extLst>
          </p:cNvPr>
          <p:cNvSpPr>
            <a:spLocks noChangeArrowheads="1"/>
          </p:cNvSpPr>
          <p:nvPr/>
        </p:nvSpPr>
        <p:spPr bwMode="auto">
          <a:xfrm>
            <a:off x="3571875" y="5429250"/>
            <a:ext cx="2143125" cy="928688"/>
          </a:xfrm>
          <a:prstGeom prst="wedgeRoundRectCallout">
            <a:avLst>
              <a:gd name="adj1" fmla="val -43824"/>
              <a:gd name="adj2" fmla="val -141597"/>
              <a:gd name="adj3" fmla="val 16667"/>
            </a:avLst>
          </a:prstGeom>
          <a:solidFill>
            <a:schemeClr val="hlink"/>
          </a:solidFill>
          <a:ln w="6350">
            <a:solidFill>
              <a:schemeClr val="hlink"/>
            </a:solidFill>
            <a:miter lim="800000"/>
            <a:headEnd/>
            <a:tailEnd/>
          </a:ln>
        </p:spPr>
        <p:txBody>
          <a:bodyPr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20000"/>
              </a:spcBef>
              <a:buClr>
                <a:schemeClr val="accent1"/>
              </a:buClr>
              <a:buSzPct val="65000"/>
              <a:buFont typeface="Wingdings" panose="05000000000000000000" pitchFamily="2" charset="2"/>
              <a:buNone/>
              <a:defRPr/>
            </a:pPr>
            <a:r>
              <a:rPr lang="zh-CN" altLang="en-US" sz="2000" b="1">
                <a:solidFill>
                  <a:schemeClr val="bg1"/>
                </a:solidFill>
                <a:latin typeface="+mj-ea"/>
                <a:ea typeface="+mj-ea"/>
              </a:rPr>
              <a:t>提前更新</a:t>
            </a:r>
            <a:r>
              <a:rPr lang="en-US" altLang="zh-CN" sz="2000" b="1">
                <a:solidFill>
                  <a:schemeClr val="bg1"/>
                </a:solidFill>
                <a:latin typeface="+mj-ea"/>
                <a:ea typeface="+mj-ea"/>
              </a:rPr>
              <a:t>bestw </a:t>
            </a:r>
          </a:p>
        </p:txBody>
      </p:sp>
      <p:sp>
        <p:nvSpPr>
          <p:cNvPr id="318472" name="Text Box 8">
            <a:extLst>
              <a:ext uri="{FF2B5EF4-FFF2-40B4-BE49-F238E27FC236}">
                <a16:creationId xmlns:a16="http://schemas.microsoft.com/office/drawing/2014/main" id="{2502CA41-F5CF-4D91-B67F-F4E234E03573}"/>
              </a:ext>
            </a:extLst>
          </p:cNvPr>
          <p:cNvSpPr txBox="1">
            <a:spLocks noChangeArrowheads="1"/>
          </p:cNvSpPr>
          <p:nvPr/>
        </p:nvSpPr>
        <p:spPr bwMode="auto">
          <a:xfrm>
            <a:off x="4724400" y="2643188"/>
            <a:ext cx="4419600"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200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a:t>
            </a:r>
            <a:r>
              <a:rPr kumimoji="1" lang="zh-CN" altLang="en-US" sz="2000" dirty="0">
                <a:solidFill>
                  <a:schemeClr val="tx1"/>
                </a:solidFill>
                <a:latin typeface="+mj-ea"/>
                <a:ea typeface="+mj-ea"/>
              </a:rPr>
              <a:t>检查右儿子结点</a:t>
            </a:r>
          </a:p>
          <a:p>
            <a:pPr eaLnBrk="1" hangingPunct="1">
              <a:lnSpc>
                <a:spcPct val="200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if (</a:t>
            </a:r>
            <a:r>
              <a:rPr kumimoji="1" lang="en-US" altLang="zh-CN" sz="2000" dirty="0" err="1">
                <a:solidFill>
                  <a:srgbClr val="FF0000"/>
                </a:solidFill>
                <a:latin typeface="+mj-ea"/>
                <a:ea typeface="+mj-ea"/>
              </a:rPr>
              <a:t>Ew</a:t>
            </a:r>
            <a:r>
              <a:rPr kumimoji="1" lang="en-US" altLang="zh-CN" sz="2000" dirty="0">
                <a:solidFill>
                  <a:srgbClr val="FF0000"/>
                </a:solidFill>
                <a:latin typeface="+mj-ea"/>
                <a:ea typeface="+mj-ea"/>
              </a:rPr>
              <a:t> + r &gt; </a:t>
            </a:r>
            <a:r>
              <a:rPr kumimoji="1" lang="en-US" altLang="zh-CN" sz="2000" dirty="0" err="1">
                <a:solidFill>
                  <a:srgbClr val="FF0000"/>
                </a:solidFill>
                <a:latin typeface="+mj-ea"/>
                <a:ea typeface="+mj-ea"/>
              </a:rPr>
              <a:t>bestw</a:t>
            </a:r>
            <a:r>
              <a:rPr kumimoji="1" lang="en-US" altLang="zh-CN" sz="2000" dirty="0">
                <a:solidFill>
                  <a:srgbClr val="FF0000"/>
                </a:solidFill>
                <a:latin typeface="+mj-ea"/>
                <a:ea typeface="+mj-ea"/>
              </a:rPr>
              <a:t> &amp;&amp; </a:t>
            </a:r>
            <a:r>
              <a:rPr kumimoji="1" lang="en-US" altLang="zh-CN" sz="2000" dirty="0" err="1">
                <a:solidFill>
                  <a:srgbClr val="FF0000"/>
                </a:solidFill>
                <a:latin typeface="+mj-ea"/>
                <a:ea typeface="+mj-ea"/>
              </a:rPr>
              <a:t>i</a:t>
            </a:r>
            <a:r>
              <a:rPr kumimoji="1" lang="en-US" altLang="zh-CN" sz="2000" dirty="0">
                <a:solidFill>
                  <a:srgbClr val="FF0000"/>
                </a:solidFill>
                <a:latin typeface="+mj-ea"/>
                <a:ea typeface="+mj-ea"/>
              </a:rPr>
              <a:t> &lt; n</a:t>
            </a:r>
            <a:r>
              <a:rPr kumimoji="1" lang="en-US" altLang="zh-CN" sz="2000" dirty="0">
                <a:solidFill>
                  <a:schemeClr val="tx1"/>
                </a:solidFill>
                <a:latin typeface="+mj-ea"/>
                <a:ea typeface="+mj-ea"/>
              </a:rPr>
              <a:t>)</a:t>
            </a:r>
          </a:p>
          <a:p>
            <a:pPr eaLnBrk="1" hangingPunct="1">
              <a:lnSpc>
                <a:spcPct val="200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a:t>
            </a:r>
            <a:r>
              <a:rPr kumimoji="1" lang="en-US" altLang="zh-CN" sz="2000" dirty="0" err="1">
                <a:solidFill>
                  <a:schemeClr val="tx1"/>
                </a:solidFill>
                <a:latin typeface="+mj-ea"/>
                <a:ea typeface="+mj-ea"/>
              </a:rPr>
              <a:t>Q.Add</a:t>
            </a:r>
            <a:r>
              <a:rPr kumimoji="1" lang="en-US" altLang="zh-CN" sz="2000" dirty="0">
                <a:solidFill>
                  <a:schemeClr val="tx1"/>
                </a:solidFill>
                <a:latin typeface="+mj-ea"/>
                <a:ea typeface="+mj-ea"/>
              </a:rPr>
              <a:t>(</a:t>
            </a:r>
            <a:r>
              <a:rPr kumimoji="1" lang="en-US" altLang="zh-CN" sz="2000" dirty="0" err="1">
                <a:solidFill>
                  <a:schemeClr val="tx1"/>
                </a:solidFill>
                <a:latin typeface="+mj-ea"/>
                <a:ea typeface="+mj-ea"/>
              </a:rPr>
              <a:t>Ew</a:t>
            </a:r>
            <a:r>
              <a:rPr kumimoji="1" lang="en-US" altLang="zh-CN" sz="2000" dirty="0">
                <a:solidFill>
                  <a:schemeClr val="tx1"/>
                </a:solidFill>
                <a:latin typeface="+mj-ea"/>
                <a:ea typeface="+mj-ea"/>
              </a:rPr>
              <a:t>);     // </a:t>
            </a:r>
            <a:r>
              <a:rPr kumimoji="1" lang="zh-CN" altLang="en-US" sz="2000" dirty="0">
                <a:solidFill>
                  <a:schemeClr val="tx1"/>
                </a:solidFill>
                <a:latin typeface="+mj-ea"/>
                <a:ea typeface="+mj-ea"/>
              </a:rPr>
              <a:t>可能含最优解</a:t>
            </a:r>
          </a:p>
          <a:p>
            <a:pPr eaLnBrk="1" hangingPunct="1">
              <a:lnSpc>
                <a:spcPct val="200000"/>
              </a:lnSpc>
              <a:spcBef>
                <a:spcPct val="20000"/>
              </a:spcBef>
              <a:buClr>
                <a:schemeClr val="accent1"/>
              </a:buClr>
              <a:buSzPct val="65000"/>
              <a:buFont typeface="Wingdings" panose="05000000000000000000" pitchFamily="2" charset="2"/>
              <a:buNone/>
              <a:defRPr/>
            </a:pPr>
            <a:r>
              <a:rPr kumimoji="1" lang="zh-CN" altLang="en-US" sz="2000" dirty="0">
                <a:solidFill>
                  <a:schemeClr val="tx1"/>
                </a:solidFill>
                <a:latin typeface="+mj-ea"/>
                <a:ea typeface="+mj-ea"/>
              </a:rPr>
              <a:t> </a:t>
            </a:r>
            <a:r>
              <a:rPr kumimoji="1" lang="en-US" altLang="zh-CN" sz="2000" dirty="0" err="1">
                <a:solidFill>
                  <a:schemeClr val="tx1"/>
                </a:solidFill>
                <a:latin typeface="+mj-ea"/>
                <a:ea typeface="+mj-ea"/>
              </a:rPr>
              <a:t>Q.Delete</a:t>
            </a:r>
            <a:r>
              <a:rPr kumimoji="1" lang="en-US" altLang="zh-CN" sz="2000" dirty="0">
                <a:solidFill>
                  <a:schemeClr val="tx1"/>
                </a:solidFill>
                <a:latin typeface="+mj-ea"/>
                <a:ea typeface="+mj-ea"/>
              </a:rPr>
              <a:t>(</a:t>
            </a:r>
            <a:r>
              <a:rPr kumimoji="1" lang="en-US" altLang="zh-CN" sz="2000" dirty="0" err="1">
                <a:solidFill>
                  <a:schemeClr val="tx1"/>
                </a:solidFill>
                <a:latin typeface="+mj-ea"/>
                <a:ea typeface="+mj-ea"/>
              </a:rPr>
              <a:t>Ew</a:t>
            </a:r>
            <a:r>
              <a:rPr kumimoji="1" lang="en-US" altLang="zh-CN" sz="2000" dirty="0">
                <a:solidFill>
                  <a:schemeClr val="tx1"/>
                </a:solidFill>
                <a:latin typeface="+mj-ea"/>
                <a:ea typeface="+mj-ea"/>
              </a:rPr>
              <a:t>);     // </a:t>
            </a:r>
            <a:r>
              <a:rPr kumimoji="1" lang="zh-CN" altLang="en-US" sz="2000" dirty="0">
                <a:solidFill>
                  <a:schemeClr val="tx1"/>
                </a:solidFill>
                <a:latin typeface="+mj-ea"/>
                <a:ea typeface="+mj-ea"/>
              </a:rPr>
              <a:t>取下一扩展结点</a:t>
            </a:r>
          </a:p>
        </p:txBody>
      </p:sp>
      <p:sp>
        <p:nvSpPr>
          <p:cNvPr id="318473" name="AutoShape 9">
            <a:extLst>
              <a:ext uri="{FF2B5EF4-FFF2-40B4-BE49-F238E27FC236}">
                <a16:creationId xmlns:a16="http://schemas.microsoft.com/office/drawing/2014/main" id="{9C79EFD0-693A-48C8-98D4-B4A7941A128D}"/>
              </a:ext>
            </a:extLst>
          </p:cNvPr>
          <p:cNvSpPr>
            <a:spLocks noChangeArrowheads="1"/>
          </p:cNvSpPr>
          <p:nvPr/>
        </p:nvSpPr>
        <p:spPr bwMode="auto">
          <a:xfrm>
            <a:off x="7162800" y="2235200"/>
            <a:ext cx="1676400" cy="762000"/>
          </a:xfrm>
          <a:prstGeom prst="wedgeRoundRectCallout">
            <a:avLst>
              <a:gd name="adj1" fmla="val -64773"/>
              <a:gd name="adj2" fmla="val 135000"/>
              <a:gd name="adj3" fmla="val 16667"/>
            </a:avLst>
          </a:prstGeom>
          <a:solidFill>
            <a:schemeClr val="hlink"/>
          </a:solidFill>
          <a:ln w="6350">
            <a:solidFill>
              <a:schemeClr val="hlink"/>
            </a:solidFill>
            <a:miter lim="800000"/>
            <a:headEnd/>
            <a:tailEnd/>
          </a:ln>
        </p:spPr>
        <p:txBody>
          <a:bodyPr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20000"/>
              </a:spcBef>
              <a:buClr>
                <a:schemeClr val="accent1"/>
              </a:buClr>
              <a:buSzPct val="65000"/>
              <a:buFont typeface="Wingdings" panose="05000000000000000000" pitchFamily="2" charset="2"/>
              <a:buNone/>
              <a:defRPr/>
            </a:pPr>
            <a:r>
              <a:rPr lang="zh-CN" altLang="en-US" sz="2000" b="1">
                <a:solidFill>
                  <a:schemeClr val="bg1"/>
                </a:solidFill>
                <a:latin typeface="+mj-ea"/>
                <a:ea typeface="+mj-ea"/>
              </a:rPr>
              <a:t>右儿子剪枝</a:t>
            </a:r>
            <a:r>
              <a:rPr lang="en-US" altLang="zh-CN" sz="2000" b="1">
                <a:solidFill>
                  <a:schemeClr val="bg1"/>
                </a:solidFill>
                <a:latin typeface="+mj-ea"/>
                <a:ea typeface="+mj-ea"/>
              </a:rPr>
              <a:t> </a:t>
            </a: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18468"/>
                                        </p:tgtEl>
                                        <p:attrNameLst>
                                          <p:attrName>style.visibility</p:attrName>
                                        </p:attrNameLst>
                                      </p:cBhvr>
                                      <p:to>
                                        <p:strVal val="visible"/>
                                      </p:to>
                                    </p:set>
                                    <p:anim calcmode="lin" valueType="num">
                                      <p:cBhvr additive="base">
                                        <p:cTn id="7" dur="500" fill="hold"/>
                                        <p:tgtEl>
                                          <p:spTgt spid="318468"/>
                                        </p:tgtEl>
                                        <p:attrNameLst>
                                          <p:attrName>ppt_x</p:attrName>
                                        </p:attrNameLst>
                                      </p:cBhvr>
                                      <p:tavLst>
                                        <p:tav tm="0">
                                          <p:val>
                                            <p:strVal val="1+#ppt_w/2"/>
                                          </p:val>
                                        </p:tav>
                                        <p:tav tm="100000">
                                          <p:val>
                                            <p:strVal val="#ppt_x"/>
                                          </p:val>
                                        </p:tav>
                                      </p:tavLst>
                                    </p:anim>
                                    <p:anim calcmode="lin" valueType="num">
                                      <p:cBhvr additive="base">
                                        <p:cTn id="8" dur="500" fill="hold"/>
                                        <p:tgtEl>
                                          <p:spTgt spid="3184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8470"/>
                                        </p:tgtEl>
                                        <p:attrNameLst>
                                          <p:attrName>style.visibility</p:attrName>
                                        </p:attrNameLst>
                                      </p:cBhvr>
                                      <p:to>
                                        <p:strVal val="visible"/>
                                      </p:to>
                                    </p:set>
                                    <p:anim calcmode="lin" valueType="num">
                                      <p:cBhvr additive="base">
                                        <p:cTn id="13" dur="500" fill="hold"/>
                                        <p:tgtEl>
                                          <p:spTgt spid="318470"/>
                                        </p:tgtEl>
                                        <p:attrNameLst>
                                          <p:attrName>ppt_x</p:attrName>
                                        </p:attrNameLst>
                                      </p:cBhvr>
                                      <p:tavLst>
                                        <p:tav tm="0">
                                          <p:val>
                                            <p:strVal val="0-#ppt_w/2"/>
                                          </p:val>
                                        </p:tav>
                                        <p:tav tm="100000">
                                          <p:val>
                                            <p:strVal val="#ppt_x"/>
                                          </p:val>
                                        </p:tav>
                                      </p:tavLst>
                                    </p:anim>
                                    <p:anim calcmode="lin" valueType="num">
                                      <p:cBhvr additive="base">
                                        <p:cTn id="14" dur="500" fill="hold"/>
                                        <p:tgtEl>
                                          <p:spTgt spid="31847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8471"/>
                                        </p:tgtEl>
                                        <p:attrNameLst>
                                          <p:attrName>style.visibility</p:attrName>
                                        </p:attrNameLst>
                                      </p:cBhvr>
                                      <p:to>
                                        <p:strVal val="visible"/>
                                      </p:to>
                                    </p:set>
                                    <p:anim calcmode="lin" valueType="num">
                                      <p:cBhvr additive="base">
                                        <p:cTn id="19" dur="500" fill="hold"/>
                                        <p:tgtEl>
                                          <p:spTgt spid="318471"/>
                                        </p:tgtEl>
                                        <p:attrNameLst>
                                          <p:attrName>ppt_x</p:attrName>
                                        </p:attrNameLst>
                                      </p:cBhvr>
                                      <p:tavLst>
                                        <p:tav tm="0">
                                          <p:val>
                                            <p:strVal val="0-#ppt_w/2"/>
                                          </p:val>
                                        </p:tav>
                                        <p:tav tm="100000">
                                          <p:val>
                                            <p:strVal val="#ppt_x"/>
                                          </p:val>
                                        </p:tav>
                                      </p:tavLst>
                                    </p:anim>
                                    <p:anim calcmode="lin" valueType="num">
                                      <p:cBhvr additive="base">
                                        <p:cTn id="20" dur="500" fill="hold"/>
                                        <p:tgtEl>
                                          <p:spTgt spid="3184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18472"/>
                                        </p:tgtEl>
                                        <p:attrNameLst>
                                          <p:attrName>style.visibility</p:attrName>
                                        </p:attrNameLst>
                                      </p:cBhvr>
                                      <p:to>
                                        <p:strVal val="visible"/>
                                      </p:to>
                                    </p:set>
                                    <p:anim calcmode="lin" valueType="num">
                                      <p:cBhvr additive="base">
                                        <p:cTn id="25" dur="500" fill="hold"/>
                                        <p:tgtEl>
                                          <p:spTgt spid="318472"/>
                                        </p:tgtEl>
                                        <p:attrNameLst>
                                          <p:attrName>ppt_x</p:attrName>
                                        </p:attrNameLst>
                                      </p:cBhvr>
                                      <p:tavLst>
                                        <p:tav tm="0">
                                          <p:val>
                                            <p:strVal val="1+#ppt_w/2"/>
                                          </p:val>
                                        </p:tav>
                                        <p:tav tm="100000">
                                          <p:val>
                                            <p:strVal val="#ppt_x"/>
                                          </p:val>
                                        </p:tav>
                                      </p:tavLst>
                                    </p:anim>
                                    <p:anim calcmode="lin" valueType="num">
                                      <p:cBhvr additive="base">
                                        <p:cTn id="26" dur="500" fill="hold"/>
                                        <p:tgtEl>
                                          <p:spTgt spid="31847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18473"/>
                                        </p:tgtEl>
                                        <p:attrNameLst>
                                          <p:attrName>style.visibility</p:attrName>
                                        </p:attrNameLst>
                                      </p:cBhvr>
                                      <p:to>
                                        <p:strVal val="visible"/>
                                      </p:to>
                                    </p:set>
                                    <p:anim calcmode="lin" valueType="num">
                                      <p:cBhvr additive="base">
                                        <p:cTn id="31" dur="500" fill="hold"/>
                                        <p:tgtEl>
                                          <p:spTgt spid="318473"/>
                                        </p:tgtEl>
                                        <p:attrNameLst>
                                          <p:attrName>ppt_x</p:attrName>
                                        </p:attrNameLst>
                                      </p:cBhvr>
                                      <p:tavLst>
                                        <p:tav tm="0">
                                          <p:val>
                                            <p:strVal val="1+#ppt_w/2"/>
                                          </p:val>
                                        </p:tav>
                                        <p:tav tm="100000">
                                          <p:val>
                                            <p:strVal val="#ppt_x"/>
                                          </p:val>
                                        </p:tav>
                                      </p:tavLst>
                                    </p:anim>
                                    <p:anim calcmode="lin" valueType="num">
                                      <p:cBhvr additive="base">
                                        <p:cTn id="32" dur="500" fill="hold"/>
                                        <p:tgtEl>
                                          <p:spTgt spid="3184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8" grpId="0" autoUpdateAnimBg="0"/>
      <p:bldP spid="318470" grpId="0" autoUpdateAnimBg="0"/>
      <p:bldP spid="318471" grpId="0" animBg="1" autoUpdateAnimBg="0"/>
      <p:bldP spid="318472" grpId="0" autoUpdateAnimBg="0"/>
      <p:bldP spid="318473"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79B0F3B-0B5D-4700-A98B-F9FE0ED44225}"/>
              </a:ext>
            </a:extLst>
          </p:cNvPr>
          <p:cNvSpPr>
            <a:spLocks noGrp="1" noChangeArrowheads="1"/>
          </p:cNvSpPr>
          <p:nvPr>
            <p:ph type="title"/>
          </p:nvPr>
        </p:nvSpPr>
        <p:spPr/>
        <p:txBody>
          <a:bodyPr/>
          <a:lstStyle/>
          <a:p>
            <a:pPr>
              <a:defRPr/>
            </a:pPr>
            <a:r>
              <a:rPr lang="zh-CN" altLang="en-US">
                <a:latin typeface="+mj-ea"/>
              </a:rPr>
              <a:t>6.3 装载问题</a:t>
            </a:r>
          </a:p>
        </p:txBody>
      </p:sp>
      <p:sp>
        <p:nvSpPr>
          <p:cNvPr id="29699" name="灯片编号占位符 5">
            <a:extLst>
              <a:ext uri="{FF2B5EF4-FFF2-40B4-BE49-F238E27FC236}">
                <a16:creationId xmlns:a16="http://schemas.microsoft.com/office/drawing/2014/main" id="{7C9DC150-3B0A-44EB-B44E-1849580A64B0}"/>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1863EF4-C21C-4465-B54B-B8D7A94B2079}" type="slidenum">
              <a:rPr lang="zh-CN" altLang="en-US" sz="1200">
                <a:solidFill>
                  <a:schemeClr val="tx1"/>
                </a:solidFill>
                <a:latin typeface="微软雅黑" panose="020B0503020204020204" pitchFamily="34" charset="-122"/>
                <a:ea typeface="微软雅黑" panose="020B0503020204020204" pitchFamily="34" charset="-122"/>
              </a:rPr>
              <a:pPr/>
              <a:t>22</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29700" name="Text Box 4">
            <a:extLst>
              <a:ext uri="{FF2B5EF4-FFF2-40B4-BE49-F238E27FC236}">
                <a16:creationId xmlns:a16="http://schemas.microsoft.com/office/drawing/2014/main" id="{65AEBAAE-6C86-4D0C-8177-6171EA14225D}"/>
              </a:ext>
            </a:extLst>
          </p:cNvPr>
          <p:cNvSpPr txBox="1">
            <a:spLocks noChangeArrowheads="1"/>
          </p:cNvSpPr>
          <p:nvPr/>
        </p:nvSpPr>
        <p:spPr bwMode="auto">
          <a:xfrm>
            <a:off x="533400" y="2133600"/>
            <a:ext cx="73152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50000"/>
              </a:spcBef>
              <a:buClr>
                <a:schemeClr val="accent1"/>
              </a:buClr>
              <a:buSzPct val="65000"/>
              <a:buFont typeface="Wingdings" panose="05000000000000000000" pitchFamily="2" charset="2"/>
              <a:buChar char="n"/>
              <a:defRPr/>
            </a:pPr>
            <a:endParaRPr lang="zh-CN" altLang="en-US">
              <a:solidFill>
                <a:schemeClr val="accent2"/>
              </a:solidFill>
              <a:latin typeface="+mj-ea"/>
              <a:ea typeface="+mj-ea"/>
            </a:endParaRPr>
          </a:p>
        </p:txBody>
      </p:sp>
      <p:sp>
        <p:nvSpPr>
          <p:cNvPr id="29701" name="Text Box 5">
            <a:extLst>
              <a:ext uri="{FF2B5EF4-FFF2-40B4-BE49-F238E27FC236}">
                <a16:creationId xmlns:a16="http://schemas.microsoft.com/office/drawing/2014/main" id="{691E2B6E-1E1F-4673-8FE7-AB7784BC6A4F}"/>
              </a:ext>
            </a:extLst>
          </p:cNvPr>
          <p:cNvSpPr txBox="1">
            <a:spLocks noChangeArrowheads="1"/>
          </p:cNvSpPr>
          <p:nvPr/>
        </p:nvSpPr>
        <p:spPr bwMode="auto">
          <a:xfrm>
            <a:off x="357188" y="1214438"/>
            <a:ext cx="6705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4. </a:t>
            </a:r>
            <a:r>
              <a:rPr lang="zh-CN" altLang="en-US" sz="3200">
                <a:solidFill>
                  <a:schemeClr val="accent2"/>
                </a:solidFill>
                <a:latin typeface="+mj-ea"/>
                <a:ea typeface="+mj-ea"/>
              </a:rPr>
              <a:t>构造最优解</a:t>
            </a:r>
            <a:endParaRPr lang="zh-CN" altLang="en-US">
              <a:solidFill>
                <a:schemeClr val="accent2"/>
              </a:solidFill>
              <a:latin typeface="+mj-ea"/>
              <a:ea typeface="+mj-ea"/>
            </a:endParaRPr>
          </a:p>
        </p:txBody>
      </p:sp>
      <p:sp>
        <p:nvSpPr>
          <p:cNvPr id="29702" name="Text Box 6">
            <a:extLst>
              <a:ext uri="{FF2B5EF4-FFF2-40B4-BE49-F238E27FC236}">
                <a16:creationId xmlns:a16="http://schemas.microsoft.com/office/drawing/2014/main" id="{584C34D1-CF04-42FC-AFF5-E56EA09A1770}"/>
              </a:ext>
            </a:extLst>
          </p:cNvPr>
          <p:cNvSpPr txBox="1">
            <a:spLocks noChangeArrowheads="1"/>
          </p:cNvSpPr>
          <p:nvPr/>
        </p:nvSpPr>
        <p:spPr bwMode="auto">
          <a:xfrm>
            <a:off x="571500" y="1857375"/>
            <a:ext cx="80010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lang="zh-CN" altLang="en-US" sz="2600">
                <a:solidFill>
                  <a:schemeClr val="tx1"/>
                </a:solidFill>
                <a:latin typeface="+mj-ea"/>
                <a:ea typeface="+mj-ea"/>
              </a:rPr>
              <a:t>为了在算法结束后能方便地</a:t>
            </a:r>
            <a:r>
              <a:rPr lang="zh-CN" altLang="en-US" sz="2600">
                <a:solidFill>
                  <a:srgbClr val="FF0000"/>
                </a:solidFill>
                <a:latin typeface="+mj-ea"/>
                <a:ea typeface="+mj-ea"/>
              </a:rPr>
              <a:t>构造出与最优值相应的最优解</a:t>
            </a:r>
            <a:r>
              <a:rPr lang="zh-CN" altLang="en-US" sz="2600">
                <a:solidFill>
                  <a:schemeClr val="tx1"/>
                </a:solidFill>
                <a:latin typeface="+mj-ea"/>
                <a:ea typeface="+mj-ea"/>
              </a:rPr>
              <a:t>，算法必须存储相应子集树中从活结点到根结点的路径。为此目的，可</a:t>
            </a:r>
            <a:r>
              <a:rPr lang="zh-CN" altLang="en-US" sz="2600" u="sng">
                <a:solidFill>
                  <a:schemeClr val="tx1"/>
                </a:solidFill>
                <a:latin typeface="+mj-ea"/>
                <a:ea typeface="+mj-ea"/>
              </a:rPr>
              <a:t>在每个结点处设置指向其父结点的指针，并设置左、右儿子标志</a:t>
            </a:r>
            <a:r>
              <a:rPr lang="zh-CN" altLang="en-US" sz="2600">
                <a:solidFill>
                  <a:schemeClr val="tx1"/>
                </a:solidFill>
                <a:latin typeface="+mj-ea"/>
                <a:ea typeface="+mj-ea"/>
              </a:rPr>
              <a:t>。 </a:t>
            </a:r>
          </a:p>
        </p:txBody>
      </p:sp>
      <p:sp>
        <p:nvSpPr>
          <p:cNvPr id="292871" name="Text Box 7">
            <a:extLst>
              <a:ext uri="{FF2B5EF4-FFF2-40B4-BE49-F238E27FC236}">
                <a16:creationId xmlns:a16="http://schemas.microsoft.com/office/drawing/2014/main" id="{F94B3E88-B444-4597-B173-8322C40F87CC}"/>
              </a:ext>
            </a:extLst>
          </p:cNvPr>
          <p:cNvSpPr txBox="1">
            <a:spLocks noChangeArrowheads="1"/>
          </p:cNvSpPr>
          <p:nvPr/>
        </p:nvSpPr>
        <p:spPr bwMode="auto">
          <a:xfrm>
            <a:off x="571500" y="3711575"/>
            <a:ext cx="6324600"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lnSpc>
                <a:spcPct val="150000"/>
              </a:lnSpc>
              <a:spcBef>
                <a:spcPct val="5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class </a:t>
            </a:r>
            <a:r>
              <a:rPr kumimoji="1" lang="en-US" altLang="zh-CN" sz="1800" dirty="0" err="1">
                <a:solidFill>
                  <a:schemeClr val="tx1"/>
                </a:solidFill>
                <a:latin typeface="+mj-ea"/>
                <a:ea typeface="+mj-ea"/>
              </a:rPr>
              <a:t>QNode</a:t>
            </a:r>
            <a:endParaRPr kumimoji="1" lang="en-US" altLang="zh-CN" sz="1800" dirty="0">
              <a:solidFill>
                <a:schemeClr val="tx1"/>
              </a:solidFill>
              <a:latin typeface="+mj-ea"/>
              <a:ea typeface="+mj-ea"/>
            </a:endParaRPr>
          </a:p>
          <a:p>
            <a:pPr eaLnBrk="1" hangingPunct="1">
              <a:lnSpc>
                <a:spcPct val="150000"/>
              </a:lnSpc>
              <a:spcBef>
                <a:spcPct val="20000"/>
              </a:spcBef>
              <a:buClr>
                <a:schemeClr val="accent1"/>
              </a:buClr>
              <a:buSzPct val="65000"/>
              <a:buFont typeface="Wingdings" panose="05000000000000000000" pitchFamily="2" charset="2"/>
              <a:buNone/>
              <a:defRPr/>
            </a:pPr>
            <a:r>
              <a:rPr lang="en-US" altLang="zh-CN" sz="1800" dirty="0">
                <a:solidFill>
                  <a:schemeClr val="tx1"/>
                </a:solidFill>
                <a:latin typeface="+mj-ea"/>
                <a:ea typeface="+mj-ea"/>
              </a:rPr>
              <a:t> {</a:t>
            </a:r>
            <a:r>
              <a:rPr kumimoji="1" lang="en-US" altLang="zh-CN" sz="1800" dirty="0" err="1">
                <a:solidFill>
                  <a:schemeClr val="tx1"/>
                </a:solidFill>
                <a:latin typeface="+mj-ea"/>
                <a:ea typeface="+mj-ea"/>
              </a:rPr>
              <a:t>QNode</a:t>
            </a:r>
            <a:r>
              <a:rPr kumimoji="1" lang="en-US" altLang="zh-CN" sz="1800" dirty="0">
                <a:solidFill>
                  <a:schemeClr val="tx1"/>
                </a:solidFill>
                <a:latin typeface="+mj-ea"/>
                <a:ea typeface="+mj-ea"/>
              </a:rPr>
              <a:t> *parent;  // </a:t>
            </a:r>
            <a:r>
              <a:rPr kumimoji="1" lang="zh-CN" altLang="en-US" sz="1800" dirty="0">
                <a:solidFill>
                  <a:schemeClr val="tx1"/>
                </a:solidFill>
                <a:latin typeface="+mj-ea"/>
                <a:ea typeface="+mj-ea"/>
              </a:rPr>
              <a:t>指向父结点的指针</a:t>
            </a:r>
          </a:p>
          <a:p>
            <a:pPr eaLnBrk="1" hangingPunct="1">
              <a:lnSpc>
                <a:spcPct val="150000"/>
              </a:lnSpc>
              <a:spcBef>
                <a:spcPct val="20000"/>
              </a:spcBef>
              <a:buClr>
                <a:schemeClr val="accent1"/>
              </a:buClr>
              <a:buSzPct val="65000"/>
              <a:buFont typeface="Wingdings" panose="05000000000000000000" pitchFamily="2" charset="2"/>
              <a:buNone/>
              <a:defRPr/>
            </a:pPr>
            <a:r>
              <a:rPr kumimoji="1" lang="zh-CN" altLang="en-US" sz="1800" dirty="0">
                <a:solidFill>
                  <a:schemeClr val="tx1"/>
                </a:solidFill>
                <a:latin typeface="+mj-ea"/>
                <a:ea typeface="+mj-ea"/>
              </a:rPr>
              <a:t>      </a:t>
            </a:r>
            <a:r>
              <a:rPr kumimoji="1" lang="en-US" altLang="zh-CN" sz="1800" dirty="0">
                <a:solidFill>
                  <a:schemeClr val="tx1"/>
                </a:solidFill>
                <a:latin typeface="+mj-ea"/>
                <a:ea typeface="+mj-ea"/>
              </a:rPr>
              <a:t>bool </a:t>
            </a:r>
            <a:r>
              <a:rPr kumimoji="1" lang="en-US" altLang="zh-CN" sz="1800" dirty="0" err="1">
                <a:solidFill>
                  <a:schemeClr val="tx1"/>
                </a:solidFill>
                <a:latin typeface="+mj-ea"/>
                <a:ea typeface="+mj-ea"/>
              </a:rPr>
              <a:t>LChild</a:t>
            </a:r>
            <a:r>
              <a:rPr kumimoji="1" lang="en-US" altLang="zh-CN" sz="1800" dirty="0">
                <a:solidFill>
                  <a:schemeClr val="tx1"/>
                </a:solidFill>
                <a:latin typeface="+mj-ea"/>
                <a:ea typeface="+mj-ea"/>
              </a:rPr>
              <a:t>;        // </a:t>
            </a:r>
            <a:r>
              <a:rPr kumimoji="1" lang="zh-CN" altLang="en-US" sz="1800" dirty="0">
                <a:solidFill>
                  <a:schemeClr val="tx1"/>
                </a:solidFill>
                <a:latin typeface="+mj-ea"/>
                <a:ea typeface="+mj-ea"/>
              </a:rPr>
              <a:t>左儿子标志</a:t>
            </a:r>
          </a:p>
          <a:p>
            <a:pPr eaLnBrk="1" hangingPunct="1">
              <a:lnSpc>
                <a:spcPct val="150000"/>
              </a:lnSpc>
              <a:spcBef>
                <a:spcPct val="20000"/>
              </a:spcBef>
              <a:buClr>
                <a:schemeClr val="accent1"/>
              </a:buClr>
              <a:buSzPct val="65000"/>
              <a:buFont typeface="Wingdings" panose="05000000000000000000" pitchFamily="2" charset="2"/>
              <a:buNone/>
              <a:defRPr/>
            </a:pPr>
            <a:r>
              <a:rPr kumimoji="1" lang="zh-CN" altLang="en-US" sz="1800" dirty="0">
                <a:solidFill>
                  <a:schemeClr val="tx1"/>
                </a:solidFill>
                <a:latin typeface="+mj-ea"/>
                <a:ea typeface="+mj-ea"/>
              </a:rPr>
              <a:t>      </a:t>
            </a:r>
            <a:r>
              <a:rPr kumimoji="1" lang="en-US" altLang="zh-CN" sz="1800" dirty="0">
                <a:solidFill>
                  <a:schemeClr val="tx1"/>
                </a:solidFill>
                <a:latin typeface="+mj-ea"/>
                <a:ea typeface="+mj-ea"/>
              </a:rPr>
              <a:t>Type weight;       // </a:t>
            </a:r>
            <a:r>
              <a:rPr kumimoji="1" lang="zh-CN" altLang="en-US" sz="1800" dirty="0">
                <a:solidFill>
                  <a:schemeClr val="tx1"/>
                </a:solidFill>
                <a:latin typeface="+mj-ea"/>
                <a:ea typeface="+mj-ea"/>
              </a:rPr>
              <a:t>结点所相应的载重量</a:t>
            </a:r>
            <a:endParaRPr kumimoji="1" lang="en-US" altLang="zh-CN" sz="1800" dirty="0">
              <a:solidFill>
                <a:schemeClr val="tx1"/>
              </a:solidFill>
              <a:latin typeface="+mj-ea"/>
              <a:ea typeface="+mj-ea"/>
            </a:endParaRPr>
          </a:p>
          <a:p>
            <a:pPr eaLnBrk="1" hangingPunct="1">
              <a:lnSpc>
                <a:spcPct val="150000"/>
              </a:lnSpc>
              <a:spcBef>
                <a:spcPct val="20000"/>
              </a:spcBef>
              <a:buClr>
                <a:schemeClr val="accent1"/>
              </a:buClr>
              <a:buSzPct val="65000"/>
              <a:buFont typeface="Wingdings" panose="05000000000000000000" pitchFamily="2" charset="2"/>
              <a:buNone/>
              <a:defRPr/>
            </a:pPr>
            <a:r>
              <a:rPr lang="en-US" altLang="zh-CN" sz="1800" dirty="0">
                <a:solidFill>
                  <a:schemeClr val="tx1"/>
                </a:solidFill>
                <a:latin typeface="+mj-ea"/>
                <a:ea typeface="+mj-ea"/>
              </a:rPr>
              <a:t>}</a:t>
            </a:r>
            <a:endParaRPr kumimoji="1" lang="zh-CN" altLang="en-US" sz="1800" dirty="0">
              <a:solidFill>
                <a:schemeClr val="tx1"/>
              </a:solidFill>
              <a:latin typeface="+mj-ea"/>
              <a:ea typeface="+mj-ea"/>
            </a:endParaRPr>
          </a:p>
        </p:txBody>
      </p:sp>
      <p:sp>
        <p:nvSpPr>
          <p:cNvPr id="8" name="Text Box 7">
            <a:extLst>
              <a:ext uri="{FF2B5EF4-FFF2-40B4-BE49-F238E27FC236}">
                <a16:creationId xmlns:a16="http://schemas.microsoft.com/office/drawing/2014/main" id="{3CF0E772-E64D-4777-84BB-6E055EA22279}"/>
              </a:ext>
            </a:extLst>
          </p:cNvPr>
          <p:cNvSpPr txBox="1">
            <a:spLocks noChangeArrowheads="1"/>
          </p:cNvSpPr>
          <p:nvPr/>
        </p:nvSpPr>
        <p:spPr bwMode="auto">
          <a:xfrm>
            <a:off x="5981700" y="3498850"/>
            <a:ext cx="632460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lnSpc>
                <a:spcPct val="150000"/>
              </a:lnSpc>
              <a:spcBef>
                <a:spcPct val="50000"/>
              </a:spcBef>
              <a:buClr>
                <a:schemeClr val="accent1"/>
              </a:buClr>
              <a:buSzPct val="65000"/>
              <a:buFont typeface="Wingdings" panose="05000000000000000000" pitchFamily="2" charset="2"/>
              <a:buNone/>
              <a:defRPr/>
            </a:pPr>
            <a:r>
              <a:rPr kumimoji="1" lang="en-US" altLang="zh-CN" sz="1800" dirty="0" err="1">
                <a:solidFill>
                  <a:schemeClr val="tx1"/>
                </a:solidFill>
                <a:latin typeface="+mj-ea"/>
                <a:ea typeface="+mj-ea"/>
              </a:rPr>
              <a:t>QNode</a:t>
            </a:r>
            <a:r>
              <a:rPr kumimoji="1" lang="en-US" altLang="zh-CN" sz="1800" dirty="0">
                <a:solidFill>
                  <a:schemeClr val="tx1"/>
                </a:solidFill>
                <a:latin typeface="+mj-ea"/>
                <a:ea typeface="+mj-ea"/>
              </a:rPr>
              <a:t>&lt;Type&gt; *b</a:t>
            </a:r>
          </a:p>
          <a:p>
            <a:pPr algn="just" eaLnBrk="1" hangingPunct="1">
              <a:lnSpc>
                <a:spcPct val="150000"/>
              </a:lnSpc>
              <a:spcBef>
                <a:spcPct val="5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b= new </a:t>
            </a:r>
            <a:r>
              <a:rPr kumimoji="1" lang="en-US" altLang="zh-CN" sz="1800" dirty="0" err="1">
                <a:solidFill>
                  <a:schemeClr val="tx1"/>
                </a:solidFill>
                <a:latin typeface="+mj-ea"/>
              </a:rPr>
              <a:t>QNode</a:t>
            </a:r>
            <a:r>
              <a:rPr kumimoji="1" lang="en-US" altLang="zh-CN" sz="1800" dirty="0">
                <a:solidFill>
                  <a:schemeClr val="tx1"/>
                </a:solidFill>
                <a:latin typeface="+mj-ea"/>
              </a:rPr>
              <a:t>&lt;Type&gt;</a:t>
            </a:r>
          </a:p>
          <a:p>
            <a:pPr algn="just" eaLnBrk="1" hangingPunct="1">
              <a:lnSpc>
                <a:spcPct val="150000"/>
              </a:lnSpc>
              <a:spcBef>
                <a:spcPct val="5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b-&gt;weight = </a:t>
            </a:r>
            <a:r>
              <a:rPr kumimoji="1" lang="en-US" altLang="zh-CN" sz="1800" dirty="0" err="1">
                <a:solidFill>
                  <a:schemeClr val="tx1"/>
                </a:solidFill>
                <a:latin typeface="+mj-ea"/>
                <a:ea typeface="+mj-ea"/>
              </a:rPr>
              <a:t>wt</a:t>
            </a:r>
            <a:r>
              <a:rPr kumimoji="1" lang="en-US" altLang="zh-CN" sz="1800" dirty="0">
                <a:solidFill>
                  <a:schemeClr val="tx1"/>
                </a:solidFill>
                <a:latin typeface="+mj-ea"/>
                <a:ea typeface="+mj-ea"/>
              </a:rPr>
              <a:t>;</a:t>
            </a:r>
          </a:p>
          <a:p>
            <a:pPr algn="just" eaLnBrk="1" hangingPunct="1">
              <a:lnSpc>
                <a:spcPct val="150000"/>
              </a:lnSpc>
              <a:spcBef>
                <a:spcPct val="5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b-&gt;parent = E;</a:t>
            </a:r>
          </a:p>
          <a:p>
            <a:pPr algn="just" eaLnBrk="1" hangingPunct="1">
              <a:lnSpc>
                <a:spcPct val="150000"/>
              </a:lnSpc>
              <a:spcBef>
                <a:spcPct val="50000"/>
              </a:spcBef>
              <a:buClr>
                <a:schemeClr val="accent1"/>
              </a:buClr>
              <a:buSzPct val="65000"/>
              <a:buFont typeface="Wingdings" panose="05000000000000000000" pitchFamily="2" charset="2"/>
              <a:buNone/>
              <a:defRPr/>
            </a:pPr>
            <a:r>
              <a:rPr kumimoji="1" lang="en-US" altLang="zh-CN" sz="1800" dirty="0">
                <a:solidFill>
                  <a:schemeClr val="tx1"/>
                </a:solidFill>
                <a:latin typeface="+mj-ea"/>
                <a:ea typeface="+mj-ea"/>
              </a:rPr>
              <a:t>b-&gt;</a:t>
            </a:r>
            <a:r>
              <a:rPr kumimoji="1" lang="en-US" altLang="zh-CN" sz="1800" dirty="0" err="1">
                <a:solidFill>
                  <a:schemeClr val="tx1"/>
                </a:solidFill>
                <a:latin typeface="+mj-ea"/>
                <a:ea typeface="+mj-ea"/>
              </a:rPr>
              <a:t>Lchild</a:t>
            </a:r>
            <a:r>
              <a:rPr kumimoji="1" lang="en-US" altLang="zh-CN" sz="1800" dirty="0">
                <a:solidFill>
                  <a:schemeClr val="tx1"/>
                </a:solidFill>
                <a:latin typeface="+mj-ea"/>
                <a:ea typeface="+mj-ea"/>
              </a:rPr>
              <a:t> =</a:t>
            </a:r>
            <a:r>
              <a:rPr kumimoji="1" lang="en-US" altLang="zh-CN" sz="1800" dirty="0" err="1">
                <a:solidFill>
                  <a:schemeClr val="tx1"/>
                </a:solidFill>
                <a:latin typeface="+mj-ea"/>
                <a:ea typeface="+mj-ea"/>
              </a:rPr>
              <a:t>ch</a:t>
            </a:r>
            <a:r>
              <a:rPr kumimoji="1" lang="en-US" altLang="zh-CN" sz="1800" dirty="0">
                <a:solidFill>
                  <a:schemeClr val="tx1"/>
                </a:solidFill>
                <a:latin typeface="+mj-ea"/>
                <a:ea typeface="+mj-ea"/>
              </a:rPr>
              <a:t>;</a:t>
            </a:r>
            <a:endParaRPr kumimoji="1" lang="zh-CN" altLang="en-US" sz="1800" dirty="0">
              <a:solidFill>
                <a:schemeClr val="tx1"/>
              </a:solidFill>
              <a:latin typeface="+mj-ea"/>
              <a:ea typeface="+mj-ea"/>
            </a:endParaRPr>
          </a:p>
        </p:txBody>
      </p:sp>
      <p:sp>
        <p:nvSpPr>
          <p:cNvPr id="36873" name="矩形 1">
            <a:extLst>
              <a:ext uri="{FF2B5EF4-FFF2-40B4-BE49-F238E27FC236}">
                <a16:creationId xmlns:a16="http://schemas.microsoft.com/office/drawing/2014/main" id="{5C5E97C2-4090-9904-6489-A87E8992C273}"/>
              </a:ext>
            </a:extLst>
          </p:cNvPr>
          <p:cNvSpPr>
            <a:spLocks noChangeArrowheads="1"/>
          </p:cNvSpPr>
          <p:nvPr/>
        </p:nvSpPr>
        <p:spPr bwMode="auto">
          <a:xfrm>
            <a:off x="4902200" y="758825"/>
            <a:ext cx="36480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a:solidFill>
                  <a:schemeClr val="tx1"/>
                </a:solidFill>
                <a:latin typeface="微软雅黑" panose="020B0503020204020204" pitchFamily="34" charset="-122"/>
                <a:ea typeface="微软雅黑" panose="020B0503020204020204" pitchFamily="34" charset="-122"/>
              </a:rPr>
              <a:t>为什么回溯不需要？</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92871"/>
                                        </p:tgtEl>
                                        <p:attrNameLst>
                                          <p:attrName>style.visibility</p:attrName>
                                        </p:attrNameLst>
                                      </p:cBhvr>
                                      <p:to>
                                        <p:strVal val="visible"/>
                                      </p:to>
                                    </p:set>
                                    <p:animEffect transition="in" filter="randombar(horizontal)">
                                      <p:cBhvr>
                                        <p:cTn id="7" dur="500"/>
                                        <p:tgtEl>
                                          <p:spTgt spid="2928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71" grpId="0" autoUpdateAnimBg="0"/>
      <p:bldP spid="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8F4596A-405B-412A-B71C-9DB96013877E}"/>
              </a:ext>
            </a:extLst>
          </p:cNvPr>
          <p:cNvSpPr>
            <a:spLocks noGrp="1" noChangeArrowheads="1"/>
          </p:cNvSpPr>
          <p:nvPr>
            <p:ph type="title"/>
          </p:nvPr>
        </p:nvSpPr>
        <p:spPr/>
        <p:txBody>
          <a:bodyPr/>
          <a:lstStyle/>
          <a:p>
            <a:pPr>
              <a:defRPr/>
            </a:pPr>
            <a:r>
              <a:rPr lang="zh-CN" altLang="en-US">
                <a:latin typeface="+mj-ea"/>
              </a:rPr>
              <a:t>6.3 装载问题</a:t>
            </a:r>
          </a:p>
        </p:txBody>
      </p:sp>
      <p:sp>
        <p:nvSpPr>
          <p:cNvPr id="30723" name="灯片编号占位符 5">
            <a:extLst>
              <a:ext uri="{FF2B5EF4-FFF2-40B4-BE49-F238E27FC236}">
                <a16:creationId xmlns:a16="http://schemas.microsoft.com/office/drawing/2014/main" id="{11C22A67-3CDA-46A0-9C97-587D554B0CD4}"/>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1ACB33E2-2407-4BDE-9D40-DD327AE93276}" type="slidenum">
              <a:rPr lang="zh-CN" altLang="en-US" sz="1200">
                <a:solidFill>
                  <a:schemeClr val="tx1"/>
                </a:solidFill>
                <a:latin typeface="微软雅黑" panose="020B0503020204020204" pitchFamily="34" charset="-122"/>
                <a:ea typeface="微软雅黑" panose="020B0503020204020204" pitchFamily="34" charset="-122"/>
              </a:rPr>
              <a:pPr/>
              <a:t>23</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0724" name="Text Box 4">
            <a:extLst>
              <a:ext uri="{FF2B5EF4-FFF2-40B4-BE49-F238E27FC236}">
                <a16:creationId xmlns:a16="http://schemas.microsoft.com/office/drawing/2014/main" id="{2B2DD748-FF79-4D5F-87F8-CFE7A5F04ED5}"/>
              </a:ext>
            </a:extLst>
          </p:cNvPr>
          <p:cNvSpPr txBox="1">
            <a:spLocks noChangeArrowheads="1"/>
          </p:cNvSpPr>
          <p:nvPr/>
        </p:nvSpPr>
        <p:spPr bwMode="auto">
          <a:xfrm>
            <a:off x="571500" y="2000250"/>
            <a:ext cx="81724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lang="zh-CN" altLang="en-US" sz="2800">
                <a:solidFill>
                  <a:schemeClr val="tx1"/>
                </a:solidFill>
                <a:latin typeface="+mj-ea"/>
                <a:ea typeface="+mj-ea"/>
              </a:rPr>
              <a:t>找到最优值后，可以根据</a:t>
            </a:r>
            <a:r>
              <a:rPr lang="en-US" altLang="zh-CN" sz="2800">
                <a:solidFill>
                  <a:schemeClr val="tx1"/>
                </a:solidFill>
                <a:latin typeface="+mj-ea"/>
                <a:ea typeface="+mj-ea"/>
              </a:rPr>
              <a:t>parent</a:t>
            </a:r>
            <a:r>
              <a:rPr lang="zh-CN" altLang="en-US" sz="2800">
                <a:solidFill>
                  <a:schemeClr val="tx1"/>
                </a:solidFill>
                <a:latin typeface="+mj-ea"/>
                <a:ea typeface="+mj-ea"/>
              </a:rPr>
              <a:t>回溯到根节点，找到最优解。</a:t>
            </a:r>
          </a:p>
        </p:txBody>
      </p:sp>
      <p:sp>
        <p:nvSpPr>
          <p:cNvPr id="30725" name="Text Box 5">
            <a:extLst>
              <a:ext uri="{FF2B5EF4-FFF2-40B4-BE49-F238E27FC236}">
                <a16:creationId xmlns:a16="http://schemas.microsoft.com/office/drawing/2014/main" id="{7B1F5F34-9267-450A-97A3-6CB52C1060E6}"/>
              </a:ext>
            </a:extLst>
          </p:cNvPr>
          <p:cNvSpPr txBox="1">
            <a:spLocks noChangeArrowheads="1"/>
          </p:cNvSpPr>
          <p:nvPr/>
        </p:nvSpPr>
        <p:spPr bwMode="auto">
          <a:xfrm>
            <a:off x="357188" y="1214438"/>
            <a:ext cx="6705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4. </a:t>
            </a:r>
            <a:r>
              <a:rPr lang="zh-CN" altLang="en-US" sz="3200">
                <a:solidFill>
                  <a:schemeClr val="accent2"/>
                </a:solidFill>
                <a:latin typeface="+mj-ea"/>
                <a:ea typeface="+mj-ea"/>
              </a:rPr>
              <a:t>构造最优解</a:t>
            </a:r>
            <a:endParaRPr lang="zh-CN" altLang="en-US">
              <a:solidFill>
                <a:schemeClr val="accent2"/>
              </a:solidFill>
              <a:latin typeface="+mj-ea"/>
              <a:ea typeface="+mj-ea"/>
            </a:endParaRPr>
          </a:p>
        </p:txBody>
      </p:sp>
      <p:sp>
        <p:nvSpPr>
          <p:cNvPr id="319494" name="Text Box 6">
            <a:extLst>
              <a:ext uri="{FF2B5EF4-FFF2-40B4-BE49-F238E27FC236}">
                <a16:creationId xmlns:a16="http://schemas.microsoft.com/office/drawing/2014/main" id="{CC0A803F-092D-4B1A-A0AD-9B2E8642F3AF}"/>
              </a:ext>
            </a:extLst>
          </p:cNvPr>
          <p:cNvSpPr txBox="1">
            <a:spLocks noChangeArrowheads="1"/>
          </p:cNvSpPr>
          <p:nvPr/>
        </p:nvSpPr>
        <p:spPr bwMode="auto">
          <a:xfrm>
            <a:off x="684213" y="3284538"/>
            <a:ext cx="716280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lnSpc>
                <a:spcPct val="125000"/>
              </a:lnSpc>
              <a:spcBef>
                <a:spcPct val="50000"/>
              </a:spcBef>
              <a:buClr>
                <a:schemeClr val="accent1"/>
              </a:buClr>
              <a:buSzPct val="65000"/>
              <a:buFont typeface="Wingdings" panose="05000000000000000000" pitchFamily="2" charset="2"/>
              <a:buNone/>
              <a:defRPr/>
            </a:pPr>
            <a:r>
              <a:rPr lang="zh-CN" altLang="en-US" sz="2200" dirty="0">
                <a:solidFill>
                  <a:schemeClr val="tx1"/>
                </a:solidFill>
                <a:latin typeface="+mj-ea"/>
                <a:ea typeface="+mj-ea"/>
              </a:rPr>
              <a:t>// 构造当前最优解</a:t>
            </a:r>
          </a:p>
          <a:p>
            <a:pPr eaLnBrk="1" hangingPunct="1">
              <a:lnSpc>
                <a:spcPct val="125000"/>
              </a:lnSpc>
              <a:spcBef>
                <a:spcPct val="20000"/>
              </a:spcBef>
              <a:buClr>
                <a:schemeClr val="accent1"/>
              </a:buClr>
              <a:buSzPct val="65000"/>
              <a:buFont typeface="Wingdings" panose="05000000000000000000" pitchFamily="2" charset="2"/>
              <a:buNone/>
              <a:defRPr/>
            </a:pPr>
            <a:r>
              <a:rPr kumimoji="1" lang="en-US" altLang="zh-CN" sz="2200" dirty="0">
                <a:solidFill>
                  <a:schemeClr val="tx1"/>
                </a:solidFill>
                <a:latin typeface="+mj-ea"/>
                <a:ea typeface="+mj-ea"/>
              </a:rPr>
              <a:t>for (</a:t>
            </a:r>
            <a:r>
              <a:rPr kumimoji="1" lang="en-US" altLang="zh-CN" sz="2200" dirty="0" err="1">
                <a:solidFill>
                  <a:schemeClr val="tx1"/>
                </a:solidFill>
                <a:latin typeface="+mj-ea"/>
                <a:ea typeface="+mj-ea"/>
              </a:rPr>
              <a:t>int</a:t>
            </a:r>
            <a:r>
              <a:rPr kumimoji="1" lang="en-US" altLang="zh-CN" sz="2200" dirty="0">
                <a:solidFill>
                  <a:schemeClr val="tx1"/>
                </a:solidFill>
                <a:latin typeface="+mj-ea"/>
                <a:ea typeface="+mj-ea"/>
              </a:rPr>
              <a:t> j = n - 1; j &gt; 0; j--) {</a:t>
            </a:r>
          </a:p>
          <a:p>
            <a:pPr eaLnBrk="1" hangingPunct="1">
              <a:lnSpc>
                <a:spcPct val="125000"/>
              </a:lnSpc>
              <a:spcBef>
                <a:spcPct val="20000"/>
              </a:spcBef>
              <a:buClr>
                <a:schemeClr val="accent1"/>
              </a:buClr>
              <a:buSzPct val="65000"/>
              <a:buFont typeface="Wingdings" panose="05000000000000000000" pitchFamily="2" charset="2"/>
              <a:buNone/>
              <a:defRPr/>
            </a:pPr>
            <a:r>
              <a:rPr kumimoji="1" lang="en-US" altLang="zh-CN" sz="2200" dirty="0">
                <a:solidFill>
                  <a:schemeClr val="tx1"/>
                </a:solidFill>
                <a:latin typeface="+mj-ea"/>
                <a:ea typeface="+mj-ea"/>
              </a:rPr>
              <a:t>      </a:t>
            </a:r>
            <a:r>
              <a:rPr kumimoji="1" lang="en-US" altLang="zh-CN" sz="2200" dirty="0" err="1">
                <a:solidFill>
                  <a:schemeClr val="tx1"/>
                </a:solidFill>
                <a:latin typeface="+mj-ea"/>
                <a:ea typeface="+mj-ea"/>
              </a:rPr>
              <a:t>bestx</a:t>
            </a:r>
            <a:r>
              <a:rPr kumimoji="1" lang="en-US" altLang="zh-CN" sz="2200" dirty="0">
                <a:solidFill>
                  <a:schemeClr val="tx1"/>
                </a:solidFill>
                <a:latin typeface="+mj-ea"/>
                <a:ea typeface="+mj-ea"/>
              </a:rPr>
              <a:t>[j] = </a:t>
            </a:r>
            <a:r>
              <a:rPr kumimoji="1" lang="en-US" altLang="zh-CN" sz="2200" dirty="0" err="1">
                <a:solidFill>
                  <a:schemeClr val="tx1"/>
                </a:solidFill>
                <a:latin typeface="+mj-ea"/>
                <a:ea typeface="+mj-ea"/>
              </a:rPr>
              <a:t>bestE</a:t>
            </a:r>
            <a:r>
              <a:rPr kumimoji="1" lang="en-US" altLang="zh-CN" sz="2200" dirty="0">
                <a:solidFill>
                  <a:schemeClr val="tx1"/>
                </a:solidFill>
                <a:latin typeface="+mj-ea"/>
                <a:ea typeface="+mj-ea"/>
              </a:rPr>
              <a:t>-&gt;</a:t>
            </a:r>
            <a:r>
              <a:rPr kumimoji="1" lang="en-US" altLang="zh-CN" sz="2200" dirty="0" err="1">
                <a:solidFill>
                  <a:schemeClr val="tx1"/>
                </a:solidFill>
                <a:latin typeface="+mj-ea"/>
                <a:ea typeface="+mj-ea"/>
              </a:rPr>
              <a:t>LChild</a:t>
            </a:r>
            <a:r>
              <a:rPr kumimoji="1" lang="en-US" altLang="zh-CN" sz="2200" dirty="0">
                <a:solidFill>
                  <a:schemeClr val="tx1"/>
                </a:solidFill>
                <a:latin typeface="+mj-ea"/>
                <a:ea typeface="+mj-ea"/>
              </a:rPr>
              <a:t>; </a:t>
            </a:r>
          </a:p>
          <a:p>
            <a:pPr eaLnBrk="1" hangingPunct="1">
              <a:lnSpc>
                <a:spcPct val="125000"/>
              </a:lnSpc>
              <a:spcBef>
                <a:spcPct val="20000"/>
              </a:spcBef>
              <a:buClr>
                <a:schemeClr val="accent1"/>
              </a:buClr>
              <a:buSzPct val="65000"/>
              <a:buFont typeface="Wingdings" panose="05000000000000000000" pitchFamily="2" charset="2"/>
              <a:buNone/>
              <a:defRPr/>
            </a:pPr>
            <a:r>
              <a:rPr kumimoji="1" lang="en-US" altLang="zh-CN" sz="2200" dirty="0">
                <a:solidFill>
                  <a:schemeClr val="tx1"/>
                </a:solidFill>
                <a:latin typeface="+mj-ea"/>
                <a:ea typeface="+mj-ea"/>
              </a:rPr>
              <a:t>      </a:t>
            </a:r>
            <a:r>
              <a:rPr kumimoji="1" lang="en-US" altLang="zh-CN" sz="2200" dirty="0" err="1">
                <a:solidFill>
                  <a:schemeClr val="tx1"/>
                </a:solidFill>
                <a:latin typeface="+mj-ea"/>
                <a:ea typeface="+mj-ea"/>
              </a:rPr>
              <a:t>bestE</a:t>
            </a:r>
            <a:r>
              <a:rPr kumimoji="1" lang="en-US" altLang="zh-CN" sz="2200" dirty="0">
                <a:solidFill>
                  <a:schemeClr val="tx1"/>
                </a:solidFill>
                <a:latin typeface="+mj-ea"/>
                <a:ea typeface="+mj-ea"/>
              </a:rPr>
              <a:t> = </a:t>
            </a:r>
            <a:r>
              <a:rPr kumimoji="1" lang="en-US" altLang="zh-CN" sz="2200" dirty="0" err="1">
                <a:solidFill>
                  <a:schemeClr val="tx1"/>
                </a:solidFill>
                <a:latin typeface="+mj-ea"/>
                <a:ea typeface="+mj-ea"/>
              </a:rPr>
              <a:t>bestE</a:t>
            </a:r>
            <a:r>
              <a:rPr kumimoji="1" lang="en-US" altLang="zh-CN" sz="2200" dirty="0">
                <a:solidFill>
                  <a:schemeClr val="tx1"/>
                </a:solidFill>
                <a:latin typeface="+mj-ea"/>
                <a:ea typeface="+mj-ea"/>
              </a:rPr>
              <a:t>-&gt;parent; </a:t>
            </a:r>
          </a:p>
          <a:p>
            <a:pPr eaLnBrk="1" hangingPunct="1">
              <a:lnSpc>
                <a:spcPct val="125000"/>
              </a:lnSpc>
              <a:spcBef>
                <a:spcPct val="20000"/>
              </a:spcBef>
              <a:buClr>
                <a:schemeClr val="accent1"/>
              </a:buClr>
              <a:buSzPct val="65000"/>
              <a:buFont typeface="Wingdings" panose="05000000000000000000" pitchFamily="2" charset="2"/>
              <a:buNone/>
              <a:defRPr/>
            </a:pPr>
            <a:r>
              <a:rPr kumimoji="1" lang="en-US" altLang="zh-CN" sz="2200" dirty="0">
                <a:solidFill>
                  <a:schemeClr val="tx1"/>
                </a:solidFill>
                <a:latin typeface="+mj-ea"/>
                <a:ea typeface="+mj-ea"/>
              </a:rPr>
              <a:t>}</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9494"/>
                                        </p:tgtEl>
                                        <p:attrNameLst>
                                          <p:attrName>style.visibility</p:attrName>
                                        </p:attrNameLst>
                                      </p:cBhvr>
                                      <p:to>
                                        <p:strVal val="visible"/>
                                      </p:to>
                                    </p:set>
                                    <p:anim calcmode="lin" valueType="num">
                                      <p:cBhvr additive="base">
                                        <p:cTn id="7" dur="500" fill="hold"/>
                                        <p:tgtEl>
                                          <p:spTgt spid="319494"/>
                                        </p:tgtEl>
                                        <p:attrNameLst>
                                          <p:attrName>ppt_x</p:attrName>
                                        </p:attrNameLst>
                                      </p:cBhvr>
                                      <p:tavLst>
                                        <p:tav tm="0">
                                          <p:val>
                                            <p:strVal val="#ppt_x"/>
                                          </p:val>
                                        </p:tav>
                                        <p:tav tm="100000">
                                          <p:val>
                                            <p:strVal val="#ppt_x"/>
                                          </p:val>
                                        </p:tav>
                                      </p:tavLst>
                                    </p:anim>
                                    <p:anim calcmode="lin" valueType="num">
                                      <p:cBhvr additive="base">
                                        <p:cTn id="8" dur="500" fill="hold"/>
                                        <p:tgtEl>
                                          <p:spTgt spid="3194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B8DF7F1-4FFA-427D-822A-58F0926C4E91}"/>
              </a:ext>
            </a:extLst>
          </p:cNvPr>
          <p:cNvSpPr>
            <a:spLocks noGrp="1" noChangeArrowheads="1"/>
          </p:cNvSpPr>
          <p:nvPr>
            <p:ph type="title"/>
          </p:nvPr>
        </p:nvSpPr>
        <p:spPr>
          <a:xfrm>
            <a:off x="457200" y="277813"/>
            <a:ext cx="8229600" cy="793750"/>
          </a:xfrm>
        </p:spPr>
        <p:txBody>
          <a:bodyPr/>
          <a:lstStyle/>
          <a:p>
            <a:pPr>
              <a:defRPr/>
            </a:pPr>
            <a:r>
              <a:rPr lang="zh-CN" altLang="en-US">
                <a:latin typeface="+mj-ea"/>
              </a:rPr>
              <a:t>6.3 装载问题</a:t>
            </a:r>
          </a:p>
        </p:txBody>
      </p:sp>
      <p:sp>
        <p:nvSpPr>
          <p:cNvPr id="32771" name="灯片编号占位符 5">
            <a:extLst>
              <a:ext uri="{FF2B5EF4-FFF2-40B4-BE49-F238E27FC236}">
                <a16:creationId xmlns:a16="http://schemas.microsoft.com/office/drawing/2014/main" id="{AE3EDCF3-53E2-441C-B280-81CE99F2C099}"/>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00535FE-8557-4B46-BDA9-FABDE6EB66E5}" type="slidenum">
              <a:rPr lang="zh-CN" altLang="en-US" sz="1200">
                <a:solidFill>
                  <a:schemeClr val="tx1"/>
                </a:solidFill>
                <a:latin typeface="微软雅黑" panose="020B0503020204020204" pitchFamily="34" charset="-122"/>
                <a:ea typeface="微软雅黑" panose="020B0503020204020204" pitchFamily="34" charset="-122"/>
              </a:rPr>
              <a:pPr/>
              <a:t>24</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293892" name="Text Box 4">
            <a:extLst>
              <a:ext uri="{FF2B5EF4-FFF2-40B4-BE49-F238E27FC236}">
                <a16:creationId xmlns:a16="http://schemas.microsoft.com/office/drawing/2014/main" id="{77079C63-2820-41AB-823A-313B85082D47}"/>
              </a:ext>
            </a:extLst>
          </p:cNvPr>
          <p:cNvSpPr txBox="1">
            <a:spLocks noChangeArrowheads="1"/>
          </p:cNvSpPr>
          <p:nvPr/>
        </p:nvSpPr>
        <p:spPr bwMode="auto">
          <a:xfrm>
            <a:off x="285750" y="1071563"/>
            <a:ext cx="7467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5. </a:t>
            </a:r>
            <a:r>
              <a:rPr lang="zh-CN" altLang="en-US" sz="3200" u="sng">
                <a:solidFill>
                  <a:schemeClr val="accent2"/>
                </a:solidFill>
                <a:latin typeface="+mj-ea"/>
                <a:ea typeface="+mj-ea"/>
              </a:rPr>
              <a:t>优先</a:t>
            </a:r>
            <a:r>
              <a:rPr lang="zh-CN" altLang="en-US" sz="3200">
                <a:solidFill>
                  <a:schemeClr val="accent2"/>
                </a:solidFill>
                <a:latin typeface="+mj-ea"/>
                <a:ea typeface="+mj-ea"/>
              </a:rPr>
              <a:t>队列式分支限界法</a:t>
            </a:r>
            <a:endParaRPr lang="zh-CN" altLang="en-US">
              <a:solidFill>
                <a:schemeClr val="accent2"/>
              </a:solidFill>
              <a:latin typeface="+mj-ea"/>
              <a:ea typeface="+mj-ea"/>
            </a:endParaRPr>
          </a:p>
        </p:txBody>
      </p:sp>
      <p:sp>
        <p:nvSpPr>
          <p:cNvPr id="293893" name="Text Box 5">
            <a:extLst>
              <a:ext uri="{FF2B5EF4-FFF2-40B4-BE49-F238E27FC236}">
                <a16:creationId xmlns:a16="http://schemas.microsoft.com/office/drawing/2014/main" id="{5BB651BD-DC6B-4193-BE56-5E79157A5D9C}"/>
              </a:ext>
            </a:extLst>
          </p:cNvPr>
          <p:cNvSpPr txBox="1">
            <a:spLocks noChangeArrowheads="1"/>
          </p:cNvSpPr>
          <p:nvPr/>
        </p:nvSpPr>
        <p:spPr bwMode="auto">
          <a:xfrm>
            <a:off x="319088" y="1808163"/>
            <a:ext cx="85725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50000"/>
              </a:spcBef>
              <a:buClr>
                <a:schemeClr val="accent1"/>
              </a:buClr>
              <a:buSzPct val="65000"/>
              <a:buFont typeface="Wingdings" panose="05000000000000000000" pitchFamily="2" charset="2"/>
              <a:buChar char="n"/>
              <a:defRPr/>
            </a:pPr>
            <a:r>
              <a:rPr lang="zh-CN" altLang="en-US" sz="2500">
                <a:solidFill>
                  <a:schemeClr val="tx1"/>
                </a:solidFill>
                <a:latin typeface="+mj-ea"/>
                <a:ea typeface="+mj-ea"/>
              </a:rPr>
              <a:t>解装载问题的优先队列式分支限界法用</a:t>
            </a:r>
            <a:r>
              <a:rPr lang="zh-CN" altLang="en-US" sz="2500" u="sng">
                <a:solidFill>
                  <a:schemeClr val="tx1"/>
                </a:solidFill>
                <a:latin typeface="+mj-ea"/>
                <a:ea typeface="+mj-ea"/>
              </a:rPr>
              <a:t>最大优先队列</a:t>
            </a:r>
            <a:r>
              <a:rPr lang="zh-CN" altLang="en-US" sz="2500">
                <a:solidFill>
                  <a:schemeClr val="tx1"/>
                </a:solidFill>
                <a:latin typeface="+mj-ea"/>
                <a:ea typeface="+mj-ea"/>
              </a:rPr>
              <a:t>存储活结点表。活结点</a:t>
            </a:r>
            <a:r>
              <a:rPr lang="en-US" altLang="zh-CN" sz="2500">
                <a:solidFill>
                  <a:schemeClr val="tx1"/>
                </a:solidFill>
                <a:latin typeface="+mj-ea"/>
                <a:ea typeface="+mj-ea"/>
              </a:rPr>
              <a:t>x</a:t>
            </a:r>
            <a:r>
              <a:rPr lang="zh-CN" altLang="en-US" sz="2500">
                <a:solidFill>
                  <a:schemeClr val="tx1"/>
                </a:solidFill>
                <a:latin typeface="+mj-ea"/>
                <a:ea typeface="+mj-ea"/>
              </a:rPr>
              <a:t>在优先队列中的优先级定义为</a:t>
            </a:r>
            <a:r>
              <a:rPr lang="zh-CN" altLang="en-US" sz="2500">
                <a:solidFill>
                  <a:srgbClr val="FF0000"/>
                </a:solidFill>
                <a:latin typeface="+mj-ea"/>
                <a:ea typeface="+mj-ea"/>
              </a:rPr>
              <a:t>载重上界，即从根结点到结点</a:t>
            </a:r>
            <a:r>
              <a:rPr lang="en-US" altLang="zh-CN" sz="2500">
                <a:solidFill>
                  <a:srgbClr val="FF0000"/>
                </a:solidFill>
                <a:latin typeface="+mj-ea"/>
                <a:ea typeface="+mj-ea"/>
              </a:rPr>
              <a:t>x</a:t>
            </a:r>
            <a:r>
              <a:rPr lang="zh-CN" altLang="en-US" sz="2500">
                <a:solidFill>
                  <a:srgbClr val="FF0000"/>
                </a:solidFill>
                <a:latin typeface="+mj-ea"/>
                <a:ea typeface="+mj-ea"/>
              </a:rPr>
              <a:t>的路径所相应的载重量再加上剩余集装箱的重量之和。</a:t>
            </a:r>
          </a:p>
          <a:p>
            <a:pPr eaLnBrk="1" hangingPunct="1">
              <a:lnSpc>
                <a:spcPct val="150000"/>
              </a:lnSpc>
              <a:spcBef>
                <a:spcPct val="50000"/>
              </a:spcBef>
              <a:buClr>
                <a:schemeClr val="accent1"/>
              </a:buClr>
              <a:buSzPct val="65000"/>
              <a:buFont typeface="Wingdings" panose="05000000000000000000" pitchFamily="2" charset="2"/>
              <a:buChar char="n"/>
              <a:defRPr/>
            </a:pPr>
            <a:r>
              <a:rPr lang="zh-CN" altLang="en-US" sz="2500">
                <a:solidFill>
                  <a:schemeClr val="tx1"/>
                </a:solidFill>
                <a:latin typeface="+mj-ea"/>
                <a:ea typeface="+mj-ea"/>
              </a:rPr>
              <a:t>优先队列中优先级最大的活结点成为下一个扩展结点。以结点</a:t>
            </a:r>
            <a:r>
              <a:rPr lang="en-US" altLang="zh-CN" sz="2500">
                <a:solidFill>
                  <a:schemeClr val="tx1"/>
                </a:solidFill>
                <a:latin typeface="+mj-ea"/>
                <a:ea typeface="+mj-ea"/>
              </a:rPr>
              <a:t>x</a:t>
            </a:r>
            <a:r>
              <a:rPr lang="zh-CN" altLang="en-US" sz="2500">
                <a:solidFill>
                  <a:schemeClr val="tx1"/>
                </a:solidFill>
                <a:latin typeface="+mj-ea"/>
                <a:ea typeface="+mj-ea"/>
              </a:rPr>
              <a:t>为根的子树中所有结点相应的路径的载重量不超过它的优先级。子集树中叶结点所相应的载重量与其优先级相同。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93892"/>
                                        </p:tgtEl>
                                        <p:attrNameLst>
                                          <p:attrName>style.visibility</p:attrName>
                                        </p:attrNameLst>
                                      </p:cBhvr>
                                      <p:to>
                                        <p:strVal val="visible"/>
                                      </p:to>
                                    </p:set>
                                    <p:anim calcmode="lin" valueType="num">
                                      <p:cBhvr additive="base">
                                        <p:cTn id="7" dur="500" fill="hold"/>
                                        <p:tgtEl>
                                          <p:spTgt spid="293892"/>
                                        </p:tgtEl>
                                        <p:attrNameLst>
                                          <p:attrName>ppt_x</p:attrName>
                                        </p:attrNameLst>
                                      </p:cBhvr>
                                      <p:tavLst>
                                        <p:tav tm="0">
                                          <p:val>
                                            <p:strVal val="1+#ppt_w/2"/>
                                          </p:val>
                                        </p:tav>
                                        <p:tav tm="100000">
                                          <p:val>
                                            <p:strVal val="#ppt_x"/>
                                          </p:val>
                                        </p:tav>
                                      </p:tavLst>
                                    </p:anim>
                                    <p:anim calcmode="lin" valueType="num">
                                      <p:cBhvr additive="base">
                                        <p:cTn id="8" dur="500" fill="hold"/>
                                        <p:tgtEl>
                                          <p:spTgt spid="2938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93893"/>
                                        </p:tgtEl>
                                        <p:attrNameLst>
                                          <p:attrName>style.visibility</p:attrName>
                                        </p:attrNameLst>
                                      </p:cBhvr>
                                      <p:to>
                                        <p:strVal val="visible"/>
                                      </p:to>
                                    </p:set>
                                    <p:anim calcmode="lin" valueType="num">
                                      <p:cBhvr>
                                        <p:cTn id="13" dur="500" fill="hold"/>
                                        <p:tgtEl>
                                          <p:spTgt spid="293893"/>
                                        </p:tgtEl>
                                        <p:attrNameLst>
                                          <p:attrName>ppt_w</p:attrName>
                                        </p:attrNameLst>
                                      </p:cBhvr>
                                      <p:tavLst>
                                        <p:tav tm="0">
                                          <p:val>
                                            <p:fltVal val="0"/>
                                          </p:val>
                                        </p:tav>
                                        <p:tav tm="100000">
                                          <p:val>
                                            <p:strVal val="#ppt_w"/>
                                          </p:val>
                                        </p:tav>
                                      </p:tavLst>
                                    </p:anim>
                                    <p:anim calcmode="lin" valueType="num">
                                      <p:cBhvr>
                                        <p:cTn id="14" dur="500" fill="hold"/>
                                        <p:tgtEl>
                                          <p:spTgt spid="29389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2" grpId="0" autoUpdateAnimBg="0"/>
      <p:bldP spid="29389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3EE613E6-A84E-5912-0E28-96ABDBBB7418}"/>
              </a:ext>
            </a:extLst>
          </p:cNvPr>
          <p:cNvSpPr>
            <a:spLocks noGrp="1" noChangeArrowheads="1"/>
          </p:cNvSpPr>
          <p:nvPr>
            <p:ph type="title"/>
          </p:nvPr>
        </p:nvSpPr>
        <p:spPr/>
        <p:txBody>
          <a:bodyPr/>
          <a:lstStyle/>
          <a:p>
            <a:endParaRPr lang="zh-CN" altLang="en-US"/>
          </a:p>
        </p:txBody>
      </p:sp>
      <p:sp>
        <p:nvSpPr>
          <p:cNvPr id="41987" name="内容占位符 2">
            <a:extLst>
              <a:ext uri="{FF2B5EF4-FFF2-40B4-BE49-F238E27FC236}">
                <a16:creationId xmlns:a16="http://schemas.microsoft.com/office/drawing/2014/main" id="{1B73717E-3FDE-ACE0-D274-6AAC8D2717A4}"/>
              </a:ext>
            </a:extLst>
          </p:cNvPr>
          <p:cNvSpPr>
            <a:spLocks noGrp="1" noChangeArrowheads="1"/>
          </p:cNvSpPr>
          <p:nvPr>
            <p:ph idx="1"/>
          </p:nvPr>
        </p:nvSpPr>
        <p:spPr/>
        <p:txBody>
          <a:bodyPr/>
          <a:lstStyle/>
          <a:p>
            <a:endParaRPr lang="zh-CN" altLang="en-US"/>
          </a:p>
        </p:txBody>
      </p:sp>
      <p:sp>
        <p:nvSpPr>
          <p:cNvPr id="41988" name="灯片编号占位符 3">
            <a:extLst>
              <a:ext uri="{FF2B5EF4-FFF2-40B4-BE49-F238E27FC236}">
                <a16:creationId xmlns:a16="http://schemas.microsoft.com/office/drawing/2014/main" id="{C0950E64-DD73-F6C5-53D9-C896272FBE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DCFF3263-69A1-48E2-B4B4-E9FCDC4301CA}" type="slidenum">
              <a:rPr lang="en-US" altLang="zh-CN" sz="1200">
                <a:solidFill>
                  <a:schemeClr val="tx1"/>
                </a:solidFill>
                <a:latin typeface="Garamond" panose="02020404030301010803" pitchFamily="18" charset="0"/>
                <a:ea typeface="宋体" panose="02010600030101010101" pitchFamily="2" charset="-122"/>
              </a:rPr>
              <a:pPr/>
              <a:t>25</a:t>
            </a:fld>
            <a:endParaRPr lang="en-US" altLang="zh-CN" sz="1200">
              <a:solidFill>
                <a:schemeClr val="tx1"/>
              </a:solidFill>
              <a:latin typeface="Garamond" panose="02020404030301010803" pitchFamily="18" charset="0"/>
              <a:ea typeface="宋体" panose="02010600030101010101" pitchFamily="2" charset="-122"/>
            </a:endParaRPr>
          </a:p>
        </p:txBody>
      </p:sp>
      <p:grpSp>
        <p:nvGrpSpPr>
          <p:cNvPr id="41989" name="组合 1">
            <a:extLst>
              <a:ext uri="{FF2B5EF4-FFF2-40B4-BE49-F238E27FC236}">
                <a16:creationId xmlns:a16="http://schemas.microsoft.com/office/drawing/2014/main" id="{80080455-02C6-45DE-0395-5F2FE80A2D7E}"/>
              </a:ext>
            </a:extLst>
          </p:cNvPr>
          <p:cNvGrpSpPr>
            <a:grpSpLocks/>
          </p:cNvGrpSpPr>
          <p:nvPr/>
        </p:nvGrpSpPr>
        <p:grpSpPr bwMode="auto">
          <a:xfrm>
            <a:off x="300038" y="87313"/>
            <a:ext cx="8543925" cy="6526212"/>
            <a:chOff x="300038" y="87313"/>
            <a:chExt cx="8543925" cy="6525419"/>
          </a:xfrm>
        </p:grpSpPr>
        <p:pic>
          <p:nvPicPr>
            <p:cNvPr id="41991" name="Picture 2" descr="https://img-blog.csdnimg.cn/3345181c4b91453daa004b7720df9241.png#pic_center">
              <a:extLst>
                <a:ext uri="{FF2B5EF4-FFF2-40B4-BE49-F238E27FC236}">
                  <a16:creationId xmlns:a16="http://schemas.microsoft.com/office/drawing/2014/main" id="{2D738502-47DB-E79F-15D8-2766C4BC6D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 b="-832"/>
            <a:stretch>
              <a:fillRect/>
            </a:stretch>
          </p:blipFill>
          <p:spPr bwMode="auto">
            <a:xfrm>
              <a:off x="300038" y="87313"/>
              <a:ext cx="8543925" cy="643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矩形 5">
              <a:extLst>
                <a:ext uri="{FF2B5EF4-FFF2-40B4-BE49-F238E27FC236}">
                  <a16:creationId xmlns:a16="http://schemas.microsoft.com/office/drawing/2014/main" id="{87248CBA-141F-0C54-ED69-9F3160A09551}"/>
                </a:ext>
              </a:extLst>
            </p:cNvPr>
            <p:cNvSpPr>
              <a:spLocks noChangeArrowheads="1"/>
            </p:cNvSpPr>
            <p:nvPr/>
          </p:nvSpPr>
          <p:spPr bwMode="auto">
            <a:xfrm>
              <a:off x="7973294" y="6293222"/>
              <a:ext cx="792088" cy="319510"/>
            </a:xfrm>
            <a:prstGeom prst="rect">
              <a:avLst/>
            </a:prstGeom>
            <a:solidFill>
              <a:schemeClr val="bg1"/>
            </a:solidFill>
            <a:ln w="9525" algn="ctr">
              <a:solidFill>
                <a:schemeClr val="bg1"/>
              </a:solidFill>
              <a:round/>
              <a:headEnd/>
              <a:tailEnd/>
            </a:ln>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pSp>
      <p:sp>
        <p:nvSpPr>
          <p:cNvPr id="41990" name="矩形 1">
            <a:extLst>
              <a:ext uri="{FF2B5EF4-FFF2-40B4-BE49-F238E27FC236}">
                <a16:creationId xmlns:a16="http://schemas.microsoft.com/office/drawing/2014/main" id="{1E4CBF95-2A0C-BCD3-148B-A7F3389B606A}"/>
              </a:ext>
            </a:extLst>
          </p:cNvPr>
          <p:cNvSpPr>
            <a:spLocks noChangeArrowheads="1"/>
          </p:cNvSpPr>
          <p:nvPr/>
        </p:nvSpPr>
        <p:spPr bwMode="auto">
          <a:xfrm>
            <a:off x="457200" y="1773238"/>
            <a:ext cx="2170113" cy="360362"/>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E81DF4E6-D71A-4D3D-8918-700B0A34388D}"/>
              </a:ext>
            </a:extLst>
          </p:cNvPr>
          <p:cNvSpPr>
            <a:spLocks noGrp="1" noChangeArrowheads="1"/>
          </p:cNvSpPr>
          <p:nvPr>
            <p:ph idx="1"/>
          </p:nvPr>
        </p:nvSpPr>
        <p:spPr>
          <a:xfrm>
            <a:off x="428625" y="571500"/>
            <a:ext cx="8472488" cy="5391150"/>
          </a:xfrm>
        </p:spPr>
        <p:txBody>
          <a:bodyPr/>
          <a:lstStyle/>
          <a:p>
            <a:pPr>
              <a:lnSpc>
                <a:spcPct val="150000"/>
              </a:lnSpc>
              <a:defRPr/>
            </a:pPr>
            <a:r>
              <a:rPr lang="zh-CN" altLang="en-US" sz="2800" b="1">
                <a:latin typeface="+mj-ea"/>
                <a:ea typeface="+mj-ea"/>
              </a:rPr>
              <a:t>通过应用范例学习分支限界法的设计策略。</a:t>
            </a: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1</a:t>
            </a:r>
            <a:r>
              <a:rPr lang="zh-CN" altLang="en-US" sz="2800" b="1">
                <a:latin typeface="+mj-ea"/>
                <a:ea typeface="+mj-ea"/>
              </a:rPr>
              <a:t>）装载问题；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2</a:t>
            </a:r>
            <a:r>
              <a:rPr lang="zh-CN" altLang="en-US" sz="2800" b="1">
                <a:latin typeface="+mj-ea"/>
                <a:ea typeface="+mj-ea"/>
              </a:rPr>
              <a:t>）</a:t>
            </a:r>
            <a:r>
              <a:rPr lang="en-US" altLang="zh-CN" sz="2800" b="1">
                <a:solidFill>
                  <a:srgbClr val="FF0000"/>
                </a:solidFill>
                <a:latin typeface="+mj-ea"/>
                <a:ea typeface="+mj-ea"/>
              </a:rPr>
              <a:t>0-1</a:t>
            </a:r>
            <a:r>
              <a:rPr lang="zh-CN" altLang="en-US" sz="2800" b="1">
                <a:solidFill>
                  <a:srgbClr val="FF0000"/>
                </a:solidFill>
                <a:latin typeface="+mj-ea"/>
                <a:ea typeface="+mj-ea"/>
              </a:rPr>
              <a:t>背包问题</a:t>
            </a:r>
            <a:r>
              <a:rPr lang="zh-CN" altLang="en-US" sz="2800" b="1">
                <a:latin typeface="+mj-ea"/>
                <a:ea typeface="+mj-ea"/>
              </a:rPr>
              <a:t>；</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3</a:t>
            </a:r>
            <a:r>
              <a:rPr lang="zh-CN" altLang="en-US" sz="2800" b="1">
                <a:latin typeface="+mj-ea"/>
                <a:ea typeface="+mj-ea"/>
              </a:rPr>
              <a:t>）最大团问题；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4</a:t>
            </a:r>
            <a:r>
              <a:rPr lang="zh-CN" altLang="en-US" sz="2800" b="1">
                <a:latin typeface="+mj-ea"/>
                <a:ea typeface="+mj-ea"/>
              </a:rPr>
              <a:t>）旅行售货员问题；</a:t>
            </a: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5</a:t>
            </a:r>
            <a:r>
              <a:rPr lang="zh-CN" altLang="en-US" sz="2800" b="1">
                <a:latin typeface="+mj-ea"/>
                <a:ea typeface="+mj-ea"/>
              </a:rPr>
              <a:t>）单源最短路问题；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6</a:t>
            </a:r>
            <a:r>
              <a:rPr lang="zh-CN" altLang="en-US" sz="2800" b="1">
                <a:latin typeface="+mj-ea"/>
                <a:ea typeface="+mj-ea"/>
              </a:rPr>
              <a:t>）批处理作业调度问题</a:t>
            </a:r>
            <a:endParaRPr lang="zh-CN" altLang="en-US" sz="2800" b="1">
              <a:solidFill>
                <a:srgbClr val="FF0000"/>
              </a:solidFill>
              <a:latin typeface="+mj-ea"/>
              <a:ea typeface="+mj-ea"/>
            </a:endParaRPr>
          </a:p>
        </p:txBody>
      </p:sp>
      <p:sp>
        <p:nvSpPr>
          <p:cNvPr id="34819" name="灯片编号占位符 4">
            <a:extLst>
              <a:ext uri="{FF2B5EF4-FFF2-40B4-BE49-F238E27FC236}">
                <a16:creationId xmlns:a16="http://schemas.microsoft.com/office/drawing/2014/main" id="{B122B53B-A815-4912-80E3-5A80F0EFF8D1}"/>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C4A253F-B33B-4D4B-BE0E-41BE2C598523}"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26</a:t>
            </a:fld>
            <a:endParaRPr lang="en-US" altLang="zh-CN" sz="120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C1027840-DBEE-4DC3-9927-8A8C1FA8BE9D}"/>
              </a:ext>
            </a:extLst>
          </p:cNvPr>
          <p:cNvSpPr>
            <a:spLocks noGrp="1" noChangeArrowheads="1"/>
          </p:cNvSpPr>
          <p:nvPr>
            <p:ph type="body" idx="1"/>
          </p:nvPr>
        </p:nvSpPr>
        <p:spPr>
          <a:xfrm>
            <a:off x="357188" y="1071563"/>
            <a:ext cx="8229600" cy="4929187"/>
          </a:xfrm>
        </p:spPr>
        <p:txBody>
          <a:bodyPr/>
          <a:lstStyle/>
          <a:p>
            <a:pPr>
              <a:defRPr/>
            </a:pPr>
            <a:r>
              <a:rPr lang="zh-CN" altLang="en-US" sz="2800" b="1" dirty="0">
                <a:latin typeface="+mj-ea"/>
                <a:ea typeface="+mj-ea"/>
              </a:rPr>
              <a:t>问题描述</a:t>
            </a:r>
          </a:p>
          <a:p>
            <a:pPr marL="363538" lvl="1" indent="-19050">
              <a:buFont typeface="Wingdings" panose="05000000000000000000" pitchFamily="2" charset="2"/>
              <a:buNone/>
              <a:tabLst>
                <a:tab pos="363538" algn="l"/>
              </a:tabLst>
              <a:defRPr/>
            </a:pPr>
            <a:r>
              <a:rPr lang="zh-CN" altLang="en-US" sz="2400" b="1" dirty="0">
                <a:latin typeface="+mj-ea"/>
                <a:ea typeface="+mj-ea"/>
              </a:rPr>
              <a:t>给定</a:t>
            </a:r>
            <a:r>
              <a:rPr lang="en-US" altLang="zh-CN" sz="2400" b="1" dirty="0">
                <a:latin typeface="+mj-ea"/>
                <a:ea typeface="+mj-ea"/>
              </a:rPr>
              <a:t>n</a:t>
            </a:r>
            <a:r>
              <a:rPr lang="zh-CN" altLang="en-US" sz="2400" b="1" dirty="0">
                <a:latin typeface="+mj-ea"/>
                <a:ea typeface="+mj-ea"/>
              </a:rPr>
              <a:t>种物品和一背包。物品</a:t>
            </a:r>
            <a:r>
              <a:rPr lang="en-US" altLang="zh-CN" sz="2400" b="1" dirty="0" err="1">
                <a:latin typeface="+mj-ea"/>
                <a:ea typeface="+mj-ea"/>
              </a:rPr>
              <a:t>i</a:t>
            </a:r>
            <a:r>
              <a:rPr lang="zh-CN" altLang="en-US" sz="2400" b="1" dirty="0">
                <a:latin typeface="+mj-ea"/>
                <a:ea typeface="+mj-ea"/>
              </a:rPr>
              <a:t>的重量是</a:t>
            </a:r>
            <a:r>
              <a:rPr lang="en-US" altLang="zh-CN" sz="2400" b="1" dirty="0" err="1">
                <a:latin typeface="+mj-ea"/>
                <a:ea typeface="+mj-ea"/>
              </a:rPr>
              <a:t>w</a:t>
            </a:r>
            <a:r>
              <a:rPr lang="en-US" altLang="zh-CN" sz="2400" b="1" baseline="-25000" dirty="0" err="1">
                <a:latin typeface="+mj-ea"/>
                <a:ea typeface="+mj-ea"/>
              </a:rPr>
              <a:t>i</a:t>
            </a:r>
            <a:r>
              <a:rPr lang="zh-CN" altLang="en-US" sz="2400" b="1" dirty="0">
                <a:latin typeface="+mj-ea"/>
                <a:ea typeface="+mj-ea"/>
              </a:rPr>
              <a:t>，其价值为</a:t>
            </a:r>
            <a:r>
              <a:rPr lang="en-US" altLang="zh-CN" sz="2400" b="1" dirty="0">
                <a:latin typeface="+mj-ea"/>
                <a:ea typeface="+mj-ea"/>
              </a:rPr>
              <a:t>v</a:t>
            </a:r>
            <a:r>
              <a:rPr lang="en-US" altLang="zh-CN" sz="2400" b="1" baseline="-25000" dirty="0">
                <a:latin typeface="+mj-ea"/>
                <a:ea typeface="+mj-ea"/>
              </a:rPr>
              <a:t>i</a:t>
            </a:r>
            <a:r>
              <a:rPr lang="zh-CN" altLang="en-US" sz="2400" b="1" dirty="0">
                <a:latin typeface="+mj-ea"/>
                <a:ea typeface="+mj-ea"/>
              </a:rPr>
              <a:t>，背包的容量为</a:t>
            </a:r>
            <a:r>
              <a:rPr lang="en-US" altLang="zh-CN" sz="2400" b="1" dirty="0">
                <a:latin typeface="+mj-ea"/>
                <a:ea typeface="+mj-ea"/>
              </a:rPr>
              <a:t>W</a:t>
            </a:r>
            <a:r>
              <a:rPr lang="zh-CN" altLang="en-US" sz="2400" b="1" dirty="0">
                <a:latin typeface="+mj-ea"/>
                <a:ea typeface="+mj-ea"/>
              </a:rPr>
              <a:t>。一个物品要么全部装入背包，要么全部不装入背包，不允许部分装入。装入背包的物品的总重量不超过背包的容量。问应如何选择装入背包的物品，使得装入</a:t>
            </a:r>
            <a:r>
              <a:rPr lang="zh-CN" altLang="en-US" sz="2400" b="1" u="sng" dirty="0">
                <a:latin typeface="+mj-ea"/>
                <a:ea typeface="+mj-ea"/>
              </a:rPr>
              <a:t>背包中的物品总价值最大</a:t>
            </a:r>
            <a:r>
              <a:rPr lang="en-US" altLang="zh-CN" sz="2400" b="1" dirty="0">
                <a:latin typeface="+mj-ea"/>
                <a:ea typeface="+mj-ea"/>
              </a:rPr>
              <a:t>?</a:t>
            </a:r>
          </a:p>
          <a:p>
            <a:pPr marL="363538" lvl="1" indent="-19050">
              <a:buFont typeface="Wingdings" panose="05000000000000000000" pitchFamily="2" charset="2"/>
              <a:buNone/>
              <a:tabLst>
                <a:tab pos="363538" algn="l"/>
              </a:tabLst>
              <a:defRPr/>
            </a:pPr>
            <a:endParaRPr lang="en-US" altLang="zh-CN" sz="2400" b="1" dirty="0">
              <a:latin typeface="+mj-ea"/>
              <a:ea typeface="+mj-ea"/>
            </a:endParaRPr>
          </a:p>
          <a:p>
            <a:pPr>
              <a:defRPr/>
            </a:pPr>
            <a:r>
              <a:rPr lang="zh-CN" altLang="en-US" sz="2800" b="1" dirty="0">
                <a:latin typeface="+mj-ea"/>
                <a:ea typeface="+mj-ea"/>
              </a:rPr>
              <a:t>定义问题的解空间</a:t>
            </a:r>
          </a:p>
          <a:p>
            <a:pPr lvl="1">
              <a:buFont typeface="Wingdings" panose="05000000000000000000" pitchFamily="2" charset="2"/>
              <a:buNone/>
              <a:defRPr/>
            </a:pPr>
            <a:r>
              <a:rPr lang="zh-CN" altLang="en-US" sz="2400" b="1" dirty="0">
                <a:latin typeface="+mj-ea"/>
                <a:ea typeface="+mj-ea"/>
              </a:rPr>
              <a:t>解的形式</a:t>
            </a:r>
            <a:r>
              <a:rPr kumimoji="1" lang="en-US" altLang="zh-CN" sz="2400" b="1" dirty="0">
                <a:latin typeface="+mj-ea"/>
                <a:ea typeface="+mj-ea"/>
              </a:rPr>
              <a:t>(x</a:t>
            </a:r>
            <a:r>
              <a:rPr kumimoji="1" lang="en-US" altLang="zh-CN" sz="2400" b="1" baseline="-25000" dirty="0">
                <a:latin typeface="+mj-ea"/>
                <a:ea typeface="+mj-ea"/>
              </a:rPr>
              <a:t>1</a:t>
            </a:r>
            <a:r>
              <a:rPr kumimoji="1" lang="en-US" altLang="zh-CN" sz="2400" b="1" dirty="0">
                <a:latin typeface="+mj-ea"/>
                <a:ea typeface="+mj-ea"/>
              </a:rPr>
              <a:t>,x</a:t>
            </a:r>
            <a:r>
              <a:rPr kumimoji="1" lang="en-US" altLang="zh-CN" sz="2400" b="1" baseline="-25000" dirty="0">
                <a:latin typeface="+mj-ea"/>
                <a:ea typeface="+mj-ea"/>
              </a:rPr>
              <a:t>2</a:t>
            </a:r>
            <a:r>
              <a:rPr kumimoji="1" lang="en-US" altLang="zh-CN" sz="2400" b="1" dirty="0">
                <a:latin typeface="+mj-ea"/>
                <a:ea typeface="+mj-ea"/>
              </a:rPr>
              <a:t>,…,</a:t>
            </a:r>
            <a:r>
              <a:rPr kumimoji="1" lang="en-US" altLang="zh-CN" sz="2400" b="1" dirty="0" err="1">
                <a:latin typeface="+mj-ea"/>
                <a:ea typeface="+mj-ea"/>
              </a:rPr>
              <a:t>x</a:t>
            </a:r>
            <a:r>
              <a:rPr kumimoji="1" lang="en-US" altLang="zh-CN" sz="2400" b="1" baseline="-25000" dirty="0" err="1">
                <a:latin typeface="+mj-ea"/>
                <a:ea typeface="+mj-ea"/>
              </a:rPr>
              <a:t>n</a:t>
            </a:r>
            <a:r>
              <a:rPr kumimoji="1" lang="en-US" altLang="zh-CN" sz="2400" b="1" dirty="0">
                <a:latin typeface="+mj-ea"/>
                <a:ea typeface="+mj-ea"/>
              </a:rPr>
              <a:t>)</a:t>
            </a:r>
            <a:r>
              <a:rPr kumimoji="1" lang="zh-CN" altLang="en-US" sz="2400" b="1" dirty="0">
                <a:latin typeface="+mj-ea"/>
                <a:ea typeface="+mj-ea"/>
              </a:rPr>
              <a:t>，其中</a:t>
            </a:r>
            <a:r>
              <a:rPr kumimoji="1" lang="en-US" altLang="zh-CN" sz="2400" b="1" dirty="0">
                <a:latin typeface="+mj-ea"/>
                <a:ea typeface="+mj-ea"/>
              </a:rPr>
              <a:t>x</a:t>
            </a:r>
            <a:r>
              <a:rPr kumimoji="1" lang="en-US" altLang="zh-CN" sz="2400" b="1" baseline="-25000" dirty="0">
                <a:latin typeface="+mj-ea"/>
                <a:ea typeface="+mj-ea"/>
              </a:rPr>
              <a:t>i</a:t>
            </a:r>
            <a:r>
              <a:rPr kumimoji="1" lang="en-US" altLang="zh-CN" sz="2400" b="1" dirty="0">
                <a:latin typeface="+mj-ea"/>
                <a:ea typeface="+mj-ea"/>
              </a:rPr>
              <a:t>=0</a:t>
            </a:r>
            <a:r>
              <a:rPr kumimoji="1" lang="zh-CN" altLang="en-US" sz="2400" b="1" dirty="0">
                <a:latin typeface="+mj-ea"/>
                <a:ea typeface="+mj-ea"/>
              </a:rPr>
              <a:t>或</a:t>
            </a:r>
            <a:r>
              <a:rPr kumimoji="1" lang="en-US" altLang="zh-CN" sz="2400" b="1" dirty="0">
                <a:latin typeface="+mj-ea"/>
                <a:ea typeface="+mj-ea"/>
              </a:rPr>
              <a:t>1</a:t>
            </a:r>
          </a:p>
          <a:p>
            <a:pPr lvl="1">
              <a:buFont typeface="Wingdings" panose="05000000000000000000" pitchFamily="2" charset="2"/>
              <a:buNone/>
              <a:defRPr/>
            </a:pPr>
            <a:r>
              <a:rPr lang="en-US" altLang="zh-CN" sz="2400" b="1" dirty="0">
                <a:latin typeface="+mj-ea"/>
                <a:ea typeface="+mj-ea"/>
              </a:rPr>
              <a:t>x</a:t>
            </a:r>
            <a:r>
              <a:rPr kumimoji="1" lang="en-US" altLang="zh-CN" sz="2400" b="1" baseline="-25000" dirty="0">
                <a:latin typeface="+mj-ea"/>
                <a:ea typeface="+mj-ea"/>
              </a:rPr>
              <a:t>i</a:t>
            </a:r>
            <a:r>
              <a:rPr lang="en-US" altLang="zh-CN" sz="2400" b="1" dirty="0">
                <a:latin typeface="+mj-ea"/>
                <a:ea typeface="+mj-ea"/>
              </a:rPr>
              <a:t>=0:</a:t>
            </a:r>
            <a:r>
              <a:rPr lang="zh-CN" altLang="en-US" sz="2400" b="1" dirty="0">
                <a:latin typeface="+mj-ea"/>
                <a:ea typeface="+mj-ea"/>
              </a:rPr>
              <a:t>第</a:t>
            </a:r>
            <a:r>
              <a:rPr lang="en-US" altLang="zh-CN" sz="2400" b="1" dirty="0" err="1">
                <a:latin typeface="+mj-ea"/>
                <a:ea typeface="+mj-ea"/>
              </a:rPr>
              <a:t>i</a:t>
            </a:r>
            <a:r>
              <a:rPr lang="zh-CN" altLang="en-US" sz="2400" b="1" dirty="0">
                <a:latin typeface="+mj-ea"/>
                <a:ea typeface="+mj-ea"/>
              </a:rPr>
              <a:t>个物品不装入背包</a:t>
            </a:r>
          </a:p>
          <a:p>
            <a:pPr lvl="1">
              <a:buFont typeface="Wingdings" panose="05000000000000000000" pitchFamily="2" charset="2"/>
              <a:buNone/>
              <a:defRPr/>
            </a:pPr>
            <a:r>
              <a:rPr lang="en-US" altLang="zh-CN" sz="2400" b="1" dirty="0">
                <a:latin typeface="+mj-ea"/>
                <a:ea typeface="+mj-ea"/>
              </a:rPr>
              <a:t>x</a:t>
            </a:r>
            <a:r>
              <a:rPr lang="en-US" altLang="zh-CN" sz="2400" b="1" baseline="-25000" dirty="0">
                <a:latin typeface="+mj-ea"/>
                <a:ea typeface="+mj-ea"/>
              </a:rPr>
              <a:t>i</a:t>
            </a:r>
            <a:r>
              <a:rPr lang="en-US" altLang="zh-CN" sz="2400" b="1" dirty="0">
                <a:latin typeface="+mj-ea"/>
                <a:ea typeface="+mj-ea"/>
              </a:rPr>
              <a:t>=1:</a:t>
            </a:r>
            <a:r>
              <a:rPr lang="zh-CN" altLang="en-US" sz="2400" b="1" dirty="0">
                <a:latin typeface="+mj-ea"/>
                <a:ea typeface="+mj-ea"/>
              </a:rPr>
              <a:t>第</a:t>
            </a:r>
            <a:r>
              <a:rPr lang="en-US" altLang="zh-CN" sz="2400" b="1" dirty="0" err="1">
                <a:latin typeface="+mj-ea"/>
                <a:ea typeface="+mj-ea"/>
              </a:rPr>
              <a:t>i</a:t>
            </a:r>
            <a:r>
              <a:rPr lang="zh-CN" altLang="en-US" sz="2400" b="1" dirty="0">
                <a:latin typeface="+mj-ea"/>
                <a:ea typeface="+mj-ea"/>
              </a:rPr>
              <a:t>个物品装入背包</a:t>
            </a:r>
          </a:p>
        </p:txBody>
      </p:sp>
      <p:sp>
        <p:nvSpPr>
          <p:cNvPr id="5" name="Rectangle 4">
            <a:extLst>
              <a:ext uri="{FF2B5EF4-FFF2-40B4-BE49-F238E27FC236}">
                <a16:creationId xmlns:a16="http://schemas.microsoft.com/office/drawing/2014/main" id="{1B436AB0-8FAC-4B9F-A99A-FA4337D47E55}"/>
              </a:ext>
            </a:extLst>
          </p:cNvPr>
          <p:cNvSpPr>
            <a:spLocks noChangeArrowheads="1"/>
          </p:cNvSpPr>
          <p:nvPr/>
        </p:nvSpPr>
        <p:spPr bwMode="auto">
          <a:xfrm>
            <a:off x="500063" y="142875"/>
            <a:ext cx="7772400" cy="803275"/>
          </a:xfrm>
          <a:prstGeom prst="rect">
            <a:avLst/>
          </a:prstGeom>
          <a:noFill/>
          <a:ln w="9525">
            <a:noFill/>
            <a:miter lim="800000"/>
            <a:headEnd/>
            <a:tailEnd/>
          </a:ln>
          <a:effectLst/>
        </p:spPr>
        <p:txBody>
          <a:bodyPr anchor="ctr"/>
          <a:lstStyle/>
          <a:p>
            <a:pPr eaLnBrk="1" hangingPunct="1">
              <a:spcBef>
                <a:spcPct val="20000"/>
              </a:spcBef>
              <a:buClr>
                <a:schemeClr val="accent1"/>
              </a:buClr>
              <a:buSzPct val="65000"/>
              <a:buFont typeface="Wingdings" panose="05000000000000000000" pitchFamily="2" charset="2"/>
              <a:buNone/>
              <a:defRPr/>
            </a:pPr>
            <a:r>
              <a:rPr lang="en-US" altLang="en-US" sz="4200" dirty="0">
                <a:solidFill>
                  <a:schemeClr val="tx2"/>
                </a:solidFill>
                <a:effectLst>
                  <a:outerShdw blurRad="38100" dist="38100" dir="2700000" algn="tl">
                    <a:srgbClr val="C0C0C0"/>
                  </a:outerShdw>
                </a:effectLst>
                <a:latin typeface="+mj-ea"/>
                <a:ea typeface="+mj-ea"/>
                <a:cs typeface="+mj-cs"/>
              </a:rPr>
              <a:t>6.5  0-1背包问题</a:t>
            </a:r>
            <a:endParaRPr lang="zh-CN" altLang="en-US" sz="4200" dirty="0">
              <a:solidFill>
                <a:schemeClr val="tx2"/>
              </a:solidFill>
              <a:effectLst>
                <a:outerShdw blurRad="38100" dist="38100" dir="2700000" algn="tl">
                  <a:srgbClr val="C0C0C0"/>
                </a:outerShdw>
              </a:effectLst>
              <a:latin typeface="+mj-ea"/>
              <a:ea typeface="+mj-ea"/>
              <a:cs typeface="+mj-cs"/>
            </a:endParaRPr>
          </a:p>
        </p:txBody>
      </p:sp>
      <p:graphicFrame>
        <p:nvGraphicFramePr>
          <p:cNvPr id="44036" name="Object 2">
            <a:extLst>
              <a:ext uri="{FF2B5EF4-FFF2-40B4-BE49-F238E27FC236}">
                <a16:creationId xmlns:a16="http://schemas.microsoft.com/office/drawing/2014/main" id="{479DEEEF-EFFE-9C4B-CECD-8BB06CD959E3}"/>
              </a:ext>
            </a:extLst>
          </p:cNvPr>
          <p:cNvGraphicFramePr>
            <a:graphicFrameLocks noChangeAspect="1"/>
          </p:cNvGraphicFramePr>
          <p:nvPr/>
        </p:nvGraphicFramePr>
        <p:xfrm>
          <a:off x="4500563" y="4202113"/>
          <a:ext cx="4572000" cy="1924050"/>
        </p:xfrm>
        <a:graphic>
          <a:graphicData uri="http://schemas.openxmlformats.org/presentationml/2006/ole">
            <mc:AlternateContent xmlns:mc="http://schemas.openxmlformats.org/markup-compatibility/2006">
              <mc:Choice xmlns:v="urn:schemas-microsoft-com:vml" Requires="v">
                <p:oleObj name="Visio" r:id="rId2" imgW="11200860" imgH="4590062" progId="Visio.Drawing.11">
                  <p:embed/>
                </p:oleObj>
              </mc:Choice>
              <mc:Fallback>
                <p:oleObj name="Visio" r:id="rId2" imgW="11200860" imgH="4590062"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4202113"/>
                        <a:ext cx="457200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A7877BF-838E-4F09-812A-E94D01D4E2FE}"/>
              </a:ext>
            </a:extLst>
          </p:cNvPr>
          <p:cNvSpPr>
            <a:spLocks noGrp="1" noChangeArrowheads="1"/>
          </p:cNvSpPr>
          <p:nvPr>
            <p:ph type="title"/>
          </p:nvPr>
        </p:nvSpPr>
        <p:spPr/>
        <p:txBody>
          <a:bodyPr/>
          <a:lstStyle/>
          <a:p>
            <a:pPr>
              <a:defRPr/>
            </a:pPr>
            <a:r>
              <a:rPr lang="zh-CN" altLang="en-US" dirty="0">
                <a:latin typeface="+mj-ea"/>
              </a:rPr>
              <a:t>6.5    0-1背包问题</a:t>
            </a:r>
          </a:p>
        </p:txBody>
      </p:sp>
      <p:sp>
        <p:nvSpPr>
          <p:cNvPr id="36867" name="灯片编号占位符 5">
            <a:extLst>
              <a:ext uri="{FF2B5EF4-FFF2-40B4-BE49-F238E27FC236}">
                <a16:creationId xmlns:a16="http://schemas.microsoft.com/office/drawing/2014/main" id="{16E7A335-596F-4035-9F75-B7D160BA26E2}"/>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58F111C-7264-4ABD-9453-31351645235A}" type="slidenum">
              <a:rPr lang="zh-CN" altLang="en-US" sz="1200">
                <a:solidFill>
                  <a:schemeClr val="tx1"/>
                </a:solidFill>
                <a:latin typeface="微软雅黑" panose="020B0503020204020204" pitchFamily="34" charset="-122"/>
                <a:ea typeface="微软雅黑" panose="020B0503020204020204" pitchFamily="34" charset="-122"/>
              </a:rPr>
              <a:pPr/>
              <a:t>28</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6868" name="Text Box 4">
            <a:extLst>
              <a:ext uri="{FF2B5EF4-FFF2-40B4-BE49-F238E27FC236}">
                <a16:creationId xmlns:a16="http://schemas.microsoft.com/office/drawing/2014/main" id="{1E8FC77D-0F06-40B2-82DA-5C96215356DB}"/>
              </a:ext>
            </a:extLst>
          </p:cNvPr>
          <p:cNvSpPr txBox="1">
            <a:spLocks noChangeArrowheads="1"/>
          </p:cNvSpPr>
          <p:nvPr/>
        </p:nvSpPr>
        <p:spPr bwMode="auto">
          <a:xfrm>
            <a:off x="500063" y="1285875"/>
            <a:ext cx="7385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优先队列分支限界法算法的思想</a:t>
            </a:r>
            <a:endParaRPr lang="zh-CN" altLang="en-US">
              <a:solidFill>
                <a:schemeClr val="accent2"/>
              </a:solidFill>
              <a:latin typeface="+mj-ea"/>
              <a:ea typeface="+mj-ea"/>
            </a:endParaRPr>
          </a:p>
        </p:txBody>
      </p:sp>
      <p:sp>
        <p:nvSpPr>
          <p:cNvPr id="36869" name="Text Box 5">
            <a:extLst>
              <a:ext uri="{FF2B5EF4-FFF2-40B4-BE49-F238E27FC236}">
                <a16:creationId xmlns:a16="http://schemas.microsoft.com/office/drawing/2014/main" id="{C39A7922-4286-46AF-B013-74AEF2DD0254}"/>
              </a:ext>
            </a:extLst>
          </p:cNvPr>
          <p:cNvSpPr txBox="1">
            <a:spLocks noChangeArrowheads="1"/>
          </p:cNvSpPr>
          <p:nvPr/>
        </p:nvSpPr>
        <p:spPr bwMode="auto">
          <a:xfrm>
            <a:off x="571500" y="1938338"/>
            <a:ext cx="81661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a:solidFill>
                  <a:schemeClr val="tx1"/>
                </a:solidFill>
                <a:latin typeface="+mj-ea"/>
                <a:ea typeface="+mj-ea"/>
              </a:rPr>
              <a:t>首先，要对输入数据进行预处理，将各物品依其单位重量价值从大到小进行排列。</a:t>
            </a:r>
          </a:p>
        </p:txBody>
      </p:sp>
      <p:sp>
        <p:nvSpPr>
          <p:cNvPr id="297990" name="Text Box 6">
            <a:extLst>
              <a:ext uri="{FF2B5EF4-FFF2-40B4-BE49-F238E27FC236}">
                <a16:creationId xmlns:a16="http://schemas.microsoft.com/office/drawing/2014/main" id="{2F6C81C0-8B97-462F-A502-9CED4669A7F0}"/>
              </a:ext>
            </a:extLst>
          </p:cNvPr>
          <p:cNvSpPr txBox="1">
            <a:spLocks noChangeArrowheads="1"/>
          </p:cNvSpPr>
          <p:nvPr/>
        </p:nvSpPr>
        <p:spPr bwMode="auto">
          <a:xfrm>
            <a:off x="571500" y="2930525"/>
            <a:ext cx="8166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b="1" dirty="0">
                <a:solidFill>
                  <a:schemeClr val="tx1"/>
                </a:solidFill>
                <a:latin typeface="+mj-ea"/>
                <a:ea typeface="+mj-ea"/>
              </a:rPr>
              <a:t>节点的优先级</a:t>
            </a:r>
            <a:r>
              <a:rPr lang="en-US" altLang="zh-CN" sz="2400" dirty="0">
                <a:solidFill>
                  <a:schemeClr val="tx1"/>
                </a:solidFill>
                <a:latin typeface="+mj-ea"/>
                <a:ea typeface="+mj-ea"/>
              </a:rPr>
              <a:t> </a:t>
            </a:r>
            <a:r>
              <a:rPr lang="en-US" altLang="zh-CN" sz="2400" b="1" dirty="0">
                <a:latin typeface="+mj-ea"/>
                <a:ea typeface="+mj-ea"/>
              </a:rPr>
              <a:t>bound(X)</a:t>
            </a:r>
            <a:r>
              <a:rPr lang="en-US" altLang="zh-CN" sz="2400" dirty="0">
                <a:solidFill>
                  <a:schemeClr val="tx1"/>
                </a:solidFill>
                <a:latin typeface="+mj-ea"/>
                <a:ea typeface="+mj-ea"/>
              </a:rPr>
              <a:t> : </a:t>
            </a:r>
            <a:r>
              <a:rPr lang="zh-CN" altLang="en-US" sz="2400" dirty="0">
                <a:solidFill>
                  <a:srgbClr val="FF0000"/>
                </a:solidFill>
                <a:latin typeface="+mj-ea"/>
                <a:ea typeface="+mj-ea"/>
              </a:rPr>
              <a:t>已装袋的</a:t>
            </a:r>
            <a:r>
              <a:rPr lang="zh-CN" altLang="en-US" sz="2400" dirty="0">
                <a:solidFill>
                  <a:schemeClr val="tx1"/>
                </a:solidFill>
                <a:latin typeface="+mj-ea"/>
                <a:ea typeface="+mj-ea"/>
              </a:rPr>
              <a:t>物品价值</a:t>
            </a:r>
            <a:r>
              <a:rPr lang="zh-CN" altLang="en-US" sz="2400" dirty="0">
                <a:solidFill>
                  <a:srgbClr val="FF0000"/>
                </a:solidFill>
                <a:latin typeface="+mj-ea"/>
                <a:ea typeface="+mj-ea"/>
              </a:rPr>
              <a:t>加上</a:t>
            </a:r>
            <a:r>
              <a:rPr lang="zh-CN" altLang="en-US" sz="2400" dirty="0">
                <a:solidFill>
                  <a:schemeClr val="tx1"/>
                </a:solidFill>
                <a:latin typeface="+mj-ea"/>
                <a:ea typeface="+mj-ea"/>
              </a:rPr>
              <a:t>剩下的最大单位重量价值的物品</a:t>
            </a:r>
            <a:r>
              <a:rPr lang="zh-CN" altLang="en-US" sz="2400" dirty="0">
                <a:solidFill>
                  <a:srgbClr val="FF0000"/>
                </a:solidFill>
                <a:latin typeface="+mj-ea"/>
                <a:ea typeface="+mj-ea"/>
              </a:rPr>
              <a:t>装满剩余容量</a:t>
            </a:r>
            <a:r>
              <a:rPr lang="zh-CN" altLang="en-US" sz="2400" dirty="0">
                <a:solidFill>
                  <a:schemeClr val="tx1"/>
                </a:solidFill>
                <a:latin typeface="+mj-ea"/>
                <a:ea typeface="+mj-ea"/>
              </a:rPr>
              <a:t>的</a:t>
            </a:r>
            <a:r>
              <a:rPr lang="zh-CN" altLang="en-US" sz="2400" u="sng" dirty="0">
                <a:solidFill>
                  <a:schemeClr val="tx1"/>
                </a:solidFill>
                <a:latin typeface="+mj-ea"/>
                <a:ea typeface="+mj-ea"/>
              </a:rPr>
              <a:t>价值和</a:t>
            </a:r>
            <a:r>
              <a:rPr lang="zh-CN" altLang="en-US" sz="2400" dirty="0">
                <a:solidFill>
                  <a:schemeClr val="tx1"/>
                </a:solidFill>
                <a:latin typeface="+mj-ea"/>
                <a:ea typeface="+mj-ea"/>
              </a:rPr>
              <a:t>。</a:t>
            </a:r>
          </a:p>
        </p:txBody>
      </p:sp>
      <p:sp>
        <p:nvSpPr>
          <p:cNvPr id="297991" name="Text Box 7">
            <a:extLst>
              <a:ext uri="{FF2B5EF4-FFF2-40B4-BE49-F238E27FC236}">
                <a16:creationId xmlns:a16="http://schemas.microsoft.com/office/drawing/2014/main" id="{FF746446-F4BE-46E3-945E-060FD5C5EC53}"/>
              </a:ext>
            </a:extLst>
          </p:cNvPr>
          <p:cNvSpPr txBox="1">
            <a:spLocks noChangeArrowheads="1"/>
          </p:cNvSpPr>
          <p:nvPr/>
        </p:nvSpPr>
        <p:spPr bwMode="auto">
          <a:xfrm>
            <a:off x="571500" y="4143375"/>
            <a:ext cx="814387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b="1" dirty="0">
                <a:solidFill>
                  <a:schemeClr val="tx1"/>
                </a:solidFill>
                <a:latin typeface="+mj-ea"/>
                <a:ea typeface="+mj-ea"/>
              </a:rPr>
              <a:t>搜索过程：</a:t>
            </a:r>
            <a:r>
              <a:rPr lang="zh-CN" altLang="en-US" sz="2400" dirty="0">
                <a:solidFill>
                  <a:schemeClr val="tx1"/>
                </a:solidFill>
                <a:latin typeface="+mj-ea"/>
                <a:ea typeface="+mj-ea"/>
              </a:rPr>
              <a:t>算法首先检查当前扩展结点的左儿子结点的可行性。如果该</a:t>
            </a:r>
            <a:r>
              <a:rPr lang="zh-CN" altLang="en-US" sz="2400" u="sng" dirty="0">
                <a:solidFill>
                  <a:schemeClr val="tx1"/>
                </a:solidFill>
                <a:latin typeface="+mj-ea"/>
                <a:ea typeface="+mj-ea"/>
              </a:rPr>
              <a:t>左儿子结点是可行结点</a:t>
            </a:r>
            <a:r>
              <a:rPr lang="zh-CN" altLang="en-US" sz="2400" dirty="0">
                <a:solidFill>
                  <a:schemeClr val="tx1"/>
                </a:solidFill>
                <a:latin typeface="+mj-ea"/>
                <a:ea typeface="+mj-ea"/>
              </a:rPr>
              <a:t>，则将它加入到子集树和活结点优先队列中。当前扩展结点的右儿子结点一定是可行结点，仅当</a:t>
            </a:r>
            <a:r>
              <a:rPr lang="zh-CN" altLang="en-US" sz="2400" u="sng" dirty="0">
                <a:solidFill>
                  <a:schemeClr val="tx1"/>
                </a:solidFill>
                <a:latin typeface="+mj-ea"/>
                <a:ea typeface="+mj-ea"/>
              </a:rPr>
              <a:t>右儿子结点满足上界约束时</a:t>
            </a:r>
            <a:r>
              <a:rPr lang="zh-CN" altLang="en-US" sz="2400" dirty="0">
                <a:solidFill>
                  <a:schemeClr val="tx1"/>
                </a:solidFill>
                <a:latin typeface="+mj-ea"/>
                <a:ea typeface="+mj-ea"/>
              </a:rPr>
              <a:t>才将它加入子集树和活结点优先队列。当</a:t>
            </a:r>
            <a:r>
              <a:rPr lang="zh-CN" altLang="en-US" sz="2400" u="sng" dirty="0">
                <a:solidFill>
                  <a:schemeClr val="tx1"/>
                </a:solidFill>
                <a:latin typeface="+mj-ea"/>
                <a:ea typeface="+mj-ea"/>
              </a:rPr>
              <a:t>扩展到叶节点时为问题的最优值</a:t>
            </a:r>
            <a:r>
              <a:rPr lang="zh-CN" altLang="en-US" sz="2400" dirty="0">
                <a:solidFill>
                  <a:schemeClr val="tx1"/>
                </a:solidFill>
                <a:latin typeface="+mj-ea"/>
                <a:ea typeface="+mj-ea"/>
              </a:rPr>
              <a:t>。</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7990"/>
                                        </p:tgtEl>
                                        <p:attrNameLst>
                                          <p:attrName>style.visibility</p:attrName>
                                        </p:attrNameLst>
                                      </p:cBhvr>
                                      <p:to>
                                        <p:strVal val="visible"/>
                                      </p:to>
                                    </p:set>
                                    <p:anim calcmode="lin" valueType="num">
                                      <p:cBhvr additive="base">
                                        <p:cTn id="7" dur="500" fill="hold"/>
                                        <p:tgtEl>
                                          <p:spTgt spid="297990"/>
                                        </p:tgtEl>
                                        <p:attrNameLst>
                                          <p:attrName>ppt_x</p:attrName>
                                        </p:attrNameLst>
                                      </p:cBhvr>
                                      <p:tavLst>
                                        <p:tav tm="0">
                                          <p:val>
                                            <p:strVal val="0-#ppt_w/2"/>
                                          </p:val>
                                        </p:tav>
                                        <p:tav tm="100000">
                                          <p:val>
                                            <p:strVal val="#ppt_x"/>
                                          </p:val>
                                        </p:tav>
                                      </p:tavLst>
                                    </p:anim>
                                    <p:anim calcmode="lin" valueType="num">
                                      <p:cBhvr additive="base">
                                        <p:cTn id="8" dur="500" fill="hold"/>
                                        <p:tgtEl>
                                          <p:spTgt spid="29799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7991"/>
                                        </p:tgtEl>
                                        <p:attrNameLst>
                                          <p:attrName>style.visibility</p:attrName>
                                        </p:attrNameLst>
                                      </p:cBhvr>
                                      <p:to>
                                        <p:strVal val="visible"/>
                                      </p:to>
                                    </p:set>
                                    <p:anim calcmode="lin" valueType="num">
                                      <p:cBhvr additive="base">
                                        <p:cTn id="13" dur="500" fill="hold"/>
                                        <p:tgtEl>
                                          <p:spTgt spid="297991"/>
                                        </p:tgtEl>
                                        <p:attrNameLst>
                                          <p:attrName>ppt_x</p:attrName>
                                        </p:attrNameLst>
                                      </p:cBhvr>
                                      <p:tavLst>
                                        <p:tav tm="0">
                                          <p:val>
                                            <p:strVal val="#ppt_x"/>
                                          </p:val>
                                        </p:tav>
                                        <p:tav tm="100000">
                                          <p:val>
                                            <p:strVal val="#ppt_x"/>
                                          </p:val>
                                        </p:tav>
                                      </p:tavLst>
                                    </p:anim>
                                    <p:anim calcmode="lin" valueType="num">
                                      <p:cBhvr additive="base">
                                        <p:cTn id="14" dur="500" fill="hold"/>
                                        <p:tgtEl>
                                          <p:spTgt spid="2979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90" grpId="0" autoUpdateAnimBg="0"/>
      <p:bldP spid="29799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0E341AB-F52C-4075-B3C1-99497AB3B9D4}"/>
              </a:ext>
            </a:extLst>
          </p:cNvPr>
          <p:cNvSpPr>
            <a:spLocks noGrp="1" noRot="1" noChangeArrowheads="1"/>
          </p:cNvSpPr>
          <p:nvPr>
            <p:ph type="title"/>
          </p:nvPr>
        </p:nvSpPr>
        <p:spPr>
          <a:xfrm>
            <a:off x="468313" y="414338"/>
            <a:ext cx="8540750" cy="1143000"/>
          </a:xfrm>
        </p:spPr>
        <p:txBody>
          <a:bodyPr/>
          <a:lstStyle/>
          <a:p>
            <a:pPr>
              <a:defRPr/>
            </a:pPr>
            <a:r>
              <a:rPr lang="en-US" altLang="zh-CN" sz="3600">
                <a:latin typeface="+mj-ea"/>
              </a:rPr>
              <a:t>0-1</a:t>
            </a:r>
            <a:r>
              <a:rPr lang="zh-CN" altLang="en-US" sz="3600">
                <a:latin typeface="+mj-ea"/>
              </a:rPr>
              <a:t>背包问题</a:t>
            </a:r>
          </a:p>
        </p:txBody>
      </p:sp>
      <p:sp>
        <p:nvSpPr>
          <p:cNvPr id="37891" name="Rectangle 3">
            <a:extLst>
              <a:ext uri="{FF2B5EF4-FFF2-40B4-BE49-F238E27FC236}">
                <a16:creationId xmlns:a16="http://schemas.microsoft.com/office/drawing/2014/main" id="{320B5616-BE86-43E8-8366-0CF6FDC1186A}"/>
              </a:ext>
            </a:extLst>
          </p:cNvPr>
          <p:cNvSpPr>
            <a:spLocks noGrp="1" noRot="1" noChangeArrowheads="1"/>
          </p:cNvSpPr>
          <p:nvPr>
            <p:ph type="body" idx="1"/>
          </p:nvPr>
        </p:nvSpPr>
        <p:spPr>
          <a:xfrm>
            <a:off x="431800" y="1339850"/>
            <a:ext cx="8532813" cy="5473700"/>
          </a:xfrm>
        </p:spPr>
        <p:txBody>
          <a:bodyPr/>
          <a:lstStyle/>
          <a:p>
            <a:pPr>
              <a:buFont typeface="Wingdings" panose="05000000000000000000" pitchFamily="2" charset="2"/>
              <a:buNone/>
              <a:defRPr/>
            </a:pPr>
            <a:r>
              <a:rPr lang="zh-CN" altLang="en-US" b="1" dirty="0">
                <a:latin typeface="+mj-ea"/>
                <a:ea typeface="+mj-ea"/>
              </a:rPr>
              <a:t>算法描述:</a:t>
            </a:r>
          </a:p>
          <a:p>
            <a:pPr lvl="1">
              <a:buFont typeface="Wingdings" panose="05000000000000000000" pitchFamily="2" charset="2"/>
              <a:buNone/>
              <a:defRPr/>
            </a:pPr>
            <a:r>
              <a:rPr lang="zh-CN" altLang="en-US" sz="2400" b="1" dirty="0">
                <a:latin typeface="+mj-ea"/>
                <a:ea typeface="+mj-ea"/>
              </a:rPr>
              <a:t>初始化，将物品按照单位价值从大到小的顺序排列</a:t>
            </a:r>
          </a:p>
          <a:p>
            <a:pPr lvl="1">
              <a:buFont typeface="Wingdings" panose="05000000000000000000" pitchFamily="2" charset="2"/>
              <a:buNone/>
              <a:defRPr/>
            </a:pPr>
            <a:r>
              <a:rPr lang="zh-CN" altLang="en-US" sz="2400" b="1" dirty="0">
                <a:latin typeface="+mj-ea"/>
                <a:ea typeface="+mj-ea"/>
              </a:rPr>
              <a:t>从第一个物品开始</a:t>
            </a:r>
            <a:endParaRPr lang="en-US" altLang="zh-CN" b="1" dirty="0">
              <a:latin typeface="+mj-ea"/>
              <a:ea typeface="+mj-ea"/>
            </a:endParaRPr>
          </a:p>
          <a:p>
            <a:pPr lvl="2">
              <a:buFont typeface="Wingdings" panose="05000000000000000000" pitchFamily="2" charset="2"/>
              <a:buNone/>
              <a:defRPr/>
            </a:pPr>
            <a:r>
              <a:rPr kumimoji="1" lang="zh-CN" altLang="en-US" b="1" dirty="0">
                <a:solidFill>
                  <a:srgbClr val="CC0000"/>
                </a:solidFill>
                <a:latin typeface="+mj-ea"/>
                <a:ea typeface="+mj-ea"/>
              </a:rPr>
              <a:t>  左儿子加入后是否满足约束</a:t>
            </a:r>
          </a:p>
          <a:p>
            <a:pPr lvl="4">
              <a:buFont typeface="Wingdings" panose="05000000000000000000" pitchFamily="2" charset="2"/>
              <a:buNone/>
              <a:defRPr/>
            </a:pPr>
            <a:r>
              <a:rPr lang="zh-CN" altLang="en-US" sz="2300" b="1" dirty="0">
                <a:solidFill>
                  <a:srgbClr val="9900FF"/>
                </a:solidFill>
                <a:latin typeface="+mj-ea"/>
                <a:ea typeface="+mj-ea"/>
              </a:rPr>
              <a:t>将顶点</a:t>
            </a:r>
            <a:r>
              <a:rPr lang="en-US" altLang="zh-CN" sz="2300" b="1" dirty="0" err="1">
                <a:solidFill>
                  <a:srgbClr val="9900FF"/>
                </a:solidFill>
                <a:latin typeface="+mj-ea"/>
                <a:ea typeface="+mj-ea"/>
              </a:rPr>
              <a:t>i</a:t>
            </a:r>
            <a:r>
              <a:rPr lang="zh-CN" altLang="en-US" sz="2300" b="1" dirty="0">
                <a:solidFill>
                  <a:srgbClr val="9900FF"/>
                </a:solidFill>
                <a:latin typeface="+mj-ea"/>
                <a:ea typeface="+mj-ea"/>
              </a:rPr>
              <a:t>加入到最大优先队列中</a:t>
            </a:r>
            <a:r>
              <a:rPr lang="zh-CN" altLang="en-US" sz="1700" b="1" dirty="0">
                <a:latin typeface="+mj-ea"/>
                <a:ea typeface="+mj-ea"/>
              </a:rPr>
              <a:t>   </a:t>
            </a:r>
          </a:p>
          <a:p>
            <a:pPr lvl="4">
              <a:buFont typeface="Wingdings" panose="05000000000000000000" pitchFamily="2" charset="2"/>
              <a:buNone/>
              <a:defRPr/>
            </a:pPr>
            <a:r>
              <a:rPr lang="zh-CN" altLang="en-US" sz="2300" b="1" dirty="0">
                <a:latin typeface="+mj-ea"/>
                <a:ea typeface="+mj-ea"/>
              </a:rPr>
              <a:t>修改最大价值</a:t>
            </a:r>
            <a:r>
              <a:rPr lang="en-US" altLang="zh-CN" sz="2300" b="1" dirty="0">
                <a:latin typeface="+mj-ea"/>
                <a:ea typeface="+mj-ea"/>
              </a:rPr>
              <a:t>,</a:t>
            </a:r>
            <a:r>
              <a:rPr lang="zh-CN" altLang="en-US" sz="2300" b="1" dirty="0">
                <a:latin typeface="+mj-ea"/>
                <a:ea typeface="+mj-ea"/>
              </a:rPr>
              <a:t>修改上界条件</a:t>
            </a:r>
          </a:p>
          <a:p>
            <a:pPr lvl="2">
              <a:lnSpc>
                <a:spcPct val="80000"/>
              </a:lnSpc>
              <a:buFont typeface="Wingdings" panose="05000000000000000000" pitchFamily="2" charset="2"/>
              <a:buNone/>
              <a:defRPr/>
            </a:pPr>
            <a:r>
              <a:rPr lang="zh-CN" altLang="en-US" b="1" dirty="0">
                <a:solidFill>
                  <a:srgbClr val="CC0000"/>
                </a:solidFill>
                <a:latin typeface="+mj-ea"/>
                <a:ea typeface="+mj-ea"/>
              </a:rPr>
              <a:t>  检查右儿子是否满足限界条件</a:t>
            </a:r>
          </a:p>
          <a:p>
            <a:pPr lvl="4">
              <a:lnSpc>
                <a:spcPct val="80000"/>
              </a:lnSpc>
              <a:buFont typeface="Wingdings" panose="05000000000000000000" pitchFamily="2" charset="2"/>
              <a:buNone/>
              <a:defRPr/>
            </a:pPr>
            <a:r>
              <a:rPr lang="zh-CN" altLang="en-US" sz="2300" b="1" dirty="0">
                <a:latin typeface="+mj-ea"/>
                <a:ea typeface="+mj-ea"/>
              </a:rPr>
              <a:t>将右儿子加入优先队列</a:t>
            </a:r>
          </a:p>
          <a:p>
            <a:pPr lvl="4">
              <a:lnSpc>
                <a:spcPct val="80000"/>
              </a:lnSpc>
              <a:buFont typeface="Wingdings" panose="05000000000000000000" pitchFamily="2" charset="2"/>
              <a:buNone/>
              <a:defRPr/>
            </a:pPr>
            <a:r>
              <a:rPr lang="zh-CN" altLang="en-US" sz="2300" b="1" dirty="0">
                <a:latin typeface="+mj-ea"/>
                <a:ea typeface="+mj-ea"/>
              </a:rPr>
              <a:t>修改上界条件</a:t>
            </a:r>
            <a:endParaRPr lang="zh-CN" altLang="en-US" sz="1700" b="1" dirty="0">
              <a:latin typeface="+mj-ea"/>
              <a:ea typeface="+mj-ea"/>
            </a:endParaRPr>
          </a:p>
          <a:p>
            <a:pPr lvl="1">
              <a:buFont typeface="Wingdings" panose="05000000000000000000" pitchFamily="2" charset="2"/>
              <a:buNone/>
              <a:defRPr/>
            </a:pPr>
            <a:r>
              <a:rPr lang="zh-CN" altLang="en-US" sz="2400" b="1" dirty="0">
                <a:latin typeface="+mj-ea"/>
                <a:ea typeface="+mj-ea"/>
              </a:rPr>
              <a:t>取下一扩展结点</a:t>
            </a:r>
            <a:endParaRPr lang="zh-CN" altLang="en-US" sz="1600" b="1" dirty="0">
              <a:latin typeface="+mj-ea"/>
              <a:ea typeface="+mj-ea"/>
            </a:endParaRPr>
          </a:p>
          <a:p>
            <a:pPr lvl="1">
              <a:buFont typeface="Wingdings" panose="05000000000000000000" pitchFamily="2" charset="2"/>
              <a:buNone/>
              <a:defRPr/>
            </a:pPr>
            <a:r>
              <a:rPr lang="zh-CN" altLang="en-US" sz="2400" b="1" dirty="0">
                <a:latin typeface="+mj-ea"/>
                <a:ea typeface="+mj-ea"/>
              </a:rPr>
              <a:t>当队列为空时， 输出当前记录的路径</a:t>
            </a:r>
          </a:p>
        </p:txBody>
      </p:sp>
      <p:sp>
        <p:nvSpPr>
          <p:cNvPr id="37892" name="灯片编号占位符 3">
            <a:extLst>
              <a:ext uri="{FF2B5EF4-FFF2-40B4-BE49-F238E27FC236}">
                <a16:creationId xmlns:a16="http://schemas.microsoft.com/office/drawing/2014/main" id="{09CE55A4-22A0-45F1-82CE-87947FD408A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2E45CFC5-7319-48CE-9075-B2976968C81B}" type="slidenum">
              <a:rPr lang="zh-CN" altLang="en-US" sz="1200">
                <a:solidFill>
                  <a:schemeClr val="tx1"/>
                </a:solidFill>
                <a:latin typeface="微软雅黑" panose="020B0503020204020204" pitchFamily="34" charset="-122"/>
                <a:ea typeface="微软雅黑" panose="020B0503020204020204" pitchFamily="34" charset="-122"/>
              </a:rPr>
              <a:pPr/>
              <a:t>29</a:t>
            </a:fld>
            <a:endParaRPr lang="zh-CN" altLang="en-US" sz="12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dissolv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EBDFD0B-7F34-49CB-91AC-33E8EDA0BDDA}"/>
              </a:ext>
            </a:extLst>
          </p:cNvPr>
          <p:cNvSpPr>
            <a:spLocks noGrp="1" noChangeArrowheads="1"/>
          </p:cNvSpPr>
          <p:nvPr>
            <p:ph type="title"/>
          </p:nvPr>
        </p:nvSpPr>
        <p:spPr/>
        <p:txBody>
          <a:bodyPr/>
          <a:lstStyle/>
          <a:p>
            <a:pPr>
              <a:defRPr/>
            </a:pPr>
            <a:r>
              <a:rPr lang="zh-CN" altLang="en-US">
                <a:latin typeface="+mj-ea"/>
              </a:rPr>
              <a:t>6.5    0-1背包问题</a:t>
            </a:r>
          </a:p>
        </p:txBody>
      </p:sp>
      <p:sp>
        <p:nvSpPr>
          <p:cNvPr id="38915" name="灯片编号占位符 5">
            <a:extLst>
              <a:ext uri="{FF2B5EF4-FFF2-40B4-BE49-F238E27FC236}">
                <a16:creationId xmlns:a16="http://schemas.microsoft.com/office/drawing/2014/main" id="{48ED7C53-725B-4005-B22D-DC2DF0E1A196}"/>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9626022-6FDA-4816-A17F-0A6B5985531C}" type="slidenum">
              <a:rPr lang="zh-CN" altLang="en-US" sz="1200">
                <a:solidFill>
                  <a:schemeClr val="tx1"/>
                </a:solidFill>
                <a:latin typeface="微软雅黑" panose="020B0503020204020204" pitchFamily="34" charset="-122"/>
                <a:ea typeface="微软雅黑" panose="020B0503020204020204" pitchFamily="34" charset="-122"/>
              </a:rPr>
              <a:pPr/>
              <a:t>30</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8916" name="Text Box 4">
            <a:extLst>
              <a:ext uri="{FF2B5EF4-FFF2-40B4-BE49-F238E27FC236}">
                <a16:creationId xmlns:a16="http://schemas.microsoft.com/office/drawing/2014/main" id="{192DA445-E966-4748-A29F-C56B667C6F5C}"/>
              </a:ext>
            </a:extLst>
          </p:cNvPr>
          <p:cNvSpPr txBox="1">
            <a:spLocks noChangeArrowheads="1"/>
          </p:cNvSpPr>
          <p:nvPr/>
        </p:nvSpPr>
        <p:spPr bwMode="auto">
          <a:xfrm>
            <a:off x="500063" y="1285875"/>
            <a:ext cx="5791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3200" dirty="0">
                <a:solidFill>
                  <a:schemeClr val="accent2"/>
                </a:solidFill>
                <a:latin typeface="+mj-ea"/>
                <a:ea typeface="+mj-ea"/>
              </a:rPr>
              <a:t>数据结构</a:t>
            </a:r>
            <a:endParaRPr lang="zh-CN" altLang="en-US" dirty="0">
              <a:solidFill>
                <a:schemeClr val="accent2"/>
              </a:solidFill>
              <a:latin typeface="+mj-ea"/>
              <a:ea typeface="+mj-ea"/>
            </a:endParaRPr>
          </a:p>
        </p:txBody>
      </p:sp>
      <p:sp>
        <p:nvSpPr>
          <p:cNvPr id="38917" name="Text Box 5">
            <a:extLst>
              <a:ext uri="{FF2B5EF4-FFF2-40B4-BE49-F238E27FC236}">
                <a16:creationId xmlns:a16="http://schemas.microsoft.com/office/drawing/2014/main" id="{95189A12-1A6F-446A-AE6B-170F0686D175}"/>
              </a:ext>
            </a:extLst>
          </p:cNvPr>
          <p:cNvSpPr txBox="1">
            <a:spLocks noChangeArrowheads="1"/>
          </p:cNvSpPr>
          <p:nvPr/>
        </p:nvSpPr>
        <p:spPr bwMode="auto">
          <a:xfrm>
            <a:off x="896938" y="3697288"/>
            <a:ext cx="8143875"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000" dirty="0">
                <a:solidFill>
                  <a:schemeClr val="tx1"/>
                </a:solidFill>
                <a:latin typeface="+mj-ea"/>
                <a:ea typeface="+mj-ea"/>
              </a:rPr>
              <a:t>class </a:t>
            </a:r>
            <a:r>
              <a:rPr lang="en-US" altLang="zh-CN" sz="2000" dirty="0" err="1">
                <a:solidFill>
                  <a:schemeClr val="tx1"/>
                </a:solidFill>
                <a:latin typeface="+mj-ea"/>
                <a:ea typeface="+mj-ea"/>
              </a:rPr>
              <a:t>HeapNode</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a:t>
            </a:r>
          </a:p>
          <a:p>
            <a:pPr>
              <a:defRPr/>
            </a:pPr>
            <a:r>
              <a:rPr lang="en-US" altLang="zh-CN" sz="2000" dirty="0">
                <a:solidFill>
                  <a:schemeClr val="tx1"/>
                </a:solidFill>
                <a:latin typeface="+mj-ea"/>
                <a:ea typeface="+mj-ea"/>
              </a:rPr>
              <a:t>    private:</a:t>
            </a:r>
          </a:p>
          <a:p>
            <a:pPr>
              <a:defRPr/>
            </a:pPr>
            <a:r>
              <a:rPr lang="en-US" altLang="zh-CN" sz="2000" dirty="0">
                <a:solidFill>
                  <a:schemeClr val="tx1"/>
                </a:solidFill>
                <a:latin typeface="+mj-ea"/>
                <a:ea typeface="+mj-ea"/>
              </a:rPr>
              <a:t>        </a:t>
            </a:r>
            <a:r>
              <a:rPr lang="en-US" altLang="zh-CN" sz="2000" dirty="0" err="1">
                <a:solidFill>
                  <a:schemeClr val="tx1"/>
                </a:solidFill>
                <a:latin typeface="+mj-ea"/>
                <a:ea typeface="+mj-ea"/>
              </a:rPr>
              <a:t>Typep</a:t>
            </a:r>
            <a:r>
              <a:rPr lang="en-US" altLang="zh-CN" sz="2000" dirty="0">
                <a:solidFill>
                  <a:schemeClr val="tx1"/>
                </a:solidFill>
                <a:latin typeface="+mj-ea"/>
                <a:ea typeface="+mj-ea"/>
              </a:rPr>
              <a:t> </a:t>
            </a:r>
            <a:r>
              <a:rPr lang="en-US" altLang="zh-CN" sz="2000" dirty="0" err="1">
                <a:solidFill>
                  <a:schemeClr val="tx1"/>
                </a:solidFill>
                <a:latin typeface="+mj-ea"/>
                <a:ea typeface="+mj-ea"/>
              </a:rPr>
              <a:t>uprofit</a:t>
            </a:r>
            <a:r>
              <a:rPr lang="en-US" altLang="zh-CN" sz="2000" dirty="0">
                <a:solidFill>
                  <a:schemeClr val="tx1"/>
                </a:solidFill>
                <a:latin typeface="+mj-ea"/>
                <a:ea typeface="+mj-ea"/>
              </a:rPr>
              <a:t>,          //</a:t>
            </a:r>
            <a:r>
              <a:rPr lang="zh-CN" altLang="en-US" sz="2000" dirty="0">
                <a:solidFill>
                  <a:schemeClr val="tx1"/>
                </a:solidFill>
                <a:latin typeface="+mj-ea"/>
                <a:ea typeface="+mj-ea"/>
              </a:rPr>
              <a:t>节点的价值上界</a:t>
            </a:r>
          </a:p>
          <a:p>
            <a:pPr>
              <a:defRPr/>
            </a:pPr>
            <a:r>
              <a:rPr lang="zh-CN" altLang="en-US" sz="2000" dirty="0">
                <a:solidFill>
                  <a:schemeClr val="tx1"/>
                </a:solidFill>
                <a:latin typeface="+mj-ea"/>
                <a:ea typeface="+mj-ea"/>
              </a:rPr>
              <a:t>             </a:t>
            </a:r>
            <a:r>
              <a:rPr lang="en-US" altLang="zh-CN" sz="2000" dirty="0">
                <a:solidFill>
                  <a:schemeClr val="tx1"/>
                </a:solidFill>
                <a:latin typeface="+mj-ea"/>
                <a:ea typeface="+mj-ea"/>
              </a:rPr>
              <a:t>profit;                 //</a:t>
            </a:r>
            <a:r>
              <a:rPr lang="zh-CN" altLang="en-US" sz="2000" dirty="0">
                <a:solidFill>
                  <a:schemeClr val="tx1"/>
                </a:solidFill>
                <a:latin typeface="+mj-ea"/>
                <a:ea typeface="+mj-ea"/>
              </a:rPr>
              <a:t>节点所相应的价值</a:t>
            </a:r>
          </a:p>
          <a:p>
            <a:pPr>
              <a:defRPr/>
            </a:pPr>
            <a:r>
              <a:rPr lang="zh-CN" altLang="en-US" sz="2000" dirty="0">
                <a:solidFill>
                  <a:schemeClr val="tx1"/>
                </a:solidFill>
                <a:latin typeface="+mj-ea"/>
                <a:ea typeface="+mj-ea"/>
              </a:rPr>
              <a:t>        </a:t>
            </a:r>
            <a:r>
              <a:rPr lang="en-US" altLang="zh-CN" sz="2000" dirty="0" err="1">
                <a:solidFill>
                  <a:schemeClr val="tx1"/>
                </a:solidFill>
                <a:latin typeface="+mj-ea"/>
                <a:ea typeface="+mj-ea"/>
              </a:rPr>
              <a:t>Typew</a:t>
            </a:r>
            <a:r>
              <a:rPr lang="en-US" altLang="zh-CN" sz="2000" dirty="0">
                <a:solidFill>
                  <a:schemeClr val="tx1"/>
                </a:solidFill>
                <a:latin typeface="+mj-ea"/>
                <a:ea typeface="+mj-ea"/>
              </a:rPr>
              <a:t> weight;        //</a:t>
            </a:r>
            <a:r>
              <a:rPr lang="zh-CN" altLang="en-US" sz="2000" dirty="0">
                <a:solidFill>
                  <a:schemeClr val="tx1"/>
                </a:solidFill>
                <a:latin typeface="+mj-ea"/>
                <a:ea typeface="+mj-ea"/>
              </a:rPr>
              <a:t>节点所相应的重量</a:t>
            </a:r>
          </a:p>
          <a:p>
            <a:pPr>
              <a:defRPr/>
            </a:pPr>
            <a:r>
              <a:rPr lang="zh-CN" altLang="en-US" sz="2000" dirty="0">
                <a:solidFill>
                  <a:schemeClr val="tx1"/>
                </a:solidFill>
                <a:latin typeface="+mj-ea"/>
                <a:ea typeface="+mj-ea"/>
              </a:rPr>
              <a:t>        </a:t>
            </a:r>
            <a:r>
              <a:rPr lang="en-US" altLang="zh-CN" sz="2000" dirty="0" err="1">
                <a:solidFill>
                  <a:schemeClr val="tx1"/>
                </a:solidFill>
                <a:latin typeface="+mj-ea"/>
                <a:ea typeface="+mj-ea"/>
              </a:rPr>
              <a:t>int</a:t>
            </a:r>
            <a:r>
              <a:rPr lang="en-US" altLang="zh-CN" sz="2000" dirty="0">
                <a:solidFill>
                  <a:schemeClr val="tx1"/>
                </a:solidFill>
                <a:latin typeface="+mj-ea"/>
                <a:ea typeface="+mj-ea"/>
              </a:rPr>
              <a:t> level;                 //</a:t>
            </a:r>
            <a:r>
              <a:rPr lang="zh-CN" altLang="en-US" sz="2000" dirty="0">
                <a:solidFill>
                  <a:schemeClr val="tx1"/>
                </a:solidFill>
                <a:latin typeface="+mj-ea"/>
                <a:ea typeface="+mj-ea"/>
              </a:rPr>
              <a:t>活节点在子集树中所处的层序号</a:t>
            </a:r>
            <a:endParaRPr lang="en-US" altLang="zh-CN" sz="2000" dirty="0">
              <a:solidFill>
                <a:schemeClr val="tx1"/>
              </a:solidFill>
              <a:latin typeface="+mj-ea"/>
              <a:ea typeface="+mj-ea"/>
            </a:endParaRPr>
          </a:p>
          <a:p>
            <a:pPr>
              <a:defRPr/>
            </a:pPr>
            <a:endParaRPr lang="zh-CN" altLang="en-US" sz="2000" dirty="0">
              <a:solidFill>
                <a:schemeClr val="tx1"/>
              </a:solidFill>
              <a:latin typeface="+mj-ea"/>
              <a:ea typeface="+mj-ea"/>
            </a:endParaRPr>
          </a:p>
          <a:p>
            <a:pPr>
              <a:defRPr/>
            </a:pPr>
            <a:r>
              <a:rPr lang="zh-CN" altLang="en-US" sz="2000" dirty="0">
                <a:solidFill>
                  <a:schemeClr val="tx1"/>
                </a:solidFill>
                <a:latin typeface="+mj-ea"/>
                <a:ea typeface="+mj-ea"/>
              </a:rPr>
              <a:t>        </a:t>
            </a:r>
            <a:r>
              <a:rPr lang="en-US" altLang="zh-CN" sz="2000" dirty="0" err="1">
                <a:solidFill>
                  <a:schemeClr val="tx1"/>
                </a:solidFill>
                <a:latin typeface="+mj-ea"/>
                <a:ea typeface="+mj-ea"/>
              </a:rPr>
              <a:t>bbnode</a:t>
            </a:r>
            <a:r>
              <a:rPr lang="en-US" altLang="zh-CN" sz="2000" dirty="0">
                <a:solidFill>
                  <a:schemeClr val="tx1"/>
                </a:solidFill>
                <a:latin typeface="+mj-ea"/>
                <a:ea typeface="+mj-ea"/>
              </a:rPr>
              <a:t> *</a:t>
            </a:r>
            <a:r>
              <a:rPr lang="en-US" altLang="zh-CN" sz="2000" dirty="0" err="1">
                <a:solidFill>
                  <a:schemeClr val="tx1"/>
                </a:solidFill>
                <a:latin typeface="+mj-ea"/>
                <a:ea typeface="+mj-ea"/>
              </a:rPr>
              <a:t>ptr</a:t>
            </a:r>
            <a:r>
              <a:rPr lang="en-US" altLang="zh-CN" sz="2000" dirty="0">
                <a:solidFill>
                  <a:schemeClr val="tx1"/>
                </a:solidFill>
                <a:latin typeface="+mj-ea"/>
                <a:ea typeface="+mj-ea"/>
              </a:rPr>
              <a:t>;          //</a:t>
            </a:r>
            <a:r>
              <a:rPr lang="zh-CN" altLang="en-US" sz="2000" dirty="0">
                <a:solidFill>
                  <a:schemeClr val="tx1"/>
                </a:solidFill>
                <a:latin typeface="+mj-ea"/>
                <a:ea typeface="+mj-ea"/>
              </a:rPr>
              <a:t>指向活节点在子集中相应节点的指针</a:t>
            </a:r>
          </a:p>
          <a:p>
            <a:pPr>
              <a:defRPr/>
            </a:pPr>
            <a:r>
              <a:rPr lang="en-US" altLang="zh-CN" sz="2000" dirty="0">
                <a:solidFill>
                  <a:schemeClr val="tx1"/>
                </a:solidFill>
                <a:latin typeface="+mj-ea"/>
                <a:ea typeface="+mj-ea"/>
              </a:rPr>
              <a:t>};</a:t>
            </a:r>
            <a:endParaRPr lang="zh-CN" altLang="en-US" sz="2000" dirty="0">
              <a:solidFill>
                <a:schemeClr val="tx1"/>
              </a:solidFill>
              <a:latin typeface="+mj-ea"/>
              <a:ea typeface="+mj-ea"/>
            </a:endParaRPr>
          </a:p>
          <a:p>
            <a:pPr algn="just" eaLnBrk="1" hangingPunct="1">
              <a:buClr>
                <a:schemeClr val="accent1"/>
              </a:buClr>
              <a:buSzPct val="65000"/>
              <a:buFont typeface="Wingdings" panose="05000000000000000000" pitchFamily="2" charset="2"/>
              <a:buNone/>
              <a:defRPr/>
            </a:pPr>
            <a:endParaRPr lang="zh-CN" altLang="en-US" sz="2000" dirty="0">
              <a:solidFill>
                <a:schemeClr val="tx1"/>
              </a:solidFill>
              <a:latin typeface="+mj-ea"/>
              <a:ea typeface="+mj-ea"/>
            </a:endParaRPr>
          </a:p>
        </p:txBody>
      </p:sp>
      <p:sp>
        <p:nvSpPr>
          <p:cNvPr id="38918" name="矩形 1">
            <a:extLst>
              <a:ext uri="{FF2B5EF4-FFF2-40B4-BE49-F238E27FC236}">
                <a16:creationId xmlns:a16="http://schemas.microsoft.com/office/drawing/2014/main" id="{9E09EF07-7683-42E8-9560-2CEE5537958A}"/>
              </a:ext>
            </a:extLst>
          </p:cNvPr>
          <p:cNvSpPr>
            <a:spLocks noChangeArrowheads="1"/>
          </p:cNvSpPr>
          <p:nvPr/>
        </p:nvSpPr>
        <p:spPr bwMode="auto">
          <a:xfrm>
            <a:off x="811213" y="2016125"/>
            <a:ext cx="68326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None/>
              <a:defRPr/>
            </a:pPr>
            <a:r>
              <a:rPr kumimoji="1" lang="zh-CN" altLang="en-US" sz="2000" dirty="0">
                <a:solidFill>
                  <a:schemeClr val="tx1"/>
                </a:solidFill>
                <a:latin typeface="+mj-ea"/>
                <a:ea typeface="+mj-ea"/>
              </a:rPr>
              <a:t>准备工作：创建一个最大堆，来实现活结点优先队列</a:t>
            </a:r>
            <a:endParaRPr kumimoji="1" lang="en-US" altLang="zh-CN" sz="2000" dirty="0">
              <a:solidFill>
                <a:schemeClr val="tx1"/>
              </a:solidFill>
              <a:latin typeface="+mj-ea"/>
              <a:ea typeface="+mj-ea"/>
            </a:endParaRPr>
          </a:p>
          <a:p>
            <a:pPr eaLnBrk="1" hangingPunct="1">
              <a:spcBef>
                <a:spcPct val="20000"/>
              </a:spcBef>
              <a:buClr>
                <a:schemeClr val="accent1"/>
              </a:buClr>
              <a:buSzPct val="65000"/>
              <a:buFont typeface="Wingdings" panose="05000000000000000000" pitchFamily="2" charset="2"/>
              <a:buNone/>
              <a:defRPr/>
            </a:pPr>
            <a:endParaRPr kumimoji="1" lang="en-US" altLang="zh-CN" sz="2000" dirty="0">
              <a:solidFill>
                <a:schemeClr val="tx1"/>
              </a:solidFill>
              <a:latin typeface="+mj-ea"/>
              <a:ea typeface="+mj-ea"/>
            </a:endParaRPr>
          </a:p>
          <a:p>
            <a:pPr eaLnBrk="1" hangingPunct="1">
              <a:spcBef>
                <a:spcPct val="20000"/>
              </a:spcBef>
              <a:buClr>
                <a:schemeClr val="accent1"/>
              </a:buClr>
              <a:buSzPct val="65000"/>
              <a:buFont typeface="Wingdings" panose="05000000000000000000" pitchFamily="2" charset="2"/>
              <a:buNone/>
              <a:defRPr/>
            </a:pPr>
            <a:endParaRPr kumimoji="1" lang="en-US" altLang="zh-CN" sz="2000" dirty="0">
              <a:solidFill>
                <a:schemeClr val="tx1"/>
              </a:solidFill>
              <a:latin typeface="+mj-ea"/>
              <a:ea typeface="+mj-ea"/>
            </a:endParaRPr>
          </a:p>
          <a:p>
            <a:pPr eaLnBrk="1" hangingPunct="1">
              <a:spcBef>
                <a:spcPct val="20000"/>
              </a:spcBef>
              <a:buClr>
                <a:schemeClr val="accent1"/>
              </a:buClr>
              <a:buSzPct val="65000"/>
              <a:buFont typeface="Wingdings" panose="05000000000000000000" pitchFamily="2" charset="2"/>
              <a:buNone/>
              <a:defRPr/>
            </a:pPr>
            <a:r>
              <a:rPr kumimoji="1" lang="zh-CN" altLang="en-US" sz="2000" dirty="0">
                <a:solidFill>
                  <a:srgbClr val="0070C0"/>
                </a:solidFill>
                <a:latin typeface="+mj-ea"/>
                <a:ea typeface="+mj-ea"/>
              </a:rPr>
              <a:t>堆中元素类型为</a:t>
            </a:r>
            <a:r>
              <a:rPr kumimoji="1" lang="en-US" altLang="zh-CN" sz="2000" dirty="0" err="1">
                <a:solidFill>
                  <a:srgbClr val="0070C0"/>
                </a:solidFill>
                <a:latin typeface="+mj-ea"/>
                <a:ea typeface="+mj-ea"/>
              </a:rPr>
              <a:t>HeapNode</a:t>
            </a:r>
            <a:r>
              <a:rPr kumimoji="1" lang="zh-CN" altLang="en-US" sz="2000" dirty="0">
                <a:solidFill>
                  <a:schemeClr val="tx1"/>
                </a:solidFill>
                <a:latin typeface="+mj-ea"/>
                <a:ea typeface="+mj-ea"/>
              </a:rPr>
              <a:t>。</a:t>
            </a:r>
            <a:r>
              <a:rPr kumimoji="1" lang="zh-CN" altLang="en-US" sz="2000" dirty="0">
                <a:solidFill>
                  <a:srgbClr val="0070C0"/>
                </a:solidFill>
                <a:latin typeface="+mj-ea"/>
                <a:ea typeface="+mj-ea"/>
              </a:rPr>
              <a:t>子集树中节点类型为</a:t>
            </a:r>
            <a:r>
              <a:rPr lang="en-US" altLang="zh-CN" sz="2000" dirty="0" err="1">
                <a:solidFill>
                  <a:srgbClr val="0070C0"/>
                </a:solidFill>
                <a:latin typeface="+mj-ea"/>
                <a:ea typeface="+mj-ea"/>
              </a:rPr>
              <a:t>bbnode</a:t>
            </a:r>
            <a:endParaRPr kumimoji="1" lang="zh-CN" altLang="en-US" sz="2000" dirty="0">
              <a:solidFill>
                <a:srgbClr val="0070C0"/>
              </a:solidFill>
              <a:latin typeface="+mj-ea"/>
              <a:ea typeface="+mj-ea"/>
            </a:endParaRPr>
          </a:p>
        </p:txBody>
      </p:sp>
      <p:sp>
        <p:nvSpPr>
          <p:cNvPr id="2" name="矩形 1">
            <a:extLst>
              <a:ext uri="{FF2B5EF4-FFF2-40B4-BE49-F238E27FC236}">
                <a16:creationId xmlns:a16="http://schemas.microsoft.com/office/drawing/2014/main" id="{639BF594-2272-4AED-9594-1B42BCA3147D}"/>
              </a:ext>
            </a:extLst>
          </p:cNvPr>
          <p:cNvSpPr/>
          <p:nvPr/>
        </p:nvSpPr>
        <p:spPr>
          <a:xfrm>
            <a:off x="1284288" y="2487613"/>
            <a:ext cx="7700962" cy="390525"/>
          </a:xfrm>
          <a:prstGeom prst="rect">
            <a:avLst/>
          </a:prstGeom>
        </p:spPr>
        <p:txBody>
          <a:bodyPr>
            <a:spAutoFit/>
          </a:bodyPr>
          <a:lstStyle/>
          <a:p>
            <a:pPr>
              <a:lnSpc>
                <a:spcPts val="2500"/>
              </a:lnSpc>
              <a:defRPr/>
            </a:pPr>
            <a:r>
              <a:rPr lang="en-US" altLang="zh-CN" sz="2000" dirty="0" err="1">
                <a:latin typeface="+mj-ea"/>
              </a:rPr>
              <a:t>MaxHeap</a:t>
            </a:r>
            <a:r>
              <a:rPr lang="en-US" altLang="zh-CN" sz="2000" dirty="0">
                <a:latin typeface="+mj-ea"/>
              </a:rPr>
              <a:t>&lt;</a:t>
            </a:r>
            <a:r>
              <a:rPr lang="en-US" altLang="zh-CN" sz="2000" dirty="0" err="1">
                <a:latin typeface="+mj-ea"/>
              </a:rPr>
              <a:t>HeapNode</a:t>
            </a:r>
            <a:r>
              <a:rPr lang="en-US" altLang="zh-CN" sz="2000" dirty="0">
                <a:latin typeface="+mj-ea"/>
              </a:rPr>
              <a:t>&gt; H(1000);</a:t>
            </a:r>
            <a:r>
              <a:rPr lang="en-US" altLang="zh-CN" sz="2000" dirty="0">
                <a:solidFill>
                  <a:schemeClr val="tx1"/>
                </a:solidFill>
                <a:latin typeface="+mj-ea"/>
              </a:rPr>
              <a:t>  //</a:t>
            </a:r>
            <a:r>
              <a:rPr lang="zh-CN" altLang="en-US" sz="2000" dirty="0">
                <a:solidFill>
                  <a:schemeClr val="tx1"/>
                </a:solidFill>
                <a:latin typeface="+mj-ea"/>
              </a:rPr>
              <a:t>定义最大堆容量为</a:t>
            </a:r>
            <a:r>
              <a:rPr lang="en-US" altLang="zh-CN" sz="2000" dirty="0">
                <a:solidFill>
                  <a:schemeClr val="tx1"/>
                </a:solidFill>
                <a:latin typeface="+mj-ea"/>
              </a:rPr>
              <a:t>1000</a:t>
            </a:r>
            <a:endParaRPr lang="en-US" altLang="zh-CN" sz="2000" dirty="0">
              <a:latin typeface="+mj-ea"/>
            </a:endParaRPr>
          </a:p>
        </p:txBody>
      </p:sp>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AD9D7B6-E67E-4267-B3FA-EAEACD78809C}"/>
              </a:ext>
            </a:extLst>
          </p:cNvPr>
          <p:cNvSpPr>
            <a:spLocks noGrp="1" noChangeArrowheads="1"/>
          </p:cNvSpPr>
          <p:nvPr>
            <p:ph type="title"/>
          </p:nvPr>
        </p:nvSpPr>
        <p:spPr/>
        <p:txBody>
          <a:bodyPr/>
          <a:lstStyle/>
          <a:p>
            <a:pPr>
              <a:defRPr/>
            </a:pPr>
            <a:r>
              <a:rPr lang="zh-CN" altLang="en-US">
                <a:latin typeface="+mj-ea"/>
              </a:rPr>
              <a:t>6.5    0-1背包问题</a:t>
            </a:r>
          </a:p>
        </p:txBody>
      </p:sp>
      <p:sp>
        <p:nvSpPr>
          <p:cNvPr id="39939" name="灯片编号占位符 5">
            <a:extLst>
              <a:ext uri="{FF2B5EF4-FFF2-40B4-BE49-F238E27FC236}">
                <a16:creationId xmlns:a16="http://schemas.microsoft.com/office/drawing/2014/main" id="{13726BE5-624A-4B52-9F58-CE231BDB215B}"/>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F2B6482-162F-46D4-AEB4-D3F18F8867A3}" type="slidenum">
              <a:rPr lang="zh-CN" altLang="en-US" sz="1200">
                <a:solidFill>
                  <a:schemeClr val="tx1"/>
                </a:solidFill>
                <a:latin typeface="微软雅黑" panose="020B0503020204020204" pitchFamily="34" charset="-122"/>
                <a:ea typeface="微软雅黑" panose="020B0503020204020204" pitchFamily="34" charset="-122"/>
              </a:rPr>
              <a:pPr/>
              <a:t>31</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9940" name="Text Box 4">
            <a:extLst>
              <a:ext uri="{FF2B5EF4-FFF2-40B4-BE49-F238E27FC236}">
                <a16:creationId xmlns:a16="http://schemas.microsoft.com/office/drawing/2014/main" id="{08C3E4ED-3C1D-4D77-85BF-5A7582DD6335}"/>
              </a:ext>
            </a:extLst>
          </p:cNvPr>
          <p:cNvSpPr txBox="1">
            <a:spLocks noChangeArrowheads="1"/>
          </p:cNvSpPr>
          <p:nvPr/>
        </p:nvSpPr>
        <p:spPr bwMode="auto">
          <a:xfrm>
            <a:off x="500063" y="1285875"/>
            <a:ext cx="7312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3200">
                <a:solidFill>
                  <a:schemeClr val="accent2"/>
                </a:solidFill>
                <a:latin typeface="+mj-ea"/>
                <a:ea typeface="+mj-ea"/>
              </a:rPr>
              <a:t>将活节点插入到子集树和优先队列</a:t>
            </a:r>
            <a:endParaRPr lang="zh-CN" altLang="en-US">
              <a:solidFill>
                <a:schemeClr val="accent2"/>
              </a:solidFill>
              <a:latin typeface="+mj-ea"/>
              <a:ea typeface="+mj-ea"/>
            </a:endParaRPr>
          </a:p>
        </p:txBody>
      </p:sp>
      <p:sp>
        <p:nvSpPr>
          <p:cNvPr id="39941" name="Text Box 5">
            <a:extLst>
              <a:ext uri="{FF2B5EF4-FFF2-40B4-BE49-F238E27FC236}">
                <a16:creationId xmlns:a16="http://schemas.microsoft.com/office/drawing/2014/main" id="{92604A25-BD2E-4FB2-BEA1-1256CD605067}"/>
              </a:ext>
            </a:extLst>
          </p:cNvPr>
          <p:cNvSpPr txBox="1">
            <a:spLocks noChangeArrowheads="1"/>
          </p:cNvSpPr>
          <p:nvPr/>
        </p:nvSpPr>
        <p:spPr bwMode="auto">
          <a:xfrm>
            <a:off x="827088" y="1916113"/>
            <a:ext cx="814387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000" dirty="0" err="1">
                <a:solidFill>
                  <a:schemeClr val="tx1"/>
                </a:solidFill>
                <a:latin typeface="+mj-ea"/>
                <a:ea typeface="+mj-ea"/>
              </a:rPr>
              <a:t>AddLiveNode</a:t>
            </a:r>
            <a:r>
              <a:rPr lang="en-US" altLang="zh-CN" sz="2000" dirty="0">
                <a:solidFill>
                  <a:schemeClr val="tx1"/>
                </a:solidFill>
                <a:latin typeface="+mj-ea"/>
                <a:ea typeface="+mj-ea"/>
              </a:rPr>
              <a:t>(</a:t>
            </a:r>
            <a:r>
              <a:rPr lang="en-US" altLang="zh-CN" sz="2000" dirty="0" err="1">
                <a:solidFill>
                  <a:schemeClr val="tx1"/>
                </a:solidFill>
                <a:latin typeface="+mj-ea"/>
                <a:ea typeface="+mj-ea"/>
              </a:rPr>
              <a:t>Typep</a:t>
            </a:r>
            <a:r>
              <a:rPr lang="en-US" altLang="zh-CN" sz="2000" dirty="0">
                <a:solidFill>
                  <a:schemeClr val="tx1"/>
                </a:solidFill>
                <a:latin typeface="+mj-ea"/>
                <a:ea typeface="+mj-ea"/>
              </a:rPr>
              <a:t> </a:t>
            </a:r>
            <a:r>
              <a:rPr lang="en-US" altLang="zh-CN" sz="2000" dirty="0" err="1">
                <a:solidFill>
                  <a:schemeClr val="tx1"/>
                </a:solidFill>
                <a:latin typeface="+mj-ea"/>
                <a:ea typeface="+mj-ea"/>
              </a:rPr>
              <a:t>up,Typep</a:t>
            </a:r>
            <a:r>
              <a:rPr lang="en-US" altLang="zh-CN" sz="2000" dirty="0">
                <a:solidFill>
                  <a:schemeClr val="tx1"/>
                </a:solidFill>
                <a:latin typeface="+mj-ea"/>
                <a:ea typeface="+mj-ea"/>
              </a:rPr>
              <a:t> </a:t>
            </a:r>
            <a:r>
              <a:rPr lang="en-US" altLang="zh-CN" sz="2000" dirty="0" err="1">
                <a:solidFill>
                  <a:schemeClr val="tx1"/>
                </a:solidFill>
                <a:latin typeface="+mj-ea"/>
                <a:ea typeface="+mj-ea"/>
              </a:rPr>
              <a:t>cp,Typew</a:t>
            </a:r>
            <a:r>
              <a:rPr lang="en-US" altLang="zh-CN" sz="2000" dirty="0">
                <a:solidFill>
                  <a:schemeClr val="tx1"/>
                </a:solidFill>
                <a:latin typeface="+mj-ea"/>
                <a:ea typeface="+mj-ea"/>
              </a:rPr>
              <a:t> </a:t>
            </a:r>
            <a:r>
              <a:rPr lang="en-US" altLang="zh-CN" sz="2000" dirty="0" err="1">
                <a:solidFill>
                  <a:schemeClr val="tx1"/>
                </a:solidFill>
                <a:latin typeface="+mj-ea"/>
                <a:ea typeface="+mj-ea"/>
              </a:rPr>
              <a:t>cw,bool</a:t>
            </a:r>
            <a:r>
              <a:rPr lang="en-US" altLang="zh-CN" sz="2000" dirty="0">
                <a:solidFill>
                  <a:schemeClr val="tx1"/>
                </a:solidFill>
                <a:latin typeface="+mj-ea"/>
                <a:ea typeface="+mj-ea"/>
              </a:rPr>
              <a:t> </a:t>
            </a:r>
            <a:r>
              <a:rPr lang="en-US" altLang="zh-CN" sz="2000" dirty="0" err="1">
                <a:solidFill>
                  <a:schemeClr val="tx1"/>
                </a:solidFill>
                <a:latin typeface="+mj-ea"/>
                <a:ea typeface="+mj-ea"/>
              </a:rPr>
              <a:t>ch,int</a:t>
            </a:r>
            <a:r>
              <a:rPr lang="en-US" altLang="zh-CN" sz="2000" dirty="0">
                <a:solidFill>
                  <a:schemeClr val="tx1"/>
                </a:solidFill>
                <a:latin typeface="+mj-ea"/>
                <a:ea typeface="+mj-ea"/>
              </a:rPr>
              <a:t> lev)</a:t>
            </a:r>
          </a:p>
          <a:p>
            <a:pPr>
              <a:defRPr/>
            </a:pPr>
            <a:r>
              <a:rPr lang="en-US" altLang="zh-CN" sz="2000" dirty="0">
                <a:solidFill>
                  <a:schemeClr val="tx1"/>
                </a:solidFill>
                <a:latin typeface="+mj-ea"/>
                <a:ea typeface="+mj-ea"/>
              </a:rPr>
              <a:t>{</a:t>
            </a:r>
          </a:p>
          <a:p>
            <a:pPr>
              <a:defRPr/>
            </a:pPr>
            <a:r>
              <a:rPr lang="en-US" altLang="zh-CN" sz="2000" dirty="0">
                <a:solidFill>
                  <a:schemeClr val="tx1"/>
                </a:solidFill>
                <a:latin typeface="+mj-ea"/>
                <a:ea typeface="+mj-ea"/>
              </a:rPr>
              <a:t>    </a:t>
            </a:r>
            <a:r>
              <a:rPr lang="en-US" altLang="zh-CN" sz="2000" dirty="0" err="1">
                <a:solidFill>
                  <a:schemeClr val="tx1"/>
                </a:solidFill>
                <a:latin typeface="+mj-ea"/>
                <a:ea typeface="+mj-ea"/>
              </a:rPr>
              <a:t>bbnode</a:t>
            </a:r>
            <a:r>
              <a:rPr lang="en-US" altLang="zh-CN" sz="2000" dirty="0">
                <a:solidFill>
                  <a:schemeClr val="tx1"/>
                </a:solidFill>
                <a:latin typeface="+mj-ea"/>
                <a:ea typeface="+mj-ea"/>
              </a:rPr>
              <a:t> *b = new </a:t>
            </a:r>
            <a:r>
              <a:rPr lang="en-US" altLang="zh-CN" sz="2000" dirty="0" err="1">
                <a:solidFill>
                  <a:schemeClr val="tx1"/>
                </a:solidFill>
                <a:latin typeface="+mj-ea"/>
                <a:ea typeface="+mj-ea"/>
              </a:rPr>
              <a:t>bbnode</a:t>
            </a:r>
            <a:r>
              <a:rPr lang="en-US" altLang="zh-CN" sz="2000" dirty="0">
                <a:solidFill>
                  <a:schemeClr val="tx1"/>
                </a:solidFill>
                <a:latin typeface="+mj-ea"/>
                <a:ea typeface="+mj-ea"/>
              </a:rPr>
              <a:t>; // </a:t>
            </a:r>
            <a:r>
              <a:rPr lang="zh-CN" altLang="en-US" sz="2000" dirty="0">
                <a:solidFill>
                  <a:schemeClr val="tx1"/>
                </a:solidFill>
                <a:latin typeface="+mj-ea"/>
                <a:ea typeface="+mj-ea"/>
              </a:rPr>
              <a:t>创建子集树中的新结点</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    b-&gt;parent = E;      //E</a:t>
            </a:r>
            <a:r>
              <a:rPr lang="zh-CN" altLang="en-US" sz="2000" dirty="0">
                <a:solidFill>
                  <a:schemeClr val="tx1"/>
                </a:solidFill>
                <a:latin typeface="+mj-ea"/>
                <a:ea typeface="+mj-ea"/>
              </a:rPr>
              <a:t>是当前扩展节点</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    b-&gt;</a:t>
            </a:r>
            <a:r>
              <a:rPr lang="en-US" altLang="zh-CN" sz="2000" dirty="0" err="1">
                <a:solidFill>
                  <a:schemeClr val="tx1"/>
                </a:solidFill>
                <a:latin typeface="+mj-ea"/>
                <a:ea typeface="+mj-ea"/>
              </a:rPr>
              <a:t>LChild</a:t>
            </a:r>
            <a:r>
              <a:rPr lang="en-US" altLang="zh-CN" sz="2000" dirty="0">
                <a:solidFill>
                  <a:schemeClr val="tx1"/>
                </a:solidFill>
                <a:latin typeface="+mj-ea"/>
                <a:ea typeface="+mj-ea"/>
              </a:rPr>
              <a:t> = </a:t>
            </a:r>
            <a:r>
              <a:rPr lang="en-US" altLang="zh-CN" sz="2000" dirty="0" err="1">
                <a:solidFill>
                  <a:schemeClr val="tx1"/>
                </a:solidFill>
                <a:latin typeface="+mj-ea"/>
                <a:ea typeface="+mj-ea"/>
              </a:rPr>
              <a:t>ch</a:t>
            </a:r>
            <a:r>
              <a:rPr lang="en-US" altLang="zh-CN" sz="2000" dirty="0">
                <a:solidFill>
                  <a:schemeClr val="tx1"/>
                </a:solidFill>
                <a:latin typeface="+mj-ea"/>
                <a:ea typeface="+mj-ea"/>
              </a:rPr>
              <a:t>;</a:t>
            </a:r>
          </a:p>
          <a:p>
            <a:pPr>
              <a:defRPr/>
            </a:pPr>
            <a:r>
              <a:rPr lang="en-US" altLang="zh-CN" sz="2000" dirty="0">
                <a:solidFill>
                  <a:schemeClr val="tx1"/>
                </a:solidFill>
                <a:latin typeface="+mj-ea"/>
                <a:ea typeface="+mj-ea"/>
              </a:rPr>
              <a:t> </a:t>
            </a:r>
          </a:p>
          <a:p>
            <a:pPr>
              <a:defRPr/>
            </a:pPr>
            <a:r>
              <a:rPr lang="en-US" altLang="zh-CN" sz="2000" dirty="0">
                <a:solidFill>
                  <a:schemeClr val="tx1"/>
                </a:solidFill>
                <a:latin typeface="+mj-ea"/>
                <a:ea typeface="+mj-ea"/>
              </a:rPr>
              <a:t>    </a:t>
            </a:r>
            <a:r>
              <a:rPr lang="en-US" altLang="zh-CN" sz="2000" dirty="0" err="1">
                <a:solidFill>
                  <a:schemeClr val="tx1"/>
                </a:solidFill>
                <a:latin typeface="+mj-ea"/>
                <a:ea typeface="+mj-ea"/>
              </a:rPr>
              <a:t>HeapNode</a:t>
            </a:r>
            <a:r>
              <a:rPr lang="en-US" altLang="zh-CN" sz="2000" dirty="0">
                <a:solidFill>
                  <a:schemeClr val="tx1"/>
                </a:solidFill>
                <a:latin typeface="+mj-ea"/>
                <a:ea typeface="+mj-ea"/>
              </a:rPr>
              <a:t>&lt;</a:t>
            </a:r>
            <a:r>
              <a:rPr lang="en-US" altLang="zh-CN" sz="2000" dirty="0" err="1">
                <a:solidFill>
                  <a:schemeClr val="tx1"/>
                </a:solidFill>
                <a:latin typeface="+mj-ea"/>
                <a:ea typeface="+mj-ea"/>
              </a:rPr>
              <a:t>Typep,Typew</a:t>
            </a:r>
            <a:r>
              <a:rPr lang="en-US" altLang="zh-CN" sz="2000" dirty="0">
                <a:solidFill>
                  <a:schemeClr val="tx1"/>
                </a:solidFill>
                <a:latin typeface="+mj-ea"/>
                <a:ea typeface="+mj-ea"/>
              </a:rPr>
              <a:t>&gt; N; // </a:t>
            </a:r>
            <a:r>
              <a:rPr lang="zh-CN" altLang="en-US" sz="2000" dirty="0">
                <a:solidFill>
                  <a:schemeClr val="tx1"/>
                </a:solidFill>
                <a:latin typeface="+mj-ea"/>
                <a:ea typeface="+mj-ea"/>
              </a:rPr>
              <a:t>创建堆中的新结点</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    </a:t>
            </a:r>
            <a:r>
              <a:rPr lang="en-US" altLang="zh-CN" sz="2000" dirty="0" err="1">
                <a:solidFill>
                  <a:schemeClr val="tx1"/>
                </a:solidFill>
                <a:latin typeface="+mj-ea"/>
                <a:ea typeface="+mj-ea"/>
              </a:rPr>
              <a:t>N.uprofit</a:t>
            </a:r>
            <a:r>
              <a:rPr lang="en-US" altLang="zh-CN" sz="2000" dirty="0">
                <a:solidFill>
                  <a:schemeClr val="tx1"/>
                </a:solidFill>
                <a:latin typeface="+mj-ea"/>
                <a:ea typeface="+mj-ea"/>
              </a:rPr>
              <a:t> = up;          //</a:t>
            </a:r>
            <a:r>
              <a:rPr lang="zh-CN" altLang="en-US" sz="2000" dirty="0">
                <a:solidFill>
                  <a:schemeClr val="tx1"/>
                </a:solidFill>
                <a:latin typeface="+mj-ea"/>
                <a:ea typeface="+mj-ea"/>
              </a:rPr>
              <a:t>节点的价值上界</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    </a:t>
            </a:r>
            <a:r>
              <a:rPr lang="en-US" altLang="zh-CN" sz="2000" dirty="0" err="1">
                <a:solidFill>
                  <a:schemeClr val="tx1"/>
                </a:solidFill>
                <a:latin typeface="+mj-ea"/>
                <a:ea typeface="+mj-ea"/>
              </a:rPr>
              <a:t>N.profit</a:t>
            </a:r>
            <a:r>
              <a:rPr lang="en-US" altLang="zh-CN" sz="2000" dirty="0">
                <a:solidFill>
                  <a:schemeClr val="tx1"/>
                </a:solidFill>
                <a:latin typeface="+mj-ea"/>
                <a:ea typeface="+mj-ea"/>
              </a:rPr>
              <a:t> = </a:t>
            </a:r>
            <a:r>
              <a:rPr lang="en-US" altLang="zh-CN" sz="2000" dirty="0" err="1">
                <a:solidFill>
                  <a:schemeClr val="tx1"/>
                </a:solidFill>
                <a:latin typeface="+mj-ea"/>
                <a:ea typeface="+mj-ea"/>
              </a:rPr>
              <a:t>cp</a:t>
            </a:r>
            <a:r>
              <a:rPr lang="en-US" altLang="zh-CN" sz="2000" dirty="0">
                <a:solidFill>
                  <a:schemeClr val="tx1"/>
                </a:solidFill>
                <a:latin typeface="+mj-ea"/>
                <a:ea typeface="+mj-ea"/>
              </a:rPr>
              <a:t>;           //</a:t>
            </a:r>
            <a:r>
              <a:rPr lang="zh-CN" altLang="en-US" sz="2000" dirty="0">
                <a:solidFill>
                  <a:schemeClr val="tx1"/>
                </a:solidFill>
                <a:latin typeface="+mj-ea"/>
                <a:ea typeface="+mj-ea"/>
              </a:rPr>
              <a:t>节点所相应的价值</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    </a:t>
            </a:r>
            <a:r>
              <a:rPr lang="en-US" altLang="zh-CN" sz="2000" dirty="0" err="1">
                <a:solidFill>
                  <a:schemeClr val="tx1"/>
                </a:solidFill>
                <a:latin typeface="+mj-ea"/>
                <a:ea typeface="+mj-ea"/>
              </a:rPr>
              <a:t>N.weight</a:t>
            </a:r>
            <a:r>
              <a:rPr lang="en-US" altLang="zh-CN" sz="2000" dirty="0">
                <a:solidFill>
                  <a:schemeClr val="tx1"/>
                </a:solidFill>
                <a:latin typeface="+mj-ea"/>
                <a:ea typeface="+mj-ea"/>
              </a:rPr>
              <a:t> = </a:t>
            </a:r>
            <a:r>
              <a:rPr lang="en-US" altLang="zh-CN" sz="2000" dirty="0" err="1">
                <a:solidFill>
                  <a:schemeClr val="tx1"/>
                </a:solidFill>
                <a:latin typeface="+mj-ea"/>
                <a:ea typeface="+mj-ea"/>
              </a:rPr>
              <a:t>cw</a:t>
            </a:r>
            <a:r>
              <a:rPr lang="en-US" altLang="zh-CN" sz="2000" dirty="0">
                <a:solidFill>
                  <a:schemeClr val="tx1"/>
                </a:solidFill>
                <a:latin typeface="+mj-ea"/>
                <a:ea typeface="+mj-ea"/>
              </a:rPr>
              <a:t>;       //</a:t>
            </a:r>
            <a:r>
              <a:rPr lang="zh-CN" altLang="en-US" sz="2000" dirty="0">
                <a:solidFill>
                  <a:schemeClr val="tx1"/>
                </a:solidFill>
                <a:latin typeface="+mj-ea"/>
                <a:ea typeface="+mj-ea"/>
              </a:rPr>
              <a:t>节点所相应的重量</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    </a:t>
            </a:r>
            <a:r>
              <a:rPr lang="en-US" altLang="zh-CN" sz="2000" dirty="0" err="1">
                <a:solidFill>
                  <a:schemeClr val="tx1"/>
                </a:solidFill>
                <a:latin typeface="+mj-ea"/>
                <a:ea typeface="+mj-ea"/>
              </a:rPr>
              <a:t>N.level</a:t>
            </a:r>
            <a:r>
              <a:rPr lang="en-US" altLang="zh-CN" sz="2000" dirty="0">
                <a:solidFill>
                  <a:schemeClr val="tx1"/>
                </a:solidFill>
                <a:latin typeface="+mj-ea"/>
                <a:ea typeface="+mj-ea"/>
              </a:rPr>
              <a:t> = lev;        //</a:t>
            </a:r>
            <a:r>
              <a:rPr lang="zh-CN" altLang="en-US" sz="2000" dirty="0">
                <a:solidFill>
                  <a:schemeClr val="tx1"/>
                </a:solidFill>
                <a:latin typeface="+mj-ea"/>
                <a:ea typeface="+mj-ea"/>
              </a:rPr>
              <a:t>活节点在子集树中所处的层序号</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    </a:t>
            </a:r>
            <a:r>
              <a:rPr lang="en-US" altLang="zh-CN" sz="2000" dirty="0" err="1">
                <a:solidFill>
                  <a:schemeClr val="tx1"/>
                </a:solidFill>
                <a:latin typeface="+mj-ea"/>
                <a:ea typeface="+mj-ea"/>
              </a:rPr>
              <a:t>N.ptr</a:t>
            </a:r>
            <a:r>
              <a:rPr lang="en-US" altLang="zh-CN" sz="2000" dirty="0">
                <a:solidFill>
                  <a:schemeClr val="tx1"/>
                </a:solidFill>
                <a:latin typeface="+mj-ea"/>
                <a:ea typeface="+mj-ea"/>
              </a:rPr>
              <a:t> = b;             //</a:t>
            </a:r>
            <a:r>
              <a:rPr lang="zh-CN" altLang="en-US" sz="2000" dirty="0">
                <a:solidFill>
                  <a:schemeClr val="tx1"/>
                </a:solidFill>
                <a:latin typeface="+mj-ea"/>
                <a:ea typeface="+mj-ea"/>
              </a:rPr>
              <a:t>指向活节点在子集中相应节点的指针</a:t>
            </a:r>
            <a:endParaRPr lang="en-US" altLang="zh-CN" sz="2000" dirty="0">
              <a:solidFill>
                <a:schemeClr val="tx1"/>
              </a:solidFill>
              <a:latin typeface="+mj-ea"/>
              <a:ea typeface="+mj-ea"/>
            </a:endParaRPr>
          </a:p>
          <a:p>
            <a:pPr>
              <a:defRPr/>
            </a:pPr>
            <a:r>
              <a:rPr lang="en-US" altLang="zh-CN" sz="2000" dirty="0">
                <a:solidFill>
                  <a:schemeClr val="tx1"/>
                </a:solidFill>
                <a:latin typeface="+mj-ea"/>
                <a:ea typeface="+mj-ea"/>
              </a:rPr>
              <a:t>    </a:t>
            </a:r>
            <a:r>
              <a:rPr lang="en-US" altLang="zh-CN" sz="2000" dirty="0">
                <a:solidFill>
                  <a:srgbClr val="FF0000"/>
                </a:solidFill>
                <a:latin typeface="+mj-ea"/>
                <a:ea typeface="+mj-ea"/>
              </a:rPr>
              <a:t>H-&gt;Insert(N);</a:t>
            </a:r>
          </a:p>
          <a:p>
            <a:pPr>
              <a:defRPr/>
            </a:pPr>
            <a:r>
              <a:rPr lang="en-US" altLang="zh-CN" sz="2000" dirty="0">
                <a:solidFill>
                  <a:schemeClr val="tx1"/>
                </a:solidFill>
                <a:latin typeface="+mj-ea"/>
                <a:ea typeface="+mj-ea"/>
              </a:rPr>
              <a:t>}</a:t>
            </a:r>
          </a:p>
        </p:txBody>
      </p:sp>
    </p:spTree>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1821AC2-6864-4262-BDAE-86DF11E24566}"/>
              </a:ext>
            </a:extLst>
          </p:cNvPr>
          <p:cNvSpPr>
            <a:spLocks noGrp="1" noChangeArrowheads="1"/>
          </p:cNvSpPr>
          <p:nvPr>
            <p:ph type="title"/>
          </p:nvPr>
        </p:nvSpPr>
        <p:spPr/>
        <p:txBody>
          <a:bodyPr/>
          <a:lstStyle/>
          <a:p>
            <a:pPr>
              <a:defRPr/>
            </a:pPr>
            <a:r>
              <a:rPr lang="zh-CN" altLang="en-US">
                <a:latin typeface="+mj-ea"/>
              </a:rPr>
              <a:t>6.5    0-1背包问题</a:t>
            </a:r>
          </a:p>
        </p:txBody>
      </p:sp>
      <p:sp>
        <p:nvSpPr>
          <p:cNvPr id="40963" name="灯片编号占位符 5">
            <a:extLst>
              <a:ext uri="{FF2B5EF4-FFF2-40B4-BE49-F238E27FC236}">
                <a16:creationId xmlns:a16="http://schemas.microsoft.com/office/drawing/2014/main" id="{0C6911D8-DDBC-419F-B900-77EE49C7A0A2}"/>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4EA9C71-827F-4E60-B4CC-6DD3D34B875B}" type="slidenum">
              <a:rPr lang="zh-CN" altLang="en-US" sz="1200">
                <a:solidFill>
                  <a:schemeClr val="tx1"/>
                </a:solidFill>
                <a:latin typeface="微软雅黑" panose="020B0503020204020204" pitchFamily="34" charset="-122"/>
                <a:ea typeface="微软雅黑" panose="020B0503020204020204" pitchFamily="34" charset="-122"/>
              </a:rPr>
              <a:pPr/>
              <a:t>32</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40964" name="Text Box 4">
            <a:extLst>
              <a:ext uri="{FF2B5EF4-FFF2-40B4-BE49-F238E27FC236}">
                <a16:creationId xmlns:a16="http://schemas.microsoft.com/office/drawing/2014/main" id="{2D9D1DD3-9EAE-4EE1-A2E4-4FBBF3F3A457}"/>
              </a:ext>
            </a:extLst>
          </p:cNvPr>
          <p:cNvSpPr txBox="1">
            <a:spLocks noChangeArrowheads="1"/>
          </p:cNvSpPr>
          <p:nvPr/>
        </p:nvSpPr>
        <p:spPr bwMode="auto">
          <a:xfrm>
            <a:off x="500063" y="1285875"/>
            <a:ext cx="5791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3200">
                <a:solidFill>
                  <a:schemeClr val="accent2"/>
                </a:solidFill>
                <a:latin typeface="+mj-ea"/>
                <a:ea typeface="+mj-ea"/>
              </a:rPr>
              <a:t>上界函数</a:t>
            </a:r>
            <a:r>
              <a:rPr lang="en-US" altLang="zh-CN" sz="3200">
                <a:solidFill>
                  <a:schemeClr val="accent2"/>
                </a:solidFill>
                <a:latin typeface="+mj-ea"/>
                <a:ea typeface="+mj-ea"/>
              </a:rPr>
              <a:t>Bound</a:t>
            </a:r>
            <a:endParaRPr lang="zh-CN" altLang="en-US">
              <a:solidFill>
                <a:schemeClr val="accent2"/>
              </a:solidFill>
              <a:latin typeface="+mj-ea"/>
              <a:ea typeface="+mj-ea"/>
            </a:endParaRPr>
          </a:p>
        </p:txBody>
      </p:sp>
      <p:sp>
        <p:nvSpPr>
          <p:cNvPr id="40965" name="Text Box 5">
            <a:extLst>
              <a:ext uri="{FF2B5EF4-FFF2-40B4-BE49-F238E27FC236}">
                <a16:creationId xmlns:a16="http://schemas.microsoft.com/office/drawing/2014/main" id="{2262FA04-4137-450D-9F56-7BED83F62635}"/>
              </a:ext>
            </a:extLst>
          </p:cNvPr>
          <p:cNvSpPr txBox="1">
            <a:spLocks noChangeArrowheads="1"/>
          </p:cNvSpPr>
          <p:nvPr/>
        </p:nvSpPr>
        <p:spPr bwMode="auto">
          <a:xfrm>
            <a:off x="428625" y="2214563"/>
            <a:ext cx="814387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buClr>
                <a:schemeClr val="accent1"/>
              </a:buClr>
              <a:buSzPct val="65000"/>
              <a:buFont typeface="Wingdings" panose="05000000000000000000" pitchFamily="2" charset="2"/>
              <a:buNone/>
              <a:defRPr/>
            </a:pPr>
            <a:r>
              <a:rPr lang="en-US" altLang="zh-CN" sz="2400" dirty="0">
                <a:solidFill>
                  <a:schemeClr val="tx1"/>
                </a:solidFill>
                <a:latin typeface="+mj-ea"/>
                <a:ea typeface="+mj-ea"/>
              </a:rPr>
              <a:t>while (</a:t>
            </a:r>
            <a:r>
              <a:rPr lang="en-US" altLang="zh-CN" sz="2400" dirty="0" err="1">
                <a:solidFill>
                  <a:srgbClr val="FF0000"/>
                </a:solidFill>
                <a:latin typeface="+mj-ea"/>
                <a:ea typeface="+mj-ea"/>
              </a:rPr>
              <a:t>i</a:t>
            </a:r>
            <a:r>
              <a:rPr lang="en-US" altLang="zh-CN" sz="2400" dirty="0">
                <a:solidFill>
                  <a:srgbClr val="FF0000"/>
                </a:solidFill>
                <a:latin typeface="+mj-ea"/>
                <a:ea typeface="+mj-ea"/>
              </a:rPr>
              <a:t> &lt;= n &amp;&amp; w[</a:t>
            </a:r>
            <a:r>
              <a:rPr lang="en-US" altLang="zh-CN" sz="2400" dirty="0" err="1">
                <a:solidFill>
                  <a:srgbClr val="FF0000"/>
                </a:solidFill>
                <a:latin typeface="+mj-ea"/>
                <a:ea typeface="+mj-ea"/>
              </a:rPr>
              <a:t>i</a:t>
            </a:r>
            <a:r>
              <a:rPr lang="en-US" altLang="zh-CN" sz="2400" dirty="0">
                <a:solidFill>
                  <a:srgbClr val="FF0000"/>
                </a:solidFill>
                <a:latin typeface="+mj-ea"/>
                <a:ea typeface="+mj-ea"/>
              </a:rPr>
              <a:t>] &lt;= cleft</a:t>
            </a:r>
            <a:r>
              <a:rPr lang="en-US" altLang="zh-CN" sz="2400" dirty="0">
                <a:solidFill>
                  <a:schemeClr val="tx1"/>
                </a:solidFill>
                <a:latin typeface="+mj-ea"/>
                <a:ea typeface="+mj-ea"/>
              </a:rPr>
              <a:t>) {     // n</a:t>
            </a:r>
            <a:r>
              <a:rPr lang="zh-CN" altLang="en-US" sz="2400" dirty="0">
                <a:solidFill>
                  <a:schemeClr val="tx1"/>
                </a:solidFill>
                <a:latin typeface="+mj-ea"/>
                <a:ea typeface="+mj-ea"/>
              </a:rPr>
              <a:t>表示物品总数 </a:t>
            </a:r>
            <a:endParaRPr lang="en-US" altLang="zh-CN" sz="2400" dirty="0">
              <a:solidFill>
                <a:schemeClr val="tx1"/>
              </a:solidFill>
              <a:latin typeface="+mj-ea"/>
              <a:ea typeface="+mj-ea"/>
            </a:endParaRPr>
          </a:p>
          <a:p>
            <a:pPr algn="just" eaLnBrk="1" hangingPunct="1">
              <a:buClr>
                <a:schemeClr val="accent1"/>
              </a:buClr>
              <a:buSzPct val="65000"/>
              <a:buFont typeface="Wingdings" panose="05000000000000000000" pitchFamily="2" charset="2"/>
              <a:buNone/>
              <a:defRPr/>
            </a:pPr>
            <a:r>
              <a:rPr lang="en-US" altLang="zh-CN" sz="2400" dirty="0">
                <a:solidFill>
                  <a:schemeClr val="tx1"/>
                </a:solidFill>
                <a:latin typeface="+mj-ea"/>
                <a:ea typeface="+mj-ea"/>
              </a:rPr>
              <a:t>                                                         //cleft</a:t>
            </a:r>
            <a:r>
              <a:rPr lang="zh-CN" altLang="en-US" sz="2400" dirty="0">
                <a:solidFill>
                  <a:schemeClr val="tx1"/>
                </a:solidFill>
                <a:latin typeface="+mj-ea"/>
                <a:ea typeface="+mj-ea"/>
              </a:rPr>
              <a:t>为剩余空间</a:t>
            </a:r>
          </a:p>
          <a:p>
            <a:pPr algn="just" eaLnBrk="1" hangingPunct="1">
              <a:buClr>
                <a:schemeClr val="accent1"/>
              </a:buClr>
              <a:buSzPct val="65000"/>
              <a:buFont typeface="Wingdings" panose="05000000000000000000" pitchFamily="2" charset="2"/>
              <a:buNone/>
              <a:defRPr/>
            </a:pPr>
            <a:r>
              <a:rPr lang="en-US" altLang="zh-CN" sz="2400" dirty="0">
                <a:solidFill>
                  <a:schemeClr val="tx1"/>
                </a:solidFill>
                <a:latin typeface="+mj-ea"/>
                <a:ea typeface="+mj-ea"/>
              </a:rPr>
              <a:t>         cleft -= w[</a:t>
            </a:r>
            <a:r>
              <a:rPr lang="en-US" altLang="zh-CN" sz="2400" dirty="0" err="1">
                <a:solidFill>
                  <a:schemeClr val="tx1"/>
                </a:solidFill>
                <a:latin typeface="+mj-ea"/>
                <a:ea typeface="+mj-ea"/>
              </a:rPr>
              <a:t>i</a:t>
            </a:r>
            <a:r>
              <a:rPr lang="en-US" altLang="zh-CN" sz="2400" dirty="0">
                <a:solidFill>
                  <a:schemeClr val="tx1"/>
                </a:solidFill>
                <a:latin typeface="+mj-ea"/>
                <a:ea typeface="+mj-ea"/>
              </a:rPr>
              <a:t>];                            //w[</a:t>
            </a:r>
            <a:r>
              <a:rPr lang="en-US" altLang="zh-CN" sz="2400" dirty="0" err="1">
                <a:solidFill>
                  <a:schemeClr val="tx1"/>
                </a:solidFill>
                <a:latin typeface="+mj-ea"/>
                <a:ea typeface="+mj-ea"/>
              </a:rPr>
              <a:t>i</a:t>
            </a:r>
            <a:r>
              <a:rPr lang="en-US" altLang="zh-CN" sz="2400" dirty="0">
                <a:solidFill>
                  <a:schemeClr val="tx1"/>
                </a:solidFill>
                <a:latin typeface="+mj-ea"/>
                <a:ea typeface="+mj-ea"/>
              </a:rPr>
              <a:t>]</a:t>
            </a:r>
            <a:r>
              <a:rPr lang="zh-CN" altLang="en-US" sz="2400" dirty="0">
                <a:solidFill>
                  <a:schemeClr val="tx1"/>
                </a:solidFill>
                <a:latin typeface="+mj-ea"/>
                <a:ea typeface="+mj-ea"/>
              </a:rPr>
              <a:t>表示</a:t>
            </a:r>
            <a:r>
              <a:rPr lang="en-US" altLang="zh-CN" sz="2400" dirty="0" err="1">
                <a:solidFill>
                  <a:schemeClr val="tx1"/>
                </a:solidFill>
                <a:latin typeface="+mj-ea"/>
                <a:ea typeface="+mj-ea"/>
              </a:rPr>
              <a:t>i</a:t>
            </a:r>
            <a:r>
              <a:rPr lang="zh-CN" altLang="en-US" sz="2400" dirty="0">
                <a:solidFill>
                  <a:schemeClr val="tx1"/>
                </a:solidFill>
                <a:latin typeface="+mj-ea"/>
                <a:ea typeface="+mj-ea"/>
              </a:rPr>
              <a:t>所占空间</a:t>
            </a:r>
          </a:p>
          <a:p>
            <a:pPr algn="just" eaLnBrk="1" hangingPunct="1">
              <a:buClr>
                <a:schemeClr val="accent1"/>
              </a:buClr>
              <a:buSzPct val="65000"/>
              <a:buFont typeface="Wingdings" panose="05000000000000000000" pitchFamily="2" charset="2"/>
              <a:buNone/>
              <a:defRPr/>
            </a:pPr>
            <a:r>
              <a:rPr lang="en-US" altLang="zh-CN" sz="2400" dirty="0">
                <a:solidFill>
                  <a:schemeClr val="tx1"/>
                </a:solidFill>
                <a:latin typeface="+mj-ea"/>
                <a:ea typeface="+mj-ea"/>
              </a:rPr>
              <a:t>         b += p[</a:t>
            </a:r>
            <a:r>
              <a:rPr lang="en-US" altLang="zh-CN" sz="2400" dirty="0" err="1">
                <a:solidFill>
                  <a:schemeClr val="tx1"/>
                </a:solidFill>
                <a:latin typeface="+mj-ea"/>
                <a:ea typeface="+mj-ea"/>
              </a:rPr>
              <a:t>i</a:t>
            </a:r>
            <a:r>
              <a:rPr lang="en-US" altLang="zh-CN" sz="2400" dirty="0">
                <a:solidFill>
                  <a:schemeClr val="tx1"/>
                </a:solidFill>
                <a:latin typeface="+mj-ea"/>
                <a:ea typeface="+mj-ea"/>
              </a:rPr>
              <a:t>];                                 //p[</a:t>
            </a:r>
            <a:r>
              <a:rPr lang="en-US" altLang="zh-CN" sz="2400" dirty="0" err="1">
                <a:solidFill>
                  <a:schemeClr val="tx1"/>
                </a:solidFill>
                <a:latin typeface="+mj-ea"/>
                <a:ea typeface="+mj-ea"/>
              </a:rPr>
              <a:t>i</a:t>
            </a:r>
            <a:r>
              <a:rPr lang="en-US" altLang="zh-CN" sz="2400" dirty="0">
                <a:solidFill>
                  <a:schemeClr val="tx1"/>
                </a:solidFill>
                <a:latin typeface="+mj-ea"/>
                <a:ea typeface="+mj-ea"/>
              </a:rPr>
              <a:t>]</a:t>
            </a:r>
            <a:r>
              <a:rPr lang="zh-CN" altLang="en-US" sz="2400" dirty="0">
                <a:solidFill>
                  <a:schemeClr val="tx1"/>
                </a:solidFill>
                <a:latin typeface="+mj-ea"/>
                <a:ea typeface="+mj-ea"/>
              </a:rPr>
              <a:t>表示</a:t>
            </a:r>
            <a:r>
              <a:rPr lang="en-US" altLang="zh-CN" sz="2400" dirty="0" err="1">
                <a:solidFill>
                  <a:schemeClr val="tx1"/>
                </a:solidFill>
                <a:latin typeface="+mj-ea"/>
                <a:ea typeface="+mj-ea"/>
              </a:rPr>
              <a:t>i</a:t>
            </a:r>
            <a:r>
              <a:rPr lang="zh-CN" altLang="en-US" sz="2400" dirty="0">
                <a:solidFill>
                  <a:schemeClr val="tx1"/>
                </a:solidFill>
                <a:latin typeface="+mj-ea"/>
                <a:ea typeface="+mj-ea"/>
              </a:rPr>
              <a:t>的价值</a:t>
            </a:r>
          </a:p>
          <a:p>
            <a:pPr algn="just" eaLnBrk="1" hangingPunct="1">
              <a:buClr>
                <a:schemeClr val="accent1"/>
              </a:buClr>
              <a:buSzPct val="65000"/>
              <a:buFont typeface="Wingdings" panose="05000000000000000000" pitchFamily="2" charset="2"/>
              <a:buNone/>
              <a:defRPr/>
            </a:pPr>
            <a:r>
              <a:rPr lang="en-US" altLang="zh-CN" sz="2400" dirty="0">
                <a:solidFill>
                  <a:schemeClr val="tx1"/>
                </a:solidFill>
                <a:latin typeface="+mj-ea"/>
                <a:ea typeface="+mj-ea"/>
              </a:rPr>
              <a:t>         </a:t>
            </a:r>
            <a:r>
              <a:rPr lang="en-US" altLang="zh-CN" sz="2400" dirty="0" err="1">
                <a:solidFill>
                  <a:schemeClr val="tx1"/>
                </a:solidFill>
                <a:latin typeface="+mj-ea"/>
                <a:ea typeface="+mj-ea"/>
              </a:rPr>
              <a:t>i</a:t>
            </a:r>
            <a:r>
              <a:rPr lang="en-US" altLang="zh-CN" sz="2400" dirty="0">
                <a:solidFill>
                  <a:schemeClr val="tx1"/>
                </a:solidFill>
                <a:latin typeface="+mj-ea"/>
                <a:ea typeface="+mj-ea"/>
              </a:rPr>
              <a:t>++;</a:t>
            </a:r>
          </a:p>
          <a:p>
            <a:pPr algn="just" eaLnBrk="1" hangingPunct="1">
              <a:buClr>
                <a:schemeClr val="accent1"/>
              </a:buClr>
              <a:buSzPct val="65000"/>
              <a:buFont typeface="Wingdings" panose="05000000000000000000" pitchFamily="2" charset="2"/>
              <a:buNone/>
              <a:defRPr/>
            </a:pPr>
            <a:r>
              <a:rPr lang="en-US" altLang="zh-CN" sz="2400" dirty="0">
                <a:solidFill>
                  <a:schemeClr val="tx1"/>
                </a:solidFill>
                <a:latin typeface="+mj-ea"/>
                <a:ea typeface="+mj-ea"/>
              </a:rPr>
              <a:t>}</a:t>
            </a:r>
          </a:p>
          <a:p>
            <a:pPr algn="just" eaLnBrk="1" hangingPunct="1">
              <a:buClr>
                <a:schemeClr val="accent1"/>
              </a:buClr>
              <a:buSzPct val="65000"/>
              <a:buFont typeface="Wingdings" panose="05000000000000000000" pitchFamily="2" charset="2"/>
              <a:buNone/>
              <a:defRPr/>
            </a:pPr>
            <a:r>
              <a:rPr lang="en-US" altLang="zh-CN" sz="2400" dirty="0">
                <a:solidFill>
                  <a:schemeClr val="tx1"/>
                </a:solidFill>
                <a:latin typeface="+mj-ea"/>
                <a:ea typeface="+mj-ea"/>
              </a:rPr>
              <a:t>if (</a:t>
            </a:r>
            <a:r>
              <a:rPr lang="en-US" altLang="zh-CN" sz="2400" dirty="0" err="1">
                <a:solidFill>
                  <a:schemeClr val="tx1"/>
                </a:solidFill>
                <a:latin typeface="+mj-ea"/>
                <a:ea typeface="+mj-ea"/>
              </a:rPr>
              <a:t>i</a:t>
            </a:r>
            <a:r>
              <a:rPr lang="en-US" altLang="zh-CN" sz="2400" dirty="0">
                <a:solidFill>
                  <a:schemeClr val="tx1"/>
                </a:solidFill>
                <a:latin typeface="+mj-ea"/>
                <a:ea typeface="+mj-ea"/>
              </a:rPr>
              <a:t> &lt;= n) b += p[</a:t>
            </a:r>
            <a:r>
              <a:rPr lang="en-US" altLang="zh-CN" sz="2400" dirty="0" err="1">
                <a:solidFill>
                  <a:schemeClr val="tx1"/>
                </a:solidFill>
                <a:latin typeface="+mj-ea"/>
                <a:ea typeface="+mj-ea"/>
              </a:rPr>
              <a:t>i</a:t>
            </a:r>
            <a:r>
              <a:rPr lang="en-US" altLang="zh-CN" sz="2400" dirty="0">
                <a:solidFill>
                  <a:schemeClr val="tx1"/>
                </a:solidFill>
                <a:latin typeface="+mj-ea"/>
                <a:ea typeface="+mj-ea"/>
              </a:rPr>
              <a:t>] / w[</a:t>
            </a:r>
            <a:r>
              <a:rPr lang="en-US" altLang="zh-CN" sz="2400" dirty="0" err="1">
                <a:solidFill>
                  <a:schemeClr val="tx1"/>
                </a:solidFill>
                <a:latin typeface="+mj-ea"/>
                <a:ea typeface="+mj-ea"/>
              </a:rPr>
              <a:t>i</a:t>
            </a:r>
            <a:r>
              <a:rPr lang="en-US" altLang="zh-CN" sz="2400" dirty="0">
                <a:solidFill>
                  <a:schemeClr val="tx1"/>
                </a:solidFill>
                <a:latin typeface="+mj-ea"/>
                <a:ea typeface="+mj-ea"/>
              </a:rPr>
              <a:t>] * cleft;    // </a:t>
            </a:r>
            <a:r>
              <a:rPr lang="zh-CN" altLang="en-US" sz="2000" dirty="0">
                <a:solidFill>
                  <a:schemeClr val="tx1"/>
                </a:solidFill>
                <a:latin typeface="+mj-ea"/>
                <a:ea typeface="+mj-ea"/>
              </a:rPr>
              <a:t>装填剩余容量装满背包</a:t>
            </a:r>
            <a:endParaRPr lang="en-US" altLang="zh-CN" sz="2000" dirty="0">
              <a:solidFill>
                <a:schemeClr val="tx1"/>
              </a:solidFill>
              <a:latin typeface="+mj-ea"/>
              <a:ea typeface="+mj-ea"/>
            </a:endParaRPr>
          </a:p>
          <a:p>
            <a:pPr algn="just" eaLnBrk="1" hangingPunct="1">
              <a:buClr>
                <a:schemeClr val="accent1"/>
              </a:buClr>
              <a:buSzPct val="65000"/>
              <a:buFont typeface="Wingdings" panose="05000000000000000000" pitchFamily="2" charset="2"/>
              <a:buNone/>
              <a:defRPr/>
            </a:pPr>
            <a:r>
              <a:rPr lang="en-US" altLang="zh-CN" sz="2400" dirty="0">
                <a:solidFill>
                  <a:schemeClr val="tx1"/>
                </a:solidFill>
                <a:latin typeface="+mj-ea"/>
                <a:ea typeface="+mj-ea"/>
              </a:rPr>
              <a:t>return b;                                       //b</a:t>
            </a:r>
            <a:r>
              <a:rPr lang="zh-CN" altLang="en-US" sz="2400" dirty="0">
                <a:solidFill>
                  <a:schemeClr val="tx1"/>
                </a:solidFill>
                <a:latin typeface="+mj-ea"/>
                <a:ea typeface="+mj-ea"/>
              </a:rPr>
              <a:t>为上界函数</a:t>
            </a:r>
          </a:p>
        </p:txBody>
      </p:sp>
    </p:spTree>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2985232-9DC2-461E-9C3F-17D4A40C3D53}"/>
              </a:ext>
            </a:extLst>
          </p:cNvPr>
          <p:cNvSpPr>
            <a:spLocks noGrp="1" noChangeArrowheads="1"/>
          </p:cNvSpPr>
          <p:nvPr>
            <p:ph type="title"/>
          </p:nvPr>
        </p:nvSpPr>
        <p:spPr/>
        <p:txBody>
          <a:bodyPr/>
          <a:lstStyle/>
          <a:p>
            <a:pPr>
              <a:defRPr/>
            </a:pPr>
            <a:r>
              <a:rPr lang="zh-CN" altLang="en-US">
                <a:latin typeface="+mj-ea"/>
              </a:rPr>
              <a:t>6.5    0-1背包问题</a:t>
            </a:r>
          </a:p>
        </p:txBody>
      </p:sp>
      <p:sp>
        <p:nvSpPr>
          <p:cNvPr id="41987" name="灯片编号占位符 5">
            <a:extLst>
              <a:ext uri="{FF2B5EF4-FFF2-40B4-BE49-F238E27FC236}">
                <a16:creationId xmlns:a16="http://schemas.microsoft.com/office/drawing/2014/main" id="{56CE0EF1-DCC7-4A5D-9542-FB19BAB2A2A7}"/>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4DFCAD6-651F-41A0-BB45-9FECEC41A9B1}" type="slidenum">
              <a:rPr lang="zh-CN" altLang="en-US" sz="1200">
                <a:solidFill>
                  <a:schemeClr val="tx1"/>
                </a:solidFill>
                <a:latin typeface="微软雅黑" panose="020B0503020204020204" pitchFamily="34" charset="-122"/>
                <a:ea typeface="微软雅黑" panose="020B0503020204020204" pitchFamily="34" charset="-122"/>
              </a:rPr>
              <a:pPr/>
              <a:t>33</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41988" name="Text Box 4">
            <a:extLst>
              <a:ext uri="{FF2B5EF4-FFF2-40B4-BE49-F238E27FC236}">
                <a16:creationId xmlns:a16="http://schemas.microsoft.com/office/drawing/2014/main" id="{CC2C7E4E-C686-425E-9EA0-7B5046C38573}"/>
              </a:ext>
            </a:extLst>
          </p:cNvPr>
          <p:cNvSpPr txBox="1">
            <a:spLocks noChangeArrowheads="1"/>
          </p:cNvSpPr>
          <p:nvPr/>
        </p:nvSpPr>
        <p:spPr bwMode="auto">
          <a:xfrm>
            <a:off x="428625" y="1071563"/>
            <a:ext cx="8535988" cy="555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 </a:t>
            </a:r>
            <a:r>
              <a:rPr kumimoji="1" lang="en-US" altLang="zh-CN" sz="2400" dirty="0">
                <a:solidFill>
                  <a:srgbClr val="FF0000"/>
                </a:solidFill>
                <a:latin typeface="+mj-ea"/>
                <a:ea typeface="+mj-ea"/>
              </a:rPr>
              <a:t>while (</a:t>
            </a:r>
            <a:r>
              <a:rPr kumimoji="1" lang="en-US" altLang="zh-CN" sz="2400" dirty="0" err="1">
                <a:solidFill>
                  <a:srgbClr val="FF0000"/>
                </a:solidFill>
                <a:latin typeface="+mj-ea"/>
                <a:ea typeface="+mj-ea"/>
              </a:rPr>
              <a:t>i</a:t>
            </a:r>
            <a:r>
              <a:rPr kumimoji="1" lang="en-US" altLang="zh-CN" sz="2400" dirty="0">
                <a:solidFill>
                  <a:srgbClr val="FF0000"/>
                </a:solidFill>
                <a:latin typeface="+mj-ea"/>
                <a:ea typeface="+mj-ea"/>
              </a:rPr>
              <a:t> != n+1) </a:t>
            </a:r>
            <a:r>
              <a:rPr kumimoji="1" lang="en-US" altLang="zh-CN" sz="2400" dirty="0">
                <a:solidFill>
                  <a:schemeClr val="tx1"/>
                </a:solidFill>
                <a:latin typeface="+mj-ea"/>
                <a:ea typeface="+mj-ea"/>
              </a:rPr>
              <a:t>{// </a:t>
            </a:r>
            <a:r>
              <a:rPr kumimoji="1" lang="zh-CN" altLang="en-US" sz="2400" dirty="0">
                <a:solidFill>
                  <a:schemeClr val="tx1"/>
                </a:solidFill>
                <a:latin typeface="+mj-ea"/>
                <a:ea typeface="+mj-ea"/>
              </a:rPr>
              <a:t>非叶结点</a:t>
            </a:r>
          </a:p>
          <a:p>
            <a:pPr eaLnBrk="1" hangingPunct="1">
              <a:spcBef>
                <a:spcPct val="20000"/>
              </a:spcBef>
              <a:buClr>
                <a:schemeClr val="accent1"/>
              </a:buClr>
              <a:buSzPct val="65000"/>
              <a:buFont typeface="Wingdings" panose="05000000000000000000" pitchFamily="2" charset="2"/>
              <a:buNone/>
              <a:defRPr/>
            </a:pPr>
            <a:r>
              <a:rPr kumimoji="1" lang="zh-CN" altLang="en-US" sz="2400" dirty="0">
                <a:solidFill>
                  <a:schemeClr val="tx1"/>
                </a:solidFill>
                <a:latin typeface="+mj-ea"/>
                <a:ea typeface="+mj-ea"/>
              </a:rPr>
              <a:t>      </a:t>
            </a:r>
            <a:r>
              <a:rPr kumimoji="1" lang="en-US" altLang="zh-CN" sz="2400" dirty="0">
                <a:solidFill>
                  <a:schemeClr val="tx1"/>
                </a:solidFill>
                <a:latin typeface="+mj-ea"/>
                <a:ea typeface="+mj-ea"/>
              </a:rPr>
              <a:t>// </a:t>
            </a:r>
            <a:r>
              <a:rPr kumimoji="1" lang="zh-CN" altLang="en-US" sz="2400" dirty="0">
                <a:solidFill>
                  <a:schemeClr val="tx1"/>
                </a:solidFill>
                <a:latin typeface="+mj-ea"/>
                <a:ea typeface="+mj-ea"/>
              </a:rPr>
              <a:t>检查当前扩展结点的左儿子结点</a:t>
            </a:r>
          </a:p>
          <a:p>
            <a:pPr eaLnBrk="1" hangingPunct="1">
              <a:spcBef>
                <a:spcPct val="20000"/>
              </a:spcBef>
              <a:buClr>
                <a:schemeClr val="accent1"/>
              </a:buClr>
              <a:buSzPct val="65000"/>
              <a:buFont typeface="Wingdings" panose="05000000000000000000" pitchFamily="2" charset="2"/>
              <a:buNone/>
              <a:defRPr/>
            </a:pPr>
            <a:r>
              <a:rPr kumimoji="1" lang="zh-CN" altLang="en-US" sz="2400" dirty="0">
                <a:solidFill>
                  <a:schemeClr val="tx1"/>
                </a:solidFill>
                <a:latin typeface="+mj-ea"/>
                <a:ea typeface="+mj-ea"/>
              </a:rPr>
              <a:t>      </a:t>
            </a:r>
            <a:r>
              <a:rPr kumimoji="1" lang="en-US" altLang="zh-CN" sz="2400" dirty="0">
                <a:solidFill>
                  <a:schemeClr val="tx1"/>
                </a:solidFill>
                <a:latin typeface="+mj-ea"/>
                <a:ea typeface="+mj-ea"/>
              </a:rPr>
              <a:t>if (</a:t>
            </a:r>
            <a:r>
              <a:rPr kumimoji="1" lang="en-US" altLang="zh-CN" sz="2400" dirty="0" err="1">
                <a:solidFill>
                  <a:srgbClr val="FF0000"/>
                </a:solidFill>
                <a:latin typeface="+mj-ea"/>
                <a:ea typeface="+mj-ea"/>
              </a:rPr>
              <a:t>cw</a:t>
            </a:r>
            <a:r>
              <a:rPr kumimoji="1" lang="en-US" altLang="zh-CN" sz="2400" dirty="0">
                <a:solidFill>
                  <a:srgbClr val="FF0000"/>
                </a:solidFill>
                <a:latin typeface="+mj-ea"/>
                <a:ea typeface="+mj-ea"/>
              </a:rPr>
              <a:t> + w[</a:t>
            </a:r>
            <a:r>
              <a:rPr kumimoji="1" lang="en-US" altLang="zh-CN" sz="2400" dirty="0" err="1">
                <a:solidFill>
                  <a:srgbClr val="FF0000"/>
                </a:solidFill>
                <a:latin typeface="+mj-ea"/>
                <a:ea typeface="+mj-ea"/>
              </a:rPr>
              <a:t>i</a:t>
            </a:r>
            <a:r>
              <a:rPr kumimoji="1" lang="en-US" altLang="zh-CN" sz="2400" dirty="0">
                <a:solidFill>
                  <a:srgbClr val="FF0000"/>
                </a:solidFill>
                <a:latin typeface="+mj-ea"/>
                <a:ea typeface="+mj-ea"/>
              </a:rPr>
              <a:t>] &lt;= c</a:t>
            </a:r>
            <a:r>
              <a:rPr kumimoji="1" lang="en-US" altLang="zh-CN" sz="2400" dirty="0">
                <a:solidFill>
                  <a:schemeClr val="tx1"/>
                </a:solidFill>
                <a:latin typeface="+mj-ea"/>
                <a:ea typeface="+mj-ea"/>
              </a:rPr>
              <a:t>) {// </a:t>
            </a:r>
            <a:r>
              <a:rPr kumimoji="1" lang="zh-CN" altLang="en-US" sz="2400" dirty="0">
                <a:solidFill>
                  <a:schemeClr val="tx1"/>
                </a:solidFill>
                <a:latin typeface="+mj-ea"/>
                <a:ea typeface="+mj-ea"/>
              </a:rPr>
              <a:t>左儿子结点为可行结点</a:t>
            </a:r>
          </a:p>
          <a:p>
            <a:pPr eaLnBrk="1" hangingPunct="1">
              <a:spcBef>
                <a:spcPct val="20000"/>
              </a:spcBef>
              <a:buClr>
                <a:schemeClr val="accent1"/>
              </a:buClr>
              <a:buSzPct val="65000"/>
              <a:buFont typeface="Wingdings" panose="05000000000000000000" pitchFamily="2" charset="2"/>
              <a:buNone/>
              <a:defRPr/>
            </a:pPr>
            <a:r>
              <a:rPr kumimoji="1" lang="zh-CN" altLang="en-US" sz="2400" dirty="0">
                <a:solidFill>
                  <a:schemeClr val="tx1"/>
                </a:solidFill>
                <a:latin typeface="+mj-ea"/>
                <a:ea typeface="+mj-ea"/>
              </a:rPr>
              <a:t>         </a:t>
            </a:r>
            <a:r>
              <a:rPr kumimoji="1" lang="en-US" altLang="zh-CN" sz="2400" dirty="0">
                <a:solidFill>
                  <a:schemeClr val="tx1"/>
                </a:solidFill>
                <a:latin typeface="+mj-ea"/>
                <a:ea typeface="+mj-ea"/>
              </a:rPr>
              <a:t>if (</a:t>
            </a:r>
            <a:r>
              <a:rPr kumimoji="1" lang="en-US" altLang="zh-CN" sz="2400" dirty="0" err="1">
                <a:solidFill>
                  <a:schemeClr val="tx1"/>
                </a:solidFill>
                <a:latin typeface="+mj-ea"/>
                <a:ea typeface="+mj-ea"/>
              </a:rPr>
              <a:t>cp+p</a:t>
            </a:r>
            <a:r>
              <a:rPr kumimoji="1" lang="en-US" altLang="zh-CN" sz="2400" dirty="0">
                <a:solidFill>
                  <a:schemeClr val="tx1"/>
                </a:solidFill>
                <a:latin typeface="+mj-ea"/>
                <a:ea typeface="+mj-ea"/>
              </a:rPr>
              <a:t>[</a:t>
            </a:r>
            <a:r>
              <a:rPr kumimoji="1" lang="en-US" altLang="zh-CN" sz="2400" dirty="0" err="1">
                <a:solidFill>
                  <a:schemeClr val="tx1"/>
                </a:solidFill>
                <a:latin typeface="+mj-ea"/>
                <a:ea typeface="+mj-ea"/>
              </a:rPr>
              <a:t>i</a:t>
            </a:r>
            <a:r>
              <a:rPr kumimoji="1" lang="en-US" altLang="zh-CN" sz="2400" dirty="0">
                <a:solidFill>
                  <a:schemeClr val="tx1"/>
                </a:solidFill>
                <a:latin typeface="+mj-ea"/>
                <a:ea typeface="+mj-ea"/>
              </a:rPr>
              <a:t>] &gt; </a:t>
            </a:r>
            <a:r>
              <a:rPr kumimoji="1" lang="en-US" altLang="zh-CN" sz="2400" dirty="0" err="1">
                <a:solidFill>
                  <a:schemeClr val="tx1"/>
                </a:solidFill>
                <a:latin typeface="+mj-ea"/>
                <a:ea typeface="+mj-ea"/>
              </a:rPr>
              <a:t>bestp</a:t>
            </a:r>
            <a:r>
              <a:rPr kumimoji="1" lang="en-US" altLang="zh-CN" sz="2400" dirty="0">
                <a:solidFill>
                  <a:schemeClr val="tx1"/>
                </a:solidFill>
                <a:latin typeface="+mj-ea"/>
                <a:ea typeface="+mj-ea"/>
              </a:rPr>
              <a:t>) </a:t>
            </a:r>
            <a:r>
              <a:rPr kumimoji="1" lang="en-US" altLang="zh-CN" sz="2400" dirty="0" err="1">
                <a:solidFill>
                  <a:schemeClr val="tx1"/>
                </a:solidFill>
                <a:latin typeface="+mj-ea"/>
                <a:ea typeface="+mj-ea"/>
              </a:rPr>
              <a:t>bestp</a:t>
            </a:r>
            <a:r>
              <a:rPr kumimoji="1" lang="en-US" altLang="zh-CN" sz="2400" dirty="0">
                <a:solidFill>
                  <a:schemeClr val="tx1"/>
                </a:solidFill>
                <a:latin typeface="+mj-ea"/>
                <a:ea typeface="+mj-ea"/>
              </a:rPr>
              <a:t> = </a:t>
            </a:r>
            <a:r>
              <a:rPr kumimoji="1" lang="en-US" altLang="zh-CN" sz="2400" dirty="0" err="1">
                <a:solidFill>
                  <a:schemeClr val="tx1"/>
                </a:solidFill>
                <a:latin typeface="+mj-ea"/>
                <a:ea typeface="+mj-ea"/>
              </a:rPr>
              <a:t>cp+p</a:t>
            </a:r>
            <a:r>
              <a:rPr kumimoji="1" lang="en-US" altLang="zh-CN" sz="2400" dirty="0">
                <a:solidFill>
                  <a:schemeClr val="tx1"/>
                </a:solidFill>
                <a:latin typeface="+mj-ea"/>
                <a:ea typeface="+mj-ea"/>
              </a:rPr>
              <a:t>[</a:t>
            </a:r>
            <a:r>
              <a:rPr kumimoji="1" lang="en-US" altLang="zh-CN" sz="2400" dirty="0" err="1">
                <a:solidFill>
                  <a:schemeClr val="tx1"/>
                </a:solidFill>
                <a:latin typeface="+mj-ea"/>
                <a:ea typeface="+mj-ea"/>
              </a:rPr>
              <a:t>i</a:t>
            </a:r>
            <a:r>
              <a:rPr kumimoji="1" lang="en-US" altLang="zh-CN" sz="2400" dirty="0">
                <a:solidFill>
                  <a:schemeClr val="tx1"/>
                </a:solidFill>
                <a:latin typeface="+mj-ea"/>
                <a:ea typeface="+mj-ea"/>
              </a:rPr>
              <a:t>];</a:t>
            </a:r>
          </a:p>
          <a:p>
            <a:pPr eaLnBrk="1" hangingPunct="1">
              <a:spcBef>
                <a:spcPct val="20000"/>
              </a:spcBef>
              <a:buClr>
                <a:schemeClr val="accent1"/>
              </a:buClr>
              <a:buSzPct val="65000"/>
              <a:buFont typeface="Wingdings" panose="05000000000000000000" pitchFamily="2" charset="2"/>
              <a:buNone/>
              <a:defRPr/>
            </a:pPr>
            <a:r>
              <a:rPr kumimoji="1" lang="en-US" altLang="zh-CN" sz="2400" dirty="0">
                <a:solidFill>
                  <a:schemeClr val="tx1"/>
                </a:solidFill>
                <a:latin typeface="+mj-ea"/>
                <a:ea typeface="+mj-ea"/>
              </a:rPr>
              <a:t>         </a:t>
            </a:r>
            <a:r>
              <a:rPr kumimoji="1" lang="en-US" altLang="zh-CN" sz="2400" u="sng" dirty="0" err="1">
                <a:solidFill>
                  <a:schemeClr val="tx1"/>
                </a:solidFill>
                <a:latin typeface="+mj-ea"/>
                <a:ea typeface="+mj-ea"/>
              </a:rPr>
              <a:t>AddLiveNode</a:t>
            </a:r>
            <a:r>
              <a:rPr kumimoji="1" lang="en-US" altLang="zh-CN" sz="2400" dirty="0">
                <a:solidFill>
                  <a:schemeClr val="tx1"/>
                </a:solidFill>
                <a:latin typeface="+mj-ea"/>
                <a:ea typeface="+mj-ea"/>
              </a:rPr>
              <a:t>(up, </a:t>
            </a:r>
            <a:r>
              <a:rPr kumimoji="1" lang="en-US" altLang="zh-CN" sz="2400" dirty="0" err="1">
                <a:solidFill>
                  <a:schemeClr val="tx1"/>
                </a:solidFill>
                <a:latin typeface="+mj-ea"/>
                <a:ea typeface="+mj-ea"/>
              </a:rPr>
              <a:t>cp+p</a:t>
            </a:r>
            <a:r>
              <a:rPr kumimoji="1" lang="en-US" altLang="zh-CN" sz="2400" dirty="0">
                <a:solidFill>
                  <a:schemeClr val="tx1"/>
                </a:solidFill>
                <a:latin typeface="+mj-ea"/>
                <a:ea typeface="+mj-ea"/>
              </a:rPr>
              <a:t>[</a:t>
            </a:r>
            <a:r>
              <a:rPr kumimoji="1" lang="en-US" altLang="zh-CN" sz="2400" dirty="0" err="1">
                <a:solidFill>
                  <a:schemeClr val="tx1"/>
                </a:solidFill>
                <a:latin typeface="+mj-ea"/>
                <a:ea typeface="+mj-ea"/>
              </a:rPr>
              <a:t>i</a:t>
            </a:r>
            <a:r>
              <a:rPr kumimoji="1" lang="en-US" altLang="zh-CN" sz="2400" dirty="0">
                <a:solidFill>
                  <a:schemeClr val="tx1"/>
                </a:solidFill>
                <a:latin typeface="+mj-ea"/>
                <a:ea typeface="+mj-ea"/>
              </a:rPr>
              <a:t>], </a:t>
            </a:r>
            <a:r>
              <a:rPr kumimoji="1" lang="en-US" altLang="zh-CN" sz="2400" dirty="0" err="1">
                <a:solidFill>
                  <a:schemeClr val="tx1"/>
                </a:solidFill>
                <a:latin typeface="+mj-ea"/>
                <a:ea typeface="+mj-ea"/>
              </a:rPr>
              <a:t>cw+w</a:t>
            </a:r>
            <a:r>
              <a:rPr kumimoji="1" lang="en-US" altLang="zh-CN" sz="2400" dirty="0">
                <a:solidFill>
                  <a:schemeClr val="tx1"/>
                </a:solidFill>
                <a:latin typeface="+mj-ea"/>
                <a:ea typeface="+mj-ea"/>
              </a:rPr>
              <a:t>[</a:t>
            </a:r>
            <a:r>
              <a:rPr kumimoji="1" lang="en-US" altLang="zh-CN" sz="2400" dirty="0" err="1">
                <a:solidFill>
                  <a:schemeClr val="tx1"/>
                </a:solidFill>
                <a:latin typeface="+mj-ea"/>
                <a:ea typeface="+mj-ea"/>
              </a:rPr>
              <a:t>i</a:t>
            </a:r>
            <a:r>
              <a:rPr kumimoji="1" lang="en-US" altLang="zh-CN" sz="2400" dirty="0">
                <a:solidFill>
                  <a:schemeClr val="tx1"/>
                </a:solidFill>
                <a:latin typeface="+mj-ea"/>
                <a:ea typeface="+mj-ea"/>
              </a:rPr>
              <a:t>], true, i+1);}</a:t>
            </a:r>
          </a:p>
          <a:p>
            <a:pPr eaLnBrk="1" hangingPunct="1">
              <a:spcBef>
                <a:spcPct val="20000"/>
              </a:spcBef>
              <a:buClr>
                <a:schemeClr val="accent1"/>
              </a:buClr>
              <a:buSzPct val="65000"/>
              <a:buFont typeface="Wingdings" panose="05000000000000000000" pitchFamily="2" charset="2"/>
              <a:buNone/>
              <a:defRPr/>
            </a:pPr>
            <a:r>
              <a:rPr kumimoji="1" lang="en-US" altLang="zh-CN" sz="2400" dirty="0">
                <a:solidFill>
                  <a:schemeClr val="tx1"/>
                </a:solidFill>
                <a:latin typeface="+mj-ea"/>
                <a:ea typeface="+mj-ea"/>
              </a:rPr>
              <a:t>                //</a:t>
            </a:r>
            <a:r>
              <a:rPr kumimoji="1" lang="en-US" altLang="zh-CN" sz="2400" dirty="0" err="1">
                <a:solidFill>
                  <a:schemeClr val="tx1"/>
                </a:solidFill>
                <a:latin typeface="+mj-ea"/>
                <a:ea typeface="+mj-ea"/>
              </a:rPr>
              <a:t>AddLiveNode</a:t>
            </a:r>
            <a:r>
              <a:rPr kumimoji="1" lang="zh-CN" altLang="en-US" sz="2400" dirty="0">
                <a:solidFill>
                  <a:schemeClr val="tx1"/>
                </a:solidFill>
                <a:latin typeface="+mj-ea"/>
                <a:ea typeface="+mj-ea"/>
              </a:rPr>
              <a:t>将活结点插入到子集树和优先队列</a:t>
            </a:r>
            <a:endParaRPr kumimoji="1" lang="en-US" altLang="zh-CN" sz="2400" dirty="0">
              <a:solidFill>
                <a:schemeClr val="tx1"/>
              </a:solidFill>
              <a:latin typeface="+mj-ea"/>
              <a:ea typeface="+mj-ea"/>
            </a:endParaRPr>
          </a:p>
          <a:p>
            <a:pPr eaLnBrk="1" hangingPunct="1">
              <a:spcBef>
                <a:spcPct val="20000"/>
              </a:spcBef>
              <a:buClr>
                <a:schemeClr val="accent1"/>
              </a:buClr>
              <a:buSzPct val="65000"/>
              <a:buFont typeface="Wingdings" panose="05000000000000000000" pitchFamily="2" charset="2"/>
              <a:buNone/>
              <a:defRPr/>
            </a:pPr>
            <a:endParaRPr kumimoji="1" lang="en-US" altLang="zh-CN" sz="2400" dirty="0">
              <a:solidFill>
                <a:schemeClr val="tx1"/>
              </a:solidFill>
              <a:latin typeface="+mj-ea"/>
              <a:ea typeface="+mj-ea"/>
            </a:endParaRPr>
          </a:p>
          <a:p>
            <a:pPr eaLnBrk="1" hangingPunct="1">
              <a:spcBef>
                <a:spcPct val="20000"/>
              </a:spcBef>
              <a:buClr>
                <a:schemeClr val="accent1"/>
              </a:buClr>
              <a:buSzPct val="65000"/>
              <a:buFont typeface="Wingdings" panose="05000000000000000000" pitchFamily="2" charset="2"/>
              <a:buNone/>
              <a:defRPr/>
            </a:pPr>
            <a:r>
              <a:rPr kumimoji="1" lang="en-US" altLang="zh-CN" sz="2400" dirty="0">
                <a:solidFill>
                  <a:schemeClr val="tx1"/>
                </a:solidFill>
                <a:latin typeface="+mj-ea"/>
                <a:ea typeface="+mj-ea"/>
              </a:rPr>
              <a:t>         // </a:t>
            </a:r>
            <a:r>
              <a:rPr kumimoji="1" lang="zh-CN" altLang="en-US" sz="2400" dirty="0">
                <a:solidFill>
                  <a:schemeClr val="tx1"/>
                </a:solidFill>
                <a:latin typeface="+mj-ea"/>
                <a:ea typeface="+mj-ea"/>
              </a:rPr>
              <a:t>检查当前扩展结点的右儿子结点</a:t>
            </a:r>
          </a:p>
          <a:p>
            <a:pPr eaLnBrk="1" hangingPunct="1">
              <a:spcBef>
                <a:spcPct val="20000"/>
              </a:spcBef>
              <a:buClr>
                <a:schemeClr val="accent1"/>
              </a:buClr>
              <a:buSzPct val="65000"/>
              <a:buFont typeface="Wingdings" panose="05000000000000000000" pitchFamily="2" charset="2"/>
              <a:buNone/>
              <a:defRPr/>
            </a:pPr>
            <a:r>
              <a:rPr kumimoji="1" lang="zh-CN" altLang="en-US" sz="2400" dirty="0">
                <a:solidFill>
                  <a:schemeClr val="tx1"/>
                </a:solidFill>
                <a:latin typeface="+mj-ea"/>
                <a:ea typeface="+mj-ea"/>
              </a:rPr>
              <a:t>      </a:t>
            </a:r>
            <a:r>
              <a:rPr kumimoji="1" lang="en-US" altLang="zh-CN" sz="2400" dirty="0">
                <a:solidFill>
                  <a:schemeClr val="tx1"/>
                </a:solidFill>
                <a:latin typeface="+mj-ea"/>
                <a:ea typeface="+mj-ea"/>
              </a:rPr>
              <a:t>if (</a:t>
            </a:r>
            <a:r>
              <a:rPr kumimoji="1" lang="en-US" altLang="zh-CN" sz="2400" dirty="0">
                <a:solidFill>
                  <a:srgbClr val="FF0000"/>
                </a:solidFill>
                <a:latin typeface="+mj-ea"/>
                <a:ea typeface="+mj-ea"/>
              </a:rPr>
              <a:t>Bound(i+1) &gt;= </a:t>
            </a:r>
            <a:r>
              <a:rPr kumimoji="1" lang="en-US" altLang="zh-CN" sz="2400" dirty="0" err="1">
                <a:solidFill>
                  <a:srgbClr val="FF0000"/>
                </a:solidFill>
                <a:latin typeface="+mj-ea"/>
                <a:ea typeface="+mj-ea"/>
              </a:rPr>
              <a:t>bestp</a:t>
            </a:r>
            <a:r>
              <a:rPr kumimoji="1" lang="en-US" altLang="zh-CN" sz="2400" dirty="0">
                <a:solidFill>
                  <a:schemeClr val="tx1"/>
                </a:solidFill>
                <a:latin typeface="+mj-ea"/>
                <a:ea typeface="+mj-ea"/>
              </a:rPr>
              <a:t>) // </a:t>
            </a:r>
            <a:r>
              <a:rPr kumimoji="1" lang="zh-CN" altLang="en-US" sz="2400" dirty="0">
                <a:solidFill>
                  <a:schemeClr val="tx1"/>
                </a:solidFill>
                <a:latin typeface="+mj-ea"/>
                <a:ea typeface="+mj-ea"/>
              </a:rPr>
              <a:t>右子树可能含最优解</a:t>
            </a:r>
          </a:p>
          <a:p>
            <a:pPr eaLnBrk="1" hangingPunct="1">
              <a:spcBef>
                <a:spcPct val="20000"/>
              </a:spcBef>
              <a:buClr>
                <a:schemeClr val="accent1"/>
              </a:buClr>
              <a:buSzPct val="65000"/>
              <a:buFont typeface="Wingdings" panose="05000000000000000000" pitchFamily="2" charset="2"/>
              <a:buNone/>
              <a:defRPr/>
            </a:pPr>
            <a:r>
              <a:rPr kumimoji="1" lang="zh-CN" altLang="en-US" sz="2400" dirty="0">
                <a:solidFill>
                  <a:schemeClr val="tx1"/>
                </a:solidFill>
                <a:latin typeface="+mj-ea"/>
                <a:ea typeface="+mj-ea"/>
              </a:rPr>
              <a:t>           </a:t>
            </a:r>
            <a:r>
              <a:rPr kumimoji="1" lang="en-US" altLang="zh-CN" sz="2400" u="sng" dirty="0" err="1">
                <a:solidFill>
                  <a:schemeClr val="tx1"/>
                </a:solidFill>
                <a:latin typeface="+mj-ea"/>
                <a:ea typeface="+mj-ea"/>
              </a:rPr>
              <a:t>AddLiveNode</a:t>
            </a:r>
            <a:r>
              <a:rPr kumimoji="1" lang="en-US" altLang="zh-CN" sz="2400" dirty="0">
                <a:solidFill>
                  <a:schemeClr val="tx1"/>
                </a:solidFill>
                <a:latin typeface="+mj-ea"/>
                <a:ea typeface="+mj-ea"/>
              </a:rPr>
              <a:t>(Bound(i+1), </a:t>
            </a:r>
            <a:r>
              <a:rPr kumimoji="1" lang="en-US" altLang="zh-CN" sz="2400" dirty="0" err="1">
                <a:solidFill>
                  <a:schemeClr val="tx1"/>
                </a:solidFill>
                <a:latin typeface="+mj-ea"/>
                <a:ea typeface="+mj-ea"/>
              </a:rPr>
              <a:t>cp</a:t>
            </a:r>
            <a:r>
              <a:rPr kumimoji="1" lang="en-US" altLang="zh-CN" sz="2400" dirty="0">
                <a:solidFill>
                  <a:schemeClr val="tx1"/>
                </a:solidFill>
                <a:latin typeface="+mj-ea"/>
                <a:ea typeface="+mj-ea"/>
              </a:rPr>
              <a:t>, </a:t>
            </a:r>
            <a:r>
              <a:rPr kumimoji="1" lang="en-US" altLang="zh-CN" sz="2400" dirty="0" err="1">
                <a:solidFill>
                  <a:schemeClr val="tx1"/>
                </a:solidFill>
                <a:latin typeface="+mj-ea"/>
                <a:ea typeface="+mj-ea"/>
              </a:rPr>
              <a:t>cw</a:t>
            </a:r>
            <a:r>
              <a:rPr kumimoji="1" lang="en-US" altLang="zh-CN" sz="2400" dirty="0">
                <a:solidFill>
                  <a:schemeClr val="tx1"/>
                </a:solidFill>
                <a:latin typeface="+mj-ea"/>
                <a:ea typeface="+mj-ea"/>
              </a:rPr>
              <a:t>, false, i+1);</a:t>
            </a:r>
          </a:p>
          <a:p>
            <a:pPr algn="just" eaLnBrk="1" hangingPunct="1">
              <a:spcBef>
                <a:spcPct val="50000"/>
              </a:spcBef>
              <a:buClr>
                <a:schemeClr val="accent1"/>
              </a:buClr>
              <a:buSzPct val="65000"/>
              <a:buFont typeface="Wingdings" panose="05000000000000000000" pitchFamily="2" charset="2"/>
              <a:buNone/>
              <a:defRPr/>
            </a:pPr>
            <a:r>
              <a:rPr lang="en-US" altLang="zh-CN" sz="2400" dirty="0">
                <a:solidFill>
                  <a:schemeClr val="tx1"/>
                </a:solidFill>
                <a:latin typeface="+mj-ea"/>
                <a:ea typeface="+mj-ea"/>
              </a:rPr>
              <a:t>         //   </a:t>
            </a:r>
            <a:r>
              <a:rPr lang="zh-CN" altLang="en-US" sz="2400" dirty="0">
                <a:solidFill>
                  <a:schemeClr val="tx1"/>
                </a:solidFill>
                <a:latin typeface="+mj-ea"/>
                <a:ea typeface="+mj-ea"/>
              </a:rPr>
              <a:t>取下一个扩展节点（略）</a:t>
            </a:r>
            <a:r>
              <a:rPr lang="en-US" altLang="zh-CN" sz="2400" dirty="0">
                <a:solidFill>
                  <a:schemeClr val="tx1"/>
                </a:solidFill>
                <a:latin typeface="+mj-ea"/>
                <a:ea typeface="+mj-ea"/>
              </a:rPr>
              <a:t>}</a:t>
            </a:r>
          </a:p>
          <a:p>
            <a:pPr algn="just" eaLnBrk="1" hangingPunct="1">
              <a:spcBef>
                <a:spcPct val="50000"/>
              </a:spcBef>
              <a:buClr>
                <a:schemeClr val="accent1"/>
              </a:buClr>
              <a:buSzPct val="65000"/>
              <a:buFont typeface="Wingdings" panose="05000000000000000000" pitchFamily="2" charset="2"/>
              <a:buNone/>
              <a:defRPr/>
            </a:pPr>
            <a:r>
              <a:rPr lang="en-US" altLang="zh-CN" sz="2400" dirty="0">
                <a:solidFill>
                  <a:schemeClr val="tx1"/>
                </a:solidFill>
                <a:latin typeface="+mj-ea"/>
                <a:ea typeface="+mj-ea"/>
              </a:rPr>
              <a:t>//</a:t>
            </a:r>
            <a:r>
              <a:rPr lang="zh-CN" altLang="en-US" sz="2400" dirty="0">
                <a:solidFill>
                  <a:schemeClr val="tx1"/>
                </a:solidFill>
                <a:latin typeface="+mj-ea"/>
                <a:ea typeface="+mj-ea"/>
              </a:rPr>
              <a:t>构造当前最优解（略）</a:t>
            </a:r>
          </a:p>
        </p:txBody>
      </p:sp>
      <p:sp>
        <p:nvSpPr>
          <p:cNvPr id="299013" name="AutoShape 5">
            <a:extLst>
              <a:ext uri="{FF2B5EF4-FFF2-40B4-BE49-F238E27FC236}">
                <a16:creationId xmlns:a16="http://schemas.microsoft.com/office/drawing/2014/main" id="{A8E93FB6-9222-4DF9-86B3-52E908335D26}"/>
              </a:ext>
            </a:extLst>
          </p:cNvPr>
          <p:cNvSpPr>
            <a:spLocks noChangeArrowheads="1"/>
          </p:cNvSpPr>
          <p:nvPr/>
        </p:nvSpPr>
        <p:spPr bwMode="auto">
          <a:xfrm>
            <a:off x="6227763" y="614363"/>
            <a:ext cx="2057400" cy="914400"/>
          </a:xfrm>
          <a:prstGeom prst="wedgeRoundRectCallout">
            <a:avLst>
              <a:gd name="adj1" fmla="val -139815"/>
              <a:gd name="adj2" fmla="val 32639"/>
              <a:gd name="adj3" fmla="val 16667"/>
            </a:avLst>
          </a:prstGeom>
          <a:solidFill>
            <a:schemeClr val="hlink"/>
          </a:solidFill>
          <a:ln w="6350">
            <a:solidFill>
              <a:schemeClr val="hlink"/>
            </a:solidFill>
            <a:miter lim="800000"/>
            <a:headEnd/>
            <a:tailEnd/>
          </a:ln>
        </p:spPr>
        <p:txBody>
          <a:bodyPr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20000"/>
              </a:spcBef>
              <a:buClr>
                <a:schemeClr val="accent1"/>
              </a:buClr>
              <a:buSzPct val="65000"/>
              <a:buFont typeface="Wingdings" panose="05000000000000000000" pitchFamily="2" charset="2"/>
              <a:buNone/>
              <a:defRPr/>
            </a:pPr>
            <a:r>
              <a:rPr lang="zh-CN" altLang="en-US" sz="2000" b="1">
                <a:solidFill>
                  <a:schemeClr val="bg1"/>
                </a:solidFill>
                <a:latin typeface="+mj-ea"/>
                <a:ea typeface="+mj-ea"/>
              </a:rPr>
              <a:t>分支限界搜索过程</a:t>
            </a:r>
            <a:endParaRPr lang="en-US" altLang="zh-CN" sz="2000" b="1">
              <a:solidFill>
                <a:schemeClr val="bg1"/>
              </a:solidFill>
              <a:latin typeface="+mj-ea"/>
              <a:ea typeface="+mj-ea"/>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99013"/>
                                        </p:tgtEl>
                                        <p:attrNameLst>
                                          <p:attrName>style.visibility</p:attrName>
                                        </p:attrNameLst>
                                      </p:cBhvr>
                                      <p:to>
                                        <p:strVal val="visible"/>
                                      </p:to>
                                    </p:set>
                                    <p:anim calcmode="lin" valueType="num">
                                      <p:cBhvr additive="base">
                                        <p:cTn id="7" dur="500" fill="hold"/>
                                        <p:tgtEl>
                                          <p:spTgt spid="299013"/>
                                        </p:tgtEl>
                                        <p:attrNameLst>
                                          <p:attrName>ppt_x</p:attrName>
                                        </p:attrNameLst>
                                      </p:cBhvr>
                                      <p:tavLst>
                                        <p:tav tm="0">
                                          <p:val>
                                            <p:strVal val="1+#ppt_w/2"/>
                                          </p:val>
                                        </p:tav>
                                        <p:tav tm="100000">
                                          <p:val>
                                            <p:strVal val="#ppt_x"/>
                                          </p:val>
                                        </p:tav>
                                      </p:tavLst>
                                    </p:anim>
                                    <p:anim calcmode="lin" valueType="num">
                                      <p:cBhvr additive="base">
                                        <p:cTn id="8" dur="500" fill="hold"/>
                                        <p:tgtEl>
                                          <p:spTgt spid="2990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3"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B5239A72-209B-F76E-5291-6A7B4942E968}"/>
              </a:ext>
            </a:extLst>
          </p:cNvPr>
          <p:cNvSpPr>
            <a:spLocks noGrp="1" noChangeArrowheads="1"/>
          </p:cNvSpPr>
          <p:nvPr>
            <p:ph idx="1"/>
          </p:nvPr>
        </p:nvSpPr>
        <p:spPr>
          <a:xfrm>
            <a:off x="428625" y="571500"/>
            <a:ext cx="8472488" cy="5391150"/>
          </a:xfrm>
        </p:spPr>
        <p:txBody>
          <a:bodyPr/>
          <a:lstStyle/>
          <a:p>
            <a:pPr>
              <a:lnSpc>
                <a:spcPct val="150000"/>
              </a:lnSpc>
            </a:pPr>
            <a:r>
              <a:rPr lang="zh-CN" altLang="en-US" sz="2800" b="1">
                <a:latin typeface="华文楷体" panose="02010600040101010101" pitchFamily="2" charset="-122"/>
                <a:ea typeface="华文楷体" panose="02010600040101010101" pitchFamily="2" charset="-122"/>
              </a:rPr>
              <a:t>通过应用范例学习分支限界法的设计策略。</a:t>
            </a:r>
          </a:p>
          <a:p>
            <a:pPr>
              <a:lnSpc>
                <a:spcPct val="150000"/>
              </a:lnSpc>
              <a:buFont typeface="Wingdings" panose="05000000000000000000" pitchFamily="2" charset="2"/>
              <a:buNone/>
            </a:pPr>
            <a:r>
              <a:rPr lang="zh-CN" altLang="en-US" sz="2800" b="1">
                <a:latin typeface="华文楷体" panose="02010600040101010101" pitchFamily="2" charset="-122"/>
                <a:ea typeface="华文楷体" panose="02010600040101010101" pitchFamily="2" charset="-122"/>
              </a:rPr>
              <a:t>（</a:t>
            </a:r>
            <a:r>
              <a:rPr lang="en-US" altLang="zh-CN" sz="2800" b="1">
                <a:latin typeface="华文楷体" panose="02010600040101010101" pitchFamily="2" charset="-122"/>
                <a:ea typeface="华文楷体" panose="02010600040101010101" pitchFamily="2" charset="-122"/>
              </a:rPr>
              <a:t>1</a:t>
            </a:r>
            <a:r>
              <a:rPr lang="zh-CN" altLang="en-US" sz="2800" b="1">
                <a:latin typeface="华文楷体" panose="02010600040101010101" pitchFamily="2" charset="-122"/>
                <a:ea typeface="华文楷体" panose="02010600040101010101" pitchFamily="2" charset="-122"/>
              </a:rPr>
              <a:t>）装载问题；</a:t>
            </a:r>
            <a:endParaRPr lang="en-US" altLang="zh-CN" sz="2800" b="1">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None/>
            </a:pPr>
            <a:r>
              <a:rPr lang="zh-CN" altLang="en-US" sz="2800" b="1">
                <a:latin typeface="华文楷体" panose="02010600040101010101" pitchFamily="2" charset="-122"/>
                <a:ea typeface="华文楷体" panose="02010600040101010101" pitchFamily="2" charset="-122"/>
              </a:rPr>
              <a:t>（</a:t>
            </a:r>
            <a:r>
              <a:rPr lang="en-US" altLang="zh-CN" sz="2800" b="1">
                <a:latin typeface="华文楷体" panose="02010600040101010101" pitchFamily="2" charset="-122"/>
                <a:ea typeface="华文楷体" panose="02010600040101010101" pitchFamily="2" charset="-122"/>
              </a:rPr>
              <a:t>2</a:t>
            </a:r>
            <a:r>
              <a:rPr lang="zh-CN" altLang="en-US" sz="2800" b="1">
                <a:latin typeface="华文楷体" panose="02010600040101010101" pitchFamily="2" charset="-122"/>
                <a:ea typeface="华文楷体" panose="02010600040101010101" pitchFamily="2" charset="-122"/>
              </a:rPr>
              <a:t>）</a:t>
            </a:r>
            <a:r>
              <a:rPr lang="en-US" altLang="zh-CN" sz="2800" b="1">
                <a:latin typeface="华文楷体" panose="02010600040101010101" pitchFamily="2" charset="-122"/>
                <a:ea typeface="华文楷体" panose="02010600040101010101" pitchFamily="2" charset="-122"/>
              </a:rPr>
              <a:t>0-1</a:t>
            </a:r>
            <a:r>
              <a:rPr lang="zh-CN" altLang="en-US" sz="2800" b="1">
                <a:latin typeface="华文楷体" panose="02010600040101010101" pitchFamily="2" charset="-122"/>
                <a:ea typeface="华文楷体" panose="02010600040101010101" pitchFamily="2" charset="-122"/>
              </a:rPr>
              <a:t>背包问题；</a:t>
            </a:r>
            <a:endParaRPr lang="en-US" altLang="zh-CN" sz="2800" b="1">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None/>
            </a:pPr>
            <a:r>
              <a:rPr lang="zh-CN" altLang="en-US" sz="2800" b="1">
                <a:latin typeface="华文楷体" panose="02010600040101010101" pitchFamily="2" charset="-122"/>
                <a:ea typeface="华文楷体" panose="02010600040101010101" pitchFamily="2" charset="-122"/>
              </a:rPr>
              <a:t>（</a:t>
            </a:r>
            <a:r>
              <a:rPr lang="en-US" altLang="zh-CN" sz="2800" b="1">
                <a:latin typeface="华文楷体" panose="02010600040101010101" pitchFamily="2" charset="-122"/>
                <a:ea typeface="华文楷体" panose="02010600040101010101" pitchFamily="2" charset="-122"/>
              </a:rPr>
              <a:t>3</a:t>
            </a:r>
            <a:r>
              <a:rPr lang="zh-CN" altLang="en-US" sz="2800" b="1">
                <a:latin typeface="华文楷体" panose="02010600040101010101" pitchFamily="2" charset="-122"/>
                <a:ea typeface="华文楷体" panose="02010600040101010101" pitchFamily="2" charset="-122"/>
              </a:rPr>
              <a:t>）</a:t>
            </a:r>
            <a:r>
              <a:rPr lang="zh-CN" altLang="en-US" sz="2800" b="1">
                <a:solidFill>
                  <a:srgbClr val="FF0000"/>
                </a:solidFill>
                <a:latin typeface="华文楷体" panose="02010600040101010101" pitchFamily="2" charset="-122"/>
                <a:ea typeface="华文楷体" panose="02010600040101010101" pitchFamily="2" charset="-122"/>
              </a:rPr>
              <a:t>最大团问题</a:t>
            </a:r>
            <a:r>
              <a:rPr lang="zh-CN" altLang="en-US" sz="2800" b="1">
                <a:latin typeface="华文楷体" panose="02010600040101010101" pitchFamily="2" charset="-122"/>
                <a:ea typeface="华文楷体" panose="02010600040101010101" pitchFamily="2" charset="-122"/>
              </a:rPr>
              <a:t>；</a:t>
            </a:r>
            <a:endParaRPr lang="en-US" altLang="zh-CN" sz="2800" b="1">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None/>
            </a:pPr>
            <a:r>
              <a:rPr lang="zh-CN" altLang="en-US" sz="2800" b="1">
                <a:latin typeface="华文楷体" panose="02010600040101010101" pitchFamily="2" charset="-122"/>
                <a:ea typeface="华文楷体" panose="02010600040101010101" pitchFamily="2" charset="-122"/>
              </a:rPr>
              <a:t>（</a:t>
            </a:r>
            <a:r>
              <a:rPr lang="en-US" altLang="zh-CN" sz="2800" b="1">
                <a:latin typeface="华文楷体" panose="02010600040101010101" pitchFamily="2" charset="-122"/>
                <a:ea typeface="华文楷体" panose="02010600040101010101" pitchFamily="2" charset="-122"/>
              </a:rPr>
              <a:t>4</a:t>
            </a:r>
            <a:r>
              <a:rPr lang="zh-CN" altLang="en-US" sz="2800" b="1">
                <a:latin typeface="华文楷体" panose="02010600040101010101" pitchFamily="2" charset="-122"/>
                <a:ea typeface="华文楷体" panose="02010600040101010101" pitchFamily="2" charset="-122"/>
              </a:rPr>
              <a:t>）旅行售货员问题；</a:t>
            </a:r>
          </a:p>
          <a:p>
            <a:pPr>
              <a:lnSpc>
                <a:spcPct val="150000"/>
              </a:lnSpc>
              <a:buFont typeface="Wingdings" panose="05000000000000000000" pitchFamily="2" charset="2"/>
              <a:buNone/>
            </a:pPr>
            <a:r>
              <a:rPr lang="zh-CN" altLang="en-US" sz="2800" b="1">
                <a:latin typeface="华文楷体" panose="02010600040101010101" pitchFamily="2" charset="-122"/>
                <a:ea typeface="华文楷体" panose="02010600040101010101" pitchFamily="2" charset="-122"/>
              </a:rPr>
              <a:t>（</a:t>
            </a:r>
            <a:r>
              <a:rPr lang="en-US" altLang="zh-CN" sz="2800" b="1">
                <a:latin typeface="华文楷体" panose="02010600040101010101" pitchFamily="2" charset="-122"/>
                <a:ea typeface="华文楷体" panose="02010600040101010101" pitchFamily="2" charset="-122"/>
              </a:rPr>
              <a:t>5</a:t>
            </a:r>
            <a:r>
              <a:rPr lang="zh-CN" altLang="en-US" sz="2800" b="1">
                <a:latin typeface="华文楷体" panose="02010600040101010101" pitchFamily="2" charset="-122"/>
                <a:ea typeface="华文楷体" panose="02010600040101010101" pitchFamily="2" charset="-122"/>
              </a:rPr>
              <a:t>）单源最短路问题；</a:t>
            </a:r>
            <a:endParaRPr lang="en-US" altLang="zh-CN" sz="2800" b="1">
              <a:latin typeface="华文楷体" panose="02010600040101010101" pitchFamily="2" charset="-122"/>
              <a:ea typeface="华文楷体" panose="02010600040101010101" pitchFamily="2" charset="-122"/>
            </a:endParaRPr>
          </a:p>
          <a:p>
            <a:pPr>
              <a:lnSpc>
                <a:spcPct val="150000"/>
              </a:lnSpc>
              <a:buFont typeface="Wingdings" panose="05000000000000000000" pitchFamily="2" charset="2"/>
              <a:buNone/>
            </a:pPr>
            <a:r>
              <a:rPr lang="zh-CN" altLang="en-US" sz="2800" b="1">
                <a:latin typeface="华文楷体" panose="02010600040101010101" pitchFamily="2" charset="-122"/>
                <a:ea typeface="华文楷体" panose="02010600040101010101" pitchFamily="2" charset="-122"/>
              </a:rPr>
              <a:t>（</a:t>
            </a:r>
            <a:r>
              <a:rPr lang="en-US" altLang="zh-CN" sz="2800" b="1">
                <a:latin typeface="华文楷体" panose="02010600040101010101" pitchFamily="2" charset="-122"/>
                <a:ea typeface="华文楷体" panose="02010600040101010101" pitchFamily="2" charset="-122"/>
              </a:rPr>
              <a:t>6</a:t>
            </a:r>
            <a:r>
              <a:rPr lang="zh-CN" altLang="en-US" sz="2800" b="1">
                <a:latin typeface="华文楷体" panose="02010600040101010101" pitchFamily="2" charset="-122"/>
                <a:ea typeface="华文楷体" panose="02010600040101010101" pitchFamily="2" charset="-122"/>
              </a:rPr>
              <a:t>）批处理作业调度问题</a:t>
            </a:r>
            <a:endParaRPr lang="zh-CN" altLang="en-US" sz="2800" b="1">
              <a:solidFill>
                <a:srgbClr val="FF0000"/>
              </a:solidFill>
              <a:latin typeface="华文楷体" panose="02010600040101010101" pitchFamily="2" charset="-122"/>
              <a:ea typeface="华文楷体" panose="02010600040101010101" pitchFamily="2" charset="-122"/>
            </a:endParaRPr>
          </a:p>
        </p:txBody>
      </p:sp>
      <p:sp>
        <p:nvSpPr>
          <p:cNvPr id="52227" name="灯片编号占位符 4">
            <a:extLst>
              <a:ext uri="{FF2B5EF4-FFF2-40B4-BE49-F238E27FC236}">
                <a16:creationId xmlns:a16="http://schemas.microsoft.com/office/drawing/2014/main" id="{8B878E0D-51E5-D06E-50F3-B01DE19373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4C5C84F-D462-46D2-86F3-0AEF8FE97078}" type="slidenum">
              <a:rPr lang="zh-CN" altLang="en-US" sz="1200">
                <a:latin typeface="Garamond" panose="02020404030301010803" pitchFamily="18" charset="0"/>
              </a:rPr>
              <a:pPr>
                <a:spcBef>
                  <a:spcPct val="0"/>
                </a:spcBef>
                <a:buClrTx/>
                <a:buSzTx/>
                <a:buFontTx/>
                <a:buNone/>
              </a:pPr>
              <a:t>34</a:t>
            </a:fld>
            <a:endParaRPr lang="en-US" altLang="zh-CN" sz="1200">
              <a:latin typeface="Garamond" panose="02020404030301010803"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AA11C9F-EAEC-42A8-8A54-A8F03C1B48E2}"/>
              </a:ext>
            </a:extLst>
          </p:cNvPr>
          <p:cNvSpPr>
            <a:spLocks noGrp="1" noChangeArrowheads="1"/>
          </p:cNvSpPr>
          <p:nvPr>
            <p:ph type="title"/>
          </p:nvPr>
        </p:nvSpPr>
        <p:spPr/>
        <p:txBody>
          <a:bodyPr/>
          <a:lstStyle/>
          <a:p>
            <a:pPr>
              <a:defRPr/>
            </a:pPr>
            <a:r>
              <a:rPr lang="zh-CN" altLang="en-US">
                <a:latin typeface="+mj-ea"/>
              </a:rPr>
              <a:t>6.6 最大团问题</a:t>
            </a:r>
          </a:p>
        </p:txBody>
      </p:sp>
      <p:sp>
        <p:nvSpPr>
          <p:cNvPr id="44035" name="灯片编号占位符 5">
            <a:extLst>
              <a:ext uri="{FF2B5EF4-FFF2-40B4-BE49-F238E27FC236}">
                <a16:creationId xmlns:a16="http://schemas.microsoft.com/office/drawing/2014/main" id="{F517DF0D-4D27-4B39-B5F2-E2F51CD468A5}"/>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620BD85-9CCA-4C9D-8373-60DCDACF9DC4}" type="slidenum">
              <a:rPr lang="zh-CN" altLang="en-US" sz="1200">
                <a:solidFill>
                  <a:schemeClr val="tx1"/>
                </a:solidFill>
                <a:latin typeface="微软雅黑" panose="020B0503020204020204" pitchFamily="34" charset="-122"/>
                <a:ea typeface="微软雅黑" panose="020B0503020204020204" pitchFamily="34" charset="-122"/>
              </a:rPr>
              <a:pPr/>
              <a:t>35</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44036" name="Text Box 4">
            <a:extLst>
              <a:ext uri="{FF2B5EF4-FFF2-40B4-BE49-F238E27FC236}">
                <a16:creationId xmlns:a16="http://schemas.microsoft.com/office/drawing/2014/main" id="{B5B1F415-F5A5-4857-B84D-E24F4D4D5844}"/>
              </a:ext>
            </a:extLst>
          </p:cNvPr>
          <p:cNvSpPr txBox="1">
            <a:spLocks noChangeArrowheads="1"/>
          </p:cNvSpPr>
          <p:nvPr/>
        </p:nvSpPr>
        <p:spPr bwMode="auto">
          <a:xfrm>
            <a:off x="338138" y="1897063"/>
            <a:ext cx="8786812"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最大团问题</a:t>
            </a:r>
            <a:r>
              <a:rPr lang="en-US" altLang="zh-CN" sz="2400" dirty="0">
                <a:solidFill>
                  <a:schemeClr val="tx1"/>
                </a:solidFill>
                <a:latin typeface="+mj-ea"/>
                <a:ea typeface="+mj-ea"/>
              </a:rPr>
              <a:t>: </a:t>
            </a:r>
            <a:r>
              <a:rPr lang="zh-CN" altLang="en-US" sz="2400" dirty="0">
                <a:solidFill>
                  <a:schemeClr val="tx1"/>
                </a:solidFill>
                <a:latin typeface="+mj-ea"/>
                <a:ea typeface="+mj-ea"/>
              </a:rPr>
              <a:t>要求找出无向图</a:t>
            </a:r>
            <a:r>
              <a:rPr lang="en-US" altLang="zh-CN" sz="2400" dirty="0">
                <a:solidFill>
                  <a:schemeClr val="tx1"/>
                </a:solidFill>
                <a:latin typeface="+mj-ea"/>
                <a:ea typeface="+mj-ea"/>
              </a:rPr>
              <a:t>G=(V</a:t>
            </a:r>
            <a:r>
              <a:rPr lang="zh-CN" altLang="en-US" sz="2400" dirty="0">
                <a:solidFill>
                  <a:schemeClr val="tx1"/>
                </a:solidFill>
                <a:latin typeface="+mj-ea"/>
                <a:ea typeface="+mj-ea"/>
              </a:rPr>
              <a:t>，</a:t>
            </a:r>
            <a:r>
              <a:rPr lang="en-US" altLang="zh-CN" sz="2400" dirty="0">
                <a:solidFill>
                  <a:schemeClr val="tx1"/>
                </a:solidFill>
                <a:latin typeface="+mj-ea"/>
                <a:ea typeface="+mj-ea"/>
              </a:rPr>
              <a:t>E)</a:t>
            </a:r>
            <a:r>
              <a:rPr lang="zh-CN" altLang="en-US" sz="2400" dirty="0">
                <a:solidFill>
                  <a:schemeClr val="tx1"/>
                </a:solidFill>
                <a:latin typeface="+mj-ea"/>
                <a:ea typeface="+mj-ea"/>
              </a:rPr>
              <a:t>的</a:t>
            </a:r>
            <a:r>
              <a:rPr lang="en-US" altLang="zh-CN" sz="2400" dirty="0">
                <a:solidFill>
                  <a:schemeClr val="tx1"/>
                </a:solidFill>
                <a:latin typeface="+mj-ea"/>
                <a:ea typeface="+mj-ea"/>
              </a:rPr>
              <a:t>n</a:t>
            </a:r>
            <a:r>
              <a:rPr lang="zh-CN" altLang="en-US" sz="2400" dirty="0">
                <a:solidFill>
                  <a:schemeClr val="tx1"/>
                </a:solidFill>
                <a:latin typeface="+mj-ea"/>
                <a:ea typeface="+mj-ea"/>
              </a:rPr>
              <a:t>个顶点集合</a:t>
            </a:r>
            <a:r>
              <a:rPr lang="en-US" altLang="zh-CN" sz="2400" dirty="0">
                <a:solidFill>
                  <a:schemeClr val="tx1"/>
                </a:solidFill>
                <a:latin typeface="+mj-ea"/>
                <a:ea typeface="+mj-ea"/>
              </a:rPr>
              <a:t>{1,2,3,…,n}</a:t>
            </a:r>
            <a:r>
              <a:rPr lang="zh-CN" altLang="en-US" sz="2400" dirty="0">
                <a:solidFill>
                  <a:schemeClr val="tx1"/>
                </a:solidFill>
                <a:latin typeface="+mj-ea"/>
                <a:ea typeface="+mj-ea"/>
              </a:rPr>
              <a:t>的一个子集，这个子集中的任意两个顶点在无向图Ｇ中都有边相连，且包含顶点个数是最多的。</a:t>
            </a:r>
          </a:p>
        </p:txBody>
      </p:sp>
      <p:sp>
        <p:nvSpPr>
          <p:cNvPr id="44037" name="Text Box 5">
            <a:extLst>
              <a:ext uri="{FF2B5EF4-FFF2-40B4-BE49-F238E27FC236}">
                <a16:creationId xmlns:a16="http://schemas.microsoft.com/office/drawing/2014/main" id="{975229F1-76AE-476D-BD5F-76415F4F9E83}"/>
              </a:ext>
            </a:extLst>
          </p:cNvPr>
          <p:cNvSpPr txBox="1">
            <a:spLocks noChangeArrowheads="1"/>
          </p:cNvSpPr>
          <p:nvPr/>
        </p:nvSpPr>
        <p:spPr bwMode="auto">
          <a:xfrm>
            <a:off x="428625" y="1214438"/>
            <a:ext cx="5943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1. 问题描述</a:t>
            </a:r>
            <a:endParaRPr lang="en-US" altLang="zh-CN">
              <a:solidFill>
                <a:schemeClr val="accent2"/>
              </a:solidFill>
              <a:latin typeface="+mj-ea"/>
              <a:ea typeface="+mj-ea"/>
            </a:endParaRPr>
          </a:p>
        </p:txBody>
      </p:sp>
      <p:grpSp>
        <p:nvGrpSpPr>
          <p:cNvPr id="53254" name="Group 40">
            <a:extLst>
              <a:ext uri="{FF2B5EF4-FFF2-40B4-BE49-F238E27FC236}">
                <a16:creationId xmlns:a16="http://schemas.microsoft.com/office/drawing/2014/main" id="{997243BE-B2C9-8866-540A-6F82A84CFECB}"/>
              </a:ext>
            </a:extLst>
          </p:cNvPr>
          <p:cNvGrpSpPr>
            <a:grpSpLocks/>
          </p:cNvGrpSpPr>
          <p:nvPr/>
        </p:nvGrpSpPr>
        <p:grpSpPr bwMode="auto">
          <a:xfrm>
            <a:off x="1430338" y="4164013"/>
            <a:ext cx="3178175" cy="1600200"/>
            <a:chOff x="830" y="3043"/>
            <a:chExt cx="1758" cy="1007"/>
          </a:xfrm>
        </p:grpSpPr>
        <p:sp>
          <p:nvSpPr>
            <p:cNvPr id="44040" name="Oval 10">
              <a:extLst>
                <a:ext uri="{FF2B5EF4-FFF2-40B4-BE49-F238E27FC236}">
                  <a16:creationId xmlns:a16="http://schemas.microsoft.com/office/drawing/2014/main" id="{25F64A11-0275-49BC-A245-2F43BFED85E2}"/>
                </a:ext>
              </a:extLst>
            </p:cNvPr>
            <p:cNvSpPr>
              <a:spLocks noChangeArrowheads="1"/>
            </p:cNvSpPr>
            <p:nvPr/>
          </p:nvSpPr>
          <p:spPr bwMode="auto">
            <a:xfrm>
              <a:off x="847" y="3043"/>
              <a:ext cx="277" cy="354"/>
            </a:xfrm>
            <a:prstGeom prst="ellipse">
              <a:avLst/>
            </a:prstGeom>
            <a:solidFill>
              <a:srgbClr val="99CC00"/>
            </a:solidFill>
            <a:ln w="12700" algn="ctr">
              <a:solidFill>
                <a:schemeClr val="tx1"/>
              </a:solidFill>
              <a:round/>
              <a:headEnd/>
              <a:tailEnd/>
            </a:ln>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defRPr/>
              </a:pPr>
              <a:r>
                <a:rPr lang="en-US" altLang="zh-CN" sz="2000" b="1">
                  <a:solidFill>
                    <a:srgbClr val="000066"/>
                  </a:solidFill>
                  <a:latin typeface="+mj-ea"/>
                  <a:ea typeface="+mj-ea"/>
                </a:rPr>
                <a:t>1</a:t>
              </a:r>
            </a:p>
          </p:txBody>
        </p:sp>
        <p:sp>
          <p:nvSpPr>
            <p:cNvPr id="44041" name="Oval 12">
              <a:extLst>
                <a:ext uri="{FF2B5EF4-FFF2-40B4-BE49-F238E27FC236}">
                  <a16:creationId xmlns:a16="http://schemas.microsoft.com/office/drawing/2014/main" id="{CEEC7643-8B54-4700-AEA2-3BD739D04D71}"/>
                </a:ext>
              </a:extLst>
            </p:cNvPr>
            <p:cNvSpPr>
              <a:spLocks noChangeArrowheads="1"/>
            </p:cNvSpPr>
            <p:nvPr/>
          </p:nvSpPr>
          <p:spPr bwMode="auto">
            <a:xfrm>
              <a:off x="1660" y="3044"/>
              <a:ext cx="277" cy="354"/>
            </a:xfrm>
            <a:prstGeom prst="ellipse">
              <a:avLst/>
            </a:prstGeom>
            <a:solidFill>
              <a:srgbClr val="99CC00"/>
            </a:solidFill>
            <a:ln w="12700" algn="ctr">
              <a:solidFill>
                <a:schemeClr val="tx1"/>
              </a:solidFill>
              <a:round/>
              <a:headEnd/>
              <a:tailEnd/>
            </a:ln>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defRPr/>
              </a:pPr>
              <a:r>
                <a:rPr lang="en-US" altLang="zh-CN" sz="2000" b="1">
                  <a:solidFill>
                    <a:srgbClr val="000066"/>
                  </a:solidFill>
                  <a:latin typeface="+mj-ea"/>
                  <a:ea typeface="+mj-ea"/>
                </a:rPr>
                <a:t>2</a:t>
              </a:r>
            </a:p>
          </p:txBody>
        </p:sp>
        <p:sp>
          <p:nvSpPr>
            <p:cNvPr id="44042" name="Oval 13">
              <a:extLst>
                <a:ext uri="{FF2B5EF4-FFF2-40B4-BE49-F238E27FC236}">
                  <a16:creationId xmlns:a16="http://schemas.microsoft.com/office/drawing/2014/main" id="{E6EF1E7F-0886-4F2D-8BEC-32C21D908A06}"/>
                </a:ext>
              </a:extLst>
            </p:cNvPr>
            <p:cNvSpPr>
              <a:spLocks noChangeArrowheads="1"/>
            </p:cNvSpPr>
            <p:nvPr/>
          </p:nvSpPr>
          <p:spPr bwMode="auto">
            <a:xfrm>
              <a:off x="830" y="3696"/>
              <a:ext cx="277" cy="354"/>
            </a:xfrm>
            <a:prstGeom prst="ellipse">
              <a:avLst/>
            </a:prstGeom>
            <a:solidFill>
              <a:srgbClr val="FFCC00"/>
            </a:solidFill>
            <a:ln w="12700" algn="ctr">
              <a:solidFill>
                <a:schemeClr val="tx1"/>
              </a:solidFill>
              <a:round/>
              <a:headEnd/>
              <a:tailEnd/>
            </a:ln>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defRPr/>
              </a:pPr>
              <a:r>
                <a:rPr lang="en-US" altLang="zh-CN" sz="2000" b="1">
                  <a:solidFill>
                    <a:srgbClr val="000066"/>
                  </a:solidFill>
                  <a:latin typeface="+mj-ea"/>
                  <a:ea typeface="+mj-ea"/>
                </a:rPr>
                <a:t>4</a:t>
              </a:r>
            </a:p>
          </p:txBody>
        </p:sp>
        <p:sp>
          <p:nvSpPr>
            <p:cNvPr id="44043" name="Oval 14">
              <a:extLst>
                <a:ext uri="{FF2B5EF4-FFF2-40B4-BE49-F238E27FC236}">
                  <a16:creationId xmlns:a16="http://schemas.microsoft.com/office/drawing/2014/main" id="{7A72C929-E0F1-40C4-8E3E-29BF9EE08F0C}"/>
                </a:ext>
              </a:extLst>
            </p:cNvPr>
            <p:cNvSpPr>
              <a:spLocks noChangeArrowheads="1"/>
            </p:cNvSpPr>
            <p:nvPr/>
          </p:nvSpPr>
          <p:spPr bwMode="auto">
            <a:xfrm>
              <a:off x="1660" y="3696"/>
              <a:ext cx="277" cy="354"/>
            </a:xfrm>
            <a:prstGeom prst="ellipse">
              <a:avLst/>
            </a:prstGeom>
            <a:solidFill>
              <a:srgbClr val="99CC00"/>
            </a:solidFill>
            <a:ln w="12700" algn="ctr">
              <a:solidFill>
                <a:schemeClr val="tx1"/>
              </a:solidFill>
              <a:round/>
              <a:headEnd/>
              <a:tailEnd/>
            </a:ln>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defRPr/>
              </a:pPr>
              <a:r>
                <a:rPr lang="en-US" altLang="zh-CN" sz="2000" b="1">
                  <a:solidFill>
                    <a:srgbClr val="000066"/>
                  </a:solidFill>
                  <a:latin typeface="+mj-ea"/>
                  <a:ea typeface="+mj-ea"/>
                </a:rPr>
                <a:t>5</a:t>
              </a:r>
            </a:p>
          </p:txBody>
        </p:sp>
        <p:sp>
          <p:nvSpPr>
            <p:cNvPr id="44044" name="Oval 15">
              <a:extLst>
                <a:ext uri="{FF2B5EF4-FFF2-40B4-BE49-F238E27FC236}">
                  <a16:creationId xmlns:a16="http://schemas.microsoft.com/office/drawing/2014/main" id="{6D0547AB-64D4-42BE-B3DB-6854FFF7E934}"/>
                </a:ext>
              </a:extLst>
            </p:cNvPr>
            <p:cNvSpPr>
              <a:spLocks noChangeArrowheads="1"/>
            </p:cNvSpPr>
            <p:nvPr/>
          </p:nvSpPr>
          <p:spPr bwMode="auto">
            <a:xfrm>
              <a:off x="2311" y="3341"/>
              <a:ext cx="277" cy="366"/>
            </a:xfrm>
            <a:prstGeom prst="ellipse">
              <a:avLst/>
            </a:prstGeom>
            <a:solidFill>
              <a:srgbClr val="FFCC00"/>
            </a:solidFill>
            <a:ln w="12700" algn="ctr">
              <a:solidFill>
                <a:schemeClr val="tx1"/>
              </a:solidFill>
              <a:round/>
              <a:headEnd/>
              <a:tailEnd/>
            </a:ln>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defRPr/>
              </a:pPr>
              <a:r>
                <a:rPr lang="en-US" altLang="zh-CN" sz="2000" b="1">
                  <a:solidFill>
                    <a:srgbClr val="000066"/>
                  </a:solidFill>
                  <a:latin typeface="+mj-ea"/>
                  <a:ea typeface="+mj-ea"/>
                </a:rPr>
                <a:t>3</a:t>
              </a:r>
            </a:p>
          </p:txBody>
        </p:sp>
        <p:cxnSp>
          <p:nvCxnSpPr>
            <p:cNvPr id="53261" name="AutoShape 18">
              <a:extLst>
                <a:ext uri="{FF2B5EF4-FFF2-40B4-BE49-F238E27FC236}">
                  <a16:creationId xmlns:a16="http://schemas.microsoft.com/office/drawing/2014/main" id="{4CA972EF-F62A-80BD-8270-346B14BD8752}"/>
                </a:ext>
              </a:extLst>
            </p:cNvPr>
            <p:cNvCxnSpPr>
              <a:cxnSpLocks noChangeShapeType="1"/>
              <a:stCxn id="44040" idx="6"/>
              <a:endCxn id="44041" idx="2"/>
            </p:cNvCxnSpPr>
            <p:nvPr/>
          </p:nvCxnSpPr>
          <p:spPr bwMode="auto">
            <a:xfrm>
              <a:off x="1124" y="3220"/>
              <a:ext cx="536" cy="1"/>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3262" name="AutoShape 19">
              <a:extLst>
                <a:ext uri="{FF2B5EF4-FFF2-40B4-BE49-F238E27FC236}">
                  <a16:creationId xmlns:a16="http://schemas.microsoft.com/office/drawing/2014/main" id="{9C018142-03C4-42EA-A016-114C53FEF694}"/>
                </a:ext>
              </a:extLst>
            </p:cNvPr>
            <p:cNvCxnSpPr>
              <a:cxnSpLocks noChangeShapeType="1"/>
              <a:stCxn id="44040" idx="4"/>
              <a:endCxn id="44042" idx="0"/>
            </p:cNvCxnSpPr>
            <p:nvPr/>
          </p:nvCxnSpPr>
          <p:spPr bwMode="auto">
            <a:xfrm rot="5400000">
              <a:off x="828" y="3538"/>
              <a:ext cx="299" cy="17"/>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3263" name="AutoShape 20">
              <a:extLst>
                <a:ext uri="{FF2B5EF4-FFF2-40B4-BE49-F238E27FC236}">
                  <a16:creationId xmlns:a16="http://schemas.microsoft.com/office/drawing/2014/main" id="{61122F14-10C9-23F6-BACA-50BA27FAA5B6}"/>
                </a:ext>
              </a:extLst>
            </p:cNvPr>
            <p:cNvCxnSpPr>
              <a:cxnSpLocks noChangeShapeType="1"/>
              <a:stCxn id="44042" idx="6"/>
              <a:endCxn id="44043" idx="2"/>
            </p:cNvCxnSpPr>
            <p:nvPr/>
          </p:nvCxnSpPr>
          <p:spPr bwMode="auto">
            <a:xfrm>
              <a:off x="1107" y="3873"/>
              <a:ext cx="553" cy="1"/>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3264" name="AutoShape 21">
              <a:extLst>
                <a:ext uri="{FF2B5EF4-FFF2-40B4-BE49-F238E27FC236}">
                  <a16:creationId xmlns:a16="http://schemas.microsoft.com/office/drawing/2014/main" id="{B354EF05-03E9-1F83-83EC-DF0EA5E582F4}"/>
                </a:ext>
              </a:extLst>
            </p:cNvPr>
            <p:cNvCxnSpPr>
              <a:cxnSpLocks noChangeShapeType="1"/>
              <a:stCxn id="44043" idx="0"/>
              <a:endCxn id="44041" idx="4"/>
            </p:cNvCxnSpPr>
            <p:nvPr/>
          </p:nvCxnSpPr>
          <p:spPr bwMode="auto">
            <a:xfrm rot="5400000" flipH="1" flipV="1">
              <a:off x="1650" y="3547"/>
              <a:ext cx="298" cy="1"/>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3265" name="AutoShape 22">
              <a:extLst>
                <a:ext uri="{FF2B5EF4-FFF2-40B4-BE49-F238E27FC236}">
                  <a16:creationId xmlns:a16="http://schemas.microsoft.com/office/drawing/2014/main" id="{91761058-09C2-6E17-E658-564FD7B5471A}"/>
                </a:ext>
              </a:extLst>
            </p:cNvPr>
            <p:cNvCxnSpPr>
              <a:cxnSpLocks noChangeShapeType="1"/>
              <a:stCxn id="44040" idx="5"/>
              <a:endCxn id="44043" idx="1"/>
            </p:cNvCxnSpPr>
            <p:nvPr/>
          </p:nvCxnSpPr>
          <p:spPr bwMode="auto">
            <a:xfrm rot="16200000" flipH="1">
              <a:off x="1191" y="3238"/>
              <a:ext cx="402" cy="617"/>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3266" name="AutoShape 23">
              <a:extLst>
                <a:ext uri="{FF2B5EF4-FFF2-40B4-BE49-F238E27FC236}">
                  <a16:creationId xmlns:a16="http://schemas.microsoft.com/office/drawing/2014/main" id="{6092A708-D26C-916A-30BC-B2BCB71A5409}"/>
                </a:ext>
              </a:extLst>
            </p:cNvPr>
            <p:cNvCxnSpPr>
              <a:cxnSpLocks noChangeShapeType="1"/>
              <a:stCxn id="44044" idx="1"/>
              <a:endCxn id="44041" idx="6"/>
            </p:cNvCxnSpPr>
            <p:nvPr/>
          </p:nvCxnSpPr>
          <p:spPr bwMode="auto">
            <a:xfrm rot="16200000" flipV="1">
              <a:off x="2058" y="3100"/>
              <a:ext cx="172" cy="41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3267" name="AutoShape 24">
              <a:extLst>
                <a:ext uri="{FF2B5EF4-FFF2-40B4-BE49-F238E27FC236}">
                  <a16:creationId xmlns:a16="http://schemas.microsoft.com/office/drawing/2014/main" id="{78317043-22E3-0F1F-7F79-B59A524968F6}"/>
                </a:ext>
              </a:extLst>
            </p:cNvPr>
            <p:cNvCxnSpPr>
              <a:cxnSpLocks noChangeShapeType="1"/>
              <a:stCxn id="44043" idx="6"/>
              <a:endCxn id="44044" idx="3"/>
            </p:cNvCxnSpPr>
            <p:nvPr/>
          </p:nvCxnSpPr>
          <p:spPr bwMode="auto">
            <a:xfrm flipV="1">
              <a:off x="1937" y="3644"/>
              <a:ext cx="414" cy="23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44039" name="矩形 1">
            <a:extLst>
              <a:ext uri="{FF2B5EF4-FFF2-40B4-BE49-F238E27FC236}">
                <a16:creationId xmlns:a16="http://schemas.microsoft.com/office/drawing/2014/main" id="{4952E1A9-9F3C-4368-AB97-B1F942E4A61B}"/>
              </a:ext>
            </a:extLst>
          </p:cNvPr>
          <p:cNvSpPr>
            <a:spLocks noChangeArrowheads="1"/>
          </p:cNvSpPr>
          <p:nvPr/>
        </p:nvSpPr>
        <p:spPr bwMode="auto">
          <a:xfrm>
            <a:off x="5270500" y="4645025"/>
            <a:ext cx="3117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a:solidFill>
                  <a:schemeClr val="tx1"/>
                </a:solidFill>
                <a:latin typeface="+mj-ea"/>
                <a:ea typeface="+mj-ea"/>
              </a:rPr>
              <a:t>{1，2，5}、{1，4，5}和{2，3，5}都是</a:t>
            </a:r>
            <a:r>
              <a:rPr lang="en-US" altLang="zh-CN" sz="2000">
                <a:solidFill>
                  <a:schemeClr val="tx1"/>
                </a:solidFill>
                <a:latin typeface="+mj-ea"/>
                <a:ea typeface="+mj-ea"/>
              </a:rPr>
              <a:t>G</a:t>
            </a:r>
            <a:r>
              <a:rPr lang="zh-CN" altLang="en-US" sz="2000">
                <a:solidFill>
                  <a:schemeClr val="tx1"/>
                </a:solidFill>
                <a:latin typeface="+mj-ea"/>
                <a:ea typeface="+mj-ea"/>
              </a:rPr>
              <a:t>的最大团</a:t>
            </a:r>
            <a:endParaRPr lang="zh-CN" altLang="en-US" sz="2000">
              <a:latin typeface="+mj-ea"/>
              <a:ea typeface="+mj-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a:extLst>
              <a:ext uri="{FF2B5EF4-FFF2-40B4-BE49-F238E27FC236}">
                <a16:creationId xmlns:a16="http://schemas.microsoft.com/office/drawing/2014/main" id="{C149E14E-9272-4FE9-BE96-A8A039F2946A}"/>
              </a:ext>
            </a:extLst>
          </p:cNvPr>
          <p:cNvSpPr txBox="1">
            <a:spLocks noChangeArrowheads="1"/>
          </p:cNvSpPr>
          <p:nvPr/>
        </p:nvSpPr>
        <p:spPr bwMode="auto">
          <a:xfrm>
            <a:off x="500063" y="1125538"/>
            <a:ext cx="8418512" cy="8131175"/>
          </a:xfrm>
          <a:prstGeom prst="rect">
            <a:avLst/>
          </a:prstGeom>
          <a:noFill/>
          <a:ln w="6350" algn="ctr">
            <a:noFill/>
            <a:miter lim="800000"/>
            <a:headEnd/>
            <a:tailEnd/>
          </a:ln>
          <a:effectLst/>
        </p:spPr>
        <p:txBody>
          <a:bodyPr>
            <a:spAutoFit/>
          </a:bodyPr>
          <a:lstStyle/>
          <a:p>
            <a:pPr eaLnBrk="1" hangingPunct="1">
              <a:spcBef>
                <a:spcPct val="20000"/>
              </a:spcBef>
              <a:buClr>
                <a:schemeClr val="accent1"/>
              </a:buClr>
              <a:buSzPct val="65000"/>
              <a:buFont typeface="Wingdings" panose="05000000000000000000" pitchFamily="2" charset="2"/>
              <a:buChar char="n"/>
              <a:defRPr/>
            </a:pPr>
            <a:r>
              <a:rPr lang="zh-CN" altLang="en-US" sz="2800" b="1" dirty="0">
                <a:solidFill>
                  <a:schemeClr val="tx1"/>
                </a:solidFill>
                <a:latin typeface="+mj-ea"/>
                <a:ea typeface="+mj-ea"/>
                <a:cs typeface="Times New Roman" pitchFamily="18" charset="0"/>
              </a:rPr>
              <a:t>定义问题的解空间</a:t>
            </a:r>
            <a:endParaRPr lang="en-US" altLang="zh-CN" sz="2800" b="1" dirty="0">
              <a:solidFill>
                <a:schemeClr val="tx1"/>
              </a:solidFill>
              <a:latin typeface="+mj-ea"/>
              <a:ea typeface="+mj-ea"/>
              <a:cs typeface="Times New Roman" pitchFamily="18" charset="0"/>
            </a:endParaRPr>
          </a:p>
          <a:p>
            <a:pPr lvl="1" eaLnBrk="1" hangingPunct="1">
              <a:spcBef>
                <a:spcPct val="20000"/>
              </a:spcBef>
              <a:buClr>
                <a:schemeClr val="accent1"/>
              </a:buClr>
              <a:buSzPct val="65000"/>
              <a:buFont typeface="Wingdings" panose="05000000000000000000" pitchFamily="2" charset="2"/>
              <a:buChar char="n"/>
              <a:defRPr/>
            </a:pPr>
            <a:r>
              <a:rPr lang="zh-CN" altLang="en-US" sz="2400" b="1" dirty="0">
                <a:solidFill>
                  <a:schemeClr val="tx1"/>
                </a:solidFill>
                <a:latin typeface="+mj-ea"/>
                <a:ea typeface="+mj-ea"/>
                <a:cs typeface="Times New Roman" pitchFamily="18" charset="0"/>
              </a:rPr>
              <a:t>子集树</a:t>
            </a:r>
          </a:p>
          <a:p>
            <a:pPr lvl="1" eaLnBrk="1" hangingPunct="1">
              <a:spcBef>
                <a:spcPct val="20000"/>
              </a:spcBef>
              <a:buClr>
                <a:schemeClr val="accent1"/>
              </a:buClr>
              <a:buSzPct val="65000"/>
              <a:buFont typeface="Wingdings" panose="05000000000000000000" pitchFamily="2" charset="2"/>
              <a:buChar char="n"/>
              <a:defRPr/>
            </a:pPr>
            <a:r>
              <a:rPr lang="zh-CN" altLang="en-US" sz="2400" b="1" dirty="0">
                <a:solidFill>
                  <a:schemeClr val="tx1"/>
                </a:solidFill>
                <a:latin typeface="+mj-ea"/>
                <a:ea typeface="+mj-ea"/>
                <a:cs typeface="Times New Roman" pitchFamily="18" charset="0"/>
              </a:rPr>
              <a:t>解的形式</a:t>
            </a:r>
            <a:r>
              <a:rPr lang="en-US" altLang="zh-CN" sz="2400" b="1" dirty="0">
                <a:solidFill>
                  <a:schemeClr val="tx1"/>
                </a:solidFill>
                <a:latin typeface="+mj-ea"/>
                <a:ea typeface="+mj-ea"/>
                <a:cs typeface="Times New Roman" pitchFamily="18" charset="0"/>
              </a:rPr>
              <a:t>(x1,x2,…,</a:t>
            </a:r>
            <a:r>
              <a:rPr lang="en-US" altLang="zh-CN" sz="2400" b="1" dirty="0" err="1">
                <a:solidFill>
                  <a:schemeClr val="tx1"/>
                </a:solidFill>
                <a:latin typeface="+mj-ea"/>
                <a:ea typeface="+mj-ea"/>
                <a:cs typeface="Times New Roman" pitchFamily="18" charset="0"/>
              </a:rPr>
              <a:t>xn</a:t>
            </a:r>
            <a:r>
              <a:rPr lang="en-US" altLang="zh-CN" sz="2400" b="1" dirty="0">
                <a:solidFill>
                  <a:schemeClr val="tx1"/>
                </a:solidFill>
                <a:latin typeface="+mj-ea"/>
                <a:ea typeface="+mj-ea"/>
                <a:cs typeface="Times New Roman" pitchFamily="18" charset="0"/>
              </a:rPr>
              <a:t>)</a:t>
            </a:r>
          </a:p>
          <a:p>
            <a:pPr lvl="1" eaLnBrk="1" hangingPunct="1">
              <a:spcBef>
                <a:spcPct val="20000"/>
              </a:spcBef>
              <a:buClr>
                <a:schemeClr val="accent1"/>
              </a:buClr>
              <a:buSzPct val="65000"/>
              <a:buFont typeface="Wingdings" panose="05000000000000000000" pitchFamily="2" charset="2"/>
              <a:buChar char="n"/>
              <a:defRPr/>
            </a:pPr>
            <a:r>
              <a:rPr lang="zh-CN" altLang="en-US" sz="2400" b="1" dirty="0">
                <a:solidFill>
                  <a:schemeClr val="tx1"/>
                </a:solidFill>
                <a:latin typeface="+mj-ea"/>
                <a:ea typeface="+mj-ea"/>
                <a:cs typeface="Times New Roman" pitchFamily="18" charset="0"/>
              </a:rPr>
              <a:t>其中</a:t>
            </a:r>
            <a:r>
              <a:rPr lang="en-US" altLang="zh-CN" sz="2400" b="1" dirty="0">
                <a:solidFill>
                  <a:schemeClr val="tx1"/>
                </a:solidFill>
                <a:latin typeface="+mj-ea"/>
                <a:ea typeface="+mj-ea"/>
                <a:cs typeface="Times New Roman" pitchFamily="18" charset="0"/>
              </a:rPr>
              <a:t>xi=0</a:t>
            </a:r>
            <a:r>
              <a:rPr lang="zh-CN" altLang="en-US" sz="2400" b="1" dirty="0">
                <a:solidFill>
                  <a:schemeClr val="tx1"/>
                </a:solidFill>
                <a:latin typeface="+mj-ea"/>
                <a:ea typeface="+mj-ea"/>
                <a:cs typeface="Times New Roman" pitchFamily="18" charset="0"/>
              </a:rPr>
              <a:t>或</a:t>
            </a:r>
            <a:r>
              <a:rPr lang="en-US" altLang="zh-CN" sz="2400" b="1" dirty="0">
                <a:solidFill>
                  <a:schemeClr val="tx1"/>
                </a:solidFill>
                <a:latin typeface="+mj-ea"/>
                <a:ea typeface="+mj-ea"/>
                <a:cs typeface="Times New Roman" pitchFamily="18" charset="0"/>
              </a:rPr>
              <a:t>1</a:t>
            </a:r>
            <a:r>
              <a:rPr lang="zh-CN" altLang="en-US" sz="2400" b="1" dirty="0">
                <a:solidFill>
                  <a:schemeClr val="tx1"/>
                </a:solidFill>
                <a:latin typeface="+mj-ea"/>
                <a:ea typeface="+mj-ea"/>
                <a:cs typeface="Times New Roman" pitchFamily="18" charset="0"/>
              </a:rPr>
              <a:t>表示顶点</a:t>
            </a:r>
            <a:r>
              <a:rPr lang="en-US" altLang="zh-CN" sz="2400" b="1" dirty="0" err="1">
                <a:solidFill>
                  <a:schemeClr val="tx1"/>
                </a:solidFill>
                <a:latin typeface="+mj-ea"/>
                <a:ea typeface="+mj-ea"/>
                <a:cs typeface="Times New Roman" pitchFamily="18" charset="0"/>
              </a:rPr>
              <a:t>i</a:t>
            </a:r>
            <a:r>
              <a:rPr lang="zh-CN" altLang="en-US" sz="2400" b="1" dirty="0">
                <a:solidFill>
                  <a:schemeClr val="tx1"/>
                </a:solidFill>
                <a:latin typeface="+mj-ea"/>
                <a:ea typeface="+mj-ea"/>
                <a:cs typeface="Times New Roman" pitchFamily="18" charset="0"/>
              </a:rPr>
              <a:t>是否在当前团内</a:t>
            </a:r>
            <a:endParaRPr lang="en-US" altLang="zh-CN" sz="2400" b="1" dirty="0">
              <a:solidFill>
                <a:schemeClr val="tx1"/>
              </a:solidFill>
              <a:latin typeface="+mj-ea"/>
              <a:ea typeface="+mj-ea"/>
              <a:cs typeface="Times New Roman" pitchFamily="18" charset="0"/>
            </a:endParaRPr>
          </a:p>
          <a:p>
            <a:pPr eaLnBrk="1" hangingPunct="1">
              <a:spcBef>
                <a:spcPct val="20000"/>
              </a:spcBef>
              <a:buClr>
                <a:schemeClr val="accent1"/>
              </a:buClr>
              <a:buSzPct val="65000"/>
              <a:buFont typeface="Wingdings" panose="05000000000000000000" pitchFamily="2" charset="2"/>
              <a:buChar char="n"/>
              <a:defRPr/>
            </a:pPr>
            <a:endParaRPr lang="en-US" altLang="zh-CN" sz="2400" b="1" dirty="0">
              <a:solidFill>
                <a:schemeClr val="tx1"/>
              </a:solidFill>
              <a:latin typeface="+mj-ea"/>
              <a:ea typeface="+mj-ea"/>
              <a:cs typeface="Times New Roman" pitchFamily="18" charset="0"/>
            </a:endParaRPr>
          </a:p>
          <a:p>
            <a:pPr eaLnBrk="1" hangingPunct="1">
              <a:spcBef>
                <a:spcPct val="20000"/>
              </a:spcBef>
              <a:buClr>
                <a:schemeClr val="accent1"/>
              </a:buClr>
              <a:buSzPct val="65000"/>
              <a:buFont typeface="Wingdings" panose="05000000000000000000" pitchFamily="2" charset="2"/>
              <a:buChar char="n"/>
              <a:defRPr/>
            </a:pPr>
            <a:r>
              <a:rPr lang="zh-CN" altLang="en-US" sz="2800" b="1" dirty="0">
                <a:solidFill>
                  <a:schemeClr val="tx1"/>
                </a:solidFill>
                <a:latin typeface="+mj-ea"/>
                <a:ea typeface="+mj-ea"/>
                <a:cs typeface="Times New Roman" pitchFamily="18" charset="0"/>
              </a:rPr>
              <a:t>约束条件：</a:t>
            </a:r>
            <a:r>
              <a:rPr lang="zh-CN" altLang="en-US" sz="2400" b="1" dirty="0">
                <a:solidFill>
                  <a:schemeClr val="tx1"/>
                </a:solidFill>
                <a:latin typeface="+mj-ea"/>
                <a:ea typeface="+mj-ea"/>
                <a:cs typeface="Times New Roman" pitchFamily="18" charset="0"/>
              </a:rPr>
              <a:t>该顶点与当前团内每个顶点都有边相连。 </a:t>
            </a:r>
          </a:p>
          <a:p>
            <a:pPr lvl="1" eaLnBrk="1" hangingPunct="1">
              <a:spcBef>
                <a:spcPct val="20000"/>
              </a:spcBef>
              <a:buClr>
                <a:schemeClr val="accent1"/>
              </a:buClr>
              <a:buSzPct val="65000"/>
              <a:buFont typeface="Wingdings" panose="05000000000000000000" pitchFamily="2" charset="2"/>
              <a:buChar char="n"/>
              <a:defRPr/>
            </a:pPr>
            <a:endParaRPr lang="en-US" altLang="zh-CN" sz="2400" b="1" dirty="0">
              <a:solidFill>
                <a:schemeClr val="tx1"/>
              </a:solidFill>
              <a:latin typeface="+mj-ea"/>
              <a:ea typeface="+mj-ea"/>
              <a:cs typeface="Times New Roman" pitchFamily="18" charset="0"/>
            </a:endParaRPr>
          </a:p>
          <a:p>
            <a:pPr eaLnBrk="1" hangingPunct="1">
              <a:spcBef>
                <a:spcPct val="20000"/>
              </a:spcBef>
              <a:buClr>
                <a:schemeClr val="accent1"/>
              </a:buClr>
              <a:buSzPct val="65000"/>
              <a:buFont typeface="Wingdings" panose="05000000000000000000" pitchFamily="2" charset="2"/>
              <a:buChar char="n"/>
              <a:defRPr/>
            </a:pPr>
            <a:r>
              <a:rPr lang="zh-CN" altLang="en-US" sz="2800" b="1" dirty="0">
                <a:solidFill>
                  <a:schemeClr val="tx1"/>
                </a:solidFill>
                <a:latin typeface="+mj-ea"/>
                <a:ea typeface="+mj-ea"/>
                <a:cs typeface="Times New Roman" pitchFamily="18" charset="0"/>
              </a:rPr>
              <a:t>限界条件</a:t>
            </a:r>
            <a:endParaRPr lang="en-US" altLang="zh-CN" sz="2800" b="1" dirty="0">
              <a:solidFill>
                <a:schemeClr val="tx1"/>
              </a:solidFill>
              <a:latin typeface="+mj-ea"/>
              <a:ea typeface="+mj-ea"/>
              <a:cs typeface="Times New Roman" pitchFamily="18" charset="0"/>
            </a:endParaRPr>
          </a:p>
          <a:p>
            <a:pPr lvl="1" eaLnBrk="1" hangingPunct="1">
              <a:spcBef>
                <a:spcPct val="20000"/>
              </a:spcBef>
              <a:buClr>
                <a:schemeClr val="accent1"/>
              </a:buClr>
              <a:buSzPct val="65000"/>
              <a:buFont typeface="Wingdings" panose="05000000000000000000" pitchFamily="2" charset="2"/>
              <a:buChar char="n"/>
              <a:defRPr/>
            </a:pPr>
            <a:r>
              <a:rPr lang="en-US" altLang="zh-CN" sz="2400" b="1" dirty="0" err="1">
                <a:solidFill>
                  <a:schemeClr val="tx1"/>
                </a:solidFill>
                <a:latin typeface="+mj-ea"/>
                <a:ea typeface="+mj-ea"/>
                <a:cs typeface="Times New Roman" pitchFamily="18" charset="0"/>
              </a:rPr>
              <a:t>cn+rn</a:t>
            </a:r>
            <a:r>
              <a:rPr lang="en-US" altLang="zh-CN" sz="2400" b="1" dirty="0">
                <a:solidFill>
                  <a:schemeClr val="tx1"/>
                </a:solidFill>
                <a:latin typeface="+mj-ea"/>
                <a:ea typeface="+mj-ea"/>
                <a:cs typeface="Times New Roman" pitchFamily="18" charset="0"/>
              </a:rPr>
              <a:t>&gt;</a:t>
            </a:r>
            <a:r>
              <a:rPr lang="en-US" altLang="zh-CN" sz="2400" b="1" dirty="0" err="1">
                <a:solidFill>
                  <a:schemeClr val="tx1"/>
                </a:solidFill>
                <a:latin typeface="+mj-ea"/>
                <a:ea typeface="+mj-ea"/>
                <a:cs typeface="Times New Roman" pitchFamily="18" charset="0"/>
              </a:rPr>
              <a:t>bestn</a:t>
            </a:r>
            <a:endParaRPr lang="en-US" altLang="zh-CN" sz="2400" b="1" dirty="0">
              <a:solidFill>
                <a:schemeClr val="tx1"/>
              </a:solidFill>
              <a:latin typeface="+mj-ea"/>
              <a:ea typeface="+mj-ea"/>
              <a:cs typeface="Times New Roman" pitchFamily="18" charset="0"/>
            </a:endParaRPr>
          </a:p>
          <a:p>
            <a:pPr lvl="1" eaLnBrk="1" hangingPunct="1">
              <a:spcBef>
                <a:spcPct val="20000"/>
              </a:spcBef>
              <a:buClr>
                <a:schemeClr val="accent1"/>
              </a:buClr>
              <a:buSzPct val="65000"/>
              <a:buFont typeface="Wingdings" panose="05000000000000000000" pitchFamily="2" charset="2"/>
              <a:buChar char="n"/>
              <a:defRPr/>
            </a:pPr>
            <a:r>
              <a:rPr lang="en-US" altLang="zh-CN" sz="2400" b="1" dirty="0" err="1">
                <a:solidFill>
                  <a:schemeClr val="tx1"/>
                </a:solidFill>
                <a:latin typeface="+mj-ea"/>
                <a:ea typeface="+mj-ea"/>
                <a:cs typeface="Times New Roman" pitchFamily="18" charset="0"/>
              </a:rPr>
              <a:t>cn</a:t>
            </a:r>
            <a:r>
              <a:rPr lang="en-US" altLang="zh-CN" sz="2400" b="1" dirty="0">
                <a:solidFill>
                  <a:schemeClr val="tx1"/>
                </a:solidFill>
                <a:latin typeface="+mj-ea"/>
                <a:ea typeface="+mj-ea"/>
                <a:cs typeface="Times New Roman" pitchFamily="18" charset="0"/>
              </a:rPr>
              <a:t>:</a:t>
            </a:r>
            <a:r>
              <a:rPr lang="zh-CN" altLang="en-US" sz="2400" b="1" dirty="0">
                <a:solidFill>
                  <a:schemeClr val="tx1"/>
                </a:solidFill>
                <a:latin typeface="+mj-ea"/>
                <a:ea typeface="+mj-ea"/>
                <a:cs typeface="Times New Roman" pitchFamily="18" charset="0"/>
              </a:rPr>
              <a:t>当前已包含在顶点集中的顶点个数</a:t>
            </a:r>
          </a:p>
          <a:p>
            <a:pPr lvl="1" eaLnBrk="1" hangingPunct="1">
              <a:spcBef>
                <a:spcPct val="20000"/>
              </a:spcBef>
              <a:buClr>
                <a:schemeClr val="accent1"/>
              </a:buClr>
              <a:buSzPct val="65000"/>
              <a:buFont typeface="Wingdings" panose="05000000000000000000" pitchFamily="2" charset="2"/>
              <a:buChar char="n"/>
              <a:defRPr/>
            </a:pPr>
            <a:r>
              <a:rPr lang="en-US" altLang="zh-CN" sz="2400" b="1" dirty="0" err="1">
                <a:solidFill>
                  <a:schemeClr val="tx1"/>
                </a:solidFill>
                <a:latin typeface="+mj-ea"/>
                <a:ea typeface="+mj-ea"/>
                <a:cs typeface="Times New Roman" pitchFamily="18" charset="0"/>
              </a:rPr>
              <a:t>rn</a:t>
            </a:r>
            <a:r>
              <a:rPr lang="en-US" altLang="zh-CN" sz="2400" b="1" dirty="0">
                <a:solidFill>
                  <a:schemeClr val="tx1"/>
                </a:solidFill>
                <a:latin typeface="+mj-ea"/>
                <a:ea typeface="+mj-ea"/>
                <a:cs typeface="Times New Roman" pitchFamily="18" charset="0"/>
              </a:rPr>
              <a:t>:</a:t>
            </a:r>
            <a:r>
              <a:rPr lang="zh-CN" altLang="en-US" sz="2400" b="1" dirty="0">
                <a:solidFill>
                  <a:schemeClr val="tx1"/>
                </a:solidFill>
                <a:latin typeface="+mj-ea"/>
                <a:ea typeface="+mj-ea"/>
                <a:cs typeface="Times New Roman" pitchFamily="18" charset="0"/>
              </a:rPr>
              <a:t>剩余顶点个数</a:t>
            </a:r>
            <a:r>
              <a:rPr lang="en-US" altLang="zh-CN" sz="2400" b="1" dirty="0">
                <a:solidFill>
                  <a:schemeClr val="tx1"/>
                </a:solidFill>
                <a:latin typeface="+mj-ea"/>
                <a:ea typeface="+mj-ea"/>
                <a:cs typeface="Times New Roman" pitchFamily="18" charset="0"/>
              </a:rPr>
              <a:t>(n-</a:t>
            </a:r>
            <a:r>
              <a:rPr lang="en-US" altLang="zh-CN" sz="2400" b="1" dirty="0" err="1">
                <a:solidFill>
                  <a:schemeClr val="tx1"/>
                </a:solidFill>
                <a:latin typeface="+mj-ea"/>
                <a:ea typeface="+mj-ea"/>
                <a:cs typeface="Times New Roman" pitchFamily="18" charset="0"/>
              </a:rPr>
              <a:t>i</a:t>
            </a:r>
            <a:r>
              <a:rPr lang="en-US" altLang="zh-CN" sz="2400" b="1" dirty="0">
                <a:solidFill>
                  <a:schemeClr val="tx1"/>
                </a:solidFill>
                <a:latin typeface="+mj-ea"/>
                <a:ea typeface="+mj-ea"/>
                <a:cs typeface="Times New Roman" pitchFamily="18" charset="0"/>
              </a:rPr>
              <a:t>)</a:t>
            </a:r>
            <a:r>
              <a:rPr lang="zh-CN" altLang="en-US" sz="2400" b="1" dirty="0">
                <a:solidFill>
                  <a:schemeClr val="tx1"/>
                </a:solidFill>
                <a:latin typeface="+mj-ea"/>
                <a:ea typeface="+mj-ea"/>
                <a:cs typeface="Times New Roman" pitchFamily="18" charset="0"/>
              </a:rPr>
              <a:t>；</a:t>
            </a:r>
          </a:p>
          <a:p>
            <a:pPr lvl="1" eaLnBrk="1" hangingPunct="1">
              <a:spcBef>
                <a:spcPct val="20000"/>
              </a:spcBef>
              <a:buClr>
                <a:schemeClr val="accent1"/>
              </a:buClr>
              <a:buSzPct val="65000"/>
              <a:buFont typeface="Wingdings" panose="05000000000000000000" pitchFamily="2" charset="2"/>
              <a:buChar char="n"/>
              <a:defRPr/>
            </a:pPr>
            <a:r>
              <a:rPr lang="en-US" altLang="zh-CN" sz="2400" b="1" dirty="0" err="1">
                <a:solidFill>
                  <a:schemeClr val="tx1"/>
                </a:solidFill>
                <a:latin typeface="+mj-ea"/>
                <a:ea typeface="+mj-ea"/>
                <a:cs typeface="Times New Roman" pitchFamily="18" charset="0"/>
              </a:rPr>
              <a:t>bestn</a:t>
            </a:r>
            <a:r>
              <a:rPr lang="en-US" altLang="zh-CN" sz="2400" b="1" dirty="0">
                <a:solidFill>
                  <a:schemeClr val="tx1"/>
                </a:solidFill>
                <a:latin typeface="+mj-ea"/>
                <a:ea typeface="+mj-ea"/>
                <a:cs typeface="Times New Roman" pitchFamily="18" charset="0"/>
              </a:rPr>
              <a:t>:</a:t>
            </a:r>
            <a:r>
              <a:rPr lang="zh-CN" altLang="en-US" sz="2400" b="1" dirty="0">
                <a:solidFill>
                  <a:schemeClr val="tx1"/>
                </a:solidFill>
                <a:latin typeface="+mj-ea"/>
                <a:ea typeface="+mj-ea"/>
                <a:cs typeface="Times New Roman" pitchFamily="18" charset="0"/>
              </a:rPr>
              <a:t>当前已包含的最多的顶点个数</a:t>
            </a:r>
            <a:endParaRPr lang="zh-CN" altLang="en-US" sz="2400" dirty="0">
              <a:solidFill>
                <a:schemeClr val="tx1"/>
              </a:solidFill>
              <a:effectLst>
                <a:outerShdw blurRad="38100" dist="38100" dir="2700000" algn="tl">
                  <a:srgbClr val="C0C0C0"/>
                </a:outerShdw>
              </a:effectLst>
              <a:latin typeface="+mj-ea"/>
              <a:ea typeface="+mj-ea"/>
              <a:cs typeface="Times New Roman" pitchFamily="18" charset="0"/>
            </a:endParaRPr>
          </a:p>
          <a:p>
            <a:pPr lvl="1" eaLnBrk="1" hangingPunct="1">
              <a:spcBef>
                <a:spcPct val="20000"/>
              </a:spcBef>
              <a:buClr>
                <a:schemeClr val="accent1"/>
              </a:buClr>
              <a:buSzPct val="65000"/>
              <a:buFont typeface="Wingdings" panose="05000000000000000000" pitchFamily="2" charset="2"/>
              <a:buChar char="n"/>
              <a:defRPr/>
            </a:pPr>
            <a:endParaRPr lang="zh-CN" altLang="en-US" sz="2400" b="1" dirty="0">
              <a:solidFill>
                <a:schemeClr val="tx1"/>
              </a:solidFill>
              <a:latin typeface="+mj-ea"/>
              <a:ea typeface="+mj-ea"/>
              <a:cs typeface="Times New Roman" pitchFamily="18" charset="0"/>
            </a:endParaRPr>
          </a:p>
          <a:p>
            <a:pPr eaLnBrk="1" hangingPunct="1">
              <a:spcBef>
                <a:spcPct val="20000"/>
              </a:spcBef>
              <a:buClr>
                <a:schemeClr val="accent1"/>
              </a:buClr>
              <a:buSzPct val="65000"/>
              <a:buFont typeface="Wingdings" panose="05000000000000000000" pitchFamily="2" charset="2"/>
              <a:buChar char="n"/>
              <a:defRPr/>
            </a:pPr>
            <a:endParaRPr lang="en-US" altLang="zh-CN" sz="2800" b="1" dirty="0">
              <a:solidFill>
                <a:schemeClr val="tx1"/>
              </a:solidFill>
              <a:latin typeface="+mj-ea"/>
              <a:ea typeface="+mj-ea"/>
              <a:cs typeface="Times New Roman" pitchFamily="18" charset="0"/>
            </a:endParaRPr>
          </a:p>
          <a:p>
            <a:pPr eaLnBrk="1" hangingPunct="1">
              <a:spcBef>
                <a:spcPct val="20000"/>
              </a:spcBef>
              <a:buClr>
                <a:schemeClr val="accent1"/>
              </a:buClr>
              <a:buSzPct val="65000"/>
              <a:buFont typeface="Wingdings" panose="05000000000000000000" pitchFamily="2" charset="2"/>
              <a:buChar char="n"/>
              <a:defRPr/>
            </a:pPr>
            <a:endParaRPr lang="en-US" altLang="zh-CN" sz="2800" b="1" dirty="0">
              <a:solidFill>
                <a:schemeClr val="tx1"/>
              </a:solidFill>
              <a:latin typeface="+mj-ea"/>
              <a:ea typeface="+mj-ea"/>
              <a:cs typeface="Times New Roman" pitchFamily="18" charset="0"/>
            </a:endParaRPr>
          </a:p>
          <a:p>
            <a:pPr eaLnBrk="1" hangingPunct="1">
              <a:spcBef>
                <a:spcPct val="20000"/>
              </a:spcBef>
              <a:buClr>
                <a:schemeClr val="accent1"/>
              </a:buClr>
              <a:buSzPct val="65000"/>
              <a:buFont typeface="Wingdings" panose="05000000000000000000" pitchFamily="2" charset="2"/>
              <a:buChar char="n"/>
              <a:defRPr/>
            </a:pPr>
            <a:endParaRPr lang="en-US" altLang="zh-CN" sz="2800" b="1" dirty="0">
              <a:solidFill>
                <a:schemeClr val="tx1"/>
              </a:solidFill>
              <a:latin typeface="+mj-ea"/>
              <a:ea typeface="+mj-ea"/>
              <a:cs typeface="Times New Roman" pitchFamily="18" charset="0"/>
            </a:endParaRPr>
          </a:p>
          <a:p>
            <a:pPr eaLnBrk="1" hangingPunct="1">
              <a:spcBef>
                <a:spcPct val="20000"/>
              </a:spcBef>
              <a:buClr>
                <a:schemeClr val="accent2"/>
              </a:buClr>
              <a:buSzPct val="65000"/>
              <a:buFont typeface="Wingdings" panose="05000000000000000000" pitchFamily="2" charset="2"/>
              <a:buNone/>
              <a:defRPr/>
            </a:pPr>
            <a:endParaRPr lang="en-US" altLang="zh-CN" sz="2800" b="1" dirty="0">
              <a:solidFill>
                <a:schemeClr val="tx1"/>
              </a:solidFill>
              <a:latin typeface="+mj-ea"/>
              <a:ea typeface="+mj-ea"/>
              <a:cs typeface="Times New Roman" pitchFamily="18" charset="0"/>
            </a:endParaRPr>
          </a:p>
        </p:txBody>
      </p:sp>
      <p:sp>
        <p:nvSpPr>
          <p:cNvPr id="45059" name="Rectangle 3">
            <a:extLst>
              <a:ext uri="{FF2B5EF4-FFF2-40B4-BE49-F238E27FC236}">
                <a16:creationId xmlns:a16="http://schemas.microsoft.com/office/drawing/2014/main" id="{10F682F0-1AA8-4774-82DF-D8DDE0178F11}"/>
              </a:ext>
            </a:extLst>
          </p:cNvPr>
          <p:cNvSpPr>
            <a:spLocks noChangeArrowheads="1"/>
          </p:cNvSpPr>
          <p:nvPr/>
        </p:nvSpPr>
        <p:spPr bwMode="auto">
          <a:xfrm>
            <a:off x="0" y="2414588"/>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endParaRPr>
          </a:p>
        </p:txBody>
      </p:sp>
      <p:sp>
        <p:nvSpPr>
          <p:cNvPr id="18" name="Rectangle 4">
            <a:extLst>
              <a:ext uri="{FF2B5EF4-FFF2-40B4-BE49-F238E27FC236}">
                <a16:creationId xmlns:a16="http://schemas.microsoft.com/office/drawing/2014/main" id="{735DCECA-DB72-46DB-A6F8-CA579D8C7BC0}"/>
              </a:ext>
            </a:extLst>
          </p:cNvPr>
          <p:cNvSpPr>
            <a:spLocks noChangeArrowheads="1"/>
          </p:cNvSpPr>
          <p:nvPr/>
        </p:nvSpPr>
        <p:spPr bwMode="auto">
          <a:xfrm>
            <a:off x="500063" y="214313"/>
            <a:ext cx="7772400" cy="803275"/>
          </a:xfrm>
          <a:prstGeom prst="rect">
            <a:avLst/>
          </a:prstGeom>
          <a:noFill/>
          <a:ln w="9525">
            <a:noFill/>
            <a:miter lim="800000"/>
            <a:headEnd/>
            <a:tailEnd/>
          </a:ln>
          <a:effectLst/>
        </p:spPr>
        <p:txBody>
          <a:bodyPr anchor="ctr"/>
          <a:lstStyle/>
          <a:p>
            <a:pPr eaLnBrk="1" hangingPunct="1">
              <a:spcBef>
                <a:spcPct val="20000"/>
              </a:spcBef>
              <a:buClr>
                <a:schemeClr val="accent1"/>
              </a:buClr>
              <a:buSzPct val="65000"/>
              <a:buFont typeface="Wingdings" panose="05000000000000000000" pitchFamily="2" charset="2"/>
              <a:buNone/>
              <a:defRPr/>
            </a:pPr>
            <a:r>
              <a:rPr lang="en-US" altLang="en-US" sz="4200" dirty="0">
                <a:solidFill>
                  <a:schemeClr val="tx2"/>
                </a:solidFill>
                <a:effectLst>
                  <a:outerShdw blurRad="38100" dist="38100" dir="2700000" algn="tl">
                    <a:srgbClr val="C0C0C0"/>
                  </a:outerShdw>
                </a:effectLst>
                <a:latin typeface="+mj-ea"/>
                <a:ea typeface="+mj-ea"/>
                <a:cs typeface="+mj-cs"/>
              </a:rPr>
              <a:t>5.7 </a:t>
            </a:r>
            <a:r>
              <a:rPr lang="en-US" altLang="en-US" sz="4200" dirty="0" err="1">
                <a:solidFill>
                  <a:schemeClr val="tx2"/>
                </a:solidFill>
                <a:effectLst>
                  <a:outerShdw blurRad="38100" dist="38100" dir="2700000" algn="tl">
                    <a:srgbClr val="C0C0C0"/>
                  </a:outerShdw>
                </a:effectLst>
                <a:latin typeface="+mj-ea"/>
                <a:ea typeface="+mj-ea"/>
                <a:cs typeface="+mj-cs"/>
              </a:rPr>
              <a:t>最大团问题</a:t>
            </a:r>
            <a:endParaRPr lang="zh-CN" altLang="en-US" sz="4200" dirty="0">
              <a:solidFill>
                <a:schemeClr val="tx2"/>
              </a:solidFill>
              <a:effectLst>
                <a:outerShdw blurRad="38100" dist="38100" dir="2700000" algn="tl">
                  <a:srgbClr val="C0C0C0"/>
                </a:outerShdw>
              </a:effectLst>
              <a:latin typeface="+mj-ea"/>
              <a:ea typeface="+mj-ea"/>
              <a:cs typeface="+mj-cs"/>
            </a:endParaRPr>
          </a:p>
        </p:txBody>
      </p:sp>
      <p:graphicFrame>
        <p:nvGraphicFramePr>
          <p:cNvPr id="6" name="Object 2">
            <a:extLst>
              <a:ext uri="{FF2B5EF4-FFF2-40B4-BE49-F238E27FC236}">
                <a16:creationId xmlns:a16="http://schemas.microsoft.com/office/drawing/2014/main" id="{DB226C75-C196-DB5D-3C6B-9C4EE8029F24}"/>
              </a:ext>
            </a:extLst>
          </p:cNvPr>
          <p:cNvGraphicFramePr>
            <a:graphicFrameLocks noChangeAspect="1"/>
          </p:cNvGraphicFramePr>
          <p:nvPr/>
        </p:nvGraphicFramePr>
        <p:xfrm>
          <a:off x="4932363" y="908050"/>
          <a:ext cx="4102100" cy="1727200"/>
        </p:xfrm>
        <a:graphic>
          <a:graphicData uri="http://schemas.openxmlformats.org/presentationml/2006/ole">
            <mc:AlternateContent xmlns:mc="http://schemas.openxmlformats.org/markup-compatibility/2006">
              <mc:Choice xmlns:v="urn:schemas-microsoft-com:vml" Requires="v">
                <p:oleObj name="Visio" r:id="rId2" imgW="11200860" imgH="4590062" progId="Visio.Drawing.11">
                  <p:embed/>
                </p:oleObj>
              </mc:Choice>
              <mc:Fallback>
                <p:oleObj name="Visio" r:id="rId2" imgW="11200860" imgH="4590062"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908050"/>
                        <a:ext cx="41021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86">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6">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986">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986">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86">
                                            <p:txEl>
                                              <p:pRg st="11" end="1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11A8898-0E1D-4840-8B64-EAEFE2BF6300}"/>
              </a:ext>
            </a:extLst>
          </p:cNvPr>
          <p:cNvSpPr>
            <a:spLocks noGrp="1" noChangeArrowheads="1"/>
          </p:cNvSpPr>
          <p:nvPr>
            <p:ph type="title"/>
          </p:nvPr>
        </p:nvSpPr>
        <p:spPr/>
        <p:txBody>
          <a:bodyPr/>
          <a:lstStyle/>
          <a:p>
            <a:pPr>
              <a:defRPr/>
            </a:pPr>
            <a:r>
              <a:rPr lang="zh-CN" altLang="en-US">
                <a:latin typeface="+mj-ea"/>
              </a:rPr>
              <a:t>6.6 最大团问题</a:t>
            </a:r>
          </a:p>
        </p:txBody>
      </p:sp>
      <p:sp>
        <p:nvSpPr>
          <p:cNvPr id="46083" name="灯片编号占位符 5">
            <a:extLst>
              <a:ext uri="{FF2B5EF4-FFF2-40B4-BE49-F238E27FC236}">
                <a16:creationId xmlns:a16="http://schemas.microsoft.com/office/drawing/2014/main" id="{A1649030-0513-4406-B0CF-7A8BF8FEDFC0}"/>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16FF676-3F22-41D5-91E9-58D32327C2A9}" type="slidenum">
              <a:rPr lang="zh-CN" altLang="en-US" sz="1200">
                <a:solidFill>
                  <a:schemeClr val="tx1"/>
                </a:solidFill>
                <a:latin typeface="微软雅黑" panose="020B0503020204020204" pitchFamily="34" charset="-122"/>
                <a:ea typeface="微软雅黑" panose="020B0503020204020204" pitchFamily="34" charset="-122"/>
              </a:rPr>
              <a:pPr/>
              <a:t>37</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46084" name="Text Box 4">
            <a:extLst>
              <a:ext uri="{FF2B5EF4-FFF2-40B4-BE49-F238E27FC236}">
                <a16:creationId xmlns:a16="http://schemas.microsoft.com/office/drawing/2014/main" id="{29FF4F63-B855-4F48-97D0-92DC0FB2DE6A}"/>
              </a:ext>
            </a:extLst>
          </p:cNvPr>
          <p:cNvSpPr txBox="1">
            <a:spLocks noChangeArrowheads="1"/>
          </p:cNvSpPr>
          <p:nvPr/>
        </p:nvSpPr>
        <p:spPr bwMode="auto">
          <a:xfrm>
            <a:off x="533400" y="2057400"/>
            <a:ext cx="50292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eaLnBrk="1" hangingPunct="1">
              <a:spcBef>
                <a:spcPct val="50000"/>
              </a:spcBef>
              <a:buClr>
                <a:schemeClr val="accent1"/>
              </a:buClr>
              <a:buSzPct val="65000"/>
              <a:buFont typeface="Wingdings" panose="05000000000000000000" pitchFamily="2" charset="2"/>
              <a:buChar char="n"/>
              <a:defRPr/>
            </a:pPr>
            <a:endParaRPr lang="zh-CN" altLang="en-US">
              <a:solidFill>
                <a:schemeClr val="accent2"/>
              </a:solidFill>
              <a:latin typeface="+mj-ea"/>
              <a:ea typeface="+mj-ea"/>
            </a:endParaRPr>
          </a:p>
        </p:txBody>
      </p:sp>
      <p:sp>
        <p:nvSpPr>
          <p:cNvPr id="46085" name="Text Box 5">
            <a:extLst>
              <a:ext uri="{FF2B5EF4-FFF2-40B4-BE49-F238E27FC236}">
                <a16:creationId xmlns:a16="http://schemas.microsoft.com/office/drawing/2014/main" id="{1F55BFAC-3327-42CE-A50B-64AE438CCAEE}"/>
              </a:ext>
            </a:extLst>
          </p:cNvPr>
          <p:cNvSpPr txBox="1">
            <a:spLocks noChangeArrowheads="1"/>
          </p:cNvSpPr>
          <p:nvPr/>
        </p:nvSpPr>
        <p:spPr bwMode="auto">
          <a:xfrm>
            <a:off x="357188" y="1214438"/>
            <a:ext cx="5943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2. 优先级函数</a:t>
            </a:r>
            <a:endParaRPr lang="en-US" altLang="zh-CN">
              <a:solidFill>
                <a:schemeClr val="accent2"/>
              </a:solidFill>
              <a:latin typeface="+mj-ea"/>
              <a:ea typeface="+mj-ea"/>
            </a:endParaRPr>
          </a:p>
        </p:txBody>
      </p:sp>
      <p:sp>
        <p:nvSpPr>
          <p:cNvPr id="46086" name="Text Box 7">
            <a:extLst>
              <a:ext uri="{FF2B5EF4-FFF2-40B4-BE49-F238E27FC236}">
                <a16:creationId xmlns:a16="http://schemas.microsoft.com/office/drawing/2014/main" id="{7690B583-835F-4B10-BDB3-D58374ECA3D5}"/>
              </a:ext>
            </a:extLst>
          </p:cNvPr>
          <p:cNvSpPr txBox="1">
            <a:spLocks noChangeArrowheads="1"/>
          </p:cNvSpPr>
          <p:nvPr/>
        </p:nvSpPr>
        <p:spPr bwMode="auto">
          <a:xfrm>
            <a:off x="576263" y="2401888"/>
            <a:ext cx="814387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800" dirty="0">
                <a:solidFill>
                  <a:schemeClr val="tx1"/>
                </a:solidFill>
                <a:latin typeface="+mj-ea"/>
                <a:ea typeface="+mj-ea"/>
              </a:rPr>
              <a:t>优先级：当前已在团的顶点数加上还没有考察的顶点数，即</a:t>
            </a:r>
            <a:r>
              <a:rPr lang="en-US" altLang="zh-CN" sz="2800" dirty="0" err="1">
                <a:solidFill>
                  <a:schemeClr val="tx1"/>
                </a:solidFill>
                <a:latin typeface="+mj-ea"/>
                <a:ea typeface="+mj-ea"/>
              </a:rPr>
              <a:t>cn+n-i</a:t>
            </a:r>
            <a:r>
              <a:rPr lang="zh-CN" altLang="en-US" sz="2800" dirty="0">
                <a:solidFill>
                  <a:schemeClr val="tx1"/>
                </a:solidFill>
                <a:latin typeface="+mj-ea"/>
                <a:ea typeface="+mj-ea"/>
              </a:rPr>
              <a:t>。</a:t>
            </a:r>
            <a:endParaRPr lang="en-US" altLang="zh-CN" sz="2800" dirty="0">
              <a:solidFill>
                <a:schemeClr val="tx1"/>
              </a:solidFill>
              <a:latin typeface="+mj-ea"/>
              <a:ea typeface="+mj-ea"/>
            </a:endParaRPr>
          </a:p>
          <a:p>
            <a:pPr lvl="1" eaLnBrk="1" hangingPunct="1">
              <a:spcBef>
                <a:spcPct val="50000"/>
              </a:spcBef>
              <a:buClr>
                <a:schemeClr val="accent1"/>
              </a:buClr>
              <a:buSzPct val="65000"/>
              <a:buFont typeface="Wingdings" panose="05000000000000000000" pitchFamily="2" charset="2"/>
              <a:buChar char="n"/>
              <a:defRPr/>
            </a:pPr>
            <a:r>
              <a:rPr lang="zh-CN" altLang="en-US" sz="2800" dirty="0">
                <a:solidFill>
                  <a:schemeClr val="tx1"/>
                </a:solidFill>
                <a:latin typeface="+mj-ea"/>
                <a:ea typeface="+mj-ea"/>
              </a:rPr>
              <a:t>每个活结点的优先顺序由</a:t>
            </a:r>
            <a:r>
              <a:rPr lang="en-US" altLang="zh-CN" sz="2800" dirty="0" err="1">
                <a:solidFill>
                  <a:schemeClr val="tx1"/>
                </a:solidFill>
                <a:latin typeface="+mj-ea"/>
                <a:ea typeface="+mj-ea"/>
              </a:rPr>
              <a:t>cn+n-i</a:t>
            </a:r>
            <a:r>
              <a:rPr lang="zh-CN" altLang="en-US" sz="2800" dirty="0">
                <a:solidFill>
                  <a:schemeClr val="tx1"/>
                </a:solidFill>
                <a:latin typeface="+mj-ea"/>
                <a:ea typeface="+mj-ea"/>
              </a:rPr>
              <a:t>来确定。</a:t>
            </a:r>
          </a:p>
          <a:p>
            <a:pPr lvl="1" eaLnBrk="1" hangingPunct="1">
              <a:spcBef>
                <a:spcPct val="50000"/>
              </a:spcBef>
              <a:buClr>
                <a:schemeClr val="accent1"/>
              </a:buClr>
              <a:buSzPct val="65000"/>
              <a:buFont typeface="Wingdings" panose="05000000000000000000" pitchFamily="2" charset="2"/>
              <a:buChar char="n"/>
              <a:defRPr/>
            </a:pPr>
            <a:r>
              <a:rPr lang="zh-CN" altLang="en-US" sz="2800" dirty="0">
                <a:solidFill>
                  <a:schemeClr val="tx1"/>
                </a:solidFill>
                <a:latin typeface="+mj-ea"/>
                <a:ea typeface="+mj-ea"/>
              </a:rPr>
              <a:t>优先级计算简单，但是这个裁剪效果不是最好</a:t>
            </a:r>
          </a:p>
        </p:txBody>
      </p:sp>
    </p:spTree>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F5AD4B9-527E-4950-8722-D7C04A1E1928}"/>
              </a:ext>
            </a:extLst>
          </p:cNvPr>
          <p:cNvSpPr>
            <a:spLocks noGrp="1" noChangeArrowheads="1"/>
          </p:cNvSpPr>
          <p:nvPr>
            <p:ph type="title"/>
          </p:nvPr>
        </p:nvSpPr>
        <p:spPr/>
        <p:txBody>
          <a:bodyPr/>
          <a:lstStyle/>
          <a:p>
            <a:pPr>
              <a:defRPr/>
            </a:pPr>
            <a:r>
              <a:rPr lang="zh-CN" altLang="en-US">
                <a:latin typeface="+mj-ea"/>
              </a:rPr>
              <a:t>6.6 最大团问题</a:t>
            </a:r>
          </a:p>
        </p:txBody>
      </p:sp>
      <p:sp>
        <p:nvSpPr>
          <p:cNvPr id="47107" name="灯片编号占位符 5">
            <a:extLst>
              <a:ext uri="{FF2B5EF4-FFF2-40B4-BE49-F238E27FC236}">
                <a16:creationId xmlns:a16="http://schemas.microsoft.com/office/drawing/2014/main" id="{AE4BE1A4-9515-4E29-8C7A-460FA7F6D27F}"/>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FC53120-F6FE-4ACB-AD06-E57CF4ED493F}" type="slidenum">
              <a:rPr lang="zh-CN" altLang="en-US" sz="1200">
                <a:solidFill>
                  <a:schemeClr val="tx1"/>
                </a:solidFill>
                <a:latin typeface="微软雅黑" panose="020B0503020204020204" pitchFamily="34" charset="-122"/>
                <a:ea typeface="微软雅黑" panose="020B0503020204020204" pitchFamily="34" charset="-122"/>
              </a:rPr>
              <a:pPr/>
              <a:t>38</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02084" name="Text Box 4">
            <a:extLst>
              <a:ext uri="{FF2B5EF4-FFF2-40B4-BE49-F238E27FC236}">
                <a16:creationId xmlns:a16="http://schemas.microsoft.com/office/drawing/2014/main" id="{319BA9B9-BB13-4683-85B0-310A50675081}"/>
              </a:ext>
            </a:extLst>
          </p:cNvPr>
          <p:cNvSpPr txBox="1">
            <a:spLocks noChangeArrowheads="1"/>
          </p:cNvSpPr>
          <p:nvPr/>
        </p:nvSpPr>
        <p:spPr bwMode="auto">
          <a:xfrm>
            <a:off x="428625" y="1214438"/>
            <a:ext cx="5943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3. 算法思想</a:t>
            </a:r>
            <a:endParaRPr lang="en-US" altLang="zh-CN">
              <a:solidFill>
                <a:schemeClr val="accent2"/>
              </a:solidFill>
              <a:latin typeface="+mj-ea"/>
              <a:ea typeface="+mj-ea"/>
            </a:endParaRPr>
          </a:p>
        </p:txBody>
      </p:sp>
      <p:sp>
        <p:nvSpPr>
          <p:cNvPr id="302085" name="Text Box 5">
            <a:extLst>
              <a:ext uri="{FF2B5EF4-FFF2-40B4-BE49-F238E27FC236}">
                <a16:creationId xmlns:a16="http://schemas.microsoft.com/office/drawing/2014/main" id="{359DB4AF-CE1D-4AFB-B3C6-EB5F85B3AD41}"/>
              </a:ext>
            </a:extLst>
          </p:cNvPr>
          <p:cNvSpPr txBox="1">
            <a:spLocks noChangeArrowheads="1"/>
          </p:cNvSpPr>
          <p:nvPr/>
        </p:nvSpPr>
        <p:spPr bwMode="auto">
          <a:xfrm>
            <a:off x="785813" y="1951038"/>
            <a:ext cx="83581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a:solidFill>
                  <a:schemeClr val="tx1"/>
                </a:solidFill>
                <a:latin typeface="+mj-ea"/>
                <a:ea typeface="+mj-ea"/>
              </a:rPr>
              <a:t>以</a:t>
            </a:r>
            <a:r>
              <a:rPr lang="zh-CN" altLang="en-US" sz="2400">
                <a:solidFill>
                  <a:srgbClr val="FF0000"/>
                </a:solidFill>
                <a:latin typeface="+mj-ea"/>
                <a:ea typeface="+mj-ea"/>
              </a:rPr>
              <a:t>根结点作为初始扩展结点</a:t>
            </a:r>
            <a:r>
              <a:rPr lang="zh-CN" altLang="en-US" sz="2400">
                <a:solidFill>
                  <a:schemeClr val="tx1"/>
                </a:solidFill>
                <a:latin typeface="+mj-ea"/>
                <a:ea typeface="+mj-ea"/>
              </a:rPr>
              <a:t>，其</a:t>
            </a:r>
            <a:r>
              <a:rPr lang="en-US" altLang="zh-CN" sz="2400">
                <a:solidFill>
                  <a:schemeClr val="tx1"/>
                </a:solidFill>
                <a:latin typeface="+mj-ea"/>
                <a:ea typeface="+mj-ea"/>
              </a:rPr>
              <a:t>cn</a:t>
            </a:r>
            <a:r>
              <a:rPr lang="zh-CN" altLang="en-US" sz="2400">
                <a:solidFill>
                  <a:schemeClr val="tx1"/>
                </a:solidFill>
                <a:latin typeface="+mj-ea"/>
                <a:ea typeface="+mj-ea"/>
              </a:rPr>
              <a:t>的值为0。 </a:t>
            </a:r>
          </a:p>
        </p:txBody>
      </p:sp>
      <p:sp>
        <p:nvSpPr>
          <p:cNvPr id="302086" name="Text Box 6">
            <a:extLst>
              <a:ext uri="{FF2B5EF4-FFF2-40B4-BE49-F238E27FC236}">
                <a16:creationId xmlns:a16="http://schemas.microsoft.com/office/drawing/2014/main" id="{068017B5-BC25-40F6-9419-228298706240}"/>
              </a:ext>
            </a:extLst>
          </p:cNvPr>
          <p:cNvSpPr txBox="1">
            <a:spLocks noChangeArrowheads="1"/>
          </p:cNvSpPr>
          <p:nvPr/>
        </p:nvSpPr>
        <p:spPr bwMode="auto">
          <a:xfrm>
            <a:off x="755650" y="2517775"/>
            <a:ext cx="777716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spcBef>
                <a:spcPct val="50000"/>
              </a:spcBef>
              <a:buClr>
                <a:schemeClr val="accent1"/>
              </a:buClr>
              <a:buSzPct val="65000"/>
              <a:buFont typeface="Wingdings" panose="05000000000000000000" pitchFamily="2" charset="2"/>
              <a:buChar char="n"/>
              <a:defRPr/>
            </a:pPr>
            <a:r>
              <a:rPr lang="zh-CN" altLang="en-US" sz="2400">
                <a:solidFill>
                  <a:schemeClr val="tx1"/>
                </a:solidFill>
                <a:latin typeface="+mj-ea"/>
                <a:ea typeface="+mj-ea"/>
              </a:rPr>
              <a:t>算法在扩展内部结点时，首先</a:t>
            </a:r>
            <a:r>
              <a:rPr lang="zh-CN" altLang="en-US" sz="2400">
                <a:solidFill>
                  <a:srgbClr val="FF0000"/>
                </a:solidFill>
                <a:latin typeface="+mj-ea"/>
                <a:ea typeface="+mj-ea"/>
              </a:rPr>
              <a:t>考察其左儿子结点</a:t>
            </a:r>
            <a:r>
              <a:rPr lang="zh-CN" altLang="en-US" sz="2400">
                <a:solidFill>
                  <a:schemeClr val="tx1"/>
                </a:solidFill>
                <a:latin typeface="+mj-ea"/>
                <a:ea typeface="+mj-ea"/>
              </a:rPr>
              <a:t>。如果</a:t>
            </a:r>
            <a:r>
              <a:rPr lang="zh-CN" altLang="en-US" sz="2400">
                <a:solidFill>
                  <a:srgbClr val="FF0000"/>
                </a:solidFill>
                <a:latin typeface="+mj-ea"/>
                <a:ea typeface="+mj-ea"/>
              </a:rPr>
              <a:t>满足约束条件</a:t>
            </a:r>
            <a:r>
              <a:rPr lang="en-US" altLang="zh-CN" sz="2400">
                <a:solidFill>
                  <a:schemeClr val="tx1"/>
                </a:solidFill>
                <a:latin typeface="+mj-ea"/>
                <a:ea typeface="+mj-ea"/>
              </a:rPr>
              <a:t>(</a:t>
            </a:r>
            <a:r>
              <a:rPr lang="zh-CN" altLang="en-US" sz="2400">
                <a:solidFill>
                  <a:schemeClr val="tx1"/>
                </a:solidFill>
                <a:latin typeface="+mj-ea"/>
                <a:ea typeface="+mj-ea"/>
              </a:rPr>
              <a:t>顶点</a:t>
            </a:r>
            <a:r>
              <a:rPr lang="en-US" altLang="zh-CN" sz="2400">
                <a:solidFill>
                  <a:schemeClr val="tx1"/>
                </a:solidFill>
                <a:latin typeface="+mj-ea"/>
                <a:ea typeface="+mj-ea"/>
              </a:rPr>
              <a:t>i</a:t>
            </a:r>
            <a:r>
              <a:rPr lang="zh-CN" altLang="en-US" sz="2400">
                <a:solidFill>
                  <a:schemeClr val="tx1"/>
                </a:solidFill>
                <a:latin typeface="+mj-ea"/>
                <a:ea typeface="+mj-ea"/>
              </a:rPr>
              <a:t>与当前团中其它顶点之间都有边相连</a:t>
            </a:r>
            <a:r>
              <a:rPr lang="en-US" altLang="zh-CN" sz="2400">
                <a:solidFill>
                  <a:schemeClr val="tx1"/>
                </a:solidFill>
                <a:latin typeface="+mj-ea"/>
                <a:ea typeface="+mj-ea"/>
              </a:rPr>
              <a:t>)</a:t>
            </a:r>
            <a:r>
              <a:rPr lang="zh-CN" altLang="en-US" sz="2400">
                <a:solidFill>
                  <a:schemeClr val="tx1"/>
                </a:solidFill>
                <a:latin typeface="+mj-ea"/>
                <a:ea typeface="+mj-ea"/>
              </a:rPr>
              <a:t>，则将左儿子结点加入到子集树中并插入活结点优先队列，否则就不是可行结点。</a:t>
            </a:r>
          </a:p>
        </p:txBody>
      </p:sp>
      <p:sp>
        <p:nvSpPr>
          <p:cNvPr id="302087" name="Text Box 7">
            <a:extLst>
              <a:ext uri="{FF2B5EF4-FFF2-40B4-BE49-F238E27FC236}">
                <a16:creationId xmlns:a16="http://schemas.microsoft.com/office/drawing/2014/main" id="{65AE11B1-ECE7-4765-A2FB-82C53D9AE0B4}"/>
              </a:ext>
            </a:extLst>
          </p:cNvPr>
          <p:cNvSpPr txBox="1">
            <a:spLocks noChangeArrowheads="1"/>
          </p:cNvSpPr>
          <p:nvPr/>
        </p:nvSpPr>
        <p:spPr bwMode="auto">
          <a:xfrm>
            <a:off x="785813" y="4113213"/>
            <a:ext cx="76739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spcBef>
                <a:spcPct val="50000"/>
              </a:spcBef>
              <a:buClr>
                <a:schemeClr val="accent1"/>
              </a:buClr>
              <a:buSzPct val="65000"/>
              <a:buFont typeface="Wingdings" panose="05000000000000000000" pitchFamily="2" charset="2"/>
              <a:buChar char="n"/>
              <a:defRPr/>
            </a:pPr>
            <a:r>
              <a:rPr lang="zh-CN" altLang="en-US" sz="2400">
                <a:solidFill>
                  <a:schemeClr val="tx1"/>
                </a:solidFill>
                <a:latin typeface="+mj-ea"/>
                <a:ea typeface="+mj-ea"/>
              </a:rPr>
              <a:t>接着继续考察当前扩展结点的</a:t>
            </a:r>
            <a:r>
              <a:rPr lang="zh-CN" altLang="en-US" sz="2400">
                <a:solidFill>
                  <a:srgbClr val="FF0000"/>
                </a:solidFill>
                <a:latin typeface="+mj-ea"/>
                <a:ea typeface="+mj-ea"/>
              </a:rPr>
              <a:t>右儿子结点</a:t>
            </a:r>
            <a:r>
              <a:rPr lang="zh-CN" altLang="en-US" sz="2400">
                <a:solidFill>
                  <a:schemeClr val="tx1"/>
                </a:solidFill>
                <a:latin typeface="+mj-ea"/>
                <a:ea typeface="+mj-ea"/>
              </a:rPr>
              <a:t>。当</a:t>
            </a:r>
            <a:r>
              <a:rPr lang="zh-CN" altLang="en-US" sz="2400">
                <a:solidFill>
                  <a:srgbClr val="FF0000"/>
                </a:solidFill>
                <a:latin typeface="+mj-ea"/>
                <a:ea typeface="+mj-ea"/>
              </a:rPr>
              <a:t>满足限界条件</a:t>
            </a:r>
            <a:r>
              <a:rPr lang="en-US" altLang="zh-CN" sz="2400">
                <a:solidFill>
                  <a:schemeClr val="tx1"/>
                </a:solidFill>
                <a:latin typeface="+mj-ea"/>
                <a:ea typeface="+mj-ea"/>
              </a:rPr>
              <a:t>(cn+n-i &gt;bestn)</a:t>
            </a:r>
            <a:r>
              <a:rPr lang="zh-CN" altLang="en-US" sz="2400">
                <a:solidFill>
                  <a:schemeClr val="tx1"/>
                </a:solidFill>
                <a:latin typeface="+mj-ea"/>
                <a:ea typeface="+mj-ea"/>
              </a:rPr>
              <a:t>时，右子树中可能含有最优解，将右儿子结点加入到子集树中并插入到活结点优先队列中。</a:t>
            </a:r>
          </a:p>
        </p:txBody>
      </p:sp>
      <p:sp>
        <p:nvSpPr>
          <p:cNvPr id="8" name="Text Box 6">
            <a:extLst>
              <a:ext uri="{FF2B5EF4-FFF2-40B4-BE49-F238E27FC236}">
                <a16:creationId xmlns:a16="http://schemas.microsoft.com/office/drawing/2014/main" id="{52AE5CF7-DF26-4207-A6C3-18781094285B}"/>
              </a:ext>
            </a:extLst>
          </p:cNvPr>
          <p:cNvSpPr txBox="1">
            <a:spLocks noChangeArrowheads="1"/>
          </p:cNvSpPr>
          <p:nvPr/>
        </p:nvSpPr>
        <p:spPr bwMode="auto">
          <a:xfrm>
            <a:off x="755650" y="5362575"/>
            <a:ext cx="8286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a:solidFill>
                  <a:schemeClr val="tx1"/>
                </a:solidFill>
                <a:latin typeface="+mj-ea"/>
                <a:ea typeface="+mj-ea"/>
              </a:rPr>
              <a:t>算法的</a:t>
            </a:r>
            <a:r>
              <a:rPr lang="en-US" altLang="zh-CN" sz="2400">
                <a:solidFill>
                  <a:schemeClr val="tx1"/>
                </a:solidFill>
                <a:latin typeface="+mj-ea"/>
                <a:ea typeface="+mj-ea"/>
              </a:rPr>
              <a:t>while</a:t>
            </a:r>
            <a:r>
              <a:rPr lang="zh-CN" altLang="en-US" sz="2400">
                <a:solidFill>
                  <a:schemeClr val="tx1"/>
                </a:solidFill>
                <a:latin typeface="+mj-ea"/>
                <a:ea typeface="+mj-ea"/>
              </a:rPr>
              <a:t>循环的</a:t>
            </a:r>
            <a:r>
              <a:rPr lang="zh-CN" altLang="en-US" sz="2400">
                <a:solidFill>
                  <a:srgbClr val="FF0000"/>
                </a:solidFill>
                <a:latin typeface="+mj-ea"/>
                <a:ea typeface="+mj-ea"/>
              </a:rPr>
              <a:t>终止条件</a:t>
            </a:r>
            <a:r>
              <a:rPr lang="zh-CN" altLang="en-US" sz="2400">
                <a:solidFill>
                  <a:schemeClr val="tx1"/>
                </a:solidFill>
                <a:latin typeface="+mj-ea"/>
                <a:ea typeface="+mj-ea"/>
              </a:rPr>
              <a:t>是遇到子集树中的一个叶结点(即</a:t>
            </a:r>
            <a:r>
              <a:rPr lang="en-US" altLang="zh-CN" sz="2400">
                <a:solidFill>
                  <a:schemeClr val="tx1"/>
                </a:solidFill>
                <a:latin typeface="+mj-ea"/>
                <a:ea typeface="+mj-ea"/>
              </a:rPr>
              <a:t>n+1</a:t>
            </a:r>
            <a:r>
              <a:rPr lang="zh-CN" altLang="en-US" sz="2400">
                <a:solidFill>
                  <a:schemeClr val="tx1"/>
                </a:solidFill>
                <a:latin typeface="+mj-ea"/>
                <a:ea typeface="+mj-ea"/>
              </a:rPr>
              <a:t>层结点)成为当前扩展结点。</a:t>
            </a: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2084"/>
                                        </p:tgtEl>
                                        <p:attrNameLst>
                                          <p:attrName>style.visibility</p:attrName>
                                        </p:attrNameLst>
                                      </p:cBhvr>
                                      <p:to>
                                        <p:strVal val="visible"/>
                                      </p:to>
                                    </p:set>
                                    <p:anim calcmode="lin" valueType="num">
                                      <p:cBhvr additive="base">
                                        <p:cTn id="7" dur="500" fill="hold"/>
                                        <p:tgtEl>
                                          <p:spTgt spid="302084"/>
                                        </p:tgtEl>
                                        <p:attrNameLst>
                                          <p:attrName>ppt_x</p:attrName>
                                        </p:attrNameLst>
                                      </p:cBhvr>
                                      <p:tavLst>
                                        <p:tav tm="0">
                                          <p:val>
                                            <p:strVal val="1+#ppt_w/2"/>
                                          </p:val>
                                        </p:tav>
                                        <p:tav tm="100000">
                                          <p:val>
                                            <p:strVal val="#ppt_x"/>
                                          </p:val>
                                        </p:tav>
                                      </p:tavLst>
                                    </p:anim>
                                    <p:anim calcmode="lin" valueType="num">
                                      <p:cBhvr additive="base">
                                        <p:cTn id="8" dur="500" fill="hold"/>
                                        <p:tgtEl>
                                          <p:spTgt spid="30208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02085"/>
                                        </p:tgtEl>
                                        <p:attrNameLst>
                                          <p:attrName>style.visibility</p:attrName>
                                        </p:attrNameLst>
                                      </p:cBhvr>
                                      <p:to>
                                        <p:strVal val="visible"/>
                                      </p:to>
                                    </p:set>
                                    <p:animEffect transition="in" filter="wipe(up)">
                                      <p:cBhvr>
                                        <p:cTn id="13" dur="500"/>
                                        <p:tgtEl>
                                          <p:spTgt spid="30208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02086"/>
                                        </p:tgtEl>
                                        <p:attrNameLst>
                                          <p:attrName>style.visibility</p:attrName>
                                        </p:attrNameLst>
                                      </p:cBhvr>
                                      <p:to>
                                        <p:strVal val="visible"/>
                                      </p:to>
                                    </p:set>
                                    <p:animEffect transition="in" filter="wipe(down)">
                                      <p:cBhvr>
                                        <p:cTn id="18" dur="500"/>
                                        <p:tgtEl>
                                          <p:spTgt spid="30208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02087"/>
                                        </p:tgtEl>
                                        <p:attrNameLst>
                                          <p:attrName>style.visibility</p:attrName>
                                        </p:attrNameLst>
                                      </p:cBhvr>
                                      <p:to>
                                        <p:strVal val="visible"/>
                                      </p:to>
                                    </p:set>
                                    <p:animEffect transition="in" filter="wipe(up)">
                                      <p:cBhvr>
                                        <p:cTn id="23" dur="500"/>
                                        <p:tgtEl>
                                          <p:spTgt spid="30208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26"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inHorizontal)">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4" grpId="0" autoUpdateAnimBg="0"/>
      <p:bldP spid="302085" grpId="0" autoUpdateAnimBg="0"/>
      <p:bldP spid="302086" grpId="0" autoUpdateAnimBg="0"/>
      <p:bldP spid="302087" grpId="0" autoUpdateAnimBg="0"/>
      <p:bldP spid="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2">
            <a:extLst>
              <a:ext uri="{FF2B5EF4-FFF2-40B4-BE49-F238E27FC236}">
                <a16:creationId xmlns:a16="http://schemas.microsoft.com/office/drawing/2014/main" id="{C196EA02-CB91-4474-8A5D-ED462D745E09}"/>
              </a:ext>
            </a:extLst>
          </p:cNvPr>
          <p:cNvSpPr>
            <a:spLocks noGrp="1"/>
          </p:cNvSpPr>
          <p:nvPr>
            <p:ph idx="1"/>
          </p:nvPr>
        </p:nvSpPr>
        <p:spPr>
          <a:xfrm>
            <a:off x="395288" y="1268413"/>
            <a:ext cx="8572500" cy="6500812"/>
          </a:xfrm>
        </p:spPr>
        <p:txBody>
          <a:bodyPr/>
          <a:lstStyle/>
          <a:p>
            <a:pPr>
              <a:lnSpc>
                <a:spcPts val="2500"/>
              </a:lnSpc>
              <a:spcBef>
                <a:spcPct val="0"/>
              </a:spcBef>
              <a:buFont typeface="Wingdings" panose="05000000000000000000" pitchFamily="2" charset="2"/>
              <a:buNone/>
              <a:defRPr/>
            </a:pPr>
            <a:r>
              <a:rPr lang="en-US" altLang="zh-CN" sz="2000" dirty="0">
                <a:latin typeface="+mj-ea"/>
                <a:ea typeface="+mj-ea"/>
              </a:rPr>
              <a:t>//</a:t>
            </a:r>
            <a:r>
              <a:rPr lang="zh-CN" altLang="en-US" sz="2000" dirty="0">
                <a:latin typeface="+mj-ea"/>
                <a:ea typeface="+mj-ea"/>
              </a:rPr>
              <a:t>解最大团问题的优先队列式分支限界法  </a:t>
            </a:r>
          </a:p>
          <a:p>
            <a:pPr>
              <a:lnSpc>
                <a:spcPts val="2500"/>
              </a:lnSpc>
              <a:spcBef>
                <a:spcPct val="0"/>
              </a:spcBef>
              <a:buFont typeface="Wingdings" panose="05000000000000000000" pitchFamily="2" charset="2"/>
              <a:buNone/>
              <a:defRPr/>
            </a:pPr>
            <a:r>
              <a:rPr lang="en-US" altLang="zh-CN" sz="2000" dirty="0" err="1">
                <a:latin typeface="+mj-ea"/>
                <a:ea typeface="+mj-ea"/>
              </a:rPr>
              <a:t>int</a:t>
            </a:r>
            <a:r>
              <a:rPr lang="en-US" altLang="zh-CN" sz="2000" dirty="0">
                <a:latin typeface="+mj-ea"/>
                <a:ea typeface="+mj-ea"/>
              </a:rPr>
              <a:t> Clique::</a:t>
            </a:r>
            <a:r>
              <a:rPr lang="en-US" altLang="zh-CN" sz="2000" dirty="0" err="1">
                <a:latin typeface="+mj-ea"/>
                <a:ea typeface="+mj-ea"/>
              </a:rPr>
              <a:t>BBMaxClique</a:t>
            </a:r>
            <a:r>
              <a:rPr lang="en-US" altLang="zh-CN" sz="2000" dirty="0">
                <a:latin typeface="+mj-ea"/>
                <a:ea typeface="+mj-ea"/>
              </a:rPr>
              <a:t>(</a:t>
            </a:r>
            <a:r>
              <a:rPr lang="en-US" altLang="zh-CN" sz="2000" dirty="0" err="1">
                <a:latin typeface="+mj-ea"/>
                <a:ea typeface="+mj-ea"/>
              </a:rPr>
              <a:t>int</a:t>
            </a:r>
            <a:r>
              <a:rPr lang="en-US" altLang="zh-CN" sz="2000" dirty="0">
                <a:latin typeface="+mj-ea"/>
                <a:ea typeface="+mj-ea"/>
              </a:rPr>
              <a:t> </a:t>
            </a:r>
            <a:r>
              <a:rPr lang="en-US" altLang="zh-CN" sz="2000" dirty="0" err="1">
                <a:latin typeface="+mj-ea"/>
                <a:ea typeface="+mj-ea"/>
              </a:rPr>
              <a:t>bestx</a:t>
            </a:r>
            <a:r>
              <a:rPr lang="en-US" altLang="zh-CN" sz="2000" dirty="0">
                <a:latin typeface="+mj-ea"/>
                <a:ea typeface="+mj-ea"/>
              </a:rPr>
              <a:t>[]) {/</a:t>
            </a:r>
            <a:r>
              <a:rPr lang="zh-CN" altLang="en-US" sz="2000" dirty="0">
                <a:latin typeface="+mj-ea"/>
                <a:ea typeface="+mj-ea"/>
              </a:rPr>
              <a:t>搜集子集空间树  </a:t>
            </a:r>
          </a:p>
          <a:p>
            <a:pPr>
              <a:lnSpc>
                <a:spcPts val="2500"/>
              </a:lnSpc>
              <a:spcBef>
                <a:spcPct val="0"/>
              </a:spcBef>
              <a:buFont typeface="Wingdings" panose="05000000000000000000" pitchFamily="2" charset="2"/>
              <a:buNone/>
              <a:defRPr/>
            </a:pPr>
            <a:r>
              <a:rPr lang="zh-CN" altLang="en-US" sz="2000" dirty="0">
                <a:latin typeface="+mj-ea"/>
                <a:ea typeface="+mj-ea"/>
              </a:rPr>
              <a:t>    </a:t>
            </a:r>
            <a:r>
              <a:rPr lang="en-US" altLang="zh-CN" sz="2000" dirty="0">
                <a:latin typeface="+mj-ea"/>
                <a:ea typeface="+mj-ea"/>
              </a:rPr>
              <a:t> </a:t>
            </a:r>
            <a:r>
              <a:rPr lang="en-US" altLang="zh-CN" sz="2000" dirty="0" err="1">
                <a:latin typeface="+mj-ea"/>
                <a:ea typeface="+mj-ea"/>
              </a:rPr>
              <a:t>MaxHeap</a:t>
            </a:r>
            <a:r>
              <a:rPr lang="en-US" altLang="zh-CN" sz="2000" dirty="0">
                <a:latin typeface="+mj-ea"/>
                <a:ea typeface="+mj-ea"/>
              </a:rPr>
              <a:t>&lt;</a:t>
            </a:r>
            <a:r>
              <a:rPr lang="en-US" altLang="zh-CN" sz="2000" dirty="0" err="1">
                <a:latin typeface="+mj-ea"/>
                <a:ea typeface="+mj-ea"/>
              </a:rPr>
              <a:t>CliqueNode</a:t>
            </a:r>
            <a:r>
              <a:rPr lang="en-US" altLang="zh-CN" sz="2000" dirty="0">
                <a:latin typeface="+mj-ea"/>
                <a:ea typeface="+mj-ea"/>
              </a:rPr>
              <a:t>&gt; H(1000);</a:t>
            </a:r>
          </a:p>
          <a:p>
            <a:pPr>
              <a:lnSpc>
                <a:spcPts val="2500"/>
              </a:lnSpc>
              <a:spcBef>
                <a:spcPct val="0"/>
              </a:spcBef>
              <a:buFont typeface="Wingdings" panose="05000000000000000000" pitchFamily="2" charset="2"/>
              <a:buNone/>
              <a:defRPr/>
            </a:pPr>
            <a:r>
              <a:rPr lang="en-US" altLang="zh-CN" sz="2000" dirty="0">
                <a:solidFill>
                  <a:srgbClr val="FF0000"/>
                </a:solidFill>
                <a:latin typeface="+mj-ea"/>
                <a:ea typeface="+mj-ea"/>
              </a:rPr>
              <a:t>      while(</a:t>
            </a:r>
            <a:r>
              <a:rPr lang="en-US" altLang="zh-CN" sz="2000" dirty="0" err="1">
                <a:solidFill>
                  <a:srgbClr val="FF0000"/>
                </a:solidFill>
                <a:latin typeface="+mj-ea"/>
                <a:ea typeface="+mj-ea"/>
              </a:rPr>
              <a:t>i</a:t>
            </a:r>
            <a:r>
              <a:rPr lang="en-US" altLang="zh-CN" sz="2000" dirty="0">
                <a:solidFill>
                  <a:srgbClr val="FF0000"/>
                </a:solidFill>
                <a:latin typeface="+mj-ea"/>
                <a:ea typeface="+mj-ea"/>
              </a:rPr>
              <a:t>!=n+1)//</a:t>
            </a:r>
            <a:r>
              <a:rPr lang="zh-CN" altLang="en-US" sz="2000" dirty="0">
                <a:latin typeface="+mj-ea"/>
                <a:ea typeface="+mj-ea"/>
              </a:rPr>
              <a:t>非叶节点 </a:t>
            </a:r>
            <a:r>
              <a:rPr lang="en-US" altLang="zh-CN" sz="2000" dirty="0">
                <a:latin typeface="+mj-ea"/>
                <a:ea typeface="+mj-ea"/>
              </a:rPr>
              <a:t>{  </a:t>
            </a:r>
          </a:p>
          <a:p>
            <a:pPr>
              <a:lnSpc>
                <a:spcPts val="2500"/>
              </a:lnSpc>
              <a:spcBef>
                <a:spcPct val="0"/>
              </a:spcBef>
              <a:buFont typeface="Wingdings" panose="05000000000000000000" pitchFamily="2" charset="2"/>
              <a:buNone/>
              <a:defRPr/>
            </a:pPr>
            <a:r>
              <a:rPr lang="en-US" altLang="zh-CN" sz="2000" dirty="0">
                <a:latin typeface="+mj-ea"/>
                <a:ea typeface="+mj-ea"/>
              </a:rPr>
              <a:t>        //</a:t>
            </a:r>
            <a:r>
              <a:rPr lang="zh-CN" altLang="en-US" sz="2000" dirty="0">
                <a:latin typeface="+mj-ea"/>
                <a:ea typeface="+mj-ea"/>
              </a:rPr>
              <a:t>检查顶点</a:t>
            </a:r>
            <a:r>
              <a:rPr lang="en-US" altLang="zh-CN" sz="2000" dirty="0" err="1">
                <a:latin typeface="+mj-ea"/>
                <a:ea typeface="+mj-ea"/>
              </a:rPr>
              <a:t>i</a:t>
            </a:r>
            <a:r>
              <a:rPr lang="zh-CN" altLang="en-US" sz="2000" dirty="0">
                <a:latin typeface="+mj-ea"/>
                <a:ea typeface="+mj-ea"/>
              </a:rPr>
              <a:t>与当前团中其他顶点之间是否有边相连  </a:t>
            </a:r>
          </a:p>
          <a:p>
            <a:pPr>
              <a:lnSpc>
                <a:spcPts val="2500"/>
              </a:lnSpc>
              <a:spcBef>
                <a:spcPct val="0"/>
              </a:spcBef>
              <a:buFont typeface="Wingdings" panose="05000000000000000000" pitchFamily="2" charset="2"/>
              <a:buNone/>
              <a:defRPr/>
            </a:pPr>
            <a:r>
              <a:rPr lang="zh-CN" altLang="en-US" sz="2000" dirty="0">
                <a:latin typeface="+mj-ea"/>
                <a:ea typeface="+mj-ea"/>
              </a:rPr>
              <a:t>        </a:t>
            </a:r>
            <a:r>
              <a:rPr lang="en-US" altLang="zh-CN" sz="2000" dirty="0">
                <a:latin typeface="+mj-ea"/>
                <a:ea typeface="+mj-ea"/>
              </a:rPr>
              <a:t>bool OK = true;  </a:t>
            </a:r>
          </a:p>
          <a:p>
            <a:pPr>
              <a:lnSpc>
                <a:spcPts val="2500"/>
              </a:lnSpc>
              <a:spcBef>
                <a:spcPct val="0"/>
              </a:spcBef>
              <a:buFont typeface="Wingdings" panose="05000000000000000000" pitchFamily="2" charset="2"/>
              <a:buNone/>
              <a:defRPr/>
            </a:pPr>
            <a:r>
              <a:rPr lang="en-US" altLang="zh-CN" sz="2000" dirty="0">
                <a:latin typeface="+mj-ea"/>
                <a:ea typeface="+mj-ea"/>
              </a:rPr>
              <a:t>        </a:t>
            </a:r>
            <a:r>
              <a:rPr lang="en-US" altLang="zh-CN" sz="2000" dirty="0">
                <a:solidFill>
                  <a:srgbClr val="0070C0"/>
                </a:solidFill>
                <a:latin typeface="+mj-ea"/>
                <a:ea typeface="+mj-ea"/>
              </a:rPr>
              <a:t>for(</a:t>
            </a:r>
            <a:r>
              <a:rPr lang="en-US" altLang="zh-CN" sz="2000" dirty="0" err="1">
                <a:solidFill>
                  <a:srgbClr val="0070C0"/>
                </a:solidFill>
                <a:latin typeface="+mj-ea"/>
                <a:ea typeface="+mj-ea"/>
              </a:rPr>
              <a:t>int</a:t>
            </a:r>
            <a:r>
              <a:rPr lang="en-US" altLang="zh-CN" sz="2000" dirty="0">
                <a:solidFill>
                  <a:srgbClr val="0070C0"/>
                </a:solidFill>
                <a:latin typeface="+mj-ea"/>
                <a:ea typeface="+mj-ea"/>
              </a:rPr>
              <a:t> j=i-1; j&gt;0; B=B-&gt;</a:t>
            </a:r>
            <a:r>
              <a:rPr lang="en-US" altLang="zh-CN" sz="2000" dirty="0" err="1">
                <a:solidFill>
                  <a:srgbClr val="0070C0"/>
                </a:solidFill>
                <a:latin typeface="+mj-ea"/>
                <a:ea typeface="+mj-ea"/>
              </a:rPr>
              <a:t>parent,j</a:t>
            </a:r>
            <a:r>
              <a:rPr lang="en-US" altLang="zh-CN" sz="2000" dirty="0">
                <a:solidFill>
                  <a:srgbClr val="0070C0"/>
                </a:solidFill>
                <a:latin typeface="+mj-ea"/>
                <a:ea typeface="+mj-ea"/>
              </a:rPr>
              <a:t>--)  {  </a:t>
            </a:r>
          </a:p>
          <a:p>
            <a:pPr>
              <a:lnSpc>
                <a:spcPts val="2500"/>
              </a:lnSpc>
              <a:spcBef>
                <a:spcPct val="0"/>
              </a:spcBef>
              <a:buFont typeface="Wingdings" panose="05000000000000000000" pitchFamily="2" charset="2"/>
              <a:buNone/>
              <a:defRPr/>
            </a:pPr>
            <a:r>
              <a:rPr lang="en-US" altLang="zh-CN" sz="2000" dirty="0">
                <a:solidFill>
                  <a:srgbClr val="0070C0"/>
                </a:solidFill>
                <a:latin typeface="+mj-ea"/>
                <a:ea typeface="+mj-ea"/>
              </a:rPr>
              <a:t>          if(B-&gt;</a:t>
            </a:r>
            <a:r>
              <a:rPr lang="en-US" altLang="zh-CN" sz="2000" dirty="0" err="1">
                <a:solidFill>
                  <a:srgbClr val="0070C0"/>
                </a:solidFill>
                <a:latin typeface="+mj-ea"/>
                <a:ea typeface="+mj-ea"/>
              </a:rPr>
              <a:t>LChild</a:t>
            </a:r>
            <a:r>
              <a:rPr lang="en-US" altLang="zh-CN" sz="2000" dirty="0">
                <a:solidFill>
                  <a:srgbClr val="0070C0"/>
                </a:solidFill>
                <a:latin typeface="+mj-ea"/>
                <a:ea typeface="+mj-ea"/>
              </a:rPr>
              <a:t> &amp;&amp; a[</a:t>
            </a:r>
            <a:r>
              <a:rPr lang="en-US" altLang="zh-CN" sz="2000" dirty="0" err="1">
                <a:solidFill>
                  <a:srgbClr val="0070C0"/>
                </a:solidFill>
                <a:latin typeface="+mj-ea"/>
                <a:ea typeface="+mj-ea"/>
              </a:rPr>
              <a:t>i</a:t>
            </a:r>
            <a:r>
              <a:rPr lang="en-US" altLang="zh-CN" sz="2000" dirty="0">
                <a:solidFill>
                  <a:srgbClr val="0070C0"/>
                </a:solidFill>
                <a:latin typeface="+mj-ea"/>
                <a:ea typeface="+mj-ea"/>
              </a:rPr>
              <a:t>][j]==0)  {  </a:t>
            </a:r>
          </a:p>
          <a:p>
            <a:pPr>
              <a:lnSpc>
                <a:spcPts val="2500"/>
              </a:lnSpc>
              <a:spcBef>
                <a:spcPct val="0"/>
              </a:spcBef>
              <a:buFont typeface="Wingdings" panose="05000000000000000000" pitchFamily="2" charset="2"/>
              <a:buNone/>
              <a:defRPr/>
            </a:pPr>
            <a:r>
              <a:rPr lang="en-US" altLang="zh-CN" sz="2000" dirty="0">
                <a:solidFill>
                  <a:srgbClr val="0070C0"/>
                </a:solidFill>
                <a:latin typeface="+mj-ea"/>
                <a:ea typeface="+mj-ea"/>
              </a:rPr>
              <a:t>             OK = false;   break;      }       }</a:t>
            </a:r>
          </a:p>
          <a:p>
            <a:pPr eaLnBrk="1" hangingPunct="1">
              <a:lnSpc>
                <a:spcPts val="2500"/>
              </a:lnSpc>
              <a:buFont typeface="Wingdings" panose="05000000000000000000" pitchFamily="2" charset="2"/>
              <a:buNone/>
              <a:defRPr/>
            </a:pPr>
            <a:r>
              <a:rPr lang="en-US" altLang="zh-CN" sz="2000" dirty="0">
                <a:latin typeface="+mj-ea"/>
                <a:ea typeface="+mj-ea"/>
              </a:rPr>
              <a:t>          if(</a:t>
            </a:r>
            <a:r>
              <a:rPr lang="en-US" altLang="zh-CN" sz="2000" dirty="0">
                <a:solidFill>
                  <a:srgbClr val="FF0000"/>
                </a:solidFill>
                <a:latin typeface="+mj-ea"/>
                <a:ea typeface="+mj-ea"/>
              </a:rPr>
              <a:t>OK</a:t>
            </a:r>
            <a:r>
              <a:rPr lang="en-US" altLang="zh-CN" sz="2000" dirty="0">
                <a:latin typeface="+mj-ea"/>
                <a:ea typeface="+mj-ea"/>
              </a:rPr>
              <a:t>)</a:t>
            </a:r>
            <a:r>
              <a:rPr lang="zh-CN" altLang="en-US" sz="2000" dirty="0">
                <a:latin typeface="+mj-ea"/>
                <a:ea typeface="+mj-ea"/>
              </a:rPr>
              <a:t>  </a:t>
            </a:r>
            <a:r>
              <a:rPr lang="en-US" altLang="zh-CN" sz="2000" dirty="0">
                <a:latin typeface="+mj-ea"/>
                <a:ea typeface="+mj-ea"/>
              </a:rPr>
              <a:t>{//</a:t>
            </a:r>
            <a:r>
              <a:rPr lang="zh-CN" altLang="en-US" sz="2000" dirty="0">
                <a:latin typeface="+mj-ea"/>
                <a:ea typeface="+mj-ea"/>
              </a:rPr>
              <a:t>左儿子节点为可行结点  </a:t>
            </a:r>
            <a:endParaRPr lang="en-US" altLang="zh-CN" sz="2000" dirty="0">
              <a:latin typeface="+mj-ea"/>
              <a:ea typeface="+mj-ea"/>
            </a:endParaRPr>
          </a:p>
          <a:p>
            <a:pPr eaLnBrk="1" hangingPunct="1">
              <a:lnSpc>
                <a:spcPts val="2500"/>
              </a:lnSpc>
              <a:buFont typeface="Wingdings" panose="05000000000000000000" pitchFamily="2" charset="2"/>
              <a:buNone/>
              <a:defRPr/>
            </a:pPr>
            <a:r>
              <a:rPr lang="en-US" altLang="zh-CN" sz="2000" dirty="0">
                <a:latin typeface="+mj-ea"/>
                <a:ea typeface="+mj-ea"/>
              </a:rPr>
              <a:t>            if(cn+1&gt;</a:t>
            </a:r>
            <a:r>
              <a:rPr lang="en-US" altLang="zh-CN" sz="2000" dirty="0" err="1">
                <a:latin typeface="+mj-ea"/>
                <a:ea typeface="+mj-ea"/>
              </a:rPr>
              <a:t>bestn</a:t>
            </a:r>
            <a:r>
              <a:rPr lang="en-US" altLang="zh-CN" sz="2000" dirty="0">
                <a:latin typeface="+mj-ea"/>
                <a:ea typeface="+mj-ea"/>
              </a:rPr>
              <a:t>)   </a:t>
            </a:r>
            <a:r>
              <a:rPr lang="en-US" altLang="zh-CN" sz="2000" u="sng" dirty="0" err="1">
                <a:solidFill>
                  <a:srgbClr val="FF0000"/>
                </a:solidFill>
                <a:latin typeface="+mj-ea"/>
                <a:ea typeface="+mj-ea"/>
              </a:rPr>
              <a:t>bestn</a:t>
            </a:r>
            <a:r>
              <a:rPr lang="en-US" altLang="zh-CN" sz="2000" u="sng" dirty="0">
                <a:solidFill>
                  <a:srgbClr val="FF0000"/>
                </a:solidFill>
                <a:latin typeface="+mj-ea"/>
                <a:ea typeface="+mj-ea"/>
              </a:rPr>
              <a:t> = </a:t>
            </a:r>
            <a:r>
              <a:rPr lang="en-US" altLang="zh-CN" sz="2000" u="sng" dirty="0" err="1">
                <a:solidFill>
                  <a:srgbClr val="FF0000"/>
                </a:solidFill>
                <a:latin typeface="+mj-ea"/>
                <a:ea typeface="+mj-ea"/>
              </a:rPr>
              <a:t>cn</a:t>
            </a:r>
            <a:r>
              <a:rPr lang="en-US" altLang="zh-CN" sz="2000" u="sng" dirty="0">
                <a:solidFill>
                  <a:srgbClr val="FF0000"/>
                </a:solidFill>
                <a:latin typeface="+mj-ea"/>
                <a:ea typeface="+mj-ea"/>
              </a:rPr>
              <a:t> + 1</a:t>
            </a:r>
            <a:r>
              <a:rPr lang="en-US" altLang="zh-CN" sz="2000" u="sng" dirty="0">
                <a:latin typeface="+mj-ea"/>
                <a:ea typeface="+mj-ea"/>
              </a:rPr>
              <a:t>;</a:t>
            </a:r>
          </a:p>
          <a:p>
            <a:pPr eaLnBrk="1" hangingPunct="1">
              <a:lnSpc>
                <a:spcPts val="2500"/>
              </a:lnSpc>
              <a:buFont typeface="Wingdings" panose="05000000000000000000" pitchFamily="2" charset="2"/>
              <a:buNone/>
              <a:defRPr/>
            </a:pPr>
            <a:r>
              <a:rPr lang="en-US" altLang="zh-CN" sz="2000" dirty="0">
                <a:latin typeface="+mj-ea"/>
                <a:ea typeface="+mj-ea"/>
              </a:rPr>
              <a:t>            </a:t>
            </a:r>
            <a:r>
              <a:rPr lang="en-US" altLang="zh-CN" sz="2000" u="sng" dirty="0" err="1">
                <a:latin typeface="+mj-ea"/>
                <a:ea typeface="+mj-ea"/>
              </a:rPr>
              <a:t>AddLiveNode</a:t>
            </a:r>
            <a:r>
              <a:rPr lang="en-US" altLang="zh-CN" sz="2000" u="sng" dirty="0">
                <a:latin typeface="+mj-ea"/>
                <a:ea typeface="+mj-ea"/>
              </a:rPr>
              <a:t>(</a:t>
            </a:r>
            <a:r>
              <a:rPr lang="en-US" altLang="zh-CN" sz="2000" u="sng" dirty="0">
                <a:solidFill>
                  <a:srgbClr val="0070C0"/>
                </a:solidFill>
                <a:latin typeface="+mj-ea"/>
                <a:ea typeface="+mj-ea"/>
              </a:rPr>
              <a:t>H</a:t>
            </a:r>
            <a:r>
              <a:rPr lang="en-US" altLang="zh-CN" sz="2000" u="sng" dirty="0">
                <a:latin typeface="+mj-ea"/>
                <a:ea typeface="+mj-ea"/>
              </a:rPr>
              <a:t>,cn+1,cn+n-i+1,i+1,</a:t>
            </a:r>
            <a:r>
              <a:rPr lang="en-US" altLang="zh-CN" sz="2000" u="sng" dirty="0">
                <a:solidFill>
                  <a:srgbClr val="0070C0"/>
                </a:solidFill>
                <a:latin typeface="+mj-ea"/>
                <a:ea typeface="+mj-ea"/>
              </a:rPr>
              <a:t>E</a:t>
            </a:r>
            <a:r>
              <a:rPr lang="en-US" altLang="zh-CN" sz="2000" u="sng" dirty="0">
                <a:latin typeface="+mj-ea"/>
                <a:ea typeface="+mj-ea"/>
              </a:rPr>
              <a:t>,true)</a:t>
            </a:r>
            <a:r>
              <a:rPr lang="en-US" altLang="zh-CN" sz="2000" dirty="0">
                <a:latin typeface="+mj-ea"/>
                <a:ea typeface="+mj-ea"/>
              </a:rPr>
              <a:t>;}    </a:t>
            </a:r>
          </a:p>
          <a:p>
            <a:pPr eaLnBrk="1" hangingPunct="1">
              <a:lnSpc>
                <a:spcPts val="2500"/>
              </a:lnSpc>
              <a:buFont typeface="Wingdings" panose="05000000000000000000" pitchFamily="2" charset="2"/>
              <a:buNone/>
              <a:defRPr/>
            </a:pPr>
            <a:r>
              <a:rPr lang="en-US" altLang="zh-CN" sz="2000" dirty="0">
                <a:latin typeface="+mj-ea"/>
                <a:ea typeface="+mj-ea"/>
              </a:rPr>
              <a:t>          </a:t>
            </a:r>
            <a:r>
              <a:rPr lang="en-US" altLang="zh-CN" sz="2000" dirty="0">
                <a:solidFill>
                  <a:srgbClr val="FF0000"/>
                </a:solidFill>
                <a:latin typeface="+mj-ea"/>
                <a:ea typeface="+mj-ea"/>
              </a:rPr>
              <a:t>if(</a:t>
            </a:r>
            <a:r>
              <a:rPr lang="en-US" altLang="zh-CN" sz="2000" dirty="0" err="1">
                <a:solidFill>
                  <a:srgbClr val="FF0000"/>
                </a:solidFill>
                <a:latin typeface="+mj-ea"/>
                <a:ea typeface="+mj-ea"/>
              </a:rPr>
              <a:t>cn+n-i</a:t>
            </a:r>
            <a:r>
              <a:rPr lang="en-US" altLang="zh-CN" sz="2000" dirty="0">
                <a:solidFill>
                  <a:srgbClr val="FF0000"/>
                </a:solidFill>
                <a:latin typeface="+mj-ea"/>
                <a:ea typeface="+mj-ea"/>
              </a:rPr>
              <a:t>&gt;=</a:t>
            </a:r>
            <a:r>
              <a:rPr lang="en-US" altLang="zh-CN" sz="2000" dirty="0" err="1">
                <a:solidFill>
                  <a:srgbClr val="FF0000"/>
                </a:solidFill>
                <a:latin typeface="+mj-ea"/>
                <a:ea typeface="+mj-ea"/>
              </a:rPr>
              <a:t>bestn</a:t>
            </a:r>
            <a:r>
              <a:rPr lang="en-US" altLang="zh-CN" sz="2000" dirty="0">
                <a:solidFill>
                  <a:srgbClr val="FF0000"/>
                </a:solidFill>
                <a:latin typeface="+mj-ea"/>
                <a:ea typeface="+mj-ea"/>
              </a:rPr>
              <a:t>) </a:t>
            </a:r>
            <a:r>
              <a:rPr lang="en-US" altLang="zh-CN" sz="2000" dirty="0">
                <a:latin typeface="+mj-ea"/>
                <a:ea typeface="+mj-ea"/>
              </a:rPr>
              <a:t>{  //</a:t>
            </a:r>
            <a:r>
              <a:rPr lang="zh-CN" altLang="en-US" sz="2000" dirty="0">
                <a:latin typeface="+mj-ea"/>
                <a:ea typeface="+mj-ea"/>
              </a:rPr>
              <a:t>右子树可能含有最优解  </a:t>
            </a:r>
            <a:endParaRPr lang="en-US" altLang="zh-CN" sz="2000" dirty="0">
              <a:latin typeface="+mj-ea"/>
              <a:ea typeface="+mj-ea"/>
            </a:endParaRPr>
          </a:p>
          <a:p>
            <a:pPr eaLnBrk="1" hangingPunct="1">
              <a:lnSpc>
                <a:spcPts val="2500"/>
              </a:lnSpc>
              <a:buFont typeface="Wingdings" panose="05000000000000000000" pitchFamily="2" charset="2"/>
              <a:buNone/>
              <a:defRPr/>
            </a:pPr>
            <a:r>
              <a:rPr lang="en-US" altLang="zh-CN" sz="2000" dirty="0">
                <a:latin typeface="+mj-ea"/>
                <a:ea typeface="+mj-ea"/>
              </a:rPr>
              <a:t>            </a:t>
            </a:r>
            <a:r>
              <a:rPr lang="en-US" altLang="zh-CN" sz="2000" u="sng" dirty="0" err="1">
                <a:latin typeface="+mj-ea"/>
                <a:ea typeface="+mj-ea"/>
              </a:rPr>
              <a:t>AddLiveNode</a:t>
            </a:r>
            <a:r>
              <a:rPr lang="en-US" altLang="zh-CN" sz="2000" u="sng" dirty="0">
                <a:latin typeface="+mj-ea"/>
                <a:ea typeface="+mj-ea"/>
              </a:rPr>
              <a:t>(H,cn,cn+n-i,i+1,E,false)</a:t>
            </a:r>
            <a:r>
              <a:rPr lang="en-US" altLang="zh-CN" sz="2000" dirty="0">
                <a:latin typeface="+mj-ea"/>
                <a:ea typeface="+mj-ea"/>
              </a:rPr>
              <a:t>; }    </a:t>
            </a:r>
          </a:p>
          <a:p>
            <a:pPr eaLnBrk="1" hangingPunct="1">
              <a:lnSpc>
                <a:spcPts val="2500"/>
              </a:lnSpc>
              <a:buFont typeface="Wingdings" panose="05000000000000000000" pitchFamily="2" charset="2"/>
              <a:buNone/>
              <a:defRPr/>
            </a:pPr>
            <a:r>
              <a:rPr lang="en-US" altLang="zh-CN" sz="2000" dirty="0">
                <a:latin typeface="+mj-ea"/>
                <a:ea typeface="+mj-ea"/>
              </a:rPr>
              <a:t>        //</a:t>
            </a:r>
            <a:r>
              <a:rPr lang="zh-CN" altLang="en-US" sz="2000" dirty="0">
                <a:latin typeface="+mj-ea"/>
                <a:ea typeface="+mj-ea"/>
              </a:rPr>
              <a:t>取下一扩展节点   （略）</a:t>
            </a:r>
            <a:r>
              <a:rPr lang="en-US" altLang="zh-CN" sz="2000" dirty="0">
                <a:latin typeface="+mj-ea"/>
                <a:ea typeface="+mj-ea"/>
              </a:rPr>
              <a:t>}  }</a:t>
            </a:r>
            <a:endParaRPr lang="zh-CN" altLang="en-US" sz="2000" dirty="0">
              <a:latin typeface="+mj-ea"/>
              <a:ea typeface="+mj-ea"/>
            </a:endParaRPr>
          </a:p>
          <a:p>
            <a:pPr>
              <a:lnSpc>
                <a:spcPts val="2500"/>
              </a:lnSpc>
              <a:spcBef>
                <a:spcPct val="0"/>
              </a:spcBef>
              <a:buFont typeface="Wingdings" panose="05000000000000000000" pitchFamily="2" charset="2"/>
              <a:buNone/>
              <a:defRPr/>
            </a:pPr>
            <a:r>
              <a:rPr lang="en-US" altLang="zh-CN" sz="2000" dirty="0">
                <a:latin typeface="+mj-ea"/>
                <a:ea typeface="+mj-ea"/>
              </a:rPr>
              <a:t> </a:t>
            </a:r>
            <a:endParaRPr lang="zh-CN" altLang="en-US" sz="2000" dirty="0">
              <a:latin typeface="+mj-ea"/>
              <a:ea typeface="+mj-ea"/>
            </a:endParaRPr>
          </a:p>
        </p:txBody>
      </p:sp>
      <p:sp>
        <p:nvSpPr>
          <p:cNvPr id="48131" name="灯片编号占位符 3">
            <a:extLst>
              <a:ext uri="{FF2B5EF4-FFF2-40B4-BE49-F238E27FC236}">
                <a16:creationId xmlns:a16="http://schemas.microsoft.com/office/drawing/2014/main" id="{88287DA2-BEFD-4474-89C8-751E0BCE9A20}"/>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727F419F-E4EC-44B5-BF3C-F4F04022DF44}" type="slidenum">
              <a:rPr lang="en-US" altLang="zh-CN" sz="1200">
                <a:solidFill>
                  <a:schemeClr val="tx1"/>
                </a:solidFill>
                <a:latin typeface="微软雅黑" panose="020B0503020204020204" pitchFamily="34" charset="-122"/>
                <a:ea typeface="微软雅黑" panose="020B0503020204020204" pitchFamily="34" charset="-122"/>
              </a:rPr>
              <a:pPr/>
              <a:t>39</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48132" name="Rectangle 2">
            <a:extLst>
              <a:ext uri="{FF2B5EF4-FFF2-40B4-BE49-F238E27FC236}">
                <a16:creationId xmlns:a16="http://schemas.microsoft.com/office/drawing/2014/main" id="{C70CEAC7-36F4-4078-835B-AAF5B3CD17A7}"/>
              </a:ext>
            </a:extLst>
          </p:cNvPr>
          <p:cNvSpPr>
            <a:spLocks noGrp="1" noChangeArrowheads="1"/>
          </p:cNvSpPr>
          <p:nvPr>
            <p:ph type="title"/>
          </p:nvPr>
        </p:nvSpPr>
        <p:spPr/>
        <p:txBody>
          <a:bodyPr/>
          <a:lstStyle/>
          <a:p>
            <a:pPr>
              <a:defRPr/>
            </a:pPr>
            <a:r>
              <a:rPr lang="zh-CN" altLang="en-US">
                <a:latin typeface="+mj-ea"/>
              </a:rPr>
              <a:t>6.6 最大团问题</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1">
            <a:extLst>
              <a:ext uri="{FF2B5EF4-FFF2-40B4-BE49-F238E27FC236}">
                <a16:creationId xmlns:a16="http://schemas.microsoft.com/office/drawing/2014/main" id="{04C48C73-4C82-471B-8D76-D93A93937D7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AB80BE5-4D43-4772-9890-91F3474DA133}"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40</a:t>
            </a:fld>
            <a:endParaRPr lang="en-US" altLang="zh-CN" sz="1200">
              <a:latin typeface="微软雅黑" panose="020B0503020204020204" pitchFamily="34" charset="-122"/>
              <a:ea typeface="微软雅黑" panose="020B0503020204020204" pitchFamily="34" charset="-122"/>
            </a:endParaRPr>
          </a:p>
        </p:txBody>
      </p:sp>
      <p:sp>
        <p:nvSpPr>
          <p:cNvPr id="49155" name="矩形 3">
            <a:extLst>
              <a:ext uri="{FF2B5EF4-FFF2-40B4-BE49-F238E27FC236}">
                <a16:creationId xmlns:a16="http://schemas.microsoft.com/office/drawing/2014/main" id="{6C3DAE88-6E41-46E4-B261-E293C47C1488}"/>
              </a:ext>
            </a:extLst>
          </p:cNvPr>
          <p:cNvSpPr>
            <a:spLocks noChangeArrowheads="1"/>
          </p:cNvSpPr>
          <p:nvPr/>
        </p:nvSpPr>
        <p:spPr bwMode="auto">
          <a:xfrm>
            <a:off x="571500" y="571500"/>
            <a:ext cx="2144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200" b="1">
                <a:latin typeface="+mj-ea"/>
                <a:ea typeface="+mj-ea"/>
              </a:rPr>
              <a:t>搜索过程</a:t>
            </a:r>
            <a:r>
              <a:rPr lang="en-US" altLang="zh-CN" sz="3200" b="1">
                <a:latin typeface="+mj-ea"/>
                <a:ea typeface="+mj-ea"/>
              </a:rPr>
              <a:t> </a:t>
            </a:r>
            <a:endParaRPr lang="zh-CN" altLang="en-US" b="1">
              <a:latin typeface="+mj-ea"/>
              <a:ea typeface="+mj-ea"/>
            </a:endParaRPr>
          </a:p>
        </p:txBody>
      </p:sp>
      <p:grpSp>
        <p:nvGrpSpPr>
          <p:cNvPr id="58372" name="组合 2">
            <a:extLst>
              <a:ext uri="{FF2B5EF4-FFF2-40B4-BE49-F238E27FC236}">
                <a16:creationId xmlns:a16="http://schemas.microsoft.com/office/drawing/2014/main" id="{7BB63707-E1A6-5870-4C97-708678255772}"/>
              </a:ext>
            </a:extLst>
          </p:cNvPr>
          <p:cNvGrpSpPr>
            <a:grpSpLocks/>
          </p:cNvGrpSpPr>
          <p:nvPr/>
        </p:nvGrpSpPr>
        <p:grpSpPr bwMode="auto">
          <a:xfrm>
            <a:off x="20638" y="1335088"/>
            <a:ext cx="9144000" cy="3744912"/>
            <a:chOff x="156095" y="1700808"/>
            <a:chExt cx="8987905" cy="3528392"/>
          </a:xfrm>
        </p:grpSpPr>
        <p:pic>
          <p:nvPicPr>
            <p:cNvPr id="58375" name="Picture 8" descr="四个顶点">
              <a:extLst>
                <a:ext uri="{FF2B5EF4-FFF2-40B4-BE49-F238E27FC236}">
                  <a16:creationId xmlns:a16="http://schemas.microsoft.com/office/drawing/2014/main" id="{C246E547-CD3B-EF87-E4C3-B6CC64AA54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095" y="1700808"/>
              <a:ext cx="8987905" cy="32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0" name="矩形 1">
              <a:extLst>
                <a:ext uri="{FF2B5EF4-FFF2-40B4-BE49-F238E27FC236}">
                  <a16:creationId xmlns:a16="http://schemas.microsoft.com/office/drawing/2014/main" id="{7E5D9FA1-5459-4FF2-AA53-426DC2750980}"/>
                </a:ext>
              </a:extLst>
            </p:cNvPr>
            <p:cNvSpPr>
              <a:spLocks noChangeArrowheads="1"/>
            </p:cNvSpPr>
            <p:nvPr/>
          </p:nvSpPr>
          <p:spPr bwMode="auto">
            <a:xfrm>
              <a:off x="8051720" y="4796939"/>
              <a:ext cx="1079797" cy="432261"/>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cs typeface="Times New Roman" panose="02020603050405020304" pitchFamily="18" charset="0"/>
              </a:endParaRPr>
            </a:p>
          </p:txBody>
        </p:sp>
      </p:grpSp>
      <p:sp>
        <p:nvSpPr>
          <p:cNvPr id="49157" name="矩形 3">
            <a:extLst>
              <a:ext uri="{FF2B5EF4-FFF2-40B4-BE49-F238E27FC236}">
                <a16:creationId xmlns:a16="http://schemas.microsoft.com/office/drawing/2014/main" id="{F8DB8818-00C5-4EA9-92B8-43310065DF28}"/>
              </a:ext>
            </a:extLst>
          </p:cNvPr>
          <p:cNvSpPr>
            <a:spLocks noChangeArrowheads="1"/>
          </p:cNvSpPr>
          <p:nvPr/>
        </p:nvSpPr>
        <p:spPr bwMode="auto">
          <a:xfrm>
            <a:off x="3132138" y="387350"/>
            <a:ext cx="564515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000">
                <a:solidFill>
                  <a:srgbClr val="000066"/>
                </a:solidFill>
                <a:latin typeface="Arial" panose="020B0604020202020204" pitchFamily="34" charset="0"/>
                <a:ea typeface="楷体_GB2312" pitchFamily="49" charset="-122"/>
              </a:defRPr>
            </a:lvl1pPr>
            <a:lvl2pPr>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lvl="1" eaLnBrk="1" hangingPunct="1">
              <a:spcBef>
                <a:spcPct val="20000"/>
              </a:spcBef>
              <a:buClr>
                <a:schemeClr val="accent1"/>
              </a:buClr>
              <a:buSzPct val="65000"/>
              <a:buFont typeface="Wingdings" panose="05000000000000000000" pitchFamily="2" charset="2"/>
              <a:buChar char="n"/>
              <a:defRPr/>
            </a:pPr>
            <a:r>
              <a:rPr lang="en-US" altLang="zh-CN" sz="2000">
                <a:solidFill>
                  <a:schemeClr val="tx1"/>
                </a:solidFill>
                <a:latin typeface="+mj-ea"/>
                <a:ea typeface="+mj-ea"/>
                <a:cs typeface="Times New Roman" panose="02020603050405020304" pitchFamily="18" charset="0"/>
              </a:rPr>
              <a:t>cn:</a:t>
            </a:r>
            <a:r>
              <a:rPr lang="zh-CN" altLang="en-US" sz="2000">
                <a:solidFill>
                  <a:schemeClr val="tx1"/>
                </a:solidFill>
                <a:latin typeface="+mj-ea"/>
                <a:ea typeface="+mj-ea"/>
                <a:cs typeface="Times New Roman" panose="02020603050405020304" pitchFamily="18" charset="0"/>
              </a:rPr>
              <a:t>当前已包含在顶点集中的顶点个数</a:t>
            </a:r>
            <a:endParaRPr lang="en-US" altLang="zh-CN" sz="2000">
              <a:solidFill>
                <a:schemeClr val="tx1"/>
              </a:solidFill>
              <a:latin typeface="+mj-ea"/>
              <a:ea typeface="+mj-ea"/>
              <a:cs typeface="Times New Roman" panose="02020603050405020304" pitchFamily="18" charset="0"/>
            </a:endParaRPr>
          </a:p>
          <a:p>
            <a:pPr lvl="1" eaLnBrk="1" hangingPunct="1">
              <a:spcBef>
                <a:spcPct val="20000"/>
              </a:spcBef>
              <a:buClr>
                <a:schemeClr val="accent1"/>
              </a:buClr>
              <a:buSzPct val="65000"/>
              <a:buFont typeface="Wingdings" panose="05000000000000000000" pitchFamily="2" charset="2"/>
              <a:buChar char="n"/>
              <a:defRPr/>
            </a:pPr>
            <a:r>
              <a:rPr lang="en-US" altLang="zh-CN" sz="2000">
                <a:solidFill>
                  <a:schemeClr val="tx1"/>
                </a:solidFill>
                <a:latin typeface="+mj-ea"/>
                <a:ea typeface="+mj-ea"/>
                <a:cs typeface="Times New Roman" panose="02020603050405020304" pitchFamily="18" charset="0"/>
              </a:rPr>
              <a:t>bestn:</a:t>
            </a:r>
            <a:r>
              <a:rPr lang="zh-CN" altLang="en-US" sz="2000">
                <a:solidFill>
                  <a:schemeClr val="tx1"/>
                </a:solidFill>
                <a:latin typeface="+mj-ea"/>
                <a:ea typeface="+mj-ea"/>
                <a:cs typeface="Times New Roman" panose="02020603050405020304" pitchFamily="18" charset="0"/>
              </a:rPr>
              <a:t>当前已找到包含最多的顶点个数</a:t>
            </a:r>
            <a:endParaRPr lang="zh-CN" altLang="en-US" sz="2000">
              <a:latin typeface="+mj-ea"/>
              <a:ea typeface="+mj-ea"/>
            </a:endParaRPr>
          </a:p>
        </p:txBody>
      </p:sp>
      <p:sp>
        <p:nvSpPr>
          <p:cNvPr id="49158" name="矩形 5">
            <a:extLst>
              <a:ext uri="{FF2B5EF4-FFF2-40B4-BE49-F238E27FC236}">
                <a16:creationId xmlns:a16="http://schemas.microsoft.com/office/drawing/2014/main" id="{F4A8D688-A2AC-40FE-BFB8-26F6E3B16DD3}"/>
              </a:ext>
            </a:extLst>
          </p:cNvPr>
          <p:cNvSpPr>
            <a:spLocks noChangeArrowheads="1"/>
          </p:cNvSpPr>
          <p:nvPr/>
        </p:nvSpPr>
        <p:spPr bwMode="auto">
          <a:xfrm>
            <a:off x="250825" y="5067300"/>
            <a:ext cx="8913813"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400" dirty="0">
                <a:latin typeface="+mj-ea"/>
                <a:ea typeface="+mj-ea"/>
                <a:cs typeface="Times New Roman" panose="02020603050405020304" pitchFamily="18" charset="0"/>
              </a:rPr>
              <a:t>优先队列元素变化：</a:t>
            </a:r>
            <a:r>
              <a:rPr lang="en-US" altLang="zh-CN" sz="2400" dirty="0">
                <a:latin typeface="+mj-ea"/>
                <a:ea typeface="+mj-ea"/>
                <a:cs typeface="Times New Roman" panose="02020603050405020304" pitchFamily="18" charset="0"/>
              </a:rPr>
              <a:t>{}—&gt;{</a:t>
            </a:r>
            <a:r>
              <a:rPr lang="en-US" altLang="zh-CN" sz="2400" dirty="0">
                <a:solidFill>
                  <a:srgbClr val="FF0000"/>
                </a:solidFill>
                <a:latin typeface="+mj-ea"/>
                <a:ea typeface="+mj-ea"/>
                <a:cs typeface="Times New Roman" panose="02020603050405020304" pitchFamily="18" charset="0"/>
              </a:rPr>
              <a:t>a</a:t>
            </a:r>
            <a:r>
              <a:rPr lang="en-US" altLang="zh-CN" sz="2400" dirty="0">
                <a:latin typeface="+mj-ea"/>
                <a:ea typeface="+mj-ea"/>
                <a:cs typeface="Times New Roman" panose="02020603050405020304" pitchFamily="18" charset="0"/>
              </a:rPr>
              <a:t>(4),b(3)}—&gt;{</a:t>
            </a:r>
            <a:r>
              <a:rPr lang="en-US" altLang="zh-CN" sz="2400" dirty="0">
                <a:solidFill>
                  <a:srgbClr val="FF0000"/>
                </a:solidFill>
                <a:latin typeface="+mj-ea"/>
                <a:ea typeface="+mj-ea"/>
                <a:cs typeface="Times New Roman" panose="02020603050405020304" pitchFamily="18" charset="0"/>
              </a:rPr>
              <a:t>c</a:t>
            </a:r>
            <a:r>
              <a:rPr lang="en-US" altLang="zh-CN" sz="2400" dirty="0">
                <a:latin typeface="+mj-ea"/>
                <a:ea typeface="+mj-ea"/>
                <a:cs typeface="Times New Roman" panose="02020603050405020304" pitchFamily="18" charset="0"/>
              </a:rPr>
              <a:t>(4),b(3),d(3)}—&gt; {</a:t>
            </a:r>
            <a:r>
              <a:rPr lang="en-US" altLang="zh-CN" sz="2400" dirty="0">
                <a:solidFill>
                  <a:srgbClr val="FF0000"/>
                </a:solidFill>
                <a:latin typeface="+mj-ea"/>
                <a:ea typeface="+mj-ea"/>
                <a:cs typeface="Times New Roman" panose="02020603050405020304" pitchFamily="18" charset="0"/>
              </a:rPr>
              <a:t>b</a:t>
            </a:r>
            <a:r>
              <a:rPr lang="en-US" altLang="zh-CN" sz="2400" dirty="0">
                <a:latin typeface="+mj-ea"/>
                <a:ea typeface="+mj-ea"/>
                <a:cs typeface="Times New Roman" panose="02020603050405020304" pitchFamily="18" charset="0"/>
              </a:rPr>
              <a:t>(3),d(3),h(3)}—&gt;{</a:t>
            </a:r>
            <a:r>
              <a:rPr lang="en-US" altLang="zh-CN" sz="2400" dirty="0">
                <a:solidFill>
                  <a:srgbClr val="FF0000"/>
                </a:solidFill>
                <a:latin typeface="+mj-ea"/>
                <a:ea typeface="+mj-ea"/>
                <a:cs typeface="Times New Roman" panose="02020603050405020304" pitchFamily="18" charset="0"/>
              </a:rPr>
              <a:t>d</a:t>
            </a:r>
            <a:r>
              <a:rPr lang="en-US" altLang="zh-CN" sz="2400" dirty="0">
                <a:latin typeface="+mj-ea"/>
                <a:ea typeface="+mj-ea"/>
                <a:cs typeface="Times New Roman" panose="02020603050405020304" pitchFamily="18" charset="0"/>
              </a:rPr>
              <a:t>(3),h(3),e(3),f(2)} —&gt; {</a:t>
            </a:r>
            <a:r>
              <a:rPr lang="en-US" altLang="zh-CN" sz="2400" dirty="0">
                <a:solidFill>
                  <a:srgbClr val="FF0000"/>
                </a:solidFill>
                <a:latin typeface="+mj-ea"/>
                <a:ea typeface="+mj-ea"/>
                <a:cs typeface="Times New Roman" panose="02020603050405020304" pitchFamily="18" charset="0"/>
              </a:rPr>
              <a:t>h</a:t>
            </a:r>
            <a:r>
              <a:rPr lang="en-US" altLang="zh-CN" sz="2400" dirty="0">
                <a:latin typeface="+mj-ea"/>
                <a:ea typeface="+mj-ea"/>
                <a:cs typeface="Times New Roman" panose="02020603050405020304" pitchFamily="18" charset="0"/>
              </a:rPr>
              <a:t>(3),e(3),</a:t>
            </a:r>
            <a:r>
              <a:rPr lang="en-US" altLang="zh-CN" sz="2400" dirty="0" err="1">
                <a:latin typeface="+mj-ea"/>
                <a:ea typeface="+mj-ea"/>
                <a:cs typeface="Times New Roman" panose="02020603050405020304" pitchFamily="18" charset="0"/>
              </a:rPr>
              <a:t>i</a:t>
            </a:r>
            <a:r>
              <a:rPr lang="en-US" altLang="zh-CN" sz="2400" dirty="0">
                <a:latin typeface="+mj-ea"/>
                <a:ea typeface="+mj-ea"/>
                <a:cs typeface="Times New Roman" panose="02020603050405020304" pitchFamily="18" charset="0"/>
              </a:rPr>
              <a:t>(3),f(2),j(2)} —&gt;{</a:t>
            </a:r>
            <a:r>
              <a:rPr lang="en-US" altLang="zh-CN" sz="2400" dirty="0">
                <a:solidFill>
                  <a:srgbClr val="FF0000"/>
                </a:solidFill>
                <a:latin typeface="+mj-ea"/>
                <a:ea typeface="+mj-ea"/>
                <a:cs typeface="Times New Roman" panose="02020603050405020304" pitchFamily="18" charset="0"/>
              </a:rPr>
              <a:t>s</a:t>
            </a:r>
            <a:r>
              <a:rPr lang="en-US" altLang="zh-CN" sz="2400" dirty="0">
                <a:latin typeface="+mj-ea"/>
                <a:ea typeface="+mj-ea"/>
                <a:cs typeface="Times New Roman" panose="02020603050405020304" pitchFamily="18" charset="0"/>
              </a:rPr>
              <a:t>(3),e(3),</a:t>
            </a:r>
            <a:r>
              <a:rPr lang="en-US" altLang="zh-CN" sz="2400" dirty="0" err="1">
                <a:latin typeface="+mj-ea"/>
                <a:ea typeface="+mj-ea"/>
                <a:cs typeface="Times New Roman" panose="02020603050405020304" pitchFamily="18" charset="0"/>
              </a:rPr>
              <a:t>i</a:t>
            </a:r>
            <a:r>
              <a:rPr lang="en-US" altLang="zh-CN" sz="2400" dirty="0">
                <a:latin typeface="+mj-ea"/>
                <a:ea typeface="+mj-ea"/>
                <a:cs typeface="Times New Roman" panose="02020603050405020304" pitchFamily="18" charset="0"/>
              </a:rPr>
              <a:t>(3),f(2),j(2)}</a:t>
            </a:r>
            <a:endParaRPr lang="zh-CN" altLang="en-US" sz="2400" dirty="0">
              <a:latin typeface="+mj-ea"/>
              <a:ea typeface="+mj-ea"/>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41450098-F43A-4392-8685-D8B0BF88E21A}"/>
              </a:ext>
            </a:extLst>
          </p:cNvPr>
          <p:cNvSpPr>
            <a:spLocks noGrp="1" noChangeArrowheads="1"/>
          </p:cNvSpPr>
          <p:nvPr>
            <p:ph idx="1"/>
          </p:nvPr>
        </p:nvSpPr>
        <p:spPr>
          <a:xfrm>
            <a:off x="428625" y="571500"/>
            <a:ext cx="8472488" cy="5391150"/>
          </a:xfrm>
        </p:spPr>
        <p:txBody>
          <a:bodyPr/>
          <a:lstStyle/>
          <a:p>
            <a:pPr>
              <a:lnSpc>
                <a:spcPct val="150000"/>
              </a:lnSpc>
              <a:defRPr/>
            </a:pPr>
            <a:r>
              <a:rPr lang="zh-CN" altLang="en-US" sz="2800" b="1" dirty="0">
                <a:latin typeface="+mj-ea"/>
                <a:ea typeface="+mj-ea"/>
              </a:rPr>
              <a:t>通过应用范例学习分支限界法的设计策略。</a:t>
            </a: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1</a:t>
            </a:r>
            <a:r>
              <a:rPr lang="zh-CN" altLang="en-US" sz="2800" b="1" dirty="0">
                <a:latin typeface="+mj-ea"/>
                <a:ea typeface="+mj-ea"/>
              </a:rPr>
              <a:t>）装载问题；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2</a:t>
            </a:r>
            <a:r>
              <a:rPr lang="zh-CN" altLang="en-US" sz="2800" b="1" dirty="0">
                <a:latin typeface="+mj-ea"/>
                <a:ea typeface="+mj-ea"/>
              </a:rPr>
              <a:t>）</a:t>
            </a:r>
            <a:r>
              <a:rPr lang="en-US" altLang="zh-CN" sz="2800" b="1" dirty="0">
                <a:latin typeface="+mj-ea"/>
                <a:ea typeface="+mj-ea"/>
              </a:rPr>
              <a:t>0-1</a:t>
            </a:r>
            <a:r>
              <a:rPr lang="zh-CN" altLang="en-US" sz="2800" b="1" dirty="0">
                <a:latin typeface="+mj-ea"/>
                <a:ea typeface="+mj-ea"/>
              </a:rPr>
              <a:t>背包问题；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3</a:t>
            </a:r>
            <a:r>
              <a:rPr lang="zh-CN" altLang="en-US" sz="2800" b="1" dirty="0">
                <a:latin typeface="+mj-ea"/>
                <a:ea typeface="+mj-ea"/>
              </a:rPr>
              <a:t>）最大团问题；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4</a:t>
            </a:r>
            <a:r>
              <a:rPr lang="zh-CN" altLang="en-US" sz="2800" b="1" dirty="0">
                <a:latin typeface="+mj-ea"/>
                <a:ea typeface="+mj-ea"/>
              </a:rPr>
              <a:t>）旅行售货员问题；</a:t>
            </a: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5</a:t>
            </a:r>
            <a:r>
              <a:rPr lang="zh-CN" altLang="en-US" sz="2800" b="1" dirty="0">
                <a:latin typeface="+mj-ea"/>
                <a:ea typeface="+mj-ea"/>
              </a:rPr>
              <a:t>）单源最短路问题；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6</a:t>
            </a:r>
            <a:r>
              <a:rPr lang="zh-CN" altLang="en-US" sz="2800" b="1" dirty="0">
                <a:latin typeface="+mj-ea"/>
                <a:ea typeface="+mj-ea"/>
              </a:rPr>
              <a:t>）批处理作业调度问题</a:t>
            </a:r>
            <a:endParaRPr lang="zh-CN" altLang="en-US" sz="2800" b="1" dirty="0">
              <a:solidFill>
                <a:srgbClr val="FF0000"/>
              </a:solidFill>
              <a:latin typeface="+mj-ea"/>
              <a:ea typeface="+mj-ea"/>
            </a:endParaRPr>
          </a:p>
        </p:txBody>
      </p:sp>
      <p:sp>
        <p:nvSpPr>
          <p:cNvPr id="51203" name="灯片编号占位符 4">
            <a:extLst>
              <a:ext uri="{FF2B5EF4-FFF2-40B4-BE49-F238E27FC236}">
                <a16:creationId xmlns:a16="http://schemas.microsoft.com/office/drawing/2014/main" id="{043B3F92-0848-488B-A8C6-6852A2C7478C}"/>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EE919EA-F144-4812-BCC4-43E0E4DD25EE}"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41</a:t>
            </a:fld>
            <a:endParaRPr lang="en-US" altLang="zh-CN" sz="1200">
              <a:latin typeface="微软雅黑" panose="020B0503020204020204" pitchFamily="34" charset="-122"/>
              <a:ea typeface="微软雅黑" panose="020B0503020204020204" pitchFamily="34" charset="-122"/>
            </a:endParaRPr>
          </a:p>
        </p:txBody>
      </p:sp>
      <p:sp>
        <p:nvSpPr>
          <p:cNvPr id="51204" name="矩形 1">
            <a:extLst>
              <a:ext uri="{FF2B5EF4-FFF2-40B4-BE49-F238E27FC236}">
                <a16:creationId xmlns:a16="http://schemas.microsoft.com/office/drawing/2014/main" id="{21FA4A40-C90A-40DB-823B-150D63B47955}"/>
              </a:ext>
            </a:extLst>
          </p:cNvPr>
          <p:cNvSpPr>
            <a:spLocks noChangeArrowheads="1"/>
          </p:cNvSpPr>
          <p:nvPr/>
        </p:nvSpPr>
        <p:spPr bwMode="auto">
          <a:xfrm>
            <a:off x="5364163" y="1989138"/>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dirty="0">
                <a:solidFill>
                  <a:srgbClr val="FF0000"/>
                </a:solidFill>
                <a:latin typeface="+mj-ea"/>
                <a:ea typeface="+mj-ea"/>
              </a:rPr>
              <a:t>子集树</a:t>
            </a:r>
            <a:endParaRPr lang="zh-CN" altLang="en-US" dirty="0">
              <a:solidFill>
                <a:srgbClr val="FF0000"/>
              </a:solidFill>
              <a:latin typeface="+mj-ea"/>
              <a:ea typeface="+mj-ea"/>
            </a:endParaRPr>
          </a:p>
        </p:txBody>
      </p:sp>
      <p:sp>
        <p:nvSpPr>
          <p:cNvPr id="51205" name="矩形 4">
            <a:extLst>
              <a:ext uri="{FF2B5EF4-FFF2-40B4-BE49-F238E27FC236}">
                <a16:creationId xmlns:a16="http://schemas.microsoft.com/office/drawing/2014/main" id="{17C3E746-6880-4FE3-A942-C98AF443D24B}"/>
              </a:ext>
            </a:extLst>
          </p:cNvPr>
          <p:cNvSpPr>
            <a:spLocks noChangeArrowheads="1"/>
          </p:cNvSpPr>
          <p:nvPr/>
        </p:nvSpPr>
        <p:spPr bwMode="auto">
          <a:xfrm>
            <a:off x="5651500" y="3500438"/>
            <a:ext cx="14160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a:latin typeface="+mj-ea"/>
                <a:ea typeface="+mj-ea"/>
              </a:rPr>
              <a:t>排列树</a:t>
            </a:r>
            <a:endParaRPr lang="zh-CN" altLang="en-US">
              <a:latin typeface="+mj-ea"/>
              <a:ea typeface="+mj-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D31C110D-2D77-4423-A96A-DB92F5F43789}"/>
              </a:ext>
            </a:extLst>
          </p:cNvPr>
          <p:cNvSpPr>
            <a:spLocks noGrp="1" noChangeArrowheads="1"/>
          </p:cNvSpPr>
          <p:nvPr>
            <p:ph idx="1"/>
          </p:nvPr>
        </p:nvSpPr>
        <p:spPr>
          <a:xfrm>
            <a:off x="428625" y="571500"/>
            <a:ext cx="8472488" cy="5391150"/>
          </a:xfrm>
        </p:spPr>
        <p:txBody>
          <a:bodyPr/>
          <a:lstStyle/>
          <a:p>
            <a:pPr>
              <a:lnSpc>
                <a:spcPct val="150000"/>
              </a:lnSpc>
              <a:defRPr/>
            </a:pPr>
            <a:r>
              <a:rPr lang="zh-CN" altLang="en-US" sz="2800" b="1" dirty="0">
                <a:latin typeface="+mj-ea"/>
                <a:ea typeface="+mj-ea"/>
              </a:rPr>
              <a:t>通过应用范例学习分支限界法的设计策略。</a:t>
            </a: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1</a:t>
            </a:r>
            <a:r>
              <a:rPr lang="zh-CN" altLang="en-US" sz="2800" b="1" dirty="0">
                <a:latin typeface="+mj-ea"/>
                <a:ea typeface="+mj-ea"/>
              </a:rPr>
              <a:t>）装载问题；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2</a:t>
            </a:r>
            <a:r>
              <a:rPr lang="zh-CN" altLang="en-US" sz="2800" b="1" dirty="0">
                <a:latin typeface="+mj-ea"/>
                <a:ea typeface="+mj-ea"/>
              </a:rPr>
              <a:t>）</a:t>
            </a:r>
            <a:r>
              <a:rPr lang="en-US" altLang="zh-CN" sz="2800" b="1" dirty="0">
                <a:latin typeface="+mj-ea"/>
                <a:ea typeface="+mj-ea"/>
              </a:rPr>
              <a:t>0-1</a:t>
            </a:r>
            <a:r>
              <a:rPr lang="zh-CN" altLang="en-US" sz="2800" b="1" dirty="0">
                <a:latin typeface="+mj-ea"/>
                <a:ea typeface="+mj-ea"/>
              </a:rPr>
              <a:t>背包问题；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3</a:t>
            </a:r>
            <a:r>
              <a:rPr lang="zh-CN" altLang="en-US" sz="2800" b="1" dirty="0">
                <a:latin typeface="+mj-ea"/>
                <a:ea typeface="+mj-ea"/>
              </a:rPr>
              <a:t>）最大团问题；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4</a:t>
            </a:r>
            <a:r>
              <a:rPr lang="zh-CN" altLang="en-US" sz="2800" b="1" dirty="0">
                <a:latin typeface="+mj-ea"/>
                <a:ea typeface="+mj-ea"/>
              </a:rPr>
              <a:t>）</a:t>
            </a:r>
            <a:r>
              <a:rPr lang="zh-CN" altLang="en-US" sz="2800" b="1" dirty="0">
                <a:solidFill>
                  <a:srgbClr val="FF0000"/>
                </a:solidFill>
                <a:latin typeface="+mj-ea"/>
                <a:ea typeface="+mj-ea"/>
              </a:rPr>
              <a:t>旅行售货员问题</a:t>
            </a:r>
            <a:r>
              <a:rPr lang="zh-CN" altLang="en-US" sz="2800" b="1" dirty="0">
                <a:latin typeface="+mj-ea"/>
                <a:ea typeface="+mj-ea"/>
              </a:rPr>
              <a:t>；</a:t>
            </a: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5</a:t>
            </a:r>
            <a:r>
              <a:rPr lang="zh-CN" altLang="en-US" sz="2800" b="1" dirty="0">
                <a:latin typeface="+mj-ea"/>
                <a:ea typeface="+mj-ea"/>
              </a:rPr>
              <a:t>）单源最短路问题；</a:t>
            </a:r>
            <a:endParaRPr lang="en-US" altLang="zh-CN" sz="2800" b="1" dirty="0">
              <a:latin typeface="+mj-ea"/>
              <a:ea typeface="+mj-ea"/>
            </a:endParaRPr>
          </a:p>
          <a:p>
            <a:pPr>
              <a:lnSpc>
                <a:spcPct val="150000"/>
              </a:lnSpc>
              <a:buFont typeface="Wingdings" panose="05000000000000000000" pitchFamily="2" charset="2"/>
              <a:buNone/>
              <a:defRPr/>
            </a:pPr>
            <a:r>
              <a:rPr lang="zh-CN" altLang="en-US" sz="2800" b="1" dirty="0">
                <a:latin typeface="+mj-ea"/>
                <a:ea typeface="+mj-ea"/>
              </a:rPr>
              <a:t>（</a:t>
            </a:r>
            <a:r>
              <a:rPr lang="en-US" altLang="zh-CN" sz="2800" b="1" dirty="0">
                <a:latin typeface="+mj-ea"/>
                <a:ea typeface="+mj-ea"/>
              </a:rPr>
              <a:t>6</a:t>
            </a:r>
            <a:r>
              <a:rPr lang="zh-CN" altLang="en-US" sz="2800" b="1" dirty="0">
                <a:latin typeface="+mj-ea"/>
                <a:ea typeface="+mj-ea"/>
              </a:rPr>
              <a:t>）批处理作业调度问题</a:t>
            </a:r>
            <a:endParaRPr lang="zh-CN" altLang="en-US" sz="2800" b="1" dirty="0">
              <a:solidFill>
                <a:srgbClr val="FF0000"/>
              </a:solidFill>
              <a:latin typeface="+mj-ea"/>
              <a:ea typeface="+mj-ea"/>
            </a:endParaRPr>
          </a:p>
        </p:txBody>
      </p:sp>
      <p:sp>
        <p:nvSpPr>
          <p:cNvPr id="51203" name="灯片编号占位符 4">
            <a:extLst>
              <a:ext uri="{FF2B5EF4-FFF2-40B4-BE49-F238E27FC236}">
                <a16:creationId xmlns:a16="http://schemas.microsoft.com/office/drawing/2014/main" id="{A725DE7C-ADF8-4807-9D04-4A591E41747F}"/>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8A0F735-572F-4BD2-90D8-9FB8BFB33BBB}"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42</a:t>
            </a:fld>
            <a:endParaRPr lang="en-US" altLang="zh-CN" sz="1200">
              <a:latin typeface="微软雅黑" panose="020B0503020204020204" pitchFamily="34" charset="-122"/>
              <a:ea typeface="微软雅黑" panose="020B0503020204020204" pitchFamily="34" charset="-122"/>
            </a:endParaRPr>
          </a:p>
        </p:txBody>
      </p:sp>
      <p:sp>
        <p:nvSpPr>
          <p:cNvPr id="51204" name="矩形 1">
            <a:extLst>
              <a:ext uri="{FF2B5EF4-FFF2-40B4-BE49-F238E27FC236}">
                <a16:creationId xmlns:a16="http://schemas.microsoft.com/office/drawing/2014/main" id="{21BCAFBA-2889-45F4-9E68-9EF21F5CF5FF}"/>
              </a:ext>
            </a:extLst>
          </p:cNvPr>
          <p:cNvSpPr>
            <a:spLocks noChangeArrowheads="1"/>
          </p:cNvSpPr>
          <p:nvPr/>
        </p:nvSpPr>
        <p:spPr bwMode="auto">
          <a:xfrm>
            <a:off x="5364163" y="1989138"/>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a:latin typeface="+mj-ea"/>
                <a:ea typeface="+mj-ea"/>
              </a:rPr>
              <a:t>子集树</a:t>
            </a:r>
            <a:endParaRPr lang="zh-CN" altLang="en-US">
              <a:latin typeface="+mj-ea"/>
              <a:ea typeface="+mj-ea"/>
            </a:endParaRPr>
          </a:p>
        </p:txBody>
      </p:sp>
      <p:sp>
        <p:nvSpPr>
          <p:cNvPr id="51205" name="矩形 4">
            <a:extLst>
              <a:ext uri="{FF2B5EF4-FFF2-40B4-BE49-F238E27FC236}">
                <a16:creationId xmlns:a16="http://schemas.microsoft.com/office/drawing/2014/main" id="{4776905F-5763-4CBD-B3D5-494984FF02BC}"/>
              </a:ext>
            </a:extLst>
          </p:cNvPr>
          <p:cNvSpPr>
            <a:spLocks noChangeArrowheads="1"/>
          </p:cNvSpPr>
          <p:nvPr/>
        </p:nvSpPr>
        <p:spPr bwMode="auto">
          <a:xfrm>
            <a:off x="5651500" y="3500438"/>
            <a:ext cx="14160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a:latin typeface="+mj-ea"/>
                <a:ea typeface="+mj-ea"/>
              </a:rPr>
              <a:t>排列树</a:t>
            </a:r>
            <a:endParaRPr lang="zh-CN" altLang="en-US">
              <a:latin typeface="+mj-ea"/>
              <a:ea typeface="+mj-ea"/>
            </a:endParaRPr>
          </a:p>
        </p:txBody>
      </p:sp>
      <p:sp>
        <p:nvSpPr>
          <p:cNvPr id="2" name="矩形 1">
            <a:extLst>
              <a:ext uri="{FF2B5EF4-FFF2-40B4-BE49-F238E27FC236}">
                <a16:creationId xmlns:a16="http://schemas.microsoft.com/office/drawing/2014/main" id="{7785F95E-CD95-981D-3F02-9ED62C196768}"/>
              </a:ext>
            </a:extLst>
          </p:cNvPr>
          <p:cNvSpPr>
            <a:spLocks noChangeArrowheads="1"/>
          </p:cNvSpPr>
          <p:nvPr/>
        </p:nvSpPr>
        <p:spPr bwMode="auto">
          <a:xfrm>
            <a:off x="755650" y="6180138"/>
            <a:ext cx="75993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3200">
                <a:latin typeface="微软雅黑" panose="020B0503020204020204" pitchFamily="34" charset="-122"/>
                <a:ea typeface="微软雅黑" panose="020B0503020204020204" pitchFamily="34" charset="-122"/>
              </a:rPr>
              <a:t>为什么分支限界算法不讨论时间复杂度？</a:t>
            </a:r>
            <a:endParaRPr lang="zh-CN" altLang="en-US">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a:extLst>
              <a:ext uri="{FF2B5EF4-FFF2-40B4-BE49-F238E27FC236}">
                <a16:creationId xmlns:a16="http://schemas.microsoft.com/office/drawing/2014/main" id="{BEB276B2-F9CD-4AB1-B290-7A3D57603261}"/>
              </a:ext>
            </a:extLst>
          </p:cNvPr>
          <p:cNvSpPr>
            <a:spLocks noGrp="1" noChangeArrowheads="1"/>
          </p:cNvSpPr>
          <p:nvPr>
            <p:ph type="body" idx="1"/>
          </p:nvPr>
        </p:nvSpPr>
        <p:spPr>
          <a:xfrm>
            <a:off x="250825" y="1020763"/>
            <a:ext cx="8715375" cy="4786312"/>
          </a:xfrm>
        </p:spPr>
        <p:txBody>
          <a:bodyPr/>
          <a:lstStyle/>
          <a:p>
            <a:pPr>
              <a:lnSpc>
                <a:spcPct val="90000"/>
              </a:lnSpc>
              <a:defRPr/>
            </a:pPr>
            <a:r>
              <a:rPr lang="en-US" altLang="zh-CN" dirty="0">
                <a:latin typeface="+mj-ea"/>
                <a:ea typeface="+mj-ea"/>
              </a:rPr>
              <a:t>1. </a:t>
            </a:r>
            <a:r>
              <a:rPr lang="zh-CN" altLang="en-US" dirty="0">
                <a:latin typeface="+mj-ea"/>
                <a:ea typeface="+mj-ea"/>
              </a:rPr>
              <a:t>问题描述</a:t>
            </a:r>
            <a:endParaRPr lang="en-US" altLang="zh-CN" dirty="0">
              <a:latin typeface="+mj-ea"/>
              <a:ea typeface="+mj-ea"/>
            </a:endParaRPr>
          </a:p>
          <a:p>
            <a:pPr marL="342900" lvl="1" indent="20638">
              <a:lnSpc>
                <a:spcPct val="90000"/>
              </a:lnSpc>
              <a:buClr>
                <a:schemeClr val="accent1"/>
              </a:buClr>
              <a:buSzPct val="65000"/>
              <a:buFont typeface="Wingdings" panose="05000000000000000000" pitchFamily="2" charset="2"/>
              <a:buNone/>
              <a:defRPr/>
            </a:pPr>
            <a:r>
              <a:rPr lang="zh-CN" altLang="en-US" dirty="0">
                <a:latin typeface="+mj-ea"/>
                <a:ea typeface="+mj-ea"/>
              </a:rPr>
              <a:t>设有</a:t>
            </a:r>
            <a:r>
              <a:rPr lang="en-US" altLang="zh-CN" dirty="0">
                <a:latin typeface="+mj-ea"/>
                <a:ea typeface="+mj-ea"/>
              </a:rPr>
              <a:t>n</a:t>
            </a:r>
            <a:r>
              <a:rPr lang="zh-CN" altLang="en-US" dirty="0">
                <a:latin typeface="+mj-ea"/>
                <a:ea typeface="+mj-ea"/>
              </a:rPr>
              <a:t>个城市组成的交通图，一个售货员</a:t>
            </a:r>
            <a:r>
              <a:rPr lang="zh-CN" altLang="en-US" u="sng" dirty="0">
                <a:latin typeface="+mj-ea"/>
                <a:ea typeface="+mj-ea"/>
              </a:rPr>
              <a:t>从驻地城市出发</a:t>
            </a:r>
            <a:r>
              <a:rPr lang="zh-CN" altLang="en-US" dirty="0">
                <a:latin typeface="+mj-ea"/>
                <a:ea typeface="+mj-ea"/>
              </a:rPr>
              <a:t>，</a:t>
            </a:r>
            <a:r>
              <a:rPr lang="zh-CN" altLang="en-US" u="sng" dirty="0">
                <a:latin typeface="+mj-ea"/>
                <a:ea typeface="+mj-ea"/>
              </a:rPr>
              <a:t>到其它城市各一次</a:t>
            </a:r>
            <a:r>
              <a:rPr lang="zh-CN" altLang="en-US" dirty="0">
                <a:latin typeface="+mj-ea"/>
                <a:ea typeface="+mj-ea"/>
              </a:rPr>
              <a:t>去推销货物，</a:t>
            </a:r>
            <a:r>
              <a:rPr lang="zh-CN" altLang="en-US" u="sng" dirty="0">
                <a:latin typeface="+mj-ea"/>
                <a:ea typeface="+mj-ea"/>
              </a:rPr>
              <a:t>最后回到驻地城市</a:t>
            </a:r>
            <a:r>
              <a:rPr lang="zh-CN" altLang="en-US" dirty="0">
                <a:latin typeface="+mj-ea"/>
                <a:ea typeface="+mj-ea"/>
              </a:rPr>
              <a:t>。假定任意两个城市</a:t>
            </a:r>
            <a:r>
              <a:rPr lang="en-US" altLang="zh-CN" dirty="0" err="1">
                <a:latin typeface="+mj-ea"/>
                <a:ea typeface="+mj-ea"/>
              </a:rPr>
              <a:t>i</a:t>
            </a:r>
            <a:r>
              <a:rPr lang="zh-CN" altLang="en-US" dirty="0">
                <a:latin typeface="+mj-ea"/>
                <a:ea typeface="+mj-ea"/>
              </a:rPr>
              <a:t>，</a:t>
            </a:r>
            <a:r>
              <a:rPr lang="en-US" altLang="zh-CN" dirty="0">
                <a:latin typeface="+mj-ea"/>
                <a:ea typeface="+mj-ea"/>
              </a:rPr>
              <a:t>j</a:t>
            </a:r>
            <a:r>
              <a:rPr lang="zh-CN" altLang="en-US" dirty="0">
                <a:latin typeface="+mj-ea"/>
                <a:ea typeface="+mj-ea"/>
              </a:rPr>
              <a:t>之间的距离</a:t>
            </a:r>
            <a:r>
              <a:rPr lang="en-US" altLang="zh-CN" dirty="0" err="1">
                <a:latin typeface="+mj-ea"/>
                <a:ea typeface="+mj-ea"/>
              </a:rPr>
              <a:t>d</a:t>
            </a:r>
            <a:r>
              <a:rPr lang="en-US" altLang="zh-CN" baseline="-25000" dirty="0" err="1">
                <a:latin typeface="+mj-ea"/>
                <a:ea typeface="+mj-ea"/>
              </a:rPr>
              <a:t>ij</a:t>
            </a:r>
            <a:r>
              <a:rPr lang="en-US" altLang="zh-CN" dirty="0">
                <a:latin typeface="+mj-ea"/>
                <a:ea typeface="+mj-ea"/>
              </a:rPr>
              <a:t> (</a:t>
            </a:r>
            <a:r>
              <a:rPr lang="en-US" altLang="zh-CN" dirty="0" err="1">
                <a:latin typeface="+mj-ea"/>
                <a:ea typeface="+mj-ea"/>
              </a:rPr>
              <a:t>d</a:t>
            </a:r>
            <a:r>
              <a:rPr lang="en-US" altLang="zh-CN" baseline="-25000" dirty="0" err="1">
                <a:latin typeface="+mj-ea"/>
                <a:ea typeface="+mj-ea"/>
              </a:rPr>
              <a:t>ij</a:t>
            </a:r>
            <a:r>
              <a:rPr lang="en-US" altLang="zh-CN" dirty="0">
                <a:latin typeface="+mj-ea"/>
                <a:ea typeface="+mj-ea"/>
              </a:rPr>
              <a:t>=</a:t>
            </a:r>
            <a:r>
              <a:rPr lang="en-US" altLang="zh-CN" dirty="0" err="1">
                <a:latin typeface="+mj-ea"/>
                <a:ea typeface="+mj-ea"/>
              </a:rPr>
              <a:t>d</a:t>
            </a:r>
            <a:r>
              <a:rPr lang="en-US" altLang="zh-CN" baseline="-25000" dirty="0" err="1">
                <a:latin typeface="+mj-ea"/>
                <a:ea typeface="+mj-ea"/>
              </a:rPr>
              <a:t>ji</a:t>
            </a:r>
            <a:r>
              <a:rPr lang="en-US" altLang="zh-CN" dirty="0">
                <a:latin typeface="+mj-ea"/>
                <a:ea typeface="+mj-ea"/>
              </a:rPr>
              <a:t>)</a:t>
            </a:r>
            <a:r>
              <a:rPr lang="zh-CN" altLang="en-US" dirty="0">
                <a:latin typeface="+mj-ea"/>
                <a:ea typeface="+mj-ea"/>
              </a:rPr>
              <a:t>是已知的，问应该怎样选择一条</a:t>
            </a:r>
            <a:r>
              <a:rPr lang="zh-CN" altLang="en-US" u="sng" dirty="0">
                <a:latin typeface="+mj-ea"/>
                <a:ea typeface="+mj-ea"/>
              </a:rPr>
              <a:t>最短（或总旅费最小）</a:t>
            </a:r>
            <a:r>
              <a:rPr lang="zh-CN" altLang="en-US" dirty="0">
                <a:latin typeface="+mj-ea"/>
                <a:ea typeface="+mj-ea"/>
              </a:rPr>
              <a:t>的路线？</a:t>
            </a:r>
            <a:endParaRPr lang="en-US" altLang="zh-CN" dirty="0">
              <a:latin typeface="+mj-ea"/>
              <a:ea typeface="+mj-ea"/>
            </a:endParaRPr>
          </a:p>
          <a:p>
            <a:pPr>
              <a:lnSpc>
                <a:spcPct val="90000"/>
              </a:lnSpc>
              <a:buFont typeface="Wingdings" panose="05000000000000000000" pitchFamily="2" charset="2"/>
              <a:buNone/>
              <a:defRPr/>
            </a:pPr>
            <a:endParaRPr lang="en-US" altLang="zh-CN" dirty="0">
              <a:latin typeface="+mj-ea"/>
              <a:ea typeface="+mj-ea"/>
            </a:endParaRPr>
          </a:p>
          <a:p>
            <a:pPr marL="342900" lvl="1" indent="-342900">
              <a:lnSpc>
                <a:spcPct val="90000"/>
              </a:lnSpc>
              <a:buClr>
                <a:schemeClr val="accent1"/>
              </a:buClr>
              <a:buSzPct val="65000"/>
              <a:buFont typeface="Wingdings" panose="05000000000000000000" pitchFamily="2" charset="2"/>
              <a:buChar char="n"/>
              <a:defRPr/>
            </a:pPr>
            <a:r>
              <a:rPr lang="zh-CN" altLang="en-US" sz="3000" dirty="0">
                <a:latin typeface="+mj-ea"/>
                <a:ea typeface="+mj-ea"/>
                <a:cs typeface="+mn-cs"/>
              </a:rPr>
              <a:t>定义问题的解空间</a:t>
            </a:r>
            <a:endParaRPr lang="en-US" altLang="zh-CN" dirty="0">
              <a:latin typeface="+mj-ea"/>
              <a:ea typeface="+mj-ea"/>
            </a:endParaRPr>
          </a:p>
          <a:p>
            <a:pPr lvl="1">
              <a:lnSpc>
                <a:spcPct val="90000"/>
              </a:lnSpc>
              <a:defRPr/>
            </a:pPr>
            <a:r>
              <a:rPr lang="zh-CN" altLang="en-US" dirty="0">
                <a:latin typeface="+mj-ea"/>
                <a:ea typeface="+mj-ea"/>
              </a:rPr>
              <a:t>解的形式（</a:t>
            </a:r>
            <a:r>
              <a:rPr lang="en-US" altLang="zh-CN" dirty="0">
                <a:latin typeface="+mj-ea"/>
                <a:ea typeface="+mj-ea"/>
              </a:rPr>
              <a:t>x</a:t>
            </a:r>
            <a:r>
              <a:rPr lang="en-US" altLang="zh-CN" baseline="-25000" dirty="0">
                <a:latin typeface="+mj-ea"/>
                <a:ea typeface="+mj-ea"/>
              </a:rPr>
              <a:t>1</a:t>
            </a:r>
            <a:r>
              <a:rPr lang="en-US" altLang="zh-CN" dirty="0">
                <a:latin typeface="+mj-ea"/>
                <a:ea typeface="+mj-ea"/>
              </a:rPr>
              <a:t>,x</a:t>
            </a:r>
            <a:r>
              <a:rPr lang="en-US" altLang="zh-CN" baseline="-25000" dirty="0">
                <a:latin typeface="+mj-ea"/>
                <a:ea typeface="+mj-ea"/>
              </a:rPr>
              <a:t>2</a:t>
            </a:r>
            <a:r>
              <a:rPr lang="en-US" altLang="zh-CN" dirty="0">
                <a:latin typeface="+mj-ea"/>
                <a:ea typeface="+mj-ea"/>
              </a:rPr>
              <a:t>,…,</a:t>
            </a:r>
            <a:r>
              <a:rPr lang="en-US" altLang="zh-CN" dirty="0" err="1">
                <a:latin typeface="+mj-ea"/>
                <a:ea typeface="+mj-ea"/>
              </a:rPr>
              <a:t>x</a:t>
            </a:r>
            <a:r>
              <a:rPr lang="en-US" altLang="zh-CN" baseline="-25000" dirty="0" err="1">
                <a:latin typeface="+mj-ea"/>
                <a:ea typeface="+mj-ea"/>
              </a:rPr>
              <a:t>n</a:t>
            </a:r>
            <a:r>
              <a:rPr lang="zh-CN" altLang="en-US" dirty="0">
                <a:latin typeface="+mj-ea"/>
                <a:ea typeface="+mj-ea"/>
              </a:rPr>
              <a:t>） </a:t>
            </a:r>
          </a:p>
          <a:p>
            <a:pPr lvl="1">
              <a:lnSpc>
                <a:spcPct val="90000"/>
              </a:lnSpc>
              <a:defRPr/>
            </a:pPr>
            <a:r>
              <a:rPr lang="zh-CN" altLang="en-US" dirty="0">
                <a:latin typeface="+mj-ea"/>
                <a:ea typeface="+mj-ea"/>
              </a:rPr>
              <a:t>令</a:t>
            </a:r>
            <a:r>
              <a:rPr lang="en-US" altLang="zh-CN" dirty="0">
                <a:latin typeface="+mj-ea"/>
                <a:ea typeface="+mj-ea"/>
              </a:rPr>
              <a:t>n</a:t>
            </a:r>
            <a:r>
              <a:rPr lang="zh-CN" altLang="en-US" dirty="0">
                <a:latin typeface="+mj-ea"/>
                <a:ea typeface="+mj-ea"/>
              </a:rPr>
              <a:t>个城市组成的集合</a:t>
            </a:r>
            <a:endParaRPr lang="en-US" altLang="zh-CN" dirty="0">
              <a:latin typeface="+mj-ea"/>
              <a:ea typeface="+mj-ea"/>
            </a:endParaRPr>
          </a:p>
          <a:p>
            <a:pPr marL="344487" lvl="1" indent="0">
              <a:lnSpc>
                <a:spcPct val="90000"/>
              </a:lnSpc>
              <a:buFont typeface="Wingdings" panose="05000000000000000000" pitchFamily="2" charset="2"/>
              <a:buNone/>
              <a:defRPr/>
            </a:pPr>
            <a:r>
              <a:rPr lang="en-US" altLang="zh-CN" dirty="0">
                <a:latin typeface="+mj-ea"/>
                <a:ea typeface="+mj-ea"/>
              </a:rPr>
              <a:t>S={1,2,…,n} </a:t>
            </a:r>
            <a:r>
              <a:rPr lang="zh-CN" altLang="en-US" dirty="0">
                <a:latin typeface="+mj-ea"/>
                <a:ea typeface="+mj-ea"/>
              </a:rPr>
              <a:t>，则</a:t>
            </a:r>
            <a:r>
              <a:rPr lang="en-US" altLang="zh-CN" u="sng" dirty="0">
                <a:latin typeface="+mj-ea"/>
                <a:ea typeface="+mj-ea"/>
              </a:rPr>
              <a:t>x</a:t>
            </a:r>
            <a:r>
              <a:rPr lang="en-US" altLang="zh-CN" u="sng" baseline="-25000" dirty="0">
                <a:latin typeface="+mj-ea"/>
                <a:ea typeface="+mj-ea"/>
              </a:rPr>
              <a:t>1</a:t>
            </a:r>
            <a:r>
              <a:rPr lang="en-US" altLang="zh-CN" u="sng" dirty="0">
                <a:latin typeface="+mj-ea"/>
                <a:ea typeface="+mj-ea"/>
              </a:rPr>
              <a:t>=1</a:t>
            </a:r>
            <a:r>
              <a:rPr lang="zh-CN" altLang="en-US" dirty="0">
                <a:latin typeface="+mj-ea"/>
                <a:ea typeface="+mj-ea"/>
              </a:rPr>
              <a:t>，</a:t>
            </a:r>
            <a:endParaRPr lang="en-US" altLang="zh-CN" dirty="0">
              <a:latin typeface="+mj-ea"/>
              <a:ea typeface="+mj-ea"/>
            </a:endParaRPr>
          </a:p>
          <a:p>
            <a:pPr marL="344487" lvl="1" indent="0">
              <a:lnSpc>
                <a:spcPct val="90000"/>
              </a:lnSpc>
              <a:buFont typeface="Wingdings" panose="05000000000000000000" pitchFamily="2" charset="2"/>
              <a:buNone/>
              <a:defRPr/>
            </a:pPr>
            <a:r>
              <a:rPr lang="en-US" altLang="zh-CN" dirty="0" err="1">
                <a:latin typeface="+mj-ea"/>
                <a:ea typeface="+mj-ea"/>
              </a:rPr>
              <a:t>x</a:t>
            </a:r>
            <a:r>
              <a:rPr lang="en-US" altLang="zh-CN" baseline="-25000" dirty="0" err="1">
                <a:latin typeface="+mj-ea"/>
                <a:ea typeface="+mj-ea"/>
              </a:rPr>
              <a:t>i</a:t>
            </a:r>
            <a:r>
              <a:rPr lang="en-US" altLang="zh-CN" dirty="0" err="1">
                <a:latin typeface="+mj-ea"/>
                <a:ea typeface="+mj-ea"/>
              </a:rPr>
              <a:t>∈S</a:t>
            </a:r>
            <a:r>
              <a:rPr lang="en-US" altLang="zh-CN" dirty="0">
                <a:latin typeface="+mj-ea"/>
                <a:ea typeface="+mj-ea"/>
              </a:rPr>
              <a:t>-{x</a:t>
            </a:r>
            <a:r>
              <a:rPr lang="en-US" altLang="zh-CN" baseline="-25000" dirty="0">
                <a:latin typeface="+mj-ea"/>
                <a:ea typeface="+mj-ea"/>
              </a:rPr>
              <a:t>1</a:t>
            </a:r>
            <a:r>
              <a:rPr lang="en-US" altLang="zh-CN" dirty="0">
                <a:latin typeface="+mj-ea"/>
                <a:ea typeface="+mj-ea"/>
              </a:rPr>
              <a:t>,x</a:t>
            </a:r>
            <a:r>
              <a:rPr lang="en-US" altLang="zh-CN" baseline="-25000" dirty="0">
                <a:latin typeface="+mj-ea"/>
                <a:ea typeface="+mj-ea"/>
              </a:rPr>
              <a:t>2</a:t>
            </a:r>
            <a:r>
              <a:rPr lang="en-US" altLang="zh-CN" dirty="0">
                <a:latin typeface="+mj-ea"/>
                <a:ea typeface="+mj-ea"/>
              </a:rPr>
              <a:t>, …,x</a:t>
            </a:r>
            <a:r>
              <a:rPr lang="en-US" altLang="zh-CN" baseline="-25000" dirty="0">
                <a:latin typeface="+mj-ea"/>
                <a:ea typeface="+mj-ea"/>
              </a:rPr>
              <a:t>i-1</a:t>
            </a:r>
            <a:r>
              <a:rPr lang="en-US" altLang="zh-CN" dirty="0">
                <a:latin typeface="+mj-ea"/>
                <a:ea typeface="+mj-ea"/>
              </a:rPr>
              <a:t>}</a:t>
            </a:r>
            <a:r>
              <a:rPr lang="zh-CN" altLang="en-US" dirty="0">
                <a:latin typeface="+mj-ea"/>
                <a:ea typeface="+mj-ea"/>
              </a:rPr>
              <a:t>，</a:t>
            </a:r>
            <a:r>
              <a:rPr lang="en-US" altLang="zh-CN" dirty="0" err="1">
                <a:latin typeface="+mj-ea"/>
                <a:ea typeface="+mj-ea"/>
              </a:rPr>
              <a:t>i</a:t>
            </a:r>
            <a:r>
              <a:rPr lang="en-US" altLang="zh-CN" dirty="0">
                <a:latin typeface="+mj-ea"/>
                <a:ea typeface="+mj-ea"/>
              </a:rPr>
              <a:t>=2, …,n</a:t>
            </a:r>
            <a:r>
              <a:rPr lang="zh-CN" altLang="en-US" dirty="0">
                <a:latin typeface="+mj-ea"/>
                <a:ea typeface="+mj-ea"/>
              </a:rPr>
              <a:t>。</a:t>
            </a:r>
            <a:endParaRPr lang="en-US" altLang="zh-CN" dirty="0">
              <a:latin typeface="+mj-ea"/>
              <a:ea typeface="+mj-ea"/>
            </a:endParaRPr>
          </a:p>
        </p:txBody>
      </p:sp>
      <p:sp>
        <p:nvSpPr>
          <p:cNvPr id="5" name="Rectangle 4">
            <a:extLst>
              <a:ext uri="{FF2B5EF4-FFF2-40B4-BE49-F238E27FC236}">
                <a16:creationId xmlns:a16="http://schemas.microsoft.com/office/drawing/2014/main" id="{342A8672-A2B2-4AEE-8389-9B001EBE4396}"/>
              </a:ext>
            </a:extLst>
          </p:cNvPr>
          <p:cNvSpPr>
            <a:spLocks noChangeArrowheads="1"/>
          </p:cNvSpPr>
          <p:nvPr/>
        </p:nvSpPr>
        <p:spPr bwMode="auto">
          <a:xfrm>
            <a:off x="428625" y="214313"/>
            <a:ext cx="7772400" cy="803275"/>
          </a:xfrm>
          <a:prstGeom prst="rect">
            <a:avLst/>
          </a:prstGeom>
          <a:noFill/>
          <a:ln w="9525">
            <a:noFill/>
            <a:miter lim="800000"/>
            <a:headEnd/>
            <a:tailEnd/>
          </a:ln>
          <a:effectLst/>
        </p:spPr>
        <p:txBody>
          <a:bodyPr anchor="ctr"/>
          <a:lstStyle/>
          <a:p>
            <a:pPr eaLnBrk="1" hangingPunct="1">
              <a:spcBef>
                <a:spcPct val="20000"/>
              </a:spcBef>
              <a:buClr>
                <a:schemeClr val="accent1"/>
              </a:buClr>
              <a:buSzPct val="65000"/>
              <a:buFont typeface="Wingdings" panose="05000000000000000000" pitchFamily="2" charset="2"/>
              <a:buNone/>
              <a:defRPr/>
            </a:pPr>
            <a:r>
              <a:rPr lang="en-US" altLang="zh-CN" sz="4200" dirty="0">
                <a:solidFill>
                  <a:schemeClr val="tx2"/>
                </a:solidFill>
                <a:effectLst>
                  <a:outerShdw blurRad="38100" dist="38100" dir="2700000" algn="tl">
                    <a:srgbClr val="C0C0C0"/>
                  </a:outerShdw>
                </a:effectLst>
                <a:latin typeface="+mj-ea"/>
                <a:ea typeface="+mj-ea"/>
                <a:cs typeface="+mj-cs"/>
              </a:rPr>
              <a:t>6.7  </a:t>
            </a:r>
            <a:r>
              <a:rPr lang="en-US" altLang="zh-CN" sz="4200" dirty="0" err="1">
                <a:solidFill>
                  <a:schemeClr val="tx2"/>
                </a:solidFill>
                <a:effectLst>
                  <a:outerShdw blurRad="38100" dist="38100" dir="2700000" algn="tl">
                    <a:srgbClr val="C0C0C0"/>
                  </a:outerShdw>
                </a:effectLst>
                <a:latin typeface="+mj-ea"/>
                <a:ea typeface="+mj-ea"/>
                <a:cs typeface="+mj-cs"/>
              </a:rPr>
              <a:t>旅行售货员问题</a:t>
            </a:r>
            <a:endParaRPr lang="zh-CN" altLang="en-US" sz="4200" dirty="0">
              <a:solidFill>
                <a:schemeClr val="tx2"/>
              </a:solidFill>
              <a:effectLst>
                <a:outerShdw blurRad="38100" dist="38100" dir="2700000" algn="tl">
                  <a:srgbClr val="C0C0C0"/>
                </a:outerShdw>
              </a:effectLst>
              <a:latin typeface="+mj-ea"/>
              <a:ea typeface="+mj-ea"/>
              <a:cs typeface="+mj-cs"/>
            </a:endParaRPr>
          </a:p>
        </p:txBody>
      </p:sp>
      <p:pic>
        <p:nvPicPr>
          <p:cNvPr id="63492" name="图片 1">
            <a:extLst>
              <a:ext uri="{FF2B5EF4-FFF2-40B4-BE49-F238E27FC236}">
                <a16:creationId xmlns:a16="http://schemas.microsoft.com/office/drawing/2014/main" id="{E75B661A-631E-D4B4-6210-D0AD9F3B52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27763" y="3860800"/>
            <a:ext cx="2227262"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785F537-56DB-4E89-B3B6-1D1ECCD2E481}"/>
              </a:ext>
            </a:extLst>
          </p:cNvPr>
          <p:cNvSpPr>
            <a:spLocks noGrp="1" noChangeArrowheads="1"/>
          </p:cNvSpPr>
          <p:nvPr>
            <p:ph type="title"/>
          </p:nvPr>
        </p:nvSpPr>
        <p:spPr>
          <a:xfrm>
            <a:off x="414338" y="285750"/>
            <a:ext cx="8229600" cy="857250"/>
          </a:xfrm>
        </p:spPr>
        <p:txBody>
          <a:bodyPr/>
          <a:lstStyle/>
          <a:p>
            <a:pPr>
              <a:defRPr/>
            </a:pPr>
            <a:r>
              <a:rPr lang="zh-CN" altLang="en-US" kern="1200" dirty="0">
                <a:effectLst>
                  <a:outerShdw blurRad="38100" dist="38100" dir="2700000" algn="tl">
                    <a:srgbClr val="C0C0C0"/>
                  </a:outerShdw>
                </a:effectLst>
                <a:latin typeface="+mj-ea"/>
              </a:rPr>
              <a:t>搜索解空间 </a:t>
            </a:r>
          </a:p>
        </p:txBody>
      </p:sp>
      <p:sp>
        <p:nvSpPr>
          <p:cNvPr id="54275" name="Rectangle 3">
            <a:extLst>
              <a:ext uri="{FF2B5EF4-FFF2-40B4-BE49-F238E27FC236}">
                <a16:creationId xmlns:a16="http://schemas.microsoft.com/office/drawing/2014/main" id="{4EB0BA47-BE2B-4CE3-A672-FFC9D3EA0FDC}"/>
              </a:ext>
            </a:extLst>
          </p:cNvPr>
          <p:cNvSpPr>
            <a:spLocks noGrp="1" noChangeArrowheads="1"/>
          </p:cNvSpPr>
          <p:nvPr>
            <p:ph type="body" idx="1"/>
          </p:nvPr>
        </p:nvSpPr>
        <p:spPr>
          <a:xfrm>
            <a:off x="414338" y="1773238"/>
            <a:ext cx="8229600" cy="3940175"/>
          </a:xfrm>
        </p:spPr>
        <p:txBody>
          <a:bodyPr/>
          <a:lstStyle/>
          <a:p>
            <a:pPr>
              <a:defRPr/>
            </a:pPr>
            <a:r>
              <a:rPr lang="zh-CN" altLang="en-US" sz="2800" b="1" dirty="0">
                <a:latin typeface="+mj-ea"/>
                <a:ea typeface="+mj-ea"/>
              </a:rPr>
              <a:t>解空间：排列树</a:t>
            </a:r>
            <a:endParaRPr lang="en-US" altLang="zh-CN" sz="2800" b="1" dirty="0">
              <a:latin typeface="+mj-ea"/>
              <a:ea typeface="+mj-ea"/>
            </a:endParaRPr>
          </a:p>
          <a:p>
            <a:pPr>
              <a:defRPr/>
            </a:pPr>
            <a:endParaRPr lang="en-US" altLang="zh-CN" sz="2800" b="1" dirty="0">
              <a:latin typeface="+mj-ea"/>
              <a:ea typeface="+mj-ea"/>
            </a:endParaRPr>
          </a:p>
          <a:p>
            <a:pPr>
              <a:defRPr/>
            </a:pPr>
            <a:r>
              <a:rPr lang="zh-CN" altLang="en-US" sz="2800" b="1" dirty="0">
                <a:latin typeface="+mj-ea"/>
                <a:ea typeface="+mj-ea"/>
              </a:rPr>
              <a:t>约束条件</a:t>
            </a:r>
          </a:p>
          <a:p>
            <a:pPr lvl="1">
              <a:defRPr/>
            </a:pPr>
            <a:r>
              <a:rPr lang="zh-CN" altLang="en-US" sz="2400" b="1" dirty="0">
                <a:latin typeface="+mj-ea"/>
                <a:ea typeface="+mj-ea"/>
              </a:rPr>
              <a:t>用二维数组</a:t>
            </a:r>
            <a:r>
              <a:rPr lang="en-US" altLang="zh-CN" sz="2400" b="1" dirty="0">
                <a:latin typeface="+mj-ea"/>
                <a:ea typeface="+mj-ea"/>
              </a:rPr>
              <a:t>a[ ][ ]</a:t>
            </a:r>
            <a:r>
              <a:rPr lang="zh-CN" altLang="en-US" sz="2400" b="1" dirty="0">
                <a:latin typeface="+mj-ea"/>
                <a:ea typeface="+mj-ea"/>
              </a:rPr>
              <a:t>存储无向</a:t>
            </a:r>
            <a:r>
              <a:rPr lang="zh-CN" altLang="en-US" sz="2400" b="1" u="sng" dirty="0">
                <a:latin typeface="+mj-ea"/>
                <a:ea typeface="+mj-ea"/>
              </a:rPr>
              <a:t>带权图</a:t>
            </a:r>
            <a:r>
              <a:rPr lang="zh-CN" altLang="en-US" sz="2400" b="1" dirty="0">
                <a:latin typeface="+mj-ea"/>
                <a:ea typeface="+mj-ea"/>
              </a:rPr>
              <a:t>的邻接矩阵，如果</a:t>
            </a:r>
            <a:r>
              <a:rPr lang="en-US" altLang="zh-CN" sz="2400" b="1" dirty="0">
                <a:solidFill>
                  <a:srgbClr val="FF0000"/>
                </a:solidFill>
                <a:latin typeface="+mj-ea"/>
                <a:ea typeface="+mj-ea"/>
              </a:rPr>
              <a:t>a[</a:t>
            </a:r>
            <a:r>
              <a:rPr lang="en-US" altLang="zh-CN" sz="2400" b="1" dirty="0" err="1">
                <a:solidFill>
                  <a:srgbClr val="FF0000"/>
                </a:solidFill>
                <a:latin typeface="+mj-ea"/>
                <a:ea typeface="+mj-ea"/>
              </a:rPr>
              <a:t>i</a:t>
            </a:r>
            <a:r>
              <a:rPr lang="en-US" altLang="zh-CN" sz="2400" b="1" dirty="0">
                <a:solidFill>
                  <a:srgbClr val="FF0000"/>
                </a:solidFill>
                <a:latin typeface="+mj-ea"/>
                <a:ea typeface="+mj-ea"/>
              </a:rPr>
              <a:t>][j]≠∞</a:t>
            </a:r>
            <a:r>
              <a:rPr lang="zh-CN" altLang="en-US" sz="2400" b="1" dirty="0">
                <a:latin typeface="+mj-ea"/>
                <a:ea typeface="+mj-ea"/>
              </a:rPr>
              <a:t>表示城市</a:t>
            </a:r>
            <a:r>
              <a:rPr lang="en-US" altLang="zh-CN" sz="2400" b="1" dirty="0" err="1">
                <a:latin typeface="+mj-ea"/>
                <a:ea typeface="+mj-ea"/>
              </a:rPr>
              <a:t>i</a:t>
            </a:r>
            <a:r>
              <a:rPr lang="zh-CN" altLang="en-US" sz="2400" b="1" dirty="0">
                <a:latin typeface="+mj-ea"/>
                <a:ea typeface="+mj-ea"/>
              </a:rPr>
              <a:t>和城市</a:t>
            </a:r>
            <a:r>
              <a:rPr lang="en-US" altLang="zh-CN" sz="2400" b="1" dirty="0">
                <a:latin typeface="+mj-ea"/>
                <a:ea typeface="+mj-ea"/>
              </a:rPr>
              <a:t>j</a:t>
            </a:r>
            <a:r>
              <a:rPr lang="zh-CN" altLang="en-US" sz="2400" b="1" dirty="0">
                <a:latin typeface="+mj-ea"/>
                <a:ea typeface="+mj-ea"/>
              </a:rPr>
              <a:t>有边相连，能走通。</a:t>
            </a:r>
          </a:p>
          <a:p>
            <a:pPr>
              <a:defRPr/>
            </a:pPr>
            <a:r>
              <a:rPr lang="zh-CN" altLang="en-US" sz="2800" b="1" dirty="0">
                <a:latin typeface="+mj-ea"/>
                <a:ea typeface="+mj-ea"/>
              </a:rPr>
              <a:t>限界条件</a:t>
            </a:r>
            <a:r>
              <a:rPr lang="en-US" altLang="zh-CN" sz="2800" b="1" u="sng" dirty="0">
                <a:latin typeface="+mj-ea"/>
                <a:ea typeface="+mj-ea"/>
              </a:rPr>
              <a:t>(</a:t>
            </a:r>
            <a:r>
              <a:rPr lang="zh-CN" altLang="en-US" sz="2800" b="1" u="sng" dirty="0">
                <a:latin typeface="+mj-ea"/>
                <a:ea typeface="+mj-ea"/>
              </a:rPr>
              <a:t>回溯法</a:t>
            </a:r>
            <a:r>
              <a:rPr lang="en-US" altLang="zh-CN" sz="2800" b="1" u="sng" dirty="0">
                <a:latin typeface="+mj-ea"/>
                <a:ea typeface="+mj-ea"/>
              </a:rPr>
              <a:t>)</a:t>
            </a:r>
            <a:endParaRPr lang="zh-CN" altLang="en-US" sz="2800" b="1" u="sng" dirty="0">
              <a:latin typeface="+mj-ea"/>
              <a:ea typeface="+mj-ea"/>
            </a:endParaRPr>
          </a:p>
          <a:p>
            <a:pPr lvl="1">
              <a:defRPr/>
            </a:pPr>
            <a:r>
              <a:rPr lang="en-US" altLang="zh-CN" sz="2400" b="1" dirty="0">
                <a:solidFill>
                  <a:srgbClr val="FF0000"/>
                </a:solidFill>
                <a:latin typeface="+mj-ea"/>
                <a:ea typeface="+mj-ea"/>
              </a:rPr>
              <a:t>cc&lt;</a:t>
            </a:r>
            <a:r>
              <a:rPr lang="en-US" altLang="zh-CN" sz="2400" b="1" dirty="0" err="1">
                <a:solidFill>
                  <a:srgbClr val="FF0000"/>
                </a:solidFill>
                <a:latin typeface="+mj-ea"/>
                <a:ea typeface="+mj-ea"/>
              </a:rPr>
              <a:t>bestc</a:t>
            </a:r>
            <a:r>
              <a:rPr lang="zh-CN" altLang="en-US" sz="2400" b="1" dirty="0">
                <a:latin typeface="+mj-ea"/>
                <a:ea typeface="+mj-ea"/>
              </a:rPr>
              <a:t>，</a:t>
            </a:r>
            <a:r>
              <a:rPr lang="en-US" altLang="zh-CN" sz="2400" b="1" dirty="0">
                <a:latin typeface="+mj-ea"/>
                <a:ea typeface="+mj-ea"/>
              </a:rPr>
              <a:t>cc</a:t>
            </a:r>
            <a:r>
              <a:rPr lang="zh-CN" altLang="en-US" sz="2400" b="1" dirty="0">
                <a:latin typeface="+mj-ea"/>
                <a:ea typeface="+mj-ea"/>
              </a:rPr>
              <a:t>的初始值为</a:t>
            </a:r>
            <a:r>
              <a:rPr lang="en-US" altLang="zh-CN" sz="2400" b="1" dirty="0">
                <a:latin typeface="+mj-ea"/>
                <a:ea typeface="+mj-ea"/>
              </a:rPr>
              <a:t>0</a:t>
            </a:r>
            <a:r>
              <a:rPr lang="zh-CN" altLang="en-US" sz="2400" b="1" dirty="0">
                <a:latin typeface="+mj-ea"/>
                <a:ea typeface="+mj-ea"/>
              </a:rPr>
              <a:t>，</a:t>
            </a:r>
            <a:r>
              <a:rPr lang="en-US" altLang="zh-CN" sz="2400" b="1" dirty="0" err="1">
                <a:latin typeface="+mj-ea"/>
                <a:ea typeface="+mj-ea"/>
              </a:rPr>
              <a:t>bestc</a:t>
            </a:r>
            <a:r>
              <a:rPr lang="zh-CN" altLang="en-US" sz="2400" b="1" dirty="0">
                <a:latin typeface="+mj-ea"/>
                <a:ea typeface="+mj-ea"/>
              </a:rPr>
              <a:t>的初始值为＋∞。 </a:t>
            </a:r>
          </a:p>
          <a:p>
            <a:pPr lvl="1">
              <a:defRPr/>
            </a:pPr>
            <a:r>
              <a:rPr lang="en-US" altLang="zh-CN" sz="2400" b="1" dirty="0">
                <a:latin typeface="+mj-ea"/>
                <a:ea typeface="+mj-ea"/>
              </a:rPr>
              <a:t>cc</a:t>
            </a:r>
            <a:r>
              <a:rPr lang="zh-CN" altLang="en-US" sz="2400" b="1" dirty="0">
                <a:latin typeface="+mj-ea"/>
                <a:ea typeface="+mj-ea"/>
              </a:rPr>
              <a:t>：当前已走过的城市所用的路径长度</a:t>
            </a:r>
          </a:p>
          <a:p>
            <a:pPr lvl="1">
              <a:defRPr/>
            </a:pPr>
            <a:r>
              <a:rPr lang="en-US" altLang="zh-CN" sz="2400" b="1" dirty="0" err="1">
                <a:latin typeface="+mj-ea"/>
                <a:ea typeface="+mj-ea"/>
              </a:rPr>
              <a:t>bestc</a:t>
            </a:r>
            <a:r>
              <a:rPr lang="zh-CN" altLang="en-US" sz="2400" b="1" dirty="0">
                <a:latin typeface="+mj-ea"/>
                <a:ea typeface="+mj-ea"/>
              </a:rPr>
              <a:t>：表示当前找到的最短路径的路径长度</a:t>
            </a:r>
          </a:p>
        </p:txBody>
      </p:sp>
      <p:sp>
        <p:nvSpPr>
          <p:cNvPr id="54276" name="Rectangle 4">
            <a:extLst>
              <a:ext uri="{FF2B5EF4-FFF2-40B4-BE49-F238E27FC236}">
                <a16:creationId xmlns:a16="http://schemas.microsoft.com/office/drawing/2014/main" id="{1C94CC1C-F8B0-410F-B460-D15CABF4742F}"/>
              </a:ext>
            </a:extLst>
          </p:cNvPr>
          <p:cNvSpPr>
            <a:spLocks noChangeArrowheads="1"/>
          </p:cNvSpPr>
          <p:nvPr/>
        </p:nvSpPr>
        <p:spPr bwMode="auto">
          <a:xfrm>
            <a:off x="0" y="2662238"/>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endParaRPr>
          </a:p>
        </p:txBody>
      </p:sp>
      <p:graphicFrame>
        <p:nvGraphicFramePr>
          <p:cNvPr id="65541" name="Object 2">
            <a:extLst>
              <a:ext uri="{FF2B5EF4-FFF2-40B4-BE49-F238E27FC236}">
                <a16:creationId xmlns:a16="http://schemas.microsoft.com/office/drawing/2014/main" id="{506C6B34-BD88-F5AC-FBE4-EAB8F1FCACD7}"/>
              </a:ext>
            </a:extLst>
          </p:cNvPr>
          <p:cNvGraphicFramePr>
            <a:graphicFrameLocks noChangeAspect="1"/>
          </p:cNvGraphicFramePr>
          <p:nvPr/>
        </p:nvGraphicFramePr>
        <p:xfrm>
          <a:off x="5632450" y="476250"/>
          <a:ext cx="3198813" cy="2900363"/>
        </p:xfrm>
        <a:graphic>
          <a:graphicData uri="http://schemas.openxmlformats.org/presentationml/2006/ole">
            <mc:AlternateContent xmlns:mc="http://schemas.openxmlformats.org/markup-compatibility/2006">
              <mc:Choice xmlns:v="urn:schemas-microsoft-com:vml" Requires="v">
                <p:oleObj name="Visio" r:id="rId2" imgW="3147709" imgH="2855074" progId="Visio.Drawing.11">
                  <p:embed/>
                </p:oleObj>
              </mc:Choice>
              <mc:Fallback>
                <p:oleObj name="Visio" r:id="rId2" imgW="3147709" imgH="2855074"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2450" y="476250"/>
                        <a:ext cx="3198813" cy="290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5542" name="图片 1">
            <a:extLst>
              <a:ext uri="{FF2B5EF4-FFF2-40B4-BE49-F238E27FC236}">
                <a16:creationId xmlns:a16="http://schemas.microsoft.com/office/drawing/2014/main" id="{6D5D2F31-11A5-97CB-3ADF-65AAE76C74B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06825" y="434975"/>
            <a:ext cx="1444625"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图片 24">
            <a:extLst>
              <a:ext uri="{FF2B5EF4-FFF2-40B4-BE49-F238E27FC236}">
                <a16:creationId xmlns:a16="http://schemas.microsoft.com/office/drawing/2014/main" id="{0A86548A-FCBF-7614-505D-D56F7E604F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43013" y="3455988"/>
            <a:ext cx="227647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内容占位符 2">
            <a:extLst>
              <a:ext uri="{FF2B5EF4-FFF2-40B4-BE49-F238E27FC236}">
                <a16:creationId xmlns:a16="http://schemas.microsoft.com/office/drawing/2014/main" id="{EEFA0605-CA9C-4123-BDC4-1273FD32E5CF}"/>
              </a:ext>
            </a:extLst>
          </p:cNvPr>
          <p:cNvSpPr>
            <a:spLocks noGrp="1" noChangeArrowheads="1"/>
          </p:cNvSpPr>
          <p:nvPr>
            <p:ph idx="1"/>
          </p:nvPr>
        </p:nvSpPr>
        <p:spPr>
          <a:xfrm>
            <a:off x="427038" y="1125538"/>
            <a:ext cx="8321675" cy="4530725"/>
          </a:xfrm>
        </p:spPr>
        <p:txBody>
          <a:bodyPr/>
          <a:lstStyle/>
          <a:p>
            <a:pPr>
              <a:defRPr/>
            </a:pPr>
            <a:r>
              <a:rPr lang="zh-CN" altLang="en-US" sz="2800" b="1" dirty="0">
                <a:latin typeface="+mj-ea"/>
                <a:ea typeface="+mj-ea"/>
              </a:rPr>
              <a:t>限界条件</a:t>
            </a:r>
            <a:endParaRPr lang="zh-CN" altLang="en-US" sz="2800" b="1" u="sng" dirty="0">
              <a:latin typeface="+mj-ea"/>
              <a:ea typeface="+mj-ea"/>
            </a:endParaRPr>
          </a:p>
          <a:p>
            <a:pPr lvl="1">
              <a:defRPr/>
            </a:pPr>
            <a:r>
              <a:rPr lang="en-US" altLang="zh-CN" sz="2400" b="1" dirty="0" err="1">
                <a:solidFill>
                  <a:srgbClr val="FF0000"/>
                </a:solidFill>
                <a:latin typeface="+mj-ea"/>
                <a:ea typeface="+mj-ea"/>
              </a:rPr>
              <a:t>cc+rcost</a:t>
            </a:r>
            <a:r>
              <a:rPr lang="en-US" altLang="zh-CN" sz="2400" b="1" dirty="0">
                <a:solidFill>
                  <a:srgbClr val="FF0000"/>
                </a:solidFill>
                <a:latin typeface="+mj-ea"/>
                <a:ea typeface="+mj-ea"/>
              </a:rPr>
              <a:t>&lt;</a:t>
            </a:r>
            <a:r>
              <a:rPr lang="en-US" altLang="zh-CN" sz="2400" b="1" dirty="0" err="1">
                <a:solidFill>
                  <a:srgbClr val="FF0000"/>
                </a:solidFill>
                <a:latin typeface="+mj-ea"/>
                <a:ea typeface="+mj-ea"/>
              </a:rPr>
              <a:t>bestc</a:t>
            </a:r>
            <a:r>
              <a:rPr lang="zh-CN" altLang="en-US" sz="2400" b="1" dirty="0">
                <a:latin typeface="+mj-ea"/>
                <a:ea typeface="+mj-ea"/>
              </a:rPr>
              <a:t> </a:t>
            </a:r>
          </a:p>
          <a:p>
            <a:pPr lvl="1">
              <a:defRPr/>
            </a:pPr>
            <a:r>
              <a:rPr lang="en-US" altLang="zh-CN" sz="2400" b="1" dirty="0">
                <a:latin typeface="+mj-ea"/>
                <a:ea typeface="+mj-ea"/>
              </a:rPr>
              <a:t>cc</a:t>
            </a:r>
            <a:r>
              <a:rPr lang="zh-CN" altLang="en-US" sz="2400" b="1" dirty="0">
                <a:latin typeface="+mj-ea"/>
                <a:ea typeface="+mj-ea"/>
              </a:rPr>
              <a:t>：当前</a:t>
            </a:r>
            <a:r>
              <a:rPr lang="zh-CN" altLang="en-US" sz="2400" b="1" dirty="0">
                <a:solidFill>
                  <a:srgbClr val="FF0000"/>
                </a:solidFill>
                <a:latin typeface="+mj-ea"/>
                <a:ea typeface="+mj-ea"/>
              </a:rPr>
              <a:t>已走过</a:t>
            </a:r>
            <a:r>
              <a:rPr lang="zh-CN" altLang="en-US" sz="2400" b="1" dirty="0">
                <a:latin typeface="+mj-ea"/>
                <a:ea typeface="+mj-ea"/>
              </a:rPr>
              <a:t>的城市所用的路径长度</a:t>
            </a:r>
          </a:p>
          <a:p>
            <a:pPr lvl="1">
              <a:defRPr/>
            </a:pPr>
            <a:r>
              <a:rPr lang="en-US" altLang="zh-CN" sz="2400" b="1" dirty="0" err="1">
                <a:latin typeface="+mj-ea"/>
                <a:ea typeface="+mj-ea"/>
              </a:rPr>
              <a:t>rcost</a:t>
            </a:r>
            <a:r>
              <a:rPr lang="zh-CN" altLang="en-US" sz="2400" b="1" dirty="0">
                <a:latin typeface="+mj-ea"/>
                <a:ea typeface="+mj-ea"/>
              </a:rPr>
              <a:t>：当前</a:t>
            </a:r>
            <a:r>
              <a:rPr lang="zh-CN" altLang="en-US" sz="2400" b="1" dirty="0">
                <a:solidFill>
                  <a:srgbClr val="FF0000"/>
                </a:solidFill>
                <a:latin typeface="+mj-ea"/>
                <a:ea typeface="+mj-ea"/>
              </a:rPr>
              <a:t>未走过</a:t>
            </a:r>
            <a:r>
              <a:rPr lang="zh-CN" altLang="en-US" sz="2400" b="1" dirty="0">
                <a:latin typeface="+mj-ea"/>
                <a:ea typeface="+mj-ea"/>
              </a:rPr>
              <a:t>的</a:t>
            </a:r>
            <a:r>
              <a:rPr lang="zh-CN" altLang="en-US" sz="2400" b="1" u="sng" dirty="0">
                <a:latin typeface="+mj-ea"/>
                <a:ea typeface="+mj-ea"/>
              </a:rPr>
              <a:t>所有顶点最小出边费用和</a:t>
            </a:r>
            <a:endParaRPr lang="en-US" altLang="zh-CN" sz="2400" b="1" u="sng" dirty="0">
              <a:latin typeface="+mj-ea"/>
              <a:ea typeface="+mj-ea"/>
            </a:endParaRPr>
          </a:p>
          <a:p>
            <a:pPr lvl="1">
              <a:defRPr/>
            </a:pPr>
            <a:r>
              <a:rPr lang="en-US" altLang="zh-CN" sz="2400" b="1" dirty="0" err="1">
                <a:latin typeface="+mj-ea"/>
                <a:ea typeface="+mj-ea"/>
              </a:rPr>
              <a:t>bestc</a:t>
            </a:r>
            <a:r>
              <a:rPr lang="zh-CN" altLang="en-US" sz="2400" b="1" dirty="0">
                <a:latin typeface="+mj-ea"/>
                <a:ea typeface="+mj-ea"/>
              </a:rPr>
              <a:t>：表示当前找到的最短路径的路径长度</a:t>
            </a:r>
          </a:p>
          <a:p>
            <a:pPr lvl="1">
              <a:defRPr/>
            </a:pPr>
            <a:endParaRPr lang="zh-CN" altLang="en-US" sz="2400" b="1" dirty="0">
              <a:latin typeface="+mj-ea"/>
              <a:ea typeface="+mj-ea"/>
            </a:endParaRPr>
          </a:p>
          <a:p>
            <a:pPr lvl="1">
              <a:defRPr/>
            </a:pPr>
            <a:endParaRPr lang="zh-CN" altLang="en-US" dirty="0">
              <a:latin typeface="+mj-ea"/>
              <a:ea typeface="+mj-ea"/>
            </a:endParaRPr>
          </a:p>
        </p:txBody>
      </p:sp>
      <p:sp>
        <p:nvSpPr>
          <p:cNvPr id="55300" name="灯片编号占位符 3">
            <a:extLst>
              <a:ext uri="{FF2B5EF4-FFF2-40B4-BE49-F238E27FC236}">
                <a16:creationId xmlns:a16="http://schemas.microsoft.com/office/drawing/2014/main" id="{7B888BBD-89E3-4B62-8624-8B003C8CA5BD}"/>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B0E7250-3257-4A3E-AA03-3BB5257D652D}" type="slidenum">
              <a:rPr lang="en-US" altLang="zh-CN" sz="1200">
                <a:solidFill>
                  <a:schemeClr val="tx1"/>
                </a:solidFill>
                <a:latin typeface="微软雅黑" panose="020B0503020204020204" pitchFamily="34" charset="-122"/>
                <a:ea typeface="微软雅黑" panose="020B0503020204020204" pitchFamily="34" charset="-122"/>
              </a:rPr>
              <a:pPr/>
              <a:t>45</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55301" name="Rectangle 2">
            <a:extLst>
              <a:ext uri="{FF2B5EF4-FFF2-40B4-BE49-F238E27FC236}">
                <a16:creationId xmlns:a16="http://schemas.microsoft.com/office/drawing/2014/main" id="{DF102900-A1CB-4568-8F88-E5447C243E37}"/>
              </a:ext>
            </a:extLst>
          </p:cNvPr>
          <p:cNvSpPr>
            <a:spLocks noGrp="1" noRot="1" noChangeArrowheads="1"/>
          </p:cNvSpPr>
          <p:nvPr>
            <p:ph type="title"/>
          </p:nvPr>
        </p:nvSpPr>
        <p:spPr/>
        <p:txBody>
          <a:bodyPr/>
          <a:lstStyle/>
          <a:p>
            <a:pPr eaLnBrk="1" hangingPunct="1">
              <a:defRPr/>
            </a:pPr>
            <a:r>
              <a:rPr lang="en-US" altLang="zh-CN" sz="3600" b="1">
                <a:latin typeface="+mj-ea"/>
              </a:rPr>
              <a:t>6.7 </a:t>
            </a:r>
            <a:r>
              <a:rPr lang="zh-CN" altLang="en-US" sz="3600" b="1">
                <a:latin typeface="+mj-ea"/>
              </a:rPr>
              <a:t>旅行售货员问题</a:t>
            </a:r>
          </a:p>
        </p:txBody>
      </p:sp>
      <p:cxnSp>
        <p:nvCxnSpPr>
          <p:cNvPr id="11" name="直接连接符 10">
            <a:extLst>
              <a:ext uri="{FF2B5EF4-FFF2-40B4-BE49-F238E27FC236}">
                <a16:creationId xmlns:a16="http://schemas.microsoft.com/office/drawing/2014/main" id="{2D66828B-0982-297C-D34A-07E6E22BE40B}"/>
              </a:ext>
            </a:extLst>
          </p:cNvPr>
          <p:cNvCxnSpPr>
            <a:cxnSpLocks noChangeShapeType="1"/>
          </p:cNvCxnSpPr>
          <p:nvPr/>
        </p:nvCxnSpPr>
        <p:spPr bwMode="auto">
          <a:xfrm>
            <a:off x="1619250" y="3998913"/>
            <a:ext cx="0" cy="942975"/>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19" name="矩形 18">
            <a:extLst>
              <a:ext uri="{FF2B5EF4-FFF2-40B4-BE49-F238E27FC236}">
                <a16:creationId xmlns:a16="http://schemas.microsoft.com/office/drawing/2014/main" id="{57029802-1920-45AD-89E7-27A0CE095832}"/>
              </a:ext>
            </a:extLst>
          </p:cNvPr>
          <p:cNvSpPr>
            <a:spLocks noChangeArrowheads="1"/>
          </p:cNvSpPr>
          <p:nvPr/>
        </p:nvSpPr>
        <p:spPr bwMode="auto">
          <a:xfrm>
            <a:off x="5657850" y="4287838"/>
            <a:ext cx="10414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200" b="1">
                <a:solidFill>
                  <a:schemeClr val="tx1"/>
                </a:solidFill>
                <a:latin typeface="+mj-ea"/>
                <a:ea typeface="+mj-ea"/>
              </a:rPr>
              <a:t>cc=12</a:t>
            </a:r>
            <a:endParaRPr lang="zh-CN" altLang="en-US" sz="2200">
              <a:solidFill>
                <a:schemeClr val="tx1"/>
              </a:solidFill>
              <a:latin typeface="+mj-ea"/>
              <a:ea typeface="+mj-ea"/>
            </a:endParaRPr>
          </a:p>
        </p:txBody>
      </p:sp>
      <p:sp>
        <p:nvSpPr>
          <p:cNvPr id="20" name="矩形 19">
            <a:extLst>
              <a:ext uri="{FF2B5EF4-FFF2-40B4-BE49-F238E27FC236}">
                <a16:creationId xmlns:a16="http://schemas.microsoft.com/office/drawing/2014/main" id="{70FA07E9-DE38-475D-893A-FD3FD09F30B2}"/>
              </a:ext>
            </a:extLst>
          </p:cNvPr>
          <p:cNvSpPr>
            <a:spLocks noChangeArrowheads="1"/>
          </p:cNvSpPr>
          <p:nvPr/>
        </p:nvSpPr>
        <p:spPr bwMode="auto">
          <a:xfrm>
            <a:off x="5667375" y="4640263"/>
            <a:ext cx="16716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200" b="1">
                <a:solidFill>
                  <a:schemeClr val="tx1"/>
                </a:solidFill>
                <a:latin typeface="+mj-ea"/>
                <a:ea typeface="+mj-ea"/>
              </a:rPr>
              <a:t>rcost=5+4</a:t>
            </a:r>
            <a:endParaRPr lang="zh-CN" altLang="en-US" sz="2200">
              <a:solidFill>
                <a:schemeClr val="tx1"/>
              </a:solidFill>
              <a:latin typeface="+mj-ea"/>
              <a:ea typeface="+mj-ea"/>
            </a:endParaRPr>
          </a:p>
        </p:txBody>
      </p:sp>
      <p:sp>
        <p:nvSpPr>
          <p:cNvPr id="21" name="矩形 20">
            <a:extLst>
              <a:ext uri="{FF2B5EF4-FFF2-40B4-BE49-F238E27FC236}">
                <a16:creationId xmlns:a16="http://schemas.microsoft.com/office/drawing/2014/main" id="{2B5ACB50-1290-49C2-83A6-1C5B060559F9}"/>
              </a:ext>
            </a:extLst>
          </p:cNvPr>
          <p:cNvSpPr>
            <a:spLocks noChangeArrowheads="1"/>
          </p:cNvSpPr>
          <p:nvPr/>
        </p:nvSpPr>
        <p:spPr bwMode="auto">
          <a:xfrm>
            <a:off x="4930775" y="3792538"/>
            <a:ext cx="252888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200" b="1">
                <a:latin typeface="+mj-ea"/>
                <a:ea typeface="+mj-ea"/>
              </a:rPr>
              <a:t>已走过的城市</a:t>
            </a:r>
            <a:r>
              <a:rPr lang="en-US" altLang="zh-CN" sz="2200" b="1">
                <a:latin typeface="+mj-ea"/>
                <a:ea typeface="+mj-ea"/>
              </a:rPr>
              <a:t>{1,3}</a:t>
            </a:r>
            <a:endParaRPr lang="zh-CN" altLang="en-US" sz="2200">
              <a:latin typeface="+mj-ea"/>
              <a:ea typeface="+mj-ea"/>
            </a:endParaRPr>
          </a:p>
        </p:txBody>
      </p:sp>
      <p:sp>
        <p:nvSpPr>
          <p:cNvPr id="55306" name="矩形 22">
            <a:extLst>
              <a:ext uri="{FF2B5EF4-FFF2-40B4-BE49-F238E27FC236}">
                <a16:creationId xmlns:a16="http://schemas.microsoft.com/office/drawing/2014/main" id="{87205D26-79FA-4C2A-9598-712DDB4B778B}"/>
              </a:ext>
            </a:extLst>
          </p:cNvPr>
          <p:cNvSpPr>
            <a:spLocks noChangeArrowheads="1"/>
          </p:cNvSpPr>
          <p:nvPr/>
        </p:nvSpPr>
        <p:spPr bwMode="auto">
          <a:xfrm>
            <a:off x="457200" y="5603875"/>
            <a:ext cx="785971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600" dirty="0">
                <a:solidFill>
                  <a:schemeClr val="tx1"/>
                </a:solidFill>
                <a:latin typeface="+mj-ea"/>
                <a:ea typeface="+mj-ea"/>
              </a:rPr>
              <a:t>节点的优先级定义为：下界</a:t>
            </a:r>
            <a:r>
              <a:rPr lang="en-US" altLang="zh-CN" sz="2600" dirty="0" err="1">
                <a:solidFill>
                  <a:schemeClr val="tx1"/>
                </a:solidFill>
                <a:latin typeface="+mj-ea"/>
                <a:ea typeface="+mj-ea"/>
              </a:rPr>
              <a:t>lcost</a:t>
            </a:r>
            <a:r>
              <a:rPr lang="en-US" altLang="zh-CN" sz="2600" dirty="0">
                <a:solidFill>
                  <a:schemeClr val="tx1"/>
                </a:solidFill>
                <a:latin typeface="+mj-ea"/>
                <a:ea typeface="+mj-ea"/>
              </a:rPr>
              <a:t>=</a:t>
            </a:r>
            <a:r>
              <a:rPr lang="en-US" altLang="zh-CN" sz="2600" b="1" dirty="0" err="1">
                <a:solidFill>
                  <a:srgbClr val="FF0000"/>
                </a:solidFill>
                <a:latin typeface="+mj-ea"/>
                <a:ea typeface="+mj-ea"/>
              </a:rPr>
              <a:t>cc+rcost</a:t>
            </a:r>
            <a:endParaRPr lang="en-US" altLang="zh-CN" sz="2600" dirty="0">
              <a:solidFill>
                <a:schemeClr val="tx1"/>
              </a:solidFill>
              <a:latin typeface="+mj-ea"/>
              <a:ea typeface="+mj-ea"/>
            </a:endParaRPr>
          </a:p>
        </p:txBody>
      </p:sp>
      <p:sp>
        <p:nvSpPr>
          <p:cNvPr id="2" name="矩形 1">
            <a:extLst>
              <a:ext uri="{FF2B5EF4-FFF2-40B4-BE49-F238E27FC236}">
                <a16:creationId xmlns:a16="http://schemas.microsoft.com/office/drawing/2014/main" id="{3E75DCB3-159C-4E17-A924-0AC5C6C9A8FA}"/>
              </a:ext>
            </a:extLst>
          </p:cNvPr>
          <p:cNvSpPr/>
          <p:nvPr/>
        </p:nvSpPr>
        <p:spPr>
          <a:xfrm>
            <a:off x="5508625" y="968375"/>
            <a:ext cx="3208338" cy="892175"/>
          </a:xfrm>
          <a:prstGeom prst="rect">
            <a:avLst/>
          </a:prstGeom>
        </p:spPr>
        <p:txBody>
          <a:bodyPr>
            <a:spAutoFit/>
          </a:bodyPr>
          <a:lstStyle/>
          <a:p>
            <a:pPr>
              <a:defRPr/>
            </a:pPr>
            <a:r>
              <a:rPr lang="zh-CN" altLang="en-US" sz="2800" b="1" dirty="0">
                <a:latin typeface="+mj-ea"/>
              </a:rPr>
              <a:t>限界条件</a:t>
            </a:r>
            <a:r>
              <a:rPr lang="en-US" altLang="zh-CN" sz="2800" b="1" u="sng" dirty="0">
                <a:latin typeface="+mj-ea"/>
              </a:rPr>
              <a:t>(</a:t>
            </a:r>
            <a:r>
              <a:rPr lang="zh-CN" altLang="en-US" sz="2800" b="1" u="sng" dirty="0">
                <a:latin typeface="+mj-ea"/>
              </a:rPr>
              <a:t>回溯法</a:t>
            </a:r>
            <a:r>
              <a:rPr lang="en-US" altLang="zh-CN" sz="2800" b="1" u="sng" dirty="0">
                <a:latin typeface="+mj-ea"/>
              </a:rPr>
              <a:t>)</a:t>
            </a:r>
            <a:endParaRPr lang="zh-CN" altLang="en-US" sz="2800" b="1" u="sng" dirty="0">
              <a:latin typeface="+mj-ea"/>
            </a:endParaRPr>
          </a:p>
          <a:p>
            <a:pPr lvl="1">
              <a:defRPr/>
            </a:pPr>
            <a:r>
              <a:rPr lang="en-US" altLang="zh-CN" sz="2400" b="1" dirty="0">
                <a:solidFill>
                  <a:srgbClr val="FF0000"/>
                </a:solidFill>
                <a:latin typeface="+mj-ea"/>
              </a:rPr>
              <a:t>cc&lt;</a:t>
            </a:r>
            <a:r>
              <a:rPr lang="en-US" altLang="zh-CN" sz="2400" b="1" dirty="0" err="1">
                <a:solidFill>
                  <a:srgbClr val="FF0000"/>
                </a:solidFill>
                <a:latin typeface="+mj-ea"/>
              </a:rPr>
              <a:t>bestc</a:t>
            </a:r>
            <a:endParaRPr lang="zh-CN" altLang="en-US" dirty="0"/>
          </a:p>
        </p:txBody>
      </p:sp>
      <p:sp>
        <p:nvSpPr>
          <p:cNvPr id="3" name="矩形 2">
            <a:extLst>
              <a:ext uri="{FF2B5EF4-FFF2-40B4-BE49-F238E27FC236}">
                <a16:creationId xmlns:a16="http://schemas.microsoft.com/office/drawing/2014/main" id="{4858FC78-9640-AF5B-9E1F-1C63BFED1313}"/>
              </a:ext>
            </a:extLst>
          </p:cNvPr>
          <p:cNvSpPr>
            <a:spLocks noChangeArrowheads="1"/>
          </p:cNvSpPr>
          <p:nvPr/>
        </p:nvSpPr>
        <p:spPr bwMode="auto">
          <a:xfrm>
            <a:off x="4600575" y="6273800"/>
            <a:ext cx="3468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3200">
                <a:solidFill>
                  <a:schemeClr val="tx1"/>
                </a:solidFill>
                <a:latin typeface="微软雅黑" panose="020B0503020204020204" pitchFamily="34" charset="-122"/>
                <a:ea typeface="微软雅黑" panose="020B0503020204020204" pitchFamily="34" charset="-122"/>
              </a:rPr>
              <a:t>有没有更紧的界？</a:t>
            </a:r>
            <a:endParaRPr lang="zh-CN" altLang="en-US">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Rectangle 6">
            <a:extLst>
              <a:ext uri="{FF2B5EF4-FFF2-40B4-BE49-F238E27FC236}">
                <a16:creationId xmlns:a16="http://schemas.microsoft.com/office/drawing/2014/main" id="{443308AF-F626-4A36-8306-FB9987BD7369}"/>
              </a:ext>
            </a:extLst>
          </p:cNvPr>
          <p:cNvSpPr>
            <a:spLocks noGrp="1" noChangeArrowheads="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D0897557-029B-4ABD-8E27-7C1A7D3E7879}" type="slidenum">
              <a:rPr lang="zh-CN" altLang="en-US" sz="1200">
                <a:solidFill>
                  <a:schemeClr val="tx1"/>
                </a:solidFill>
                <a:latin typeface="微软雅黑" panose="020B0503020204020204" pitchFamily="34" charset="-122"/>
                <a:ea typeface="微软雅黑" panose="020B0503020204020204" pitchFamily="34" charset="-122"/>
              </a:rPr>
              <a:pPr/>
              <a:t>46</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56323" name="Rectangle 2">
            <a:extLst>
              <a:ext uri="{FF2B5EF4-FFF2-40B4-BE49-F238E27FC236}">
                <a16:creationId xmlns:a16="http://schemas.microsoft.com/office/drawing/2014/main" id="{B42822DC-8762-4367-950B-233CAA6B8FD7}"/>
              </a:ext>
            </a:extLst>
          </p:cNvPr>
          <p:cNvSpPr>
            <a:spLocks noGrp="1" noRot="1" noChangeArrowheads="1"/>
          </p:cNvSpPr>
          <p:nvPr>
            <p:ph type="title"/>
          </p:nvPr>
        </p:nvSpPr>
        <p:spPr/>
        <p:txBody>
          <a:bodyPr/>
          <a:lstStyle/>
          <a:p>
            <a:pPr eaLnBrk="1" hangingPunct="1">
              <a:defRPr/>
            </a:pPr>
            <a:r>
              <a:rPr lang="en-US" altLang="zh-CN" sz="3600" b="1">
                <a:latin typeface="+mj-ea"/>
              </a:rPr>
              <a:t>6.7 </a:t>
            </a:r>
            <a:r>
              <a:rPr lang="zh-CN" altLang="en-US" sz="3600" b="1">
                <a:latin typeface="+mj-ea"/>
              </a:rPr>
              <a:t>旅行售货员问题</a:t>
            </a:r>
          </a:p>
        </p:txBody>
      </p:sp>
      <p:sp>
        <p:nvSpPr>
          <p:cNvPr id="5" name="Rectangle 5">
            <a:extLst>
              <a:ext uri="{FF2B5EF4-FFF2-40B4-BE49-F238E27FC236}">
                <a16:creationId xmlns:a16="http://schemas.microsoft.com/office/drawing/2014/main" id="{1F7F58D6-B0CE-4683-86B0-204572C500BB}"/>
              </a:ext>
            </a:extLst>
          </p:cNvPr>
          <p:cNvSpPr txBox="1">
            <a:spLocks noChangeArrowheads="1"/>
          </p:cNvSpPr>
          <p:nvPr/>
        </p:nvSpPr>
        <p:spPr bwMode="auto">
          <a:xfrm>
            <a:off x="611188" y="1046163"/>
            <a:ext cx="3429000" cy="500062"/>
          </a:xfrm>
          <a:prstGeom prst="rect">
            <a:avLst/>
          </a:prstGeom>
          <a:noFill/>
          <a:ln>
            <a:noFill/>
          </a:ln>
        </p:spPr>
        <p:txBody>
          <a:bodyPr lIns="90488" tIns="44450" rIns="90488" bIns="44450"/>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Font typeface="Wingdings" panose="05000000000000000000" pitchFamily="2" charset="2"/>
              <a:buNone/>
              <a:defRPr/>
            </a:pPr>
            <a:endParaRPr lang="zh-CN" altLang="en-US" sz="2400" b="1" kern="0" dirty="0">
              <a:latin typeface="+mj-ea"/>
              <a:ea typeface="+mj-ea"/>
            </a:endParaRPr>
          </a:p>
        </p:txBody>
      </p:sp>
      <p:sp>
        <p:nvSpPr>
          <p:cNvPr id="13" name="Text Box 4">
            <a:extLst>
              <a:ext uri="{FF2B5EF4-FFF2-40B4-BE49-F238E27FC236}">
                <a16:creationId xmlns:a16="http://schemas.microsoft.com/office/drawing/2014/main" id="{869DF22D-F703-490F-A912-82EE0B8D68D7}"/>
              </a:ext>
            </a:extLst>
          </p:cNvPr>
          <p:cNvSpPr txBox="1">
            <a:spLocks noChangeArrowheads="1"/>
          </p:cNvSpPr>
          <p:nvPr/>
        </p:nvSpPr>
        <p:spPr bwMode="auto">
          <a:xfrm>
            <a:off x="441325" y="1295400"/>
            <a:ext cx="594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defRPr/>
            </a:pPr>
            <a:r>
              <a:rPr kumimoji="1" lang="zh-CN" altLang="en-US" sz="3200">
                <a:solidFill>
                  <a:schemeClr val="accent2"/>
                </a:solidFill>
                <a:latin typeface="+mj-ea"/>
                <a:ea typeface="+mj-ea"/>
              </a:rPr>
              <a:t>2.优先队列式分支限界算法描述</a:t>
            </a:r>
            <a:endParaRPr lang="en-US" altLang="zh-CN">
              <a:solidFill>
                <a:schemeClr val="accent2"/>
              </a:solidFill>
              <a:latin typeface="+mj-ea"/>
              <a:ea typeface="+mj-ea"/>
            </a:endParaRPr>
          </a:p>
        </p:txBody>
      </p:sp>
      <p:sp>
        <p:nvSpPr>
          <p:cNvPr id="14" name="Text Box 5">
            <a:extLst>
              <a:ext uri="{FF2B5EF4-FFF2-40B4-BE49-F238E27FC236}">
                <a16:creationId xmlns:a16="http://schemas.microsoft.com/office/drawing/2014/main" id="{1C52D5FB-87BA-4419-8B0C-7B18A0ACDECE}"/>
              </a:ext>
            </a:extLst>
          </p:cNvPr>
          <p:cNvSpPr txBox="1">
            <a:spLocks noChangeArrowheads="1"/>
          </p:cNvSpPr>
          <p:nvPr/>
        </p:nvSpPr>
        <p:spPr bwMode="auto">
          <a:xfrm>
            <a:off x="755650" y="1906588"/>
            <a:ext cx="7632700"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50000"/>
              </a:spcBef>
              <a:buClr>
                <a:schemeClr val="accent1"/>
              </a:buClr>
              <a:buSzPct val="65000"/>
              <a:buFont typeface="Wingdings" panose="05000000000000000000" pitchFamily="2" charset="2"/>
              <a:buChar char="n"/>
              <a:defRPr/>
            </a:pPr>
            <a:r>
              <a:rPr lang="en-US" altLang="zh-CN" sz="2000">
                <a:solidFill>
                  <a:schemeClr val="tx1"/>
                </a:solidFill>
                <a:latin typeface="+mj-ea"/>
                <a:ea typeface="+mj-ea"/>
              </a:rPr>
              <a:t>1.</a:t>
            </a:r>
            <a:r>
              <a:rPr lang="zh-CN" altLang="en-US" sz="2000" b="1">
                <a:solidFill>
                  <a:schemeClr val="tx1"/>
                </a:solidFill>
                <a:latin typeface="+mj-ea"/>
                <a:ea typeface="+mj-ea"/>
              </a:rPr>
              <a:t>准备工作</a:t>
            </a:r>
            <a:r>
              <a:rPr lang="zh-CN" altLang="en-US" sz="2000">
                <a:solidFill>
                  <a:schemeClr val="tx1"/>
                </a:solidFill>
                <a:latin typeface="+mj-ea"/>
                <a:ea typeface="+mj-ea"/>
              </a:rPr>
              <a:t>：创建一个最小堆，用于表示活结点优先队列。计算每个顶点的最小费用出边并用</a:t>
            </a:r>
            <a:r>
              <a:rPr lang="en-US" altLang="zh-CN" sz="2000">
                <a:solidFill>
                  <a:schemeClr val="tx1"/>
                </a:solidFill>
                <a:latin typeface="+mj-ea"/>
                <a:ea typeface="+mj-ea"/>
              </a:rPr>
              <a:t>MinOut</a:t>
            </a:r>
            <a:r>
              <a:rPr lang="zh-CN" altLang="en-US" sz="2000">
                <a:solidFill>
                  <a:schemeClr val="tx1"/>
                </a:solidFill>
                <a:latin typeface="+mj-ea"/>
                <a:ea typeface="+mj-ea"/>
              </a:rPr>
              <a:t>记录。如果存在某个顶点没有出边，则算法结束。初始化根节点为第一个活动节点</a:t>
            </a:r>
            <a:endParaRPr lang="en-US" altLang="zh-CN" sz="2000">
              <a:solidFill>
                <a:schemeClr val="tx1"/>
              </a:solidFill>
              <a:latin typeface="+mj-ea"/>
              <a:ea typeface="+mj-ea"/>
            </a:endParaRPr>
          </a:p>
          <a:p>
            <a:pPr eaLnBrk="1" hangingPunct="1">
              <a:lnSpc>
                <a:spcPct val="150000"/>
              </a:lnSpc>
              <a:spcBef>
                <a:spcPct val="50000"/>
              </a:spcBef>
              <a:buClr>
                <a:schemeClr val="accent1"/>
              </a:buClr>
              <a:buSzPct val="65000"/>
              <a:buFont typeface="Wingdings" panose="05000000000000000000" pitchFamily="2" charset="2"/>
              <a:buChar char="n"/>
              <a:defRPr/>
            </a:pPr>
            <a:r>
              <a:rPr lang="en-US" altLang="zh-CN" sz="2000">
                <a:solidFill>
                  <a:schemeClr val="tx1"/>
                </a:solidFill>
                <a:latin typeface="+mj-ea"/>
                <a:ea typeface="+mj-ea"/>
              </a:rPr>
              <a:t>2.</a:t>
            </a:r>
            <a:r>
              <a:rPr lang="zh-CN" altLang="en-US" sz="2000" b="1">
                <a:solidFill>
                  <a:schemeClr val="tx1"/>
                </a:solidFill>
                <a:latin typeface="+mj-ea"/>
                <a:ea typeface="+mj-ea"/>
              </a:rPr>
              <a:t>内部节点扩展</a:t>
            </a:r>
            <a:r>
              <a:rPr lang="zh-CN" altLang="en-US" sz="2000">
                <a:solidFill>
                  <a:schemeClr val="tx1"/>
                </a:solidFill>
                <a:latin typeface="+mj-ea"/>
                <a:ea typeface="+mj-ea"/>
              </a:rPr>
              <a:t>：若是叶节点的父节点，检查是否一定有最低耗费；否则生成子节点，并判断子节点是否可能取得最低耗费，若可能则加入最小堆。</a:t>
            </a:r>
            <a:endParaRPr lang="en-US" altLang="zh-CN" sz="2000">
              <a:solidFill>
                <a:schemeClr val="tx1"/>
              </a:solidFill>
              <a:latin typeface="+mj-ea"/>
              <a:ea typeface="+mj-ea"/>
            </a:endParaRPr>
          </a:p>
          <a:p>
            <a:pPr eaLnBrk="1" hangingPunct="1">
              <a:lnSpc>
                <a:spcPct val="150000"/>
              </a:lnSpc>
              <a:spcBef>
                <a:spcPct val="50000"/>
              </a:spcBef>
              <a:buClr>
                <a:schemeClr val="accent1"/>
              </a:buClr>
              <a:buSzPct val="65000"/>
              <a:buFont typeface="Wingdings" panose="05000000000000000000" pitchFamily="2" charset="2"/>
              <a:buChar char="n"/>
              <a:defRPr/>
            </a:pPr>
            <a:r>
              <a:rPr lang="en-US" altLang="zh-CN" sz="2000">
                <a:solidFill>
                  <a:schemeClr val="tx1"/>
                </a:solidFill>
                <a:latin typeface="+mj-ea"/>
                <a:ea typeface="+mj-ea"/>
              </a:rPr>
              <a:t>3.</a:t>
            </a:r>
            <a:r>
              <a:rPr lang="zh-CN" altLang="en-US" sz="2000" b="1">
                <a:solidFill>
                  <a:schemeClr val="tx1"/>
                </a:solidFill>
                <a:latin typeface="+mj-ea"/>
                <a:ea typeface="+mj-ea"/>
              </a:rPr>
              <a:t>循环的终止条件</a:t>
            </a:r>
            <a:r>
              <a:rPr lang="zh-CN" altLang="en-US" sz="2000">
                <a:solidFill>
                  <a:schemeClr val="tx1"/>
                </a:solidFill>
                <a:latin typeface="+mj-ea"/>
                <a:ea typeface="+mj-ea"/>
              </a:rPr>
              <a:t>：若该节点已经是叶节点，则返回当前最低耗费值。</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linds(horizontal)">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3" name="Text Box 5">
            <a:extLst>
              <a:ext uri="{FF2B5EF4-FFF2-40B4-BE49-F238E27FC236}">
                <a16:creationId xmlns:a16="http://schemas.microsoft.com/office/drawing/2014/main" id="{51FEF960-61E5-424D-BCF7-59B380581E5E}"/>
              </a:ext>
            </a:extLst>
          </p:cNvPr>
          <p:cNvSpPr txBox="1">
            <a:spLocks noChangeArrowheads="1"/>
          </p:cNvSpPr>
          <p:nvPr/>
        </p:nvSpPr>
        <p:spPr bwMode="auto">
          <a:xfrm>
            <a:off x="323850" y="1466850"/>
            <a:ext cx="8429625"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lnSpc>
                <a:spcPct val="110000"/>
              </a:lnSpc>
              <a:spcBef>
                <a:spcPct val="20000"/>
              </a:spcBef>
              <a:buClr>
                <a:schemeClr val="accent1"/>
              </a:buClr>
              <a:buSzPct val="65000"/>
              <a:buFont typeface="Wingdings" panose="05000000000000000000" pitchFamily="2" charset="2"/>
              <a:buChar char="n"/>
              <a:defRPr/>
            </a:pPr>
            <a:r>
              <a:rPr lang="zh-CN" altLang="en-US" sz="2600" dirty="0">
                <a:solidFill>
                  <a:schemeClr val="tx1"/>
                </a:solidFill>
                <a:latin typeface="+mj-ea"/>
                <a:ea typeface="+mj-ea"/>
              </a:rPr>
              <a:t>算法开始时创建一个</a:t>
            </a:r>
            <a:r>
              <a:rPr lang="zh-CN" altLang="en-US" sz="2600" dirty="0">
                <a:solidFill>
                  <a:srgbClr val="FF0000"/>
                </a:solidFill>
                <a:latin typeface="+mj-ea"/>
                <a:ea typeface="+mj-ea"/>
              </a:rPr>
              <a:t>最小</a:t>
            </a:r>
            <a:r>
              <a:rPr lang="zh-CN" altLang="en-US" sz="2600" dirty="0">
                <a:solidFill>
                  <a:schemeClr val="tx1"/>
                </a:solidFill>
                <a:latin typeface="+mj-ea"/>
                <a:ea typeface="+mj-ea"/>
              </a:rPr>
              <a:t>堆，用于表示活结点优先队列。</a:t>
            </a:r>
            <a:r>
              <a:rPr lang="en-US" altLang="zh-CN" sz="2600" dirty="0">
                <a:solidFill>
                  <a:schemeClr val="tx1"/>
                </a:solidFill>
                <a:latin typeface="+mj-ea"/>
                <a:ea typeface="+mj-ea"/>
              </a:rPr>
              <a:t>(</a:t>
            </a:r>
            <a:r>
              <a:rPr lang="zh-CN" altLang="en-US" sz="2600" dirty="0">
                <a:solidFill>
                  <a:schemeClr val="tx1"/>
                </a:solidFill>
                <a:latin typeface="+mj-ea"/>
                <a:ea typeface="+mj-ea"/>
              </a:rPr>
              <a:t>用一个最小优先队列来记录活节点</a:t>
            </a:r>
            <a:r>
              <a:rPr lang="en-US" altLang="zh-CN" sz="2600" dirty="0">
                <a:solidFill>
                  <a:schemeClr val="tx1"/>
                </a:solidFill>
                <a:latin typeface="+mj-ea"/>
                <a:ea typeface="+mj-ea"/>
              </a:rPr>
              <a:t>)</a:t>
            </a:r>
            <a:r>
              <a:rPr lang="zh-CN" altLang="en-US" sz="2600" dirty="0">
                <a:solidFill>
                  <a:schemeClr val="tx1"/>
                </a:solidFill>
                <a:latin typeface="+mj-ea"/>
                <a:ea typeface="+mj-ea"/>
              </a:rPr>
              <a:t>，队列中</a:t>
            </a:r>
            <a:r>
              <a:rPr lang="zh-CN" altLang="en-US" sz="2600" dirty="0">
                <a:solidFill>
                  <a:srgbClr val="FF0000"/>
                </a:solidFill>
                <a:latin typeface="+mj-ea"/>
                <a:ea typeface="+mj-ea"/>
              </a:rPr>
              <a:t>每个节点的类型为</a:t>
            </a:r>
            <a:r>
              <a:rPr lang="en-US" altLang="zh-CN" sz="2600" dirty="0" err="1">
                <a:solidFill>
                  <a:srgbClr val="FF0000"/>
                </a:solidFill>
                <a:latin typeface="+mj-ea"/>
                <a:ea typeface="+mj-ea"/>
              </a:rPr>
              <a:t>MinHeapNode</a:t>
            </a:r>
            <a:r>
              <a:rPr lang="zh-CN" altLang="en-US" sz="2600" dirty="0">
                <a:solidFill>
                  <a:schemeClr val="tx1"/>
                </a:solidFill>
                <a:latin typeface="+mj-ea"/>
                <a:ea typeface="+mj-ea"/>
              </a:rPr>
              <a:t>。</a:t>
            </a:r>
            <a:endParaRPr lang="en-US" altLang="zh-CN" sz="2600" dirty="0">
              <a:solidFill>
                <a:schemeClr val="tx1"/>
              </a:solidFill>
              <a:latin typeface="+mj-ea"/>
              <a:ea typeface="+mj-ea"/>
            </a:endParaRPr>
          </a:p>
          <a:p>
            <a:pPr algn="just" eaLnBrk="1" hangingPunct="1">
              <a:lnSpc>
                <a:spcPct val="110000"/>
              </a:lnSpc>
              <a:spcBef>
                <a:spcPct val="20000"/>
              </a:spcBef>
              <a:buClr>
                <a:schemeClr val="accent1"/>
              </a:buClr>
              <a:buSzPct val="65000"/>
              <a:buFont typeface="Wingdings" panose="05000000000000000000" pitchFamily="2" charset="2"/>
              <a:buChar char="n"/>
              <a:defRPr/>
            </a:pPr>
            <a:endParaRPr lang="en-US" altLang="zh-CN" sz="2600" b="1" i="1" dirty="0">
              <a:solidFill>
                <a:schemeClr val="tx1"/>
              </a:solidFill>
              <a:latin typeface="+mj-ea"/>
              <a:ea typeface="+mj-ea"/>
            </a:endParaRPr>
          </a:p>
        </p:txBody>
      </p:sp>
      <p:sp>
        <p:nvSpPr>
          <p:cNvPr id="6" name="Rectangle 3">
            <a:extLst>
              <a:ext uri="{FF2B5EF4-FFF2-40B4-BE49-F238E27FC236}">
                <a16:creationId xmlns:a16="http://schemas.microsoft.com/office/drawing/2014/main" id="{6122C139-1D55-4A70-9785-BB8AD5FFF783}"/>
              </a:ext>
            </a:extLst>
          </p:cNvPr>
          <p:cNvSpPr txBox="1">
            <a:spLocks noRot="1" noChangeArrowheads="1"/>
          </p:cNvSpPr>
          <p:nvPr/>
        </p:nvSpPr>
        <p:spPr bwMode="auto">
          <a:xfrm>
            <a:off x="428625" y="3068638"/>
            <a:ext cx="8286750" cy="3097212"/>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Font typeface="Wingdings" panose="05000000000000000000" pitchFamily="2" charset="2"/>
              <a:buNone/>
              <a:defRPr/>
            </a:pPr>
            <a:r>
              <a:rPr lang="en-US" altLang="zh-CN" sz="2400" kern="0" dirty="0">
                <a:latin typeface="+mj-ea"/>
                <a:ea typeface="+mj-ea"/>
                <a:cs typeface="Times New Roman" panose="02020603050405020304" pitchFamily="18" charset="0"/>
              </a:rPr>
              <a:t>Class </a:t>
            </a:r>
            <a:r>
              <a:rPr lang="en-US" altLang="zh-CN" sz="2400" kern="0" dirty="0" err="1">
                <a:latin typeface="+mj-ea"/>
                <a:ea typeface="+mj-ea"/>
                <a:cs typeface="Times New Roman" panose="02020603050405020304" pitchFamily="18" charset="0"/>
              </a:rPr>
              <a:t>MinHeapNode</a:t>
            </a:r>
            <a:r>
              <a:rPr lang="en-US" altLang="zh-CN" sz="2400" kern="0" dirty="0">
                <a:latin typeface="+mj-ea"/>
                <a:ea typeface="+mj-ea"/>
                <a:cs typeface="Times New Roman" panose="02020603050405020304" pitchFamily="18" charset="0"/>
              </a:rPr>
              <a:t>{</a:t>
            </a:r>
          </a:p>
          <a:p>
            <a:pPr>
              <a:buFont typeface="Wingdings" panose="05000000000000000000" pitchFamily="2" charset="2"/>
              <a:buNone/>
              <a:defRPr/>
            </a:pPr>
            <a:r>
              <a:rPr lang="en-US" altLang="zh-CN" sz="2400" kern="0" dirty="0">
                <a:latin typeface="+mj-ea"/>
                <a:ea typeface="+mj-ea"/>
                <a:cs typeface="Times New Roman" panose="02020603050405020304" pitchFamily="18" charset="0"/>
              </a:rPr>
              <a:t>	  Type </a:t>
            </a:r>
            <a:r>
              <a:rPr lang="en-US" altLang="zh-CN" sz="2400" kern="0" dirty="0" err="1">
                <a:latin typeface="+mj-ea"/>
                <a:ea typeface="+mj-ea"/>
                <a:cs typeface="Times New Roman" panose="02020603050405020304" pitchFamily="18" charset="0"/>
              </a:rPr>
              <a:t>lcost</a:t>
            </a:r>
            <a:r>
              <a:rPr lang="en-US" altLang="zh-CN" sz="2400" kern="0" dirty="0">
                <a:latin typeface="+mj-ea"/>
                <a:ea typeface="+mj-ea"/>
                <a:cs typeface="Times New Roman" panose="02020603050405020304" pitchFamily="18" charset="0"/>
              </a:rPr>
              <a:t>,       //</a:t>
            </a:r>
            <a:r>
              <a:rPr lang="zh-CN" altLang="en-US" sz="2400" kern="0" dirty="0">
                <a:latin typeface="+mj-ea"/>
                <a:ea typeface="+mj-ea"/>
                <a:cs typeface="Times New Roman" panose="02020603050405020304" pitchFamily="18" charset="0"/>
              </a:rPr>
              <a:t>子树费用下界</a:t>
            </a:r>
          </a:p>
          <a:p>
            <a:pPr>
              <a:buFont typeface="Wingdings" panose="05000000000000000000" pitchFamily="2" charset="2"/>
              <a:buNone/>
              <a:defRPr/>
            </a:pPr>
            <a:r>
              <a:rPr lang="en-US" altLang="zh-CN" sz="2400" kern="0" dirty="0">
                <a:latin typeface="+mj-ea"/>
                <a:ea typeface="+mj-ea"/>
                <a:cs typeface="Times New Roman" panose="02020603050405020304" pitchFamily="18" charset="0"/>
              </a:rPr>
              <a:t>	           cc,	        //</a:t>
            </a:r>
            <a:r>
              <a:rPr lang="zh-CN" altLang="en-US" sz="2400" kern="0" dirty="0">
                <a:latin typeface="+mj-ea"/>
                <a:ea typeface="+mj-ea"/>
                <a:cs typeface="Times New Roman" panose="02020603050405020304" pitchFamily="18" charset="0"/>
              </a:rPr>
              <a:t>当前费用</a:t>
            </a:r>
          </a:p>
          <a:p>
            <a:pPr>
              <a:buFont typeface="Wingdings" panose="05000000000000000000" pitchFamily="2" charset="2"/>
              <a:buNone/>
              <a:defRPr/>
            </a:pPr>
            <a:r>
              <a:rPr lang="en-US" altLang="zh-CN" sz="2400" kern="0" dirty="0">
                <a:latin typeface="+mj-ea"/>
                <a:ea typeface="+mj-ea"/>
                <a:cs typeface="Times New Roman" panose="02020603050405020304" pitchFamily="18" charset="0"/>
              </a:rPr>
              <a:t>	           </a:t>
            </a:r>
            <a:r>
              <a:rPr lang="en-US" altLang="zh-CN" sz="2400" kern="0" dirty="0" err="1">
                <a:latin typeface="+mj-ea"/>
                <a:ea typeface="+mj-ea"/>
                <a:cs typeface="Times New Roman" panose="02020603050405020304" pitchFamily="18" charset="0"/>
              </a:rPr>
              <a:t>rcost</a:t>
            </a:r>
            <a:r>
              <a:rPr lang="en-US" altLang="zh-CN" sz="2400" kern="0" dirty="0">
                <a:latin typeface="+mj-ea"/>
                <a:ea typeface="+mj-ea"/>
                <a:cs typeface="Times New Roman" panose="02020603050405020304" pitchFamily="18" charset="0"/>
              </a:rPr>
              <a:t>;    //x[s:n-1]</a:t>
            </a:r>
            <a:r>
              <a:rPr lang="zh-CN" altLang="en-US" sz="2400" kern="0" dirty="0">
                <a:latin typeface="+mj-ea"/>
                <a:ea typeface="+mj-ea"/>
                <a:cs typeface="Times New Roman" panose="02020603050405020304" pitchFamily="18" charset="0"/>
              </a:rPr>
              <a:t>中顶点最小出边费用和</a:t>
            </a:r>
          </a:p>
          <a:p>
            <a:pPr>
              <a:buFont typeface="Wingdings" panose="05000000000000000000" pitchFamily="2" charset="2"/>
              <a:buNone/>
              <a:defRPr/>
            </a:pPr>
            <a:r>
              <a:rPr lang="en-US" altLang="zh-CN" sz="2400" kern="0" dirty="0">
                <a:latin typeface="+mj-ea"/>
                <a:ea typeface="+mj-ea"/>
                <a:cs typeface="Times New Roman" panose="02020603050405020304" pitchFamily="18" charset="0"/>
              </a:rPr>
              <a:t>	           *x;        //</a:t>
            </a:r>
            <a:r>
              <a:rPr lang="zh-CN" altLang="en-US" sz="2400" kern="0" dirty="0">
                <a:latin typeface="+mj-ea"/>
                <a:ea typeface="+mj-ea"/>
                <a:cs typeface="Times New Roman" panose="02020603050405020304" pitchFamily="18" charset="0"/>
              </a:rPr>
              <a:t>当前路径的顶点排列</a:t>
            </a:r>
            <a:endParaRPr lang="en-US" altLang="zh-CN" sz="2400" kern="0" dirty="0">
              <a:latin typeface="+mj-ea"/>
              <a:ea typeface="+mj-ea"/>
              <a:cs typeface="Times New Roman" panose="02020603050405020304" pitchFamily="18" charset="0"/>
            </a:endParaRPr>
          </a:p>
          <a:p>
            <a:pPr>
              <a:buFont typeface="Wingdings" panose="05000000000000000000" pitchFamily="2" charset="2"/>
              <a:buNone/>
              <a:defRPr/>
            </a:pPr>
            <a:r>
              <a:rPr lang="en-US" altLang="zh-CN" sz="2400" kern="0" dirty="0">
                <a:latin typeface="+mj-ea"/>
                <a:cs typeface="Times New Roman" panose="02020603050405020304" pitchFamily="18" charset="0"/>
              </a:rPr>
              <a:t>               </a:t>
            </a:r>
            <a:r>
              <a:rPr lang="en-US" altLang="zh-CN" sz="2400" kern="0" dirty="0" err="1">
                <a:latin typeface="+mj-ea"/>
                <a:cs typeface="Times New Roman" panose="02020603050405020304" pitchFamily="18" charset="0"/>
              </a:rPr>
              <a:t>int</a:t>
            </a:r>
            <a:r>
              <a:rPr lang="en-US" altLang="zh-CN" sz="2400" kern="0" dirty="0">
                <a:latin typeface="+mj-ea"/>
                <a:cs typeface="Times New Roman" panose="02020603050405020304" pitchFamily="18" charset="0"/>
              </a:rPr>
              <a:t> s,    //</a:t>
            </a:r>
            <a:r>
              <a:rPr lang="zh-CN" altLang="en-US" sz="2400" kern="0" dirty="0">
                <a:latin typeface="+mj-ea"/>
                <a:cs typeface="Times New Roman" panose="02020603050405020304" pitchFamily="18" charset="0"/>
              </a:rPr>
              <a:t>标记搜索进度，已访问</a:t>
            </a:r>
            <a:r>
              <a:rPr lang="en-US" altLang="zh-CN" sz="2400" kern="0" dirty="0">
                <a:latin typeface="+mj-ea"/>
                <a:cs typeface="Times New Roman" panose="02020603050405020304" pitchFamily="18" charset="0"/>
              </a:rPr>
              <a:t>x[0:s]</a:t>
            </a:r>
            <a:endParaRPr lang="zh-CN" altLang="en-US" sz="2400" kern="0" dirty="0">
              <a:latin typeface="+mj-ea"/>
              <a:ea typeface="+mj-ea"/>
              <a:cs typeface="Times New Roman" panose="02020603050405020304" pitchFamily="18" charset="0"/>
            </a:endParaRPr>
          </a:p>
          <a:p>
            <a:pPr>
              <a:buFont typeface="Wingdings" panose="05000000000000000000" pitchFamily="2" charset="2"/>
              <a:buNone/>
              <a:defRPr/>
            </a:pPr>
            <a:r>
              <a:rPr lang="en-US" altLang="zh-CN" sz="2400" kern="0" dirty="0">
                <a:latin typeface="+mj-ea"/>
                <a:ea typeface="+mj-ea"/>
                <a:cs typeface="Times New Roman" panose="02020603050405020304" pitchFamily="18" charset="0"/>
              </a:rPr>
              <a:t>}</a:t>
            </a:r>
          </a:p>
        </p:txBody>
      </p:sp>
      <p:sp>
        <p:nvSpPr>
          <p:cNvPr id="57349" name="矩形 1">
            <a:extLst>
              <a:ext uri="{FF2B5EF4-FFF2-40B4-BE49-F238E27FC236}">
                <a16:creationId xmlns:a16="http://schemas.microsoft.com/office/drawing/2014/main" id="{8F8CE267-24D7-4A58-8945-AB4C856E8B4A}"/>
              </a:ext>
            </a:extLst>
          </p:cNvPr>
          <p:cNvSpPr>
            <a:spLocks noChangeArrowheads="1"/>
          </p:cNvSpPr>
          <p:nvPr/>
        </p:nvSpPr>
        <p:spPr bwMode="auto">
          <a:xfrm>
            <a:off x="6411913" y="3630613"/>
            <a:ext cx="26241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1800" dirty="0" err="1">
                <a:solidFill>
                  <a:schemeClr val="tx1"/>
                </a:solidFill>
                <a:latin typeface="+mj-ea"/>
                <a:ea typeface="+mj-ea"/>
              </a:rPr>
              <a:t>MinOut</a:t>
            </a:r>
            <a:r>
              <a:rPr lang="zh-CN" altLang="en-US" sz="1800" dirty="0">
                <a:solidFill>
                  <a:schemeClr val="tx1"/>
                </a:solidFill>
                <a:latin typeface="+mj-ea"/>
                <a:ea typeface="+mj-ea"/>
              </a:rPr>
              <a:t>记录图中每个顶点的最小出边费用</a:t>
            </a:r>
            <a:endParaRPr lang="zh-CN" altLang="en-US" sz="1800" dirty="0">
              <a:latin typeface="+mj-ea"/>
              <a:ea typeface="+mj-ea"/>
            </a:endParaRPr>
          </a:p>
        </p:txBody>
      </p:sp>
      <p:cxnSp>
        <p:nvCxnSpPr>
          <p:cNvPr id="10" name="直接连接符 9">
            <a:extLst>
              <a:ext uri="{FF2B5EF4-FFF2-40B4-BE49-F238E27FC236}">
                <a16:creationId xmlns:a16="http://schemas.microsoft.com/office/drawing/2014/main" id="{6263817E-96B5-A6DE-CEFE-6AB79E6056BC}"/>
              </a:ext>
            </a:extLst>
          </p:cNvPr>
          <p:cNvCxnSpPr>
            <a:cxnSpLocks noChangeShapeType="1"/>
          </p:cNvCxnSpPr>
          <p:nvPr/>
        </p:nvCxnSpPr>
        <p:spPr bwMode="auto">
          <a:xfrm flipH="1">
            <a:off x="5883275" y="4075113"/>
            <a:ext cx="561975" cy="401637"/>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sp>
        <p:nvSpPr>
          <p:cNvPr id="57351" name="Rectangle 2">
            <a:extLst>
              <a:ext uri="{FF2B5EF4-FFF2-40B4-BE49-F238E27FC236}">
                <a16:creationId xmlns:a16="http://schemas.microsoft.com/office/drawing/2014/main" id="{EA68F441-E8A6-4B94-97A2-938BC5E49E13}"/>
              </a:ext>
            </a:extLst>
          </p:cNvPr>
          <p:cNvSpPr>
            <a:spLocks noGrp="1" noRot="1" noChangeArrowheads="1"/>
          </p:cNvSpPr>
          <p:nvPr>
            <p:ph type="title"/>
          </p:nvPr>
        </p:nvSpPr>
        <p:spPr>
          <a:xfrm>
            <a:off x="428625" y="285750"/>
            <a:ext cx="8540750" cy="1143000"/>
          </a:xfrm>
        </p:spPr>
        <p:txBody>
          <a:bodyPr/>
          <a:lstStyle/>
          <a:p>
            <a:pPr>
              <a:defRPr/>
            </a:pPr>
            <a:r>
              <a:rPr lang="zh-CN" altLang="en-US" dirty="0">
                <a:latin typeface="+mj-ea"/>
              </a:rPr>
              <a:t>准备工作</a:t>
            </a:r>
            <a:r>
              <a:rPr lang="en-US" altLang="zh-CN" dirty="0">
                <a:latin typeface="+mj-ea"/>
              </a:rPr>
              <a:t>——</a:t>
            </a:r>
            <a:r>
              <a:rPr lang="zh-CN" altLang="en-US" sz="4400" dirty="0">
                <a:solidFill>
                  <a:schemeClr val="tx1"/>
                </a:solidFill>
                <a:latin typeface="+mj-ea"/>
              </a:rPr>
              <a:t>创建一个最小堆</a:t>
            </a:r>
            <a:endParaRPr lang="zh-CN" altLang="en-US" dirty="0">
              <a:latin typeface="+mj-ea"/>
            </a:endParaRPr>
          </a:p>
        </p:txBody>
      </p:sp>
      <p:sp>
        <p:nvSpPr>
          <p:cNvPr id="2" name="矩形 1">
            <a:extLst>
              <a:ext uri="{FF2B5EF4-FFF2-40B4-BE49-F238E27FC236}">
                <a16:creationId xmlns:a16="http://schemas.microsoft.com/office/drawing/2014/main" id="{91DDE814-AFC3-4EDE-8432-CF756C6268BE}"/>
              </a:ext>
            </a:extLst>
          </p:cNvPr>
          <p:cNvSpPr/>
          <p:nvPr/>
        </p:nvSpPr>
        <p:spPr>
          <a:xfrm>
            <a:off x="428625" y="6272213"/>
            <a:ext cx="8712200" cy="412750"/>
          </a:xfrm>
          <a:prstGeom prst="rect">
            <a:avLst/>
          </a:prstGeom>
        </p:spPr>
        <p:txBody>
          <a:bodyPr>
            <a:spAutoFit/>
          </a:bodyPr>
          <a:lstStyle/>
          <a:p>
            <a:pPr>
              <a:lnSpc>
                <a:spcPts val="2500"/>
              </a:lnSpc>
              <a:defRPr/>
            </a:pPr>
            <a:r>
              <a:rPr lang="en-US" altLang="zh-CN" sz="2000" dirty="0" err="1">
                <a:latin typeface="+mj-ea"/>
              </a:rPr>
              <a:t>MinHeap</a:t>
            </a:r>
            <a:r>
              <a:rPr lang="en-US" altLang="zh-CN" sz="2000" dirty="0">
                <a:latin typeface="+mj-ea"/>
              </a:rPr>
              <a:t>&lt;</a:t>
            </a:r>
            <a:r>
              <a:rPr lang="en-US" altLang="zh-CN" sz="2000" dirty="0" err="1">
                <a:latin typeface="+mj-ea"/>
              </a:rPr>
              <a:t>MinHeapNode</a:t>
            </a:r>
            <a:r>
              <a:rPr lang="en-US" altLang="zh-CN" sz="2000" dirty="0">
                <a:latin typeface="+mj-ea"/>
              </a:rPr>
              <a:t>&gt; H(1000);</a:t>
            </a:r>
            <a:r>
              <a:rPr lang="en-US" altLang="zh-CN" sz="2000" dirty="0">
                <a:solidFill>
                  <a:schemeClr val="tx1"/>
                </a:solidFill>
                <a:latin typeface="+mj-ea"/>
              </a:rPr>
              <a:t>  //</a:t>
            </a:r>
            <a:r>
              <a:rPr lang="zh-CN" altLang="en-US" sz="2000" dirty="0">
                <a:solidFill>
                  <a:schemeClr val="tx1"/>
                </a:solidFill>
                <a:latin typeface="+mj-ea"/>
              </a:rPr>
              <a:t>定义最小堆容量为</a:t>
            </a:r>
            <a:r>
              <a:rPr lang="en-US" altLang="zh-CN" sz="2000" dirty="0">
                <a:solidFill>
                  <a:schemeClr val="tx1"/>
                </a:solidFill>
                <a:latin typeface="+mj-ea"/>
              </a:rPr>
              <a:t>1000</a:t>
            </a:r>
            <a:endParaRPr lang="en-US" altLang="zh-CN" sz="2000" dirty="0">
              <a:latin typeface="+mj-ea"/>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4133"/>
                                        </p:tgtEl>
                                        <p:attrNameLst>
                                          <p:attrName>style.visibility</p:attrName>
                                        </p:attrNameLst>
                                      </p:cBhvr>
                                      <p:to>
                                        <p:strVal val="visible"/>
                                      </p:to>
                                    </p:set>
                                    <p:animEffect transition="in" filter="blinds(horizontal)">
                                      <p:cBhvr>
                                        <p:cTn id="7" dur="500"/>
                                        <p:tgtEl>
                                          <p:spTgt spid="3041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5098D9A-D722-469B-840C-3ECA5E44E693}"/>
              </a:ext>
            </a:extLst>
          </p:cNvPr>
          <p:cNvSpPr>
            <a:spLocks noGrp="1" noRot="1" noChangeArrowheads="1"/>
          </p:cNvSpPr>
          <p:nvPr>
            <p:ph type="title"/>
          </p:nvPr>
        </p:nvSpPr>
        <p:spPr>
          <a:xfrm>
            <a:off x="428625" y="285750"/>
            <a:ext cx="8540750" cy="1143000"/>
          </a:xfrm>
        </p:spPr>
        <p:txBody>
          <a:bodyPr/>
          <a:lstStyle/>
          <a:p>
            <a:pPr>
              <a:defRPr/>
            </a:pPr>
            <a:r>
              <a:rPr lang="zh-CN" altLang="en-US">
                <a:latin typeface="+mj-ea"/>
              </a:rPr>
              <a:t>准备工作</a:t>
            </a:r>
            <a:r>
              <a:rPr lang="en-US" altLang="zh-CN">
                <a:latin typeface="+mj-ea"/>
              </a:rPr>
              <a:t>——</a:t>
            </a:r>
            <a:r>
              <a:rPr lang="zh-CN" altLang="en-US">
                <a:latin typeface="+mj-ea"/>
              </a:rPr>
              <a:t>计算</a:t>
            </a:r>
            <a:r>
              <a:rPr lang="en-US" altLang="zh-CN">
                <a:latin typeface="+mj-ea"/>
              </a:rPr>
              <a:t>MinOut</a:t>
            </a:r>
            <a:endParaRPr lang="zh-CN" altLang="en-US">
              <a:latin typeface="+mj-ea"/>
            </a:endParaRPr>
          </a:p>
        </p:txBody>
      </p:sp>
      <p:sp>
        <p:nvSpPr>
          <p:cNvPr id="58371" name="Rectangle 3">
            <a:extLst>
              <a:ext uri="{FF2B5EF4-FFF2-40B4-BE49-F238E27FC236}">
                <a16:creationId xmlns:a16="http://schemas.microsoft.com/office/drawing/2014/main" id="{35C8E0E4-0DC2-4DF1-85CC-322C8380BC39}"/>
              </a:ext>
            </a:extLst>
          </p:cNvPr>
          <p:cNvSpPr>
            <a:spLocks noGrp="1" noRot="1" noChangeArrowheads="1"/>
          </p:cNvSpPr>
          <p:nvPr>
            <p:ph type="body" idx="1"/>
          </p:nvPr>
        </p:nvSpPr>
        <p:spPr>
          <a:xfrm>
            <a:off x="157163" y="1152525"/>
            <a:ext cx="8967787" cy="5545138"/>
          </a:xfrm>
        </p:spPr>
        <p:txBody>
          <a:bodyPr/>
          <a:lstStyle/>
          <a:p>
            <a:pPr>
              <a:buFont typeface="Wingdings" panose="05000000000000000000" pitchFamily="2" charset="2"/>
              <a:buNone/>
              <a:defRPr/>
            </a:pPr>
            <a:r>
              <a:rPr lang="en-US" altLang="zh-CN" sz="2400" dirty="0">
                <a:latin typeface="+mj-ea"/>
                <a:ea typeface="+mj-ea"/>
                <a:cs typeface="Times New Roman" panose="02020603050405020304" pitchFamily="18" charset="0"/>
              </a:rPr>
              <a:t>// </a:t>
            </a:r>
            <a:r>
              <a:rPr lang="zh-CN" altLang="en-US" sz="2400" dirty="0">
                <a:latin typeface="+mj-ea"/>
                <a:ea typeface="+mj-ea"/>
                <a:cs typeface="Times New Roman" panose="02020603050405020304" pitchFamily="18" charset="0"/>
              </a:rPr>
              <a:t>计算</a:t>
            </a:r>
            <a:r>
              <a:rPr lang="en-US" altLang="zh-CN" sz="2400" dirty="0" err="1">
                <a:latin typeface="+mj-ea"/>
                <a:ea typeface="+mj-ea"/>
                <a:cs typeface="Times New Roman" panose="02020603050405020304" pitchFamily="18" charset="0"/>
              </a:rPr>
              <a:t>MinOut</a:t>
            </a:r>
            <a:r>
              <a:rPr lang="en-US" altLang="zh-CN" sz="2400" dirty="0">
                <a:latin typeface="+mj-ea"/>
                <a:ea typeface="+mj-ea"/>
                <a:cs typeface="Times New Roman" panose="02020603050405020304" pitchFamily="18" charset="0"/>
              </a:rPr>
              <a:t>[</a:t>
            </a:r>
            <a:r>
              <a:rPr lang="en-US" altLang="zh-CN" sz="2400" dirty="0" err="1">
                <a:latin typeface="+mj-ea"/>
                <a:ea typeface="+mj-ea"/>
                <a:cs typeface="Times New Roman" panose="02020603050405020304" pitchFamily="18" charset="0"/>
              </a:rPr>
              <a:t>i</a:t>
            </a:r>
            <a:r>
              <a:rPr lang="en-US" altLang="zh-CN" sz="2400" dirty="0">
                <a:latin typeface="+mj-ea"/>
                <a:ea typeface="+mj-ea"/>
                <a:cs typeface="Times New Roman" panose="02020603050405020304" pitchFamily="18" charset="0"/>
              </a:rPr>
              <a:t>] = </a:t>
            </a:r>
            <a:r>
              <a:rPr lang="zh-CN" altLang="en-US" sz="2400" dirty="0">
                <a:latin typeface="+mj-ea"/>
                <a:ea typeface="+mj-ea"/>
                <a:cs typeface="Times New Roman" panose="02020603050405020304" pitchFamily="18" charset="0"/>
              </a:rPr>
              <a:t>顶点</a:t>
            </a:r>
            <a:r>
              <a:rPr lang="en-US" altLang="zh-CN" sz="2400" dirty="0" err="1">
                <a:latin typeface="+mj-ea"/>
                <a:ea typeface="+mj-ea"/>
                <a:cs typeface="Times New Roman" panose="02020603050405020304" pitchFamily="18" charset="0"/>
              </a:rPr>
              <a:t>i</a:t>
            </a:r>
            <a:r>
              <a:rPr lang="zh-CN" altLang="en-US" sz="2400" dirty="0">
                <a:latin typeface="+mj-ea"/>
                <a:ea typeface="+mj-ea"/>
                <a:cs typeface="Times New Roman" panose="02020603050405020304" pitchFamily="18" charset="0"/>
              </a:rPr>
              <a:t>的最小出边费用</a:t>
            </a:r>
          </a:p>
          <a:p>
            <a:pPr>
              <a:lnSpc>
                <a:spcPct val="150000"/>
              </a:lnSpc>
              <a:buFont typeface="Wingdings" panose="05000000000000000000" pitchFamily="2" charset="2"/>
              <a:buNone/>
              <a:defRPr/>
            </a:pPr>
            <a:r>
              <a:rPr lang="en-US" altLang="zh-CN" sz="2400" dirty="0">
                <a:latin typeface="+mj-ea"/>
                <a:ea typeface="+mj-ea"/>
                <a:cs typeface="Times New Roman" panose="02020603050405020304" pitchFamily="18" charset="0"/>
              </a:rPr>
              <a:t>   </a:t>
            </a:r>
            <a:r>
              <a:rPr lang="en-US" altLang="zh-CN" sz="2200" dirty="0">
                <a:latin typeface="+mj-ea"/>
                <a:ea typeface="+mj-ea"/>
                <a:cs typeface="Times New Roman" panose="02020603050405020304" pitchFamily="18" charset="0"/>
              </a:rPr>
              <a:t>Type *</a:t>
            </a:r>
            <a:r>
              <a:rPr lang="en-US" altLang="zh-CN" sz="2200" dirty="0" err="1">
                <a:latin typeface="+mj-ea"/>
                <a:ea typeface="+mj-ea"/>
                <a:cs typeface="Times New Roman" panose="02020603050405020304" pitchFamily="18" charset="0"/>
              </a:rPr>
              <a:t>MinOut</a:t>
            </a:r>
            <a:r>
              <a:rPr lang="en-US" altLang="zh-CN" sz="2200" dirty="0">
                <a:latin typeface="+mj-ea"/>
                <a:ea typeface="+mj-ea"/>
                <a:cs typeface="Times New Roman" panose="02020603050405020304" pitchFamily="18" charset="0"/>
              </a:rPr>
              <a:t> = new Type [n+1]; </a:t>
            </a:r>
            <a:r>
              <a:rPr lang="zh-CN" altLang="en-US" sz="2200" dirty="0">
                <a:latin typeface="+mj-ea"/>
                <a:ea typeface="+mj-ea"/>
                <a:cs typeface="Times New Roman" panose="02020603050405020304" pitchFamily="18" charset="0"/>
              </a:rPr>
              <a:t> </a:t>
            </a:r>
            <a:br>
              <a:rPr lang="zh-CN" altLang="en-US" sz="2200" dirty="0">
                <a:latin typeface="+mj-ea"/>
                <a:ea typeface="+mj-ea"/>
                <a:cs typeface="Times New Roman" panose="02020603050405020304" pitchFamily="18" charset="0"/>
              </a:rPr>
            </a:br>
            <a:r>
              <a:rPr lang="en-US" altLang="zh-CN" sz="2200" dirty="0" err="1">
                <a:latin typeface="+mj-ea"/>
                <a:ea typeface="+mj-ea"/>
                <a:cs typeface="Times New Roman" panose="02020603050405020304" pitchFamily="18" charset="0"/>
              </a:rPr>
              <a:t>MinSum</a:t>
            </a:r>
            <a:r>
              <a:rPr lang="en-US" altLang="zh-CN" sz="2200" dirty="0">
                <a:latin typeface="+mj-ea"/>
                <a:ea typeface="+mj-ea"/>
                <a:cs typeface="Times New Roman" panose="02020603050405020304" pitchFamily="18" charset="0"/>
              </a:rPr>
              <a:t> = 0; //</a:t>
            </a:r>
            <a:r>
              <a:rPr lang="zh-CN" altLang="en-US" sz="2200" dirty="0">
                <a:latin typeface="+mj-ea"/>
                <a:ea typeface="+mj-ea"/>
                <a:cs typeface="Times New Roman" panose="02020603050405020304" pitchFamily="18" charset="0"/>
              </a:rPr>
              <a:t>最小出边费用和</a:t>
            </a:r>
            <a:br>
              <a:rPr lang="zh-CN" altLang="en-US" sz="2200" dirty="0">
                <a:latin typeface="+mj-ea"/>
                <a:ea typeface="+mj-ea"/>
                <a:cs typeface="Times New Roman" panose="02020603050405020304" pitchFamily="18" charset="0"/>
              </a:rPr>
            </a:br>
            <a:r>
              <a:rPr lang="en-US" altLang="zh-CN" sz="2200" dirty="0">
                <a:solidFill>
                  <a:srgbClr val="FF0000"/>
                </a:solidFill>
                <a:latin typeface="+mj-ea"/>
                <a:ea typeface="+mj-ea"/>
                <a:cs typeface="Times New Roman" panose="02020603050405020304" pitchFamily="18" charset="0"/>
              </a:rPr>
              <a:t>for</a:t>
            </a:r>
            <a:r>
              <a:rPr lang="en-US" altLang="zh-CN" sz="2200" dirty="0">
                <a:latin typeface="+mj-ea"/>
                <a:ea typeface="+mj-ea"/>
                <a:cs typeface="Times New Roman" panose="02020603050405020304" pitchFamily="18" charset="0"/>
              </a:rPr>
              <a:t> (</a:t>
            </a:r>
            <a:r>
              <a:rPr lang="en-US" altLang="zh-CN" sz="2200" dirty="0" err="1">
                <a:latin typeface="+mj-ea"/>
                <a:ea typeface="+mj-ea"/>
                <a:cs typeface="Times New Roman" panose="02020603050405020304" pitchFamily="18" charset="0"/>
              </a:rPr>
              <a:t>int</a:t>
            </a:r>
            <a:r>
              <a:rPr lang="en-US" altLang="zh-CN" sz="2200" dirty="0">
                <a:latin typeface="+mj-ea"/>
                <a:ea typeface="+mj-ea"/>
                <a:cs typeface="Times New Roman" panose="02020603050405020304" pitchFamily="18" charset="0"/>
              </a:rPr>
              <a:t> </a:t>
            </a:r>
            <a:r>
              <a:rPr lang="en-US" altLang="zh-CN" sz="2200" dirty="0" err="1">
                <a:latin typeface="+mj-ea"/>
                <a:ea typeface="+mj-ea"/>
                <a:cs typeface="Times New Roman" panose="02020603050405020304" pitchFamily="18" charset="0"/>
              </a:rPr>
              <a:t>i</a:t>
            </a:r>
            <a:r>
              <a:rPr lang="en-US" altLang="zh-CN" sz="2200" dirty="0">
                <a:latin typeface="+mj-ea"/>
                <a:ea typeface="+mj-ea"/>
                <a:cs typeface="Times New Roman" panose="02020603050405020304" pitchFamily="18" charset="0"/>
              </a:rPr>
              <a:t> = 1; </a:t>
            </a:r>
            <a:r>
              <a:rPr lang="en-US" altLang="zh-CN" sz="2200" dirty="0" err="1">
                <a:latin typeface="+mj-ea"/>
                <a:ea typeface="+mj-ea"/>
                <a:cs typeface="Times New Roman" panose="02020603050405020304" pitchFamily="18" charset="0"/>
              </a:rPr>
              <a:t>i</a:t>
            </a:r>
            <a:r>
              <a:rPr lang="en-US" altLang="zh-CN" sz="2200" dirty="0">
                <a:latin typeface="+mj-ea"/>
                <a:ea typeface="+mj-ea"/>
                <a:cs typeface="Times New Roman" panose="02020603050405020304" pitchFamily="18" charset="0"/>
              </a:rPr>
              <a:t> &lt;= n; </a:t>
            </a:r>
            <a:r>
              <a:rPr lang="en-US" altLang="zh-CN" sz="2200" dirty="0" err="1">
                <a:latin typeface="+mj-ea"/>
                <a:ea typeface="+mj-ea"/>
                <a:cs typeface="Times New Roman" panose="02020603050405020304" pitchFamily="18" charset="0"/>
              </a:rPr>
              <a:t>i</a:t>
            </a:r>
            <a:r>
              <a:rPr lang="en-US" altLang="zh-CN" sz="2200" dirty="0">
                <a:latin typeface="+mj-ea"/>
                <a:ea typeface="+mj-ea"/>
                <a:cs typeface="Times New Roman" panose="02020603050405020304" pitchFamily="18" charset="0"/>
              </a:rPr>
              <a:t>++) { </a:t>
            </a:r>
            <a:br>
              <a:rPr lang="en-US" altLang="zh-CN" sz="2200" dirty="0">
                <a:latin typeface="+mj-ea"/>
                <a:ea typeface="+mj-ea"/>
                <a:cs typeface="Times New Roman" panose="02020603050405020304" pitchFamily="18" charset="0"/>
              </a:rPr>
            </a:br>
            <a:r>
              <a:rPr lang="en-US" altLang="zh-CN" sz="2200" dirty="0">
                <a:latin typeface="+mj-ea"/>
                <a:ea typeface="+mj-ea"/>
                <a:cs typeface="Times New Roman" panose="02020603050405020304" pitchFamily="18" charset="0"/>
              </a:rPr>
              <a:t>	Type Min = </a:t>
            </a:r>
            <a:r>
              <a:rPr lang="en-US" altLang="zh-CN" sz="2200" dirty="0" err="1">
                <a:latin typeface="+mj-ea"/>
                <a:ea typeface="+mj-ea"/>
                <a:cs typeface="Times New Roman" panose="02020603050405020304" pitchFamily="18" charset="0"/>
              </a:rPr>
              <a:t>NoEdge</a:t>
            </a:r>
            <a:r>
              <a:rPr lang="en-US" altLang="zh-CN" sz="2200" dirty="0">
                <a:latin typeface="+mj-ea"/>
                <a:ea typeface="+mj-ea"/>
                <a:cs typeface="Times New Roman" panose="02020603050405020304" pitchFamily="18" charset="0"/>
              </a:rPr>
              <a:t>;           // </a:t>
            </a:r>
            <a:r>
              <a:rPr lang="en-US" altLang="zh-CN" sz="2200" dirty="0" err="1">
                <a:latin typeface="+mj-ea"/>
                <a:ea typeface="+mj-ea"/>
                <a:cs typeface="Times New Roman" panose="02020603050405020304" pitchFamily="18" charset="0"/>
              </a:rPr>
              <a:t>NoEdge</a:t>
            </a:r>
            <a:r>
              <a:rPr lang="zh-CN" altLang="en-US" sz="2200" dirty="0">
                <a:latin typeface="+mj-ea"/>
                <a:ea typeface="+mj-ea"/>
                <a:cs typeface="Times New Roman" panose="02020603050405020304" pitchFamily="18" charset="0"/>
              </a:rPr>
              <a:t>是无边的标志</a:t>
            </a:r>
            <a:br>
              <a:rPr lang="en-US" altLang="zh-CN" sz="2200" dirty="0">
                <a:latin typeface="+mj-ea"/>
                <a:ea typeface="+mj-ea"/>
                <a:cs typeface="Times New Roman" panose="02020603050405020304" pitchFamily="18" charset="0"/>
              </a:rPr>
            </a:br>
            <a:r>
              <a:rPr lang="en-US" altLang="zh-CN" sz="2200" dirty="0">
                <a:latin typeface="+mj-ea"/>
                <a:ea typeface="+mj-ea"/>
                <a:cs typeface="Times New Roman" panose="02020603050405020304" pitchFamily="18" charset="0"/>
              </a:rPr>
              <a:t>	</a:t>
            </a:r>
            <a:r>
              <a:rPr lang="en-US" altLang="zh-CN" sz="2200" dirty="0">
                <a:solidFill>
                  <a:srgbClr val="FF0000"/>
                </a:solidFill>
                <a:latin typeface="+mj-ea"/>
                <a:ea typeface="+mj-ea"/>
                <a:cs typeface="Times New Roman" panose="02020603050405020304" pitchFamily="18" charset="0"/>
              </a:rPr>
              <a:t>for</a:t>
            </a:r>
            <a:r>
              <a:rPr lang="en-US" altLang="zh-CN" sz="2200" dirty="0">
                <a:latin typeface="+mj-ea"/>
                <a:ea typeface="+mj-ea"/>
                <a:cs typeface="Times New Roman" panose="02020603050405020304" pitchFamily="18" charset="0"/>
              </a:rPr>
              <a:t> (</a:t>
            </a:r>
            <a:r>
              <a:rPr lang="en-US" altLang="zh-CN" sz="2200" dirty="0" err="1">
                <a:latin typeface="+mj-ea"/>
                <a:ea typeface="+mj-ea"/>
                <a:cs typeface="Times New Roman" panose="02020603050405020304" pitchFamily="18" charset="0"/>
              </a:rPr>
              <a:t>int</a:t>
            </a:r>
            <a:r>
              <a:rPr lang="en-US" altLang="zh-CN" sz="2200" dirty="0">
                <a:latin typeface="+mj-ea"/>
                <a:ea typeface="+mj-ea"/>
                <a:cs typeface="Times New Roman" panose="02020603050405020304" pitchFamily="18" charset="0"/>
              </a:rPr>
              <a:t> j = 1; j &lt;= n; </a:t>
            </a:r>
            <a:r>
              <a:rPr lang="en-US" altLang="zh-CN" sz="2200" dirty="0" err="1">
                <a:latin typeface="+mj-ea"/>
                <a:ea typeface="+mj-ea"/>
                <a:cs typeface="Times New Roman" panose="02020603050405020304" pitchFamily="18" charset="0"/>
              </a:rPr>
              <a:t>j++</a:t>
            </a:r>
            <a:r>
              <a:rPr lang="en-US" altLang="zh-CN" sz="2200" dirty="0">
                <a:latin typeface="+mj-ea"/>
                <a:ea typeface="+mj-ea"/>
                <a:cs typeface="Times New Roman" panose="02020603050405020304" pitchFamily="18" charset="0"/>
              </a:rPr>
              <a:t>) </a:t>
            </a:r>
            <a:br>
              <a:rPr lang="en-US" altLang="zh-CN" sz="2200" dirty="0">
                <a:latin typeface="+mj-ea"/>
                <a:ea typeface="+mj-ea"/>
                <a:cs typeface="Times New Roman" panose="02020603050405020304" pitchFamily="18" charset="0"/>
              </a:rPr>
            </a:br>
            <a:r>
              <a:rPr lang="en-US" altLang="zh-CN" sz="2200" dirty="0">
                <a:latin typeface="+mj-ea"/>
                <a:ea typeface="+mj-ea"/>
                <a:cs typeface="Times New Roman" panose="02020603050405020304" pitchFamily="18" charset="0"/>
              </a:rPr>
              <a:t>	  if (</a:t>
            </a:r>
            <a:r>
              <a:rPr lang="en-US" altLang="zh-CN" sz="2200" dirty="0">
                <a:solidFill>
                  <a:srgbClr val="FF0000"/>
                </a:solidFill>
                <a:latin typeface="+mj-ea"/>
                <a:ea typeface="+mj-ea"/>
                <a:cs typeface="Times New Roman" panose="02020603050405020304" pitchFamily="18" charset="0"/>
              </a:rPr>
              <a:t>a[</a:t>
            </a:r>
            <a:r>
              <a:rPr lang="en-US" altLang="zh-CN" sz="2200" dirty="0" err="1">
                <a:solidFill>
                  <a:srgbClr val="FF0000"/>
                </a:solidFill>
                <a:latin typeface="+mj-ea"/>
                <a:ea typeface="+mj-ea"/>
                <a:cs typeface="Times New Roman" panose="02020603050405020304" pitchFamily="18" charset="0"/>
              </a:rPr>
              <a:t>i</a:t>
            </a:r>
            <a:r>
              <a:rPr lang="en-US" altLang="zh-CN" sz="2200" dirty="0">
                <a:solidFill>
                  <a:srgbClr val="FF0000"/>
                </a:solidFill>
                <a:latin typeface="+mj-ea"/>
                <a:ea typeface="+mj-ea"/>
                <a:cs typeface="Times New Roman" panose="02020603050405020304" pitchFamily="18" charset="0"/>
              </a:rPr>
              <a:t>][j] != </a:t>
            </a:r>
            <a:r>
              <a:rPr lang="en-US" altLang="zh-CN" sz="2200" dirty="0" err="1">
                <a:solidFill>
                  <a:srgbClr val="FF0000"/>
                </a:solidFill>
                <a:latin typeface="+mj-ea"/>
                <a:ea typeface="+mj-ea"/>
                <a:cs typeface="Times New Roman" panose="02020603050405020304" pitchFamily="18" charset="0"/>
              </a:rPr>
              <a:t>NoEdge</a:t>
            </a:r>
            <a:r>
              <a:rPr lang="en-US" altLang="zh-CN" sz="2200" dirty="0">
                <a:solidFill>
                  <a:srgbClr val="FF0000"/>
                </a:solidFill>
                <a:latin typeface="+mj-ea"/>
                <a:ea typeface="+mj-ea"/>
                <a:cs typeface="Times New Roman" panose="02020603050405020304" pitchFamily="18" charset="0"/>
              </a:rPr>
              <a:t> </a:t>
            </a:r>
            <a:r>
              <a:rPr lang="en-US" altLang="zh-CN" sz="2200" dirty="0">
                <a:latin typeface="+mj-ea"/>
                <a:ea typeface="+mj-ea"/>
                <a:cs typeface="Times New Roman" panose="02020603050405020304" pitchFamily="18" charset="0"/>
              </a:rPr>
              <a:t>&amp;&amp; (</a:t>
            </a:r>
            <a:r>
              <a:rPr lang="en-US" altLang="zh-CN" sz="2200" dirty="0">
                <a:solidFill>
                  <a:srgbClr val="FF0000"/>
                </a:solidFill>
                <a:latin typeface="+mj-ea"/>
                <a:ea typeface="+mj-ea"/>
                <a:cs typeface="Times New Roman" panose="02020603050405020304" pitchFamily="18" charset="0"/>
              </a:rPr>
              <a:t>a[</a:t>
            </a:r>
            <a:r>
              <a:rPr lang="en-US" altLang="zh-CN" sz="2200" dirty="0" err="1">
                <a:solidFill>
                  <a:srgbClr val="FF0000"/>
                </a:solidFill>
                <a:latin typeface="+mj-ea"/>
                <a:ea typeface="+mj-ea"/>
                <a:cs typeface="Times New Roman" panose="02020603050405020304" pitchFamily="18" charset="0"/>
              </a:rPr>
              <a:t>i</a:t>
            </a:r>
            <a:r>
              <a:rPr lang="en-US" altLang="zh-CN" sz="2200" dirty="0">
                <a:solidFill>
                  <a:srgbClr val="FF0000"/>
                </a:solidFill>
                <a:latin typeface="+mj-ea"/>
                <a:ea typeface="+mj-ea"/>
                <a:cs typeface="Times New Roman" panose="02020603050405020304" pitchFamily="18" charset="0"/>
              </a:rPr>
              <a:t>][j] &lt; Min || Min == </a:t>
            </a:r>
            <a:r>
              <a:rPr lang="en-US" altLang="zh-CN" sz="2200" dirty="0" err="1">
                <a:solidFill>
                  <a:srgbClr val="FF0000"/>
                </a:solidFill>
                <a:latin typeface="+mj-ea"/>
                <a:ea typeface="+mj-ea"/>
                <a:cs typeface="Times New Roman" panose="02020603050405020304" pitchFamily="18" charset="0"/>
              </a:rPr>
              <a:t>NoEdge</a:t>
            </a:r>
            <a:r>
              <a:rPr lang="en-US" altLang="zh-CN" sz="2200" dirty="0">
                <a:solidFill>
                  <a:srgbClr val="FF0000"/>
                </a:solidFill>
                <a:latin typeface="+mj-ea"/>
                <a:ea typeface="+mj-ea"/>
                <a:cs typeface="Times New Roman" panose="02020603050405020304" pitchFamily="18" charset="0"/>
              </a:rPr>
              <a:t>)</a:t>
            </a:r>
            <a:r>
              <a:rPr lang="en-US" altLang="zh-CN" sz="2200" dirty="0">
                <a:latin typeface="+mj-ea"/>
                <a:ea typeface="+mj-ea"/>
                <a:cs typeface="Times New Roman" panose="02020603050405020304" pitchFamily="18" charset="0"/>
              </a:rPr>
              <a:t>) </a:t>
            </a:r>
            <a:br>
              <a:rPr lang="en-US" altLang="zh-CN" sz="2200" dirty="0">
                <a:latin typeface="+mj-ea"/>
                <a:ea typeface="+mj-ea"/>
                <a:cs typeface="Times New Roman" panose="02020603050405020304" pitchFamily="18" charset="0"/>
              </a:rPr>
            </a:br>
            <a:r>
              <a:rPr lang="en-US" altLang="zh-CN" sz="2200" dirty="0">
                <a:latin typeface="+mj-ea"/>
                <a:ea typeface="+mj-ea"/>
                <a:cs typeface="Times New Roman" panose="02020603050405020304" pitchFamily="18" charset="0"/>
              </a:rPr>
              <a:t>	             Min = a[</a:t>
            </a:r>
            <a:r>
              <a:rPr lang="en-US" altLang="zh-CN" sz="2200" dirty="0" err="1">
                <a:latin typeface="+mj-ea"/>
                <a:ea typeface="+mj-ea"/>
                <a:cs typeface="Times New Roman" panose="02020603050405020304" pitchFamily="18" charset="0"/>
              </a:rPr>
              <a:t>i</a:t>
            </a:r>
            <a:r>
              <a:rPr lang="en-US" altLang="zh-CN" sz="2200" dirty="0">
                <a:latin typeface="+mj-ea"/>
                <a:ea typeface="+mj-ea"/>
                <a:cs typeface="Times New Roman" panose="02020603050405020304" pitchFamily="18" charset="0"/>
              </a:rPr>
              <a:t>][j]; </a:t>
            </a:r>
            <a:br>
              <a:rPr lang="en-US" altLang="zh-CN" sz="2200" dirty="0">
                <a:latin typeface="+mj-ea"/>
                <a:ea typeface="+mj-ea"/>
                <a:cs typeface="Times New Roman" panose="02020603050405020304" pitchFamily="18" charset="0"/>
              </a:rPr>
            </a:br>
            <a:r>
              <a:rPr lang="en-US" altLang="zh-CN" sz="2200" dirty="0">
                <a:latin typeface="+mj-ea"/>
                <a:ea typeface="+mj-ea"/>
                <a:cs typeface="Times New Roman" panose="02020603050405020304" pitchFamily="18" charset="0"/>
              </a:rPr>
              <a:t>	if (</a:t>
            </a:r>
            <a:r>
              <a:rPr lang="en-US" altLang="zh-CN" sz="2200" dirty="0">
                <a:solidFill>
                  <a:srgbClr val="FF0000"/>
                </a:solidFill>
                <a:latin typeface="+mj-ea"/>
                <a:ea typeface="+mj-ea"/>
                <a:cs typeface="Times New Roman" panose="02020603050405020304" pitchFamily="18" charset="0"/>
              </a:rPr>
              <a:t>Min == </a:t>
            </a:r>
            <a:r>
              <a:rPr lang="en-US" altLang="zh-CN" sz="2200" dirty="0" err="1">
                <a:solidFill>
                  <a:srgbClr val="FF0000"/>
                </a:solidFill>
                <a:latin typeface="+mj-ea"/>
                <a:ea typeface="+mj-ea"/>
                <a:cs typeface="Times New Roman" panose="02020603050405020304" pitchFamily="18" charset="0"/>
              </a:rPr>
              <a:t>NoEdge</a:t>
            </a:r>
            <a:r>
              <a:rPr lang="en-US" altLang="zh-CN" sz="2200" dirty="0">
                <a:latin typeface="+mj-ea"/>
                <a:ea typeface="+mj-ea"/>
                <a:cs typeface="Times New Roman" panose="02020603050405020304" pitchFamily="18" charset="0"/>
              </a:rPr>
              <a:t>) return </a:t>
            </a:r>
            <a:r>
              <a:rPr lang="en-US" altLang="zh-CN" sz="2200" dirty="0" err="1">
                <a:latin typeface="+mj-ea"/>
                <a:ea typeface="+mj-ea"/>
                <a:cs typeface="Times New Roman" panose="02020603050405020304" pitchFamily="18" charset="0"/>
              </a:rPr>
              <a:t>NoEdge</a:t>
            </a:r>
            <a:r>
              <a:rPr lang="en-US" altLang="zh-CN" sz="2200" dirty="0">
                <a:latin typeface="+mj-ea"/>
                <a:ea typeface="+mj-ea"/>
                <a:cs typeface="Times New Roman" panose="02020603050405020304" pitchFamily="18" charset="0"/>
              </a:rPr>
              <a:t>;      // </a:t>
            </a:r>
            <a:r>
              <a:rPr lang="zh-CN" altLang="en-US" sz="2200" dirty="0">
                <a:latin typeface="+mj-ea"/>
                <a:ea typeface="+mj-ea"/>
                <a:cs typeface="Times New Roman" panose="02020603050405020304" pitchFamily="18" charset="0"/>
              </a:rPr>
              <a:t>此路不通，无解 </a:t>
            </a:r>
            <a:br>
              <a:rPr lang="zh-CN" altLang="en-US" sz="2200" dirty="0">
                <a:latin typeface="+mj-ea"/>
                <a:ea typeface="+mj-ea"/>
                <a:cs typeface="Times New Roman" panose="02020603050405020304" pitchFamily="18" charset="0"/>
              </a:rPr>
            </a:br>
            <a:r>
              <a:rPr lang="zh-CN" altLang="en-US" sz="2200" dirty="0">
                <a:latin typeface="+mj-ea"/>
                <a:ea typeface="+mj-ea"/>
                <a:cs typeface="Times New Roman" panose="02020603050405020304" pitchFamily="18" charset="0"/>
              </a:rPr>
              <a:t>	</a:t>
            </a:r>
            <a:r>
              <a:rPr lang="en-US" altLang="zh-CN" sz="2200" dirty="0" err="1">
                <a:latin typeface="+mj-ea"/>
                <a:ea typeface="+mj-ea"/>
                <a:cs typeface="Times New Roman" panose="02020603050405020304" pitchFamily="18" charset="0"/>
              </a:rPr>
              <a:t>MinOut</a:t>
            </a:r>
            <a:r>
              <a:rPr lang="en-US" altLang="zh-CN" sz="2200" dirty="0">
                <a:latin typeface="+mj-ea"/>
                <a:ea typeface="+mj-ea"/>
                <a:cs typeface="Times New Roman" panose="02020603050405020304" pitchFamily="18" charset="0"/>
              </a:rPr>
              <a:t>[</a:t>
            </a:r>
            <a:r>
              <a:rPr lang="en-US" altLang="zh-CN" sz="2200" dirty="0" err="1">
                <a:latin typeface="+mj-ea"/>
                <a:ea typeface="+mj-ea"/>
                <a:cs typeface="Times New Roman" panose="02020603050405020304" pitchFamily="18" charset="0"/>
              </a:rPr>
              <a:t>i</a:t>
            </a:r>
            <a:r>
              <a:rPr lang="en-US" altLang="zh-CN" sz="2200" dirty="0">
                <a:latin typeface="+mj-ea"/>
                <a:ea typeface="+mj-ea"/>
                <a:cs typeface="Times New Roman" panose="02020603050405020304" pitchFamily="18" charset="0"/>
              </a:rPr>
              <a:t>] = Min; </a:t>
            </a:r>
            <a:br>
              <a:rPr lang="en-US" altLang="zh-CN" sz="2200" dirty="0">
                <a:latin typeface="+mj-ea"/>
                <a:ea typeface="+mj-ea"/>
                <a:cs typeface="Times New Roman" panose="02020603050405020304" pitchFamily="18" charset="0"/>
              </a:rPr>
            </a:br>
            <a:r>
              <a:rPr lang="en-US" altLang="zh-CN" sz="2200" dirty="0">
                <a:latin typeface="+mj-ea"/>
                <a:ea typeface="+mj-ea"/>
                <a:cs typeface="Times New Roman" panose="02020603050405020304" pitchFamily="18" charset="0"/>
              </a:rPr>
              <a:t>	</a:t>
            </a:r>
            <a:r>
              <a:rPr lang="en-US" altLang="zh-CN" sz="2200" dirty="0" err="1">
                <a:latin typeface="+mj-ea"/>
                <a:ea typeface="+mj-ea"/>
                <a:cs typeface="Times New Roman" panose="02020603050405020304" pitchFamily="18" charset="0"/>
              </a:rPr>
              <a:t>MinSum</a:t>
            </a:r>
            <a:r>
              <a:rPr lang="en-US" altLang="zh-CN" sz="2200" dirty="0">
                <a:latin typeface="+mj-ea"/>
                <a:ea typeface="+mj-ea"/>
                <a:cs typeface="Times New Roman" panose="02020603050405020304" pitchFamily="18" charset="0"/>
              </a:rPr>
              <a:t> += Min;       }</a:t>
            </a:r>
            <a:endParaRPr lang="zh-CN" altLang="en-US" sz="2200" dirty="0">
              <a:latin typeface="+mj-ea"/>
              <a:ea typeface="+mj-ea"/>
              <a:cs typeface="Times New Roman" panose="02020603050405020304" pitchFamily="18" charset="0"/>
            </a:endParaRPr>
          </a:p>
        </p:txBody>
      </p:sp>
      <p:sp>
        <p:nvSpPr>
          <p:cNvPr id="58372" name="灯片编号占位符 3">
            <a:extLst>
              <a:ext uri="{FF2B5EF4-FFF2-40B4-BE49-F238E27FC236}">
                <a16:creationId xmlns:a16="http://schemas.microsoft.com/office/drawing/2014/main" id="{3065A17B-5137-491C-8090-1EFB8C6A6D17}"/>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9DDF0AA-AC18-4F87-9DC6-4A6516CC578C}" type="slidenum">
              <a:rPr lang="zh-CN" altLang="en-US" sz="1200">
                <a:solidFill>
                  <a:schemeClr val="tx1"/>
                </a:solidFill>
                <a:latin typeface="微软雅黑" panose="020B0503020204020204" pitchFamily="34" charset="-122"/>
                <a:ea typeface="微软雅黑" panose="020B0503020204020204" pitchFamily="34" charset="-122"/>
              </a:rPr>
              <a:pPr/>
              <a:t>48</a:t>
            </a:fld>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E687E8C-E545-FB7D-9892-CB53BD56D336}"/>
              </a:ext>
            </a:extLst>
          </p:cNvPr>
          <p:cNvSpPr/>
          <p:nvPr/>
        </p:nvSpPr>
        <p:spPr>
          <a:xfrm>
            <a:off x="6227763" y="1628775"/>
            <a:ext cx="2741612" cy="1016000"/>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p>
            <a:pPr>
              <a:defRPr/>
            </a:pPr>
            <a:r>
              <a:rPr lang="zh-CN" altLang="en-US" dirty="0">
                <a:latin typeface="+mj-ea"/>
                <a:ea typeface="+mj-ea"/>
              </a:rPr>
              <a:t>为什么要提前算好</a:t>
            </a:r>
            <a:r>
              <a:rPr lang="en-US" altLang="zh-CN" dirty="0" err="1">
                <a:latin typeface="+mj-ea"/>
                <a:ea typeface="+mj-ea"/>
              </a:rPr>
              <a:t>MinOut</a:t>
            </a:r>
            <a:r>
              <a:rPr lang="zh-CN" altLang="en-US" dirty="0">
                <a:latin typeface="+mj-ea"/>
                <a:ea typeface="+mj-ea"/>
              </a:rPr>
              <a:t>？</a:t>
            </a:r>
          </a:p>
        </p:txBody>
      </p:sp>
    </p:spTree>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5F4C4BC-DA5F-4274-B49F-8DBD70D4AE37}"/>
              </a:ext>
            </a:extLst>
          </p:cNvPr>
          <p:cNvSpPr>
            <a:spLocks noGrp="1" noRot="1" noChangeArrowheads="1"/>
          </p:cNvSpPr>
          <p:nvPr>
            <p:ph type="title"/>
          </p:nvPr>
        </p:nvSpPr>
        <p:spPr/>
        <p:txBody>
          <a:bodyPr/>
          <a:lstStyle/>
          <a:p>
            <a:pPr>
              <a:defRPr/>
            </a:pPr>
            <a:r>
              <a:rPr lang="zh-CN" altLang="en-US">
                <a:latin typeface="+mj-ea"/>
              </a:rPr>
              <a:t>准备工作</a:t>
            </a:r>
            <a:r>
              <a:rPr lang="en-US" altLang="zh-CN">
                <a:latin typeface="+mj-ea"/>
              </a:rPr>
              <a:t>——</a:t>
            </a:r>
            <a:r>
              <a:rPr lang="zh-CN" altLang="en-US" b="1">
                <a:latin typeface="+mj-ea"/>
              </a:rPr>
              <a:t>初始化</a:t>
            </a:r>
          </a:p>
        </p:txBody>
      </p:sp>
      <p:sp>
        <p:nvSpPr>
          <p:cNvPr id="59395" name="Rectangle 3">
            <a:extLst>
              <a:ext uri="{FF2B5EF4-FFF2-40B4-BE49-F238E27FC236}">
                <a16:creationId xmlns:a16="http://schemas.microsoft.com/office/drawing/2014/main" id="{03207BAB-213F-4E1B-A0A0-A97B4AC0F513}"/>
              </a:ext>
            </a:extLst>
          </p:cNvPr>
          <p:cNvSpPr>
            <a:spLocks noGrp="1" noRot="1" noChangeArrowheads="1"/>
          </p:cNvSpPr>
          <p:nvPr>
            <p:ph type="body" idx="1"/>
          </p:nvPr>
        </p:nvSpPr>
        <p:spPr>
          <a:xfrm>
            <a:off x="323850" y="1125538"/>
            <a:ext cx="8750300" cy="4879975"/>
          </a:xfrm>
        </p:spPr>
        <p:txBody>
          <a:bodyPr/>
          <a:lstStyle/>
          <a:p>
            <a:pPr>
              <a:spcBef>
                <a:spcPct val="0"/>
              </a:spcBef>
              <a:buFont typeface="Wingdings" panose="05000000000000000000" pitchFamily="2" charset="2"/>
              <a:buNone/>
              <a:defRPr/>
            </a:pPr>
            <a:r>
              <a:rPr lang="en-US" altLang="zh-CN" sz="2800" dirty="0">
                <a:latin typeface="+mj-ea"/>
                <a:ea typeface="+mj-ea"/>
                <a:cs typeface="Times New Roman" panose="02020603050405020304" pitchFamily="18" charset="0"/>
              </a:rPr>
              <a:t>  // </a:t>
            </a:r>
            <a:r>
              <a:rPr lang="zh-CN" altLang="en-US" sz="2800" u="sng" dirty="0">
                <a:latin typeface="+mj-ea"/>
                <a:ea typeface="+mj-ea"/>
                <a:cs typeface="Times New Roman" panose="02020603050405020304" pitchFamily="18" charset="0"/>
              </a:rPr>
              <a:t>把</a:t>
            </a:r>
            <a:r>
              <a:rPr lang="en-US" altLang="zh-CN" sz="2800" u="sng" dirty="0">
                <a:latin typeface="+mj-ea"/>
                <a:ea typeface="+mj-ea"/>
                <a:cs typeface="Times New Roman" panose="02020603050405020304" pitchFamily="18" charset="0"/>
              </a:rPr>
              <a:t>E-</a:t>
            </a:r>
            <a:r>
              <a:rPr lang="zh-CN" altLang="en-US" sz="2800" u="sng" dirty="0">
                <a:latin typeface="+mj-ea"/>
                <a:ea typeface="+mj-ea"/>
                <a:cs typeface="Times New Roman" panose="02020603050405020304" pitchFamily="18" charset="0"/>
              </a:rPr>
              <a:t>节点初始化为树根 </a:t>
            </a:r>
            <a:endParaRPr lang="en-US" altLang="zh-CN" sz="2800" dirty="0">
              <a:latin typeface="+mj-ea"/>
              <a:ea typeface="+mj-ea"/>
              <a:cs typeface="Times New Roman" panose="02020603050405020304" pitchFamily="18" charset="0"/>
            </a:endParaRPr>
          </a:p>
          <a:p>
            <a:pPr>
              <a:lnSpc>
                <a:spcPct val="150000"/>
              </a:lnSpc>
              <a:spcBef>
                <a:spcPct val="0"/>
              </a:spcBef>
              <a:buFont typeface="Wingdings" panose="05000000000000000000" pitchFamily="2" charset="2"/>
              <a:buNone/>
              <a:defRPr/>
            </a:pPr>
            <a:r>
              <a:rPr lang="en-US" altLang="zh-CN" sz="2800" dirty="0" err="1">
                <a:latin typeface="+mj-ea"/>
                <a:ea typeface="+mj-ea"/>
                <a:cs typeface="Times New Roman" panose="02020603050405020304" pitchFamily="18" charset="0"/>
              </a:rPr>
              <a:t>MinHeapNode</a:t>
            </a:r>
            <a:r>
              <a:rPr lang="en-US" altLang="zh-CN" sz="2800" dirty="0">
                <a:latin typeface="+mj-ea"/>
                <a:ea typeface="+mj-ea"/>
                <a:cs typeface="Times New Roman" panose="02020603050405020304" pitchFamily="18" charset="0"/>
              </a:rPr>
              <a:t> </a:t>
            </a:r>
            <a:r>
              <a:rPr lang="en-US" altLang="zh-CN" sz="2800" dirty="0">
                <a:solidFill>
                  <a:srgbClr val="FF0000"/>
                </a:solidFill>
                <a:latin typeface="+mj-ea"/>
                <a:ea typeface="+mj-ea"/>
                <a:cs typeface="Times New Roman" panose="02020603050405020304" pitchFamily="18" charset="0"/>
              </a:rPr>
              <a:t>E</a:t>
            </a:r>
            <a:r>
              <a:rPr lang="en-US" altLang="zh-CN" sz="2800" dirty="0">
                <a:latin typeface="+mj-ea"/>
                <a:ea typeface="+mj-ea"/>
                <a:cs typeface="Times New Roman" panose="02020603050405020304" pitchFamily="18" charset="0"/>
              </a:rPr>
              <a:t>; </a:t>
            </a:r>
            <a:br>
              <a:rPr lang="en-US" altLang="zh-CN" sz="2800" dirty="0">
                <a:latin typeface="+mj-ea"/>
                <a:ea typeface="+mj-ea"/>
                <a:cs typeface="Times New Roman" panose="02020603050405020304" pitchFamily="18" charset="0"/>
              </a:rPr>
            </a:br>
            <a:r>
              <a:rPr lang="en-US" altLang="zh-CN" sz="2800" dirty="0" err="1">
                <a:latin typeface="+mj-ea"/>
                <a:ea typeface="+mj-ea"/>
                <a:cs typeface="Times New Roman" panose="02020603050405020304" pitchFamily="18" charset="0"/>
              </a:rPr>
              <a:t>E.x</a:t>
            </a:r>
            <a:r>
              <a:rPr lang="en-US" altLang="zh-CN" sz="2800" dirty="0">
                <a:latin typeface="+mj-ea"/>
                <a:ea typeface="+mj-ea"/>
                <a:cs typeface="Times New Roman" panose="02020603050405020304" pitchFamily="18" charset="0"/>
              </a:rPr>
              <a:t> = new </a:t>
            </a:r>
            <a:r>
              <a:rPr lang="en-US" altLang="zh-CN" sz="2800" dirty="0" err="1">
                <a:latin typeface="+mj-ea"/>
                <a:ea typeface="+mj-ea"/>
                <a:cs typeface="Times New Roman" panose="02020603050405020304" pitchFamily="18" charset="0"/>
              </a:rPr>
              <a:t>int</a:t>
            </a:r>
            <a:r>
              <a:rPr lang="en-US" altLang="zh-CN" sz="2800" dirty="0">
                <a:latin typeface="+mj-ea"/>
                <a:ea typeface="+mj-ea"/>
                <a:cs typeface="Times New Roman" panose="02020603050405020304" pitchFamily="18" charset="0"/>
              </a:rPr>
              <a:t> [n]; </a:t>
            </a:r>
            <a:br>
              <a:rPr lang="en-US" altLang="zh-CN" sz="2800" dirty="0">
                <a:latin typeface="+mj-ea"/>
                <a:ea typeface="+mj-ea"/>
                <a:cs typeface="Times New Roman" panose="02020603050405020304" pitchFamily="18" charset="0"/>
              </a:rPr>
            </a:br>
            <a:r>
              <a:rPr lang="en-US" altLang="zh-CN" sz="2800" dirty="0">
                <a:latin typeface="+mj-ea"/>
                <a:ea typeface="+mj-ea"/>
                <a:cs typeface="Times New Roman" panose="02020603050405020304" pitchFamily="18" charset="0"/>
              </a:rPr>
              <a:t>for (</a:t>
            </a:r>
            <a:r>
              <a:rPr lang="en-US" altLang="zh-CN" sz="2800" dirty="0" err="1">
                <a:latin typeface="+mj-ea"/>
                <a:ea typeface="+mj-ea"/>
                <a:cs typeface="Times New Roman" panose="02020603050405020304" pitchFamily="18" charset="0"/>
              </a:rPr>
              <a:t>i</a:t>
            </a:r>
            <a:r>
              <a:rPr lang="en-US" altLang="zh-CN" sz="2800" dirty="0">
                <a:latin typeface="+mj-ea"/>
                <a:ea typeface="+mj-ea"/>
                <a:cs typeface="Times New Roman" panose="02020603050405020304" pitchFamily="18" charset="0"/>
              </a:rPr>
              <a:t> = 0; </a:t>
            </a:r>
            <a:r>
              <a:rPr lang="en-US" altLang="zh-CN" sz="2800" dirty="0" err="1">
                <a:latin typeface="+mj-ea"/>
                <a:ea typeface="+mj-ea"/>
                <a:cs typeface="Times New Roman" panose="02020603050405020304" pitchFamily="18" charset="0"/>
              </a:rPr>
              <a:t>i</a:t>
            </a:r>
            <a:r>
              <a:rPr lang="en-US" altLang="zh-CN" sz="2800" dirty="0">
                <a:latin typeface="+mj-ea"/>
                <a:ea typeface="+mj-ea"/>
                <a:cs typeface="Times New Roman" panose="02020603050405020304" pitchFamily="18" charset="0"/>
              </a:rPr>
              <a:t> &lt; n; </a:t>
            </a:r>
            <a:r>
              <a:rPr lang="en-US" altLang="zh-CN" sz="2800" dirty="0" err="1">
                <a:latin typeface="+mj-ea"/>
                <a:ea typeface="+mj-ea"/>
                <a:cs typeface="Times New Roman" panose="02020603050405020304" pitchFamily="18" charset="0"/>
              </a:rPr>
              <a:t>i</a:t>
            </a:r>
            <a:r>
              <a:rPr lang="en-US" altLang="zh-CN" sz="2800" dirty="0">
                <a:latin typeface="+mj-ea"/>
                <a:ea typeface="+mj-ea"/>
                <a:cs typeface="Times New Roman" panose="02020603050405020304" pitchFamily="18" charset="0"/>
              </a:rPr>
              <a:t>++) </a:t>
            </a:r>
            <a:br>
              <a:rPr lang="en-US" altLang="zh-CN" sz="2800" dirty="0">
                <a:latin typeface="+mj-ea"/>
                <a:ea typeface="+mj-ea"/>
                <a:cs typeface="Times New Roman" panose="02020603050405020304" pitchFamily="18" charset="0"/>
              </a:rPr>
            </a:br>
            <a:r>
              <a:rPr lang="en-US" altLang="zh-CN" sz="2800" dirty="0">
                <a:latin typeface="+mj-ea"/>
                <a:ea typeface="+mj-ea"/>
                <a:cs typeface="Times New Roman" panose="02020603050405020304" pitchFamily="18" charset="0"/>
              </a:rPr>
              <a:t>	</a:t>
            </a:r>
            <a:r>
              <a:rPr lang="en-US" altLang="zh-CN" sz="2800" dirty="0" err="1">
                <a:solidFill>
                  <a:srgbClr val="FF0000"/>
                </a:solidFill>
                <a:latin typeface="+mj-ea"/>
                <a:ea typeface="+mj-ea"/>
                <a:cs typeface="Times New Roman" panose="02020603050405020304" pitchFamily="18" charset="0"/>
              </a:rPr>
              <a:t>E.x</a:t>
            </a:r>
            <a:r>
              <a:rPr lang="en-US" altLang="zh-CN" sz="2800" dirty="0">
                <a:solidFill>
                  <a:srgbClr val="FF0000"/>
                </a:solidFill>
                <a:latin typeface="+mj-ea"/>
                <a:ea typeface="+mj-ea"/>
                <a:cs typeface="Times New Roman" panose="02020603050405020304" pitchFamily="18" charset="0"/>
              </a:rPr>
              <a:t>[</a:t>
            </a:r>
            <a:r>
              <a:rPr lang="en-US" altLang="zh-CN" sz="2800" dirty="0" err="1">
                <a:solidFill>
                  <a:srgbClr val="FF0000"/>
                </a:solidFill>
                <a:latin typeface="+mj-ea"/>
                <a:ea typeface="+mj-ea"/>
                <a:cs typeface="Times New Roman" panose="02020603050405020304" pitchFamily="18" charset="0"/>
              </a:rPr>
              <a:t>i</a:t>
            </a:r>
            <a:r>
              <a:rPr lang="en-US" altLang="zh-CN" sz="2800" dirty="0">
                <a:solidFill>
                  <a:srgbClr val="FF0000"/>
                </a:solidFill>
                <a:latin typeface="+mj-ea"/>
                <a:ea typeface="+mj-ea"/>
                <a:cs typeface="Times New Roman" panose="02020603050405020304" pitchFamily="18" charset="0"/>
              </a:rPr>
              <a:t>] = </a:t>
            </a:r>
            <a:r>
              <a:rPr lang="en-US" altLang="zh-CN" sz="2800" dirty="0" err="1">
                <a:solidFill>
                  <a:srgbClr val="FF0000"/>
                </a:solidFill>
                <a:latin typeface="+mj-ea"/>
                <a:ea typeface="+mj-ea"/>
                <a:cs typeface="Times New Roman" panose="02020603050405020304" pitchFamily="18" charset="0"/>
              </a:rPr>
              <a:t>i</a:t>
            </a:r>
            <a:r>
              <a:rPr lang="en-US" altLang="zh-CN" sz="2800" dirty="0">
                <a:solidFill>
                  <a:srgbClr val="FF0000"/>
                </a:solidFill>
                <a:latin typeface="+mj-ea"/>
                <a:ea typeface="+mj-ea"/>
                <a:cs typeface="Times New Roman" panose="02020603050405020304" pitchFamily="18" charset="0"/>
              </a:rPr>
              <a:t> + 1</a:t>
            </a:r>
            <a:r>
              <a:rPr lang="en-US" altLang="zh-CN" sz="2800" dirty="0">
                <a:latin typeface="+mj-ea"/>
                <a:ea typeface="+mj-ea"/>
                <a:cs typeface="Times New Roman" panose="02020603050405020304" pitchFamily="18" charset="0"/>
              </a:rPr>
              <a:t>;        //</a:t>
            </a:r>
            <a:r>
              <a:rPr lang="zh-CN" altLang="en-US" sz="2800" dirty="0">
                <a:latin typeface="+mj-ea"/>
                <a:ea typeface="+mj-ea"/>
                <a:cs typeface="Times New Roman" panose="02020603050405020304" pitchFamily="18" charset="0"/>
              </a:rPr>
              <a:t>存储当前路径的顶点排列</a:t>
            </a:r>
            <a:br>
              <a:rPr lang="en-US" altLang="zh-CN" sz="2800" dirty="0">
                <a:latin typeface="+mj-ea"/>
                <a:ea typeface="+mj-ea"/>
                <a:cs typeface="Times New Roman" panose="02020603050405020304" pitchFamily="18" charset="0"/>
              </a:rPr>
            </a:br>
            <a:r>
              <a:rPr lang="en-US" altLang="zh-CN" sz="2800" dirty="0">
                <a:latin typeface="+mj-ea"/>
                <a:ea typeface="+mj-ea"/>
                <a:cs typeface="Times New Roman" panose="02020603050405020304" pitchFamily="18" charset="0"/>
              </a:rPr>
              <a:t>E.s = 0; //</a:t>
            </a:r>
            <a:r>
              <a:rPr lang="zh-CN" altLang="en-US" sz="2800" dirty="0">
                <a:latin typeface="+mj-ea"/>
                <a:ea typeface="+mj-ea"/>
                <a:cs typeface="Times New Roman" panose="02020603050405020304" pitchFamily="18" charset="0"/>
              </a:rPr>
              <a:t>根节点到当前节点的路径</a:t>
            </a:r>
            <a:br>
              <a:rPr lang="en-US" altLang="zh-CN" sz="2800" dirty="0">
                <a:latin typeface="+mj-ea"/>
                <a:ea typeface="+mj-ea"/>
                <a:cs typeface="Times New Roman" panose="02020603050405020304" pitchFamily="18" charset="0"/>
              </a:rPr>
            </a:br>
            <a:r>
              <a:rPr lang="en-US" altLang="zh-CN" sz="2800" dirty="0">
                <a:latin typeface="+mj-ea"/>
                <a:ea typeface="+mj-ea"/>
                <a:cs typeface="Times New Roman" panose="02020603050405020304" pitchFamily="18" charset="0"/>
              </a:rPr>
              <a:t>E.cc = 0; // </a:t>
            </a:r>
            <a:r>
              <a:rPr lang="zh-CN" altLang="en-US" sz="2800" dirty="0">
                <a:latin typeface="+mj-ea"/>
                <a:ea typeface="+mj-ea"/>
                <a:cs typeface="Times New Roman" panose="02020603050405020304" pitchFamily="18" charset="0"/>
              </a:rPr>
              <a:t>当前费用为</a:t>
            </a:r>
            <a:r>
              <a:rPr lang="en-US" altLang="zh-CN" sz="2800" dirty="0">
                <a:latin typeface="+mj-ea"/>
                <a:ea typeface="+mj-ea"/>
                <a:cs typeface="Times New Roman" panose="02020603050405020304" pitchFamily="18" charset="0"/>
              </a:rPr>
              <a:t>0 </a:t>
            </a:r>
            <a:br>
              <a:rPr lang="en-US" altLang="zh-CN" sz="2800" dirty="0">
                <a:latin typeface="+mj-ea"/>
                <a:ea typeface="+mj-ea"/>
                <a:cs typeface="Times New Roman" panose="02020603050405020304" pitchFamily="18" charset="0"/>
              </a:rPr>
            </a:br>
            <a:r>
              <a:rPr lang="en-US" altLang="zh-CN" sz="2800" dirty="0" err="1">
                <a:solidFill>
                  <a:srgbClr val="FF0000"/>
                </a:solidFill>
                <a:latin typeface="+mj-ea"/>
                <a:ea typeface="+mj-ea"/>
                <a:cs typeface="Times New Roman" panose="02020603050405020304" pitchFamily="18" charset="0"/>
              </a:rPr>
              <a:t>E.rcost</a:t>
            </a:r>
            <a:r>
              <a:rPr lang="en-US" altLang="zh-CN" sz="2800" dirty="0">
                <a:solidFill>
                  <a:srgbClr val="FF0000"/>
                </a:solidFill>
                <a:latin typeface="+mj-ea"/>
                <a:ea typeface="+mj-ea"/>
                <a:cs typeface="Times New Roman" panose="02020603050405020304" pitchFamily="18" charset="0"/>
              </a:rPr>
              <a:t> = </a:t>
            </a:r>
            <a:r>
              <a:rPr lang="en-US" altLang="zh-CN" sz="2800" dirty="0" err="1">
                <a:solidFill>
                  <a:srgbClr val="FF0000"/>
                </a:solidFill>
                <a:latin typeface="+mj-ea"/>
                <a:ea typeface="+mj-ea"/>
                <a:cs typeface="Times New Roman" panose="02020603050405020304" pitchFamily="18" charset="0"/>
              </a:rPr>
              <a:t>MinSum</a:t>
            </a:r>
            <a:r>
              <a:rPr lang="en-US" altLang="zh-CN" sz="2800" dirty="0">
                <a:solidFill>
                  <a:srgbClr val="FF0000"/>
                </a:solidFill>
                <a:latin typeface="+mj-ea"/>
                <a:ea typeface="+mj-ea"/>
                <a:cs typeface="Times New Roman" panose="02020603050405020304" pitchFamily="18" charset="0"/>
              </a:rPr>
              <a:t>; //</a:t>
            </a:r>
            <a:r>
              <a:rPr lang="zh-CN" altLang="en-US" sz="2800" dirty="0">
                <a:solidFill>
                  <a:srgbClr val="FF0000"/>
                </a:solidFill>
                <a:latin typeface="+mj-ea"/>
                <a:ea typeface="+mj-ea"/>
                <a:cs typeface="Times New Roman" panose="02020603050405020304" pitchFamily="18" charset="0"/>
              </a:rPr>
              <a:t>顶点最小出边费用和</a:t>
            </a:r>
            <a:br>
              <a:rPr lang="en-US" altLang="zh-CN" sz="2800" dirty="0">
                <a:solidFill>
                  <a:srgbClr val="FF0000"/>
                </a:solidFill>
                <a:latin typeface="+mj-ea"/>
                <a:ea typeface="+mj-ea"/>
                <a:cs typeface="Times New Roman" panose="02020603050405020304" pitchFamily="18" charset="0"/>
              </a:rPr>
            </a:br>
            <a:r>
              <a:rPr lang="en-US" altLang="zh-CN" sz="2800" dirty="0" err="1">
                <a:latin typeface="+mj-ea"/>
                <a:ea typeface="+mj-ea"/>
                <a:cs typeface="Times New Roman" panose="02020603050405020304" pitchFamily="18" charset="0"/>
              </a:rPr>
              <a:t>bestc</a:t>
            </a:r>
            <a:r>
              <a:rPr lang="en-US" altLang="zh-CN" sz="2800" dirty="0">
                <a:latin typeface="+mj-ea"/>
                <a:ea typeface="+mj-ea"/>
                <a:cs typeface="Times New Roman" panose="02020603050405020304" pitchFamily="18" charset="0"/>
              </a:rPr>
              <a:t> = </a:t>
            </a:r>
            <a:r>
              <a:rPr lang="en-US" altLang="zh-CN" sz="2800" dirty="0" err="1">
                <a:latin typeface="+mj-ea"/>
                <a:ea typeface="+mj-ea"/>
                <a:cs typeface="Times New Roman" panose="02020603050405020304" pitchFamily="18" charset="0"/>
              </a:rPr>
              <a:t>NoEdge</a:t>
            </a:r>
            <a:r>
              <a:rPr lang="en-US" altLang="zh-CN" sz="2800" dirty="0">
                <a:latin typeface="+mj-ea"/>
                <a:ea typeface="+mj-ea"/>
                <a:cs typeface="Times New Roman" panose="02020603050405020304" pitchFamily="18" charset="0"/>
              </a:rPr>
              <a:t>; // </a:t>
            </a:r>
            <a:r>
              <a:rPr lang="zh-CN" altLang="en-US" sz="2800" dirty="0">
                <a:latin typeface="+mj-ea"/>
                <a:ea typeface="+mj-ea"/>
                <a:cs typeface="Times New Roman" panose="02020603050405020304" pitchFamily="18" charset="0"/>
              </a:rPr>
              <a:t>目前没有找到旅行路径 </a:t>
            </a:r>
          </a:p>
        </p:txBody>
      </p:sp>
      <p:sp>
        <p:nvSpPr>
          <p:cNvPr id="59396" name="灯片编号占位符 3">
            <a:extLst>
              <a:ext uri="{FF2B5EF4-FFF2-40B4-BE49-F238E27FC236}">
                <a16:creationId xmlns:a16="http://schemas.microsoft.com/office/drawing/2014/main" id="{04D2DC3B-F522-4EEF-A7E7-3FDA2E35FC8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266D908-3719-4DEB-A1F7-7E9750361A41}" type="slidenum">
              <a:rPr lang="zh-CN" altLang="en-US" sz="1200">
                <a:solidFill>
                  <a:schemeClr val="tx1"/>
                </a:solidFill>
                <a:latin typeface="微软雅黑" panose="020B0503020204020204" pitchFamily="34" charset="-122"/>
                <a:ea typeface="微软雅黑" panose="020B0503020204020204" pitchFamily="34" charset="-122"/>
              </a:rPr>
              <a:pPr/>
              <a:t>49</a:t>
            </a:fld>
            <a:endParaRPr lang="zh-CN" altLang="en-US" sz="12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dissolv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8675289-9D5D-C4DA-ADEB-74250689E81E}"/>
              </a:ext>
            </a:extLst>
          </p:cNvPr>
          <p:cNvSpPr>
            <a:spLocks noGrp="1" noChangeArrowheads="1"/>
          </p:cNvSpPr>
          <p:nvPr>
            <p:ph type="title"/>
          </p:nvPr>
        </p:nvSpPr>
        <p:spPr/>
        <p:txBody>
          <a:bodyPr/>
          <a:lstStyle/>
          <a:p>
            <a:r>
              <a:rPr lang="zh-CN" altLang="en-US"/>
              <a:t>6.7 旅行售货员问题</a:t>
            </a:r>
          </a:p>
        </p:txBody>
      </p:sp>
      <p:sp>
        <p:nvSpPr>
          <p:cNvPr id="72707" name="灯片编号占位符 5">
            <a:extLst>
              <a:ext uri="{FF2B5EF4-FFF2-40B4-BE49-F238E27FC236}">
                <a16:creationId xmlns:a16="http://schemas.microsoft.com/office/drawing/2014/main" id="{B832E97A-78CA-D19A-A91A-4C65C43661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1BF03B3-5E21-40C5-B0C5-EA4EF4EE562C}" type="slidenum">
              <a:rPr lang="zh-CN" altLang="en-US" sz="1200">
                <a:solidFill>
                  <a:schemeClr val="tx1"/>
                </a:solidFill>
                <a:latin typeface="Garamond" panose="02020404030301010803" pitchFamily="18" charset="0"/>
                <a:ea typeface="宋体" panose="02010600030101010101" pitchFamily="2" charset="-122"/>
              </a:rPr>
              <a:pPr/>
              <a:t>50</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72708" name="Text Box 4">
            <a:extLst>
              <a:ext uri="{FF2B5EF4-FFF2-40B4-BE49-F238E27FC236}">
                <a16:creationId xmlns:a16="http://schemas.microsoft.com/office/drawing/2014/main" id="{FA8E4C10-C6C1-794B-6CE6-73F3D62E9C42}"/>
              </a:ext>
            </a:extLst>
          </p:cNvPr>
          <p:cNvSpPr txBox="1">
            <a:spLocks noChangeArrowheads="1"/>
          </p:cNvSpPr>
          <p:nvPr/>
        </p:nvSpPr>
        <p:spPr bwMode="auto">
          <a:xfrm>
            <a:off x="352425" y="1052513"/>
            <a:ext cx="5943600"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pPr>
            <a:r>
              <a:rPr kumimoji="1" lang="zh-CN" altLang="en-US" sz="3200">
                <a:solidFill>
                  <a:schemeClr val="accent2"/>
                </a:solidFill>
                <a:latin typeface="Times New Roman" panose="02020603050405020304" pitchFamily="18" charset="0"/>
                <a:ea typeface="黑体" panose="02010609060101010101" pitchFamily="49" charset="-122"/>
              </a:rPr>
              <a:t>2. 算法描述</a:t>
            </a:r>
            <a:r>
              <a:rPr kumimoji="1" lang="en-US" altLang="zh-CN" sz="3200">
                <a:solidFill>
                  <a:schemeClr val="accent2"/>
                </a:solidFill>
                <a:latin typeface="Times New Roman" panose="02020603050405020304" pitchFamily="18" charset="0"/>
                <a:ea typeface="黑体" panose="02010609060101010101" pitchFamily="49" charset="-122"/>
              </a:rPr>
              <a:t>-</a:t>
            </a:r>
            <a:r>
              <a:rPr kumimoji="1" lang="zh-CN" altLang="en-US" sz="2800">
                <a:solidFill>
                  <a:schemeClr val="accent2"/>
                </a:solidFill>
                <a:latin typeface="Times New Roman" panose="02020603050405020304" pitchFamily="18" charset="0"/>
                <a:ea typeface="黑体" panose="02010609060101010101" pitchFamily="49" charset="-122"/>
              </a:rPr>
              <a:t>搜索到树中某中间结点</a:t>
            </a:r>
            <a:endParaRPr lang="en-US" altLang="zh-CN">
              <a:solidFill>
                <a:schemeClr val="accent2"/>
              </a:solidFill>
              <a:ea typeface="华文行楷" panose="02010800040101010101" pitchFamily="2" charset="-122"/>
            </a:endParaRPr>
          </a:p>
          <a:p>
            <a:pPr eaLnBrk="1" hangingPunct="1">
              <a:spcBef>
                <a:spcPct val="50000"/>
              </a:spcBef>
              <a:buClr>
                <a:schemeClr val="accent1"/>
              </a:buClr>
              <a:buSzPct val="65000"/>
              <a:buFont typeface="Wingdings" panose="05000000000000000000" pitchFamily="2" charset="2"/>
              <a:buNone/>
            </a:pPr>
            <a:endParaRPr lang="en-US" altLang="zh-CN">
              <a:solidFill>
                <a:schemeClr val="accent2"/>
              </a:solidFill>
              <a:ea typeface="华文行楷" panose="02010800040101010101" pitchFamily="2" charset="-122"/>
            </a:endParaRPr>
          </a:p>
        </p:txBody>
      </p:sp>
      <p:sp>
        <p:nvSpPr>
          <p:cNvPr id="305157" name="Text Box 5">
            <a:extLst>
              <a:ext uri="{FF2B5EF4-FFF2-40B4-BE49-F238E27FC236}">
                <a16:creationId xmlns:a16="http://schemas.microsoft.com/office/drawing/2014/main" id="{16C299F9-F0B3-5486-F147-C06D616F1DF4}"/>
              </a:ext>
            </a:extLst>
          </p:cNvPr>
          <p:cNvSpPr txBox="1">
            <a:spLocks noChangeArrowheads="1"/>
          </p:cNvSpPr>
          <p:nvPr/>
        </p:nvSpPr>
        <p:spPr bwMode="auto">
          <a:xfrm>
            <a:off x="377825" y="2879725"/>
            <a:ext cx="82280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pPr>
            <a:r>
              <a:rPr lang="zh-CN" altLang="en-US" sz="2000" dirty="0">
                <a:solidFill>
                  <a:schemeClr val="tx1"/>
                </a:solidFill>
                <a:latin typeface="楷体_GB2312" pitchFamily="49" charset="-122"/>
              </a:rPr>
              <a:t>当</a:t>
            </a:r>
            <a:r>
              <a:rPr lang="en-US" altLang="zh-CN" sz="2000" b="1" dirty="0">
                <a:solidFill>
                  <a:schemeClr val="tx1"/>
                </a:solidFill>
                <a:latin typeface="楷体_GB2312" pitchFamily="49" charset="-122"/>
              </a:rPr>
              <a:t>s=n-2</a:t>
            </a:r>
            <a:r>
              <a:rPr lang="zh-CN" altLang="en-US" sz="2000" dirty="0">
                <a:solidFill>
                  <a:schemeClr val="tx1"/>
                </a:solidFill>
                <a:latin typeface="楷体_GB2312" pitchFamily="49" charset="-122"/>
              </a:rPr>
              <a:t>时，此时当前扩展结点是排列树中</a:t>
            </a:r>
            <a:r>
              <a:rPr lang="zh-CN" altLang="en-US" sz="2000" b="1" dirty="0">
                <a:solidFill>
                  <a:schemeClr val="tx1"/>
                </a:solidFill>
                <a:latin typeface="楷体_GB2312" pitchFamily="49" charset="-122"/>
              </a:rPr>
              <a:t>某个叶结点的父结点</a:t>
            </a:r>
            <a:r>
              <a:rPr lang="zh-CN" altLang="en-US" sz="2000" dirty="0">
                <a:solidFill>
                  <a:schemeClr val="tx1"/>
                </a:solidFill>
                <a:latin typeface="楷体_GB2312" pitchFamily="49" charset="-122"/>
              </a:rPr>
              <a:t>。如果该叶结点对应一条可行回路且费用小于当前最小费用，则将该叶结点插入到优先队列中，否则舍去该叶结点。</a:t>
            </a:r>
          </a:p>
        </p:txBody>
      </p:sp>
      <p:sp>
        <p:nvSpPr>
          <p:cNvPr id="305158" name="Text Box 6">
            <a:extLst>
              <a:ext uri="{FF2B5EF4-FFF2-40B4-BE49-F238E27FC236}">
                <a16:creationId xmlns:a16="http://schemas.microsoft.com/office/drawing/2014/main" id="{4DC1CC4C-208E-2773-C1C0-23DA7D1A80FC}"/>
              </a:ext>
            </a:extLst>
          </p:cNvPr>
          <p:cNvSpPr txBox="1">
            <a:spLocks noChangeArrowheads="1"/>
          </p:cNvSpPr>
          <p:nvPr/>
        </p:nvSpPr>
        <p:spPr bwMode="auto">
          <a:xfrm>
            <a:off x="395288" y="4179888"/>
            <a:ext cx="8358187"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pPr>
            <a:r>
              <a:rPr lang="zh-CN" altLang="en-US" sz="2000" dirty="0">
                <a:solidFill>
                  <a:schemeClr val="tx1"/>
                </a:solidFill>
                <a:latin typeface="楷体_GB2312" pitchFamily="49" charset="-122"/>
              </a:rPr>
              <a:t>当</a:t>
            </a:r>
            <a:r>
              <a:rPr lang="en-US" altLang="zh-CN" sz="2000" b="1" dirty="0">
                <a:solidFill>
                  <a:schemeClr val="tx1"/>
                </a:solidFill>
                <a:latin typeface="楷体_GB2312" pitchFamily="49" charset="-122"/>
              </a:rPr>
              <a:t>s&lt;n-2</a:t>
            </a:r>
            <a:r>
              <a:rPr lang="zh-CN" altLang="en-US" sz="2000" dirty="0">
                <a:solidFill>
                  <a:schemeClr val="tx1"/>
                </a:solidFill>
                <a:latin typeface="楷体_GB2312" pitchFamily="49" charset="-122"/>
              </a:rPr>
              <a:t>时，算法依次产生当前扩展结点的所有儿子结点。由于当前扩展结点所相应的路径是</a:t>
            </a:r>
            <a:r>
              <a:rPr lang="en-US" altLang="zh-CN" sz="2000" dirty="0">
                <a:solidFill>
                  <a:schemeClr val="tx1"/>
                </a:solidFill>
                <a:latin typeface="楷体_GB2312" pitchFamily="49" charset="-122"/>
              </a:rPr>
              <a:t>x[0:s]，</a:t>
            </a:r>
            <a:r>
              <a:rPr lang="zh-CN" altLang="en-US" sz="2000" dirty="0">
                <a:solidFill>
                  <a:schemeClr val="tx1"/>
                </a:solidFill>
                <a:latin typeface="楷体_GB2312" pitchFamily="49" charset="-122"/>
              </a:rPr>
              <a:t>其可行儿子结点是从剩余顶点</a:t>
            </a:r>
            <a:r>
              <a:rPr lang="en-US" altLang="zh-CN" sz="2000" dirty="0">
                <a:solidFill>
                  <a:schemeClr val="tx1"/>
                </a:solidFill>
                <a:latin typeface="楷体_GB2312" pitchFamily="49" charset="-122"/>
              </a:rPr>
              <a:t>x[s+1:n-1]</a:t>
            </a:r>
            <a:r>
              <a:rPr lang="zh-CN" altLang="en-US" sz="2000" dirty="0">
                <a:solidFill>
                  <a:schemeClr val="tx1"/>
                </a:solidFill>
                <a:latin typeface="楷体_GB2312" pitchFamily="49" charset="-122"/>
              </a:rPr>
              <a:t>中选取的顶点</a:t>
            </a:r>
            <a:r>
              <a:rPr lang="en-US" altLang="zh-CN" sz="2000" dirty="0">
                <a:solidFill>
                  <a:schemeClr val="tx1"/>
                </a:solidFill>
                <a:latin typeface="楷体_GB2312" pitchFamily="49" charset="-122"/>
              </a:rPr>
              <a:t>x[</a:t>
            </a:r>
            <a:r>
              <a:rPr lang="en-US" altLang="zh-CN" sz="2000" dirty="0" err="1">
                <a:solidFill>
                  <a:schemeClr val="tx1"/>
                </a:solidFill>
                <a:latin typeface="楷体_GB2312" pitchFamily="49" charset="-122"/>
              </a:rPr>
              <a:t>i</a:t>
            </a:r>
            <a:r>
              <a:rPr lang="en-US" altLang="zh-CN" sz="2000" dirty="0">
                <a:solidFill>
                  <a:schemeClr val="tx1"/>
                </a:solidFill>
                <a:latin typeface="楷体_GB2312" pitchFamily="49" charset="-122"/>
              </a:rPr>
              <a:t>]，</a:t>
            </a:r>
            <a:r>
              <a:rPr lang="zh-CN" altLang="en-US" sz="2000" dirty="0">
                <a:solidFill>
                  <a:schemeClr val="tx1"/>
                </a:solidFill>
                <a:latin typeface="楷体_GB2312" pitchFamily="49" charset="-122"/>
              </a:rPr>
              <a:t>且(</a:t>
            </a:r>
            <a:r>
              <a:rPr lang="en-US" altLang="zh-CN" sz="2000" dirty="0">
                <a:solidFill>
                  <a:schemeClr val="tx1"/>
                </a:solidFill>
                <a:latin typeface="楷体_GB2312" pitchFamily="49" charset="-122"/>
              </a:rPr>
              <a:t>x[s]，x[</a:t>
            </a:r>
            <a:r>
              <a:rPr lang="en-US" altLang="zh-CN" sz="2000" dirty="0" err="1">
                <a:solidFill>
                  <a:schemeClr val="tx1"/>
                </a:solidFill>
                <a:latin typeface="楷体_GB2312" pitchFamily="49" charset="-122"/>
              </a:rPr>
              <a:t>i</a:t>
            </a:r>
            <a:r>
              <a:rPr lang="en-US" altLang="zh-CN" sz="2000" dirty="0">
                <a:solidFill>
                  <a:schemeClr val="tx1"/>
                </a:solidFill>
                <a:latin typeface="楷体_GB2312" pitchFamily="49" charset="-122"/>
              </a:rPr>
              <a:t>])</a:t>
            </a:r>
            <a:r>
              <a:rPr lang="zh-CN" altLang="en-US" sz="2000" dirty="0">
                <a:solidFill>
                  <a:schemeClr val="tx1"/>
                </a:solidFill>
                <a:latin typeface="楷体_GB2312" pitchFamily="49" charset="-122"/>
              </a:rPr>
              <a:t>是所给有向图</a:t>
            </a:r>
            <a:r>
              <a:rPr lang="en-US" altLang="zh-CN" sz="2000" dirty="0">
                <a:solidFill>
                  <a:schemeClr val="tx1"/>
                </a:solidFill>
                <a:latin typeface="楷体_GB2312" pitchFamily="49" charset="-122"/>
              </a:rPr>
              <a:t>G</a:t>
            </a:r>
            <a:r>
              <a:rPr lang="zh-CN" altLang="en-US" sz="2000" dirty="0">
                <a:solidFill>
                  <a:schemeClr val="tx1"/>
                </a:solidFill>
                <a:latin typeface="楷体_GB2312" pitchFamily="49" charset="-122"/>
              </a:rPr>
              <a:t>中的一条边。对于当前扩展结点的每一个可行儿子结点，计算出其前缀(</a:t>
            </a:r>
            <a:r>
              <a:rPr lang="en-US" altLang="zh-CN" sz="2000" dirty="0">
                <a:solidFill>
                  <a:schemeClr val="tx1"/>
                </a:solidFill>
                <a:latin typeface="楷体_GB2312" pitchFamily="49" charset="-122"/>
              </a:rPr>
              <a:t>x[0:s]，x[</a:t>
            </a:r>
            <a:r>
              <a:rPr lang="en-US" altLang="zh-CN" sz="2000" dirty="0" err="1">
                <a:solidFill>
                  <a:schemeClr val="tx1"/>
                </a:solidFill>
                <a:latin typeface="楷体_GB2312" pitchFamily="49" charset="-122"/>
              </a:rPr>
              <a:t>i</a:t>
            </a:r>
            <a:r>
              <a:rPr lang="en-US" altLang="zh-CN" sz="2000" dirty="0">
                <a:solidFill>
                  <a:schemeClr val="tx1"/>
                </a:solidFill>
                <a:latin typeface="楷体_GB2312" pitchFamily="49" charset="-122"/>
              </a:rPr>
              <a:t>])</a:t>
            </a:r>
            <a:r>
              <a:rPr lang="zh-CN" altLang="en-US" sz="2000" dirty="0">
                <a:solidFill>
                  <a:schemeClr val="tx1"/>
                </a:solidFill>
                <a:latin typeface="楷体_GB2312" pitchFamily="49" charset="-122"/>
              </a:rPr>
              <a:t>的费用</a:t>
            </a:r>
            <a:r>
              <a:rPr lang="en-US" altLang="zh-CN" sz="2000" dirty="0">
                <a:solidFill>
                  <a:schemeClr val="tx1"/>
                </a:solidFill>
                <a:latin typeface="楷体_GB2312" pitchFamily="49" charset="-122"/>
              </a:rPr>
              <a:t>cc</a:t>
            </a:r>
            <a:r>
              <a:rPr lang="zh-CN" altLang="en-US" sz="2000" dirty="0">
                <a:solidFill>
                  <a:schemeClr val="tx1"/>
                </a:solidFill>
                <a:latin typeface="楷体_GB2312" pitchFamily="49" charset="-122"/>
              </a:rPr>
              <a:t>和相应的下界</a:t>
            </a:r>
            <a:r>
              <a:rPr lang="en-US" altLang="zh-CN" sz="2000" dirty="0" err="1">
                <a:solidFill>
                  <a:schemeClr val="tx1"/>
                </a:solidFill>
                <a:latin typeface="楷体_GB2312" pitchFamily="49" charset="-122"/>
              </a:rPr>
              <a:t>lcost</a:t>
            </a:r>
            <a:r>
              <a:rPr lang="en-US" altLang="zh-CN" sz="2000" dirty="0">
                <a:solidFill>
                  <a:schemeClr val="tx1"/>
                </a:solidFill>
                <a:latin typeface="楷体_GB2312" pitchFamily="49" charset="-122"/>
              </a:rPr>
              <a:t>。</a:t>
            </a:r>
            <a:r>
              <a:rPr lang="zh-CN" altLang="en-US" sz="2000" dirty="0">
                <a:solidFill>
                  <a:schemeClr val="tx1"/>
                </a:solidFill>
                <a:latin typeface="楷体_GB2312" pitchFamily="49" charset="-122"/>
              </a:rPr>
              <a:t>当</a:t>
            </a:r>
            <a:r>
              <a:rPr lang="en-US" altLang="zh-CN" sz="2000" b="1" dirty="0" err="1">
                <a:solidFill>
                  <a:schemeClr val="tx1"/>
                </a:solidFill>
                <a:latin typeface="楷体_GB2312" pitchFamily="49" charset="-122"/>
              </a:rPr>
              <a:t>lcost</a:t>
            </a:r>
            <a:r>
              <a:rPr lang="en-US" altLang="zh-CN" sz="2000" b="1" dirty="0">
                <a:solidFill>
                  <a:schemeClr val="tx1"/>
                </a:solidFill>
                <a:latin typeface="楷体_GB2312" pitchFamily="49" charset="-122"/>
              </a:rPr>
              <a:t>&lt;</a:t>
            </a:r>
            <a:r>
              <a:rPr lang="en-US" altLang="zh-CN" sz="2000" b="1" dirty="0" err="1">
                <a:solidFill>
                  <a:schemeClr val="tx1"/>
                </a:solidFill>
                <a:latin typeface="楷体_GB2312" pitchFamily="49" charset="-122"/>
              </a:rPr>
              <a:t>bestc</a:t>
            </a:r>
            <a:r>
              <a:rPr lang="zh-CN" altLang="en-US" sz="2000" b="1" dirty="0">
                <a:solidFill>
                  <a:schemeClr val="tx1"/>
                </a:solidFill>
                <a:latin typeface="楷体_GB2312" pitchFamily="49" charset="-122"/>
              </a:rPr>
              <a:t>时，将这个可行儿子结点插入到活结点优先队列中。 </a:t>
            </a:r>
          </a:p>
        </p:txBody>
      </p:sp>
      <p:pic>
        <p:nvPicPr>
          <p:cNvPr id="72711" name="Picture 6" descr="t53">
            <a:extLst>
              <a:ext uri="{FF2B5EF4-FFF2-40B4-BE49-F238E27FC236}">
                <a16:creationId xmlns:a16="http://schemas.microsoft.com/office/drawing/2014/main" id="{46708D9E-B318-8D90-9E05-513B5C955D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0" y="142875"/>
            <a:ext cx="2357438" cy="177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2" name="Text Box 6">
            <a:extLst>
              <a:ext uri="{FF2B5EF4-FFF2-40B4-BE49-F238E27FC236}">
                <a16:creationId xmlns:a16="http://schemas.microsoft.com/office/drawing/2014/main" id="{8282C78A-8F15-3B5D-7F29-88F5D04EDD1C}"/>
              </a:ext>
            </a:extLst>
          </p:cNvPr>
          <p:cNvSpPr txBox="1">
            <a:spLocks noChangeArrowheads="1"/>
          </p:cNvSpPr>
          <p:nvPr/>
        </p:nvSpPr>
        <p:spPr bwMode="auto">
          <a:xfrm>
            <a:off x="366713" y="1928813"/>
            <a:ext cx="8115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pPr>
            <a:r>
              <a:rPr lang="zh-CN" altLang="en-US" sz="2000">
                <a:solidFill>
                  <a:schemeClr val="tx1"/>
                </a:solidFill>
                <a:latin typeface="楷体_GB2312" pitchFamily="49" charset="-122"/>
              </a:rPr>
              <a:t>算法在搜索排序空间树的</a:t>
            </a:r>
            <a:r>
              <a:rPr lang="en-US" altLang="zh-CN" sz="2000" b="1">
                <a:solidFill>
                  <a:schemeClr val="tx1"/>
                </a:solidFill>
                <a:latin typeface="楷体_GB2312" pitchFamily="49" charset="-122"/>
              </a:rPr>
              <a:t>while</a:t>
            </a:r>
            <a:r>
              <a:rPr lang="zh-CN" altLang="en-US" sz="2000" b="1">
                <a:solidFill>
                  <a:schemeClr val="tx1"/>
                </a:solidFill>
                <a:latin typeface="楷体_GB2312" pitchFamily="49" charset="-122"/>
              </a:rPr>
              <a:t>循环体完成内部结点的扩展</a:t>
            </a:r>
            <a:r>
              <a:rPr lang="zh-CN" altLang="en-US" sz="2000">
                <a:solidFill>
                  <a:schemeClr val="tx1"/>
                </a:solidFill>
                <a:latin typeface="楷体_GB2312" pitchFamily="49" charset="-122"/>
              </a:rPr>
              <a:t>。对于当前扩展结点，算法分2种情况进行处理：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51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305158"/>
                                        </p:tgtEl>
                                        <p:attrNameLst>
                                          <p:attrName>style.visibility</p:attrName>
                                        </p:attrNameLst>
                                      </p:cBhvr>
                                      <p:to>
                                        <p:strVal val="visible"/>
                                      </p:to>
                                    </p:set>
                                    <p:animEffect transition="in" filter="box(in)">
                                      <p:cBhvr>
                                        <p:cTn id="11" dur="500"/>
                                        <p:tgtEl>
                                          <p:spTgt spid="305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7" grpId="0"/>
      <p:bldP spid="305158"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a:extLst>
              <a:ext uri="{FF2B5EF4-FFF2-40B4-BE49-F238E27FC236}">
                <a16:creationId xmlns:a16="http://schemas.microsoft.com/office/drawing/2014/main" id="{F14EC115-21B1-3CF8-3F08-CED443EB2909}"/>
              </a:ext>
            </a:extLst>
          </p:cNvPr>
          <p:cNvSpPr>
            <a:spLocks noGrp="1" noRot="1" noChangeArrowheads="1"/>
          </p:cNvSpPr>
          <p:nvPr>
            <p:ph type="body" idx="1"/>
          </p:nvPr>
        </p:nvSpPr>
        <p:spPr>
          <a:xfrm>
            <a:off x="179388" y="1125538"/>
            <a:ext cx="9866312" cy="5929312"/>
          </a:xfrm>
        </p:spPr>
        <p:txBody>
          <a:bodyPr/>
          <a:lstStyle/>
          <a:p>
            <a:pPr>
              <a:lnSpc>
                <a:spcPct val="110000"/>
              </a:lnSpc>
              <a:spcBef>
                <a:spcPct val="0"/>
              </a:spcBef>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while (</a:t>
            </a:r>
            <a:r>
              <a:rPr lang="en-US" altLang="zh-CN" sz="2200">
                <a:solidFill>
                  <a:srgbClr val="FF0000"/>
                </a:solidFill>
                <a:latin typeface="Times New Roman" panose="02020603050405020304" pitchFamily="18" charset="0"/>
                <a:cs typeface="Times New Roman" panose="02020603050405020304" pitchFamily="18" charset="0"/>
              </a:rPr>
              <a:t>E.s &lt; n - 1</a:t>
            </a:r>
            <a:r>
              <a:rPr lang="en-US" altLang="zh-CN" sz="2200">
                <a:latin typeface="Times New Roman" panose="02020603050405020304" pitchFamily="18" charset="0"/>
                <a:cs typeface="Times New Roman" panose="02020603050405020304" pitchFamily="18" charset="0"/>
              </a:rPr>
              <a:t>) {//</a:t>
            </a:r>
            <a:r>
              <a:rPr lang="zh-CN" altLang="en-US" sz="2200">
                <a:latin typeface="Times New Roman" panose="02020603050405020304" pitchFamily="18" charset="0"/>
                <a:cs typeface="Times New Roman" panose="02020603050405020304" pitchFamily="18" charset="0"/>
              </a:rPr>
              <a:t>搜索排列树</a:t>
            </a:r>
            <a:r>
              <a:rPr lang="en-US" altLang="zh-CN" sz="2200">
                <a:latin typeface="Times New Roman" panose="02020603050405020304" pitchFamily="18" charset="0"/>
                <a:cs typeface="Times New Roman" panose="02020603050405020304" pitchFamily="18" charset="0"/>
              </a:rPr>
              <a:t>,</a:t>
            </a:r>
            <a:r>
              <a:rPr lang="zh-CN" altLang="en-US" sz="2200">
                <a:latin typeface="Times New Roman" panose="02020603050405020304" pitchFamily="18" charset="0"/>
                <a:cs typeface="Times New Roman" panose="02020603050405020304" pitchFamily="18" charset="0"/>
              </a:rPr>
              <a:t>不是叶子 </a:t>
            </a:r>
            <a:br>
              <a:rPr lang="zh-CN" altLang="en-US"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if (E.s == n - 2) {// </a:t>
            </a:r>
            <a:r>
              <a:rPr lang="zh-CN" altLang="en-US" sz="2200">
                <a:latin typeface="Times New Roman" panose="02020603050405020304" pitchFamily="18" charset="0"/>
                <a:cs typeface="Times New Roman" panose="02020603050405020304" pitchFamily="18" charset="0"/>
              </a:rPr>
              <a:t>叶子的父节点，再添加两条边即完成 </a:t>
            </a:r>
            <a:br>
              <a:rPr lang="zh-CN" altLang="en-US" sz="2200">
                <a:latin typeface="Times New Roman" panose="02020603050405020304" pitchFamily="18" charset="0"/>
                <a:cs typeface="Times New Roman" panose="02020603050405020304" pitchFamily="18" charset="0"/>
              </a:rPr>
            </a:br>
            <a:r>
              <a:rPr lang="zh-CN" altLang="en-US" sz="2200">
                <a:latin typeface="Times New Roman" panose="02020603050405020304" pitchFamily="18" charset="0"/>
                <a:cs typeface="Times New Roman" panose="02020603050405020304" pitchFamily="18" charset="0"/>
              </a:rPr>
              <a:t>	</a:t>
            </a:r>
            <a:r>
              <a:rPr lang="en-US" altLang="zh-CN" sz="2200">
                <a:latin typeface="Times New Roman" panose="02020603050405020304" pitchFamily="18" charset="0"/>
                <a:cs typeface="Times New Roman" panose="02020603050405020304" pitchFamily="18" charset="0"/>
              </a:rPr>
              <a:t>// </a:t>
            </a:r>
            <a:r>
              <a:rPr lang="zh-CN" altLang="en-US" sz="2200">
                <a:latin typeface="Times New Roman" panose="02020603050405020304" pitchFamily="18" charset="0"/>
                <a:cs typeface="Times New Roman" panose="02020603050405020304" pitchFamily="18" charset="0"/>
              </a:rPr>
              <a:t>检查新的旅行路径是不是更好 </a:t>
            </a:r>
            <a:br>
              <a:rPr lang="zh-CN" altLang="en-US" sz="2200">
                <a:latin typeface="Times New Roman" panose="02020603050405020304" pitchFamily="18" charset="0"/>
                <a:cs typeface="Times New Roman" panose="02020603050405020304" pitchFamily="18" charset="0"/>
              </a:rPr>
            </a:br>
            <a:r>
              <a:rPr lang="zh-CN" altLang="en-US" sz="2200">
                <a:latin typeface="Times New Roman" panose="02020603050405020304" pitchFamily="18" charset="0"/>
                <a:cs typeface="Times New Roman" panose="02020603050405020304" pitchFamily="18" charset="0"/>
              </a:rPr>
              <a:t>     </a:t>
            </a:r>
            <a:r>
              <a:rPr lang="en-US" altLang="zh-CN" sz="2200">
                <a:latin typeface="Times New Roman" panose="02020603050405020304" pitchFamily="18" charset="0"/>
                <a:cs typeface="Times New Roman" panose="02020603050405020304" pitchFamily="18" charset="0"/>
              </a:rPr>
              <a:t>if (</a:t>
            </a:r>
            <a:r>
              <a:rPr lang="en-US" altLang="zh-CN" sz="2200" u="sng">
                <a:solidFill>
                  <a:srgbClr val="0070C0"/>
                </a:solidFill>
                <a:latin typeface="Times New Roman" panose="02020603050405020304" pitchFamily="18" charset="0"/>
                <a:cs typeface="Times New Roman" panose="02020603050405020304" pitchFamily="18" charset="0"/>
              </a:rPr>
              <a:t>a[E.x[n-2]][E.x[n-1]] != NoEdge </a:t>
            </a:r>
            <a:r>
              <a:rPr lang="en-US" altLang="zh-CN" sz="2200" u="sng">
                <a:latin typeface="Times New Roman" panose="02020603050405020304" pitchFamily="18" charset="0"/>
                <a:cs typeface="Times New Roman" panose="02020603050405020304" pitchFamily="18" charset="0"/>
              </a:rPr>
              <a:t>&amp;&amp; </a:t>
            </a:r>
            <a:r>
              <a:rPr lang="en-US" altLang="zh-CN" sz="2200" u="sng">
                <a:solidFill>
                  <a:srgbClr val="0070C0"/>
                </a:solidFill>
                <a:latin typeface="Times New Roman" panose="02020603050405020304" pitchFamily="18" charset="0"/>
                <a:cs typeface="Times New Roman" panose="02020603050405020304" pitchFamily="18" charset="0"/>
              </a:rPr>
              <a:t>a[E.x[n-1]][1] != NoEdge  </a:t>
            </a:r>
          </a:p>
          <a:p>
            <a:pPr>
              <a:lnSpc>
                <a:spcPct val="110000"/>
              </a:lnSpc>
              <a:spcBef>
                <a:spcPct val="0"/>
              </a:spcBef>
              <a:buFont typeface="Wingdings" panose="05000000000000000000" pitchFamily="2" charset="2"/>
              <a:buNone/>
            </a:pPr>
            <a:r>
              <a:rPr lang="en-US" altLang="zh-CN" sz="2200" u="sng">
                <a:latin typeface="Times New Roman" panose="02020603050405020304" pitchFamily="18" charset="0"/>
                <a:cs typeface="Times New Roman" panose="02020603050405020304" pitchFamily="18" charset="0"/>
              </a:rPr>
              <a:t>&amp;&amp; (</a:t>
            </a:r>
            <a:r>
              <a:rPr lang="en-US" altLang="zh-CN" sz="2200" u="sng">
                <a:solidFill>
                  <a:srgbClr val="0070C0"/>
                </a:solidFill>
                <a:latin typeface="Times New Roman" panose="02020603050405020304" pitchFamily="18" charset="0"/>
                <a:cs typeface="Times New Roman" panose="02020603050405020304" pitchFamily="18" charset="0"/>
              </a:rPr>
              <a:t>E.cc + a[E.x[n-2]][E.x[n-1]] +a[E.x[n-1]][1] &lt; bestc </a:t>
            </a:r>
            <a:r>
              <a:rPr lang="en-US" altLang="zh-CN" sz="2200" u="sng">
                <a:latin typeface="Times New Roman" panose="02020603050405020304" pitchFamily="18" charset="0"/>
                <a:cs typeface="Times New Roman" panose="02020603050405020304" pitchFamily="18" charset="0"/>
              </a:rPr>
              <a:t>|| </a:t>
            </a:r>
            <a:r>
              <a:rPr lang="en-US" altLang="zh-CN" sz="2200" u="sng">
                <a:solidFill>
                  <a:srgbClr val="0070C0"/>
                </a:solidFill>
                <a:latin typeface="Times New Roman" panose="02020603050405020304" pitchFamily="18" charset="0"/>
                <a:cs typeface="Times New Roman" panose="02020603050405020304" pitchFamily="18" charset="0"/>
              </a:rPr>
              <a:t>bestc == NoEdge</a:t>
            </a:r>
            <a:r>
              <a:rPr lang="en-US" altLang="zh-CN" sz="2200" u="sng">
                <a:latin typeface="Times New Roman" panose="02020603050405020304" pitchFamily="18" charset="0"/>
                <a:cs typeface="Times New Roman" panose="02020603050405020304" pitchFamily="18" charset="0"/>
              </a:rPr>
              <a:t>)</a:t>
            </a:r>
            <a:r>
              <a:rPr lang="en-US" altLang="zh-CN" sz="2200">
                <a:latin typeface="Times New Roman" panose="02020603050405020304" pitchFamily="18" charset="0"/>
                <a:cs typeface="Times New Roman" panose="02020603050405020304" pitchFamily="18" charset="0"/>
              </a:rPr>
              <a:t>)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 </a:t>
            </a:r>
            <a:r>
              <a:rPr lang="zh-CN" altLang="en-US" sz="2200">
                <a:latin typeface="Times New Roman" panose="02020603050405020304" pitchFamily="18" charset="0"/>
                <a:cs typeface="Times New Roman" panose="02020603050405020304" pitchFamily="18" charset="0"/>
              </a:rPr>
              <a:t>找到更优的旅行路径 </a:t>
            </a:r>
            <a:br>
              <a:rPr lang="zh-CN" altLang="en-US" sz="2200">
                <a:latin typeface="Times New Roman" panose="02020603050405020304" pitchFamily="18" charset="0"/>
                <a:cs typeface="Times New Roman" panose="02020603050405020304" pitchFamily="18" charset="0"/>
              </a:rPr>
            </a:br>
            <a:r>
              <a:rPr lang="zh-CN" altLang="en-US" sz="2200">
                <a:latin typeface="Times New Roman" panose="02020603050405020304" pitchFamily="18" charset="0"/>
                <a:cs typeface="Times New Roman" panose="02020603050405020304" pitchFamily="18" charset="0"/>
              </a:rPr>
              <a:t>	</a:t>
            </a:r>
            <a:r>
              <a:rPr lang="en-US" altLang="zh-CN" sz="2200">
                <a:latin typeface="Times New Roman" panose="02020603050405020304" pitchFamily="18" charset="0"/>
                <a:cs typeface="Times New Roman" panose="02020603050405020304" pitchFamily="18" charset="0"/>
              </a:rPr>
              <a:t>{</a:t>
            </a:r>
            <a:r>
              <a:rPr lang="en-US" altLang="zh-CN" sz="2200">
                <a:solidFill>
                  <a:srgbClr val="FF0000"/>
                </a:solidFill>
                <a:latin typeface="Times New Roman" panose="02020603050405020304" pitchFamily="18" charset="0"/>
                <a:cs typeface="Times New Roman" panose="02020603050405020304" pitchFamily="18" charset="0"/>
              </a:rPr>
              <a:t>bestc = E.cc + a[E.x[n-2]][E.x[n-1]] + a[E.x[n-1]][1];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E.cc = bestc;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E.lcost = bestc;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E.s++ ;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H. Insert(E); }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else   delete [] E.x;</a:t>
            </a:r>
          </a:p>
          <a:p>
            <a:pPr>
              <a:lnSpc>
                <a:spcPct val="110000"/>
              </a:lnSpc>
              <a:spcBef>
                <a:spcPct val="0"/>
              </a:spcBef>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 //</a:t>
            </a:r>
            <a:r>
              <a:rPr lang="zh-CN" altLang="en-US" sz="2200">
                <a:latin typeface="Times New Roman" panose="02020603050405020304" pitchFamily="18" charset="0"/>
                <a:cs typeface="Times New Roman" panose="02020603050405020304" pitchFamily="18" charset="0"/>
              </a:rPr>
              <a:t>舍弃扩展结点</a:t>
            </a:r>
          </a:p>
        </p:txBody>
      </p:sp>
      <p:sp>
        <p:nvSpPr>
          <p:cNvPr id="73731" name="灯片编号占位符 3">
            <a:extLst>
              <a:ext uri="{FF2B5EF4-FFF2-40B4-BE49-F238E27FC236}">
                <a16:creationId xmlns:a16="http://schemas.microsoft.com/office/drawing/2014/main" id="{C107FBC9-E0A7-BE98-11C8-B41E8B8B92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2E94030-EBEF-43E9-A8C0-EEA464DD35AD}" type="slidenum">
              <a:rPr lang="zh-CN" altLang="en-US" sz="1200">
                <a:solidFill>
                  <a:schemeClr val="tx1"/>
                </a:solidFill>
                <a:latin typeface="Garamond" panose="02020404030301010803" pitchFamily="18" charset="0"/>
                <a:ea typeface="宋体" panose="02010600030101010101" pitchFamily="2" charset="-122"/>
              </a:rPr>
              <a:pPr/>
              <a:t>51</a:t>
            </a:fld>
            <a:endParaRPr lang="zh-CN" altLang="en-US" sz="1200">
              <a:solidFill>
                <a:schemeClr val="tx1"/>
              </a:solidFill>
              <a:latin typeface="Garamond" panose="02020404030301010803" pitchFamily="18" charset="0"/>
              <a:ea typeface="宋体" panose="02010600030101010101" pitchFamily="2" charset="-122"/>
            </a:endParaRPr>
          </a:p>
        </p:txBody>
      </p:sp>
      <p:sp>
        <p:nvSpPr>
          <p:cNvPr id="73732" name="Rectangle 2">
            <a:extLst>
              <a:ext uri="{FF2B5EF4-FFF2-40B4-BE49-F238E27FC236}">
                <a16:creationId xmlns:a16="http://schemas.microsoft.com/office/drawing/2014/main" id="{4A0C7544-47AF-E878-4113-224A78F21DEE}"/>
              </a:ext>
            </a:extLst>
          </p:cNvPr>
          <p:cNvSpPr>
            <a:spLocks noGrp="1" noRot="1" noChangeArrowheads="1"/>
          </p:cNvSpPr>
          <p:nvPr>
            <p:ph type="title"/>
          </p:nvPr>
        </p:nvSpPr>
        <p:spPr>
          <a:xfrm>
            <a:off x="430213" y="260350"/>
            <a:ext cx="8229600" cy="1143000"/>
          </a:xfrm>
        </p:spPr>
        <p:txBody>
          <a:bodyPr/>
          <a:lstStyle/>
          <a:p>
            <a:r>
              <a:rPr lang="zh-CN" altLang="en-US" b="1"/>
              <a:t>算法</a:t>
            </a:r>
          </a:p>
        </p:txBody>
      </p:sp>
    </p:spTree>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39BB6DA1-C25A-B887-9DF6-6791B79C9C61}"/>
              </a:ext>
            </a:extLst>
          </p:cNvPr>
          <p:cNvSpPr>
            <a:spLocks noGrp="1" noRot="1" noChangeArrowheads="1"/>
          </p:cNvSpPr>
          <p:nvPr>
            <p:ph type="body" idx="1"/>
          </p:nvPr>
        </p:nvSpPr>
        <p:spPr>
          <a:xfrm>
            <a:off x="0" y="981075"/>
            <a:ext cx="9251950" cy="5876925"/>
          </a:xfrm>
        </p:spPr>
        <p:txBody>
          <a:bodyPr/>
          <a:lstStyle/>
          <a:p>
            <a:pPr>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else {    //s&lt;n-2</a:t>
            </a:r>
            <a:r>
              <a:rPr lang="zh-CN" altLang="en-US" sz="2200">
                <a:latin typeface="Times New Roman" panose="02020603050405020304" pitchFamily="18" charset="0"/>
                <a:cs typeface="Times New Roman" panose="02020603050405020304" pitchFamily="18" charset="0"/>
              </a:rPr>
              <a:t>时</a:t>
            </a:r>
            <a:r>
              <a:rPr lang="en-US" altLang="zh-CN" sz="2200">
                <a:latin typeface="Times New Roman" panose="02020603050405020304" pitchFamily="18" charset="0"/>
                <a:cs typeface="Times New Roman" panose="02020603050405020304" pitchFamily="18" charset="0"/>
              </a:rPr>
              <a:t>:</a:t>
            </a:r>
          </a:p>
          <a:p>
            <a:pPr>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for (</a:t>
            </a:r>
            <a:r>
              <a:rPr lang="en-US" altLang="zh-CN" sz="2200">
                <a:solidFill>
                  <a:srgbClr val="FF0000"/>
                </a:solidFill>
                <a:latin typeface="Times New Roman" panose="02020603050405020304" pitchFamily="18" charset="0"/>
                <a:cs typeface="Times New Roman" panose="02020603050405020304" pitchFamily="18" charset="0"/>
              </a:rPr>
              <a:t>int i = E.s + 1; i &lt; n; i++)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if (</a:t>
            </a:r>
            <a:r>
              <a:rPr lang="en-US" altLang="zh-CN" sz="2200">
                <a:solidFill>
                  <a:srgbClr val="FF0000"/>
                </a:solidFill>
                <a:latin typeface="Times New Roman" panose="02020603050405020304" pitchFamily="18" charset="0"/>
                <a:cs typeface="Times New Roman" panose="02020603050405020304" pitchFamily="18" charset="0"/>
              </a:rPr>
              <a:t>a[E.x[E.s]][E.x[i]] != NoEdge</a:t>
            </a:r>
            <a:r>
              <a:rPr lang="en-US" altLang="zh-CN" sz="2200">
                <a:latin typeface="Times New Roman" panose="02020603050405020304" pitchFamily="18" charset="0"/>
                <a:cs typeface="Times New Roman" panose="02020603050405020304" pitchFamily="18" charset="0"/>
              </a:rPr>
              <a:t>) {    // </a:t>
            </a:r>
            <a:r>
              <a:rPr lang="zh-CN" altLang="en-US" sz="2200">
                <a:latin typeface="Times New Roman" panose="02020603050405020304" pitchFamily="18" charset="0"/>
                <a:cs typeface="Times New Roman" panose="02020603050405020304" pitchFamily="18" charset="0"/>
              </a:rPr>
              <a:t>可行条件判断</a:t>
            </a:r>
            <a:br>
              <a:rPr lang="zh-CN" altLang="en-US" sz="2200">
                <a:latin typeface="Times New Roman" panose="02020603050405020304" pitchFamily="18" charset="0"/>
                <a:cs typeface="Times New Roman" panose="02020603050405020304" pitchFamily="18" charset="0"/>
              </a:rPr>
            </a:br>
            <a:r>
              <a:rPr lang="zh-CN" altLang="en-US" sz="2200">
                <a:latin typeface="Times New Roman" panose="02020603050405020304" pitchFamily="18" charset="0"/>
                <a:cs typeface="Times New Roman" panose="02020603050405020304" pitchFamily="18" charset="0"/>
              </a:rPr>
              <a:t>     </a:t>
            </a:r>
            <a:r>
              <a:rPr lang="en-US" altLang="zh-CN" sz="2200">
                <a:latin typeface="Times New Roman" panose="02020603050405020304" pitchFamily="18" charset="0"/>
                <a:cs typeface="Times New Roman" panose="02020603050405020304" pitchFamily="18" charset="0"/>
              </a:rPr>
              <a:t>cc = E.cc + a[E.x[E.s]][E.x[i]];      </a:t>
            </a:r>
          </a:p>
          <a:p>
            <a:pPr>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a:t>
            </a:r>
            <a:r>
              <a:rPr lang="en-US" altLang="zh-CN" sz="2200">
                <a:solidFill>
                  <a:srgbClr val="FF0000"/>
                </a:solidFill>
                <a:latin typeface="Times New Roman" panose="02020603050405020304" pitchFamily="18" charset="0"/>
                <a:cs typeface="Times New Roman" panose="02020603050405020304" pitchFamily="18" charset="0"/>
              </a:rPr>
              <a:t>rcost = E.rcost - MinOut[E.x[E.s]];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b = cc + rcost; //</a:t>
            </a:r>
            <a:r>
              <a:rPr lang="zh-CN" altLang="en-US" sz="2200">
                <a:latin typeface="Times New Roman" panose="02020603050405020304" pitchFamily="18" charset="0"/>
                <a:cs typeface="Times New Roman" panose="02020603050405020304" pitchFamily="18" charset="0"/>
              </a:rPr>
              <a:t>下限 </a:t>
            </a:r>
          </a:p>
          <a:p>
            <a:pPr>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if (</a:t>
            </a:r>
            <a:r>
              <a:rPr lang="en-US" altLang="zh-CN" sz="2200">
                <a:solidFill>
                  <a:srgbClr val="FF0000"/>
                </a:solidFill>
                <a:latin typeface="Times New Roman" panose="02020603050405020304" pitchFamily="18" charset="0"/>
                <a:cs typeface="Times New Roman" panose="02020603050405020304" pitchFamily="18" charset="0"/>
              </a:rPr>
              <a:t>b &lt; bestc || bestc == NoEdge</a:t>
            </a:r>
            <a:r>
              <a:rPr lang="en-US" altLang="zh-CN" sz="2200">
                <a:latin typeface="Times New Roman" panose="02020603050405020304" pitchFamily="18" charset="0"/>
                <a:cs typeface="Times New Roman" panose="02020603050405020304" pitchFamily="18" charset="0"/>
              </a:rPr>
              <a:t>) { // </a:t>
            </a:r>
            <a:r>
              <a:rPr lang="zh-CN" altLang="en-US" sz="2200" u="sng">
                <a:latin typeface="Times New Roman" panose="02020603050405020304" pitchFamily="18" charset="0"/>
                <a:cs typeface="Times New Roman" panose="02020603050405020304" pitchFamily="18" charset="0"/>
              </a:rPr>
              <a:t>有更好的叶子 </a:t>
            </a:r>
            <a:r>
              <a:rPr lang="en-US" altLang="zh-CN" sz="2200">
                <a:latin typeface="Times New Roman" panose="02020603050405020304" pitchFamily="18" charset="0"/>
                <a:cs typeface="Times New Roman" panose="02020603050405020304" pitchFamily="18" charset="0"/>
              </a:rPr>
              <a:t>, </a:t>
            </a:r>
            <a:r>
              <a:rPr lang="zh-CN" altLang="en-US" sz="2200">
                <a:latin typeface="Times New Roman" panose="02020603050405020304" pitchFamily="18" charset="0"/>
                <a:cs typeface="Times New Roman" panose="02020603050405020304" pitchFamily="18" charset="0"/>
              </a:rPr>
              <a:t>保存到堆中</a:t>
            </a:r>
            <a:endParaRPr lang="en-US" altLang="zh-CN" sz="220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MinHeapNode N;    </a:t>
            </a:r>
          </a:p>
          <a:p>
            <a:pPr>
              <a:lnSpc>
                <a:spcPct val="90000"/>
              </a:lnSpc>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N.x = new int [n];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for (int j = 0; j &lt; n; j++)      N.x[j] = E.x[j]; </a:t>
            </a:r>
            <a:br>
              <a:rPr lang="en-US" altLang="zh-CN"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a:t>
            </a:r>
            <a:r>
              <a:rPr lang="en-US" altLang="zh-CN" sz="2200">
                <a:solidFill>
                  <a:srgbClr val="FF0000"/>
                </a:solidFill>
                <a:latin typeface="Times New Roman" panose="02020603050405020304" pitchFamily="18" charset="0"/>
                <a:cs typeface="Times New Roman" panose="02020603050405020304" pitchFamily="18" charset="0"/>
              </a:rPr>
              <a:t>N.x[E.s+1] = E.x[i];  N.x [i]= E.x[E.s+1]; </a:t>
            </a:r>
            <a:r>
              <a:rPr lang="en-US" altLang="zh-CN" sz="2200">
                <a:latin typeface="Times New Roman" panose="02020603050405020304" pitchFamily="18" charset="0"/>
                <a:cs typeface="Times New Roman" panose="02020603050405020304" pitchFamily="18" charset="0"/>
              </a:rPr>
              <a:t>//</a:t>
            </a:r>
            <a:r>
              <a:rPr lang="zh-CN" altLang="en-US" sz="2200">
                <a:latin typeface="Times New Roman" panose="02020603050405020304" pitchFamily="18" charset="0"/>
                <a:cs typeface="Times New Roman" panose="02020603050405020304" pitchFamily="18" charset="0"/>
              </a:rPr>
              <a:t>通过交换枚举出所有排列</a:t>
            </a:r>
            <a:endParaRPr lang="en-US" altLang="zh-CN" sz="2200">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N.cc = cc; N.s = E.s + 1; N.lcost = b; N.rcost = rcost; </a:t>
            </a:r>
          </a:p>
          <a:p>
            <a:pPr>
              <a:lnSpc>
                <a:spcPct val="90000"/>
              </a:lnSpc>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H . Insert(N) ;} </a:t>
            </a:r>
          </a:p>
          <a:p>
            <a:pPr>
              <a:lnSpc>
                <a:spcPct val="90000"/>
              </a:lnSpc>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 // </a:t>
            </a:r>
            <a:r>
              <a:rPr lang="zh-CN" altLang="en-US" sz="2200">
                <a:latin typeface="Times New Roman" panose="02020603050405020304" pitchFamily="18" charset="0"/>
                <a:cs typeface="Times New Roman" panose="02020603050405020304" pitchFamily="18" charset="0"/>
              </a:rPr>
              <a:t>扩展下一个节点，直到堆为空</a:t>
            </a:r>
            <a:r>
              <a:rPr lang="en-US" altLang="zh-CN" sz="2200">
                <a:latin typeface="Times New Roman" panose="02020603050405020304" pitchFamily="18" charset="0"/>
                <a:cs typeface="Times New Roman" panose="02020603050405020304" pitchFamily="18" charset="0"/>
              </a:rPr>
              <a:t>(</a:t>
            </a:r>
            <a:r>
              <a:rPr lang="zh-CN" altLang="en-US" sz="2200">
                <a:latin typeface="Times New Roman" panose="02020603050405020304" pitchFamily="18" charset="0"/>
                <a:cs typeface="Times New Roman" panose="02020603050405020304" pitchFamily="18" charset="0"/>
              </a:rPr>
              <a:t>略</a:t>
            </a:r>
            <a:r>
              <a:rPr lang="en-US" altLang="zh-CN" sz="2200">
                <a:latin typeface="Times New Roman" panose="02020603050405020304" pitchFamily="18" charset="0"/>
                <a:cs typeface="Times New Roman" panose="02020603050405020304" pitchFamily="18" charset="0"/>
              </a:rPr>
              <a:t>)</a:t>
            </a:r>
            <a:br>
              <a:rPr lang="zh-CN" altLang="en-US" sz="2200">
                <a:latin typeface="Times New Roman" panose="02020603050405020304" pitchFamily="18" charset="0"/>
                <a:cs typeface="Times New Roman" panose="02020603050405020304" pitchFamily="18" charset="0"/>
              </a:rPr>
            </a:br>
            <a:r>
              <a:rPr lang="en-US" altLang="zh-CN" sz="2200">
                <a:latin typeface="Times New Roman" panose="02020603050405020304" pitchFamily="18" charset="0"/>
                <a:cs typeface="Times New Roman" panose="02020603050405020304" pitchFamily="18" charset="0"/>
              </a:rPr>
              <a:t>} </a:t>
            </a:r>
            <a:endParaRPr lang="zh-CN" altLang="en-US" sz="220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zh-CN" altLang="en-US" sz="2200">
                <a:latin typeface="Times New Roman" panose="02020603050405020304" pitchFamily="18" charset="0"/>
                <a:cs typeface="Times New Roman" panose="02020603050405020304" pitchFamily="18" charset="0"/>
              </a:rPr>
              <a:t> </a:t>
            </a:r>
          </a:p>
        </p:txBody>
      </p:sp>
      <p:sp>
        <p:nvSpPr>
          <p:cNvPr id="74755" name="灯片编号占位符 3">
            <a:extLst>
              <a:ext uri="{FF2B5EF4-FFF2-40B4-BE49-F238E27FC236}">
                <a16:creationId xmlns:a16="http://schemas.microsoft.com/office/drawing/2014/main" id="{BFE96C8A-0831-F905-2B88-F38D0BE8ED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0A041D7-A9CF-4AA1-A76C-4FAE683FE4A1}" type="slidenum">
              <a:rPr lang="zh-CN" altLang="en-US" sz="1200">
                <a:solidFill>
                  <a:schemeClr val="tx1"/>
                </a:solidFill>
                <a:latin typeface="Garamond" panose="02020404030301010803" pitchFamily="18" charset="0"/>
                <a:ea typeface="宋体" panose="02010600030101010101" pitchFamily="2" charset="-122"/>
              </a:rPr>
              <a:pPr/>
              <a:t>52</a:t>
            </a:fld>
            <a:endParaRPr lang="zh-CN" altLang="en-US" sz="1200">
              <a:solidFill>
                <a:schemeClr val="tx1"/>
              </a:solidFill>
              <a:latin typeface="Garamond" panose="02020404030301010803" pitchFamily="18" charset="0"/>
              <a:ea typeface="宋体" panose="02010600030101010101" pitchFamily="2" charset="-122"/>
            </a:endParaRPr>
          </a:p>
        </p:txBody>
      </p:sp>
      <p:sp>
        <p:nvSpPr>
          <p:cNvPr id="74756" name="Rectangle 2">
            <a:extLst>
              <a:ext uri="{FF2B5EF4-FFF2-40B4-BE49-F238E27FC236}">
                <a16:creationId xmlns:a16="http://schemas.microsoft.com/office/drawing/2014/main" id="{8218F676-0288-6829-9944-824A46B466FD}"/>
              </a:ext>
            </a:extLst>
          </p:cNvPr>
          <p:cNvSpPr>
            <a:spLocks noGrp="1" noRot="1" noChangeArrowheads="1"/>
          </p:cNvSpPr>
          <p:nvPr>
            <p:ph type="title"/>
          </p:nvPr>
        </p:nvSpPr>
        <p:spPr>
          <a:xfrm>
            <a:off x="457200" y="274638"/>
            <a:ext cx="8229600" cy="1143000"/>
          </a:xfrm>
        </p:spPr>
        <p:txBody>
          <a:bodyPr/>
          <a:lstStyle/>
          <a:p>
            <a:r>
              <a:rPr lang="zh-CN" altLang="en-US" b="1"/>
              <a:t>算法</a:t>
            </a:r>
          </a:p>
        </p:txBody>
      </p:sp>
    </p:spTree>
  </p:cSld>
  <p:clrMapOvr>
    <a:masterClrMapping/>
  </p:clrMapOvr>
  <p:transition spd="slow">
    <p:dissolve/>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5D404E1E-0A7E-4006-8C9F-EB891DBC5811}"/>
              </a:ext>
            </a:extLst>
          </p:cNvPr>
          <p:cNvSpPr>
            <a:spLocks noGrp="1" noChangeArrowheads="1"/>
          </p:cNvSpPr>
          <p:nvPr>
            <p:ph type="title"/>
          </p:nvPr>
        </p:nvSpPr>
        <p:spPr/>
        <p:txBody>
          <a:bodyPr/>
          <a:lstStyle/>
          <a:p>
            <a:pPr>
              <a:defRPr/>
            </a:pPr>
            <a:r>
              <a:rPr lang="zh-CN" altLang="en-US">
                <a:latin typeface="+mj-ea"/>
              </a:rPr>
              <a:t>6.7 旅行售货员问题</a:t>
            </a:r>
          </a:p>
        </p:txBody>
      </p:sp>
      <p:sp>
        <p:nvSpPr>
          <p:cNvPr id="63491" name="灯片编号占位符 5">
            <a:extLst>
              <a:ext uri="{FF2B5EF4-FFF2-40B4-BE49-F238E27FC236}">
                <a16:creationId xmlns:a16="http://schemas.microsoft.com/office/drawing/2014/main" id="{C3152C8E-6E11-4207-9294-C881C51AD651}"/>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D08D112E-8AA9-48B6-968B-DE228A20A907}" type="slidenum">
              <a:rPr lang="zh-CN" altLang="en-US" sz="1200">
                <a:solidFill>
                  <a:schemeClr val="tx1"/>
                </a:solidFill>
                <a:latin typeface="微软雅黑" panose="020B0503020204020204" pitchFamily="34" charset="-122"/>
                <a:ea typeface="微软雅黑" panose="020B0503020204020204" pitchFamily="34" charset="-122"/>
              </a:rPr>
              <a:pPr/>
              <a:t>53</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06180" name="Text Box 4">
            <a:extLst>
              <a:ext uri="{FF2B5EF4-FFF2-40B4-BE49-F238E27FC236}">
                <a16:creationId xmlns:a16="http://schemas.microsoft.com/office/drawing/2014/main" id="{8F5003FC-5CC0-4AD5-90C6-8D9414900C1F}"/>
              </a:ext>
            </a:extLst>
          </p:cNvPr>
          <p:cNvSpPr txBox="1">
            <a:spLocks noChangeArrowheads="1"/>
          </p:cNvSpPr>
          <p:nvPr/>
        </p:nvSpPr>
        <p:spPr bwMode="auto">
          <a:xfrm>
            <a:off x="428625" y="1285875"/>
            <a:ext cx="594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kumimoji="1" lang="zh-CN" altLang="en-US" sz="3200">
                <a:solidFill>
                  <a:schemeClr val="accent2"/>
                </a:solidFill>
                <a:latin typeface="+mj-ea"/>
                <a:ea typeface="+mj-ea"/>
              </a:rPr>
              <a:t>2. 算法描述</a:t>
            </a:r>
            <a:r>
              <a:rPr kumimoji="1" lang="en-US" altLang="zh-CN" sz="3200">
                <a:solidFill>
                  <a:schemeClr val="accent2"/>
                </a:solidFill>
                <a:latin typeface="+mj-ea"/>
                <a:ea typeface="+mj-ea"/>
              </a:rPr>
              <a:t>-</a:t>
            </a:r>
            <a:r>
              <a:rPr kumimoji="1" lang="zh-CN" altLang="en-US" sz="3200">
                <a:solidFill>
                  <a:schemeClr val="accent2"/>
                </a:solidFill>
                <a:latin typeface="+mj-ea"/>
                <a:ea typeface="+mj-ea"/>
              </a:rPr>
              <a:t>循环终止条件</a:t>
            </a:r>
            <a:endParaRPr lang="en-US" altLang="zh-CN">
              <a:solidFill>
                <a:schemeClr val="accent2"/>
              </a:solidFill>
              <a:latin typeface="+mj-ea"/>
              <a:ea typeface="+mj-ea"/>
            </a:endParaRPr>
          </a:p>
        </p:txBody>
      </p:sp>
      <p:sp>
        <p:nvSpPr>
          <p:cNvPr id="306181" name="Text Box 5">
            <a:extLst>
              <a:ext uri="{FF2B5EF4-FFF2-40B4-BE49-F238E27FC236}">
                <a16:creationId xmlns:a16="http://schemas.microsoft.com/office/drawing/2014/main" id="{A04190D2-E738-4AB1-B79C-B59C098A13D1}"/>
              </a:ext>
            </a:extLst>
          </p:cNvPr>
          <p:cNvSpPr txBox="1">
            <a:spLocks noChangeArrowheads="1"/>
          </p:cNvSpPr>
          <p:nvPr/>
        </p:nvSpPr>
        <p:spPr bwMode="auto">
          <a:xfrm>
            <a:off x="500063" y="2071688"/>
            <a:ext cx="8143875"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算法中</a:t>
            </a:r>
            <a:r>
              <a:rPr lang="en-US" altLang="zh-CN" sz="2400" dirty="0">
                <a:solidFill>
                  <a:schemeClr val="tx1"/>
                </a:solidFill>
                <a:latin typeface="+mj-ea"/>
                <a:ea typeface="+mj-ea"/>
              </a:rPr>
              <a:t>while</a:t>
            </a:r>
            <a:r>
              <a:rPr lang="zh-CN" altLang="en-US" sz="2400" dirty="0">
                <a:solidFill>
                  <a:schemeClr val="tx1"/>
                </a:solidFill>
                <a:latin typeface="+mj-ea"/>
                <a:ea typeface="+mj-ea"/>
              </a:rPr>
              <a:t>循环的终止条件是排列树的一个叶结点成为当前扩展结点。当</a:t>
            </a:r>
            <a:r>
              <a:rPr lang="en-US" altLang="zh-CN" sz="2400" dirty="0">
                <a:solidFill>
                  <a:schemeClr val="tx1"/>
                </a:solidFill>
                <a:latin typeface="+mj-ea"/>
                <a:ea typeface="+mj-ea"/>
              </a:rPr>
              <a:t>s=n-1</a:t>
            </a:r>
            <a:r>
              <a:rPr lang="zh-CN" altLang="en-US" sz="2400" dirty="0">
                <a:solidFill>
                  <a:schemeClr val="tx1"/>
                </a:solidFill>
                <a:latin typeface="+mj-ea"/>
                <a:ea typeface="+mj-ea"/>
              </a:rPr>
              <a:t>时，已找到的回路前缀是</a:t>
            </a:r>
            <a:r>
              <a:rPr lang="en-US" altLang="zh-CN" sz="2400" dirty="0">
                <a:solidFill>
                  <a:schemeClr val="tx1"/>
                </a:solidFill>
                <a:latin typeface="+mj-ea"/>
                <a:ea typeface="+mj-ea"/>
              </a:rPr>
              <a:t>x[0:n-1]，</a:t>
            </a:r>
            <a:r>
              <a:rPr lang="zh-CN" altLang="en-US" sz="2400" dirty="0">
                <a:solidFill>
                  <a:schemeClr val="tx1"/>
                </a:solidFill>
                <a:latin typeface="+mj-ea"/>
                <a:ea typeface="+mj-ea"/>
              </a:rPr>
              <a:t>它已包含图</a:t>
            </a:r>
            <a:r>
              <a:rPr lang="en-US" altLang="zh-CN" sz="2400" dirty="0">
                <a:solidFill>
                  <a:schemeClr val="tx1"/>
                </a:solidFill>
                <a:latin typeface="+mj-ea"/>
                <a:ea typeface="+mj-ea"/>
              </a:rPr>
              <a:t>G</a:t>
            </a:r>
            <a:r>
              <a:rPr lang="zh-CN" altLang="en-US" sz="2400" dirty="0">
                <a:solidFill>
                  <a:schemeClr val="tx1"/>
                </a:solidFill>
                <a:latin typeface="+mj-ea"/>
                <a:ea typeface="+mj-ea"/>
              </a:rPr>
              <a:t>的所有</a:t>
            </a:r>
            <a:r>
              <a:rPr lang="en-US" altLang="zh-CN" sz="2400" dirty="0">
                <a:solidFill>
                  <a:schemeClr val="tx1"/>
                </a:solidFill>
                <a:latin typeface="+mj-ea"/>
                <a:ea typeface="+mj-ea"/>
              </a:rPr>
              <a:t>n</a:t>
            </a:r>
            <a:r>
              <a:rPr lang="zh-CN" altLang="en-US" sz="2400" dirty="0">
                <a:solidFill>
                  <a:schemeClr val="tx1"/>
                </a:solidFill>
                <a:latin typeface="+mj-ea"/>
                <a:ea typeface="+mj-ea"/>
              </a:rPr>
              <a:t>个顶点。因此，当</a:t>
            </a:r>
            <a:r>
              <a:rPr lang="en-US" altLang="zh-CN" sz="2400" dirty="0">
                <a:solidFill>
                  <a:schemeClr val="tx1"/>
                </a:solidFill>
                <a:latin typeface="+mj-ea"/>
                <a:ea typeface="+mj-ea"/>
              </a:rPr>
              <a:t>s=n-1</a:t>
            </a:r>
            <a:r>
              <a:rPr lang="zh-CN" altLang="en-US" sz="2400" dirty="0">
                <a:solidFill>
                  <a:schemeClr val="tx1"/>
                </a:solidFill>
                <a:latin typeface="+mj-ea"/>
                <a:ea typeface="+mj-ea"/>
              </a:rPr>
              <a:t>时，相应的扩展结点表示一个叶结点。此时该叶结点所相应的回路的费用等于</a:t>
            </a:r>
            <a:r>
              <a:rPr lang="en-US" altLang="zh-CN" sz="2400" dirty="0">
                <a:solidFill>
                  <a:schemeClr val="tx1"/>
                </a:solidFill>
                <a:latin typeface="+mj-ea"/>
                <a:ea typeface="+mj-ea"/>
              </a:rPr>
              <a:t>cc</a:t>
            </a:r>
            <a:r>
              <a:rPr lang="zh-CN" altLang="en-US" sz="2400" dirty="0">
                <a:solidFill>
                  <a:schemeClr val="tx1"/>
                </a:solidFill>
                <a:latin typeface="+mj-ea"/>
                <a:ea typeface="+mj-ea"/>
              </a:rPr>
              <a:t>和</a:t>
            </a:r>
            <a:r>
              <a:rPr lang="en-US" altLang="zh-CN" sz="2400" dirty="0" err="1">
                <a:solidFill>
                  <a:schemeClr val="tx1"/>
                </a:solidFill>
                <a:latin typeface="+mj-ea"/>
                <a:ea typeface="+mj-ea"/>
              </a:rPr>
              <a:t>lcost</a:t>
            </a:r>
            <a:r>
              <a:rPr lang="zh-CN" altLang="en-US" sz="2400" dirty="0">
                <a:solidFill>
                  <a:schemeClr val="tx1"/>
                </a:solidFill>
                <a:latin typeface="+mj-ea"/>
                <a:ea typeface="+mj-ea"/>
              </a:rPr>
              <a:t>的值。</a:t>
            </a:r>
            <a:endParaRPr lang="en-US" altLang="zh-CN" sz="2400" dirty="0">
              <a:solidFill>
                <a:schemeClr val="tx1"/>
              </a:solidFill>
              <a:latin typeface="+mj-ea"/>
              <a:ea typeface="+mj-ea"/>
            </a:endParaRPr>
          </a:p>
          <a:p>
            <a:pPr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剩余的活结点的</a:t>
            </a:r>
            <a:r>
              <a:rPr lang="en-US" altLang="zh-CN" sz="2400" dirty="0" err="1">
                <a:solidFill>
                  <a:schemeClr val="tx1"/>
                </a:solidFill>
                <a:latin typeface="+mj-ea"/>
                <a:ea typeface="+mj-ea"/>
              </a:rPr>
              <a:t>lcost</a:t>
            </a:r>
            <a:r>
              <a:rPr lang="zh-CN" altLang="en-US" sz="2400" dirty="0">
                <a:solidFill>
                  <a:schemeClr val="tx1"/>
                </a:solidFill>
                <a:latin typeface="+mj-ea"/>
                <a:ea typeface="+mj-ea"/>
              </a:rPr>
              <a:t>值不小于已找到的回路的费用。它们都不可能导致费用更小的回路。因此已找到的叶结点所相应的回路是一个最小费用旅行售货员回路，算法可以结束。</a:t>
            </a:r>
          </a:p>
          <a:p>
            <a:pPr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算法结束时返回找到的最小费用，相应的最优解由数组</a:t>
            </a:r>
            <a:r>
              <a:rPr lang="en-US" altLang="zh-CN" sz="2400" dirty="0">
                <a:solidFill>
                  <a:schemeClr val="tx1"/>
                </a:solidFill>
                <a:latin typeface="+mj-ea"/>
                <a:ea typeface="+mj-ea"/>
              </a:rPr>
              <a:t>v</a:t>
            </a:r>
            <a:r>
              <a:rPr lang="zh-CN" altLang="en-US" sz="2400" dirty="0">
                <a:solidFill>
                  <a:schemeClr val="tx1"/>
                </a:solidFill>
                <a:latin typeface="+mj-ea"/>
                <a:ea typeface="+mj-ea"/>
              </a:rPr>
              <a:t>给出。 </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6180"/>
                                        </p:tgtEl>
                                        <p:attrNameLst>
                                          <p:attrName>style.visibility</p:attrName>
                                        </p:attrNameLst>
                                      </p:cBhvr>
                                      <p:to>
                                        <p:strVal val="visible"/>
                                      </p:to>
                                    </p:set>
                                    <p:anim calcmode="lin" valueType="num">
                                      <p:cBhvr additive="base">
                                        <p:cTn id="7" dur="500" fill="hold"/>
                                        <p:tgtEl>
                                          <p:spTgt spid="306180"/>
                                        </p:tgtEl>
                                        <p:attrNameLst>
                                          <p:attrName>ppt_x</p:attrName>
                                        </p:attrNameLst>
                                      </p:cBhvr>
                                      <p:tavLst>
                                        <p:tav tm="0">
                                          <p:val>
                                            <p:strVal val="1+#ppt_w/2"/>
                                          </p:val>
                                        </p:tav>
                                        <p:tav tm="100000">
                                          <p:val>
                                            <p:strVal val="#ppt_x"/>
                                          </p:val>
                                        </p:tav>
                                      </p:tavLst>
                                    </p:anim>
                                    <p:anim calcmode="lin" valueType="num">
                                      <p:cBhvr additive="base">
                                        <p:cTn id="8" dur="500" fill="hold"/>
                                        <p:tgtEl>
                                          <p:spTgt spid="30618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306181"/>
                                        </p:tgtEl>
                                        <p:attrNameLst>
                                          <p:attrName>style.visibility</p:attrName>
                                        </p:attrNameLst>
                                      </p:cBhvr>
                                      <p:to>
                                        <p:strVal val="visible"/>
                                      </p:to>
                                    </p:set>
                                    <p:animEffect transition="in" filter="strips(downLeft)">
                                      <p:cBhvr>
                                        <p:cTn id="13" dur="500"/>
                                        <p:tgtEl>
                                          <p:spTgt spid="306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0" grpId="0" autoUpdateAnimBg="0"/>
      <p:bldP spid="30618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FC9B1170-57F5-6BF6-089F-F2C565A6A7D3}"/>
              </a:ext>
            </a:extLst>
          </p:cNvPr>
          <p:cNvSpPr>
            <a:spLocks noGrp="1" noRot="1" noChangeArrowheads="1"/>
          </p:cNvSpPr>
          <p:nvPr>
            <p:ph type="title"/>
          </p:nvPr>
        </p:nvSpPr>
        <p:spPr/>
        <p:txBody>
          <a:bodyPr/>
          <a:lstStyle/>
          <a:p>
            <a:r>
              <a:rPr lang="zh-CN" altLang="en-US"/>
              <a:t>结果处理</a:t>
            </a:r>
          </a:p>
        </p:txBody>
      </p:sp>
      <p:sp>
        <p:nvSpPr>
          <p:cNvPr id="76803" name="Rectangle 3">
            <a:extLst>
              <a:ext uri="{FF2B5EF4-FFF2-40B4-BE49-F238E27FC236}">
                <a16:creationId xmlns:a16="http://schemas.microsoft.com/office/drawing/2014/main" id="{5C4C0250-EFC1-8898-ADB7-C7E3AE20BE02}"/>
              </a:ext>
            </a:extLst>
          </p:cNvPr>
          <p:cNvSpPr>
            <a:spLocks noGrp="1" noRot="1" noChangeArrowheads="1"/>
          </p:cNvSpPr>
          <p:nvPr>
            <p:ph type="body" idx="1"/>
          </p:nvPr>
        </p:nvSpPr>
        <p:spPr>
          <a:xfrm>
            <a:off x="357188" y="1143000"/>
            <a:ext cx="8518525" cy="4967288"/>
          </a:xfrm>
        </p:spPr>
        <p:txBody>
          <a:bodyPr/>
          <a:lstStyle/>
          <a:p>
            <a:pPr>
              <a:buFont typeface="Wingdings" panose="05000000000000000000" pitchFamily="2" charset="2"/>
              <a:buNone/>
            </a:pPr>
            <a:r>
              <a:rPr lang="en-US" altLang="zh-CN" sz="2800">
                <a:latin typeface="Times New Roman" panose="02020603050405020304" pitchFamily="18" charset="0"/>
                <a:cs typeface="Times New Roman" panose="02020603050405020304" pitchFamily="18" charset="0"/>
              </a:rPr>
              <a:t>if (bestc == NoEdge) return NoEdge; // </a:t>
            </a:r>
            <a:r>
              <a:rPr lang="zh-CN" altLang="en-US" sz="2800">
                <a:latin typeface="Times New Roman" panose="02020603050405020304" pitchFamily="18" charset="0"/>
                <a:cs typeface="Times New Roman" panose="02020603050405020304" pitchFamily="18" charset="0"/>
              </a:rPr>
              <a:t>没有旅行路径</a:t>
            </a:r>
            <a:endParaRPr lang="en-US" altLang="zh-CN" sz="280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2800">
                <a:latin typeface="Times New Roman" panose="02020603050405020304" pitchFamily="18" charset="0"/>
                <a:cs typeface="Times New Roman" panose="02020603050405020304" pitchFamily="18" charset="0"/>
              </a:rPr>
              <a:t>// </a:t>
            </a:r>
            <a:r>
              <a:rPr lang="zh-CN" altLang="en-US" sz="2800">
                <a:latin typeface="Times New Roman" panose="02020603050405020304" pitchFamily="18" charset="0"/>
                <a:cs typeface="Times New Roman" panose="02020603050405020304" pitchFamily="18" charset="0"/>
              </a:rPr>
              <a:t>将最优路径复制到</a:t>
            </a:r>
            <a:r>
              <a:rPr lang="en-US" altLang="zh-CN" sz="2800">
                <a:latin typeface="Times New Roman" panose="02020603050405020304" pitchFamily="18" charset="0"/>
                <a:cs typeface="Times New Roman" panose="02020603050405020304" pitchFamily="18" charset="0"/>
              </a:rPr>
              <a:t>v[1:n] </a:t>
            </a:r>
            <a:r>
              <a:rPr lang="zh-CN" altLang="en-US" sz="2800">
                <a:latin typeface="Times New Roman" panose="02020603050405020304" pitchFamily="18" charset="0"/>
                <a:cs typeface="Times New Roman" panose="02020603050405020304" pitchFamily="18" charset="0"/>
              </a:rPr>
              <a:t>中 </a:t>
            </a:r>
          </a:p>
          <a:p>
            <a:pPr>
              <a:buFont typeface="Wingdings" panose="05000000000000000000" pitchFamily="2" charset="2"/>
              <a:buNone/>
            </a:pPr>
            <a:r>
              <a:rPr lang="en-US" altLang="zh-CN" sz="2800">
                <a:latin typeface="Times New Roman" panose="02020603050405020304" pitchFamily="18" charset="0"/>
                <a:cs typeface="Times New Roman" panose="02020603050405020304" pitchFamily="18" charset="0"/>
              </a:rPr>
              <a:t>for (i = 0; i &lt; n; i++) </a:t>
            </a:r>
            <a:br>
              <a:rPr lang="en-US" altLang="zh-CN" sz="2800">
                <a:latin typeface="Times New Roman" panose="02020603050405020304" pitchFamily="18" charset="0"/>
                <a:cs typeface="Times New Roman" panose="02020603050405020304" pitchFamily="18" charset="0"/>
              </a:rPr>
            </a:br>
            <a:r>
              <a:rPr lang="en-US" altLang="zh-CN" sz="2800">
                <a:latin typeface="Times New Roman" panose="02020603050405020304" pitchFamily="18" charset="0"/>
                <a:cs typeface="Times New Roman" panose="02020603050405020304" pitchFamily="18" charset="0"/>
              </a:rPr>
              <a:t>v[i+1] = E.x[i]; </a:t>
            </a:r>
          </a:p>
          <a:p>
            <a:pPr>
              <a:buFont typeface="Wingdings" panose="05000000000000000000" pitchFamily="2" charset="2"/>
              <a:buNone/>
            </a:pPr>
            <a:r>
              <a:rPr lang="en-US" altLang="zh-CN" sz="2800">
                <a:latin typeface="Times New Roman" panose="02020603050405020304" pitchFamily="18" charset="0"/>
                <a:cs typeface="Times New Roman" panose="02020603050405020304" pitchFamily="18" charset="0"/>
              </a:rPr>
              <a:t>while (true) {//</a:t>
            </a:r>
            <a:r>
              <a:rPr lang="zh-CN" altLang="en-US" sz="2800">
                <a:latin typeface="Times New Roman" panose="02020603050405020304" pitchFamily="18" charset="0"/>
                <a:cs typeface="Times New Roman" panose="02020603050405020304" pitchFamily="18" charset="0"/>
              </a:rPr>
              <a:t>释放最小堆中的所有节点 </a:t>
            </a:r>
            <a:br>
              <a:rPr lang="zh-CN" altLang="en-US" sz="2800">
                <a:latin typeface="Times New Roman" panose="02020603050405020304" pitchFamily="18" charset="0"/>
                <a:cs typeface="Times New Roman" panose="02020603050405020304" pitchFamily="18" charset="0"/>
              </a:rPr>
            </a:br>
            <a:r>
              <a:rPr lang="en-US" altLang="zh-CN" sz="2800">
                <a:latin typeface="Times New Roman" panose="02020603050405020304" pitchFamily="18" charset="0"/>
                <a:cs typeface="Times New Roman" panose="02020603050405020304" pitchFamily="18" charset="0"/>
              </a:rPr>
              <a:t>delete [] E.x; </a:t>
            </a:r>
            <a:br>
              <a:rPr lang="en-US" altLang="zh-CN" sz="2800">
                <a:latin typeface="Times New Roman" panose="02020603050405020304" pitchFamily="18" charset="0"/>
                <a:cs typeface="Times New Roman" panose="02020603050405020304" pitchFamily="18" charset="0"/>
              </a:rPr>
            </a:br>
            <a:r>
              <a:rPr lang="en-US" altLang="zh-CN" sz="2800">
                <a:latin typeface="Times New Roman" panose="02020603050405020304" pitchFamily="18" charset="0"/>
                <a:cs typeface="Times New Roman" panose="02020603050405020304" pitchFamily="18" charset="0"/>
              </a:rPr>
              <a:t>try {H.DeleteMin(E);} // </a:t>
            </a:r>
            <a:r>
              <a:rPr lang="zh-CN" altLang="en-US" sz="2800">
                <a:latin typeface="Times New Roman" panose="02020603050405020304" pitchFamily="18" charset="0"/>
                <a:cs typeface="Times New Roman" panose="02020603050405020304" pitchFamily="18" charset="0"/>
              </a:rPr>
              <a:t>取下一个</a:t>
            </a:r>
            <a:r>
              <a:rPr lang="en-US" altLang="zh-CN" sz="2800">
                <a:latin typeface="Times New Roman" panose="02020603050405020304" pitchFamily="18" charset="0"/>
                <a:cs typeface="Times New Roman" panose="02020603050405020304" pitchFamily="18" charset="0"/>
              </a:rPr>
              <a:t>E-</a:t>
            </a:r>
            <a:r>
              <a:rPr lang="zh-CN" altLang="en-US" sz="2800">
                <a:latin typeface="Times New Roman" panose="02020603050405020304" pitchFamily="18" charset="0"/>
                <a:cs typeface="Times New Roman" panose="02020603050405020304" pitchFamily="18" charset="0"/>
              </a:rPr>
              <a:t>节点 </a:t>
            </a:r>
            <a:br>
              <a:rPr lang="en-US" altLang="zh-CN" sz="2800">
                <a:latin typeface="Times New Roman" panose="02020603050405020304" pitchFamily="18" charset="0"/>
                <a:cs typeface="Times New Roman" panose="02020603050405020304" pitchFamily="18" charset="0"/>
              </a:rPr>
            </a:br>
            <a:r>
              <a:rPr lang="en-US" altLang="zh-CN" sz="2800">
                <a:solidFill>
                  <a:srgbClr val="FF0000"/>
                </a:solidFill>
                <a:latin typeface="Times New Roman" panose="02020603050405020304" pitchFamily="18" charset="0"/>
                <a:cs typeface="Times New Roman" panose="02020603050405020304" pitchFamily="18" charset="0"/>
              </a:rPr>
              <a:t>catch (OutOfBounds) {break;} </a:t>
            </a:r>
            <a:r>
              <a:rPr lang="en-US" altLang="zh-CN" sz="2800">
                <a:latin typeface="Times New Roman" panose="02020603050405020304" pitchFamily="18" charset="0"/>
                <a:cs typeface="Times New Roman" panose="02020603050405020304" pitchFamily="18" charset="0"/>
              </a:rPr>
              <a:t>// </a:t>
            </a:r>
            <a:r>
              <a:rPr lang="zh-CN" altLang="en-US" sz="2800">
                <a:latin typeface="Times New Roman" panose="02020603050405020304" pitchFamily="18" charset="0"/>
                <a:cs typeface="Times New Roman" panose="02020603050405020304" pitchFamily="18" charset="0"/>
              </a:rPr>
              <a:t>没有未处理的节点 </a:t>
            </a:r>
            <a:br>
              <a:rPr lang="en-US" altLang="zh-CN" sz="2800">
                <a:latin typeface="Times New Roman" panose="02020603050405020304" pitchFamily="18" charset="0"/>
                <a:cs typeface="Times New Roman" panose="02020603050405020304" pitchFamily="18" charset="0"/>
              </a:rPr>
            </a:br>
            <a:r>
              <a:rPr lang="en-US" altLang="zh-CN" sz="2800">
                <a:latin typeface="Times New Roman" panose="02020603050405020304" pitchFamily="18" charset="0"/>
                <a:cs typeface="Times New Roman" panose="02020603050405020304" pitchFamily="18" charset="0"/>
              </a:rPr>
              <a:t>} </a:t>
            </a:r>
            <a:br>
              <a:rPr lang="en-US" altLang="zh-CN" sz="2800">
                <a:latin typeface="Times New Roman" panose="02020603050405020304" pitchFamily="18" charset="0"/>
                <a:cs typeface="Times New Roman" panose="02020603050405020304" pitchFamily="18" charset="0"/>
              </a:rPr>
            </a:br>
            <a:r>
              <a:rPr lang="en-US" altLang="zh-CN" sz="2800">
                <a:latin typeface="Times New Roman" panose="02020603050405020304" pitchFamily="18" charset="0"/>
                <a:cs typeface="Times New Roman" panose="02020603050405020304" pitchFamily="18" charset="0"/>
              </a:rPr>
              <a:t>return bestc; </a:t>
            </a:r>
            <a:endParaRPr lang="zh-CN" altLang="en-US" sz="2800">
              <a:latin typeface="Times New Roman" panose="02020603050405020304" pitchFamily="18" charset="0"/>
              <a:cs typeface="Times New Roman" panose="02020603050405020304" pitchFamily="18" charset="0"/>
            </a:endParaRPr>
          </a:p>
        </p:txBody>
      </p:sp>
      <p:sp>
        <p:nvSpPr>
          <p:cNvPr id="76804" name="灯片编号占位符 3">
            <a:extLst>
              <a:ext uri="{FF2B5EF4-FFF2-40B4-BE49-F238E27FC236}">
                <a16:creationId xmlns:a16="http://schemas.microsoft.com/office/drawing/2014/main" id="{6CC737A4-6665-76D5-E861-5487689670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3BB7E6D-C12A-4378-94CF-2F9CFAAFDA61}" type="slidenum">
              <a:rPr lang="zh-CN" altLang="en-US" sz="1200">
                <a:solidFill>
                  <a:schemeClr val="tx1"/>
                </a:solidFill>
                <a:latin typeface="Garamond" panose="02020404030301010803" pitchFamily="18" charset="0"/>
                <a:ea typeface="宋体" panose="02010600030101010101" pitchFamily="2" charset="-122"/>
              </a:rPr>
              <a:pPr/>
              <a:t>54</a:t>
            </a:fld>
            <a:endParaRPr lang="zh-CN" altLang="en-US" sz="1200">
              <a:solidFill>
                <a:schemeClr val="tx1"/>
              </a:solidFill>
              <a:latin typeface="Garamond" panose="02020404030301010803"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EF66835B-2729-4320-BFF2-96CCAF799C8D}"/>
                  </a:ext>
                </a:extLst>
              </p14:cNvPr>
              <p14:cNvContentPartPr/>
              <p14:nvPr/>
            </p14:nvContentPartPr>
            <p14:xfrm>
              <a:off x="2467080" y="4280760"/>
              <a:ext cx="360" cy="360"/>
            </p14:xfrm>
          </p:contentPart>
        </mc:Choice>
        <mc:Fallback xmlns="">
          <p:pic>
            <p:nvPicPr>
              <p:cNvPr id="2" name="墨迹 1">
                <a:extLst>
                  <a:ext uri="{FF2B5EF4-FFF2-40B4-BE49-F238E27FC236}">
                    <a16:creationId xmlns:a16="http://schemas.microsoft.com/office/drawing/2014/main" id="{EF66835B-2729-4320-BFF2-96CCAF799C8D}"/>
                  </a:ext>
                </a:extLst>
              </p:cNvPr>
              <p:cNvPicPr/>
              <p:nvPr/>
            </p:nvPicPr>
            <p:blipFill>
              <a:blip r:embed="rId4"/>
              <a:stretch>
                <a:fillRect/>
              </a:stretch>
            </p:blipFill>
            <p:spPr>
              <a:xfrm>
                <a:off x="2457720" y="4271400"/>
                <a:ext cx="19080" cy="19080"/>
              </a:xfrm>
              <a:prstGeom prst="rect">
                <a:avLst/>
              </a:prstGeom>
            </p:spPr>
          </p:pic>
        </mc:Fallback>
      </mc:AlternateContent>
    </p:spTree>
  </p:cSld>
  <p:clrMapOvr>
    <a:masterClrMapping/>
  </p:clrMapOvr>
  <p:transition spd="slow">
    <p:dissolv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5">
            <a:extLst>
              <a:ext uri="{FF2B5EF4-FFF2-40B4-BE49-F238E27FC236}">
                <a16:creationId xmlns:a16="http://schemas.microsoft.com/office/drawing/2014/main" id="{DC34FEC8-374B-AB05-1231-40B933F6187E}"/>
              </a:ext>
            </a:extLst>
          </p:cNvPr>
          <p:cNvSpPr>
            <a:spLocks noGrp="1" noChangeArrowheads="1"/>
          </p:cNvSpPr>
          <p:nvPr>
            <p:ph type="body" idx="1"/>
          </p:nvPr>
        </p:nvSpPr>
        <p:spPr>
          <a:xfrm>
            <a:off x="2857500" y="428625"/>
            <a:ext cx="3429000" cy="500063"/>
          </a:xfrm>
        </p:spPr>
        <p:txBody>
          <a:bodyPr lIns="90488" tIns="44450" rIns="90488" bIns="44450"/>
          <a:lstStyle/>
          <a:p>
            <a:pPr>
              <a:buFont typeface="Wingdings" panose="05000000000000000000" pitchFamily="2" charset="2"/>
              <a:buNone/>
            </a:pPr>
            <a:r>
              <a:rPr lang="zh-CN" altLang="en-US" sz="2400"/>
              <a:t>优先队列式分支限界法</a:t>
            </a:r>
          </a:p>
        </p:txBody>
      </p:sp>
      <p:grpSp>
        <p:nvGrpSpPr>
          <p:cNvPr id="78851" name="Group 39">
            <a:extLst>
              <a:ext uri="{FF2B5EF4-FFF2-40B4-BE49-F238E27FC236}">
                <a16:creationId xmlns:a16="http://schemas.microsoft.com/office/drawing/2014/main" id="{4837C00B-F2FD-A447-F3BA-17C27F439A00}"/>
              </a:ext>
            </a:extLst>
          </p:cNvPr>
          <p:cNvGrpSpPr>
            <a:grpSpLocks/>
          </p:cNvGrpSpPr>
          <p:nvPr/>
        </p:nvGrpSpPr>
        <p:grpSpPr bwMode="auto">
          <a:xfrm>
            <a:off x="117475" y="2114550"/>
            <a:ext cx="8467725" cy="3444875"/>
            <a:chOff x="237" y="1632"/>
            <a:chExt cx="5334" cy="2170"/>
          </a:xfrm>
        </p:grpSpPr>
        <p:sp>
          <p:nvSpPr>
            <p:cNvPr id="78899" name="Rectangle 8">
              <a:extLst>
                <a:ext uri="{FF2B5EF4-FFF2-40B4-BE49-F238E27FC236}">
                  <a16:creationId xmlns:a16="http://schemas.microsoft.com/office/drawing/2014/main" id="{39150552-DCF2-F637-0362-389CAFA6D27C}"/>
                </a:ext>
              </a:extLst>
            </p:cNvPr>
            <p:cNvSpPr>
              <a:spLocks noChangeArrowheads="1"/>
            </p:cNvSpPr>
            <p:nvPr/>
          </p:nvSpPr>
          <p:spPr bwMode="auto">
            <a:xfrm>
              <a:off x="2397" y="1632"/>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A</a:t>
              </a:r>
              <a:r>
                <a:rPr lang="en-US" altLang="zh-CN" sz="2000">
                  <a:solidFill>
                    <a:srgbClr val="000000"/>
                  </a:solidFill>
                </a:rPr>
                <a:t>:(1,-,-,-)</a:t>
              </a:r>
            </a:p>
          </p:txBody>
        </p:sp>
        <p:sp>
          <p:nvSpPr>
            <p:cNvPr id="78900" name="Rectangle 9">
              <a:extLst>
                <a:ext uri="{FF2B5EF4-FFF2-40B4-BE49-F238E27FC236}">
                  <a16:creationId xmlns:a16="http://schemas.microsoft.com/office/drawing/2014/main" id="{B30688F9-24EF-232D-B3C5-B412390EB389}"/>
                </a:ext>
              </a:extLst>
            </p:cNvPr>
            <p:cNvSpPr>
              <a:spLocks noChangeArrowheads="1"/>
            </p:cNvSpPr>
            <p:nvPr/>
          </p:nvSpPr>
          <p:spPr bwMode="auto">
            <a:xfrm>
              <a:off x="765" y="2319"/>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B</a:t>
              </a:r>
              <a:r>
                <a:rPr lang="en-US" altLang="zh-CN" sz="2000">
                  <a:solidFill>
                    <a:srgbClr val="000000"/>
                  </a:solidFill>
                </a:rPr>
                <a:t>:(1,2,-,-)</a:t>
              </a:r>
            </a:p>
          </p:txBody>
        </p:sp>
        <p:sp>
          <p:nvSpPr>
            <p:cNvPr id="78901" name="Rectangle 10">
              <a:extLst>
                <a:ext uri="{FF2B5EF4-FFF2-40B4-BE49-F238E27FC236}">
                  <a16:creationId xmlns:a16="http://schemas.microsoft.com/office/drawing/2014/main" id="{FAA81BF2-EE5E-39F3-1195-B8892C705A3F}"/>
                </a:ext>
              </a:extLst>
            </p:cNvPr>
            <p:cNvSpPr>
              <a:spLocks noChangeArrowheads="1"/>
            </p:cNvSpPr>
            <p:nvPr/>
          </p:nvSpPr>
          <p:spPr bwMode="auto">
            <a:xfrm>
              <a:off x="237" y="2928"/>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E</a:t>
              </a:r>
              <a:r>
                <a:rPr lang="en-US" altLang="zh-CN" sz="2000">
                  <a:solidFill>
                    <a:srgbClr val="000000"/>
                  </a:solidFill>
                </a:rPr>
                <a:t> (1,2,3,-)</a:t>
              </a:r>
            </a:p>
          </p:txBody>
        </p:sp>
        <p:sp>
          <p:nvSpPr>
            <p:cNvPr id="78902" name="Rectangle 11">
              <a:extLst>
                <a:ext uri="{FF2B5EF4-FFF2-40B4-BE49-F238E27FC236}">
                  <a16:creationId xmlns:a16="http://schemas.microsoft.com/office/drawing/2014/main" id="{08F294A2-A1EB-0B34-DC2C-5A84FEF24691}"/>
                </a:ext>
              </a:extLst>
            </p:cNvPr>
            <p:cNvSpPr>
              <a:spLocks noChangeArrowheads="1"/>
            </p:cNvSpPr>
            <p:nvPr/>
          </p:nvSpPr>
          <p:spPr bwMode="auto">
            <a:xfrm>
              <a:off x="4221" y="2304"/>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D</a:t>
              </a:r>
              <a:r>
                <a:rPr lang="en-US" altLang="zh-CN" sz="2000">
                  <a:solidFill>
                    <a:srgbClr val="000000"/>
                  </a:solidFill>
                </a:rPr>
                <a:t>:(1,4,-,-)</a:t>
              </a:r>
            </a:p>
          </p:txBody>
        </p:sp>
        <p:sp>
          <p:nvSpPr>
            <p:cNvPr id="78903" name="Rectangle 12">
              <a:extLst>
                <a:ext uri="{FF2B5EF4-FFF2-40B4-BE49-F238E27FC236}">
                  <a16:creationId xmlns:a16="http://schemas.microsoft.com/office/drawing/2014/main" id="{A02F9761-366B-4596-E6F6-583998E75797}"/>
                </a:ext>
              </a:extLst>
            </p:cNvPr>
            <p:cNvSpPr>
              <a:spLocks noChangeArrowheads="1"/>
            </p:cNvSpPr>
            <p:nvPr/>
          </p:nvSpPr>
          <p:spPr bwMode="auto">
            <a:xfrm>
              <a:off x="2445" y="2286"/>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C</a:t>
              </a:r>
              <a:r>
                <a:rPr lang="en-US" altLang="zh-CN" sz="2000">
                  <a:solidFill>
                    <a:srgbClr val="000000"/>
                  </a:solidFill>
                </a:rPr>
                <a:t>:(1,3,-,-)</a:t>
              </a:r>
            </a:p>
          </p:txBody>
        </p:sp>
        <p:sp>
          <p:nvSpPr>
            <p:cNvPr id="78904" name="Rectangle 13">
              <a:extLst>
                <a:ext uri="{FF2B5EF4-FFF2-40B4-BE49-F238E27FC236}">
                  <a16:creationId xmlns:a16="http://schemas.microsoft.com/office/drawing/2014/main" id="{75034435-CF7C-2713-F8EE-EB494B17DB41}"/>
                </a:ext>
              </a:extLst>
            </p:cNvPr>
            <p:cNvSpPr>
              <a:spLocks noChangeArrowheads="1"/>
            </p:cNvSpPr>
            <p:nvPr/>
          </p:nvSpPr>
          <p:spPr bwMode="auto">
            <a:xfrm>
              <a:off x="1245" y="2949"/>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F</a:t>
              </a:r>
              <a:r>
                <a:rPr lang="en-US" altLang="zh-CN" sz="2000">
                  <a:solidFill>
                    <a:srgbClr val="000000"/>
                  </a:solidFill>
                </a:rPr>
                <a:t>(1,2,4,-)</a:t>
              </a:r>
            </a:p>
          </p:txBody>
        </p:sp>
        <p:sp>
          <p:nvSpPr>
            <p:cNvPr id="78905" name="Line 14">
              <a:extLst>
                <a:ext uri="{FF2B5EF4-FFF2-40B4-BE49-F238E27FC236}">
                  <a16:creationId xmlns:a16="http://schemas.microsoft.com/office/drawing/2014/main" id="{4826321E-BCA5-9A8C-742E-0884D9D1F90C}"/>
                </a:ext>
              </a:extLst>
            </p:cNvPr>
            <p:cNvSpPr>
              <a:spLocks noChangeShapeType="1"/>
            </p:cNvSpPr>
            <p:nvPr/>
          </p:nvSpPr>
          <p:spPr bwMode="auto">
            <a:xfrm flipH="1">
              <a:off x="1200" y="1920"/>
              <a:ext cx="1392" cy="4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6" name="Line 15">
              <a:extLst>
                <a:ext uri="{FF2B5EF4-FFF2-40B4-BE49-F238E27FC236}">
                  <a16:creationId xmlns:a16="http://schemas.microsoft.com/office/drawing/2014/main" id="{D7E6C20B-D75F-62FB-08F3-17A3DE82D847}"/>
                </a:ext>
              </a:extLst>
            </p:cNvPr>
            <p:cNvSpPr>
              <a:spLocks noChangeShapeType="1"/>
            </p:cNvSpPr>
            <p:nvPr/>
          </p:nvSpPr>
          <p:spPr bwMode="auto">
            <a:xfrm>
              <a:off x="2859" y="1920"/>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7" name="Line 16">
              <a:extLst>
                <a:ext uri="{FF2B5EF4-FFF2-40B4-BE49-F238E27FC236}">
                  <a16:creationId xmlns:a16="http://schemas.microsoft.com/office/drawing/2014/main" id="{51128596-1520-E6AD-D219-2D755AD30F9B}"/>
                </a:ext>
              </a:extLst>
            </p:cNvPr>
            <p:cNvSpPr>
              <a:spLocks noChangeShapeType="1"/>
            </p:cNvSpPr>
            <p:nvPr/>
          </p:nvSpPr>
          <p:spPr bwMode="auto">
            <a:xfrm>
              <a:off x="3120" y="1920"/>
              <a:ext cx="15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8" name="Line 17">
              <a:extLst>
                <a:ext uri="{FF2B5EF4-FFF2-40B4-BE49-F238E27FC236}">
                  <a16:creationId xmlns:a16="http://schemas.microsoft.com/office/drawing/2014/main" id="{D213CDA3-EB25-770B-16C7-832F880AE2B7}"/>
                </a:ext>
              </a:extLst>
            </p:cNvPr>
            <p:cNvSpPr>
              <a:spLocks noChangeShapeType="1"/>
            </p:cNvSpPr>
            <p:nvPr/>
          </p:nvSpPr>
          <p:spPr bwMode="auto">
            <a:xfrm flipH="1">
              <a:off x="768" y="2592"/>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9" name="Line 18">
              <a:extLst>
                <a:ext uri="{FF2B5EF4-FFF2-40B4-BE49-F238E27FC236}">
                  <a16:creationId xmlns:a16="http://schemas.microsoft.com/office/drawing/2014/main" id="{45D8E28A-3C4E-2584-3468-C7A4C24FD3C2}"/>
                </a:ext>
              </a:extLst>
            </p:cNvPr>
            <p:cNvSpPr>
              <a:spLocks noChangeShapeType="1"/>
            </p:cNvSpPr>
            <p:nvPr/>
          </p:nvSpPr>
          <p:spPr bwMode="auto">
            <a:xfrm>
              <a:off x="1260" y="2592"/>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0" name="Rectangle 19">
              <a:extLst>
                <a:ext uri="{FF2B5EF4-FFF2-40B4-BE49-F238E27FC236}">
                  <a16:creationId xmlns:a16="http://schemas.microsoft.com/office/drawing/2014/main" id="{688C11C8-43BF-A1B3-78FD-3C97FBBB6603}"/>
                </a:ext>
              </a:extLst>
            </p:cNvPr>
            <p:cNvSpPr>
              <a:spLocks noChangeArrowheads="1"/>
            </p:cNvSpPr>
            <p:nvPr/>
          </p:nvSpPr>
          <p:spPr bwMode="auto">
            <a:xfrm>
              <a:off x="2109" y="2928"/>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G</a:t>
              </a:r>
              <a:r>
                <a:rPr lang="en-US" altLang="zh-CN" sz="2000">
                  <a:solidFill>
                    <a:srgbClr val="000000"/>
                  </a:solidFill>
                </a:rPr>
                <a:t>(1,3,2,-)</a:t>
              </a:r>
            </a:p>
          </p:txBody>
        </p:sp>
        <p:sp>
          <p:nvSpPr>
            <p:cNvPr id="78911" name="Rectangle 20">
              <a:extLst>
                <a:ext uri="{FF2B5EF4-FFF2-40B4-BE49-F238E27FC236}">
                  <a16:creationId xmlns:a16="http://schemas.microsoft.com/office/drawing/2014/main" id="{39756F5B-6E65-A698-1F00-7ACF1611E17B}"/>
                </a:ext>
              </a:extLst>
            </p:cNvPr>
            <p:cNvSpPr>
              <a:spLocks noChangeArrowheads="1"/>
            </p:cNvSpPr>
            <p:nvPr/>
          </p:nvSpPr>
          <p:spPr bwMode="auto">
            <a:xfrm>
              <a:off x="2973" y="2949"/>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H</a:t>
              </a:r>
              <a:r>
                <a:rPr lang="en-US" altLang="zh-CN" sz="2000">
                  <a:solidFill>
                    <a:srgbClr val="000000"/>
                  </a:solidFill>
                </a:rPr>
                <a:t>(1,3,4,-)</a:t>
              </a:r>
            </a:p>
          </p:txBody>
        </p:sp>
        <p:sp>
          <p:nvSpPr>
            <p:cNvPr id="78912" name="Line 21">
              <a:extLst>
                <a:ext uri="{FF2B5EF4-FFF2-40B4-BE49-F238E27FC236}">
                  <a16:creationId xmlns:a16="http://schemas.microsoft.com/office/drawing/2014/main" id="{BB9CBCF4-02DF-879B-C9F1-E308156A856F}"/>
                </a:ext>
              </a:extLst>
            </p:cNvPr>
            <p:cNvSpPr>
              <a:spLocks noChangeShapeType="1"/>
            </p:cNvSpPr>
            <p:nvPr/>
          </p:nvSpPr>
          <p:spPr bwMode="auto">
            <a:xfrm flipH="1">
              <a:off x="2496" y="2592"/>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3" name="Line 22">
              <a:extLst>
                <a:ext uri="{FF2B5EF4-FFF2-40B4-BE49-F238E27FC236}">
                  <a16:creationId xmlns:a16="http://schemas.microsoft.com/office/drawing/2014/main" id="{42CAC900-4028-B70A-78E2-811A2C9F59C4}"/>
                </a:ext>
              </a:extLst>
            </p:cNvPr>
            <p:cNvSpPr>
              <a:spLocks noChangeShapeType="1"/>
            </p:cNvSpPr>
            <p:nvPr/>
          </p:nvSpPr>
          <p:spPr bwMode="auto">
            <a:xfrm>
              <a:off x="2988" y="2592"/>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4" name="Rectangle 23">
              <a:extLst>
                <a:ext uri="{FF2B5EF4-FFF2-40B4-BE49-F238E27FC236}">
                  <a16:creationId xmlns:a16="http://schemas.microsoft.com/office/drawing/2014/main" id="{F8FA78E8-3805-32A4-C431-4852885AADE9}"/>
                </a:ext>
              </a:extLst>
            </p:cNvPr>
            <p:cNvSpPr>
              <a:spLocks noChangeArrowheads="1"/>
            </p:cNvSpPr>
            <p:nvPr/>
          </p:nvSpPr>
          <p:spPr bwMode="auto">
            <a:xfrm>
              <a:off x="3837" y="2955"/>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I</a:t>
              </a:r>
              <a:r>
                <a:rPr lang="en-US" altLang="zh-CN" sz="2000">
                  <a:solidFill>
                    <a:srgbClr val="000000"/>
                  </a:solidFill>
                </a:rPr>
                <a:t>(1,4,2,-)</a:t>
              </a:r>
            </a:p>
          </p:txBody>
        </p:sp>
        <p:sp>
          <p:nvSpPr>
            <p:cNvPr id="78915" name="Rectangle 24">
              <a:extLst>
                <a:ext uri="{FF2B5EF4-FFF2-40B4-BE49-F238E27FC236}">
                  <a16:creationId xmlns:a16="http://schemas.microsoft.com/office/drawing/2014/main" id="{30BD6B9D-7048-55DB-EA2D-89837A487782}"/>
                </a:ext>
              </a:extLst>
            </p:cNvPr>
            <p:cNvSpPr>
              <a:spLocks noChangeArrowheads="1"/>
            </p:cNvSpPr>
            <p:nvPr/>
          </p:nvSpPr>
          <p:spPr bwMode="auto">
            <a:xfrm>
              <a:off x="4701" y="2976"/>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J</a:t>
              </a:r>
              <a:r>
                <a:rPr lang="en-US" altLang="zh-CN" sz="2000">
                  <a:solidFill>
                    <a:srgbClr val="000000"/>
                  </a:solidFill>
                </a:rPr>
                <a:t>(1,4,3,-)</a:t>
              </a:r>
            </a:p>
          </p:txBody>
        </p:sp>
        <p:sp>
          <p:nvSpPr>
            <p:cNvPr id="78916" name="Line 25">
              <a:extLst>
                <a:ext uri="{FF2B5EF4-FFF2-40B4-BE49-F238E27FC236}">
                  <a16:creationId xmlns:a16="http://schemas.microsoft.com/office/drawing/2014/main" id="{F8BA64A0-A093-DF1D-F47F-71C7CBD3C55A}"/>
                </a:ext>
              </a:extLst>
            </p:cNvPr>
            <p:cNvSpPr>
              <a:spLocks noChangeShapeType="1"/>
            </p:cNvSpPr>
            <p:nvPr/>
          </p:nvSpPr>
          <p:spPr bwMode="auto">
            <a:xfrm flipH="1">
              <a:off x="4224" y="2619"/>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7" name="Line 26">
              <a:extLst>
                <a:ext uri="{FF2B5EF4-FFF2-40B4-BE49-F238E27FC236}">
                  <a16:creationId xmlns:a16="http://schemas.microsoft.com/office/drawing/2014/main" id="{8B6FCF55-E166-9DED-F1E0-3A350069DBB1}"/>
                </a:ext>
              </a:extLst>
            </p:cNvPr>
            <p:cNvSpPr>
              <a:spLocks noChangeShapeType="1"/>
            </p:cNvSpPr>
            <p:nvPr/>
          </p:nvSpPr>
          <p:spPr bwMode="auto">
            <a:xfrm>
              <a:off x="4716" y="2619"/>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8" name="Rectangle 27">
              <a:extLst>
                <a:ext uri="{FF2B5EF4-FFF2-40B4-BE49-F238E27FC236}">
                  <a16:creationId xmlns:a16="http://schemas.microsoft.com/office/drawing/2014/main" id="{556083A5-73A7-7CE5-23C6-DFD97D9E9368}"/>
                </a:ext>
              </a:extLst>
            </p:cNvPr>
            <p:cNvSpPr>
              <a:spLocks noChangeArrowheads="1"/>
            </p:cNvSpPr>
            <p:nvPr/>
          </p:nvSpPr>
          <p:spPr bwMode="auto">
            <a:xfrm>
              <a:off x="237" y="3504"/>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K</a:t>
              </a:r>
              <a:r>
                <a:rPr lang="en-US" altLang="zh-CN" sz="2000">
                  <a:solidFill>
                    <a:srgbClr val="000000"/>
                  </a:solidFill>
                </a:rPr>
                <a:t>(1,2,3,4)</a:t>
              </a:r>
            </a:p>
          </p:txBody>
        </p:sp>
        <p:sp>
          <p:nvSpPr>
            <p:cNvPr id="78919" name="Rectangle 28">
              <a:extLst>
                <a:ext uri="{FF2B5EF4-FFF2-40B4-BE49-F238E27FC236}">
                  <a16:creationId xmlns:a16="http://schemas.microsoft.com/office/drawing/2014/main" id="{6D2697ED-53A7-E653-487F-152ED1584475}"/>
                </a:ext>
              </a:extLst>
            </p:cNvPr>
            <p:cNvSpPr>
              <a:spLocks noChangeArrowheads="1"/>
            </p:cNvSpPr>
            <p:nvPr/>
          </p:nvSpPr>
          <p:spPr bwMode="auto">
            <a:xfrm>
              <a:off x="1245" y="3525"/>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L</a:t>
              </a:r>
              <a:r>
                <a:rPr lang="en-US" altLang="zh-CN" sz="2000">
                  <a:solidFill>
                    <a:srgbClr val="000000"/>
                  </a:solidFill>
                </a:rPr>
                <a:t>(1,2,4,3)</a:t>
              </a:r>
            </a:p>
          </p:txBody>
        </p:sp>
        <p:sp>
          <p:nvSpPr>
            <p:cNvPr id="78920" name="Rectangle 29">
              <a:extLst>
                <a:ext uri="{FF2B5EF4-FFF2-40B4-BE49-F238E27FC236}">
                  <a16:creationId xmlns:a16="http://schemas.microsoft.com/office/drawing/2014/main" id="{D039276D-FC0E-1D7E-643E-88E7D7518AC2}"/>
                </a:ext>
              </a:extLst>
            </p:cNvPr>
            <p:cNvSpPr>
              <a:spLocks noChangeArrowheads="1"/>
            </p:cNvSpPr>
            <p:nvPr/>
          </p:nvSpPr>
          <p:spPr bwMode="auto">
            <a:xfrm>
              <a:off x="2109" y="3513"/>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M</a:t>
              </a:r>
              <a:r>
                <a:rPr lang="en-US" altLang="zh-CN" sz="2000">
                  <a:solidFill>
                    <a:srgbClr val="000000"/>
                  </a:solidFill>
                </a:rPr>
                <a:t>(</a:t>
              </a:r>
              <a:r>
                <a:rPr lang="en-US" altLang="zh-CN" sz="2000">
                  <a:solidFill>
                    <a:srgbClr val="FF0000"/>
                  </a:solidFill>
                </a:rPr>
                <a:t>1,3,2,4</a:t>
              </a:r>
              <a:r>
                <a:rPr lang="en-US" altLang="zh-CN" sz="2000">
                  <a:solidFill>
                    <a:srgbClr val="000000"/>
                  </a:solidFill>
                </a:rPr>
                <a:t>)</a:t>
              </a:r>
            </a:p>
          </p:txBody>
        </p:sp>
        <p:sp>
          <p:nvSpPr>
            <p:cNvPr id="78921" name="Rectangle 30">
              <a:extLst>
                <a:ext uri="{FF2B5EF4-FFF2-40B4-BE49-F238E27FC236}">
                  <a16:creationId xmlns:a16="http://schemas.microsoft.com/office/drawing/2014/main" id="{43DB2A9F-4E54-B997-7A3C-CF170767BDDB}"/>
                </a:ext>
              </a:extLst>
            </p:cNvPr>
            <p:cNvSpPr>
              <a:spLocks noChangeArrowheads="1"/>
            </p:cNvSpPr>
            <p:nvPr/>
          </p:nvSpPr>
          <p:spPr bwMode="auto">
            <a:xfrm>
              <a:off x="2973" y="3525"/>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N</a:t>
              </a:r>
              <a:r>
                <a:rPr lang="en-US" altLang="zh-CN" sz="2000">
                  <a:solidFill>
                    <a:srgbClr val="000000"/>
                  </a:solidFill>
                </a:rPr>
                <a:t>(1,3,4,2)</a:t>
              </a:r>
            </a:p>
          </p:txBody>
        </p:sp>
        <p:sp>
          <p:nvSpPr>
            <p:cNvPr id="78922" name="Rectangle 31">
              <a:extLst>
                <a:ext uri="{FF2B5EF4-FFF2-40B4-BE49-F238E27FC236}">
                  <a16:creationId xmlns:a16="http://schemas.microsoft.com/office/drawing/2014/main" id="{55F8FF82-BA8D-866E-BD0D-53AF55833543}"/>
                </a:ext>
              </a:extLst>
            </p:cNvPr>
            <p:cNvSpPr>
              <a:spLocks noChangeArrowheads="1"/>
            </p:cNvSpPr>
            <p:nvPr/>
          </p:nvSpPr>
          <p:spPr bwMode="auto">
            <a:xfrm>
              <a:off x="3837" y="3531"/>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O</a:t>
              </a:r>
              <a:r>
                <a:rPr lang="en-US" altLang="zh-CN" sz="2000">
                  <a:solidFill>
                    <a:srgbClr val="000000"/>
                  </a:solidFill>
                </a:rPr>
                <a:t>(1,4,2,3)</a:t>
              </a:r>
            </a:p>
          </p:txBody>
        </p:sp>
        <p:sp>
          <p:nvSpPr>
            <p:cNvPr id="78923" name="Rectangle 32">
              <a:extLst>
                <a:ext uri="{FF2B5EF4-FFF2-40B4-BE49-F238E27FC236}">
                  <a16:creationId xmlns:a16="http://schemas.microsoft.com/office/drawing/2014/main" id="{061684CA-5A7B-DDDC-83DD-19C5940BB164}"/>
                </a:ext>
              </a:extLst>
            </p:cNvPr>
            <p:cNvSpPr>
              <a:spLocks noChangeArrowheads="1"/>
            </p:cNvSpPr>
            <p:nvPr/>
          </p:nvSpPr>
          <p:spPr bwMode="auto">
            <a:xfrm>
              <a:off x="4701" y="3552"/>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P</a:t>
              </a:r>
              <a:r>
                <a:rPr lang="en-US" altLang="zh-CN" sz="2000">
                  <a:solidFill>
                    <a:srgbClr val="000000"/>
                  </a:solidFill>
                </a:rPr>
                <a:t>(1,4,3,2)</a:t>
              </a:r>
            </a:p>
          </p:txBody>
        </p:sp>
        <p:sp>
          <p:nvSpPr>
            <p:cNvPr id="78924" name="Line 33">
              <a:extLst>
                <a:ext uri="{FF2B5EF4-FFF2-40B4-BE49-F238E27FC236}">
                  <a16:creationId xmlns:a16="http://schemas.microsoft.com/office/drawing/2014/main" id="{666F4032-F6D4-22E8-9E46-AAE63EABE0B0}"/>
                </a:ext>
              </a:extLst>
            </p:cNvPr>
            <p:cNvSpPr>
              <a:spLocks noChangeShapeType="1"/>
            </p:cNvSpPr>
            <p:nvPr/>
          </p:nvSpPr>
          <p:spPr bwMode="auto">
            <a:xfrm>
              <a:off x="672" y="3216"/>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5" name="Line 34">
              <a:extLst>
                <a:ext uri="{FF2B5EF4-FFF2-40B4-BE49-F238E27FC236}">
                  <a16:creationId xmlns:a16="http://schemas.microsoft.com/office/drawing/2014/main" id="{DF80FD61-5672-8850-3432-40DF521560EB}"/>
                </a:ext>
              </a:extLst>
            </p:cNvPr>
            <p:cNvSpPr>
              <a:spLocks noChangeShapeType="1"/>
            </p:cNvSpPr>
            <p:nvPr/>
          </p:nvSpPr>
          <p:spPr bwMode="auto">
            <a:xfrm>
              <a:off x="1680" y="3216"/>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6" name="Line 35">
              <a:extLst>
                <a:ext uri="{FF2B5EF4-FFF2-40B4-BE49-F238E27FC236}">
                  <a16:creationId xmlns:a16="http://schemas.microsoft.com/office/drawing/2014/main" id="{0BF32136-C5B8-E0C5-CFBE-D4980336AECD}"/>
                </a:ext>
              </a:extLst>
            </p:cNvPr>
            <p:cNvSpPr>
              <a:spLocks noChangeShapeType="1"/>
            </p:cNvSpPr>
            <p:nvPr/>
          </p:nvSpPr>
          <p:spPr bwMode="auto">
            <a:xfrm>
              <a:off x="2544" y="3177"/>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7" name="Line 36">
              <a:extLst>
                <a:ext uri="{FF2B5EF4-FFF2-40B4-BE49-F238E27FC236}">
                  <a16:creationId xmlns:a16="http://schemas.microsoft.com/office/drawing/2014/main" id="{01B571EB-684D-CECB-E89B-A2772823DF6B}"/>
                </a:ext>
              </a:extLst>
            </p:cNvPr>
            <p:cNvSpPr>
              <a:spLocks noChangeShapeType="1"/>
            </p:cNvSpPr>
            <p:nvPr/>
          </p:nvSpPr>
          <p:spPr bwMode="auto">
            <a:xfrm>
              <a:off x="3408" y="3207"/>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8" name="Line 37">
              <a:extLst>
                <a:ext uri="{FF2B5EF4-FFF2-40B4-BE49-F238E27FC236}">
                  <a16:creationId xmlns:a16="http://schemas.microsoft.com/office/drawing/2014/main" id="{D31477DB-F72A-3D3E-7111-E42A1DA6A462}"/>
                </a:ext>
              </a:extLst>
            </p:cNvPr>
            <p:cNvSpPr>
              <a:spLocks noChangeShapeType="1"/>
            </p:cNvSpPr>
            <p:nvPr/>
          </p:nvSpPr>
          <p:spPr bwMode="auto">
            <a:xfrm>
              <a:off x="4224" y="3216"/>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9" name="Line 38">
              <a:extLst>
                <a:ext uri="{FF2B5EF4-FFF2-40B4-BE49-F238E27FC236}">
                  <a16:creationId xmlns:a16="http://schemas.microsoft.com/office/drawing/2014/main" id="{5BC841D3-CF91-B4DB-6412-D8FD68263E0D}"/>
                </a:ext>
              </a:extLst>
            </p:cNvPr>
            <p:cNvSpPr>
              <a:spLocks noChangeShapeType="1"/>
            </p:cNvSpPr>
            <p:nvPr/>
          </p:nvSpPr>
          <p:spPr bwMode="auto">
            <a:xfrm>
              <a:off x="5088" y="3216"/>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8852" name="Group 65">
            <a:extLst>
              <a:ext uri="{FF2B5EF4-FFF2-40B4-BE49-F238E27FC236}">
                <a16:creationId xmlns:a16="http://schemas.microsoft.com/office/drawing/2014/main" id="{A3CF38CA-76D5-A1F5-B78F-CE5D762A099D}"/>
              </a:ext>
            </a:extLst>
          </p:cNvPr>
          <p:cNvGrpSpPr>
            <a:grpSpLocks/>
          </p:cNvGrpSpPr>
          <p:nvPr/>
        </p:nvGrpSpPr>
        <p:grpSpPr bwMode="auto">
          <a:xfrm>
            <a:off x="6248400" y="357188"/>
            <a:ext cx="2895600" cy="2362200"/>
            <a:chOff x="3936" y="480"/>
            <a:chExt cx="1824" cy="1488"/>
          </a:xfrm>
        </p:grpSpPr>
        <p:sp>
          <p:nvSpPr>
            <p:cNvPr id="78883" name="Rectangle 49">
              <a:extLst>
                <a:ext uri="{FF2B5EF4-FFF2-40B4-BE49-F238E27FC236}">
                  <a16:creationId xmlns:a16="http://schemas.microsoft.com/office/drawing/2014/main" id="{396E0C37-3F7F-95CF-6EFC-F5ECFD560BE7}"/>
                </a:ext>
              </a:extLst>
            </p:cNvPr>
            <p:cNvSpPr>
              <a:spLocks noChangeArrowheads="1"/>
            </p:cNvSpPr>
            <p:nvPr/>
          </p:nvSpPr>
          <p:spPr bwMode="auto">
            <a:xfrm>
              <a:off x="4693" y="480"/>
              <a:ext cx="347" cy="207"/>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sz="2000"/>
                <a:t>30</a:t>
              </a:r>
            </a:p>
          </p:txBody>
        </p:sp>
        <p:sp>
          <p:nvSpPr>
            <p:cNvPr id="78884" name="Rectangle 50">
              <a:extLst>
                <a:ext uri="{FF2B5EF4-FFF2-40B4-BE49-F238E27FC236}">
                  <a16:creationId xmlns:a16="http://schemas.microsoft.com/office/drawing/2014/main" id="{82B62907-1935-FF7D-F2A5-98995FF28279}"/>
                </a:ext>
              </a:extLst>
            </p:cNvPr>
            <p:cNvSpPr>
              <a:spLocks noChangeArrowheads="1"/>
            </p:cNvSpPr>
            <p:nvPr/>
          </p:nvSpPr>
          <p:spPr bwMode="auto">
            <a:xfrm>
              <a:off x="3936" y="1052"/>
              <a:ext cx="200" cy="20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6</a:t>
              </a:r>
            </a:p>
          </p:txBody>
        </p:sp>
        <p:sp>
          <p:nvSpPr>
            <p:cNvPr id="78885" name="Rectangle 51">
              <a:extLst>
                <a:ext uri="{FF2B5EF4-FFF2-40B4-BE49-F238E27FC236}">
                  <a16:creationId xmlns:a16="http://schemas.microsoft.com/office/drawing/2014/main" id="{E22E8BA5-38D5-54F8-DFBA-D8A40040331E}"/>
                </a:ext>
              </a:extLst>
            </p:cNvPr>
            <p:cNvSpPr>
              <a:spLocks noChangeArrowheads="1"/>
            </p:cNvSpPr>
            <p:nvPr/>
          </p:nvSpPr>
          <p:spPr bwMode="auto">
            <a:xfrm>
              <a:off x="4985" y="874"/>
              <a:ext cx="200" cy="20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5</a:t>
              </a:r>
            </a:p>
          </p:txBody>
        </p:sp>
        <p:sp>
          <p:nvSpPr>
            <p:cNvPr id="78886" name="Rectangle 52">
              <a:extLst>
                <a:ext uri="{FF2B5EF4-FFF2-40B4-BE49-F238E27FC236}">
                  <a16:creationId xmlns:a16="http://schemas.microsoft.com/office/drawing/2014/main" id="{143A56C4-A076-B746-B6E6-BA448D0BE679}"/>
                </a:ext>
              </a:extLst>
            </p:cNvPr>
            <p:cNvSpPr>
              <a:spLocks noChangeArrowheads="1"/>
            </p:cNvSpPr>
            <p:nvPr/>
          </p:nvSpPr>
          <p:spPr bwMode="auto">
            <a:xfrm>
              <a:off x="4711" y="1759"/>
              <a:ext cx="374" cy="20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sz="2000"/>
                <a:t>20</a:t>
              </a:r>
            </a:p>
          </p:txBody>
        </p:sp>
        <p:sp>
          <p:nvSpPr>
            <p:cNvPr id="78887" name="Rectangle 53">
              <a:extLst>
                <a:ext uri="{FF2B5EF4-FFF2-40B4-BE49-F238E27FC236}">
                  <a16:creationId xmlns:a16="http://schemas.microsoft.com/office/drawing/2014/main" id="{1D4482BD-8557-C959-D3F2-654FC21274FC}"/>
                </a:ext>
              </a:extLst>
            </p:cNvPr>
            <p:cNvSpPr>
              <a:spLocks noChangeArrowheads="1"/>
            </p:cNvSpPr>
            <p:nvPr/>
          </p:nvSpPr>
          <p:spPr bwMode="auto">
            <a:xfrm>
              <a:off x="4990" y="1254"/>
              <a:ext cx="200" cy="20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4</a:t>
              </a:r>
            </a:p>
          </p:txBody>
        </p:sp>
        <p:sp>
          <p:nvSpPr>
            <p:cNvPr id="78888" name="Rectangle 54">
              <a:extLst>
                <a:ext uri="{FF2B5EF4-FFF2-40B4-BE49-F238E27FC236}">
                  <a16:creationId xmlns:a16="http://schemas.microsoft.com/office/drawing/2014/main" id="{13EB5B7C-886C-72F6-DF0D-678FD384FA59}"/>
                </a:ext>
              </a:extLst>
            </p:cNvPr>
            <p:cNvSpPr>
              <a:spLocks noChangeArrowheads="1"/>
            </p:cNvSpPr>
            <p:nvPr/>
          </p:nvSpPr>
          <p:spPr bwMode="auto">
            <a:xfrm>
              <a:off x="5476" y="1172"/>
              <a:ext cx="284" cy="207"/>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sz="2000"/>
                <a:t>10</a:t>
              </a:r>
            </a:p>
          </p:txBody>
        </p:sp>
        <p:sp>
          <p:nvSpPr>
            <p:cNvPr id="78889" name="Line 55">
              <a:extLst>
                <a:ext uri="{FF2B5EF4-FFF2-40B4-BE49-F238E27FC236}">
                  <a16:creationId xmlns:a16="http://schemas.microsoft.com/office/drawing/2014/main" id="{98526027-1142-3F5F-623E-51CE5238241E}"/>
                </a:ext>
              </a:extLst>
            </p:cNvPr>
            <p:cNvSpPr>
              <a:spLocks noChangeShapeType="1"/>
            </p:cNvSpPr>
            <p:nvPr/>
          </p:nvSpPr>
          <p:spPr bwMode="auto">
            <a:xfrm flipV="1">
              <a:off x="4136" y="800"/>
              <a:ext cx="1316" cy="88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90" name="Line 56">
              <a:extLst>
                <a:ext uri="{FF2B5EF4-FFF2-40B4-BE49-F238E27FC236}">
                  <a16:creationId xmlns:a16="http://schemas.microsoft.com/office/drawing/2014/main" id="{9D614DDE-ED89-9A8E-A215-993783A0216C}"/>
                </a:ext>
              </a:extLst>
            </p:cNvPr>
            <p:cNvSpPr>
              <a:spLocks noChangeShapeType="1"/>
            </p:cNvSpPr>
            <p:nvPr/>
          </p:nvSpPr>
          <p:spPr bwMode="auto">
            <a:xfrm>
              <a:off x="4092" y="853"/>
              <a:ext cx="0" cy="78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91" name="Oval 57">
              <a:extLst>
                <a:ext uri="{FF2B5EF4-FFF2-40B4-BE49-F238E27FC236}">
                  <a16:creationId xmlns:a16="http://schemas.microsoft.com/office/drawing/2014/main" id="{08C8366D-4B64-F74A-1AA5-7770E8609DF6}"/>
                </a:ext>
              </a:extLst>
            </p:cNvPr>
            <p:cNvSpPr>
              <a:spLocks noChangeArrowheads="1"/>
            </p:cNvSpPr>
            <p:nvPr/>
          </p:nvSpPr>
          <p:spPr bwMode="auto">
            <a:xfrm>
              <a:off x="3992" y="619"/>
              <a:ext cx="198" cy="222"/>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80000"/>
                </a:lnSpc>
                <a:spcBef>
                  <a:spcPct val="20000"/>
                </a:spcBef>
                <a:buClr>
                  <a:schemeClr val="accent1"/>
                </a:buClr>
                <a:buSzPct val="65000"/>
                <a:buFont typeface="Wingdings" panose="05000000000000000000" pitchFamily="2" charset="2"/>
                <a:buNone/>
              </a:pPr>
              <a:r>
                <a:rPr lang="en-US" altLang="zh-CN" sz="2000">
                  <a:solidFill>
                    <a:srgbClr val="CC0000"/>
                  </a:solidFill>
                </a:rPr>
                <a:t>1</a:t>
              </a:r>
            </a:p>
          </p:txBody>
        </p:sp>
        <p:sp>
          <p:nvSpPr>
            <p:cNvPr id="78892" name="Oval 58">
              <a:extLst>
                <a:ext uri="{FF2B5EF4-FFF2-40B4-BE49-F238E27FC236}">
                  <a16:creationId xmlns:a16="http://schemas.microsoft.com/office/drawing/2014/main" id="{E1BF2C71-A203-8A2A-59D2-8291E9B5F82D}"/>
                </a:ext>
              </a:extLst>
            </p:cNvPr>
            <p:cNvSpPr>
              <a:spLocks noChangeArrowheads="1"/>
            </p:cNvSpPr>
            <p:nvPr/>
          </p:nvSpPr>
          <p:spPr bwMode="auto">
            <a:xfrm>
              <a:off x="5395" y="1586"/>
              <a:ext cx="198" cy="224"/>
            </a:xfrm>
            <a:prstGeom prst="ellipse">
              <a:avLst/>
            </a:prstGeom>
            <a:solidFill>
              <a:srgbClr val="FFFFFF"/>
            </a:solidFill>
            <a:ln w="12700">
              <a:solidFill>
                <a:srgbClr val="000000"/>
              </a:solidFill>
              <a:round/>
              <a:headEnd/>
              <a:tailEnd/>
            </a:ln>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80000"/>
                </a:lnSpc>
                <a:spcBef>
                  <a:spcPct val="20000"/>
                </a:spcBef>
                <a:buClr>
                  <a:schemeClr val="accent1"/>
                </a:buClr>
                <a:buSzPct val="65000"/>
                <a:buFont typeface="Wingdings" panose="05000000000000000000" pitchFamily="2" charset="2"/>
                <a:buNone/>
              </a:pPr>
              <a:r>
                <a:rPr lang="en-US" altLang="zh-CN" sz="2000">
                  <a:solidFill>
                    <a:srgbClr val="CC0000"/>
                  </a:solidFill>
                </a:rPr>
                <a:t>4</a:t>
              </a:r>
            </a:p>
          </p:txBody>
        </p:sp>
        <p:sp>
          <p:nvSpPr>
            <p:cNvPr id="78893" name="Oval 59">
              <a:extLst>
                <a:ext uri="{FF2B5EF4-FFF2-40B4-BE49-F238E27FC236}">
                  <a16:creationId xmlns:a16="http://schemas.microsoft.com/office/drawing/2014/main" id="{C98E0E9F-9361-377A-107E-6C3175C0A433}"/>
                </a:ext>
              </a:extLst>
            </p:cNvPr>
            <p:cNvSpPr>
              <a:spLocks noChangeArrowheads="1"/>
            </p:cNvSpPr>
            <p:nvPr/>
          </p:nvSpPr>
          <p:spPr bwMode="auto">
            <a:xfrm>
              <a:off x="5395" y="619"/>
              <a:ext cx="198" cy="222"/>
            </a:xfrm>
            <a:prstGeom prst="ellipse">
              <a:avLst/>
            </a:prstGeom>
            <a:solidFill>
              <a:srgbClr val="FFFFFF"/>
            </a:solidFill>
            <a:ln w="12700">
              <a:solidFill>
                <a:srgbClr val="000000"/>
              </a:solidFill>
              <a:round/>
              <a:headEnd/>
              <a:tailEnd/>
            </a:ln>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80000"/>
                </a:lnSpc>
                <a:spcBef>
                  <a:spcPct val="20000"/>
                </a:spcBef>
                <a:buClr>
                  <a:schemeClr val="accent1"/>
                </a:buClr>
                <a:buSzPct val="65000"/>
                <a:buFont typeface="Wingdings" panose="05000000000000000000" pitchFamily="2" charset="2"/>
                <a:buNone/>
              </a:pPr>
              <a:r>
                <a:rPr lang="en-US" altLang="zh-CN" sz="2000">
                  <a:solidFill>
                    <a:srgbClr val="CC0000"/>
                  </a:solidFill>
                </a:rPr>
                <a:t>2</a:t>
              </a:r>
            </a:p>
          </p:txBody>
        </p:sp>
        <p:sp>
          <p:nvSpPr>
            <p:cNvPr id="78894" name="Oval 60">
              <a:extLst>
                <a:ext uri="{FF2B5EF4-FFF2-40B4-BE49-F238E27FC236}">
                  <a16:creationId xmlns:a16="http://schemas.microsoft.com/office/drawing/2014/main" id="{35E086D9-952E-34BC-25CD-4A2CE58F227A}"/>
                </a:ext>
              </a:extLst>
            </p:cNvPr>
            <p:cNvSpPr>
              <a:spLocks noChangeArrowheads="1"/>
            </p:cNvSpPr>
            <p:nvPr/>
          </p:nvSpPr>
          <p:spPr bwMode="auto">
            <a:xfrm>
              <a:off x="3992" y="1630"/>
              <a:ext cx="198" cy="223"/>
            </a:xfrm>
            <a:prstGeom prst="ellipse">
              <a:avLst/>
            </a:prstGeom>
            <a:solidFill>
              <a:srgbClr val="FFFFFF"/>
            </a:solidFill>
            <a:ln w="12700">
              <a:solidFill>
                <a:srgbClr val="000000"/>
              </a:solidFill>
              <a:round/>
              <a:headEnd/>
              <a:tailEnd/>
            </a:ln>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80000"/>
                </a:lnSpc>
                <a:spcBef>
                  <a:spcPct val="20000"/>
                </a:spcBef>
                <a:buClr>
                  <a:schemeClr val="accent1"/>
                </a:buClr>
                <a:buSzPct val="65000"/>
                <a:buFont typeface="Wingdings" panose="05000000000000000000" pitchFamily="2" charset="2"/>
                <a:buNone/>
              </a:pPr>
              <a:r>
                <a:rPr lang="en-US" altLang="zh-CN" sz="2000">
                  <a:solidFill>
                    <a:srgbClr val="CC0000"/>
                  </a:solidFill>
                </a:rPr>
                <a:t>3</a:t>
              </a:r>
            </a:p>
          </p:txBody>
        </p:sp>
        <p:sp>
          <p:nvSpPr>
            <p:cNvPr id="78895" name="Line 61">
              <a:extLst>
                <a:ext uri="{FF2B5EF4-FFF2-40B4-BE49-F238E27FC236}">
                  <a16:creationId xmlns:a16="http://schemas.microsoft.com/office/drawing/2014/main" id="{31CB16A8-BFF5-731D-409D-ECD1A556F597}"/>
                </a:ext>
              </a:extLst>
            </p:cNvPr>
            <p:cNvSpPr>
              <a:spLocks noChangeShapeType="1"/>
            </p:cNvSpPr>
            <p:nvPr/>
          </p:nvSpPr>
          <p:spPr bwMode="auto">
            <a:xfrm>
              <a:off x="4191" y="800"/>
              <a:ext cx="1210" cy="8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96" name="Line 62">
              <a:extLst>
                <a:ext uri="{FF2B5EF4-FFF2-40B4-BE49-F238E27FC236}">
                  <a16:creationId xmlns:a16="http://schemas.microsoft.com/office/drawing/2014/main" id="{2F82112B-53DC-5C07-6A3D-7A6C5326E098}"/>
                </a:ext>
              </a:extLst>
            </p:cNvPr>
            <p:cNvSpPr>
              <a:spLocks noChangeShapeType="1"/>
            </p:cNvSpPr>
            <p:nvPr/>
          </p:nvSpPr>
          <p:spPr bwMode="auto">
            <a:xfrm>
              <a:off x="5493" y="842"/>
              <a:ext cx="0" cy="7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97" name="Line 63">
              <a:extLst>
                <a:ext uri="{FF2B5EF4-FFF2-40B4-BE49-F238E27FC236}">
                  <a16:creationId xmlns:a16="http://schemas.microsoft.com/office/drawing/2014/main" id="{CAB57D14-3072-8AD6-CC40-D2475B3AC341}"/>
                </a:ext>
              </a:extLst>
            </p:cNvPr>
            <p:cNvSpPr>
              <a:spLocks noChangeShapeType="1"/>
            </p:cNvSpPr>
            <p:nvPr/>
          </p:nvSpPr>
          <p:spPr bwMode="auto">
            <a:xfrm>
              <a:off x="4191" y="1741"/>
              <a:ext cx="120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98" name="Line 64">
              <a:extLst>
                <a:ext uri="{FF2B5EF4-FFF2-40B4-BE49-F238E27FC236}">
                  <a16:creationId xmlns:a16="http://schemas.microsoft.com/office/drawing/2014/main" id="{EBB262C4-E76F-5FCD-4E1B-B336FBBD923B}"/>
                </a:ext>
              </a:extLst>
            </p:cNvPr>
            <p:cNvSpPr>
              <a:spLocks noChangeShapeType="1"/>
            </p:cNvSpPr>
            <p:nvPr/>
          </p:nvSpPr>
          <p:spPr bwMode="auto">
            <a:xfrm>
              <a:off x="4191" y="730"/>
              <a:ext cx="120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853" name="Rectangle 88" descr="blue055">
            <a:extLst>
              <a:ext uri="{FF2B5EF4-FFF2-40B4-BE49-F238E27FC236}">
                <a16:creationId xmlns:a16="http://schemas.microsoft.com/office/drawing/2014/main" id="{4AF64512-CDC5-82D3-4DF8-73A6ADA8B84C}"/>
              </a:ext>
            </a:extLst>
          </p:cNvPr>
          <p:cNvSpPr>
            <a:spLocks noGrp="1" noChangeArrowheads="1"/>
          </p:cNvSpPr>
          <p:nvPr>
            <p:ph type="title"/>
          </p:nvPr>
        </p:nvSpPr>
        <p:spPr>
          <a:xfrm>
            <a:off x="438150" y="276225"/>
            <a:ext cx="4000500" cy="714375"/>
          </a:xfrm>
        </p:spPr>
        <p:txBody>
          <a:bodyPr/>
          <a:lstStyle/>
          <a:p>
            <a:r>
              <a:rPr lang="en-US" altLang="zh-CN"/>
              <a:t>TSP</a:t>
            </a:r>
            <a:r>
              <a:rPr lang="zh-CN" altLang="en-US"/>
              <a:t>问题</a:t>
            </a:r>
          </a:p>
        </p:txBody>
      </p:sp>
      <p:sp>
        <p:nvSpPr>
          <p:cNvPr id="74758" name="Oval 40">
            <a:extLst>
              <a:ext uri="{FF2B5EF4-FFF2-40B4-BE49-F238E27FC236}">
                <a16:creationId xmlns:a16="http://schemas.microsoft.com/office/drawing/2014/main" id="{5973587B-2BED-D5BE-DE7E-899B5E354154}"/>
              </a:ext>
            </a:extLst>
          </p:cNvPr>
          <p:cNvSpPr>
            <a:spLocks noChangeArrowheads="1"/>
          </p:cNvSpPr>
          <p:nvPr/>
        </p:nvSpPr>
        <p:spPr bwMode="auto">
          <a:xfrm>
            <a:off x="3160713" y="2114550"/>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1</a:t>
            </a:r>
          </a:p>
        </p:txBody>
      </p:sp>
      <p:sp>
        <p:nvSpPr>
          <p:cNvPr id="74759" name="Rectangle 66">
            <a:extLst>
              <a:ext uri="{FF2B5EF4-FFF2-40B4-BE49-F238E27FC236}">
                <a16:creationId xmlns:a16="http://schemas.microsoft.com/office/drawing/2014/main" id="{697B1A86-FF65-9D9A-540A-00267E308498}"/>
              </a:ext>
            </a:extLst>
          </p:cNvPr>
          <p:cNvSpPr>
            <a:spLocks noChangeArrowheads="1"/>
          </p:cNvSpPr>
          <p:nvPr/>
        </p:nvSpPr>
        <p:spPr bwMode="auto">
          <a:xfrm>
            <a:off x="4652963" y="1649413"/>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cc=0</a:t>
            </a:r>
          </a:p>
        </p:txBody>
      </p:sp>
      <p:pic>
        <p:nvPicPr>
          <p:cNvPr id="74760" name="图片 7">
            <a:extLst>
              <a:ext uri="{FF2B5EF4-FFF2-40B4-BE49-F238E27FC236}">
                <a16:creationId xmlns:a16="http://schemas.microsoft.com/office/drawing/2014/main" id="{BCEB4807-8145-E414-3F84-FB9BAD1A77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22800" y="1846263"/>
            <a:ext cx="10033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1" name="Rectangle 66">
            <a:extLst>
              <a:ext uri="{FF2B5EF4-FFF2-40B4-BE49-F238E27FC236}">
                <a16:creationId xmlns:a16="http://schemas.microsoft.com/office/drawing/2014/main" id="{6E88F5B9-ECB1-17A0-D22E-1BCD361D7679}"/>
              </a:ext>
            </a:extLst>
          </p:cNvPr>
          <p:cNvSpPr>
            <a:spLocks noChangeArrowheads="1"/>
          </p:cNvSpPr>
          <p:nvPr/>
        </p:nvSpPr>
        <p:spPr bwMode="auto">
          <a:xfrm>
            <a:off x="4646613" y="2095500"/>
            <a:ext cx="949325"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lcost=18</a:t>
            </a:r>
          </a:p>
          <a:p>
            <a:pPr>
              <a:spcBef>
                <a:spcPct val="50000"/>
              </a:spcBef>
              <a:buClr>
                <a:schemeClr val="accent1"/>
              </a:buClr>
              <a:buSzPct val="65000"/>
              <a:buFont typeface="Wingdings" panose="05000000000000000000" pitchFamily="2" charset="2"/>
              <a:buNone/>
            </a:pPr>
            <a:endParaRPr lang="en-US" altLang="zh-CN" sz="2000">
              <a:solidFill>
                <a:srgbClr val="0000FF"/>
              </a:solidFill>
            </a:endParaRPr>
          </a:p>
        </p:txBody>
      </p:sp>
      <p:sp>
        <p:nvSpPr>
          <p:cNvPr id="2" name="Oval 42">
            <a:extLst>
              <a:ext uri="{FF2B5EF4-FFF2-40B4-BE49-F238E27FC236}">
                <a16:creationId xmlns:a16="http://schemas.microsoft.com/office/drawing/2014/main" id="{38305AB7-5725-ED2A-928D-A5137A2E323E}"/>
              </a:ext>
            </a:extLst>
          </p:cNvPr>
          <p:cNvSpPr>
            <a:spLocks noChangeArrowheads="1"/>
          </p:cNvSpPr>
          <p:nvPr/>
        </p:nvSpPr>
        <p:spPr bwMode="auto">
          <a:xfrm>
            <a:off x="6088063" y="3205163"/>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2</a:t>
            </a:r>
          </a:p>
        </p:txBody>
      </p:sp>
      <p:sp>
        <p:nvSpPr>
          <p:cNvPr id="3" name="Rectangle 66">
            <a:extLst>
              <a:ext uri="{FF2B5EF4-FFF2-40B4-BE49-F238E27FC236}">
                <a16:creationId xmlns:a16="http://schemas.microsoft.com/office/drawing/2014/main" id="{9BC5058E-9EB5-7F4A-E00F-A16DD7A83999}"/>
              </a:ext>
            </a:extLst>
          </p:cNvPr>
          <p:cNvSpPr>
            <a:spLocks noChangeArrowheads="1"/>
          </p:cNvSpPr>
          <p:nvPr/>
        </p:nvSpPr>
        <p:spPr bwMode="auto">
          <a:xfrm>
            <a:off x="4779963" y="2744788"/>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cc=6</a:t>
            </a:r>
          </a:p>
        </p:txBody>
      </p:sp>
      <p:sp>
        <p:nvSpPr>
          <p:cNvPr id="4" name="Rectangle 66">
            <a:extLst>
              <a:ext uri="{FF2B5EF4-FFF2-40B4-BE49-F238E27FC236}">
                <a16:creationId xmlns:a16="http://schemas.microsoft.com/office/drawing/2014/main" id="{6F6BD767-C78D-3B44-D5D7-8A64D1778205}"/>
              </a:ext>
            </a:extLst>
          </p:cNvPr>
          <p:cNvSpPr>
            <a:spLocks noChangeArrowheads="1"/>
          </p:cNvSpPr>
          <p:nvPr/>
        </p:nvSpPr>
        <p:spPr bwMode="auto">
          <a:xfrm>
            <a:off x="4725988" y="2935288"/>
            <a:ext cx="969962"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rcost=14lcost=20</a:t>
            </a:r>
          </a:p>
        </p:txBody>
      </p:sp>
      <p:sp>
        <p:nvSpPr>
          <p:cNvPr id="5" name="Rectangle 66">
            <a:extLst>
              <a:ext uri="{FF2B5EF4-FFF2-40B4-BE49-F238E27FC236}">
                <a16:creationId xmlns:a16="http://schemas.microsoft.com/office/drawing/2014/main" id="{EE39A29D-D387-0BFD-6068-B00A6FF0A2EC}"/>
              </a:ext>
            </a:extLst>
          </p:cNvPr>
          <p:cNvSpPr>
            <a:spLocks noChangeArrowheads="1"/>
          </p:cNvSpPr>
          <p:nvPr/>
        </p:nvSpPr>
        <p:spPr bwMode="auto">
          <a:xfrm>
            <a:off x="7540625" y="2882900"/>
            <a:ext cx="10604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cc=4</a:t>
            </a:r>
          </a:p>
        </p:txBody>
      </p:sp>
      <p:sp>
        <p:nvSpPr>
          <p:cNvPr id="6" name="Rectangle 66">
            <a:extLst>
              <a:ext uri="{FF2B5EF4-FFF2-40B4-BE49-F238E27FC236}">
                <a16:creationId xmlns:a16="http://schemas.microsoft.com/office/drawing/2014/main" id="{D5A5F85D-3C9B-1AFD-4CE5-B94CDED8DF06}"/>
              </a:ext>
            </a:extLst>
          </p:cNvPr>
          <p:cNvSpPr>
            <a:spLocks noChangeArrowheads="1"/>
          </p:cNvSpPr>
          <p:nvPr/>
        </p:nvSpPr>
        <p:spPr bwMode="auto">
          <a:xfrm>
            <a:off x="7558088" y="3067050"/>
            <a:ext cx="98583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rcost=14lcost=18</a:t>
            </a:r>
          </a:p>
        </p:txBody>
      </p:sp>
      <p:sp>
        <p:nvSpPr>
          <p:cNvPr id="7" name="Rectangle 66">
            <a:extLst>
              <a:ext uri="{FF2B5EF4-FFF2-40B4-BE49-F238E27FC236}">
                <a16:creationId xmlns:a16="http://schemas.microsoft.com/office/drawing/2014/main" id="{BF7F2B9F-2668-7100-A9FF-A0DC0DE803E4}"/>
              </a:ext>
            </a:extLst>
          </p:cNvPr>
          <p:cNvSpPr>
            <a:spLocks noChangeArrowheads="1"/>
          </p:cNvSpPr>
          <p:nvPr/>
        </p:nvSpPr>
        <p:spPr bwMode="auto">
          <a:xfrm>
            <a:off x="325438" y="2784475"/>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cc=30</a:t>
            </a:r>
          </a:p>
        </p:txBody>
      </p:sp>
      <p:sp>
        <p:nvSpPr>
          <p:cNvPr id="8" name="Rectangle 66">
            <a:extLst>
              <a:ext uri="{FF2B5EF4-FFF2-40B4-BE49-F238E27FC236}">
                <a16:creationId xmlns:a16="http://schemas.microsoft.com/office/drawing/2014/main" id="{BA22D766-684C-2DAA-04FE-180600A53C7A}"/>
              </a:ext>
            </a:extLst>
          </p:cNvPr>
          <p:cNvSpPr>
            <a:spLocks noChangeArrowheads="1"/>
          </p:cNvSpPr>
          <p:nvPr/>
        </p:nvSpPr>
        <p:spPr bwMode="auto">
          <a:xfrm>
            <a:off x="201613" y="3241675"/>
            <a:ext cx="1339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lcost=44</a:t>
            </a:r>
          </a:p>
        </p:txBody>
      </p:sp>
      <p:sp>
        <p:nvSpPr>
          <p:cNvPr id="9" name="矩形 8">
            <a:extLst>
              <a:ext uri="{FF2B5EF4-FFF2-40B4-BE49-F238E27FC236}">
                <a16:creationId xmlns:a16="http://schemas.microsoft.com/office/drawing/2014/main" id="{9557A42C-FD0F-849A-D0F9-DAD54CC7E94F}"/>
              </a:ext>
            </a:extLst>
          </p:cNvPr>
          <p:cNvSpPr>
            <a:spLocks noChangeArrowheads="1"/>
          </p:cNvSpPr>
          <p:nvPr/>
        </p:nvSpPr>
        <p:spPr bwMode="auto">
          <a:xfrm>
            <a:off x="185738" y="2992438"/>
            <a:ext cx="977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rcost=14</a:t>
            </a:r>
          </a:p>
        </p:txBody>
      </p:sp>
      <p:sp>
        <p:nvSpPr>
          <p:cNvPr id="10" name="Rectangle 66">
            <a:extLst>
              <a:ext uri="{FF2B5EF4-FFF2-40B4-BE49-F238E27FC236}">
                <a16:creationId xmlns:a16="http://schemas.microsoft.com/office/drawing/2014/main" id="{BCB8745E-4878-538A-408A-B8123D357FFC}"/>
              </a:ext>
            </a:extLst>
          </p:cNvPr>
          <p:cNvSpPr>
            <a:spLocks noChangeArrowheads="1"/>
          </p:cNvSpPr>
          <p:nvPr/>
        </p:nvSpPr>
        <p:spPr bwMode="auto">
          <a:xfrm>
            <a:off x="6029325" y="3657600"/>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cc=14</a:t>
            </a:r>
          </a:p>
        </p:txBody>
      </p:sp>
      <p:sp>
        <p:nvSpPr>
          <p:cNvPr id="11" name="Rectangle 66">
            <a:extLst>
              <a:ext uri="{FF2B5EF4-FFF2-40B4-BE49-F238E27FC236}">
                <a16:creationId xmlns:a16="http://schemas.microsoft.com/office/drawing/2014/main" id="{33613470-E84F-3414-DC44-9BBF61F2DE67}"/>
              </a:ext>
            </a:extLst>
          </p:cNvPr>
          <p:cNvSpPr>
            <a:spLocks noChangeArrowheads="1"/>
          </p:cNvSpPr>
          <p:nvPr/>
        </p:nvSpPr>
        <p:spPr bwMode="auto">
          <a:xfrm>
            <a:off x="6027738" y="3833813"/>
            <a:ext cx="989012"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rcost=10lcost=24</a:t>
            </a:r>
          </a:p>
        </p:txBody>
      </p:sp>
      <p:sp>
        <p:nvSpPr>
          <p:cNvPr id="12" name="Rectangle 66">
            <a:extLst>
              <a:ext uri="{FF2B5EF4-FFF2-40B4-BE49-F238E27FC236}">
                <a16:creationId xmlns:a16="http://schemas.microsoft.com/office/drawing/2014/main" id="{54F7138D-C556-B86A-42E4-A86EFD841D49}"/>
              </a:ext>
            </a:extLst>
          </p:cNvPr>
          <p:cNvSpPr>
            <a:spLocks noChangeArrowheads="1"/>
          </p:cNvSpPr>
          <p:nvPr/>
        </p:nvSpPr>
        <p:spPr bwMode="auto">
          <a:xfrm>
            <a:off x="7904163" y="3644900"/>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cc=24</a:t>
            </a:r>
          </a:p>
        </p:txBody>
      </p:sp>
      <p:sp>
        <p:nvSpPr>
          <p:cNvPr id="13" name="Rectangle 66">
            <a:extLst>
              <a:ext uri="{FF2B5EF4-FFF2-40B4-BE49-F238E27FC236}">
                <a16:creationId xmlns:a16="http://schemas.microsoft.com/office/drawing/2014/main" id="{7FE4851B-FD4C-81CA-5BC6-A6A600F9FC43}"/>
              </a:ext>
            </a:extLst>
          </p:cNvPr>
          <p:cNvSpPr>
            <a:spLocks noChangeArrowheads="1"/>
          </p:cNvSpPr>
          <p:nvPr/>
        </p:nvSpPr>
        <p:spPr bwMode="auto">
          <a:xfrm>
            <a:off x="7926388" y="3833813"/>
            <a:ext cx="100647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rcost=10lcost=34</a:t>
            </a:r>
          </a:p>
        </p:txBody>
      </p:sp>
      <p:sp>
        <p:nvSpPr>
          <p:cNvPr id="14" name="Oval 41">
            <a:extLst>
              <a:ext uri="{FF2B5EF4-FFF2-40B4-BE49-F238E27FC236}">
                <a16:creationId xmlns:a16="http://schemas.microsoft.com/office/drawing/2014/main" id="{5288E714-1656-CC29-F8B0-1942F63F72EC}"/>
              </a:ext>
            </a:extLst>
          </p:cNvPr>
          <p:cNvSpPr>
            <a:spLocks noChangeArrowheads="1"/>
          </p:cNvSpPr>
          <p:nvPr/>
        </p:nvSpPr>
        <p:spPr bwMode="auto">
          <a:xfrm>
            <a:off x="3297238" y="3155950"/>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3</a:t>
            </a:r>
          </a:p>
        </p:txBody>
      </p:sp>
      <p:sp>
        <p:nvSpPr>
          <p:cNvPr id="15" name="Rectangle 82">
            <a:extLst>
              <a:ext uri="{FF2B5EF4-FFF2-40B4-BE49-F238E27FC236}">
                <a16:creationId xmlns:a16="http://schemas.microsoft.com/office/drawing/2014/main" id="{35BD99FD-CFE7-2258-9D5B-A89D263BC9D7}"/>
              </a:ext>
            </a:extLst>
          </p:cNvPr>
          <p:cNvSpPr>
            <a:spLocks noChangeArrowheads="1"/>
          </p:cNvSpPr>
          <p:nvPr/>
        </p:nvSpPr>
        <p:spPr bwMode="auto">
          <a:xfrm>
            <a:off x="3154363" y="5559425"/>
            <a:ext cx="1419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FF3300"/>
                </a:solidFill>
              </a:rPr>
              <a:t>bestc=25</a:t>
            </a:r>
          </a:p>
        </p:txBody>
      </p:sp>
      <p:sp>
        <p:nvSpPr>
          <p:cNvPr id="16" name="Oval 43">
            <a:extLst>
              <a:ext uri="{FF2B5EF4-FFF2-40B4-BE49-F238E27FC236}">
                <a16:creationId xmlns:a16="http://schemas.microsoft.com/office/drawing/2014/main" id="{B10AEF4E-C51E-BF4A-4451-DAF785EDEFC5}"/>
              </a:ext>
            </a:extLst>
          </p:cNvPr>
          <p:cNvSpPr>
            <a:spLocks noChangeArrowheads="1"/>
          </p:cNvSpPr>
          <p:nvPr/>
        </p:nvSpPr>
        <p:spPr bwMode="auto">
          <a:xfrm>
            <a:off x="3035300" y="4481513"/>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4</a:t>
            </a:r>
          </a:p>
        </p:txBody>
      </p:sp>
      <p:sp>
        <p:nvSpPr>
          <p:cNvPr id="18" name="Rectangle 66">
            <a:extLst>
              <a:ext uri="{FF2B5EF4-FFF2-40B4-BE49-F238E27FC236}">
                <a16:creationId xmlns:a16="http://schemas.microsoft.com/office/drawing/2014/main" id="{2F9023F1-EE51-ABE1-AB6D-9ED6B8B60B1F}"/>
              </a:ext>
            </a:extLst>
          </p:cNvPr>
          <p:cNvSpPr>
            <a:spLocks noChangeArrowheads="1"/>
          </p:cNvSpPr>
          <p:nvPr/>
        </p:nvSpPr>
        <p:spPr bwMode="auto">
          <a:xfrm>
            <a:off x="3028950" y="3533775"/>
            <a:ext cx="10604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cc=11</a:t>
            </a:r>
          </a:p>
        </p:txBody>
      </p:sp>
      <p:sp>
        <p:nvSpPr>
          <p:cNvPr id="19" name="Rectangle 66">
            <a:extLst>
              <a:ext uri="{FF2B5EF4-FFF2-40B4-BE49-F238E27FC236}">
                <a16:creationId xmlns:a16="http://schemas.microsoft.com/office/drawing/2014/main" id="{F78C1675-102B-0110-300A-109565024827}"/>
              </a:ext>
            </a:extLst>
          </p:cNvPr>
          <p:cNvSpPr>
            <a:spLocks noChangeArrowheads="1"/>
          </p:cNvSpPr>
          <p:nvPr/>
        </p:nvSpPr>
        <p:spPr bwMode="auto">
          <a:xfrm>
            <a:off x="3019425" y="3733800"/>
            <a:ext cx="950913"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rcost=9 lcost=20</a:t>
            </a:r>
          </a:p>
        </p:txBody>
      </p:sp>
      <p:sp>
        <p:nvSpPr>
          <p:cNvPr id="20" name="Rectangle 66">
            <a:extLst>
              <a:ext uri="{FF2B5EF4-FFF2-40B4-BE49-F238E27FC236}">
                <a16:creationId xmlns:a16="http://schemas.microsoft.com/office/drawing/2014/main" id="{96F9D1BD-2275-3774-68DA-162996C8E17E}"/>
              </a:ext>
            </a:extLst>
          </p:cNvPr>
          <p:cNvSpPr>
            <a:spLocks noChangeArrowheads="1"/>
          </p:cNvSpPr>
          <p:nvPr/>
        </p:nvSpPr>
        <p:spPr bwMode="auto">
          <a:xfrm>
            <a:off x="4991100" y="3611563"/>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cc=26</a:t>
            </a:r>
          </a:p>
        </p:txBody>
      </p:sp>
      <p:sp>
        <p:nvSpPr>
          <p:cNvPr id="21" name="Rectangle 66">
            <a:extLst>
              <a:ext uri="{FF2B5EF4-FFF2-40B4-BE49-F238E27FC236}">
                <a16:creationId xmlns:a16="http://schemas.microsoft.com/office/drawing/2014/main" id="{AE9A5EFA-55CC-EC44-2554-8EFBDEDD6D87}"/>
              </a:ext>
            </a:extLst>
          </p:cNvPr>
          <p:cNvSpPr>
            <a:spLocks noChangeArrowheads="1"/>
          </p:cNvSpPr>
          <p:nvPr/>
        </p:nvSpPr>
        <p:spPr bwMode="auto">
          <a:xfrm>
            <a:off x="4911725" y="3787775"/>
            <a:ext cx="9477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rcost=9 lcost=35</a:t>
            </a:r>
          </a:p>
        </p:txBody>
      </p:sp>
      <p:sp>
        <p:nvSpPr>
          <p:cNvPr id="22" name="Oval 46">
            <a:extLst>
              <a:ext uri="{FF2B5EF4-FFF2-40B4-BE49-F238E27FC236}">
                <a16:creationId xmlns:a16="http://schemas.microsoft.com/office/drawing/2014/main" id="{A93BD4A5-F2A5-AADB-1764-97226D476039}"/>
              </a:ext>
            </a:extLst>
          </p:cNvPr>
          <p:cNvSpPr>
            <a:spLocks noChangeArrowheads="1"/>
          </p:cNvSpPr>
          <p:nvPr/>
        </p:nvSpPr>
        <p:spPr bwMode="auto">
          <a:xfrm>
            <a:off x="5707063" y="4502150"/>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sp>
        <p:nvSpPr>
          <p:cNvPr id="23" name="Rectangle 82">
            <a:extLst>
              <a:ext uri="{FF2B5EF4-FFF2-40B4-BE49-F238E27FC236}">
                <a16:creationId xmlns:a16="http://schemas.microsoft.com/office/drawing/2014/main" id="{FB7EFCFC-E313-0D5B-43D9-377C6FC9FA94}"/>
              </a:ext>
            </a:extLst>
          </p:cNvPr>
          <p:cNvSpPr>
            <a:spLocks noChangeArrowheads="1"/>
          </p:cNvSpPr>
          <p:nvPr/>
        </p:nvSpPr>
        <p:spPr bwMode="auto">
          <a:xfrm>
            <a:off x="5849938" y="5543550"/>
            <a:ext cx="17081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cost=25=bestc</a:t>
            </a:r>
          </a:p>
          <a:p>
            <a:pPr>
              <a:spcBef>
                <a:spcPct val="50000"/>
              </a:spcBef>
              <a:buClr>
                <a:schemeClr val="accent1"/>
              </a:buClr>
              <a:buSzPct val="65000"/>
              <a:buFont typeface="Wingdings" panose="05000000000000000000" pitchFamily="2" charset="2"/>
              <a:buNone/>
            </a:pPr>
            <a:r>
              <a:rPr lang="zh-CN" altLang="en-US" sz="1600">
                <a:solidFill>
                  <a:srgbClr val="0000FF"/>
                </a:solidFill>
              </a:rPr>
              <a:t>无需更新</a:t>
            </a:r>
            <a:r>
              <a:rPr lang="en-US" altLang="zh-CN" sz="1600">
                <a:solidFill>
                  <a:srgbClr val="0000FF"/>
                </a:solidFill>
              </a:rPr>
              <a:t>bestc</a:t>
            </a:r>
          </a:p>
        </p:txBody>
      </p:sp>
      <p:pic>
        <p:nvPicPr>
          <p:cNvPr id="25" name="图形 24">
            <a:extLst>
              <a:ext uri="{FF2B5EF4-FFF2-40B4-BE49-F238E27FC236}">
                <a16:creationId xmlns:a16="http://schemas.microsoft.com/office/drawing/2014/main" id="{81501E90-08BE-9530-E6E9-DE51845B69B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316788" y="3798888"/>
            <a:ext cx="4603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图形 25">
            <a:extLst>
              <a:ext uri="{FF2B5EF4-FFF2-40B4-BE49-F238E27FC236}">
                <a16:creationId xmlns:a16="http://schemas.microsoft.com/office/drawing/2014/main" id="{FF80B33F-58A8-2870-8876-4F41B1A5561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56113" y="3660775"/>
            <a:ext cx="46037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图形 26">
            <a:extLst>
              <a:ext uri="{FF2B5EF4-FFF2-40B4-BE49-F238E27FC236}">
                <a16:creationId xmlns:a16="http://schemas.microsoft.com/office/drawing/2014/main" id="{976A1FBC-3EDB-8406-52E5-3AD72FE7718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13000" y="2730500"/>
            <a:ext cx="46037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Rectangle 66">
            <a:extLst>
              <a:ext uri="{FF2B5EF4-FFF2-40B4-BE49-F238E27FC236}">
                <a16:creationId xmlns:a16="http://schemas.microsoft.com/office/drawing/2014/main" id="{1950CF2F-6DA2-E1EE-CAC6-0604DE8ADB5A}"/>
              </a:ext>
            </a:extLst>
          </p:cNvPr>
          <p:cNvSpPr>
            <a:spLocks noChangeArrowheads="1"/>
          </p:cNvSpPr>
          <p:nvPr/>
        </p:nvSpPr>
        <p:spPr bwMode="auto">
          <a:xfrm>
            <a:off x="134938" y="5629275"/>
            <a:ext cx="1676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FF3300"/>
                </a:solidFill>
              </a:rPr>
              <a:t>lcost</a:t>
            </a:r>
            <a:r>
              <a:rPr lang="zh-CN" altLang="en-US" sz="1600">
                <a:solidFill>
                  <a:srgbClr val="FF3300"/>
                </a:solidFill>
              </a:rPr>
              <a:t>大于</a:t>
            </a:r>
            <a:r>
              <a:rPr lang="en-US" altLang="zh-CN" sz="1600">
                <a:solidFill>
                  <a:srgbClr val="FF3300"/>
                </a:solidFill>
              </a:rPr>
              <a:t>bestc</a:t>
            </a:r>
            <a:r>
              <a:rPr lang="zh-CN" altLang="en-US" sz="1600">
                <a:solidFill>
                  <a:srgbClr val="FF3300"/>
                </a:solidFill>
              </a:rPr>
              <a:t>的情况被剪枝</a:t>
            </a:r>
            <a:endParaRPr lang="en-US" altLang="zh-CN" sz="1600">
              <a:solidFill>
                <a:srgbClr val="0000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75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476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8" grpId="0" animBg="1"/>
      <p:bldP spid="74759" grpId="0"/>
      <p:bldP spid="74761" grpId="0"/>
      <p:bldP spid="2" grpId="0" animBg="1"/>
      <p:bldP spid="3" grpId="0"/>
      <p:bldP spid="4" grpId="0"/>
      <p:bldP spid="5" grpId="0"/>
      <p:bldP spid="6" grpId="0"/>
      <p:bldP spid="7" grpId="0"/>
      <p:bldP spid="8" grpId="0"/>
      <p:bldP spid="9" grpId="0"/>
      <p:bldP spid="10" grpId="0"/>
      <p:bldP spid="11" grpId="0"/>
      <p:bldP spid="12" grpId="0"/>
      <p:bldP spid="13" grpId="0"/>
      <p:bldP spid="14" grpId="0" animBg="1"/>
      <p:bldP spid="15" grpId="0"/>
      <p:bldP spid="16" grpId="0" animBg="1"/>
      <p:bldP spid="18" grpId="0"/>
      <p:bldP spid="19" grpId="0"/>
      <p:bldP spid="20" grpId="0"/>
      <p:bldP spid="21" grpId="0"/>
      <p:bldP spid="22" grpId="0" animBg="1"/>
      <p:bldP spid="23" grpId="0"/>
      <p:bldP spid="2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5">
            <a:extLst>
              <a:ext uri="{FF2B5EF4-FFF2-40B4-BE49-F238E27FC236}">
                <a16:creationId xmlns:a16="http://schemas.microsoft.com/office/drawing/2014/main" id="{0C5C8D0C-A1EF-012B-542D-8CDD6FB20C6B}"/>
              </a:ext>
            </a:extLst>
          </p:cNvPr>
          <p:cNvSpPr>
            <a:spLocks noGrp="1" noChangeArrowheads="1"/>
          </p:cNvSpPr>
          <p:nvPr>
            <p:ph type="body" idx="1"/>
          </p:nvPr>
        </p:nvSpPr>
        <p:spPr>
          <a:xfrm>
            <a:off x="2857500" y="428625"/>
            <a:ext cx="3429000" cy="500063"/>
          </a:xfrm>
        </p:spPr>
        <p:txBody>
          <a:bodyPr lIns="90488" tIns="44450" rIns="90488" bIns="44450"/>
          <a:lstStyle/>
          <a:p>
            <a:pPr>
              <a:buFont typeface="Wingdings" panose="05000000000000000000" pitchFamily="2" charset="2"/>
              <a:buNone/>
            </a:pPr>
            <a:r>
              <a:rPr lang="zh-CN" altLang="en-US" sz="2400"/>
              <a:t>优先队列式分支限界法</a:t>
            </a:r>
          </a:p>
        </p:txBody>
      </p:sp>
      <p:grpSp>
        <p:nvGrpSpPr>
          <p:cNvPr id="80899" name="Group 39">
            <a:extLst>
              <a:ext uri="{FF2B5EF4-FFF2-40B4-BE49-F238E27FC236}">
                <a16:creationId xmlns:a16="http://schemas.microsoft.com/office/drawing/2014/main" id="{0A51E381-374B-D986-828E-19F5FD0CBCE5}"/>
              </a:ext>
            </a:extLst>
          </p:cNvPr>
          <p:cNvGrpSpPr>
            <a:grpSpLocks/>
          </p:cNvGrpSpPr>
          <p:nvPr/>
        </p:nvGrpSpPr>
        <p:grpSpPr bwMode="auto">
          <a:xfrm>
            <a:off x="219075" y="2133600"/>
            <a:ext cx="8467725" cy="3444875"/>
            <a:chOff x="237" y="1632"/>
            <a:chExt cx="5334" cy="2170"/>
          </a:xfrm>
        </p:grpSpPr>
        <p:sp>
          <p:nvSpPr>
            <p:cNvPr id="80952" name="Rectangle 8">
              <a:extLst>
                <a:ext uri="{FF2B5EF4-FFF2-40B4-BE49-F238E27FC236}">
                  <a16:creationId xmlns:a16="http://schemas.microsoft.com/office/drawing/2014/main" id="{15198674-3109-1952-58CD-51D63D083969}"/>
                </a:ext>
              </a:extLst>
            </p:cNvPr>
            <p:cNvSpPr>
              <a:spLocks noChangeArrowheads="1"/>
            </p:cNvSpPr>
            <p:nvPr/>
          </p:nvSpPr>
          <p:spPr bwMode="auto">
            <a:xfrm>
              <a:off x="2397" y="1632"/>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A</a:t>
              </a:r>
              <a:r>
                <a:rPr lang="en-US" altLang="zh-CN" sz="2000">
                  <a:solidFill>
                    <a:srgbClr val="000000"/>
                  </a:solidFill>
                </a:rPr>
                <a:t>:(1,-,-,-)</a:t>
              </a:r>
            </a:p>
          </p:txBody>
        </p:sp>
        <p:sp>
          <p:nvSpPr>
            <p:cNvPr id="80953" name="Rectangle 9">
              <a:extLst>
                <a:ext uri="{FF2B5EF4-FFF2-40B4-BE49-F238E27FC236}">
                  <a16:creationId xmlns:a16="http://schemas.microsoft.com/office/drawing/2014/main" id="{F090BF86-5D64-3F86-6994-CB95A92DEF52}"/>
                </a:ext>
              </a:extLst>
            </p:cNvPr>
            <p:cNvSpPr>
              <a:spLocks noChangeArrowheads="1"/>
            </p:cNvSpPr>
            <p:nvPr/>
          </p:nvSpPr>
          <p:spPr bwMode="auto">
            <a:xfrm>
              <a:off x="765" y="2319"/>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B</a:t>
              </a:r>
              <a:r>
                <a:rPr lang="en-US" altLang="zh-CN" sz="2000">
                  <a:solidFill>
                    <a:srgbClr val="000000"/>
                  </a:solidFill>
                </a:rPr>
                <a:t>:(1,2,-,-)</a:t>
              </a:r>
            </a:p>
          </p:txBody>
        </p:sp>
        <p:sp>
          <p:nvSpPr>
            <p:cNvPr id="80954" name="Rectangle 10">
              <a:extLst>
                <a:ext uri="{FF2B5EF4-FFF2-40B4-BE49-F238E27FC236}">
                  <a16:creationId xmlns:a16="http://schemas.microsoft.com/office/drawing/2014/main" id="{6AC9DC7A-DDA5-1753-CB31-B9760983F612}"/>
                </a:ext>
              </a:extLst>
            </p:cNvPr>
            <p:cNvSpPr>
              <a:spLocks noChangeArrowheads="1"/>
            </p:cNvSpPr>
            <p:nvPr/>
          </p:nvSpPr>
          <p:spPr bwMode="auto">
            <a:xfrm>
              <a:off x="237" y="2928"/>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E</a:t>
              </a:r>
              <a:r>
                <a:rPr lang="en-US" altLang="zh-CN" sz="2000">
                  <a:solidFill>
                    <a:srgbClr val="000000"/>
                  </a:solidFill>
                </a:rPr>
                <a:t> (1,2,3,-)</a:t>
              </a:r>
            </a:p>
          </p:txBody>
        </p:sp>
        <p:sp>
          <p:nvSpPr>
            <p:cNvPr id="80955" name="Rectangle 11">
              <a:extLst>
                <a:ext uri="{FF2B5EF4-FFF2-40B4-BE49-F238E27FC236}">
                  <a16:creationId xmlns:a16="http://schemas.microsoft.com/office/drawing/2014/main" id="{CC87B42B-1D71-4616-9154-4F4E92565B97}"/>
                </a:ext>
              </a:extLst>
            </p:cNvPr>
            <p:cNvSpPr>
              <a:spLocks noChangeArrowheads="1"/>
            </p:cNvSpPr>
            <p:nvPr/>
          </p:nvSpPr>
          <p:spPr bwMode="auto">
            <a:xfrm>
              <a:off x="4221" y="2304"/>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D</a:t>
              </a:r>
              <a:r>
                <a:rPr lang="en-US" altLang="zh-CN" sz="2000">
                  <a:solidFill>
                    <a:srgbClr val="000000"/>
                  </a:solidFill>
                </a:rPr>
                <a:t>:(1,4,-,-)</a:t>
              </a:r>
            </a:p>
          </p:txBody>
        </p:sp>
        <p:sp>
          <p:nvSpPr>
            <p:cNvPr id="80956" name="Rectangle 12">
              <a:extLst>
                <a:ext uri="{FF2B5EF4-FFF2-40B4-BE49-F238E27FC236}">
                  <a16:creationId xmlns:a16="http://schemas.microsoft.com/office/drawing/2014/main" id="{82414045-72E5-B1FB-3FE2-D7AED20032AD}"/>
                </a:ext>
              </a:extLst>
            </p:cNvPr>
            <p:cNvSpPr>
              <a:spLocks noChangeArrowheads="1"/>
            </p:cNvSpPr>
            <p:nvPr/>
          </p:nvSpPr>
          <p:spPr bwMode="auto">
            <a:xfrm>
              <a:off x="2445" y="2286"/>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C</a:t>
              </a:r>
              <a:r>
                <a:rPr lang="en-US" altLang="zh-CN" sz="2000">
                  <a:solidFill>
                    <a:srgbClr val="000000"/>
                  </a:solidFill>
                </a:rPr>
                <a:t>:(1,3,-,-)</a:t>
              </a:r>
            </a:p>
          </p:txBody>
        </p:sp>
        <p:sp>
          <p:nvSpPr>
            <p:cNvPr id="80957" name="Rectangle 13">
              <a:extLst>
                <a:ext uri="{FF2B5EF4-FFF2-40B4-BE49-F238E27FC236}">
                  <a16:creationId xmlns:a16="http://schemas.microsoft.com/office/drawing/2014/main" id="{A27575C6-9DE3-42D5-5D2D-9F2D4D281D9D}"/>
                </a:ext>
              </a:extLst>
            </p:cNvPr>
            <p:cNvSpPr>
              <a:spLocks noChangeArrowheads="1"/>
            </p:cNvSpPr>
            <p:nvPr/>
          </p:nvSpPr>
          <p:spPr bwMode="auto">
            <a:xfrm>
              <a:off x="1245" y="2949"/>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F</a:t>
              </a:r>
              <a:r>
                <a:rPr lang="en-US" altLang="zh-CN" sz="2000">
                  <a:solidFill>
                    <a:srgbClr val="000000"/>
                  </a:solidFill>
                </a:rPr>
                <a:t>(1,2,4,-)</a:t>
              </a:r>
            </a:p>
          </p:txBody>
        </p:sp>
        <p:sp>
          <p:nvSpPr>
            <p:cNvPr id="80958" name="Line 14">
              <a:extLst>
                <a:ext uri="{FF2B5EF4-FFF2-40B4-BE49-F238E27FC236}">
                  <a16:creationId xmlns:a16="http://schemas.microsoft.com/office/drawing/2014/main" id="{D8C3AA62-94F8-9D8B-30E5-59E89F2B42E0}"/>
                </a:ext>
              </a:extLst>
            </p:cNvPr>
            <p:cNvSpPr>
              <a:spLocks noChangeShapeType="1"/>
            </p:cNvSpPr>
            <p:nvPr/>
          </p:nvSpPr>
          <p:spPr bwMode="auto">
            <a:xfrm flipH="1">
              <a:off x="1200" y="1920"/>
              <a:ext cx="1392" cy="4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9" name="Line 15">
              <a:extLst>
                <a:ext uri="{FF2B5EF4-FFF2-40B4-BE49-F238E27FC236}">
                  <a16:creationId xmlns:a16="http://schemas.microsoft.com/office/drawing/2014/main" id="{408C2CFA-F39F-C294-67D4-6A1CCAFD14C0}"/>
                </a:ext>
              </a:extLst>
            </p:cNvPr>
            <p:cNvSpPr>
              <a:spLocks noChangeShapeType="1"/>
            </p:cNvSpPr>
            <p:nvPr/>
          </p:nvSpPr>
          <p:spPr bwMode="auto">
            <a:xfrm>
              <a:off x="2859" y="1920"/>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0" name="Line 16">
              <a:extLst>
                <a:ext uri="{FF2B5EF4-FFF2-40B4-BE49-F238E27FC236}">
                  <a16:creationId xmlns:a16="http://schemas.microsoft.com/office/drawing/2014/main" id="{12F6FE8C-1564-A600-5586-567232127720}"/>
                </a:ext>
              </a:extLst>
            </p:cNvPr>
            <p:cNvSpPr>
              <a:spLocks noChangeShapeType="1"/>
            </p:cNvSpPr>
            <p:nvPr/>
          </p:nvSpPr>
          <p:spPr bwMode="auto">
            <a:xfrm>
              <a:off x="3120" y="1920"/>
              <a:ext cx="15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1" name="Line 17">
              <a:extLst>
                <a:ext uri="{FF2B5EF4-FFF2-40B4-BE49-F238E27FC236}">
                  <a16:creationId xmlns:a16="http://schemas.microsoft.com/office/drawing/2014/main" id="{F782F797-8AD1-9F19-477E-D5C4AF967B53}"/>
                </a:ext>
              </a:extLst>
            </p:cNvPr>
            <p:cNvSpPr>
              <a:spLocks noChangeShapeType="1"/>
            </p:cNvSpPr>
            <p:nvPr/>
          </p:nvSpPr>
          <p:spPr bwMode="auto">
            <a:xfrm flipH="1">
              <a:off x="768" y="2592"/>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2" name="Line 18">
              <a:extLst>
                <a:ext uri="{FF2B5EF4-FFF2-40B4-BE49-F238E27FC236}">
                  <a16:creationId xmlns:a16="http://schemas.microsoft.com/office/drawing/2014/main" id="{D34F13FF-8C51-88B0-8930-7AB152675F82}"/>
                </a:ext>
              </a:extLst>
            </p:cNvPr>
            <p:cNvSpPr>
              <a:spLocks noChangeShapeType="1"/>
            </p:cNvSpPr>
            <p:nvPr/>
          </p:nvSpPr>
          <p:spPr bwMode="auto">
            <a:xfrm>
              <a:off x="1260" y="2592"/>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3" name="Rectangle 19">
              <a:extLst>
                <a:ext uri="{FF2B5EF4-FFF2-40B4-BE49-F238E27FC236}">
                  <a16:creationId xmlns:a16="http://schemas.microsoft.com/office/drawing/2014/main" id="{50DCDCF6-DF95-54A2-BDCF-96321E421A21}"/>
                </a:ext>
              </a:extLst>
            </p:cNvPr>
            <p:cNvSpPr>
              <a:spLocks noChangeArrowheads="1"/>
            </p:cNvSpPr>
            <p:nvPr/>
          </p:nvSpPr>
          <p:spPr bwMode="auto">
            <a:xfrm>
              <a:off x="2109" y="2928"/>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G</a:t>
              </a:r>
              <a:r>
                <a:rPr lang="en-US" altLang="zh-CN" sz="2000">
                  <a:solidFill>
                    <a:srgbClr val="000000"/>
                  </a:solidFill>
                </a:rPr>
                <a:t>(1,3,2,-)</a:t>
              </a:r>
            </a:p>
          </p:txBody>
        </p:sp>
        <p:sp>
          <p:nvSpPr>
            <p:cNvPr id="80964" name="Rectangle 20">
              <a:extLst>
                <a:ext uri="{FF2B5EF4-FFF2-40B4-BE49-F238E27FC236}">
                  <a16:creationId xmlns:a16="http://schemas.microsoft.com/office/drawing/2014/main" id="{AA7CCE48-8301-6072-050D-527CE0C0F53D}"/>
                </a:ext>
              </a:extLst>
            </p:cNvPr>
            <p:cNvSpPr>
              <a:spLocks noChangeArrowheads="1"/>
            </p:cNvSpPr>
            <p:nvPr/>
          </p:nvSpPr>
          <p:spPr bwMode="auto">
            <a:xfrm>
              <a:off x="2973" y="2949"/>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H</a:t>
              </a:r>
              <a:r>
                <a:rPr lang="en-US" altLang="zh-CN" sz="2000">
                  <a:solidFill>
                    <a:srgbClr val="000000"/>
                  </a:solidFill>
                </a:rPr>
                <a:t>(1,3,4,-)</a:t>
              </a:r>
            </a:p>
          </p:txBody>
        </p:sp>
        <p:sp>
          <p:nvSpPr>
            <p:cNvPr id="80965" name="Line 21">
              <a:extLst>
                <a:ext uri="{FF2B5EF4-FFF2-40B4-BE49-F238E27FC236}">
                  <a16:creationId xmlns:a16="http://schemas.microsoft.com/office/drawing/2014/main" id="{AC0775D3-ACC2-937B-3807-55DEA14AF9A2}"/>
                </a:ext>
              </a:extLst>
            </p:cNvPr>
            <p:cNvSpPr>
              <a:spLocks noChangeShapeType="1"/>
            </p:cNvSpPr>
            <p:nvPr/>
          </p:nvSpPr>
          <p:spPr bwMode="auto">
            <a:xfrm flipH="1">
              <a:off x="2496" y="2592"/>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6" name="Line 22">
              <a:extLst>
                <a:ext uri="{FF2B5EF4-FFF2-40B4-BE49-F238E27FC236}">
                  <a16:creationId xmlns:a16="http://schemas.microsoft.com/office/drawing/2014/main" id="{CD80F32C-AF3C-C5AA-464B-A21067DC4AD5}"/>
                </a:ext>
              </a:extLst>
            </p:cNvPr>
            <p:cNvSpPr>
              <a:spLocks noChangeShapeType="1"/>
            </p:cNvSpPr>
            <p:nvPr/>
          </p:nvSpPr>
          <p:spPr bwMode="auto">
            <a:xfrm>
              <a:off x="2988" y="2592"/>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7" name="Rectangle 23">
              <a:extLst>
                <a:ext uri="{FF2B5EF4-FFF2-40B4-BE49-F238E27FC236}">
                  <a16:creationId xmlns:a16="http://schemas.microsoft.com/office/drawing/2014/main" id="{969A1EB4-3878-7AC9-BD37-177E0A7570B5}"/>
                </a:ext>
              </a:extLst>
            </p:cNvPr>
            <p:cNvSpPr>
              <a:spLocks noChangeArrowheads="1"/>
            </p:cNvSpPr>
            <p:nvPr/>
          </p:nvSpPr>
          <p:spPr bwMode="auto">
            <a:xfrm>
              <a:off x="3837" y="2955"/>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I</a:t>
              </a:r>
              <a:r>
                <a:rPr lang="en-US" altLang="zh-CN" sz="2000">
                  <a:solidFill>
                    <a:srgbClr val="000000"/>
                  </a:solidFill>
                </a:rPr>
                <a:t>(1,4,2,-)</a:t>
              </a:r>
            </a:p>
          </p:txBody>
        </p:sp>
        <p:sp>
          <p:nvSpPr>
            <p:cNvPr id="80968" name="Rectangle 24">
              <a:extLst>
                <a:ext uri="{FF2B5EF4-FFF2-40B4-BE49-F238E27FC236}">
                  <a16:creationId xmlns:a16="http://schemas.microsoft.com/office/drawing/2014/main" id="{81D27FC6-6EC2-C06D-AA05-41D3F988B415}"/>
                </a:ext>
              </a:extLst>
            </p:cNvPr>
            <p:cNvSpPr>
              <a:spLocks noChangeArrowheads="1"/>
            </p:cNvSpPr>
            <p:nvPr/>
          </p:nvSpPr>
          <p:spPr bwMode="auto">
            <a:xfrm>
              <a:off x="4701" y="2976"/>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J</a:t>
              </a:r>
              <a:r>
                <a:rPr lang="en-US" altLang="zh-CN" sz="2000">
                  <a:solidFill>
                    <a:srgbClr val="000000"/>
                  </a:solidFill>
                </a:rPr>
                <a:t>(1,4,3,-)</a:t>
              </a:r>
            </a:p>
          </p:txBody>
        </p:sp>
        <p:sp>
          <p:nvSpPr>
            <p:cNvPr id="80969" name="Line 25">
              <a:extLst>
                <a:ext uri="{FF2B5EF4-FFF2-40B4-BE49-F238E27FC236}">
                  <a16:creationId xmlns:a16="http://schemas.microsoft.com/office/drawing/2014/main" id="{C24DFA33-C2A0-20B0-A62F-E321941493E3}"/>
                </a:ext>
              </a:extLst>
            </p:cNvPr>
            <p:cNvSpPr>
              <a:spLocks noChangeShapeType="1"/>
            </p:cNvSpPr>
            <p:nvPr/>
          </p:nvSpPr>
          <p:spPr bwMode="auto">
            <a:xfrm flipH="1">
              <a:off x="4224" y="2619"/>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70" name="Line 26">
              <a:extLst>
                <a:ext uri="{FF2B5EF4-FFF2-40B4-BE49-F238E27FC236}">
                  <a16:creationId xmlns:a16="http://schemas.microsoft.com/office/drawing/2014/main" id="{9D614D60-04D9-71A3-E121-84C01E3965DD}"/>
                </a:ext>
              </a:extLst>
            </p:cNvPr>
            <p:cNvSpPr>
              <a:spLocks noChangeShapeType="1"/>
            </p:cNvSpPr>
            <p:nvPr/>
          </p:nvSpPr>
          <p:spPr bwMode="auto">
            <a:xfrm>
              <a:off x="4716" y="2619"/>
              <a:ext cx="336"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71" name="Rectangle 27">
              <a:extLst>
                <a:ext uri="{FF2B5EF4-FFF2-40B4-BE49-F238E27FC236}">
                  <a16:creationId xmlns:a16="http://schemas.microsoft.com/office/drawing/2014/main" id="{3E9EC0F2-32C6-588A-5BB1-4D3193787E63}"/>
                </a:ext>
              </a:extLst>
            </p:cNvPr>
            <p:cNvSpPr>
              <a:spLocks noChangeArrowheads="1"/>
            </p:cNvSpPr>
            <p:nvPr/>
          </p:nvSpPr>
          <p:spPr bwMode="auto">
            <a:xfrm>
              <a:off x="237" y="3504"/>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K</a:t>
              </a:r>
              <a:r>
                <a:rPr lang="en-US" altLang="zh-CN" sz="2000">
                  <a:solidFill>
                    <a:srgbClr val="000000"/>
                  </a:solidFill>
                </a:rPr>
                <a:t>(1,2,3,4)</a:t>
              </a:r>
            </a:p>
          </p:txBody>
        </p:sp>
        <p:sp>
          <p:nvSpPr>
            <p:cNvPr id="80972" name="Rectangle 28">
              <a:extLst>
                <a:ext uri="{FF2B5EF4-FFF2-40B4-BE49-F238E27FC236}">
                  <a16:creationId xmlns:a16="http://schemas.microsoft.com/office/drawing/2014/main" id="{B03B97CA-A000-8821-6D25-5FA0ECA214DB}"/>
                </a:ext>
              </a:extLst>
            </p:cNvPr>
            <p:cNvSpPr>
              <a:spLocks noChangeArrowheads="1"/>
            </p:cNvSpPr>
            <p:nvPr/>
          </p:nvSpPr>
          <p:spPr bwMode="auto">
            <a:xfrm>
              <a:off x="1245" y="3525"/>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L</a:t>
              </a:r>
              <a:r>
                <a:rPr lang="en-US" altLang="zh-CN" sz="2000">
                  <a:solidFill>
                    <a:srgbClr val="000000"/>
                  </a:solidFill>
                </a:rPr>
                <a:t>(1,2,4,3)</a:t>
              </a:r>
            </a:p>
          </p:txBody>
        </p:sp>
        <p:sp>
          <p:nvSpPr>
            <p:cNvPr id="80973" name="Rectangle 29">
              <a:extLst>
                <a:ext uri="{FF2B5EF4-FFF2-40B4-BE49-F238E27FC236}">
                  <a16:creationId xmlns:a16="http://schemas.microsoft.com/office/drawing/2014/main" id="{4AD26C7A-ABB4-C98B-BB76-6F2862A7A4DD}"/>
                </a:ext>
              </a:extLst>
            </p:cNvPr>
            <p:cNvSpPr>
              <a:spLocks noChangeArrowheads="1"/>
            </p:cNvSpPr>
            <p:nvPr/>
          </p:nvSpPr>
          <p:spPr bwMode="auto">
            <a:xfrm>
              <a:off x="2109" y="3513"/>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M</a:t>
              </a:r>
              <a:r>
                <a:rPr lang="en-US" altLang="zh-CN" sz="2000">
                  <a:solidFill>
                    <a:srgbClr val="000000"/>
                  </a:solidFill>
                </a:rPr>
                <a:t>(</a:t>
              </a:r>
              <a:r>
                <a:rPr lang="en-US" altLang="zh-CN" sz="2000">
                  <a:solidFill>
                    <a:schemeClr val="tx1"/>
                  </a:solidFill>
                </a:rPr>
                <a:t>1,3,2,4</a:t>
              </a:r>
              <a:r>
                <a:rPr lang="en-US" altLang="zh-CN" sz="2000">
                  <a:solidFill>
                    <a:srgbClr val="000000"/>
                  </a:solidFill>
                </a:rPr>
                <a:t>)</a:t>
              </a:r>
            </a:p>
          </p:txBody>
        </p:sp>
        <p:sp>
          <p:nvSpPr>
            <p:cNvPr id="80974" name="Rectangle 30">
              <a:extLst>
                <a:ext uri="{FF2B5EF4-FFF2-40B4-BE49-F238E27FC236}">
                  <a16:creationId xmlns:a16="http://schemas.microsoft.com/office/drawing/2014/main" id="{C687DEA0-ADD9-7D47-3118-33ADDFD58CB8}"/>
                </a:ext>
              </a:extLst>
            </p:cNvPr>
            <p:cNvSpPr>
              <a:spLocks noChangeArrowheads="1"/>
            </p:cNvSpPr>
            <p:nvPr/>
          </p:nvSpPr>
          <p:spPr bwMode="auto">
            <a:xfrm>
              <a:off x="2973" y="3525"/>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N</a:t>
              </a:r>
              <a:r>
                <a:rPr lang="en-US" altLang="zh-CN" sz="2000">
                  <a:solidFill>
                    <a:srgbClr val="000000"/>
                  </a:solidFill>
                </a:rPr>
                <a:t>(</a:t>
              </a:r>
              <a:r>
                <a:rPr lang="en-US" altLang="zh-CN" sz="2000">
                  <a:solidFill>
                    <a:srgbClr val="FF0000"/>
                  </a:solidFill>
                </a:rPr>
                <a:t>1,3,4,2</a:t>
              </a:r>
              <a:r>
                <a:rPr lang="en-US" altLang="zh-CN" sz="2000">
                  <a:solidFill>
                    <a:srgbClr val="000000"/>
                  </a:solidFill>
                </a:rPr>
                <a:t>)</a:t>
              </a:r>
            </a:p>
          </p:txBody>
        </p:sp>
        <p:sp>
          <p:nvSpPr>
            <p:cNvPr id="80975" name="Rectangle 31">
              <a:extLst>
                <a:ext uri="{FF2B5EF4-FFF2-40B4-BE49-F238E27FC236}">
                  <a16:creationId xmlns:a16="http://schemas.microsoft.com/office/drawing/2014/main" id="{09CFF423-F56E-DE99-8F30-D7A4B2B8C5BD}"/>
                </a:ext>
              </a:extLst>
            </p:cNvPr>
            <p:cNvSpPr>
              <a:spLocks noChangeArrowheads="1"/>
            </p:cNvSpPr>
            <p:nvPr/>
          </p:nvSpPr>
          <p:spPr bwMode="auto">
            <a:xfrm>
              <a:off x="3837" y="3531"/>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O</a:t>
              </a:r>
              <a:r>
                <a:rPr lang="en-US" altLang="zh-CN" sz="2000">
                  <a:solidFill>
                    <a:srgbClr val="000000"/>
                  </a:solidFill>
                </a:rPr>
                <a:t>(1,4,2,3)</a:t>
              </a:r>
            </a:p>
          </p:txBody>
        </p:sp>
        <p:sp>
          <p:nvSpPr>
            <p:cNvPr id="80976" name="Rectangle 32">
              <a:extLst>
                <a:ext uri="{FF2B5EF4-FFF2-40B4-BE49-F238E27FC236}">
                  <a16:creationId xmlns:a16="http://schemas.microsoft.com/office/drawing/2014/main" id="{338ABBC0-E103-45FE-A1DD-D4CB7BE29993}"/>
                </a:ext>
              </a:extLst>
            </p:cNvPr>
            <p:cNvSpPr>
              <a:spLocks noChangeArrowheads="1"/>
            </p:cNvSpPr>
            <p:nvPr/>
          </p:nvSpPr>
          <p:spPr bwMode="auto">
            <a:xfrm>
              <a:off x="4701" y="3552"/>
              <a:ext cx="8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2000">
                  <a:solidFill>
                    <a:srgbClr val="9900FF"/>
                  </a:solidFill>
                </a:rPr>
                <a:t>P</a:t>
              </a:r>
              <a:r>
                <a:rPr lang="en-US" altLang="zh-CN" sz="2000">
                  <a:solidFill>
                    <a:srgbClr val="000000"/>
                  </a:solidFill>
                </a:rPr>
                <a:t>(1,4,3,2)</a:t>
              </a:r>
            </a:p>
          </p:txBody>
        </p:sp>
        <p:sp>
          <p:nvSpPr>
            <p:cNvPr id="80977" name="Line 33">
              <a:extLst>
                <a:ext uri="{FF2B5EF4-FFF2-40B4-BE49-F238E27FC236}">
                  <a16:creationId xmlns:a16="http://schemas.microsoft.com/office/drawing/2014/main" id="{556D002E-0003-0DAB-26C3-ED89B19B0DE0}"/>
                </a:ext>
              </a:extLst>
            </p:cNvPr>
            <p:cNvSpPr>
              <a:spLocks noChangeShapeType="1"/>
            </p:cNvSpPr>
            <p:nvPr/>
          </p:nvSpPr>
          <p:spPr bwMode="auto">
            <a:xfrm>
              <a:off x="672" y="3216"/>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78" name="Line 34">
              <a:extLst>
                <a:ext uri="{FF2B5EF4-FFF2-40B4-BE49-F238E27FC236}">
                  <a16:creationId xmlns:a16="http://schemas.microsoft.com/office/drawing/2014/main" id="{FB061082-F1E4-BDCF-84AD-F31B0DD669F6}"/>
                </a:ext>
              </a:extLst>
            </p:cNvPr>
            <p:cNvSpPr>
              <a:spLocks noChangeShapeType="1"/>
            </p:cNvSpPr>
            <p:nvPr/>
          </p:nvSpPr>
          <p:spPr bwMode="auto">
            <a:xfrm>
              <a:off x="1680" y="3216"/>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79" name="Line 35">
              <a:extLst>
                <a:ext uri="{FF2B5EF4-FFF2-40B4-BE49-F238E27FC236}">
                  <a16:creationId xmlns:a16="http://schemas.microsoft.com/office/drawing/2014/main" id="{661F2C7C-A70B-CEB1-BE88-483306C5F42F}"/>
                </a:ext>
              </a:extLst>
            </p:cNvPr>
            <p:cNvSpPr>
              <a:spLocks noChangeShapeType="1"/>
            </p:cNvSpPr>
            <p:nvPr/>
          </p:nvSpPr>
          <p:spPr bwMode="auto">
            <a:xfrm>
              <a:off x="2544" y="3177"/>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80" name="Line 36">
              <a:extLst>
                <a:ext uri="{FF2B5EF4-FFF2-40B4-BE49-F238E27FC236}">
                  <a16:creationId xmlns:a16="http://schemas.microsoft.com/office/drawing/2014/main" id="{35427E53-2CE2-2C0D-8361-1B48479A1166}"/>
                </a:ext>
              </a:extLst>
            </p:cNvPr>
            <p:cNvSpPr>
              <a:spLocks noChangeShapeType="1"/>
            </p:cNvSpPr>
            <p:nvPr/>
          </p:nvSpPr>
          <p:spPr bwMode="auto">
            <a:xfrm>
              <a:off x="3408" y="3207"/>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81" name="Line 37">
              <a:extLst>
                <a:ext uri="{FF2B5EF4-FFF2-40B4-BE49-F238E27FC236}">
                  <a16:creationId xmlns:a16="http://schemas.microsoft.com/office/drawing/2014/main" id="{29E784D7-F59C-3BC1-5BA5-1DF0AF6603DD}"/>
                </a:ext>
              </a:extLst>
            </p:cNvPr>
            <p:cNvSpPr>
              <a:spLocks noChangeShapeType="1"/>
            </p:cNvSpPr>
            <p:nvPr/>
          </p:nvSpPr>
          <p:spPr bwMode="auto">
            <a:xfrm>
              <a:off x="4224" y="3216"/>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82" name="Line 38">
              <a:extLst>
                <a:ext uri="{FF2B5EF4-FFF2-40B4-BE49-F238E27FC236}">
                  <a16:creationId xmlns:a16="http://schemas.microsoft.com/office/drawing/2014/main" id="{C794D73A-338C-A398-5679-4A0923CB74E5}"/>
                </a:ext>
              </a:extLst>
            </p:cNvPr>
            <p:cNvSpPr>
              <a:spLocks noChangeShapeType="1"/>
            </p:cNvSpPr>
            <p:nvPr/>
          </p:nvSpPr>
          <p:spPr bwMode="auto">
            <a:xfrm>
              <a:off x="5088" y="3216"/>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900" name="Group 65">
            <a:extLst>
              <a:ext uri="{FF2B5EF4-FFF2-40B4-BE49-F238E27FC236}">
                <a16:creationId xmlns:a16="http://schemas.microsoft.com/office/drawing/2014/main" id="{439DC367-E77D-697B-1997-E2A81B50FC64}"/>
              </a:ext>
            </a:extLst>
          </p:cNvPr>
          <p:cNvGrpSpPr>
            <a:grpSpLocks/>
          </p:cNvGrpSpPr>
          <p:nvPr/>
        </p:nvGrpSpPr>
        <p:grpSpPr bwMode="auto">
          <a:xfrm>
            <a:off x="6248400" y="357188"/>
            <a:ext cx="2987675" cy="2362200"/>
            <a:chOff x="3936" y="480"/>
            <a:chExt cx="1882" cy="1488"/>
          </a:xfrm>
        </p:grpSpPr>
        <p:sp>
          <p:nvSpPr>
            <p:cNvPr id="80936" name="Rectangle 49">
              <a:extLst>
                <a:ext uri="{FF2B5EF4-FFF2-40B4-BE49-F238E27FC236}">
                  <a16:creationId xmlns:a16="http://schemas.microsoft.com/office/drawing/2014/main" id="{4D51BDC8-82CA-6793-1E80-E154A7A668E6}"/>
                </a:ext>
              </a:extLst>
            </p:cNvPr>
            <p:cNvSpPr>
              <a:spLocks noChangeArrowheads="1"/>
            </p:cNvSpPr>
            <p:nvPr/>
          </p:nvSpPr>
          <p:spPr bwMode="auto">
            <a:xfrm>
              <a:off x="4693" y="480"/>
              <a:ext cx="347" cy="207"/>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4</a:t>
              </a:r>
            </a:p>
          </p:txBody>
        </p:sp>
        <p:sp>
          <p:nvSpPr>
            <p:cNvPr id="80937" name="Rectangle 50">
              <a:extLst>
                <a:ext uri="{FF2B5EF4-FFF2-40B4-BE49-F238E27FC236}">
                  <a16:creationId xmlns:a16="http://schemas.microsoft.com/office/drawing/2014/main" id="{9ADE991E-06DB-6741-7D25-BAB0813F0E46}"/>
                </a:ext>
              </a:extLst>
            </p:cNvPr>
            <p:cNvSpPr>
              <a:spLocks noChangeArrowheads="1"/>
            </p:cNvSpPr>
            <p:nvPr/>
          </p:nvSpPr>
          <p:spPr bwMode="auto">
            <a:xfrm>
              <a:off x="3936" y="1052"/>
              <a:ext cx="200" cy="20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1</a:t>
              </a:r>
            </a:p>
          </p:txBody>
        </p:sp>
        <p:sp>
          <p:nvSpPr>
            <p:cNvPr id="80938" name="Rectangle 51">
              <a:extLst>
                <a:ext uri="{FF2B5EF4-FFF2-40B4-BE49-F238E27FC236}">
                  <a16:creationId xmlns:a16="http://schemas.microsoft.com/office/drawing/2014/main" id="{C78DB628-9C40-C478-5D83-80AA52F31686}"/>
                </a:ext>
              </a:extLst>
            </p:cNvPr>
            <p:cNvSpPr>
              <a:spLocks noChangeArrowheads="1"/>
            </p:cNvSpPr>
            <p:nvPr/>
          </p:nvSpPr>
          <p:spPr bwMode="auto">
            <a:xfrm>
              <a:off x="4985" y="874"/>
              <a:ext cx="200" cy="20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1</a:t>
              </a:r>
            </a:p>
          </p:txBody>
        </p:sp>
        <p:sp>
          <p:nvSpPr>
            <p:cNvPr id="80939" name="Rectangle 52">
              <a:extLst>
                <a:ext uri="{FF2B5EF4-FFF2-40B4-BE49-F238E27FC236}">
                  <a16:creationId xmlns:a16="http://schemas.microsoft.com/office/drawing/2014/main" id="{1B1A5F8C-73F7-659C-2D4F-A797A85F881E}"/>
                </a:ext>
              </a:extLst>
            </p:cNvPr>
            <p:cNvSpPr>
              <a:spLocks noChangeArrowheads="1"/>
            </p:cNvSpPr>
            <p:nvPr/>
          </p:nvSpPr>
          <p:spPr bwMode="auto">
            <a:xfrm>
              <a:off x="4711" y="1759"/>
              <a:ext cx="374" cy="20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2</a:t>
              </a:r>
            </a:p>
          </p:txBody>
        </p:sp>
        <p:sp>
          <p:nvSpPr>
            <p:cNvPr id="80940" name="Rectangle 53">
              <a:extLst>
                <a:ext uri="{FF2B5EF4-FFF2-40B4-BE49-F238E27FC236}">
                  <a16:creationId xmlns:a16="http://schemas.microsoft.com/office/drawing/2014/main" id="{500F3A43-D022-3D98-7942-74C5D9410875}"/>
                </a:ext>
              </a:extLst>
            </p:cNvPr>
            <p:cNvSpPr>
              <a:spLocks noChangeArrowheads="1"/>
            </p:cNvSpPr>
            <p:nvPr/>
          </p:nvSpPr>
          <p:spPr bwMode="auto">
            <a:xfrm>
              <a:off x="4920" y="1260"/>
              <a:ext cx="386" cy="208"/>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10</a:t>
              </a:r>
            </a:p>
          </p:txBody>
        </p:sp>
        <p:sp>
          <p:nvSpPr>
            <p:cNvPr id="80941" name="Rectangle 54">
              <a:extLst>
                <a:ext uri="{FF2B5EF4-FFF2-40B4-BE49-F238E27FC236}">
                  <a16:creationId xmlns:a16="http://schemas.microsoft.com/office/drawing/2014/main" id="{D88A629A-0128-0088-623C-36B973BB31BE}"/>
                </a:ext>
              </a:extLst>
            </p:cNvPr>
            <p:cNvSpPr>
              <a:spLocks noChangeArrowheads="1"/>
            </p:cNvSpPr>
            <p:nvPr/>
          </p:nvSpPr>
          <p:spPr bwMode="auto">
            <a:xfrm>
              <a:off x="5534" y="1126"/>
              <a:ext cx="284" cy="207"/>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7463" tIns="11113" rIns="17463" bIns="11113"/>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a:spcBef>
                  <a:spcPct val="20000"/>
                </a:spcBef>
                <a:buClr>
                  <a:schemeClr val="accent1"/>
                </a:buClr>
                <a:buSzPct val="65000"/>
                <a:buFont typeface="Wingdings" panose="05000000000000000000" pitchFamily="2" charset="2"/>
                <a:buNone/>
              </a:pPr>
              <a:r>
                <a:rPr lang="en-US" altLang="zh-CN"/>
                <a:t>1</a:t>
              </a:r>
              <a:r>
                <a:rPr lang="en-US" altLang="zh-CN" sz="2000"/>
                <a:t> </a:t>
              </a:r>
            </a:p>
          </p:txBody>
        </p:sp>
        <p:sp>
          <p:nvSpPr>
            <p:cNvPr id="80942" name="Line 55">
              <a:extLst>
                <a:ext uri="{FF2B5EF4-FFF2-40B4-BE49-F238E27FC236}">
                  <a16:creationId xmlns:a16="http://schemas.microsoft.com/office/drawing/2014/main" id="{2F02CE2E-1ACD-E98D-F5FC-C304E054005D}"/>
                </a:ext>
              </a:extLst>
            </p:cNvPr>
            <p:cNvSpPr>
              <a:spLocks noChangeShapeType="1"/>
            </p:cNvSpPr>
            <p:nvPr/>
          </p:nvSpPr>
          <p:spPr bwMode="auto">
            <a:xfrm flipV="1">
              <a:off x="4136" y="800"/>
              <a:ext cx="1316" cy="88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3" name="Line 56">
              <a:extLst>
                <a:ext uri="{FF2B5EF4-FFF2-40B4-BE49-F238E27FC236}">
                  <a16:creationId xmlns:a16="http://schemas.microsoft.com/office/drawing/2014/main" id="{27069578-E84E-32CA-6D5A-7E289FC9D2D0}"/>
                </a:ext>
              </a:extLst>
            </p:cNvPr>
            <p:cNvSpPr>
              <a:spLocks noChangeShapeType="1"/>
            </p:cNvSpPr>
            <p:nvPr/>
          </p:nvSpPr>
          <p:spPr bwMode="auto">
            <a:xfrm>
              <a:off x="4092" y="853"/>
              <a:ext cx="0" cy="78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4" name="Oval 57">
              <a:extLst>
                <a:ext uri="{FF2B5EF4-FFF2-40B4-BE49-F238E27FC236}">
                  <a16:creationId xmlns:a16="http://schemas.microsoft.com/office/drawing/2014/main" id="{F2C88C90-B64C-494A-97F6-13D3EE2A9F72}"/>
                </a:ext>
              </a:extLst>
            </p:cNvPr>
            <p:cNvSpPr>
              <a:spLocks noChangeArrowheads="1"/>
            </p:cNvSpPr>
            <p:nvPr/>
          </p:nvSpPr>
          <p:spPr bwMode="auto">
            <a:xfrm>
              <a:off x="3992" y="619"/>
              <a:ext cx="198" cy="222"/>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80000"/>
                </a:lnSpc>
                <a:spcBef>
                  <a:spcPct val="20000"/>
                </a:spcBef>
                <a:buClr>
                  <a:schemeClr val="accent1"/>
                </a:buClr>
                <a:buSzPct val="65000"/>
                <a:buFont typeface="Wingdings" panose="05000000000000000000" pitchFamily="2" charset="2"/>
                <a:buNone/>
              </a:pPr>
              <a:r>
                <a:rPr lang="en-US" altLang="zh-CN" sz="2000">
                  <a:solidFill>
                    <a:srgbClr val="CC0000"/>
                  </a:solidFill>
                </a:rPr>
                <a:t>1</a:t>
              </a:r>
            </a:p>
          </p:txBody>
        </p:sp>
        <p:sp>
          <p:nvSpPr>
            <p:cNvPr id="80945" name="Oval 58">
              <a:extLst>
                <a:ext uri="{FF2B5EF4-FFF2-40B4-BE49-F238E27FC236}">
                  <a16:creationId xmlns:a16="http://schemas.microsoft.com/office/drawing/2014/main" id="{03F966DC-9A67-C1BE-367A-D795A61EAD83}"/>
                </a:ext>
              </a:extLst>
            </p:cNvPr>
            <p:cNvSpPr>
              <a:spLocks noChangeArrowheads="1"/>
            </p:cNvSpPr>
            <p:nvPr/>
          </p:nvSpPr>
          <p:spPr bwMode="auto">
            <a:xfrm>
              <a:off x="5395" y="1586"/>
              <a:ext cx="198" cy="224"/>
            </a:xfrm>
            <a:prstGeom prst="ellipse">
              <a:avLst/>
            </a:prstGeom>
            <a:solidFill>
              <a:srgbClr val="FFFFFF"/>
            </a:solidFill>
            <a:ln w="12700">
              <a:solidFill>
                <a:srgbClr val="000000"/>
              </a:solidFill>
              <a:round/>
              <a:headEnd/>
              <a:tailEnd/>
            </a:ln>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80000"/>
                </a:lnSpc>
                <a:spcBef>
                  <a:spcPct val="20000"/>
                </a:spcBef>
                <a:buClr>
                  <a:schemeClr val="accent1"/>
                </a:buClr>
                <a:buSzPct val="65000"/>
                <a:buFont typeface="Wingdings" panose="05000000000000000000" pitchFamily="2" charset="2"/>
                <a:buNone/>
              </a:pPr>
              <a:r>
                <a:rPr lang="en-US" altLang="zh-CN" sz="2000">
                  <a:solidFill>
                    <a:srgbClr val="CC0000"/>
                  </a:solidFill>
                </a:rPr>
                <a:t>4</a:t>
              </a:r>
            </a:p>
          </p:txBody>
        </p:sp>
        <p:sp>
          <p:nvSpPr>
            <p:cNvPr id="80946" name="Oval 59">
              <a:extLst>
                <a:ext uri="{FF2B5EF4-FFF2-40B4-BE49-F238E27FC236}">
                  <a16:creationId xmlns:a16="http://schemas.microsoft.com/office/drawing/2014/main" id="{50294146-A6D0-2631-11CF-FA2F35D9A863}"/>
                </a:ext>
              </a:extLst>
            </p:cNvPr>
            <p:cNvSpPr>
              <a:spLocks noChangeArrowheads="1"/>
            </p:cNvSpPr>
            <p:nvPr/>
          </p:nvSpPr>
          <p:spPr bwMode="auto">
            <a:xfrm>
              <a:off x="5395" y="619"/>
              <a:ext cx="198" cy="222"/>
            </a:xfrm>
            <a:prstGeom prst="ellipse">
              <a:avLst/>
            </a:prstGeom>
            <a:solidFill>
              <a:srgbClr val="FFFFFF"/>
            </a:solidFill>
            <a:ln w="12700">
              <a:solidFill>
                <a:srgbClr val="000000"/>
              </a:solidFill>
              <a:round/>
              <a:headEnd/>
              <a:tailEnd/>
            </a:ln>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80000"/>
                </a:lnSpc>
                <a:spcBef>
                  <a:spcPct val="20000"/>
                </a:spcBef>
                <a:buClr>
                  <a:schemeClr val="accent1"/>
                </a:buClr>
                <a:buSzPct val="65000"/>
                <a:buFont typeface="Wingdings" panose="05000000000000000000" pitchFamily="2" charset="2"/>
                <a:buNone/>
              </a:pPr>
              <a:r>
                <a:rPr lang="en-US" altLang="zh-CN" sz="2000">
                  <a:solidFill>
                    <a:srgbClr val="CC0000"/>
                  </a:solidFill>
                </a:rPr>
                <a:t>2</a:t>
              </a:r>
            </a:p>
          </p:txBody>
        </p:sp>
        <p:sp>
          <p:nvSpPr>
            <p:cNvPr id="80947" name="Oval 60">
              <a:extLst>
                <a:ext uri="{FF2B5EF4-FFF2-40B4-BE49-F238E27FC236}">
                  <a16:creationId xmlns:a16="http://schemas.microsoft.com/office/drawing/2014/main" id="{24C27304-71EA-102D-045A-2856C14B479C}"/>
                </a:ext>
              </a:extLst>
            </p:cNvPr>
            <p:cNvSpPr>
              <a:spLocks noChangeArrowheads="1"/>
            </p:cNvSpPr>
            <p:nvPr/>
          </p:nvSpPr>
          <p:spPr bwMode="auto">
            <a:xfrm>
              <a:off x="3992" y="1630"/>
              <a:ext cx="198" cy="223"/>
            </a:xfrm>
            <a:prstGeom prst="ellipse">
              <a:avLst/>
            </a:prstGeom>
            <a:solidFill>
              <a:srgbClr val="FFFFFF"/>
            </a:solidFill>
            <a:ln w="12700">
              <a:solidFill>
                <a:srgbClr val="000000"/>
              </a:solidFill>
              <a:round/>
              <a:headEnd/>
              <a:tailEnd/>
            </a:ln>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80000"/>
                </a:lnSpc>
                <a:spcBef>
                  <a:spcPct val="20000"/>
                </a:spcBef>
                <a:buClr>
                  <a:schemeClr val="accent1"/>
                </a:buClr>
                <a:buSzPct val="65000"/>
                <a:buFont typeface="Wingdings" panose="05000000000000000000" pitchFamily="2" charset="2"/>
                <a:buNone/>
              </a:pPr>
              <a:r>
                <a:rPr lang="en-US" altLang="zh-CN" sz="2000">
                  <a:solidFill>
                    <a:srgbClr val="CC0000"/>
                  </a:solidFill>
                </a:rPr>
                <a:t>3</a:t>
              </a:r>
            </a:p>
          </p:txBody>
        </p:sp>
        <p:sp>
          <p:nvSpPr>
            <p:cNvPr id="80948" name="Line 61">
              <a:extLst>
                <a:ext uri="{FF2B5EF4-FFF2-40B4-BE49-F238E27FC236}">
                  <a16:creationId xmlns:a16="http://schemas.microsoft.com/office/drawing/2014/main" id="{55E36900-6F08-DFD1-2770-9245B05390F7}"/>
                </a:ext>
              </a:extLst>
            </p:cNvPr>
            <p:cNvSpPr>
              <a:spLocks noChangeShapeType="1"/>
            </p:cNvSpPr>
            <p:nvPr/>
          </p:nvSpPr>
          <p:spPr bwMode="auto">
            <a:xfrm>
              <a:off x="4191" y="800"/>
              <a:ext cx="1210" cy="8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9" name="Line 62">
              <a:extLst>
                <a:ext uri="{FF2B5EF4-FFF2-40B4-BE49-F238E27FC236}">
                  <a16:creationId xmlns:a16="http://schemas.microsoft.com/office/drawing/2014/main" id="{16EE3563-4B3D-CFA8-C7ED-4E456399DA54}"/>
                </a:ext>
              </a:extLst>
            </p:cNvPr>
            <p:cNvSpPr>
              <a:spLocks noChangeShapeType="1"/>
            </p:cNvSpPr>
            <p:nvPr/>
          </p:nvSpPr>
          <p:spPr bwMode="auto">
            <a:xfrm>
              <a:off x="5493" y="842"/>
              <a:ext cx="0" cy="7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0" name="Line 63">
              <a:extLst>
                <a:ext uri="{FF2B5EF4-FFF2-40B4-BE49-F238E27FC236}">
                  <a16:creationId xmlns:a16="http://schemas.microsoft.com/office/drawing/2014/main" id="{EC33E9FD-9879-3EC2-2C3A-DCFC6B027965}"/>
                </a:ext>
              </a:extLst>
            </p:cNvPr>
            <p:cNvSpPr>
              <a:spLocks noChangeShapeType="1"/>
            </p:cNvSpPr>
            <p:nvPr/>
          </p:nvSpPr>
          <p:spPr bwMode="auto">
            <a:xfrm>
              <a:off x="4191" y="1741"/>
              <a:ext cx="120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1" name="Line 64">
              <a:extLst>
                <a:ext uri="{FF2B5EF4-FFF2-40B4-BE49-F238E27FC236}">
                  <a16:creationId xmlns:a16="http://schemas.microsoft.com/office/drawing/2014/main" id="{C3A035F5-D90A-B169-4131-97975B73E6F1}"/>
                </a:ext>
              </a:extLst>
            </p:cNvPr>
            <p:cNvSpPr>
              <a:spLocks noChangeShapeType="1"/>
            </p:cNvSpPr>
            <p:nvPr/>
          </p:nvSpPr>
          <p:spPr bwMode="auto">
            <a:xfrm>
              <a:off x="4191" y="730"/>
              <a:ext cx="120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0901" name="Rectangle 88" descr="blue055">
            <a:extLst>
              <a:ext uri="{FF2B5EF4-FFF2-40B4-BE49-F238E27FC236}">
                <a16:creationId xmlns:a16="http://schemas.microsoft.com/office/drawing/2014/main" id="{21E6B6A0-B31E-6B26-5130-62AB766CD478}"/>
              </a:ext>
            </a:extLst>
          </p:cNvPr>
          <p:cNvSpPr>
            <a:spLocks noGrp="1" noChangeArrowheads="1"/>
          </p:cNvSpPr>
          <p:nvPr>
            <p:ph type="title"/>
          </p:nvPr>
        </p:nvSpPr>
        <p:spPr>
          <a:xfrm>
            <a:off x="428625" y="285750"/>
            <a:ext cx="4000500" cy="714375"/>
          </a:xfrm>
        </p:spPr>
        <p:txBody>
          <a:bodyPr/>
          <a:lstStyle/>
          <a:p>
            <a:r>
              <a:rPr lang="en-US" altLang="zh-CN"/>
              <a:t>TSP</a:t>
            </a:r>
            <a:r>
              <a:rPr lang="zh-CN" altLang="en-US"/>
              <a:t>问题</a:t>
            </a:r>
          </a:p>
        </p:txBody>
      </p:sp>
      <p:sp>
        <p:nvSpPr>
          <p:cNvPr id="9" name="Oval 40">
            <a:extLst>
              <a:ext uri="{FF2B5EF4-FFF2-40B4-BE49-F238E27FC236}">
                <a16:creationId xmlns:a16="http://schemas.microsoft.com/office/drawing/2014/main" id="{8E9F176C-6D11-46CD-DB02-DAD0F5C7D52C}"/>
              </a:ext>
            </a:extLst>
          </p:cNvPr>
          <p:cNvSpPr>
            <a:spLocks noChangeArrowheads="1"/>
          </p:cNvSpPr>
          <p:nvPr/>
        </p:nvSpPr>
        <p:spPr bwMode="auto">
          <a:xfrm>
            <a:off x="3268663" y="2120900"/>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1</a:t>
            </a:r>
          </a:p>
        </p:txBody>
      </p:sp>
      <p:sp>
        <p:nvSpPr>
          <p:cNvPr id="10" name="Rectangle 66">
            <a:extLst>
              <a:ext uri="{FF2B5EF4-FFF2-40B4-BE49-F238E27FC236}">
                <a16:creationId xmlns:a16="http://schemas.microsoft.com/office/drawing/2014/main" id="{D6AB3BE8-9D3B-BE80-7BC4-A4D484AE5C84}"/>
              </a:ext>
            </a:extLst>
          </p:cNvPr>
          <p:cNvSpPr>
            <a:spLocks noChangeArrowheads="1"/>
          </p:cNvSpPr>
          <p:nvPr/>
        </p:nvSpPr>
        <p:spPr bwMode="auto">
          <a:xfrm>
            <a:off x="4837113" y="1811338"/>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cc=0</a:t>
            </a:r>
          </a:p>
        </p:txBody>
      </p:sp>
      <p:sp>
        <p:nvSpPr>
          <p:cNvPr id="11" name="Rectangle 66">
            <a:extLst>
              <a:ext uri="{FF2B5EF4-FFF2-40B4-BE49-F238E27FC236}">
                <a16:creationId xmlns:a16="http://schemas.microsoft.com/office/drawing/2014/main" id="{A358D9E2-C936-0945-F48C-F17F2531BAF7}"/>
              </a:ext>
            </a:extLst>
          </p:cNvPr>
          <p:cNvSpPr>
            <a:spLocks noChangeArrowheads="1"/>
          </p:cNvSpPr>
          <p:nvPr/>
        </p:nvSpPr>
        <p:spPr bwMode="auto">
          <a:xfrm>
            <a:off x="4756150" y="2282825"/>
            <a:ext cx="1341438"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lcost=4</a:t>
            </a:r>
          </a:p>
          <a:p>
            <a:pPr>
              <a:spcBef>
                <a:spcPct val="50000"/>
              </a:spcBef>
              <a:buClr>
                <a:schemeClr val="accent1"/>
              </a:buClr>
              <a:buSzPct val="65000"/>
              <a:buFont typeface="Wingdings" panose="05000000000000000000" pitchFamily="2" charset="2"/>
              <a:buNone/>
            </a:pPr>
            <a:endParaRPr lang="en-US" altLang="zh-CN" sz="2000">
              <a:solidFill>
                <a:srgbClr val="0000FF"/>
              </a:solidFill>
            </a:endParaRPr>
          </a:p>
        </p:txBody>
      </p:sp>
      <p:sp>
        <p:nvSpPr>
          <p:cNvPr id="12" name="Rectangle 66">
            <a:extLst>
              <a:ext uri="{FF2B5EF4-FFF2-40B4-BE49-F238E27FC236}">
                <a16:creationId xmlns:a16="http://schemas.microsoft.com/office/drawing/2014/main" id="{DD100E7F-4649-DFCB-2F0E-F3CF88912794}"/>
              </a:ext>
            </a:extLst>
          </p:cNvPr>
          <p:cNvSpPr>
            <a:spLocks noChangeArrowheads="1"/>
          </p:cNvSpPr>
          <p:nvPr/>
        </p:nvSpPr>
        <p:spPr bwMode="auto">
          <a:xfrm>
            <a:off x="4765675" y="2043113"/>
            <a:ext cx="1339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rcost=4</a:t>
            </a:r>
          </a:p>
        </p:txBody>
      </p:sp>
      <p:sp>
        <p:nvSpPr>
          <p:cNvPr id="13" name="Rectangle 66">
            <a:extLst>
              <a:ext uri="{FF2B5EF4-FFF2-40B4-BE49-F238E27FC236}">
                <a16:creationId xmlns:a16="http://schemas.microsoft.com/office/drawing/2014/main" id="{26CDF4EF-66E0-1EEF-F98C-67A3D823C2BB}"/>
              </a:ext>
            </a:extLst>
          </p:cNvPr>
          <p:cNvSpPr>
            <a:spLocks noChangeArrowheads="1"/>
          </p:cNvSpPr>
          <p:nvPr/>
        </p:nvSpPr>
        <p:spPr bwMode="auto">
          <a:xfrm>
            <a:off x="4935538" y="2952750"/>
            <a:ext cx="10604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cc=1</a:t>
            </a:r>
          </a:p>
        </p:txBody>
      </p:sp>
      <p:sp>
        <p:nvSpPr>
          <p:cNvPr id="14" name="Rectangle 66">
            <a:extLst>
              <a:ext uri="{FF2B5EF4-FFF2-40B4-BE49-F238E27FC236}">
                <a16:creationId xmlns:a16="http://schemas.microsoft.com/office/drawing/2014/main" id="{AFED73EA-60D0-4327-2E8F-3193E5C1FD60}"/>
              </a:ext>
            </a:extLst>
          </p:cNvPr>
          <p:cNvSpPr>
            <a:spLocks noChangeArrowheads="1"/>
          </p:cNvSpPr>
          <p:nvPr/>
        </p:nvSpPr>
        <p:spPr bwMode="auto">
          <a:xfrm>
            <a:off x="4932363" y="3375025"/>
            <a:ext cx="1339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lcost=</a:t>
            </a:r>
            <a:r>
              <a:rPr lang="en-US" altLang="zh-CN" sz="1600">
                <a:solidFill>
                  <a:srgbClr val="FF0000"/>
                </a:solidFill>
              </a:rPr>
              <a:t>4</a:t>
            </a:r>
          </a:p>
        </p:txBody>
      </p:sp>
      <p:sp>
        <p:nvSpPr>
          <p:cNvPr id="15" name="Rectangle 66">
            <a:extLst>
              <a:ext uri="{FF2B5EF4-FFF2-40B4-BE49-F238E27FC236}">
                <a16:creationId xmlns:a16="http://schemas.microsoft.com/office/drawing/2014/main" id="{C426D8A4-20F9-EB00-BE8E-02FA80F04FA9}"/>
              </a:ext>
            </a:extLst>
          </p:cNvPr>
          <p:cNvSpPr>
            <a:spLocks noChangeArrowheads="1"/>
          </p:cNvSpPr>
          <p:nvPr/>
        </p:nvSpPr>
        <p:spPr bwMode="auto">
          <a:xfrm>
            <a:off x="7759700" y="3106738"/>
            <a:ext cx="10604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cc=10</a:t>
            </a:r>
          </a:p>
        </p:txBody>
      </p:sp>
      <p:sp>
        <p:nvSpPr>
          <p:cNvPr id="16" name="Rectangle 66">
            <a:extLst>
              <a:ext uri="{FF2B5EF4-FFF2-40B4-BE49-F238E27FC236}">
                <a16:creationId xmlns:a16="http://schemas.microsoft.com/office/drawing/2014/main" id="{B4C974C8-FE0A-5605-38B6-1016CE7C88AB}"/>
              </a:ext>
            </a:extLst>
          </p:cNvPr>
          <p:cNvSpPr>
            <a:spLocks noChangeArrowheads="1"/>
          </p:cNvSpPr>
          <p:nvPr/>
        </p:nvSpPr>
        <p:spPr bwMode="auto">
          <a:xfrm>
            <a:off x="7751763" y="3344863"/>
            <a:ext cx="102552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rcost=3 lcost=13</a:t>
            </a:r>
          </a:p>
        </p:txBody>
      </p:sp>
      <p:sp>
        <p:nvSpPr>
          <p:cNvPr id="17" name="Rectangle 66">
            <a:extLst>
              <a:ext uri="{FF2B5EF4-FFF2-40B4-BE49-F238E27FC236}">
                <a16:creationId xmlns:a16="http://schemas.microsoft.com/office/drawing/2014/main" id="{9B7DEA70-99C1-DF23-E245-4C55786E2540}"/>
              </a:ext>
            </a:extLst>
          </p:cNvPr>
          <p:cNvSpPr>
            <a:spLocks noChangeArrowheads="1"/>
          </p:cNvSpPr>
          <p:nvPr/>
        </p:nvSpPr>
        <p:spPr bwMode="auto">
          <a:xfrm>
            <a:off x="495300" y="2728913"/>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cc=4</a:t>
            </a:r>
          </a:p>
        </p:txBody>
      </p:sp>
      <p:sp>
        <p:nvSpPr>
          <p:cNvPr id="18" name="Rectangle 66">
            <a:extLst>
              <a:ext uri="{FF2B5EF4-FFF2-40B4-BE49-F238E27FC236}">
                <a16:creationId xmlns:a16="http://schemas.microsoft.com/office/drawing/2014/main" id="{3B43470A-4BFC-0DF1-8965-899954982AB2}"/>
              </a:ext>
            </a:extLst>
          </p:cNvPr>
          <p:cNvSpPr>
            <a:spLocks noChangeArrowheads="1"/>
          </p:cNvSpPr>
          <p:nvPr/>
        </p:nvSpPr>
        <p:spPr bwMode="auto">
          <a:xfrm>
            <a:off x="371475" y="3186113"/>
            <a:ext cx="1339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lcost=7</a:t>
            </a:r>
          </a:p>
        </p:txBody>
      </p:sp>
      <p:sp>
        <p:nvSpPr>
          <p:cNvPr id="19" name="矩形 18">
            <a:extLst>
              <a:ext uri="{FF2B5EF4-FFF2-40B4-BE49-F238E27FC236}">
                <a16:creationId xmlns:a16="http://schemas.microsoft.com/office/drawing/2014/main" id="{2DA12FBC-0FFA-FDEF-3CAF-52F86B5638BE}"/>
              </a:ext>
            </a:extLst>
          </p:cNvPr>
          <p:cNvSpPr>
            <a:spLocks noChangeArrowheads="1"/>
          </p:cNvSpPr>
          <p:nvPr/>
        </p:nvSpPr>
        <p:spPr bwMode="auto">
          <a:xfrm>
            <a:off x="355600" y="2936875"/>
            <a:ext cx="863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rcost=3</a:t>
            </a:r>
          </a:p>
        </p:txBody>
      </p:sp>
      <p:sp>
        <p:nvSpPr>
          <p:cNvPr id="20" name="Rectangle 66">
            <a:extLst>
              <a:ext uri="{FF2B5EF4-FFF2-40B4-BE49-F238E27FC236}">
                <a16:creationId xmlns:a16="http://schemas.microsoft.com/office/drawing/2014/main" id="{4E2FA5C6-4F3F-B11B-BB74-2ADAB4D16C0A}"/>
              </a:ext>
            </a:extLst>
          </p:cNvPr>
          <p:cNvSpPr>
            <a:spLocks noChangeArrowheads="1"/>
          </p:cNvSpPr>
          <p:nvPr/>
        </p:nvSpPr>
        <p:spPr bwMode="auto">
          <a:xfrm>
            <a:off x="4929188" y="3144838"/>
            <a:ext cx="1339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rcost=3</a:t>
            </a:r>
          </a:p>
        </p:txBody>
      </p:sp>
      <p:sp>
        <p:nvSpPr>
          <p:cNvPr id="21" name="Oval 42">
            <a:extLst>
              <a:ext uri="{FF2B5EF4-FFF2-40B4-BE49-F238E27FC236}">
                <a16:creationId xmlns:a16="http://schemas.microsoft.com/office/drawing/2014/main" id="{971B9769-3A2B-6653-1794-0CE30B4964CD}"/>
              </a:ext>
            </a:extLst>
          </p:cNvPr>
          <p:cNvSpPr>
            <a:spLocks noChangeArrowheads="1"/>
          </p:cNvSpPr>
          <p:nvPr/>
        </p:nvSpPr>
        <p:spPr bwMode="auto">
          <a:xfrm>
            <a:off x="3382963" y="3175000"/>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2</a:t>
            </a:r>
          </a:p>
        </p:txBody>
      </p:sp>
      <p:sp>
        <p:nvSpPr>
          <p:cNvPr id="60" name="Rectangle 66">
            <a:extLst>
              <a:ext uri="{FF2B5EF4-FFF2-40B4-BE49-F238E27FC236}">
                <a16:creationId xmlns:a16="http://schemas.microsoft.com/office/drawing/2014/main" id="{3333B145-903F-1064-7471-05EA9DC60590}"/>
              </a:ext>
            </a:extLst>
          </p:cNvPr>
          <p:cNvSpPr>
            <a:spLocks noChangeArrowheads="1"/>
          </p:cNvSpPr>
          <p:nvPr/>
        </p:nvSpPr>
        <p:spPr bwMode="auto">
          <a:xfrm>
            <a:off x="3079750" y="3573463"/>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cc=2</a:t>
            </a:r>
          </a:p>
        </p:txBody>
      </p:sp>
      <p:sp>
        <p:nvSpPr>
          <p:cNvPr id="61" name="Rectangle 66">
            <a:extLst>
              <a:ext uri="{FF2B5EF4-FFF2-40B4-BE49-F238E27FC236}">
                <a16:creationId xmlns:a16="http://schemas.microsoft.com/office/drawing/2014/main" id="{22BD2D2A-90BF-423D-1A3E-1058993FD0C8}"/>
              </a:ext>
            </a:extLst>
          </p:cNvPr>
          <p:cNvSpPr>
            <a:spLocks noChangeArrowheads="1"/>
          </p:cNvSpPr>
          <p:nvPr/>
        </p:nvSpPr>
        <p:spPr bwMode="auto">
          <a:xfrm>
            <a:off x="3014663" y="3771900"/>
            <a:ext cx="912812"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rcost=2 lcost=</a:t>
            </a:r>
            <a:r>
              <a:rPr lang="en-US" altLang="zh-CN" sz="1600">
                <a:solidFill>
                  <a:srgbClr val="FF0000"/>
                </a:solidFill>
              </a:rPr>
              <a:t>4</a:t>
            </a:r>
          </a:p>
        </p:txBody>
      </p:sp>
      <p:sp>
        <p:nvSpPr>
          <p:cNvPr id="62" name="Rectangle 66">
            <a:extLst>
              <a:ext uri="{FF2B5EF4-FFF2-40B4-BE49-F238E27FC236}">
                <a16:creationId xmlns:a16="http://schemas.microsoft.com/office/drawing/2014/main" id="{8F0A94A3-AB84-ED34-2808-49902B0F8C69}"/>
              </a:ext>
            </a:extLst>
          </p:cNvPr>
          <p:cNvSpPr>
            <a:spLocks noChangeArrowheads="1"/>
          </p:cNvSpPr>
          <p:nvPr/>
        </p:nvSpPr>
        <p:spPr bwMode="auto">
          <a:xfrm>
            <a:off x="5240338" y="3668713"/>
            <a:ext cx="10604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cc=3</a:t>
            </a:r>
          </a:p>
        </p:txBody>
      </p:sp>
      <p:sp>
        <p:nvSpPr>
          <p:cNvPr id="63" name="Rectangle 66">
            <a:extLst>
              <a:ext uri="{FF2B5EF4-FFF2-40B4-BE49-F238E27FC236}">
                <a16:creationId xmlns:a16="http://schemas.microsoft.com/office/drawing/2014/main" id="{C4AC1C6E-9C31-2A1C-6239-2C711D96AF1A}"/>
              </a:ext>
            </a:extLst>
          </p:cNvPr>
          <p:cNvSpPr>
            <a:spLocks noChangeArrowheads="1"/>
          </p:cNvSpPr>
          <p:nvPr/>
        </p:nvSpPr>
        <p:spPr bwMode="auto">
          <a:xfrm>
            <a:off x="5219700" y="3854450"/>
            <a:ext cx="8794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rcost=2lcost=5</a:t>
            </a:r>
          </a:p>
        </p:txBody>
      </p:sp>
      <p:sp>
        <p:nvSpPr>
          <p:cNvPr id="64" name="Oval 41">
            <a:extLst>
              <a:ext uri="{FF2B5EF4-FFF2-40B4-BE49-F238E27FC236}">
                <a16:creationId xmlns:a16="http://schemas.microsoft.com/office/drawing/2014/main" id="{A773E691-E9BF-9F0F-7F7A-4424AED5DBC2}"/>
              </a:ext>
            </a:extLst>
          </p:cNvPr>
          <p:cNvSpPr>
            <a:spLocks noChangeArrowheads="1"/>
          </p:cNvSpPr>
          <p:nvPr/>
        </p:nvSpPr>
        <p:spPr bwMode="auto">
          <a:xfrm>
            <a:off x="3025775" y="4467225"/>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3</a:t>
            </a:r>
          </a:p>
        </p:txBody>
      </p:sp>
      <p:sp>
        <p:nvSpPr>
          <p:cNvPr id="65" name="Rectangle 82">
            <a:extLst>
              <a:ext uri="{FF2B5EF4-FFF2-40B4-BE49-F238E27FC236}">
                <a16:creationId xmlns:a16="http://schemas.microsoft.com/office/drawing/2014/main" id="{E63EFE03-0BB1-FE73-3616-50AF610F99AE}"/>
              </a:ext>
            </a:extLst>
          </p:cNvPr>
          <p:cNvSpPr>
            <a:spLocks noChangeArrowheads="1"/>
          </p:cNvSpPr>
          <p:nvPr/>
        </p:nvSpPr>
        <p:spPr bwMode="auto">
          <a:xfrm>
            <a:off x="3152775" y="5516563"/>
            <a:ext cx="1419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bestc=13</a:t>
            </a:r>
          </a:p>
        </p:txBody>
      </p:sp>
      <p:sp>
        <p:nvSpPr>
          <p:cNvPr id="66" name="Oval 43">
            <a:extLst>
              <a:ext uri="{FF2B5EF4-FFF2-40B4-BE49-F238E27FC236}">
                <a16:creationId xmlns:a16="http://schemas.microsoft.com/office/drawing/2014/main" id="{A25B4DC9-A739-AF17-77C2-0113C102A5F2}"/>
              </a:ext>
            </a:extLst>
          </p:cNvPr>
          <p:cNvSpPr>
            <a:spLocks noChangeArrowheads="1"/>
          </p:cNvSpPr>
          <p:nvPr/>
        </p:nvSpPr>
        <p:spPr bwMode="auto">
          <a:xfrm>
            <a:off x="4572000" y="4516438"/>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4</a:t>
            </a:r>
          </a:p>
        </p:txBody>
      </p:sp>
      <p:sp>
        <p:nvSpPr>
          <p:cNvPr id="67" name="Rectangle 82">
            <a:extLst>
              <a:ext uri="{FF2B5EF4-FFF2-40B4-BE49-F238E27FC236}">
                <a16:creationId xmlns:a16="http://schemas.microsoft.com/office/drawing/2014/main" id="{2C63954C-7A6E-6615-949E-3206992C46D4}"/>
              </a:ext>
            </a:extLst>
          </p:cNvPr>
          <p:cNvSpPr>
            <a:spLocks noChangeArrowheads="1"/>
          </p:cNvSpPr>
          <p:nvPr/>
        </p:nvSpPr>
        <p:spPr bwMode="auto">
          <a:xfrm>
            <a:off x="4619625" y="5516563"/>
            <a:ext cx="1419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FF0000"/>
                </a:solidFill>
              </a:rPr>
              <a:t>bestc=8</a:t>
            </a:r>
          </a:p>
        </p:txBody>
      </p:sp>
      <p:sp>
        <p:nvSpPr>
          <p:cNvPr id="68" name="Oval 46">
            <a:extLst>
              <a:ext uri="{FF2B5EF4-FFF2-40B4-BE49-F238E27FC236}">
                <a16:creationId xmlns:a16="http://schemas.microsoft.com/office/drawing/2014/main" id="{59DFC0C8-FBA5-2DFC-B965-EBC327F1D886}"/>
              </a:ext>
            </a:extLst>
          </p:cNvPr>
          <p:cNvSpPr>
            <a:spLocks noChangeArrowheads="1"/>
          </p:cNvSpPr>
          <p:nvPr/>
        </p:nvSpPr>
        <p:spPr bwMode="auto">
          <a:xfrm>
            <a:off x="1374775" y="2846388"/>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sp>
        <p:nvSpPr>
          <p:cNvPr id="69" name="Rectangle 66">
            <a:extLst>
              <a:ext uri="{FF2B5EF4-FFF2-40B4-BE49-F238E27FC236}">
                <a16:creationId xmlns:a16="http://schemas.microsoft.com/office/drawing/2014/main" id="{4059D618-66E8-6D7E-2832-2BE78FD65342}"/>
              </a:ext>
            </a:extLst>
          </p:cNvPr>
          <p:cNvSpPr>
            <a:spLocks noChangeArrowheads="1"/>
          </p:cNvSpPr>
          <p:nvPr/>
        </p:nvSpPr>
        <p:spPr bwMode="auto">
          <a:xfrm>
            <a:off x="103188" y="3573463"/>
            <a:ext cx="10604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cc=5</a:t>
            </a:r>
          </a:p>
        </p:txBody>
      </p:sp>
      <p:sp>
        <p:nvSpPr>
          <p:cNvPr id="70" name="Rectangle 66">
            <a:extLst>
              <a:ext uri="{FF2B5EF4-FFF2-40B4-BE49-F238E27FC236}">
                <a16:creationId xmlns:a16="http://schemas.microsoft.com/office/drawing/2014/main" id="{744A3939-E55F-BC5A-D4BB-02BD5782904D}"/>
              </a:ext>
            </a:extLst>
          </p:cNvPr>
          <p:cNvSpPr>
            <a:spLocks noChangeArrowheads="1"/>
          </p:cNvSpPr>
          <p:nvPr/>
        </p:nvSpPr>
        <p:spPr bwMode="auto">
          <a:xfrm>
            <a:off x="-20638" y="4030663"/>
            <a:ext cx="1339851"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lcost=7</a:t>
            </a:r>
          </a:p>
        </p:txBody>
      </p:sp>
      <p:sp>
        <p:nvSpPr>
          <p:cNvPr id="71" name="矩形 70">
            <a:extLst>
              <a:ext uri="{FF2B5EF4-FFF2-40B4-BE49-F238E27FC236}">
                <a16:creationId xmlns:a16="http://schemas.microsoft.com/office/drawing/2014/main" id="{AD1B8BCB-C994-F042-0485-B08C55CC1069}"/>
              </a:ext>
            </a:extLst>
          </p:cNvPr>
          <p:cNvSpPr>
            <a:spLocks noChangeArrowheads="1"/>
          </p:cNvSpPr>
          <p:nvPr/>
        </p:nvSpPr>
        <p:spPr bwMode="auto">
          <a:xfrm>
            <a:off x="-36513" y="3781425"/>
            <a:ext cx="863601"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rcost=2</a:t>
            </a:r>
          </a:p>
        </p:txBody>
      </p:sp>
      <p:sp>
        <p:nvSpPr>
          <p:cNvPr id="72" name="Rectangle 66">
            <a:extLst>
              <a:ext uri="{FF2B5EF4-FFF2-40B4-BE49-F238E27FC236}">
                <a16:creationId xmlns:a16="http://schemas.microsoft.com/office/drawing/2014/main" id="{B33FF920-F9CA-416C-3C8A-381F0371E098}"/>
              </a:ext>
            </a:extLst>
          </p:cNvPr>
          <p:cNvSpPr>
            <a:spLocks noChangeArrowheads="1"/>
          </p:cNvSpPr>
          <p:nvPr/>
        </p:nvSpPr>
        <p:spPr bwMode="auto">
          <a:xfrm>
            <a:off x="2212975" y="3584575"/>
            <a:ext cx="10604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cc=5</a:t>
            </a:r>
          </a:p>
        </p:txBody>
      </p:sp>
      <p:sp>
        <p:nvSpPr>
          <p:cNvPr id="73" name="矩形 72">
            <a:extLst>
              <a:ext uri="{FF2B5EF4-FFF2-40B4-BE49-F238E27FC236}">
                <a16:creationId xmlns:a16="http://schemas.microsoft.com/office/drawing/2014/main" id="{8BA82C14-8752-B92E-1ED4-A7D2D543EDEE}"/>
              </a:ext>
            </a:extLst>
          </p:cNvPr>
          <p:cNvSpPr>
            <a:spLocks noChangeArrowheads="1"/>
          </p:cNvSpPr>
          <p:nvPr/>
        </p:nvSpPr>
        <p:spPr bwMode="auto">
          <a:xfrm>
            <a:off x="2073275" y="3792538"/>
            <a:ext cx="865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rcost=2</a:t>
            </a:r>
          </a:p>
        </p:txBody>
      </p:sp>
      <p:sp>
        <p:nvSpPr>
          <p:cNvPr id="74" name="Rectangle 66">
            <a:extLst>
              <a:ext uri="{FF2B5EF4-FFF2-40B4-BE49-F238E27FC236}">
                <a16:creationId xmlns:a16="http://schemas.microsoft.com/office/drawing/2014/main" id="{308F1B33-DA1B-0C1A-8378-8115915FDF74}"/>
              </a:ext>
            </a:extLst>
          </p:cNvPr>
          <p:cNvSpPr>
            <a:spLocks noChangeArrowheads="1"/>
          </p:cNvSpPr>
          <p:nvPr/>
        </p:nvSpPr>
        <p:spPr bwMode="auto">
          <a:xfrm>
            <a:off x="2084388" y="4043363"/>
            <a:ext cx="1339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lcost=7</a:t>
            </a:r>
          </a:p>
        </p:txBody>
      </p:sp>
      <p:sp>
        <p:nvSpPr>
          <p:cNvPr id="75" name="Oval 46">
            <a:extLst>
              <a:ext uri="{FF2B5EF4-FFF2-40B4-BE49-F238E27FC236}">
                <a16:creationId xmlns:a16="http://schemas.microsoft.com/office/drawing/2014/main" id="{98E2454C-F976-F99D-AFB1-CDA9B8FA6136}"/>
              </a:ext>
            </a:extLst>
          </p:cNvPr>
          <p:cNvSpPr>
            <a:spLocks noChangeArrowheads="1"/>
          </p:cNvSpPr>
          <p:nvPr/>
        </p:nvSpPr>
        <p:spPr bwMode="auto">
          <a:xfrm>
            <a:off x="0" y="4448175"/>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6</a:t>
            </a:r>
          </a:p>
        </p:txBody>
      </p:sp>
      <p:sp>
        <p:nvSpPr>
          <p:cNvPr id="76" name="Rectangle 82">
            <a:extLst>
              <a:ext uri="{FF2B5EF4-FFF2-40B4-BE49-F238E27FC236}">
                <a16:creationId xmlns:a16="http://schemas.microsoft.com/office/drawing/2014/main" id="{C48E8F13-5485-71D3-3870-9D4CF5C0F76B}"/>
              </a:ext>
            </a:extLst>
          </p:cNvPr>
          <p:cNvSpPr>
            <a:spLocks noChangeArrowheads="1"/>
          </p:cNvSpPr>
          <p:nvPr/>
        </p:nvSpPr>
        <p:spPr bwMode="auto">
          <a:xfrm>
            <a:off x="107950" y="5516563"/>
            <a:ext cx="1617663"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cost=17&gt;bestc</a:t>
            </a:r>
          </a:p>
          <a:p>
            <a:pPr>
              <a:spcBef>
                <a:spcPct val="50000"/>
              </a:spcBef>
              <a:buClr>
                <a:schemeClr val="accent1"/>
              </a:buClr>
              <a:buSzPct val="65000"/>
              <a:buFont typeface="Wingdings" panose="05000000000000000000" pitchFamily="2" charset="2"/>
              <a:buNone/>
            </a:pPr>
            <a:r>
              <a:rPr lang="zh-CN" altLang="en-US" sz="1600">
                <a:solidFill>
                  <a:srgbClr val="0000FF"/>
                </a:solidFill>
              </a:rPr>
              <a:t>无需更新</a:t>
            </a:r>
            <a:r>
              <a:rPr lang="en-US" altLang="zh-CN" sz="1600">
                <a:solidFill>
                  <a:srgbClr val="0000FF"/>
                </a:solidFill>
              </a:rPr>
              <a:t>bestc</a:t>
            </a:r>
          </a:p>
        </p:txBody>
      </p:sp>
      <p:sp>
        <p:nvSpPr>
          <p:cNvPr id="77" name="Oval 46">
            <a:extLst>
              <a:ext uri="{FF2B5EF4-FFF2-40B4-BE49-F238E27FC236}">
                <a16:creationId xmlns:a16="http://schemas.microsoft.com/office/drawing/2014/main" id="{5D06E5A0-25E7-BAA8-5CEC-BD79BD923F32}"/>
              </a:ext>
            </a:extLst>
          </p:cNvPr>
          <p:cNvSpPr>
            <a:spLocks noChangeArrowheads="1"/>
          </p:cNvSpPr>
          <p:nvPr/>
        </p:nvSpPr>
        <p:spPr bwMode="auto">
          <a:xfrm>
            <a:off x="1563688" y="4438650"/>
            <a:ext cx="377825" cy="377825"/>
          </a:xfrm>
          <a:prstGeom prst="ellipse">
            <a:avLst/>
          </a:prstGeom>
          <a:solidFill>
            <a:srgbClr val="00FFFF"/>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7</a:t>
            </a:r>
          </a:p>
        </p:txBody>
      </p:sp>
      <p:sp>
        <p:nvSpPr>
          <p:cNvPr id="78" name="Rectangle 82">
            <a:extLst>
              <a:ext uri="{FF2B5EF4-FFF2-40B4-BE49-F238E27FC236}">
                <a16:creationId xmlns:a16="http://schemas.microsoft.com/office/drawing/2014/main" id="{8B430DD8-065C-21DB-68F6-023082A33CBD}"/>
              </a:ext>
            </a:extLst>
          </p:cNvPr>
          <p:cNvSpPr>
            <a:spLocks noChangeArrowheads="1"/>
          </p:cNvSpPr>
          <p:nvPr/>
        </p:nvSpPr>
        <p:spPr bwMode="auto">
          <a:xfrm>
            <a:off x="1697038" y="5516563"/>
            <a:ext cx="1617662"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0000FF"/>
                </a:solidFill>
              </a:rPr>
              <a:t>cost=8=bestc</a:t>
            </a:r>
          </a:p>
          <a:p>
            <a:pPr>
              <a:spcBef>
                <a:spcPct val="50000"/>
              </a:spcBef>
              <a:buClr>
                <a:schemeClr val="accent1"/>
              </a:buClr>
              <a:buSzPct val="65000"/>
              <a:buFont typeface="Wingdings" panose="05000000000000000000" pitchFamily="2" charset="2"/>
              <a:buNone/>
            </a:pPr>
            <a:r>
              <a:rPr lang="zh-CN" altLang="en-US" sz="1600">
                <a:solidFill>
                  <a:srgbClr val="0000FF"/>
                </a:solidFill>
              </a:rPr>
              <a:t>无需更新</a:t>
            </a:r>
            <a:r>
              <a:rPr lang="en-US" altLang="zh-CN" sz="1600">
                <a:solidFill>
                  <a:srgbClr val="0000FF"/>
                </a:solidFill>
              </a:rPr>
              <a:t>bestc</a:t>
            </a:r>
          </a:p>
        </p:txBody>
      </p:sp>
      <p:pic>
        <p:nvPicPr>
          <p:cNvPr id="79" name="图形 78">
            <a:extLst>
              <a:ext uri="{FF2B5EF4-FFF2-40B4-BE49-F238E27FC236}">
                <a16:creationId xmlns:a16="http://schemas.microsoft.com/office/drawing/2014/main" id="{D98E08F2-D636-0790-6C10-BAF033037A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6775" y="2698750"/>
            <a:ext cx="46037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Rectangle 66">
            <a:extLst>
              <a:ext uri="{FF2B5EF4-FFF2-40B4-BE49-F238E27FC236}">
                <a16:creationId xmlns:a16="http://schemas.microsoft.com/office/drawing/2014/main" id="{84D96ED9-6E4C-BCE7-7C4C-FDD541E1C1EE}"/>
              </a:ext>
            </a:extLst>
          </p:cNvPr>
          <p:cNvSpPr>
            <a:spLocks noChangeArrowheads="1"/>
          </p:cNvSpPr>
          <p:nvPr/>
        </p:nvSpPr>
        <p:spPr bwMode="auto">
          <a:xfrm>
            <a:off x="6640513" y="5629275"/>
            <a:ext cx="1676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50000"/>
              </a:spcBef>
              <a:buClr>
                <a:schemeClr val="accent1"/>
              </a:buClr>
              <a:buSzPct val="65000"/>
              <a:buFont typeface="Wingdings" panose="05000000000000000000" pitchFamily="2" charset="2"/>
              <a:buNone/>
            </a:pPr>
            <a:r>
              <a:rPr lang="en-US" altLang="zh-CN" sz="1600">
                <a:solidFill>
                  <a:srgbClr val="FF3300"/>
                </a:solidFill>
              </a:rPr>
              <a:t>lcost</a:t>
            </a:r>
            <a:r>
              <a:rPr lang="zh-CN" altLang="en-US" sz="1600">
                <a:solidFill>
                  <a:srgbClr val="FF3300"/>
                </a:solidFill>
              </a:rPr>
              <a:t>大于</a:t>
            </a:r>
            <a:r>
              <a:rPr lang="en-US" altLang="zh-CN" sz="1600">
                <a:solidFill>
                  <a:srgbClr val="FF3300"/>
                </a:solidFill>
              </a:rPr>
              <a:t>bestc</a:t>
            </a:r>
            <a:r>
              <a:rPr lang="zh-CN" altLang="en-US" sz="1600">
                <a:solidFill>
                  <a:srgbClr val="FF3300"/>
                </a:solidFill>
              </a:rPr>
              <a:t>的情况被剪枝</a:t>
            </a:r>
            <a:endParaRPr lang="en-US" altLang="zh-CN" sz="1600">
              <a:solidFill>
                <a:srgbClr val="0000FF"/>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6"/>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7"/>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8"/>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5"/>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6"/>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7"/>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8"/>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7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p:bldP spid="13" grpId="0"/>
      <p:bldP spid="14" grpId="0"/>
      <p:bldP spid="15" grpId="0"/>
      <p:bldP spid="16" grpId="0"/>
      <p:bldP spid="17" grpId="0"/>
      <p:bldP spid="18" grpId="0"/>
      <p:bldP spid="19" grpId="0"/>
      <p:bldP spid="20" grpId="0"/>
      <p:bldP spid="21" grpId="0" animBg="1"/>
      <p:bldP spid="60" grpId="0"/>
      <p:bldP spid="61" grpId="0"/>
      <p:bldP spid="62" grpId="0"/>
      <p:bldP spid="63" grpId="0"/>
      <p:bldP spid="64" grpId="0" animBg="1"/>
      <p:bldP spid="65" grpId="0"/>
      <p:bldP spid="66" grpId="0" animBg="1"/>
      <p:bldP spid="67" grpId="0"/>
      <p:bldP spid="68" grpId="0" animBg="1"/>
      <p:bldP spid="69" grpId="0"/>
      <p:bldP spid="70" grpId="0"/>
      <p:bldP spid="71" grpId="0"/>
      <p:bldP spid="72" grpId="0"/>
      <p:bldP spid="73" grpId="0"/>
      <p:bldP spid="74" grpId="0"/>
      <p:bldP spid="75" grpId="0" animBg="1"/>
      <p:bldP spid="76" grpId="0"/>
      <p:bldP spid="77" grpId="0" animBg="1"/>
      <p:bldP spid="78" grpId="0"/>
      <p:bldP spid="8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DD8060F3-0DF2-4024-8CBB-C566BE1FD234}"/>
              </a:ext>
            </a:extLst>
          </p:cNvPr>
          <p:cNvSpPr>
            <a:spLocks noGrp="1" noChangeArrowheads="1"/>
          </p:cNvSpPr>
          <p:nvPr>
            <p:ph idx="1"/>
          </p:nvPr>
        </p:nvSpPr>
        <p:spPr>
          <a:xfrm>
            <a:off x="428625" y="571500"/>
            <a:ext cx="8472488" cy="5391150"/>
          </a:xfrm>
        </p:spPr>
        <p:txBody>
          <a:bodyPr/>
          <a:lstStyle/>
          <a:p>
            <a:pPr>
              <a:lnSpc>
                <a:spcPct val="150000"/>
              </a:lnSpc>
              <a:defRPr/>
            </a:pPr>
            <a:r>
              <a:rPr lang="zh-CN" altLang="en-US" sz="2800" b="1">
                <a:latin typeface="+mj-ea"/>
                <a:ea typeface="+mj-ea"/>
              </a:rPr>
              <a:t>通过应用范例学习分支限界法的设计策略。</a:t>
            </a: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1</a:t>
            </a:r>
            <a:r>
              <a:rPr lang="zh-CN" altLang="en-US" sz="2800" b="1">
                <a:latin typeface="+mj-ea"/>
                <a:ea typeface="+mj-ea"/>
              </a:rPr>
              <a:t>）装载问题；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2</a:t>
            </a:r>
            <a:r>
              <a:rPr lang="zh-CN" altLang="en-US" sz="2800" b="1">
                <a:latin typeface="+mj-ea"/>
                <a:ea typeface="+mj-ea"/>
              </a:rPr>
              <a:t>）</a:t>
            </a:r>
            <a:r>
              <a:rPr lang="en-US" altLang="zh-CN" sz="2800" b="1">
                <a:latin typeface="+mj-ea"/>
                <a:ea typeface="+mj-ea"/>
              </a:rPr>
              <a:t>0-1</a:t>
            </a:r>
            <a:r>
              <a:rPr lang="zh-CN" altLang="en-US" sz="2800" b="1">
                <a:latin typeface="+mj-ea"/>
                <a:ea typeface="+mj-ea"/>
              </a:rPr>
              <a:t>背包问题；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3</a:t>
            </a:r>
            <a:r>
              <a:rPr lang="zh-CN" altLang="en-US" sz="2800" b="1">
                <a:latin typeface="+mj-ea"/>
                <a:ea typeface="+mj-ea"/>
              </a:rPr>
              <a:t>）最大团问题；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4</a:t>
            </a:r>
            <a:r>
              <a:rPr lang="zh-CN" altLang="en-US" sz="2800" b="1">
                <a:latin typeface="+mj-ea"/>
                <a:ea typeface="+mj-ea"/>
              </a:rPr>
              <a:t>）旅行售货员问题；</a:t>
            </a: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5</a:t>
            </a:r>
            <a:r>
              <a:rPr lang="zh-CN" altLang="en-US" sz="2800" b="1">
                <a:latin typeface="+mj-ea"/>
                <a:ea typeface="+mj-ea"/>
              </a:rPr>
              <a:t>）</a:t>
            </a:r>
            <a:r>
              <a:rPr lang="zh-CN" altLang="en-US" sz="2800" b="1">
                <a:solidFill>
                  <a:srgbClr val="FF0000"/>
                </a:solidFill>
                <a:latin typeface="+mj-ea"/>
                <a:ea typeface="+mj-ea"/>
              </a:rPr>
              <a:t>单源最短路问题</a:t>
            </a:r>
            <a:r>
              <a:rPr lang="zh-CN" altLang="en-US" sz="2800" b="1">
                <a:latin typeface="+mj-ea"/>
                <a:ea typeface="+mj-ea"/>
              </a:rPr>
              <a:t>；</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6</a:t>
            </a:r>
            <a:r>
              <a:rPr lang="zh-CN" altLang="en-US" sz="2800" b="1">
                <a:latin typeface="+mj-ea"/>
                <a:ea typeface="+mj-ea"/>
              </a:rPr>
              <a:t>）批处理作业调度问题</a:t>
            </a:r>
            <a:endParaRPr lang="zh-CN" altLang="en-US" sz="2800" b="1">
              <a:solidFill>
                <a:srgbClr val="FF0000"/>
              </a:solidFill>
              <a:latin typeface="+mj-ea"/>
              <a:ea typeface="+mj-ea"/>
            </a:endParaRPr>
          </a:p>
        </p:txBody>
      </p:sp>
      <p:sp>
        <p:nvSpPr>
          <p:cNvPr id="67587" name="灯片编号占位符 4">
            <a:extLst>
              <a:ext uri="{FF2B5EF4-FFF2-40B4-BE49-F238E27FC236}">
                <a16:creationId xmlns:a16="http://schemas.microsoft.com/office/drawing/2014/main" id="{85747ADA-61E3-4DEB-A61B-D665AAC99282}"/>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0E1783A-D8D7-4BBB-AA14-7F616EC88EF5}"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57</a:t>
            </a:fld>
            <a:endParaRPr lang="en-US" altLang="zh-CN" sz="1200">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a:extLst>
              <a:ext uri="{FF2B5EF4-FFF2-40B4-BE49-F238E27FC236}">
                <a16:creationId xmlns:a16="http://schemas.microsoft.com/office/drawing/2014/main" id="{0BFC0867-4478-4E3C-98EB-7D227B1E4E0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F63B4AE5-D8A7-4D8A-9C2E-DF54E955EA57}" type="slidenum">
              <a:rPr lang="zh-CN" altLang="en-US" sz="1200">
                <a:solidFill>
                  <a:schemeClr val="tx1"/>
                </a:solidFill>
                <a:latin typeface="微软雅黑" panose="020B0503020204020204" pitchFamily="34" charset="-122"/>
                <a:ea typeface="微软雅黑" panose="020B0503020204020204" pitchFamily="34" charset="-122"/>
              </a:rPr>
              <a:pPr/>
              <a:t>58</a:t>
            </a:fld>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68611" name="Rectangle 2">
            <a:extLst>
              <a:ext uri="{FF2B5EF4-FFF2-40B4-BE49-F238E27FC236}">
                <a16:creationId xmlns:a16="http://schemas.microsoft.com/office/drawing/2014/main" id="{5DE1B451-C3B4-4636-BCB1-1B1B04215025}"/>
              </a:ext>
            </a:extLst>
          </p:cNvPr>
          <p:cNvSpPr>
            <a:spLocks noGrp="1" noChangeArrowheads="1"/>
          </p:cNvSpPr>
          <p:nvPr>
            <p:ph type="title"/>
          </p:nvPr>
        </p:nvSpPr>
        <p:spPr/>
        <p:txBody>
          <a:bodyPr/>
          <a:lstStyle/>
          <a:p>
            <a:pPr>
              <a:defRPr/>
            </a:pPr>
            <a:r>
              <a:rPr lang="en-US" altLang="zh-CN" dirty="0">
                <a:latin typeface="+mj-ea"/>
              </a:rPr>
              <a:t>4.5 </a:t>
            </a:r>
            <a:r>
              <a:rPr lang="zh-CN" altLang="en-US" dirty="0">
                <a:latin typeface="+mj-ea"/>
              </a:rPr>
              <a:t>单源最短路径</a:t>
            </a:r>
            <a:r>
              <a:rPr lang="en-US" altLang="zh-CN" dirty="0">
                <a:latin typeface="+mj-ea"/>
              </a:rPr>
              <a:t> </a:t>
            </a:r>
            <a:endParaRPr lang="zh-CN" altLang="en-US" dirty="0">
              <a:latin typeface="+mj-ea"/>
            </a:endParaRPr>
          </a:p>
        </p:txBody>
      </p:sp>
      <p:sp>
        <p:nvSpPr>
          <p:cNvPr id="334851" name="Rectangle 3">
            <a:extLst>
              <a:ext uri="{FF2B5EF4-FFF2-40B4-BE49-F238E27FC236}">
                <a16:creationId xmlns:a16="http://schemas.microsoft.com/office/drawing/2014/main" id="{596C688C-9A6E-4024-8A8A-C930C7152E5A}"/>
              </a:ext>
            </a:extLst>
          </p:cNvPr>
          <p:cNvSpPr>
            <a:spLocks noGrp="1" noChangeArrowheads="1"/>
          </p:cNvSpPr>
          <p:nvPr>
            <p:ph idx="1"/>
          </p:nvPr>
        </p:nvSpPr>
        <p:spPr>
          <a:xfrm>
            <a:off x="468313" y="1484313"/>
            <a:ext cx="8229600" cy="4530725"/>
          </a:xfrm>
        </p:spPr>
        <p:txBody>
          <a:bodyPr/>
          <a:lstStyle/>
          <a:p>
            <a:pPr marL="0" indent="0">
              <a:lnSpc>
                <a:spcPct val="120000"/>
              </a:lnSpc>
              <a:buFont typeface="Wingdings" panose="05000000000000000000" pitchFamily="2" charset="2"/>
              <a:buNone/>
              <a:defRPr/>
            </a:pPr>
            <a:r>
              <a:rPr lang="zh-CN" altLang="en-US" sz="2400" b="1" dirty="0">
                <a:solidFill>
                  <a:schemeClr val="hlink"/>
                </a:solidFill>
                <a:latin typeface="+mj-ea"/>
                <a:ea typeface="+mj-ea"/>
                <a:cs typeface="Times New Roman" panose="02020603050405020304" pitchFamily="18" charset="0"/>
              </a:rPr>
              <a:t>单源最短路径问题：</a:t>
            </a:r>
            <a:endParaRPr lang="en-US" altLang="zh-CN" sz="2400" b="1" dirty="0">
              <a:solidFill>
                <a:schemeClr val="hlink"/>
              </a:solidFill>
              <a:latin typeface="+mj-ea"/>
              <a:ea typeface="+mj-ea"/>
              <a:cs typeface="Times New Roman" panose="02020603050405020304" pitchFamily="18" charset="0"/>
            </a:endParaRPr>
          </a:p>
          <a:p>
            <a:pPr marL="0" indent="0">
              <a:lnSpc>
                <a:spcPct val="120000"/>
              </a:lnSpc>
              <a:buFont typeface="Wingdings" panose="05000000000000000000" pitchFamily="2" charset="2"/>
              <a:buNone/>
              <a:defRPr/>
            </a:pPr>
            <a:r>
              <a:rPr lang="zh-CN" altLang="en-US" sz="2400" b="1" dirty="0">
                <a:latin typeface="+mj-ea"/>
                <a:ea typeface="+mj-ea"/>
                <a:cs typeface="Times New Roman" panose="02020603050405020304" pitchFamily="18" charset="0"/>
              </a:rPr>
              <a:t>给定</a:t>
            </a:r>
            <a:r>
              <a:rPr lang="zh-CN" altLang="en-US" sz="2400" b="1" dirty="0">
                <a:solidFill>
                  <a:schemeClr val="accent1"/>
                </a:solidFill>
                <a:latin typeface="+mj-ea"/>
                <a:ea typeface="+mj-ea"/>
                <a:cs typeface="Times New Roman" panose="02020603050405020304" pitchFamily="18" charset="0"/>
              </a:rPr>
              <a:t>带权有向图</a:t>
            </a:r>
            <a:r>
              <a:rPr lang="en-US" altLang="zh-CN" sz="2400" b="1" dirty="0">
                <a:latin typeface="+mj-ea"/>
                <a:ea typeface="+mj-ea"/>
                <a:cs typeface="Times New Roman" panose="02020603050405020304" pitchFamily="18" charset="0"/>
              </a:rPr>
              <a:t>G =(V,E)</a:t>
            </a:r>
            <a:r>
              <a:rPr lang="zh-CN" altLang="en-US" sz="2400" b="1" dirty="0">
                <a:latin typeface="+mj-ea"/>
                <a:ea typeface="+mj-ea"/>
                <a:cs typeface="Times New Roman" panose="02020603050405020304" pitchFamily="18" charset="0"/>
              </a:rPr>
              <a:t>，其中每条边的</a:t>
            </a:r>
            <a:r>
              <a:rPr lang="zh-CN" altLang="en-US" sz="2400" b="1" dirty="0">
                <a:solidFill>
                  <a:schemeClr val="accent1"/>
                </a:solidFill>
                <a:latin typeface="+mj-ea"/>
                <a:ea typeface="+mj-ea"/>
                <a:cs typeface="Times New Roman" panose="02020603050405020304" pitchFamily="18" charset="0"/>
              </a:rPr>
              <a:t>权</a:t>
            </a:r>
            <a:r>
              <a:rPr lang="zh-CN" altLang="en-US" sz="2400" b="1" dirty="0">
                <a:latin typeface="+mj-ea"/>
                <a:ea typeface="+mj-ea"/>
                <a:cs typeface="Times New Roman" panose="02020603050405020304" pitchFamily="18" charset="0"/>
              </a:rPr>
              <a:t>是非负实数。给定</a:t>
            </a:r>
            <a:r>
              <a:rPr lang="en-US" altLang="zh-CN" sz="2400" b="1" dirty="0">
                <a:latin typeface="+mj-ea"/>
                <a:ea typeface="+mj-ea"/>
                <a:cs typeface="Times New Roman" panose="02020603050405020304" pitchFamily="18" charset="0"/>
              </a:rPr>
              <a:t>V</a:t>
            </a:r>
            <a:r>
              <a:rPr lang="zh-CN" altLang="en-US" sz="2400" b="1" dirty="0">
                <a:latin typeface="+mj-ea"/>
                <a:ea typeface="+mj-ea"/>
                <a:cs typeface="Times New Roman" panose="02020603050405020304" pitchFamily="18" charset="0"/>
              </a:rPr>
              <a:t>中的一个顶点，称为</a:t>
            </a:r>
            <a:r>
              <a:rPr lang="zh-CN" altLang="en-US" sz="2400" b="1" dirty="0">
                <a:solidFill>
                  <a:schemeClr val="hlink"/>
                </a:solidFill>
                <a:latin typeface="+mj-ea"/>
                <a:ea typeface="+mj-ea"/>
                <a:cs typeface="Times New Roman" panose="02020603050405020304" pitchFamily="18" charset="0"/>
              </a:rPr>
              <a:t>源</a:t>
            </a:r>
            <a:r>
              <a:rPr lang="zh-CN" altLang="en-US" sz="2400" b="1" dirty="0">
                <a:latin typeface="+mj-ea"/>
                <a:ea typeface="+mj-ea"/>
                <a:cs typeface="Times New Roman" panose="02020603050405020304" pitchFamily="18" charset="0"/>
              </a:rPr>
              <a:t>。</a:t>
            </a:r>
            <a:r>
              <a:rPr lang="zh-CN" altLang="en-US" sz="2400" b="1" dirty="0">
                <a:solidFill>
                  <a:srgbClr val="FF0000"/>
                </a:solidFill>
                <a:latin typeface="+mj-ea"/>
                <a:ea typeface="+mj-ea"/>
                <a:cs typeface="Times New Roman" panose="02020603050405020304" pitchFamily="18" charset="0"/>
              </a:rPr>
              <a:t>计算从源到所有其它各顶点的</a:t>
            </a:r>
            <a:r>
              <a:rPr lang="zh-CN" altLang="en-US" sz="2400" b="1" dirty="0">
                <a:solidFill>
                  <a:schemeClr val="hlink"/>
                </a:solidFill>
                <a:latin typeface="+mj-ea"/>
                <a:ea typeface="+mj-ea"/>
                <a:cs typeface="Times New Roman" panose="02020603050405020304" pitchFamily="18" charset="0"/>
              </a:rPr>
              <a:t>最短路长度</a:t>
            </a:r>
            <a:r>
              <a:rPr lang="zh-CN" altLang="en-US" sz="2400" b="1" dirty="0">
                <a:latin typeface="+mj-ea"/>
                <a:ea typeface="+mj-ea"/>
                <a:cs typeface="Times New Roman" panose="02020603050405020304" pitchFamily="18" charset="0"/>
              </a:rPr>
              <a:t>。长度是指路上各边权之和。</a:t>
            </a:r>
            <a:endParaRPr lang="en-US" altLang="zh-CN" sz="2400" b="1" dirty="0">
              <a:latin typeface="+mj-ea"/>
              <a:ea typeface="+mj-ea"/>
              <a:cs typeface="Times New Roman" panose="02020603050405020304" pitchFamily="18" charset="0"/>
            </a:endParaRPr>
          </a:p>
          <a:p>
            <a:pPr marL="0" indent="0">
              <a:lnSpc>
                <a:spcPct val="120000"/>
              </a:lnSpc>
              <a:buFont typeface="Wingdings" panose="05000000000000000000" pitchFamily="2" charset="2"/>
              <a:buNone/>
              <a:defRPr/>
            </a:pPr>
            <a:endParaRPr lang="zh-CN" altLang="en-US" sz="2400" b="1" dirty="0">
              <a:solidFill>
                <a:schemeClr val="hlink"/>
              </a:solidFill>
              <a:latin typeface="+mj-ea"/>
              <a:ea typeface="+mj-ea"/>
              <a:cs typeface="Times New Roman" panose="02020603050405020304" pitchFamily="18" charset="0"/>
            </a:endParaRPr>
          </a:p>
          <a:p>
            <a:pPr>
              <a:lnSpc>
                <a:spcPct val="120000"/>
              </a:lnSpc>
              <a:buFont typeface="Wingdings" panose="05000000000000000000" pitchFamily="2" charset="2"/>
              <a:buNone/>
              <a:defRPr/>
            </a:pPr>
            <a:r>
              <a:rPr lang="en-US" altLang="zh-CN" sz="2800" b="1" dirty="0">
                <a:solidFill>
                  <a:schemeClr val="accent2"/>
                </a:solidFill>
                <a:latin typeface="+mj-ea"/>
                <a:ea typeface="+mj-ea"/>
                <a:cs typeface="Times New Roman" panose="02020603050405020304" pitchFamily="18" charset="0"/>
              </a:rPr>
              <a:t>	</a:t>
            </a:r>
            <a:r>
              <a:rPr lang="en-US" altLang="zh-CN" sz="2400" b="1" u="sng" dirty="0" err="1">
                <a:latin typeface="+mj-ea"/>
                <a:ea typeface="+mj-ea"/>
                <a:cs typeface="Times New Roman" panose="02020603050405020304" pitchFamily="18" charset="0"/>
              </a:rPr>
              <a:t>Dijkstra</a:t>
            </a:r>
            <a:r>
              <a:rPr lang="zh-CN" altLang="en-US" sz="2400" b="1" u="sng" dirty="0">
                <a:latin typeface="+mj-ea"/>
                <a:ea typeface="+mj-ea"/>
                <a:cs typeface="Times New Roman" panose="02020603050405020304" pitchFamily="18" charset="0"/>
              </a:rPr>
              <a:t>算法</a:t>
            </a:r>
            <a:r>
              <a:rPr lang="zh-CN" altLang="en-US" sz="2400" b="1" dirty="0">
                <a:latin typeface="+mj-ea"/>
                <a:ea typeface="+mj-ea"/>
                <a:cs typeface="Times New Roman" panose="02020603050405020304" pitchFamily="18" charset="0"/>
              </a:rPr>
              <a:t>是解单源最短路径问题</a:t>
            </a:r>
            <a:endParaRPr lang="en-US" altLang="zh-CN" sz="2400" b="1" dirty="0">
              <a:latin typeface="+mj-ea"/>
              <a:ea typeface="+mj-ea"/>
              <a:cs typeface="Times New Roman" panose="02020603050405020304" pitchFamily="18" charset="0"/>
            </a:endParaRPr>
          </a:p>
          <a:p>
            <a:pPr>
              <a:lnSpc>
                <a:spcPct val="120000"/>
              </a:lnSpc>
              <a:buFont typeface="Wingdings" panose="05000000000000000000" pitchFamily="2" charset="2"/>
              <a:buNone/>
              <a:defRPr/>
            </a:pPr>
            <a:r>
              <a:rPr lang="zh-CN" altLang="en-US" sz="2400" b="1" dirty="0">
                <a:latin typeface="+mj-ea"/>
                <a:ea typeface="+mj-ea"/>
                <a:cs typeface="Times New Roman" panose="02020603050405020304" pitchFamily="18" charset="0"/>
              </a:rPr>
              <a:t>的贪心算法。</a:t>
            </a:r>
          </a:p>
          <a:p>
            <a:pPr>
              <a:lnSpc>
                <a:spcPct val="120000"/>
              </a:lnSpc>
              <a:buFont typeface="Wingdings" panose="05000000000000000000" pitchFamily="2" charset="2"/>
              <a:buNone/>
              <a:defRPr/>
            </a:pPr>
            <a:endParaRPr lang="zh-CN" altLang="en-US" sz="2800" b="1" dirty="0">
              <a:latin typeface="+mj-ea"/>
              <a:ea typeface="+mj-ea"/>
              <a:cs typeface="Times New Roman" panose="02020603050405020304" pitchFamily="18" charset="0"/>
            </a:endParaRPr>
          </a:p>
          <a:p>
            <a:pPr>
              <a:lnSpc>
                <a:spcPct val="120000"/>
              </a:lnSpc>
              <a:buFont typeface="Wingdings" panose="05000000000000000000" pitchFamily="2" charset="2"/>
              <a:buNone/>
              <a:defRPr/>
            </a:pPr>
            <a:endParaRPr lang="zh-CN" altLang="en-US" sz="2800" b="1" dirty="0">
              <a:solidFill>
                <a:schemeClr val="accent2"/>
              </a:solidFill>
              <a:latin typeface="+mj-ea"/>
              <a:ea typeface="+mj-ea"/>
              <a:cs typeface="Times New Roman" panose="02020603050405020304" pitchFamily="18" charset="0"/>
            </a:endParaRPr>
          </a:p>
        </p:txBody>
      </p:sp>
      <p:pic>
        <p:nvPicPr>
          <p:cNvPr id="83973" name="Picture 4" descr="t44">
            <a:extLst>
              <a:ext uri="{FF2B5EF4-FFF2-40B4-BE49-F238E27FC236}">
                <a16:creationId xmlns:a16="http://schemas.microsoft.com/office/drawing/2014/main" id="{D8FD1067-5507-60F7-16C5-53716D795A7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91213" y="3248025"/>
            <a:ext cx="2800350"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A55C1724-3E4B-B629-FDC0-71E348CEDF0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4595813"/>
            <a:ext cx="2089150"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灯片编号占位符 6">
            <a:extLst>
              <a:ext uri="{FF2B5EF4-FFF2-40B4-BE49-F238E27FC236}">
                <a16:creationId xmlns:a16="http://schemas.microsoft.com/office/drawing/2014/main" id="{215027C0-3F99-458E-AE6A-BE35B37EFA9A}"/>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9A1975D-0181-46F5-83F3-A936F7ECE8EA}" type="slidenum">
              <a:rPr lang="zh-CN" altLang="en-US" sz="1200">
                <a:solidFill>
                  <a:schemeClr val="tx1"/>
                </a:solidFill>
                <a:latin typeface="微软雅黑" panose="020B0503020204020204" pitchFamily="34" charset="-122"/>
                <a:ea typeface="微软雅黑" panose="020B0503020204020204" pitchFamily="34" charset="-122"/>
              </a:rPr>
              <a:pPr/>
              <a:t>59</a:t>
            </a:fld>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70659" name="Rectangle 2">
            <a:extLst>
              <a:ext uri="{FF2B5EF4-FFF2-40B4-BE49-F238E27FC236}">
                <a16:creationId xmlns:a16="http://schemas.microsoft.com/office/drawing/2014/main" id="{0E947ABF-963D-4A3F-A5F7-2CE77E59DBD5}"/>
              </a:ext>
            </a:extLst>
          </p:cNvPr>
          <p:cNvSpPr>
            <a:spLocks noGrp="1" noChangeArrowheads="1"/>
          </p:cNvSpPr>
          <p:nvPr>
            <p:ph type="title"/>
          </p:nvPr>
        </p:nvSpPr>
        <p:spPr/>
        <p:txBody>
          <a:bodyPr/>
          <a:lstStyle/>
          <a:p>
            <a:pPr>
              <a:defRPr/>
            </a:pPr>
            <a:r>
              <a:rPr lang="en-US" altLang="zh-CN" dirty="0">
                <a:latin typeface="+mj-ea"/>
              </a:rPr>
              <a:t>4.5 </a:t>
            </a:r>
            <a:r>
              <a:rPr lang="zh-CN" altLang="en-US" dirty="0">
                <a:latin typeface="+mj-ea"/>
              </a:rPr>
              <a:t>单源最短路径</a:t>
            </a:r>
            <a:r>
              <a:rPr lang="en-US" altLang="zh-CN" dirty="0">
                <a:latin typeface="+mj-ea"/>
              </a:rPr>
              <a:t> </a:t>
            </a:r>
            <a:endParaRPr lang="zh-CN" altLang="en-US" dirty="0">
              <a:latin typeface="+mj-ea"/>
            </a:endParaRPr>
          </a:p>
        </p:txBody>
      </p:sp>
      <p:sp>
        <p:nvSpPr>
          <p:cNvPr id="70660" name="Rectangle 3">
            <a:extLst>
              <a:ext uri="{FF2B5EF4-FFF2-40B4-BE49-F238E27FC236}">
                <a16:creationId xmlns:a16="http://schemas.microsoft.com/office/drawing/2014/main" id="{AAC6834C-CEE4-4DE5-AAB7-C58901AC4F67}"/>
              </a:ext>
            </a:extLst>
          </p:cNvPr>
          <p:cNvSpPr>
            <a:spLocks noGrp="1" noChangeArrowheads="1"/>
          </p:cNvSpPr>
          <p:nvPr>
            <p:ph type="body" sz="half" idx="1"/>
          </p:nvPr>
        </p:nvSpPr>
        <p:spPr>
          <a:xfrm>
            <a:off x="323850" y="1196975"/>
            <a:ext cx="8135938" cy="863600"/>
          </a:xfrm>
        </p:spPr>
        <p:txBody>
          <a:bodyPr/>
          <a:lstStyle/>
          <a:p>
            <a:pPr>
              <a:buFont typeface="Wingdings" panose="05000000000000000000" pitchFamily="2" charset="2"/>
              <a:buNone/>
              <a:defRPr/>
            </a:pPr>
            <a:r>
              <a:rPr lang="zh-CN" altLang="en-US" sz="2000" b="1">
                <a:latin typeface="+mj-ea"/>
                <a:ea typeface="+mj-ea"/>
              </a:rPr>
              <a:t>	</a:t>
            </a:r>
            <a:r>
              <a:rPr lang="zh-CN" altLang="en-US" sz="2400" b="1">
                <a:latin typeface="+mj-ea"/>
                <a:ea typeface="+mj-ea"/>
              </a:rPr>
              <a:t>对下图中的有向图，应用</a:t>
            </a:r>
            <a:r>
              <a:rPr lang="en-US" altLang="zh-CN" sz="2400" b="1">
                <a:latin typeface="+mj-ea"/>
                <a:ea typeface="+mj-ea"/>
              </a:rPr>
              <a:t>Dijkstra</a:t>
            </a:r>
            <a:r>
              <a:rPr lang="zh-CN" altLang="en-US" sz="2400" b="1">
                <a:latin typeface="+mj-ea"/>
                <a:ea typeface="+mj-ea"/>
              </a:rPr>
              <a:t>算法计算从源顶点</a:t>
            </a:r>
            <a:r>
              <a:rPr lang="en-US" altLang="zh-CN" sz="2400" b="1">
                <a:latin typeface="+mj-ea"/>
                <a:ea typeface="+mj-ea"/>
              </a:rPr>
              <a:t>1</a:t>
            </a:r>
            <a:r>
              <a:rPr lang="zh-CN" altLang="en-US" sz="2400" b="1">
                <a:latin typeface="+mj-ea"/>
                <a:ea typeface="+mj-ea"/>
              </a:rPr>
              <a:t>到其它顶点间最短路径的过程列在下表中。</a:t>
            </a:r>
          </a:p>
          <a:p>
            <a:pPr>
              <a:defRPr/>
            </a:pPr>
            <a:endParaRPr lang="zh-CN" altLang="en-US" sz="2000" b="1">
              <a:latin typeface="+mj-ea"/>
              <a:ea typeface="+mj-ea"/>
            </a:endParaRPr>
          </a:p>
        </p:txBody>
      </p:sp>
      <p:pic>
        <p:nvPicPr>
          <p:cNvPr id="86021" name="Picture 4" descr="t44">
            <a:extLst>
              <a:ext uri="{FF2B5EF4-FFF2-40B4-BE49-F238E27FC236}">
                <a16:creationId xmlns:a16="http://schemas.microsoft.com/office/drawing/2014/main" id="{3C30CB38-1602-D736-1874-6588BA327B8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0" y="2116138"/>
            <a:ext cx="2800350" cy="2881312"/>
          </a:xfrm>
        </p:spPr>
      </p:pic>
      <p:pic>
        <p:nvPicPr>
          <p:cNvPr id="86022" name="Picture 2">
            <a:extLst>
              <a:ext uri="{FF2B5EF4-FFF2-40B4-BE49-F238E27FC236}">
                <a16:creationId xmlns:a16="http://schemas.microsoft.com/office/drawing/2014/main" id="{5C097B9D-E8FE-F56E-7661-2992FA6F719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87650" y="3644900"/>
            <a:ext cx="634365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3" name="Text Box 286">
            <a:extLst>
              <a:ext uri="{FF2B5EF4-FFF2-40B4-BE49-F238E27FC236}">
                <a16:creationId xmlns:a16="http://schemas.microsoft.com/office/drawing/2014/main" id="{B42BD876-C427-467E-86A4-A77BA6B49D14}"/>
              </a:ext>
            </a:extLst>
          </p:cNvPr>
          <p:cNvSpPr txBox="1">
            <a:spLocks noChangeArrowheads="1"/>
          </p:cNvSpPr>
          <p:nvPr/>
        </p:nvSpPr>
        <p:spPr bwMode="auto">
          <a:xfrm>
            <a:off x="3348038" y="2979738"/>
            <a:ext cx="403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en-US" altLang="zh-CN" sz="2400" b="1">
                <a:solidFill>
                  <a:srgbClr val="000000"/>
                </a:solidFill>
                <a:latin typeface="+mj-ea"/>
                <a:ea typeface="+mj-ea"/>
              </a:rPr>
              <a:t>Dijkstra</a:t>
            </a:r>
            <a:r>
              <a:rPr lang="zh-CN" altLang="en-US" sz="2400" b="1">
                <a:solidFill>
                  <a:srgbClr val="000000"/>
                </a:solidFill>
                <a:latin typeface="+mj-ea"/>
                <a:ea typeface="+mj-ea"/>
              </a:rPr>
              <a:t>算法的迭代过程：</a:t>
            </a:r>
            <a:r>
              <a:rPr lang="zh-CN" altLang="en-US" sz="2400" b="1">
                <a:solidFill>
                  <a:schemeClr val="accent2"/>
                </a:solidFill>
                <a:latin typeface="+mj-ea"/>
                <a:ea typeface="+mj-ea"/>
              </a:rPr>
              <a:t> </a:t>
            </a:r>
          </a:p>
        </p:txBody>
      </p:sp>
      <p:pic>
        <p:nvPicPr>
          <p:cNvPr id="2" name="图片 1">
            <a:extLst>
              <a:ext uri="{FF2B5EF4-FFF2-40B4-BE49-F238E27FC236}">
                <a16:creationId xmlns:a16="http://schemas.microsoft.com/office/drawing/2014/main" id="{BEE3D0D3-86B7-0BFD-BC3E-20C9B2B4B1D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251700" y="1681163"/>
            <a:ext cx="1811338"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5" name="矩形 3">
            <a:extLst>
              <a:ext uri="{FF2B5EF4-FFF2-40B4-BE49-F238E27FC236}">
                <a16:creationId xmlns:a16="http://schemas.microsoft.com/office/drawing/2014/main" id="{30DC97CC-383F-4AD8-B8A5-F7F0D93B4205}"/>
              </a:ext>
            </a:extLst>
          </p:cNvPr>
          <p:cNvSpPr>
            <a:spLocks noChangeArrowheads="1"/>
          </p:cNvSpPr>
          <p:nvPr/>
        </p:nvSpPr>
        <p:spPr bwMode="auto">
          <a:xfrm>
            <a:off x="6084888" y="6226175"/>
            <a:ext cx="2527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1200" b="1">
                <a:solidFill>
                  <a:srgbClr val="000000"/>
                </a:solidFill>
                <a:latin typeface="+mj-ea"/>
                <a:ea typeface="+mj-ea"/>
              </a:rPr>
              <a:t>dist[i]</a:t>
            </a:r>
            <a:r>
              <a:rPr lang="zh-CN" altLang="en-US" sz="1200" b="1">
                <a:solidFill>
                  <a:srgbClr val="000000"/>
                </a:solidFill>
                <a:latin typeface="+mj-ea"/>
                <a:ea typeface="+mj-ea"/>
              </a:rPr>
              <a:t>表示从源到顶点</a:t>
            </a:r>
            <a:r>
              <a:rPr lang="en-US" altLang="zh-CN" sz="1200" b="1">
                <a:solidFill>
                  <a:srgbClr val="000000"/>
                </a:solidFill>
                <a:latin typeface="+mj-ea"/>
                <a:ea typeface="+mj-ea"/>
              </a:rPr>
              <a:t>i</a:t>
            </a:r>
            <a:r>
              <a:rPr lang="zh-CN" altLang="en-US" sz="1200" b="1">
                <a:solidFill>
                  <a:srgbClr val="000000"/>
                </a:solidFill>
                <a:latin typeface="+mj-ea"/>
                <a:ea typeface="+mj-ea"/>
              </a:rPr>
              <a:t>的最短距离</a:t>
            </a:r>
            <a:endParaRPr lang="zh-CN" altLang="en-US" sz="1200">
              <a:latin typeface="+mj-ea"/>
              <a:ea typeface="+mj-ea"/>
            </a:endParaRPr>
          </a:p>
        </p:txBody>
      </p:sp>
      <p:sp>
        <p:nvSpPr>
          <p:cNvPr id="3" name="矩形 2">
            <a:extLst>
              <a:ext uri="{FF2B5EF4-FFF2-40B4-BE49-F238E27FC236}">
                <a16:creationId xmlns:a16="http://schemas.microsoft.com/office/drawing/2014/main" id="{8B3A3101-1EDA-4A26-BBEB-25E3B212CB35}"/>
              </a:ext>
            </a:extLst>
          </p:cNvPr>
          <p:cNvSpPr/>
          <p:nvPr/>
        </p:nvSpPr>
        <p:spPr>
          <a:xfrm>
            <a:off x="3656013" y="2101850"/>
            <a:ext cx="1831975" cy="584200"/>
          </a:xfrm>
          <a:prstGeom prst="rect">
            <a:avLst/>
          </a:prstGeom>
        </p:spPr>
        <p:txBody>
          <a:bodyPr wrap="none">
            <a:spAutoFit/>
          </a:bodyPr>
          <a:lstStyle/>
          <a:p>
            <a:pPr>
              <a:defRPr/>
            </a:pPr>
            <a:r>
              <a:rPr lang="zh-CN" altLang="en-US" sz="3200" b="1" dirty="0">
                <a:solidFill>
                  <a:srgbClr val="FF0000"/>
                </a:solidFill>
                <a:latin typeface="+mj-ea"/>
                <a:cs typeface="Times New Roman" panose="02020603050405020304" pitchFamily="18" charset="0"/>
              </a:rPr>
              <a:t>贪心算法</a:t>
            </a:r>
            <a:endParaRPr lang="zh-CN" altLang="en-US"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E644B1F-CCBA-4DED-BD09-98C14BC1125F}"/>
              </a:ext>
            </a:extLst>
          </p:cNvPr>
          <p:cNvSpPr>
            <a:spLocks noGrp="1" noChangeArrowheads="1"/>
          </p:cNvSpPr>
          <p:nvPr>
            <p:ph type="title"/>
          </p:nvPr>
        </p:nvSpPr>
        <p:spPr/>
        <p:txBody>
          <a:bodyPr/>
          <a:lstStyle/>
          <a:p>
            <a:pPr>
              <a:defRPr/>
            </a:pPr>
            <a:r>
              <a:rPr lang="zh-CN" altLang="en-US" dirty="0">
                <a:latin typeface="+mj-ea"/>
              </a:rPr>
              <a:t>6.2	单源最短路径问题</a:t>
            </a:r>
          </a:p>
        </p:txBody>
      </p:sp>
      <p:sp>
        <p:nvSpPr>
          <p:cNvPr id="72707" name="灯片编号占位符 5">
            <a:extLst>
              <a:ext uri="{FF2B5EF4-FFF2-40B4-BE49-F238E27FC236}">
                <a16:creationId xmlns:a16="http://schemas.microsoft.com/office/drawing/2014/main" id="{F78ED15A-5010-4DBC-8699-0F61D6D97CD7}"/>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CC9412F4-0A66-4ADD-8385-90980E3A13DE}" type="slidenum">
              <a:rPr lang="zh-CN" altLang="en-US" sz="1200">
                <a:solidFill>
                  <a:schemeClr val="tx1"/>
                </a:solidFill>
                <a:latin typeface="微软雅黑" panose="020B0503020204020204" pitchFamily="34" charset="-122"/>
                <a:ea typeface="微软雅黑" panose="020B0503020204020204" pitchFamily="34" charset="-122"/>
              </a:rPr>
              <a:pPr/>
              <a:t>60</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27685" name="Text Box 5">
            <a:extLst>
              <a:ext uri="{FF2B5EF4-FFF2-40B4-BE49-F238E27FC236}">
                <a16:creationId xmlns:a16="http://schemas.microsoft.com/office/drawing/2014/main" id="{B64DA242-3544-48D3-A21F-4E784FEC763E}"/>
              </a:ext>
            </a:extLst>
          </p:cNvPr>
          <p:cNvSpPr txBox="1">
            <a:spLocks noChangeArrowheads="1"/>
          </p:cNvSpPr>
          <p:nvPr/>
        </p:nvSpPr>
        <p:spPr bwMode="auto">
          <a:xfrm>
            <a:off x="357188" y="1143000"/>
            <a:ext cx="5638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en-US" altLang="zh-CN" sz="3200" dirty="0">
                <a:solidFill>
                  <a:schemeClr val="accent2"/>
                </a:solidFill>
                <a:latin typeface="+mj-ea"/>
                <a:ea typeface="+mj-ea"/>
              </a:rPr>
              <a:t>1</a:t>
            </a:r>
            <a:r>
              <a:rPr kumimoji="1" lang="zh-CN" altLang="en-US" sz="3200" dirty="0">
                <a:solidFill>
                  <a:schemeClr val="accent2"/>
                </a:solidFill>
                <a:latin typeface="+mj-ea"/>
                <a:ea typeface="+mj-ea"/>
              </a:rPr>
              <a:t>. 优先级</a:t>
            </a:r>
          </a:p>
        </p:txBody>
      </p:sp>
      <p:sp>
        <p:nvSpPr>
          <p:cNvPr id="327688" name="Text Box 8">
            <a:extLst>
              <a:ext uri="{FF2B5EF4-FFF2-40B4-BE49-F238E27FC236}">
                <a16:creationId xmlns:a16="http://schemas.microsoft.com/office/drawing/2014/main" id="{B8793C33-CD98-4CFF-A0C1-213C58973713}"/>
              </a:ext>
            </a:extLst>
          </p:cNvPr>
          <p:cNvSpPr txBox="1">
            <a:spLocks noChangeArrowheads="1"/>
          </p:cNvSpPr>
          <p:nvPr/>
        </p:nvSpPr>
        <p:spPr bwMode="auto">
          <a:xfrm>
            <a:off x="571500" y="1643063"/>
            <a:ext cx="53435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50000"/>
              </a:spcBef>
              <a:buClr>
                <a:schemeClr val="accent1"/>
              </a:buClr>
              <a:buSzPct val="65000"/>
              <a:buFont typeface="Wingdings" panose="05000000000000000000" pitchFamily="2" charset="2"/>
              <a:buNone/>
              <a:defRPr/>
            </a:pPr>
            <a:r>
              <a:rPr lang="zh-CN" altLang="en-US" sz="2400" b="1" dirty="0">
                <a:solidFill>
                  <a:schemeClr val="tx1"/>
                </a:solidFill>
                <a:latin typeface="+mj-ea"/>
                <a:ea typeface="+mj-ea"/>
              </a:rPr>
              <a:t>优先队列式分支限界法</a:t>
            </a:r>
            <a:r>
              <a:rPr lang="zh-CN" altLang="en-US" sz="2400" dirty="0">
                <a:solidFill>
                  <a:schemeClr val="tx1"/>
                </a:solidFill>
                <a:latin typeface="+mj-ea"/>
                <a:ea typeface="+mj-ea"/>
              </a:rPr>
              <a:t>解有向图</a:t>
            </a:r>
            <a:r>
              <a:rPr lang="en-US" altLang="zh-CN" sz="2400" dirty="0">
                <a:solidFill>
                  <a:schemeClr val="tx1"/>
                </a:solidFill>
                <a:latin typeface="+mj-ea"/>
                <a:ea typeface="+mj-ea"/>
              </a:rPr>
              <a:t>G</a:t>
            </a:r>
            <a:r>
              <a:rPr lang="zh-CN" altLang="en-US" sz="2400" dirty="0">
                <a:solidFill>
                  <a:schemeClr val="tx1"/>
                </a:solidFill>
                <a:latin typeface="+mj-ea"/>
                <a:ea typeface="+mj-ea"/>
              </a:rPr>
              <a:t>的单源最短路径问题产生的</a:t>
            </a:r>
            <a:r>
              <a:rPr lang="zh-CN" altLang="en-US" sz="2400" dirty="0">
                <a:solidFill>
                  <a:srgbClr val="FF0000"/>
                </a:solidFill>
                <a:latin typeface="+mj-ea"/>
                <a:ea typeface="+mj-ea"/>
              </a:rPr>
              <a:t>解空间树</a:t>
            </a:r>
            <a:r>
              <a:rPr lang="zh-CN" altLang="en-US" sz="2400" dirty="0">
                <a:solidFill>
                  <a:schemeClr val="tx1"/>
                </a:solidFill>
                <a:latin typeface="+mj-ea"/>
                <a:ea typeface="+mj-ea"/>
              </a:rPr>
              <a:t>。通过动态维护一个全局的</a:t>
            </a:r>
            <a:r>
              <a:rPr lang="zh-CN" altLang="en-US" sz="2400" dirty="0">
                <a:solidFill>
                  <a:srgbClr val="FF0000"/>
                </a:solidFill>
                <a:latin typeface="+mj-ea"/>
                <a:ea typeface="+mj-ea"/>
              </a:rPr>
              <a:t>最短距离</a:t>
            </a:r>
            <a:r>
              <a:rPr lang="en-US" altLang="zh-CN" sz="2400" dirty="0" err="1">
                <a:solidFill>
                  <a:srgbClr val="FF0000"/>
                </a:solidFill>
                <a:latin typeface="+mj-ea"/>
                <a:ea typeface="+mj-ea"/>
              </a:rPr>
              <a:t>dist</a:t>
            </a:r>
            <a:r>
              <a:rPr lang="en-US" altLang="zh-CN" sz="2400" dirty="0">
                <a:solidFill>
                  <a:srgbClr val="FF0000"/>
                </a:solidFill>
                <a:latin typeface="+mj-ea"/>
                <a:ea typeface="+mj-ea"/>
              </a:rPr>
              <a:t>[]</a:t>
            </a:r>
            <a:r>
              <a:rPr lang="zh-CN" altLang="en-US" sz="2400" dirty="0">
                <a:solidFill>
                  <a:schemeClr val="tx1"/>
                </a:solidFill>
                <a:latin typeface="+mj-ea"/>
                <a:ea typeface="+mj-ea"/>
              </a:rPr>
              <a:t>，实时更新各顶点的最短距离。</a:t>
            </a:r>
          </a:p>
        </p:txBody>
      </p:sp>
      <p:sp>
        <p:nvSpPr>
          <p:cNvPr id="72713" name="矩形 1">
            <a:extLst>
              <a:ext uri="{FF2B5EF4-FFF2-40B4-BE49-F238E27FC236}">
                <a16:creationId xmlns:a16="http://schemas.microsoft.com/office/drawing/2014/main" id="{D7C57AF2-D437-48BB-ACC4-8E8C4B95AE62}"/>
              </a:ext>
            </a:extLst>
          </p:cNvPr>
          <p:cNvSpPr>
            <a:spLocks noChangeArrowheads="1"/>
          </p:cNvSpPr>
          <p:nvPr/>
        </p:nvSpPr>
        <p:spPr bwMode="auto">
          <a:xfrm>
            <a:off x="427038" y="4046538"/>
            <a:ext cx="514826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解单源最短路径问题的优先队列式分支限界法</a:t>
            </a:r>
            <a:r>
              <a:rPr lang="zh-CN" altLang="en-US" sz="2400" dirty="0">
                <a:solidFill>
                  <a:srgbClr val="FF0000"/>
                </a:solidFill>
                <a:latin typeface="+mj-ea"/>
                <a:ea typeface="+mj-ea"/>
              </a:rPr>
              <a:t>用最小堆来存储活结点表</a:t>
            </a:r>
            <a:r>
              <a:rPr lang="zh-CN" altLang="en-US" sz="2400" dirty="0">
                <a:solidFill>
                  <a:schemeClr val="tx1"/>
                </a:solidFill>
                <a:latin typeface="+mj-ea"/>
                <a:ea typeface="+mj-ea"/>
              </a:rPr>
              <a:t>。</a:t>
            </a:r>
            <a:r>
              <a:rPr lang="zh-CN" altLang="en-US" sz="2400" b="1" u="sng" dirty="0">
                <a:solidFill>
                  <a:schemeClr val="tx1"/>
                </a:solidFill>
                <a:latin typeface="+mj-ea"/>
                <a:ea typeface="+mj-ea"/>
              </a:rPr>
              <a:t>优先级是结点所对应的当前路长</a:t>
            </a:r>
            <a:r>
              <a:rPr lang="zh-CN" altLang="en-US" sz="2400" dirty="0">
                <a:solidFill>
                  <a:schemeClr val="tx1"/>
                </a:solidFill>
                <a:latin typeface="+mj-ea"/>
                <a:ea typeface="+mj-ea"/>
              </a:rPr>
              <a:t>。</a:t>
            </a:r>
          </a:p>
        </p:txBody>
      </p:sp>
      <p:pic>
        <p:nvPicPr>
          <p:cNvPr id="88071" name="Picture 4" descr="t44">
            <a:extLst>
              <a:ext uri="{FF2B5EF4-FFF2-40B4-BE49-F238E27FC236}">
                <a16:creationId xmlns:a16="http://schemas.microsoft.com/office/drawing/2014/main" id="{531F79A2-DC89-76E7-A236-C508C4A40968}"/>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183313" y="573088"/>
            <a:ext cx="2317750" cy="2384425"/>
          </a:xfrm>
        </p:spPr>
      </p:pic>
      <p:grpSp>
        <p:nvGrpSpPr>
          <p:cNvPr id="11" name="Group 48">
            <a:extLst>
              <a:ext uri="{FF2B5EF4-FFF2-40B4-BE49-F238E27FC236}">
                <a16:creationId xmlns:a16="http://schemas.microsoft.com/office/drawing/2014/main" id="{3A8AD3D7-33C7-43CA-BD48-18C9677FCDAD}"/>
              </a:ext>
            </a:extLst>
          </p:cNvPr>
          <p:cNvGrpSpPr>
            <a:grpSpLocks/>
          </p:cNvGrpSpPr>
          <p:nvPr/>
        </p:nvGrpSpPr>
        <p:grpSpPr bwMode="auto">
          <a:xfrm>
            <a:off x="5963357" y="3293145"/>
            <a:ext cx="1843087" cy="1965324"/>
            <a:chOff x="1829" y="1628"/>
            <a:chExt cx="1161" cy="1238"/>
          </a:xfrm>
          <a:solidFill>
            <a:schemeClr val="bg1"/>
          </a:solidFill>
        </p:grpSpPr>
        <p:sp>
          <p:nvSpPr>
            <p:cNvPr id="12" name="Oval 40">
              <a:extLst>
                <a:ext uri="{FF2B5EF4-FFF2-40B4-BE49-F238E27FC236}">
                  <a16:creationId xmlns:a16="http://schemas.microsoft.com/office/drawing/2014/main" id="{17ACE329-FFA6-4035-A6DA-78CE10EDA30E}"/>
                </a:ext>
              </a:extLst>
            </p:cNvPr>
            <p:cNvSpPr>
              <a:spLocks noChangeArrowheads="1"/>
            </p:cNvSpPr>
            <p:nvPr/>
          </p:nvSpPr>
          <p:spPr bwMode="auto">
            <a:xfrm>
              <a:off x="2717" y="1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t>1</a:t>
              </a:r>
            </a:p>
          </p:txBody>
        </p:sp>
        <p:sp>
          <p:nvSpPr>
            <p:cNvPr id="13" name="Oval 41">
              <a:extLst>
                <a:ext uri="{FF2B5EF4-FFF2-40B4-BE49-F238E27FC236}">
                  <a16:creationId xmlns:a16="http://schemas.microsoft.com/office/drawing/2014/main" id="{E6E80AC3-6448-4031-95FD-36E84BFA2F87}"/>
                </a:ext>
              </a:extLst>
            </p:cNvPr>
            <p:cNvSpPr>
              <a:spLocks noChangeArrowheads="1"/>
            </p:cNvSpPr>
            <p:nvPr/>
          </p:nvSpPr>
          <p:spPr bwMode="auto">
            <a:xfrm>
              <a:off x="1829" y="2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t>3</a:t>
              </a:r>
            </a:p>
          </p:txBody>
        </p:sp>
        <p:sp>
          <p:nvSpPr>
            <p:cNvPr id="14" name="Oval 42">
              <a:extLst>
                <a:ext uri="{FF2B5EF4-FFF2-40B4-BE49-F238E27FC236}">
                  <a16:creationId xmlns:a16="http://schemas.microsoft.com/office/drawing/2014/main" id="{AE4EF354-6D6B-4DC9-961C-D959F2972E0D}"/>
                </a:ext>
              </a:extLst>
            </p:cNvPr>
            <p:cNvSpPr>
              <a:spLocks noChangeArrowheads="1"/>
            </p:cNvSpPr>
            <p:nvPr/>
          </p:nvSpPr>
          <p:spPr bwMode="auto">
            <a:xfrm>
              <a:off x="2162" y="2131"/>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rgbClr val="FF0000"/>
                  </a:solidFill>
                </a:rPr>
                <a:t>2</a:t>
              </a:r>
            </a:p>
          </p:txBody>
        </p:sp>
        <p:sp>
          <p:nvSpPr>
            <p:cNvPr id="15" name="Oval 43">
              <a:extLst>
                <a:ext uri="{FF2B5EF4-FFF2-40B4-BE49-F238E27FC236}">
                  <a16:creationId xmlns:a16="http://schemas.microsoft.com/office/drawing/2014/main" id="{78EC5EC5-4DEA-4E02-98AB-D9FC305FC2DE}"/>
                </a:ext>
              </a:extLst>
            </p:cNvPr>
            <p:cNvSpPr>
              <a:spLocks noChangeArrowheads="1"/>
            </p:cNvSpPr>
            <p:nvPr/>
          </p:nvSpPr>
          <p:spPr bwMode="auto">
            <a:xfrm>
              <a:off x="2752" y="2144"/>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rgbClr val="FF0000"/>
                  </a:solidFill>
                </a:rPr>
                <a:t>4</a:t>
              </a:r>
            </a:p>
          </p:txBody>
        </p:sp>
      </p:grpSp>
      <p:sp>
        <p:nvSpPr>
          <p:cNvPr id="88073" name="Oval 46">
            <a:extLst>
              <a:ext uri="{FF2B5EF4-FFF2-40B4-BE49-F238E27FC236}">
                <a16:creationId xmlns:a16="http://schemas.microsoft.com/office/drawing/2014/main" id="{B533AC8C-60CE-20FF-0188-32C0353D8A61}"/>
              </a:ext>
            </a:extLst>
          </p:cNvPr>
          <p:cNvSpPr>
            <a:spLocks noChangeArrowheads="1"/>
          </p:cNvSpPr>
          <p:nvPr/>
        </p:nvSpPr>
        <p:spPr bwMode="auto">
          <a:xfrm>
            <a:off x="8489950" y="4114800"/>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cxnSp>
        <p:nvCxnSpPr>
          <p:cNvPr id="88074" name="直接箭头连接符 16">
            <a:extLst>
              <a:ext uri="{FF2B5EF4-FFF2-40B4-BE49-F238E27FC236}">
                <a16:creationId xmlns:a16="http://schemas.microsoft.com/office/drawing/2014/main" id="{CA630946-B5A2-15F9-50D4-DB0100B3B07E}"/>
              </a:ext>
            </a:extLst>
          </p:cNvPr>
          <p:cNvCxnSpPr>
            <a:cxnSpLocks noChangeShapeType="1"/>
          </p:cNvCxnSpPr>
          <p:nvPr/>
        </p:nvCxnSpPr>
        <p:spPr bwMode="auto">
          <a:xfrm flipH="1">
            <a:off x="6546850" y="3616325"/>
            <a:ext cx="881063" cy="530225"/>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type="triangle" w="med" len="med"/>
              </a14:hiddenLine>
            </a:ext>
          </a:extLst>
        </p:spPr>
      </p:cxnSp>
      <p:cxnSp>
        <p:nvCxnSpPr>
          <p:cNvPr id="18" name="直接箭头连接符 17">
            <a:extLst>
              <a:ext uri="{FF2B5EF4-FFF2-40B4-BE49-F238E27FC236}">
                <a16:creationId xmlns:a16="http://schemas.microsoft.com/office/drawing/2014/main" id="{3378503E-0425-4229-9600-BAE96BA2B07E}"/>
              </a:ext>
            </a:extLst>
          </p:cNvPr>
          <p:cNvCxnSpPr>
            <a:stCxn id="12" idx="3"/>
            <a:endCxn id="14" idx="0"/>
          </p:cNvCxnSpPr>
          <p:nvPr/>
        </p:nvCxnSpPr>
        <p:spPr bwMode="auto">
          <a:xfrm flipH="1">
            <a:off x="6680200" y="3616325"/>
            <a:ext cx="747713" cy="474663"/>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9" name="直接箭头连接符 18">
            <a:extLst>
              <a:ext uri="{FF2B5EF4-FFF2-40B4-BE49-F238E27FC236}">
                <a16:creationId xmlns:a16="http://schemas.microsoft.com/office/drawing/2014/main" id="{DBAE292D-F81E-4332-9F9C-1329083B0682}"/>
              </a:ext>
            </a:extLst>
          </p:cNvPr>
          <p:cNvCxnSpPr>
            <a:stCxn id="12" idx="4"/>
            <a:endCxn id="15" idx="0"/>
          </p:cNvCxnSpPr>
          <p:nvPr/>
        </p:nvCxnSpPr>
        <p:spPr bwMode="auto">
          <a:xfrm>
            <a:off x="7561263" y="3670300"/>
            <a:ext cx="55562" cy="4413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0" name="直接箭头连接符 19">
            <a:extLst>
              <a:ext uri="{FF2B5EF4-FFF2-40B4-BE49-F238E27FC236}">
                <a16:creationId xmlns:a16="http://schemas.microsoft.com/office/drawing/2014/main" id="{B8BC0126-AC01-4A63-AC5C-E1B15AC4D793}"/>
              </a:ext>
            </a:extLst>
          </p:cNvPr>
          <p:cNvCxnSpPr>
            <a:stCxn id="12" idx="5"/>
            <a:endCxn id="88073" idx="0"/>
          </p:cNvCxnSpPr>
          <p:nvPr/>
        </p:nvCxnSpPr>
        <p:spPr bwMode="auto">
          <a:xfrm>
            <a:off x="7696200" y="3616325"/>
            <a:ext cx="982663" cy="49847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1" name="直接箭头连接符 20">
            <a:extLst>
              <a:ext uri="{FF2B5EF4-FFF2-40B4-BE49-F238E27FC236}">
                <a16:creationId xmlns:a16="http://schemas.microsoft.com/office/drawing/2014/main" id="{E1A8E80D-893A-4727-A1E2-B2AE8C500510}"/>
              </a:ext>
            </a:extLst>
          </p:cNvPr>
          <p:cNvCxnSpPr>
            <a:stCxn id="14" idx="3"/>
            <a:endCxn id="13" idx="0"/>
          </p:cNvCxnSpPr>
          <p:nvPr/>
        </p:nvCxnSpPr>
        <p:spPr bwMode="auto">
          <a:xfrm flipH="1">
            <a:off x="6151563" y="4414838"/>
            <a:ext cx="395287" cy="465137"/>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88079" name="Oval 46">
            <a:extLst>
              <a:ext uri="{FF2B5EF4-FFF2-40B4-BE49-F238E27FC236}">
                <a16:creationId xmlns:a16="http://schemas.microsoft.com/office/drawing/2014/main" id="{D1FC7C93-F6C2-6CA2-570B-F7E145721D75}"/>
              </a:ext>
            </a:extLst>
          </p:cNvPr>
          <p:cNvSpPr>
            <a:spLocks noChangeArrowheads="1"/>
          </p:cNvSpPr>
          <p:nvPr/>
        </p:nvSpPr>
        <p:spPr bwMode="auto">
          <a:xfrm>
            <a:off x="5584825" y="5743575"/>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cxnSp>
        <p:nvCxnSpPr>
          <p:cNvPr id="23" name="直接箭头连接符 22">
            <a:extLst>
              <a:ext uri="{FF2B5EF4-FFF2-40B4-BE49-F238E27FC236}">
                <a16:creationId xmlns:a16="http://schemas.microsoft.com/office/drawing/2014/main" id="{554B3535-31ED-4FAF-8A92-5C2864DCCF37}"/>
              </a:ext>
            </a:extLst>
          </p:cNvPr>
          <p:cNvCxnSpPr>
            <a:stCxn id="13" idx="4"/>
            <a:endCxn id="88079" idx="0"/>
          </p:cNvCxnSpPr>
          <p:nvPr/>
        </p:nvCxnSpPr>
        <p:spPr bwMode="auto">
          <a:xfrm flipH="1">
            <a:off x="5773738" y="5257800"/>
            <a:ext cx="377825" cy="48577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4" name="直接箭头连接符 23">
            <a:extLst>
              <a:ext uri="{FF2B5EF4-FFF2-40B4-BE49-F238E27FC236}">
                <a16:creationId xmlns:a16="http://schemas.microsoft.com/office/drawing/2014/main" id="{B53D5597-D78C-427B-B4C5-FFC29C75F13E}"/>
              </a:ext>
            </a:extLst>
          </p:cNvPr>
          <p:cNvCxnSpPr/>
          <p:nvPr/>
        </p:nvCxnSpPr>
        <p:spPr bwMode="auto">
          <a:xfrm flipH="1">
            <a:off x="7227888" y="4484688"/>
            <a:ext cx="395287" cy="4667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88082" name="Oval 41">
            <a:extLst>
              <a:ext uri="{FF2B5EF4-FFF2-40B4-BE49-F238E27FC236}">
                <a16:creationId xmlns:a16="http://schemas.microsoft.com/office/drawing/2014/main" id="{5214D153-3F8F-EFB9-6617-3A1312E1B5D9}"/>
              </a:ext>
            </a:extLst>
          </p:cNvPr>
          <p:cNvSpPr>
            <a:spLocks noChangeArrowheads="1"/>
          </p:cNvSpPr>
          <p:nvPr/>
        </p:nvSpPr>
        <p:spPr bwMode="auto">
          <a:xfrm>
            <a:off x="6999288" y="4951413"/>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rgbClr val="FF0000"/>
                </a:solidFill>
              </a:rPr>
              <a:t>3</a:t>
            </a:r>
          </a:p>
        </p:txBody>
      </p:sp>
      <p:sp>
        <p:nvSpPr>
          <p:cNvPr id="88083" name="Oval 46">
            <a:extLst>
              <a:ext uri="{FF2B5EF4-FFF2-40B4-BE49-F238E27FC236}">
                <a16:creationId xmlns:a16="http://schemas.microsoft.com/office/drawing/2014/main" id="{D42EB32A-74D5-8B9F-901F-68281260D11F}"/>
              </a:ext>
            </a:extLst>
          </p:cNvPr>
          <p:cNvSpPr>
            <a:spLocks noChangeArrowheads="1"/>
          </p:cNvSpPr>
          <p:nvPr/>
        </p:nvSpPr>
        <p:spPr bwMode="auto">
          <a:xfrm>
            <a:off x="6799263" y="5743575"/>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rgbClr val="FF0000"/>
                </a:solidFill>
              </a:rPr>
              <a:t>5</a:t>
            </a:r>
          </a:p>
        </p:txBody>
      </p:sp>
      <p:cxnSp>
        <p:nvCxnSpPr>
          <p:cNvPr id="27" name="直接箭头连接符 26">
            <a:extLst>
              <a:ext uri="{FF2B5EF4-FFF2-40B4-BE49-F238E27FC236}">
                <a16:creationId xmlns:a16="http://schemas.microsoft.com/office/drawing/2014/main" id="{8050646A-ABC9-472C-B94E-7CA55998123B}"/>
              </a:ext>
            </a:extLst>
          </p:cNvPr>
          <p:cNvCxnSpPr>
            <a:endCxn id="88083" idx="0"/>
          </p:cNvCxnSpPr>
          <p:nvPr/>
        </p:nvCxnSpPr>
        <p:spPr bwMode="auto">
          <a:xfrm flipH="1">
            <a:off x="6988175" y="5329238"/>
            <a:ext cx="188913" cy="414337"/>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88085" name="Oval 46">
            <a:extLst>
              <a:ext uri="{FF2B5EF4-FFF2-40B4-BE49-F238E27FC236}">
                <a16:creationId xmlns:a16="http://schemas.microsoft.com/office/drawing/2014/main" id="{9FE2FC1E-5652-1688-CFC6-CB4AB63390E6}"/>
              </a:ext>
            </a:extLst>
          </p:cNvPr>
          <p:cNvSpPr>
            <a:spLocks noChangeArrowheads="1"/>
          </p:cNvSpPr>
          <p:nvPr/>
        </p:nvSpPr>
        <p:spPr bwMode="auto">
          <a:xfrm>
            <a:off x="8012113" y="4948238"/>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cxnSp>
        <p:nvCxnSpPr>
          <p:cNvPr id="29" name="直接箭头连接符 28">
            <a:extLst>
              <a:ext uri="{FF2B5EF4-FFF2-40B4-BE49-F238E27FC236}">
                <a16:creationId xmlns:a16="http://schemas.microsoft.com/office/drawing/2014/main" id="{7DC61616-44FB-460B-8A54-E6D7324F7748}"/>
              </a:ext>
            </a:extLst>
          </p:cNvPr>
          <p:cNvCxnSpPr>
            <a:endCxn id="88085" idx="0"/>
          </p:cNvCxnSpPr>
          <p:nvPr/>
        </p:nvCxnSpPr>
        <p:spPr bwMode="auto">
          <a:xfrm>
            <a:off x="7639050" y="4484688"/>
            <a:ext cx="561975" cy="463550"/>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88087" name="矩形 1">
            <a:extLst>
              <a:ext uri="{FF2B5EF4-FFF2-40B4-BE49-F238E27FC236}">
                <a16:creationId xmlns:a16="http://schemas.microsoft.com/office/drawing/2014/main" id="{E6CBBD3E-762D-7DAE-6D30-9B2253954EFC}"/>
              </a:ext>
            </a:extLst>
          </p:cNvPr>
          <p:cNvSpPr>
            <a:spLocks noChangeArrowheads="1"/>
          </p:cNvSpPr>
          <p:nvPr/>
        </p:nvSpPr>
        <p:spPr bwMode="auto">
          <a:xfrm>
            <a:off x="6210300" y="382270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10</a:t>
            </a:r>
          </a:p>
        </p:txBody>
      </p:sp>
      <p:sp>
        <p:nvSpPr>
          <p:cNvPr id="88088" name="矩形 30">
            <a:extLst>
              <a:ext uri="{FF2B5EF4-FFF2-40B4-BE49-F238E27FC236}">
                <a16:creationId xmlns:a16="http://schemas.microsoft.com/office/drawing/2014/main" id="{A92AF7CE-B923-0013-E6C6-B2CDA56C0076}"/>
              </a:ext>
            </a:extLst>
          </p:cNvPr>
          <p:cNvSpPr>
            <a:spLocks noChangeArrowheads="1"/>
          </p:cNvSpPr>
          <p:nvPr/>
        </p:nvSpPr>
        <p:spPr bwMode="auto">
          <a:xfrm>
            <a:off x="5694363" y="456406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60</a:t>
            </a:r>
          </a:p>
        </p:txBody>
      </p:sp>
      <p:sp>
        <p:nvSpPr>
          <p:cNvPr id="88089" name="矩形 31">
            <a:extLst>
              <a:ext uri="{FF2B5EF4-FFF2-40B4-BE49-F238E27FC236}">
                <a16:creationId xmlns:a16="http://schemas.microsoft.com/office/drawing/2014/main" id="{C7AB6D1A-F39B-1EB9-18B7-F2521A2462BA}"/>
              </a:ext>
            </a:extLst>
          </p:cNvPr>
          <p:cNvSpPr>
            <a:spLocks noChangeArrowheads="1"/>
          </p:cNvSpPr>
          <p:nvPr/>
        </p:nvSpPr>
        <p:spPr bwMode="auto">
          <a:xfrm>
            <a:off x="5203825" y="55324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70</a:t>
            </a:r>
          </a:p>
        </p:txBody>
      </p:sp>
      <p:sp>
        <p:nvSpPr>
          <p:cNvPr id="88090" name="矩形 32">
            <a:extLst>
              <a:ext uri="{FF2B5EF4-FFF2-40B4-BE49-F238E27FC236}">
                <a16:creationId xmlns:a16="http://schemas.microsoft.com/office/drawing/2014/main" id="{DB00CF70-C082-9A23-DE16-6C3EAC44C3FC}"/>
              </a:ext>
            </a:extLst>
          </p:cNvPr>
          <p:cNvSpPr>
            <a:spLocks noChangeArrowheads="1"/>
          </p:cNvSpPr>
          <p:nvPr/>
        </p:nvSpPr>
        <p:spPr bwMode="auto">
          <a:xfrm>
            <a:off x="7107238" y="38687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30</a:t>
            </a:r>
          </a:p>
        </p:txBody>
      </p:sp>
      <p:sp>
        <p:nvSpPr>
          <p:cNvPr id="88091" name="矩形 33">
            <a:extLst>
              <a:ext uri="{FF2B5EF4-FFF2-40B4-BE49-F238E27FC236}">
                <a16:creationId xmlns:a16="http://schemas.microsoft.com/office/drawing/2014/main" id="{F461B989-20ED-9439-A2A8-CE6502CA42B1}"/>
              </a:ext>
            </a:extLst>
          </p:cNvPr>
          <p:cNvSpPr>
            <a:spLocks noChangeArrowheads="1"/>
          </p:cNvSpPr>
          <p:nvPr/>
        </p:nvSpPr>
        <p:spPr bwMode="auto">
          <a:xfrm>
            <a:off x="6743700" y="466248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50</a:t>
            </a:r>
          </a:p>
        </p:txBody>
      </p:sp>
      <p:sp>
        <p:nvSpPr>
          <p:cNvPr id="88092" name="矩形 34">
            <a:extLst>
              <a:ext uri="{FF2B5EF4-FFF2-40B4-BE49-F238E27FC236}">
                <a16:creationId xmlns:a16="http://schemas.microsoft.com/office/drawing/2014/main" id="{550F351B-F73A-EDE2-FD09-86CBE83AF813}"/>
              </a:ext>
            </a:extLst>
          </p:cNvPr>
          <p:cNvSpPr>
            <a:spLocks noChangeArrowheads="1"/>
          </p:cNvSpPr>
          <p:nvPr/>
        </p:nvSpPr>
        <p:spPr bwMode="auto">
          <a:xfrm>
            <a:off x="6473825" y="551180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60</a:t>
            </a:r>
          </a:p>
        </p:txBody>
      </p:sp>
      <p:sp>
        <p:nvSpPr>
          <p:cNvPr id="88093" name="矩形 35">
            <a:extLst>
              <a:ext uri="{FF2B5EF4-FFF2-40B4-BE49-F238E27FC236}">
                <a16:creationId xmlns:a16="http://schemas.microsoft.com/office/drawing/2014/main" id="{CB01775D-272B-6212-09B3-1F380751C250}"/>
              </a:ext>
            </a:extLst>
          </p:cNvPr>
          <p:cNvSpPr>
            <a:spLocks noChangeArrowheads="1"/>
          </p:cNvSpPr>
          <p:nvPr/>
        </p:nvSpPr>
        <p:spPr bwMode="auto">
          <a:xfrm>
            <a:off x="8154988" y="465931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90</a:t>
            </a:r>
          </a:p>
        </p:txBody>
      </p:sp>
      <p:sp>
        <p:nvSpPr>
          <p:cNvPr id="88094" name="矩形 36">
            <a:extLst>
              <a:ext uri="{FF2B5EF4-FFF2-40B4-BE49-F238E27FC236}">
                <a16:creationId xmlns:a16="http://schemas.microsoft.com/office/drawing/2014/main" id="{033B6942-85EB-B1A1-21EA-BC108C75DB14}"/>
              </a:ext>
            </a:extLst>
          </p:cNvPr>
          <p:cNvSpPr>
            <a:spLocks noChangeArrowheads="1"/>
          </p:cNvSpPr>
          <p:nvPr/>
        </p:nvSpPr>
        <p:spPr bwMode="auto">
          <a:xfrm>
            <a:off x="8543925" y="3792538"/>
            <a:ext cx="61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100</a:t>
            </a:r>
          </a:p>
        </p:txBody>
      </p:sp>
      <p:sp>
        <p:nvSpPr>
          <p:cNvPr id="88095" name="矩形 1">
            <a:extLst>
              <a:ext uri="{FF2B5EF4-FFF2-40B4-BE49-F238E27FC236}">
                <a16:creationId xmlns:a16="http://schemas.microsoft.com/office/drawing/2014/main" id="{8FC8DCD1-782C-ADD8-DA94-AEC70F200529}"/>
              </a:ext>
            </a:extLst>
          </p:cNvPr>
          <p:cNvSpPr>
            <a:spLocks noChangeArrowheads="1"/>
          </p:cNvSpPr>
          <p:nvPr/>
        </p:nvSpPr>
        <p:spPr bwMode="auto">
          <a:xfrm>
            <a:off x="1497013" y="5670550"/>
            <a:ext cx="1504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kumimoji="1" lang="en-US" altLang="zh-CN" sz="2800">
                <a:solidFill>
                  <a:srgbClr val="FF0000"/>
                </a:solidFill>
              </a:rPr>
              <a:t>E.length</a:t>
            </a:r>
            <a:endParaRPr lang="zh-CN" altLang="en-US"/>
          </a:p>
        </p:txBody>
      </p:sp>
      <p:sp>
        <p:nvSpPr>
          <p:cNvPr id="2" name="矩形 1">
            <a:extLst>
              <a:ext uri="{FF2B5EF4-FFF2-40B4-BE49-F238E27FC236}">
                <a16:creationId xmlns:a16="http://schemas.microsoft.com/office/drawing/2014/main" id="{A2D49E1C-E912-F189-BD8E-36EECF69D1D9}"/>
              </a:ext>
            </a:extLst>
          </p:cNvPr>
          <p:cNvSpPr/>
          <p:nvPr/>
        </p:nvSpPr>
        <p:spPr>
          <a:xfrm>
            <a:off x="2789238" y="6332538"/>
            <a:ext cx="5572125" cy="400050"/>
          </a:xfrm>
          <a:prstGeom prst="rect">
            <a:avLst/>
          </a:prstGeom>
        </p:spPr>
        <p:txBody>
          <a:bodyPr wrap="none">
            <a:spAutoFit/>
          </a:bodyPr>
          <a:lstStyle/>
          <a:p>
            <a:pPr>
              <a:defRPr/>
            </a:pPr>
            <a:r>
              <a:rPr lang="zh-CN" altLang="en-US" sz="2000" dirty="0">
                <a:solidFill>
                  <a:srgbClr val="FF0000"/>
                </a:solidFill>
                <a:latin typeface="+mj-ea"/>
              </a:rPr>
              <a:t>解空间树和常见的子集树、排列树的不同之处？</a:t>
            </a:r>
            <a:endParaRPr lang="zh-CN" altLang="en-US" sz="2000"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8438E598-8389-4A5D-B96B-8C05E9E98BEE}"/>
              </a:ext>
            </a:extLst>
          </p:cNvPr>
          <p:cNvSpPr>
            <a:spLocks noGrp="1" noChangeArrowheads="1"/>
          </p:cNvSpPr>
          <p:nvPr>
            <p:ph type="title"/>
          </p:nvPr>
        </p:nvSpPr>
        <p:spPr/>
        <p:txBody>
          <a:bodyPr/>
          <a:lstStyle/>
          <a:p>
            <a:pPr>
              <a:defRPr/>
            </a:pPr>
            <a:r>
              <a:rPr lang="zh-CN" altLang="en-US" dirty="0">
                <a:latin typeface="+mj-ea"/>
              </a:rPr>
              <a:t>6.2	单源最短路径问题</a:t>
            </a:r>
          </a:p>
        </p:txBody>
      </p:sp>
      <p:sp>
        <p:nvSpPr>
          <p:cNvPr id="72707" name="灯片编号占位符 5">
            <a:extLst>
              <a:ext uri="{FF2B5EF4-FFF2-40B4-BE49-F238E27FC236}">
                <a16:creationId xmlns:a16="http://schemas.microsoft.com/office/drawing/2014/main" id="{37BC9543-564B-4998-BF24-2D3B8719F1E5}"/>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23C8B9B-0AFE-4575-AACB-181E2B3EB594}" type="slidenum">
              <a:rPr lang="zh-CN" altLang="en-US" sz="1200">
                <a:solidFill>
                  <a:schemeClr val="tx1"/>
                </a:solidFill>
                <a:latin typeface="微软雅黑" panose="020B0503020204020204" pitchFamily="34" charset="-122"/>
                <a:ea typeface="微软雅黑" panose="020B0503020204020204" pitchFamily="34" charset="-122"/>
              </a:rPr>
              <a:pPr/>
              <a:t>61</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72710" name="Rectangle 10">
            <a:extLst>
              <a:ext uri="{FF2B5EF4-FFF2-40B4-BE49-F238E27FC236}">
                <a16:creationId xmlns:a16="http://schemas.microsoft.com/office/drawing/2014/main" id="{1C1B67F2-A2A9-4C9F-8AA2-91EFCEE26776}"/>
              </a:ext>
            </a:extLst>
          </p:cNvPr>
          <p:cNvSpPr>
            <a:spLocks noChangeArrowheads="1"/>
          </p:cNvSpPr>
          <p:nvPr/>
        </p:nvSpPr>
        <p:spPr bwMode="auto">
          <a:xfrm>
            <a:off x="2905125" y="2524125"/>
            <a:ext cx="9144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endParaRPr>
          </a:p>
        </p:txBody>
      </p:sp>
      <p:pic>
        <p:nvPicPr>
          <p:cNvPr id="89093" name="Picture 4" descr="t44">
            <a:extLst>
              <a:ext uri="{FF2B5EF4-FFF2-40B4-BE49-F238E27FC236}">
                <a16:creationId xmlns:a16="http://schemas.microsoft.com/office/drawing/2014/main" id="{AA6191AE-4146-B4F9-80AD-0F68366E0FE9}"/>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6183313" y="573088"/>
            <a:ext cx="2317750" cy="2384425"/>
          </a:xfrm>
        </p:spPr>
      </p:pic>
      <p:grpSp>
        <p:nvGrpSpPr>
          <p:cNvPr id="11" name="Group 48">
            <a:extLst>
              <a:ext uri="{FF2B5EF4-FFF2-40B4-BE49-F238E27FC236}">
                <a16:creationId xmlns:a16="http://schemas.microsoft.com/office/drawing/2014/main" id="{35BC19DF-7889-45A7-B74C-72468BB5A095}"/>
              </a:ext>
            </a:extLst>
          </p:cNvPr>
          <p:cNvGrpSpPr>
            <a:grpSpLocks/>
          </p:cNvGrpSpPr>
          <p:nvPr/>
        </p:nvGrpSpPr>
        <p:grpSpPr bwMode="auto">
          <a:xfrm>
            <a:off x="5963357" y="3293145"/>
            <a:ext cx="1843087" cy="1965324"/>
            <a:chOff x="1829" y="1628"/>
            <a:chExt cx="1161" cy="1238"/>
          </a:xfrm>
          <a:solidFill>
            <a:schemeClr val="bg1"/>
          </a:solidFill>
        </p:grpSpPr>
        <p:sp>
          <p:nvSpPr>
            <p:cNvPr id="12" name="Oval 40">
              <a:extLst>
                <a:ext uri="{FF2B5EF4-FFF2-40B4-BE49-F238E27FC236}">
                  <a16:creationId xmlns:a16="http://schemas.microsoft.com/office/drawing/2014/main" id="{4A72CA9E-C526-49CE-88BF-017AC4ADF893}"/>
                </a:ext>
              </a:extLst>
            </p:cNvPr>
            <p:cNvSpPr>
              <a:spLocks noChangeArrowheads="1"/>
            </p:cNvSpPr>
            <p:nvPr/>
          </p:nvSpPr>
          <p:spPr bwMode="auto">
            <a:xfrm>
              <a:off x="2717" y="1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t>1</a:t>
              </a:r>
            </a:p>
          </p:txBody>
        </p:sp>
        <p:sp>
          <p:nvSpPr>
            <p:cNvPr id="13" name="Oval 41">
              <a:extLst>
                <a:ext uri="{FF2B5EF4-FFF2-40B4-BE49-F238E27FC236}">
                  <a16:creationId xmlns:a16="http://schemas.microsoft.com/office/drawing/2014/main" id="{2E78E8E9-4D5A-4A1C-92F5-CC7654999307}"/>
                </a:ext>
              </a:extLst>
            </p:cNvPr>
            <p:cNvSpPr>
              <a:spLocks noChangeArrowheads="1"/>
            </p:cNvSpPr>
            <p:nvPr/>
          </p:nvSpPr>
          <p:spPr bwMode="auto">
            <a:xfrm>
              <a:off x="1829" y="2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t>3</a:t>
              </a:r>
            </a:p>
          </p:txBody>
        </p:sp>
        <p:sp>
          <p:nvSpPr>
            <p:cNvPr id="14" name="Oval 42">
              <a:extLst>
                <a:ext uri="{FF2B5EF4-FFF2-40B4-BE49-F238E27FC236}">
                  <a16:creationId xmlns:a16="http://schemas.microsoft.com/office/drawing/2014/main" id="{B396973C-8D34-4DD6-9C30-AF77E9F59210}"/>
                </a:ext>
              </a:extLst>
            </p:cNvPr>
            <p:cNvSpPr>
              <a:spLocks noChangeArrowheads="1"/>
            </p:cNvSpPr>
            <p:nvPr/>
          </p:nvSpPr>
          <p:spPr bwMode="auto">
            <a:xfrm>
              <a:off x="2162" y="2131"/>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t>2</a:t>
              </a:r>
            </a:p>
          </p:txBody>
        </p:sp>
        <p:sp>
          <p:nvSpPr>
            <p:cNvPr id="15" name="Oval 43">
              <a:extLst>
                <a:ext uri="{FF2B5EF4-FFF2-40B4-BE49-F238E27FC236}">
                  <a16:creationId xmlns:a16="http://schemas.microsoft.com/office/drawing/2014/main" id="{A30559E1-A663-4244-9F0E-DFA7B5BE5CC0}"/>
                </a:ext>
              </a:extLst>
            </p:cNvPr>
            <p:cNvSpPr>
              <a:spLocks noChangeArrowheads="1"/>
            </p:cNvSpPr>
            <p:nvPr/>
          </p:nvSpPr>
          <p:spPr bwMode="auto">
            <a:xfrm>
              <a:off x="2752" y="2144"/>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t>4</a:t>
              </a:r>
            </a:p>
          </p:txBody>
        </p:sp>
      </p:grpSp>
      <p:sp>
        <p:nvSpPr>
          <p:cNvPr id="89095" name="Oval 46">
            <a:extLst>
              <a:ext uri="{FF2B5EF4-FFF2-40B4-BE49-F238E27FC236}">
                <a16:creationId xmlns:a16="http://schemas.microsoft.com/office/drawing/2014/main" id="{FEFD01E7-FB7B-E51A-C982-C297E32FA999}"/>
              </a:ext>
            </a:extLst>
          </p:cNvPr>
          <p:cNvSpPr>
            <a:spLocks noChangeArrowheads="1"/>
          </p:cNvSpPr>
          <p:nvPr/>
        </p:nvSpPr>
        <p:spPr bwMode="auto">
          <a:xfrm>
            <a:off x="8489950" y="4114800"/>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cxnSp>
        <p:nvCxnSpPr>
          <p:cNvPr id="89096" name="直接箭头连接符 16">
            <a:extLst>
              <a:ext uri="{FF2B5EF4-FFF2-40B4-BE49-F238E27FC236}">
                <a16:creationId xmlns:a16="http://schemas.microsoft.com/office/drawing/2014/main" id="{90849B17-D923-A354-0E3F-29F6632508A3}"/>
              </a:ext>
            </a:extLst>
          </p:cNvPr>
          <p:cNvCxnSpPr>
            <a:cxnSpLocks noChangeShapeType="1"/>
          </p:cNvCxnSpPr>
          <p:nvPr/>
        </p:nvCxnSpPr>
        <p:spPr bwMode="auto">
          <a:xfrm flipH="1">
            <a:off x="6546850" y="3616325"/>
            <a:ext cx="881063" cy="530225"/>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type="triangle" w="med" len="med"/>
              </a14:hiddenLine>
            </a:ext>
          </a:extLst>
        </p:spPr>
      </p:cxnSp>
      <p:cxnSp>
        <p:nvCxnSpPr>
          <p:cNvPr id="18" name="直接箭头连接符 17">
            <a:extLst>
              <a:ext uri="{FF2B5EF4-FFF2-40B4-BE49-F238E27FC236}">
                <a16:creationId xmlns:a16="http://schemas.microsoft.com/office/drawing/2014/main" id="{55023DC6-B21F-415B-BA95-83B26EAB90F2}"/>
              </a:ext>
            </a:extLst>
          </p:cNvPr>
          <p:cNvCxnSpPr>
            <a:stCxn id="12" idx="3"/>
            <a:endCxn id="14" idx="0"/>
          </p:cNvCxnSpPr>
          <p:nvPr/>
        </p:nvCxnSpPr>
        <p:spPr bwMode="auto">
          <a:xfrm flipH="1">
            <a:off x="6680200" y="3616325"/>
            <a:ext cx="747713" cy="474663"/>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9" name="直接箭头连接符 18">
            <a:extLst>
              <a:ext uri="{FF2B5EF4-FFF2-40B4-BE49-F238E27FC236}">
                <a16:creationId xmlns:a16="http://schemas.microsoft.com/office/drawing/2014/main" id="{6101D401-FA10-433D-B73A-93995BD3E780}"/>
              </a:ext>
            </a:extLst>
          </p:cNvPr>
          <p:cNvCxnSpPr>
            <a:stCxn id="12" idx="4"/>
            <a:endCxn id="15" idx="0"/>
          </p:cNvCxnSpPr>
          <p:nvPr/>
        </p:nvCxnSpPr>
        <p:spPr bwMode="auto">
          <a:xfrm>
            <a:off x="7561263" y="3670300"/>
            <a:ext cx="55562" cy="4413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0" name="直接箭头连接符 19">
            <a:extLst>
              <a:ext uri="{FF2B5EF4-FFF2-40B4-BE49-F238E27FC236}">
                <a16:creationId xmlns:a16="http://schemas.microsoft.com/office/drawing/2014/main" id="{4ADD4FF0-02FA-449C-933E-874F240EC788}"/>
              </a:ext>
            </a:extLst>
          </p:cNvPr>
          <p:cNvCxnSpPr>
            <a:stCxn id="12" idx="5"/>
            <a:endCxn id="89095" idx="0"/>
          </p:cNvCxnSpPr>
          <p:nvPr/>
        </p:nvCxnSpPr>
        <p:spPr bwMode="auto">
          <a:xfrm>
            <a:off x="7696200" y="3616325"/>
            <a:ext cx="982663" cy="49847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1" name="直接箭头连接符 20">
            <a:extLst>
              <a:ext uri="{FF2B5EF4-FFF2-40B4-BE49-F238E27FC236}">
                <a16:creationId xmlns:a16="http://schemas.microsoft.com/office/drawing/2014/main" id="{3E220F11-33C1-4F8C-80B8-0AEA130A88C5}"/>
              </a:ext>
            </a:extLst>
          </p:cNvPr>
          <p:cNvCxnSpPr>
            <a:stCxn id="14" idx="3"/>
            <a:endCxn id="13" idx="0"/>
          </p:cNvCxnSpPr>
          <p:nvPr/>
        </p:nvCxnSpPr>
        <p:spPr bwMode="auto">
          <a:xfrm flipH="1">
            <a:off x="6151563" y="4414838"/>
            <a:ext cx="395287" cy="465137"/>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89101" name="Oval 46">
            <a:extLst>
              <a:ext uri="{FF2B5EF4-FFF2-40B4-BE49-F238E27FC236}">
                <a16:creationId xmlns:a16="http://schemas.microsoft.com/office/drawing/2014/main" id="{A9122CD1-691B-EABE-C8E7-F6732ACE4512}"/>
              </a:ext>
            </a:extLst>
          </p:cNvPr>
          <p:cNvSpPr>
            <a:spLocks noChangeArrowheads="1"/>
          </p:cNvSpPr>
          <p:nvPr/>
        </p:nvSpPr>
        <p:spPr bwMode="auto">
          <a:xfrm>
            <a:off x="5584825" y="5743575"/>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cxnSp>
        <p:nvCxnSpPr>
          <p:cNvPr id="23" name="直接箭头连接符 22">
            <a:extLst>
              <a:ext uri="{FF2B5EF4-FFF2-40B4-BE49-F238E27FC236}">
                <a16:creationId xmlns:a16="http://schemas.microsoft.com/office/drawing/2014/main" id="{D2B0AF64-C0B3-4AF1-8604-76B81B11496B}"/>
              </a:ext>
            </a:extLst>
          </p:cNvPr>
          <p:cNvCxnSpPr>
            <a:stCxn id="13" idx="4"/>
            <a:endCxn id="89101" idx="0"/>
          </p:cNvCxnSpPr>
          <p:nvPr/>
        </p:nvCxnSpPr>
        <p:spPr bwMode="auto">
          <a:xfrm flipH="1">
            <a:off x="5773738" y="5257800"/>
            <a:ext cx="377825" cy="48577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4" name="直接箭头连接符 23">
            <a:extLst>
              <a:ext uri="{FF2B5EF4-FFF2-40B4-BE49-F238E27FC236}">
                <a16:creationId xmlns:a16="http://schemas.microsoft.com/office/drawing/2014/main" id="{F868D55E-F32A-4DFB-B0EC-F17A73D45D0F}"/>
              </a:ext>
            </a:extLst>
          </p:cNvPr>
          <p:cNvCxnSpPr/>
          <p:nvPr/>
        </p:nvCxnSpPr>
        <p:spPr bwMode="auto">
          <a:xfrm flipH="1">
            <a:off x="7227888" y="4484688"/>
            <a:ext cx="395287" cy="4667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89104" name="Oval 41">
            <a:extLst>
              <a:ext uri="{FF2B5EF4-FFF2-40B4-BE49-F238E27FC236}">
                <a16:creationId xmlns:a16="http://schemas.microsoft.com/office/drawing/2014/main" id="{551CED46-AA77-689A-06C9-0B2EDFAF6F8B}"/>
              </a:ext>
            </a:extLst>
          </p:cNvPr>
          <p:cNvSpPr>
            <a:spLocks noChangeArrowheads="1"/>
          </p:cNvSpPr>
          <p:nvPr/>
        </p:nvSpPr>
        <p:spPr bwMode="auto">
          <a:xfrm>
            <a:off x="6999288" y="4951413"/>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3</a:t>
            </a:r>
          </a:p>
        </p:txBody>
      </p:sp>
      <p:sp>
        <p:nvSpPr>
          <p:cNvPr id="89105" name="Oval 46">
            <a:extLst>
              <a:ext uri="{FF2B5EF4-FFF2-40B4-BE49-F238E27FC236}">
                <a16:creationId xmlns:a16="http://schemas.microsoft.com/office/drawing/2014/main" id="{093B17A4-94F0-4C24-40E8-0C436E6D6BB4}"/>
              </a:ext>
            </a:extLst>
          </p:cNvPr>
          <p:cNvSpPr>
            <a:spLocks noChangeArrowheads="1"/>
          </p:cNvSpPr>
          <p:nvPr/>
        </p:nvSpPr>
        <p:spPr bwMode="auto">
          <a:xfrm>
            <a:off x="6799263" y="5743575"/>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cxnSp>
        <p:nvCxnSpPr>
          <p:cNvPr id="27" name="直接箭头连接符 26">
            <a:extLst>
              <a:ext uri="{FF2B5EF4-FFF2-40B4-BE49-F238E27FC236}">
                <a16:creationId xmlns:a16="http://schemas.microsoft.com/office/drawing/2014/main" id="{417E0120-6914-4D2C-BE45-E0653BD89CB9}"/>
              </a:ext>
            </a:extLst>
          </p:cNvPr>
          <p:cNvCxnSpPr>
            <a:endCxn id="89105" idx="0"/>
          </p:cNvCxnSpPr>
          <p:nvPr/>
        </p:nvCxnSpPr>
        <p:spPr bwMode="auto">
          <a:xfrm flipH="1">
            <a:off x="6988175" y="5329238"/>
            <a:ext cx="188913" cy="414337"/>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89107" name="Oval 46">
            <a:extLst>
              <a:ext uri="{FF2B5EF4-FFF2-40B4-BE49-F238E27FC236}">
                <a16:creationId xmlns:a16="http://schemas.microsoft.com/office/drawing/2014/main" id="{1A83E01E-CD15-60D2-EFDD-483BE541201D}"/>
              </a:ext>
            </a:extLst>
          </p:cNvPr>
          <p:cNvSpPr>
            <a:spLocks noChangeArrowheads="1"/>
          </p:cNvSpPr>
          <p:nvPr/>
        </p:nvSpPr>
        <p:spPr bwMode="auto">
          <a:xfrm>
            <a:off x="8012113" y="4948238"/>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a:t>
            </a:r>
          </a:p>
        </p:txBody>
      </p:sp>
      <p:cxnSp>
        <p:nvCxnSpPr>
          <p:cNvPr id="29" name="直接箭头连接符 28">
            <a:extLst>
              <a:ext uri="{FF2B5EF4-FFF2-40B4-BE49-F238E27FC236}">
                <a16:creationId xmlns:a16="http://schemas.microsoft.com/office/drawing/2014/main" id="{AF8E37CA-BCBE-4572-B8C7-8EEB92B0EFB5}"/>
              </a:ext>
            </a:extLst>
          </p:cNvPr>
          <p:cNvCxnSpPr>
            <a:endCxn id="89107" idx="0"/>
          </p:cNvCxnSpPr>
          <p:nvPr/>
        </p:nvCxnSpPr>
        <p:spPr bwMode="auto">
          <a:xfrm>
            <a:off x="7639050" y="4484688"/>
            <a:ext cx="561975" cy="463550"/>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89109" name="矩形 1">
            <a:extLst>
              <a:ext uri="{FF2B5EF4-FFF2-40B4-BE49-F238E27FC236}">
                <a16:creationId xmlns:a16="http://schemas.microsoft.com/office/drawing/2014/main" id="{2AE58956-D7BE-2339-D00C-07D5908517A7}"/>
              </a:ext>
            </a:extLst>
          </p:cNvPr>
          <p:cNvSpPr>
            <a:spLocks noChangeArrowheads="1"/>
          </p:cNvSpPr>
          <p:nvPr/>
        </p:nvSpPr>
        <p:spPr bwMode="auto">
          <a:xfrm>
            <a:off x="6210300" y="382270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10</a:t>
            </a:r>
          </a:p>
        </p:txBody>
      </p:sp>
      <p:sp>
        <p:nvSpPr>
          <p:cNvPr id="89110" name="矩形 30">
            <a:extLst>
              <a:ext uri="{FF2B5EF4-FFF2-40B4-BE49-F238E27FC236}">
                <a16:creationId xmlns:a16="http://schemas.microsoft.com/office/drawing/2014/main" id="{304C9DF8-03A2-1BD1-A0B8-52620D964947}"/>
              </a:ext>
            </a:extLst>
          </p:cNvPr>
          <p:cNvSpPr>
            <a:spLocks noChangeArrowheads="1"/>
          </p:cNvSpPr>
          <p:nvPr/>
        </p:nvSpPr>
        <p:spPr bwMode="auto">
          <a:xfrm>
            <a:off x="5694363" y="456406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60</a:t>
            </a:r>
          </a:p>
        </p:txBody>
      </p:sp>
      <p:sp>
        <p:nvSpPr>
          <p:cNvPr id="89111" name="矩形 31">
            <a:extLst>
              <a:ext uri="{FF2B5EF4-FFF2-40B4-BE49-F238E27FC236}">
                <a16:creationId xmlns:a16="http://schemas.microsoft.com/office/drawing/2014/main" id="{D26B2968-FB69-2EC6-270F-CE06B9FAABD9}"/>
              </a:ext>
            </a:extLst>
          </p:cNvPr>
          <p:cNvSpPr>
            <a:spLocks noChangeArrowheads="1"/>
          </p:cNvSpPr>
          <p:nvPr/>
        </p:nvSpPr>
        <p:spPr bwMode="auto">
          <a:xfrm>
            <a:off x="5203825" y="55324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70</a:t>
            </a:r>
          </a:p>
        </p:txBody>
      </p:sp>
      <p:sp>
        <p:nvSpPr>
          <p:cNvPr id="89112" name="矩形 32">
            <a:extLst>
              <a:ext uri="{FF2B5EF4-FFF2-40B4-BE49-F238E27FC236}">
                <a16:creationId xmlns:a16="http://schemas.microsoft.com/office/drawing/2014/main" id="{80A79D95-0C14-7013-D3B9-21E81858F292}"/>
              </a:ext>
            </a:extLst>
          </p:cNvPr>
          <p:cNvSpPr>
            <a:spLocks noChangeArrowheads="1"/>
          </p:cNvSpPr>
          <p:nvPr/>
        </p:nvSpPr>
        <p:spPr bwMode="auto">
          <a:xfrm>
            <a:off x="7107238" y="38687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30</a:t>
            </a:r>
          </a:p>
        </p:txBody>
      </p:sp>
      <p:sp>
        <p:nvSpPr>
          <p:cNvPr id="89113" name="矩形 33">
            <a:extLst>
              <a:ext uri="{FF2B5EF4-FFF2-40B4-BE49-F238E27FC236}">
                <a16:creationId xmlns:a16="http://schemas.microsoft.com/office/drawing/2014/main" id="{60753E31-B6C5-3681-BEE4-55EFD8475AB0}"/>
              </a:ext>
            </a:extLst>
          </p:cNvPr>
          <p:cNvSpPr>
            <a:spLocks noChangeArrowheads="1"/>
          </p:cNvSpPr>
          <p:nvPr/>
        </p:nvSpPr>
        <p:spPr bwMode="auto">
          <a:xfrm>
            <a:off x="6743700" y="466248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50</a:t>
            </a:r>
          </a:p>
        </p:txBody>
      </p:sp>
      <p:sp>
        <p:nvSpPr>
          <p:cNvPr id="89114" name="矩形 34">
            <a:extLst>
              <a:ext uri="{FF2B5EF4-FFF2-40B4-BE49-F238E27FC236}">
                <a16:creationId xmlns:a16="http://schemas.microsoft.com/office/drawing/2014/main" id="{865BCE92-CB03-B4BC-0A40-8098C03322FA}"/>
              </a:ext>
            </a:extLst>
          </p:cNvPr>
          <p:cNvSpPr>
            <a:spLocks noChangeArrowheads="1"/>
          </p:cNvSpPr>
          <p:nvPr/>
        </p:nvSpPr>
        <p:spPr bwMode="auto">
          <a:xfrm>
            <a:off x="6473825" y="551180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60</a:t>
            </a:r>
          </a:p>
        </p:txBody>
      </p:sp>
      <p:sp>
        <p:nvSpPr>
          <p:cNvPr id="89115" name="矩形 35">
            <a:extLst>
              <a:ext uri="{FF2B5EF4-FFF2-40B4-BE49-F238E27FC236}">
                <a16:creationId xmlns:a16="http://schemas.microsoft.com/office/drawing/2014/main" id="{000D5C23-EAD0-FE75-C5D4-BE8F7279C7DF}"/>
              </a:ext>
            </a:extLst>
          </p:cNvPr>
          <p:cNvSpPr>
            <a:spLocks noChangeArrowheads="1"/>
          </p:cNvSpPr>
          <p:nvPr/>
        </p:nvSpPr>
        <p:spPr bwMode="auto">
          <a:xfrm>
            <a:off x="8154988" y="465931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90</a:t>
            </a:r>
          </a:p>
        </p:txBody>
      </p:sp>
      <p:sp>
        <p:nvSpPr>
          <p:cNvPr id="89116" name="矩形 36">
            <a:extLst>
              <a:ext uri="{FF2B5EF4-FFF2-40B4-BE49-F238E27FC236}">
                <a16:creationId xmlns:a16="http://schemas.microsoft.com/office/drawing/2014/main" id="{0A09E293-E1DD-8201-E0D0-5B46BFA7831E}"/>
              </a:ext>
            </a:extLst>
          </p:cNvPr>
          <p:cNvSpPr>
            <a:spLocks noChangeArrowheads="1"/>
          </p:cNvSpPr>
          <p:nvPr/>
        </p:nvSpPr>
        <p:spPr bwMode="auto">
          <a:xfrm>
            <a:off x="8543925" y="3792538"/>
            <a:ext cx="61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100</a:t>
            </a:r>
          </a:p>
        </p:txBody>
      </p:sp>
      <p:sp>
        <p:nvSpPr>
          <p:cNvPr id="38" name="Text Box 6">
            <a:extLst>
              <a:ext uri="{FF2B5EF4-FFF2-40B4-BE49-F238E27FC236}">
                <a16:creationId xmlns:a16="http://schemas.microsoft.com/office/drawing/2014/main" id="{97BDFE5A-A503-4EA6-830E-8F5A29F174C3}"/>
              </a:ext>
            </a:extLst>
          </p:cNvPr>
          <p:cNvSpPr txBox="1">
            <a:spLocks noChangeArrowheads="1"/>
          </p:cNvSpPr>
          <p:nvPr/>
        </p:nvSpPr>
        <p:spPr bwMode="auto">
          <a:xfrm>
            <a:off x="563563" y="1241425"/>
            <a:ext cx="7086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en-US" altLang="zh-CN" sz="3200" dirty="0">
                <a:solidFill>
                  <a:schemeClr val="accent2"/>
                </a:solidFill>
                <a:latin typeface="+mj-ea"/>
                <a:ea typeface="+mj-ea"/>
              </a:rPr>
              <a:t>2</a:t>
            </a:r>
            <a:r>
              <a:rPr kumimoji="1" lang="zh-CN" altLang="en-US" sz="3200" dirty="0">
                <a:solidFill>
                  <a:schemeClr val="accent2"/>
                </a:solidFill>
                <a:latin typeface="+mj-ea"/>
                <a:ea typeface="+mj-ea"/>
              </a:rPr>
              <a:t>. 剪枝策略</a:t>
            </a:r>
            <a:endParaRPr lang="zh-CN" altLang="en-US" dirty="0">
              <a:solidFill>
                <a:schemeClr val="accent2"/>
              </a:solidFill>
              <a:latin typeface="+mj-ea"/>
              <a:ea typeface="+mj-ea"/>
            </a:endParaRPr>
          </a:p>
        </p:txBody>
      </p:sp>
      <p:sp>
        <p:nvSpPr>
          <p:cNvPr id="39" name="Text Box 7">
            <a:extLst>
              <a:ext uri="{FF2B5EF4-FFF2-40B4-BE49-F238E27FC236}">
                <a16:creationId xmlns:a16="http://schemas.microsoft.com/office/drawing/2014/main" id="{FDF4E79C-697F-4E72-90FF-AF0ED71F3823}"/>
              </a:ext>
            </a:extLst>
          </p:cNvPr>
          <p:cNvSpPr txBox="1">
            <a:spLocks noChangeArrowheads="1"/>
          </p:cNvSpPr>
          <p:nvPr/>
        </p:nvSpPr>
        <p:spPr bwMode="auto">
          <a:xfrm>
            <a:off x="635000" y="2098675"/>
            <a:ext cx="47974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just"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约束条件：有边相连</a:t>
            </a:r>
            <a:endParaRPr lang="en-US" altLang="zh-CN" sz="2400" dirty="0">
              <a:solidFill>
                <a:schemeClr val="tx1"/>
              </a:solidFill>
              <a:latin typeface="+mj-ea"/>
              <a:ea typeface="+mj-ea"/>
            </a:endParaRPr>
          </a:p>
          <a:p>
            <a:pPr algn="just"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限界条件：</a:t>
            </a:r>
            <a:endParaRPr lang="en-US" altLang="zh-CN" sz="2400" dirty="0">
              <a:solidFill>
                <a:schemeClr val="tx1"/>
              </a:solidFill>
              <a:latin typeface="+mj-ea"/>
              <a:ea typeface="+mj-ea"/>
            </a:endParaRPr>
          </a:p>
          <a:p>
            <a:pPr lvl="1" algn="just"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从源顶点</a:t>
            </a:r>
            <a:r>
              <a:rPr lang="en-US" altLang="zh-CN" sz="2400" dirty="0">
                <a:solidFill>
                  <a:schemeClr val="tx1"/>
                </a:solidFill>
                <a:latin typeface="+mj-ea"/>
                <a:ea typeface="+mj-ea"/>
              </a:rPr>
              <a:t>1</a:t>
            </a:r>
            <a:r>
              <a:rPr lang="zh-CN" altLang="en-US" sz="2400" dirty="0">
                <a:solidFill>
                  <a:schemeClr val="tx1"/>
                </a:solidFill>
                <a:latin typeface="+mj-ea"/>
                <a:ea typeface="+mj-ea"/>
              </a:rPr>
              <a:t>出发，可能有多条不同路径到达的同一顶点。由于两条路径的路长不同，因此可以</a:t>
            </a:r>
            <a:r>
              <a:rPr lang="zh-CN" altLang="en-US" sz="2400" dirty="0">
                <a:solidFill>
                  <a:srgbClr val="FF0000"/>
                </a:solidFill>
                <a:latin typeface="+mj-ea"/>
                <a:ea typeface="+mj-ea"/>
              </a:rPr>
              <a:t>将路长长的路径</a:t>
            </a:r>
            <a:r>
              <a:rPr lang="zh-CN" altLang="en-US" sz="2400" dirty="0">
                <a:solidFill>
                  <a:schemeClr val="tx1"/>
                </a:solidFill>
                <a:latin typeface="+mj-ea"/>
                <a:ea typeface="+mj-ea"/>
              </a:rPr>
              <a:t>所对应的树中的结点为根的子树剪去</a:t>
            </a:r>
          </a:p>
        </p:txBody>
      </p:sp>
      <p:sp>
        <p:nvSpPr>
          <p:cNvPr id="3" name="矩形 2">
            <a:extLst>
              <a:ext uri="{FF2B5EF4-FFF2-40B4-BE49-F238E27FC236}">
                <a16:creationId xmlns:a16="http://schemas.microsoft.com/office/drawing/2014/main" id="{CE49600D-3BD8-6027-C9E6-717AE06DC3CA}"/>
              </a:ext>
            </a:extLst>
          </p:cNvPr>
          <p:cNvSpPr>
            <a:spLocks noChangeArrowheads="1"/>
          </p:cNvSpPr>
          <p:nvPr/>
        </p:nvSpPr>
        <p:spPr bwMode="auto">
          <a:xfrm>
            <a:off x="620713" y="5580063"/>
            <a:ext cx="44942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kumimoji="1" lang="en-US" altLang="zh-CN" sz="3200">
                <a:solidFill>
                  <a:srgbClr val="FF0000"/>
                </a:solidFill>
              </a:rPr>
              <a:t>E.length+c[E.i][j]&lt;dist[j]</a:t>
            </a:r>
            <a:endParaRPr lang="zh-CN" altLang="en-US"/>
          </a:p>
        </p:txBody>
      </p:sp>
      <p:sp>
        <p:nvSpPr>
          <p:cNvPr id="36" name="矩形 35">
            <a:extLst>
              <a:ext uri="{FF2B5EF4-FFF2-40B4-BE49-F238E27FC236}">
                <a16:creationId xmlns:a16="http://schemas.microsoft.com/office/drawing/2014/main" id="{33A65978-FE29-D0A5-5DF0-543FADCD8BA9}"/>
              </a:ext>
            </a:extLst>
          </p:cNvPr>
          <p:cNvSpPr/>
          <p:nvPr/>
        </p:nvSpPr>
        <p:spPr>
          <a:xfrm>
            <a:off x="1116013" y="6264275"/>
            <a:ext cx="5753100" cy="554038"/>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p>
            <a:pPr>
              <a:defRPr/>
            </a:pPr>
            <a:r>
              <a:rPr lang="zh-CN" altLang="en-US" dirty="0">
                <a:latin typeface="+mj-ea"/>
                <a:ea typeface="+mj-ea"/>
              </a:rPr>
              <a:t>可以用类似于</a:t>
            </a:r>
            <a:r>
              <a:rPr lang="en-US" altLang="zh-CN" dirty="0">
                <a:latin typeface="+mj-ea"/>
                <a:ea typeface="+mj-ea"/>
              </a:rPr>
              <a:t>TSP</a:t>
            </a:r>
            <a:r>
              <a:rPr lang="zh-CN" altLang="en-US" dirty="0">
                <a:latin typeface="+mj-ea"/>
                <a:ea typeface="+mj-ea"/>
              </a:rPr>
              <a:t>的</a:t>
            </a:r>
            <a:r>
              <a:rPr lang="en-US" altLang="zh-CN" dirty="0" err="1">
                <a:latin typeface="+mj-ea"/>
                <a:ea typeface="+mj-ea"/>
              </a:rPr>
              <a:t>MinOut</a:t>
            </a:r>
            <a:r>
              <a:rPr lang="zh-CN" altLang="en-US" dirty="0">
                <a:latin typeface="+mj-ea"/>
                <a:ea typeface="+mj-ea"/>
              </a:rPr>
              <a:t>吗？</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box(in)">
                                      <p:cBhvr>
                                        <p:cTn id="7" dur="500"/>
                                        <p:tgtEl>
                                          <p:spTgt spid="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utoUpdateAnimBg="0"/>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AFBD16A-6813-4564-AB03-8F0EE10F37D7}"/>
              </a:ext>
            </a:extLst>
          </p:cNvPr>
          <p:cNvSpPr>
            <a:spLocks noGrp="1" noChangeArrowheads="1"/>
          </p:cNvSpPr>
          <p:nvPr>
            <p:ph type="title"/>
          </p:nvPr>
        </p:nvSpPr>
        <p:spPr/>
        <p:txBody>
          <a:bodyPr/>
          <a:lstStyle/>
          <a:p>
            <a:pPr>
              <a:defRPr/>
            </a:pPr>
            <a:r>
              <a:rPr lang="zh-CN" altLang="en-US" dirty="0">
                <a:latin typeface="+mj-ea"/>
              </a:rPr>
              <a:t>6.2	单源最短路径问题</a:t>
            </a:r>
          </a:p>
        </p:txBody>
      </p:sp>
      <p:sp>
        <p:nvSpPr>
          <p:cNvPr id="327685" name="Text Box 5">
            <a:extLst>
              <a:ext uri="{FF2B5EF4-FFF2-40B4-BE49-F238E27FC236}">
                <a16:creationId xmlns:a16="http://schemas.microsoft.com/office/drawing/2014/main" id="{2B6BB868-B232-429A-90FC-1735893465B7}"/>
              </a:ext>
            </a:extLst>
          </p:cNvPr>
          <p:cNvSpPr txBox="1">
            <a:spLocks noChangeArrowheads="1"/>
          </p:cNvSpPr>
          <p:nvPr/>
        </p:nvSpPr>
        <p:spPr bwMode="auto">
          <a:xfrm>
            <a:off x="357188" y="1143000"/>
            <a:ext cx="5638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en-US" altLang="zh-CN" sz="3200" dirty="0">
                <a:solidFill>
                  <a:schemeClr val="accent2"/>
                </a:solidFill>
                <a:latin typeface="+mj-ea"/>
                <a:ea typeface="+mj-ea"/>
              </a:rPr>
              <a:t>3</a:t>
            </a:r>
            <a:r>
              <a:rPr kumimoji="1" lang="zh-CN" altLang="en-US" sz="3200" dirty="0">
                <a:solidFill>
                  <a:schemeClr val="accent2"/>
                </a:solidFill>
                <a:latin typeface="+mj-ea"/>
                <a:ea typeface="+mj-ea"/>
              </a:rPr>
              <a:t>. 数据结构</a:t>
            </a:r>
          </a:p>
        </p:txBody>
      </p:sp>
      <p:sp>
        <p:nvSpPr>
          <p:cNvPr id="91140" name="Text Box 8">
            <a:extLst>
              <a:ext uri="{FF2B5EF4-FFF2-40B4-BE49-F238E27FC236}">
                <a16:creationId xmlns:a16="http://schemas.microsoft.com/office/drawing/2014/main" id="{6C91F733-FF24-B474-C1D6-BE695E65B530}"/>
              </a:ext>
            </a:extLst>
          </p:cNvPr>
          <p:cNvSpPr txBox="1">
            <a:spLocks noChangeArrowheads="1"/>
          </p:cNvSpPr>
          <p:nvPr/>
        </p:nvSpPr>
        <p:spPr bwMode="auto">
          <a:xfrm>
            <a:off x="817563" y="1773238"/>
            <a:ext cx="50800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pPr>
            <a:r>
              <a:rPr lang="en-US" altLang="zh-CN" sz="2000">
                <a:solidFill>
                  <a:schemeClr val="tx1"/>
                </a:solidFill>
                <a:latin typeface="微软雅黑" panose="020B0503020204020204" pitchFamily="34" charset="-122"/>
                <a:ea typeface="微软雅黑" panose="020B0503020204020204" pitchFamily="34" charset="-122"/>
              </a:rPr>
              <a:t>Class Graph</a:t>
            </a:r>
          </a:p>
          <a:p>
            <a:pPr eaLnBrk="1" hangingPunct="1">
              <a:spcBef>
                <a:spcPct val="50000"/>
              </a:spcBef>
              <a:buClr>
                <a:schemeClr val="accent1"/>
              </a:buClr>
              <a:buSzPct val="65000"/>
            </a:pPr>
            <a:r>
              <a:rPr lang="en-US" altLang="zh-CN" sz="2000">
                <a:solidFill>
                  <a:schemeClr val="tx1"/>
                </a:solidFill>
                <a:latin typeface="微软雅黑" panose="020B0503020204020204" pitchFamily="34" charset="-122"/>
                <a:ea typeface="微软雅黑" panose="020B0503020204020204" pitchFamily="34" charset="-122"/>
              </a:rPr>
              <a:t>{     int    n</a:t>
            </a:r>
            <a:r>
              <a:rPr lang="zh-CN" altLang="en-US" sz="2000">
                <a:solidFill>
                  <a:schemeClr val="tx1"/>
                </a:solidFill>
                <a:latin typeface="微软雅黑" panose="020B0503020204020204" pitchFamily="34" charset="-122"/>
                <a:ea typeface="微软雅黑" panose="020B0503020204020204" pitchFamily="34" charset="-122"/>
              </a:rPr>
              <a:t>；   </a:t>
            </a:r>
            <a:r>
              <a:rPr lang="en-US" altLang="zh-CN" sz="2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顶点编号</a:t>
            </a:r>
            <a:r>
              <a:rPr lang="zh-CN" altLang="en-US" sz="2000">
                <a:solidFill>
                  <a:schemeClr val="tx1"/>
                </a:solidFill>
                <a:latin typeface="微软雅黑" panose="020B0503020204020204" pitchFamily="34" charset="-122"/>
                <a:ea typeface="微软雅黑" panose="020B0503020204020204" pitchFamily="34" charset="-122"/>
              </a:rPr>
              <a:t>   </a:t>
            </a:r>
            <a:r>
              <a:rPr lang="en-US" altLang="zh-CN" sz="2000">
                <a:solidFill>
                  <a:schemeClr val="tx1"/>
                </a:solidFill>
                <a:latin typeface="微软雅黑" panose="020B0503020204020204" pitchFamily="34" charset="-122"/>
                <a:ea typeface="微软雅黑" panose="020B0503020204020204" pitchFamily="34" charset="-122"/>
              </a:rPr>
              <a:t>     </a:t>
            </a:r>
          </a:p>
          <a:p>
            <a:pPr eaLnBrk="1" hangingPunct="1">
              <a:spcBef>
                <a:spcPct val="50000"/>
              </a:spcBef>
              <a:buClr>
                <a:schemeClr val="accent1"/>
              </a:buClr>
              <a:buSzPct val="65000"/>
            </a:pPr>
            <a:r>
              <a:rPr lang="en-US" altLang="zh-CN" sz="2000">
                <a:solidFill>
                  <a:schemeClr val="tx1"/>
                </a:solidFill>
                <a:latin typeface="微软雅黑" panose="020B0503020204020204" pitchFamily="34" charset="-122"/>
                <a:ea typeface="微软雅黑" panose="020B0503020204020204" pitchFamily="34" charset="-122"/>
              </a:rPr>
              <a:t>     Type **c</a:t>
            </a:r>
            <a:r>
              <a:rPr lang="zh-CN" altLang="en-US" sz="2000">
                <a:solidFill>
                  <a:schemeClr val="tx1"/>
                </a:solidFill>
                <a:latin typeface="微软雅黑" panose="020B0503020204020204" pitchFamily="34" charset="-122"/>
                <a:ea typeface="微软雅黑" panose="020B0503020204020204" pitchFamily="34" charset="-122"/>
              </a:rPr>
              <a:t>；</a:t>
            </a:r>
            <a:r>
              <a:rPr lang="en-US" altLang="zh-CN" sz="2000">
                <a:solidFill>
                  <a:schemeClr val="tx1"/>
                </a:solidFill>
                <a:latin typeface="微软雅黑" panose="020B0503020204020204" pitchFamily="34" charset="-122"/>
                <a:ea typeface="微软雅黑" panose="020B0503020204020204" pitchFamily="34" charset="-122"/>
              </a:rPr>
              <a:t> //</a:t>
            </a:r>
            <a:r>
              <a:rPr lang="zh-CN" altLang="en-US" sz="2000">
                <a:solidFill>
                  <a:schemeClr val="tx1"/>
                </a:solidFill>
                <a:latin typeface="微软雅黑" panose="020B0503020204020204" pitchFamily="34" charset="-122"/>
                <a:ea typeface="微软雅黑" panose="020B0503020204020204" pitchFamily="34" charset="-122"/>
              </a:rPr>
              <a:t>邻接矩阵 </a:t>
            </a:r>
            <a:endParaRPr lang="en-US" altLang="zh-CN" sz="2000">
              <a:solidFill>
                <a:schemeClr val="tx1"/>
              </a:solidFill>
              <a:latin typeface="微软雅黑" panose="020B0503020204020204" pitchFamily="34" charset="-122"/>
              <a:ea typeface="微软雅黑" panose="020B0503020204020204" pitchFamily="34" charset="-122"/>
            </a:endParaRPr>
          </a:p>
          <a:p>
            <a:pPr eaLnBrk="1" hangingPunct="1">
              <a:spcBef>
                <a:spcPct val="50000"/>
              </a:spcBef>
              <a:buClr>
                <a:schemeClr val="accent1"/>
              </a:buClr>
              <a:buSzPct val="65000"/>
            </a:pPr>
            <a:r>
              <a:rPr lang="en-US" altLang="zh-CN" sz="2000">
                <a:solidFill>
                  <a:schemeClr val="tx1"/>
                </a:solidFill>
                <a:latin typeface="微软雅黑" panose="020B0503020204020204" pitchFamily="34" charset="-122"/>
                <a:ea typeface="微软雅黑" panose="020B0503020204020204" pitchFamily="34" charset="-122"/>
              </a:rPr>
              <a:t>     Type *dist; //</a:t>
            </a:r>
            <a:r>
              <a:rPr lang="zh-CN" altLang="en-US" sz="2000">
                <a:solidFill>
                  <a:schemeClr val="tx1"/>
                </a:solidFill>
                <a:latin typeface="微软雅黑" panose="020B0503020204020204" pitchFamily="34" charset="-122"/>
                <a:ea typeface="微软雅黑" panose="020B0503020204020204" pitchFamily="34" charset="-122"/>
              </a:rPr>
              <a:t>源点到各顶点最短距离 </a:t>
            </a:r>
            <a:endParaRPr lang="en-US" altLang="zh-CN" sz="2000">
              <a:solidFill>
                <a:schemeClr val="tx1"/>
              </a:solidFill>
              <a:latin typeface="微软雅黑" panose="020B0503020204020204" pitchFamily="34" charset="-122"/>
              <a:ea typeface="微软雅黑" panose="020B0503020204020204" pitchFamily="34" charset="-122"/>
            </a:endParaRPr>
          </a:p>
          <a:p>
            <a:pPr eaLnBrk="1" hangingPunct="1">
              <a:spcBef>
                <a:spcPct val="50000"/>
              </a:spcBef>
              <a:buClr>
                <a:schemeClr val="accent1"/>
              </a:buClr>
              <a:buSzPct val="65000"/>
              <a:buFont typeface="Wingdings" panose="05000000000000000000" pitchFamily="2" charset="2"/>
              <a:buNone/>
            </a:pPr>
            <a:r>
              <a:rPr lang="en-US" altLang="zh-CN" sz="2000">
                <a:solidFill>
                  <a:schemeClr val="tx1"/>
                </a:solidFill>
                <a:latin typeface="微软雅黑" panose="020B0503020204020204" pitchFamily="34" charset="-122"/>
                <a:ea typeface="微软雅黑" panose="020B0503020204020204" pitchFamily="34" charset="-122"/>
              </a:rPr>
              <a:t>      int  *prev;  //</a:t>
            </a:r>
            <a:r>
              <a:rPr lang="zh-CN" altLang="en-US" sz="2000">
                <a:solidFill>
                  <a:schemeClr val="tx1"/>
                </a:solidFill>
                <a:latin typeface="微软雅黑" panose="020B0503020204020204" pitchFamily="34" charset="-122"/>
                <a:ea typeface="微软雅黑" panose="020B0503020204020204" pitchFamily="34" charset="-122"/>
              </a:rPr>
              <a:t>前驱顶点数组</a:t>
            </a:r>
            <a:endParaRPr lang="en-US" altLang="zh-CN" sz="2000">
              <a:solidFill>
                <a:schemeClr val="tx1"/>
              </a:solidFill>
              <a:latin typeface="微软雅黑" panose="020B0503020204020204" pitchFamily="34" charset="-122"/>
              <a:ea typeface="微软雅黑" panose="020B0503020204020204" pitchFamily="34" charset="-122"/>
            </a:endParaRPr>
          </a:p>
          <a:p>
            <a:pPr eaLnBrk="1" hangingPunct="1">
              <a:spcBef>
                <a:spcPct val="50000"/>
              </a:spcBef>
              <a:buClr>
                <a:schemeClr val="accent1"/>
              </a:buClr>
              <a:buSzPct val="65000"/>
              <a:buFont typeface="Wingdings" panose="05000000000000000000" pitchFamily="2" charset="2"/>
              <a:buNone/>
            </a:pPr>
            <a:r>
              <a:rPr lang="en-US" altLang="zh-CN" sz="2000">
                <a:solidFill>
                  <a:schemeClr val="tx1"/>
                </a:solidFill>
                <a:latin typeface="微软雅黑" panose="020B0503020204020204" pitchFamily="34" charset="-122"/>
                <a:ea typeface="微软雅黑" panose="020B0503020204020204" pitchFamily="34" charset="-122"/>
              </a:rPr>
              <a:t>}</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72710" name="Rectangle 10">
            <a:extLst>
              <a:ext uri="{FF2B5EF4-FFF2-40B4-BE49-F238E27FC236}">
                <a16:creationId xmlns:a16="http://schemas.microsoft.com/office/drawing/2014/main" id="{5901CC37-AF4D-4E5B-BA8A-33B5A6469736}"/>
              </a:ext>
            </a:extLst>
          </p:cNvPr>
          <p:cNvSpPr>
            <a:spLocks noChangeArrowheads="1"/>
          </p:cNvSpPr>
          <p:nvPr/>
        </p:nvSpPr>
        <p:spPr bwMode="auto">
          <a:xfrm>
            <a:off x="2905125" y="2524125"/>
            <a:ext cx="9144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endParaRPr>
          </a:p>
        </p:txBody>
      </p:sp>
      <p:pic>
        <p:nvPicPr>
          <p:cNvPr id="10" name="Picture 4" descr="t44">
            <a:extLst>
              <a:ext uri="{FF2B5EF4-FFF2-40B4-BE49-F238E27FC236}">
                <a16:creationId xmlns:a16="http://schemas.microsoft.com/office/drawing/2014/main" id="{2AE24D70-06D8-E37D-54C2-8350E1A6D0A8}"/>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156325" y="1970088"/>
            <a:ext cx="2317750" cy="2384425"/>
          </a:xfrm>
        </p:spPr>
      </p:pic>
      <p:sp>
        <p:nvSpPr>
          <p:cNvPr id="38" name="Rectangle 3">
            <a:extLst>
              <a:ext uri="{FF2B5EF4-FFF2-40B4-BE49-F238E27FC236}">
                <a16:creationId xmlns:a16="http://schemas.microsoft.com/office/drawing/2014/main" id="{11CAE014-F871-480E-B1C7-FFA89158A4A2}"/>
              </a:ext>
            </a:extLst>
          </p:cNvPr>
          <p:cNvSpPr txBox="1">
            <a:spLocks noRot="1" noChangeArrowheads="1"/>
          </p:cNvSpPr>
          <p:nvPr/>
        </p:nvSpPr>
        <p:spPr bwMode="auto">
          <a:xfrm>
            <a:off x="684213" y="4552950"/>
            <a:ext cx="8286750" cy="3097213"/>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Font typeface="Wingdings" panose="05000000000000000000" pitchFamily="2" charset="2"/>
              <a:buNone/>
              <a:defRPr/>
            </a:pPr>
            <a:r>
              <a:rPr lang="en-US" altLang="zh-CN" sz="2000" kern="0" dirty="0">
                <a:latin typeface="+mj-ea"/>
                <a:ea typeface="+mj-ea"/>
                <a:cs typeface="Times New Roman" panose="02020603050405020304" pitchFamily="18" charset="0"/>
              </a:rPr>
              <a:t>Class </a:t>
            </a:r>
            <a:r>
              <a:rPr lang="en-US" altLang="zh-CN" sz="2000" kern="0" dirty="0" err="1">
                <a:latin typeface="+mj-ea"/>
                <a:ea typeface="+mj-ea"/>
                <a:cs typeface="Times New Roman" panose="02020603050405020304" pitchFamily="18" charset="0"/>
              </a:rPr>
              <a:t>MinHeapNode</a:t>
            </a:r>
            <a:endParaRPr lang="en-US" altLang="zh-CN" sz="2000" kern="0" dirty="0">
              <a:latin typeface="+mj-ea"/>
              <a:ea typeface="+mj-ea"/>
              <a:cs typeface="Times New Roman" panose="02020603050405020304" pitchFamily="18" charset="0"/>
            </a:endParaRPr>
          </a:p>
          <a:p>
            <a:pPr>
              <a:buFont typeface="Wingdings" panose="05000000000000000000" pitchFamily="2" charset="2"/>
              <a:buNone/>
              <a:defRPr/>
            </a:pPr>
            <a:r>
              <a:rPr lang="en-US" altLang="zh-CN" sz="2000" kern="0" dirty="0">
                <a:latin typeface="+mj-ea"/>
                <a:ea typeface="+mj-ea"/>
                <a:cs typeface="Times New Roman" panose="02020603050405020304" pitchFamily="18" charset="0"/>
              </a:rPr>
              <a:t>{</a:t>
            </a:r>
          </a:p>
          <a:p>
            <a:pPr>
              <a:buFont typeface="Wingdings" panose="05000000000000000000" pitchFamily="2" charset="2"/>
              <a:buNone/>
              <a:defRPr/>
            </a:pPr>
            <a:r>
              <a:rPr lang="en-US" altLang="zh-CN" sz="2000" kern="0" dirty="0">
                <a:latin typeface="+mj-ea"/>
                <a:ea typeface="+mj-ea"/>
                <a:cs typeface="Times New Roman" panose="02020603050405020304" pitchFamily="18" charset="0"/>
              </a:rPr>
              <a:t>    </a:t>
            </a:r>
            <a:r>
              <a:rPr lang="en-US" altLang="zh-CN" sz="2000" kern="0" dirty="0" err="1">
                <a:latin typeface="+mj-ea"/>
                <a:ea typeface="+mj-ea"/>
                <a:cs typeface="Times New Roman" panose="02020603050405020304" pitchFamily="18" charset="0"/>
              </a:rPr>
              <a:t>int</a:t>
            </a:r>
            <a:r>
              <a:rPr lang="en-US" altLang="zh-CN" sz="2000" kern="0" dirty="0">
                <a:latin typeface="+mj-ea"/>
                <a:ea typeface="+mj-ea"/>
                <a:cs typeface="Times New Roman" panose="02020603050405020304" pitchFamily="18" charset="0"/>
              </a:rPr>
              <a:t> </a:t>
            </a:r>
            <a:r>
              <a:rPr lang="en-US" altLang="zh-CN" sz="2000" kern="0" dirty="0" err="1">
                <a:latin typeface="+mj-ea"/>
                <a:ea typeface="+mj-ea"/>
                <a:cs typeface="Times New Roman" panose="02020603050405020304" pitchFamily="18" charset="0"/>
              </a:rPr>
              <a:t>i</a:t>
            </a:r>
            <a:r>
              <a:rPr lang="zh-CN" altLang="en-US" sz="2000" kern="0" dirty="0">
                <a:latin typeface="+mj-ea"/>
                <a:ea typeface="+mj-ea"/>
                <a:cs typeface="Times New Roman" panose="02020603050405020304" pitchFamily="18" charset="0"/>
              </a:rPr>
              <a:t>；             </a:t>
            </a:r>
            <a:r>
              <a:rPr lang="en-US" altLang="zh-CN" sz="2000" kern="0" dirty="0">
                <a:latin typeface="+mj-ea"/>
                <a:ea typeface="+mj-ea"/>
                <a:cs typeface="Times New Roman" panose="02020603050405020304" pitchFamily="18" charset="0"/>
              </a:rPr>
              <a:t>//</a:t>
            </a:r>
            <a:r>
              <a:rPr lang="zh-CN" altLang="en-US" sz="2000" kern="0" dirty="0">
                <a:latin typeface="+mj-ea"/>
                <a:ea typeface="+mj-ea"/>
                <a:cs typeface="Times New Roman" panose="02020603050405020304" pitchFamily="18" charset="0"/>
              </a:rPr>
              <a:t>顶点编号</a:t>
            </a:r>
            <a:endParaRPr lang="en-US" altLang="zh-CN" sz="2000" kern="0" dirty="0">
              <a:latin typeface="+mj-ea"/>
              <a:ea typeface="+mj-ea"/>
              <a:cs typeface="Times New Roman" panose="02020603050405020304" pitchFamily="18" charset="0"/>
            </a:endParaRPr>
          </a:p>
          <a:p>
            <a:pPr>
              <a:buFont typeface="Wingdings" panose="05000000000000000000" pitchFamily="2" charset="2"/>
              <a:buNone/>
              <a:defRPr/>
            </a:pPr>
            <a:r>
              <a:rPr lang="en-US" altLang="zh-CN" sz="2000" kern="0" dirty="0">
                <a:latin typeface="+mj-ea"/>
                <a:ea typeface="+mj-ea"/>
                <a:cs typeface="Times New Roman" panose="02020603050405020304" pitchFamily="18" charset="0"/>
              </a:rPr>
              <a:t>    </a:t>
            </a:r>
            <a:r>
              <a:rPr lang="en-US" altLang="zh-CN" sz="2000" kern="0" dirty="0">
                <a:solidFill>
                  <a:srgbClr val="FF0000"/>
                </a:solidFill>
                <a:latin typeface="+mj-ea"/>
                <a:ea typeface="+mj-ea"/>
                <a:cs typeface="Times New Roman" panose="02020603050405020304" pitchFamily="18" charset="0"/>
              </a:rPr>
              <a:t>Type  </a:t>
            </a:r>
            <a:r>
              <a:rPr lang="en-US" altLang="zh-CN" sz="2000" kern="0" dirty="0" err="1">
                <a:solidFill>
                  <a:srgbClr val="FF0000"/>
                </a:solidFill>
                <a:latin typeface="+mj-ea"/>
                <a:ea typeface="+mj-ea"/>
                <a:cs typeface="Times New Roman" panose="02020603050405020304" pitchFamily="18" charset="0"/>
              </a:rPr>
              <a:t>legth</a:t>
            </a:r>
            <a:r>
              <a:rPr lang="zh-CN" altLang="en-US" sz="2000" kern="0" dirty="0">
                <a:latin typeface="+mj-ea"/>
                <a:ea typeface="+mj-ea"/>
                <a:cs typeface="Times New Roman" panose="02020603050405020304" pitchFamily="18" charset="0"/>
              </a:rPr>
              <a:t>；</a:t>
            </a:r>
            <a:r>
              <a:rPr lang="en-US" altLang="zh-CN" sz="2000" kern="0" dirty="0">
                <a:latin typeface="+mj-ea"/>
                <a:ea typeface="+mj-ea"/>
                <a:cs typeface="Times New Roman" panose="02020603050405020304" pitchFamily="18" charset="0"/>
              </a:rPr>
              <a:t>//</a:t>
            </a:r>
            <a:r>
              <a:rPr lang="zh-CN" altLang="en-US" sz="2000" kern="0" dirty="0">
                <a:latin typeface="+mj-ea"/>
                <a:ea typeface="+mj-ea"/>
                <a:cs typeface="Times New Roman" panose="02020603050405020304" pitchFamily="18" charset="0"/>
              </a:rPr>
              <a:t>当前路长</a:t>
            </a:r>
            <a:r>
              <a:rPr lang="en-US" altLang="zh-CN" sz="2000" kern="0" dirty="0">
                <a:latin typeface="+mj-ea"/>
                <a:ea typeface="+mj-ea"/>
                <a:cs typeface="Times New Roman" panose="02020603050405020304" pitchFamily="18" charset="0"/>
              </a:rPr>
              <a:t>	</a:t>
            </a:r>
          </a:p>
          <a:p>
            <a:pPr>
              <a:buFont typeface="Wingdings" panose="05000000000000000000" pitchFamily="2" charset="2"/>
              <a:buNone/>
              <a:defRPr/>
            </a:pPr>
            <a:r>
              <a:rPr lang="en-US" altLang="zh-CN" sz="2000" kern="0" dirty="0">
                <a:latin typeface="+mj-ea"/>
                <a:ea typeface="+mj-ea"/>
                <a:cs typeface="Times New Roman" panose="02020603050405020304" pitchFamily="18" charset="0"/>
              </a:rPr>
              <a:t>}</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A8294BF-C9BA-4DC7-A224-9E48E2C145C4}"/>
              </a:ext>
            </a:extLst>
          </p:cNvPr>
          <p:cNvSpPr>
            <a:spLocks noGrp="1" noChangeArrowheads="1"/>
          </p:cNvSpPr>
          <p:nvPr>
            <p:ph type="title"/>
          </p:nvPr>
        </p:nvSpPr>
        <p:spPr/>
        <p:txBody>
          <a:bodyPr/>
          <a:lstStyle/>
          <a:p>
            <a:pPr>
              <a:defRPr/>
            </a:pPr>
            <a:r>
              <a:rPr lang="zh-CN" altLang="en-US">
                <a:latin typeface="+mj-ea"/>
              </a:rPr>
              <a:t>6.2	单源最短路径问题</a:t>
            </a:r>
          </a:p>
        </p:txBody>
      </p:sp>
      <p:sp>
        <p:nvSpPr>
          <p:cNvPr id="74755" name="灯片编号占位符 5">
            <a:extLst>
              <a:ext uri="{FF2B5EF4-FFF2-40B4-BE49-F238E27FC236}">
                <a16:creationId xmlns:a16="http://schemas.microsoft.com/office/drawing/2014/main" id="{28C03164-8E22-4B2C-B0EC-1D4A01E92CAB}"/>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A1F51FF-D205-4322-9673-D1EF4E5FACB6}" type="slidenum">
              <a:rPr lang="zh-CN" altLang="en-US" sz="1200">
                <a:solidFill>
                  <a:schemeClr val="tx1"/>
                </a:solidFill>
                <a:latin typeface="微软雅黑" panose="020B0503020204020204" pitchFamily="34" charset="-122"/>
                <a:ea typeface="微软雅黑" panose="020B0503020204020204" pitchFamily="34" charset="-122"/>
              </a:rPr>
              <a:pPr/>
              <a:t>63</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287748" name="Text Box 4">
            <a:extLst>
              <a:ext uri="{FF2B5EF4-FFF2-40B4-BE49-F238E27FC236}">
                <a16:creationId xmlns:a16="http://schemas.microsoft.com/office/drawing/2014/main" id="{61E88170-21A6-4BE3-9BCE-A2D835FB46A5}"/>
              </a:ext>
            </a:extLst>
          </p:cNvPr>
          <p:cNvSpPr txBox="1">
            <a:spLocks noChangeArrowheads="1"/>
          </p:cNvSpPr>
          <p:nvPr/>
        </p:nvSpPr>
        <p:spPr bwMode="auto">
          <a:xfrm>
            <a:off x="357188" y="1071563"/>
            <a:ext cx="5638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en-US" altLang="zh-CN" sz="3200" dirty="0">
                <a:solidFill>
                  <a:schemeClr val="accent2"/>
                </a:solidFill>
                <a:latin typeface="+mj-ea"/>
                <a:ea typeface="+mj-ea"/>
              </a:rPr>
              <a:t>3</a:t>
            </a:r>
            <a:r>
              <a:rPr kumimoji="1" lang="zh-CN" altLang="en-US" sz="3200" dirty="0">
                <a:solidFill>
                  <a:schemeClr val="accent2"/>
                </a:solidFill>
                <a:latin typeface="+mj-ea"/>
                <a:ea typeface="+mj-ea"/>
              </a:rPr>
              <a:t>. 算法思想</a:t>
            </a:r>
          </a:p>
        </p:txBody>
      </p:sp>
      <p:sp>
        <p:nvSpPr>
          <p:cNvPr id="287751" name="Text Box 7">
            <a:extLst>
              <a:ext uri="{FF2B5EF4-FFF2-40B4-BE49-F238E27FC236}">
                <a16:creationId xmlns:a16="http://schemas.microsoft.com/office/drawing/2014/main" id="{63E22F1E-4C56-45A5-8497-41D83FDBA571}"/>
              </a:ext>
            </a:extLst>
          </p:cNvPr>
          <p:cNvSpPr txBox="1">
            <a:spLocks noChangeArrowheads="1"/>
          </p:cNvSpPr>
          <p:nvPr/>
        </p:nvSpPr>
        <p:spPr bwMode="auto">
          <a:xfrm>
            <a:off x="434975" y="1651000"/>
            <a:ext cx="4856163"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算法</a:t>
            </a:r>
            <a:r>
              <a:rPr lang="zh-CN" altLang="en-US" sz="2400" u="sng" dirty="0">
                <a:solidFill>
                  <a:schemeClr val="tx1"/>
                </a:solidFill>
                <a:latin typeface="+mj-ea"/>
                <a:ea typeface="+mj-ea"/>
              </a:rPr>
              <a:t>从图</a:t>
            </a:r>
            <a:r>
              <a:rPr lang="en-US" altLang="zh-CN" sz="2400" u="sng" dirty="0">
                <a:solidFill>
                  <a:schemeClr val="tx1"/>
                </a:solidFill>
                <a:latin typeface="+mj-ea"/>
                <a:ea typeface="+mj-ea"/>
              </a:rPr>
              <a:t>G</a:t>
            </a:r>
            <a:r>
              <a:rPr lang="zh-CN" altLang="en-US" sz="2400" u="sng" dirty="0">
                <a:solidFill>
                  <a:schemeClr val="tx1"/>
                </a:solidFill>
                <a:latin typeface="+mj-ea"/>
                <a:ea typeface="+mj-ea"/>
              </a:rPr>
              <a:t>的源顶点</a:t>
            </a:r>
            <a:r>
              <a:rPr lang="en-US" altLang="zh-CN" sz="2400" u="sng" dirty="0">
                <a:solidFill>
                  <a:schemeClr val="tx1"/>
                </a:solidFill>
                <a:latin typeface="+mj-ea"/>
                <a:ea typeface="+mj-ea"/>
              </a:rPr>
              <a:t>s</a:t>
            </a:r>
            <a:r>
              <a:rPr lang="zh-CN" altLang="en-US" sz="2400" u="sng" dirty="0">
                <a:solidFill>
                  <a:schemeClr val="tx1"/>
                </a:solidFill>
                <a:latin typeface="+mj-ea"/>
                <a:ea typeface="+mj-ea"/>
              </a:rPr>
              <a:t>和空优先队列开始</a:t>
            </a:r>
            <a:r>
              <a:rPr lang="zh-CN" altLang="en-US" sz="2400" dirty="0">
                <a:solidFill>
                  <a:schemeClr val="tx1"/>
                </a:solidFill>
                <a:latin typeface="+mj-ea"/>
                <a:ea typeface="+mj-ea"/>
              </a:rPr>
              <a:t>。结点</a:t>
            </a:r>
            <a:r>
              <a:rPr lang="en-US" altLang="zh-CN" sz="2400" u="sng" dirty="0">
                <a:solidFill>
                  <a:schemeClr val="tx1"/>
                </a:solidFill>
                <a:latin typeface="+mj-ea"/>
                <a:ea typeface="+mj-ea"/>
              </a:rPr>
              <a:t>s</a:t>
            </a:r>
            <a:r>
              <a:rPr lang="zh-CN" altLang="en-US" sz="2400" u="sng" dirty="0">
                <a:solidFill>
                  <a:schemeClr val="tx1"/>
                </a:solidFill>
                <a:latin typeface="+mj-ea"/>
                <a:ea typeface="+mj-ea"/>
              </a:rPr>
              <a:t>被扩展</a:t>
            </a:r>
            <a:r>
              <a:rPr lang="zh-CN" altLang="en-US" sz="2400" dirty="0">
                <a:solidFill>
                  <a:schemeClr val="tx1"/>
                </a:solidFill>
                <a:latin typeface="+mj-ea"/>
                <a:ea typeface="+mj-ea"/>
              </a:rPr>
              <a:t>后，它的</a:t>
            </a:r>
            <a:r>
              <a:rPr lang="zh-CN" altLang="en-US" sz="2400" u="sng" dirty="0">
                <a:solidFill>
                  <a:schemeClr val="tx1"/>
                </a:solidFill>
                <a:latin typeface="+mj-ea"/>
                <a:ea typeface="+mj-ea"/>
              </a:rPr>
              <a:t>儿子结点被依次插入堆中</a:t>
            </a:r>
            <a:r>
              <a:rPr lang="zh-CN" altLang="en-US" sz="2400" dirty="0">
                <a:solidFill>
                  <a:schemeClr val="tx1"/>
                </a:solidFill>
                <a:latin typeface="+mj-ea"/>
                <a:ea typeface="+mj-ea"/>
              </a:rPr>
              <a:t>。</a:t>
            </a:r>
            <a:endParaRPr lang="en-US" altLang="zh-CN" sz="2400" dirty="0">
              <a:solidFill>
                <a:schemeClr val="tx1"/>
              </a:solidFill>
              <a:latin typeface="+mj-ea"/>
              <a:ea typeface="+mj-ea"/>
            </a:endParaRPr>
          </a:p>
          <a:p>
            <a:pPr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此后，算法从堆中取出</a:t>
            </a:r>
            <a:r>
              <a:rPr lang="zh-CN" altLang="en-US" sz="2400" u="sng" dirty="0">
                <a:solidFill>
                  <a:srgbClr val="FF0000"/>
                </a:solidFill>
                <a:latin typeface="+mj-ea"/>
                <a:ea typeface="+mj-ea"/>
              </a:rPr>
              <a:t>具有最小当前路长的结点</a:t>
            </a:r>
            <a:r>
              <a:rPr lang="en-US" altLang="zh-CN" sz="2400" u="sng" dirty="0" err="1">
                <a:solidFill>
                  <a:schemeClr val="tx1"/>
                </a:solidFill>
                <a:latin typeface="+mj-ea"/>
                <a:ea typeface="+mj-ea"/>
              </a:rPr>
              <a:t>i</a:t>
            </a:r>
            <a:r>
              <a:rPr lang="zh-CN" altLang="en-US" sz="2400" u="sng" dirty="0">
                <a:solidFill>
                  <a:schemeClr val="tx1"/>
                </a:solidFill>
                <a:latin typeface="+mj-ea"/>
                <a:ea typeface="+mj-ea"/>
              </a:rPr>
              <a:t>作为当前扩展结点</a:t>
            </a:r>
            <a:r>
              <a:rPr lang="zh-CN" altLang="en-US" sz="2400" dirty="0">
                <a:solidFill>
                  <a:schemeClr val="tx1"/>
                </a:solidFill>
                <a:latin typeface="+mj-ea"/>
                <a:ea typeface="+mj-ea"/>
              </a:rPr>
              <a:t>，如果从</a:t>
            </a:r>
            <a:r>
              <a:rPr lang="zh-CN" altLang="en-US" sz="2400" u="sng" dirty="0">
                <a:solidFill>
                  <a:srgbClr val="FF0000"/>
                </a:solidFill>
                <a:latin typeface="+mj-ea"/>
                <a:ea typeface="+mj-ea"/>
              </a:rPr>
              <a:t>当前扩展结点到顶点</a:t>
            </a:r>
            <a:r>
              <a:rPr lang="en-US" altLang="zh-CN" sz="2400" u="sng" dirty="0">
                <a:solidFill>
                  <a:srgbClr val="FF0000"/>
                </a:solidFill>
                <a:latin typeface="+mj-ea"/>
                <a:ea typeface="+mj-ea"/>
              </a:rPr>
              <a:t>j</a:t>
            </a:r>
            <a:r>
              <a:rPr lang="zh-CN" altLang="en-US" sz="2400" u="sng" dirty="0">
                <a:solidFill>
                  <a:srgbClr val="FF0000"/>
                </a:solidFill>
                <a:latin typeface="+mj-ea"/>
                <a:ea typeface="+mj-ea"/>
              </a:rPr>
              <a:t>有边可达</a:t>
            </a:r>
            <a:r>
              <a:rPr lang="zh-CN" altLang="en-US" sz="2400" dirty="0">
                <a:solidFill>
                  <a:schemeClr val="tx1"/>
                </a:solidFill>
                <a:latin typeface="+mj-ea"/>
                <a:ea typeface="+mj-ea"/>
              </a:rPr>
              <a:t>，且从源出发，</a:t>
            </a:r>
            <a:r>
              <a:rPr lang="zh-CN" altLang="en-US" sz="2400" u="sng" dirty="0">
                <a:solidFill>
                  <a:srgbClr val="FF0000"/>
                </a:solidFill>
                <a:latin typeface="+mj-ea"/>
                <a:ea typeface="+mj-ea"/>
              </a:rPr>
              <a:t>途经顶点</a:t>
            </a:r>
            <a:r>
              <a:rPr lang="en-US" altLang="zh-CN" sz="2400" u="sng" dirty="0" err="1">
                <a:solidFill>
                  <a:srgbClr val="FF0000"/>
                </a:solidFill>
                <a:latin typeface="+mj-ea"/>
                <a:ea typeface="+mj-ea"/>
              </a:rPr>
              <a:t>i</a:t>
            </a:r>
            <a:r>
              <a:rPr lang="zh-CN" altLang="en-US" sz="2400" u="sng" dirty="0">
                <a:solidFill>
                  <a:srgbClr val="FF0000"/>
                </a:solidFill>
                <a:latin typeface="+mj-ea"/>
                <a:ea typeface="+mj-ea"/>
              </a:rPr>
              <a:t>再到顶点</a:t>
            </a:r>
            <a:r>
              <a:rPr lang="en-US" altLang="zh-CN" sz="2400" u="sng" dirty="0">
                <a:solidFill>
                  <a:srgbClr val="FF0000"/>
                </a:solidFill>
                <a:latin typeface="+mj-ea"/>
                <a:ea typeface="+mj-ea"/>
              </a:rPr>
              <a:t>j</a:t>
            </a:r>
            <a:r>
              <a:rPr lang="zh-CN" altLang="en-US" sz="2400" u="sng" dirty="0">
                <a:solidFill>
                  <a:srgbClr val="FF0000"/>
                </a:solidFill>
                <a:latin typeface="+mj-ea"/>
                <a:ea typeface="+mj-ea"/>
              </a:rPr>
              <a:t>的所相应的路径的长度小于当前最优路径长度</a:t>
            </a:r>
            <a:r>
              <a:rPr lang="zh-CN" altLang="en-US" sz="2400" dirty="0">
                <a:solidFill>
                  <a:schemeClr val="tx1"/>
                </a:solidFill>
                <a:latin typeface="+mj-ea"/>
                <a:ea typeface="+mj-ea"/>
              </a:rPr>
              <a:t>，则将该顶点作为活结点插入到活结点优先队列中。</a:t>
            </a:r>
            <a:endParaRPr lang="en-US" altLang="zh-CN" sz="2400" dirty="0">
              <a:solidFill>
                <a:schemeClr val="tx1"/>
              </a:solidFill>
              <a:latin typeface="+mj-ea"/>
              <a:ea typeface="+mj-ea"/>
            </a:endParaRPr>
          </a:p>
          <a:p>
            <a:pPr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扩展过程</a:t>
            </a:r>
            <a:r>
              <a:rPr lang="zh-CN" altLang="en-US" sz="2400" u="sng" dirty="0">
                <a:solidFill>
                  <a:schemeClr val="tx1"/>
                </a:solidFill>
                <a:latin typeface="+mj-ea"/>
                <a:ea typeface="+mj-ea"/>
              </a:rPr>
              <a:t>一直继续到</a:t>
            </a:r>
            <a:r>
              <a:rPr lang="zh-CN" altLang="en-US" sz="2400" u="sng" dirty="0">
                <a:solidFill>
                  <a:srgbClr val="FF0000"/>
                </a:solidFill>
                <a:latin typeface="+mj-ea"/>
                <a:ea typeface="+mj-ea"/>
              </a:rPr>
              <a:t>活结点优先队列为空时为止</a:t>
            </a:r>
            <a:r>
              <a:rPr lang="zh-CN" altLang="en-US" sz="2400" dirty="0">
                <a:solidFill>
                  <a:schemeClr val="tx1"/>
                </a:solidFill>
                <a:latin typeface="+mj-ea"/>
                <a:ea typeface="+mj-ea"/>
              </a:rPr>
              <a:t>。</a:t>
            </a:r>
          </a:p>
        </p:txBody>
      </p:sp>
      <p:pic>
        <p:nvPicPr>
          <p:cNvPr id="92166" name="Picture 4" descr="t44">
            <a:extLst>
              <a:ext uri="{FF2B5EF4-FFF2-40B4-BE49-F238E27FC236}">
                <a16:creationId xmlns:a16="http://schemas.microsoft.com/office/drawing/2014/main" id="{837B93E1-44C1-5A48-8339-B7BB3EEAF3C3}"/>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183313" y="573088"/>
            <a:ext cx="2317750" cy="2384425"/>
          </a:xfrm>
        </p:spPr>
      </p:pic>
      <p:grpSp>
        <p:nvGrpSpPr>
          <p:cNvPr id="10" name="Group 48">
            <a:extLst>
              <a:ext uri="{FF2B5EF4-FFF2-40B4-BE49-F238E27FC236}">
                <a16:creationId xmlns:a16="http://schemas.microsoft.com/office/drawing/2014/main" id="{9BB82BED-AE49-4260-979A-2EB07D0433D6}"/>
              </a:ext>
            </a:extLst>
          </p:cNvPr>
          <p:cNvGrpSpPr>
            <a:grpSpLocks/>
          </p:cNvGrpSpPr>
          <p:nvPr/>
        </p:nvGrpSpPr>
        <p:grpSpPr bwMode="auto">
          <a:xfrm>
            <a:off x="5963357" y="3293145"/>
            <a:ext cx="1843087" cy="1965324"/>
            <a:chOff x="1829" y="1628"/>
            <a:chExt cx="1161" cy="1238"/>
          </a:xfrm>
          <a:solidFill>
            <a:schemeClr val="bg1"/>
          </a:solidFill>
        </p:grpSpPr>
        <p:sp>
          <p:nvSpPr>
            <p:cNvPr id="11" name="Oval 40">
              <a:extLst>
                <a:ext uri="{FF2B5EF4-FFF2-40B4-BE49-F238E27FC236}">
                  <a16:creationId xmlns:a16="http://schemas.microsoft.com/office/drawing/2014/main" id="{AEAF6D2A-EC28-40BE-A039-B857965987C2}"/>
                </a:ext>
              </a:extLst>
            </p:cNvPr>
            <p:cNvSpPr>
              <a:spLocks noChangeArrowheads="1"/>
            </p:cNvSpPr>
            <p:nvPr/>
          </p:nvSpPr>
          <p:spPr bwMode="auto">
            <a:xfrm>
              <a:off x="2717" y="1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solidFill>
                    <a:schemeClr val="tx1"/>
                  </a:solidFill>
                </a:rPr>
                <a:t>1</a:t>
              </a:r>
            </a:p>
          </p:txBody>
        </p:sp>
        <p:sp>
          <p:nvSpPr>
            <p:cNvPr id="12" name="Oval 41">
              <a:extLst>
                <a:ext uri="{FF2B5EF4-FFF2-40B4-BE49-F238E27FC236}">
                  <a16:creationId xmlns:a16="http://schemas.microsoft.com/office/drawing/2014/main" id="{3BF0354A-5F2A-4C55-8C40-54F1E66F3BD0}"/>
                </a:ext>
              </a:extLst>
            </p:cNvPr>
            <p:cNvSpPr>
              <a:spLocks noChangeArrowheads="1"/>
            </p:cNvSpPr>
            <p:nvPr/>
          </p:nvSpPr>
          <p:spPr bwMode="auto">
            <a:xfrm>
              <a:off x="1829" y="2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solidFill>
                    <a:schemeClr val="tx1"/>
                  </a:solidFill>
                </a:rPr>
                <a:t>3</a:t>
              </a:r>
            </a:p>
          </p:txBody>
        </p:sp>
        <p:sp>
          <p:nvSpPr>
            <p:cNvPr id="13" name="Oval 42">
              <a:extLst>
                <a:ext uri="{FF2B5EF4-FFF2-40B4-BE49-F238E27FC236}">
                  <a16:creationId xmlns:a16="http://schemas.microsoft.com/office/drawing/2014/main" id="{65D3B0B6-52BA-4050-B26D-6FB9CD5A9333}"/>
                </a:ext>
              </a:extLst>
            </p:cNvPr>
            <p:cNvSpPr>
              <a:spLocks noChangeArrowheads="1"/>
            </p:cNvSpPr>
            <p:nvPr/>
          </p:nvSpPr>
          <p:spPr bwMode="auto">
            <a:xfrm>
              <a:off x="2162" y="2131"/>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chemeClr val="tx1"/>
                  </a:solidFill>
                </a:rPr>
                <a:t>2</a:t>
              </a:r>
            </a:p>
          </p:txBody>
        </p:sp>
        <p:sp>
          <p:nvSpPr>
            <p:cNvPr id="14" name="Oval 43">
              <a:extLst>
                <a:ext uri="{FF2B5EF4-FFF2-40B4-BE49-F238E27FC236}">
                  <a16:creationId xmlns:a16="http://schemas.microsoft.com/office/drawing/2014/main" id="{90707B08-64BE-4623-BD67-7AA54AF368C0}"/>
                </a:ext>
              </a:extLst>
            </p:cNvPr>
            <p:cNvSpPr>
              <a:spLocks noChangeArrowheads="1"/>
            </p:cNvSpPr>
            <p:nvPr/>
          </p:nvSpPr>
          <p:spPr bwMode="auto">
            <a:xfrm>
              <a:off x="2752" y="2144"/>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chemeClr val="tx1"/>
                  </a:solidFill>
                </a:rPr>
                <a:t>4</a:t>
              </a:r>
            </a:p>
          </p:txBody>
        </p:sp>
      </p:grpSp>
      <p:sp>
        <p:nvSpPr>
          <p:cNvPr id="92168" name="Oval 46">
            <a:extLst>
              <a:ext uri="{FF2B5EF4-FFF2-40B4-BE49-F238E27FC236}">
                <a16:creationId xmlns:a16="http://schemas.microsoft.com/office/drawing/2014/main" id="{4AEBC193-4675-49A7-6CBC-AD9E4A5B21AC}"/>
              </a:ext>
            </a:extLst>
          </p:cNvPr>
          <p:cNvSpPr>
            <a:spLocks noChangeArrowheads="1"/>
          </p:cNvSpPr>
          <p:nvPr/>
        </p:nvSpPr>
        <p:spPr bwMode="auto">
          <a:xfrm>
            <a:off x="8489950" y="4114800"/>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a:t>
            </a:r>
          </a:p>
        </p:txBody>
      </p:sp>
      <p:cxnSp>
        <p:nvCxnSpPr>
          <p:cNvPr id="92169" name="直接箭头连接符 15">
            <a:extLst>
              <a:ext uri="{FF2B5EF4-FFF2-40B4-BE49-F238E27FC236}">
                <a16:creationId xmlns:a16="http://schemas.microsoft.com/office/drawing/2014/main" id="{444046BD-3B07-5732-6E84-11CD8006E92A}"/>
              </a:ext>
            </a:extLst>
          </p:cNvPr>
          <p:cNvCxnSpPr>
            <a:cxnSpLocks noChangeShapeType="1"/>
          </p:cNvCxnSpPr>
          <p:nvPr/>
        </p:nvCxnSpPr>
        <p:spPr bwMode="auto">
          <a:xfrm flipH="1">
            <a:off x="6546850" y="3616325"/>
            <a:ext cx="881063" cy="530225"/>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type="triangle" w="med" len="med"/>
              </a14:hiddenLine>
            </a:ext>
          </a:extLst>
        </p:spPr>
      </p:cxnSp>
      <p:cxnSp>
        <p:nvCxnSpPr>
          <p:cNvPr id="17" name="直接箭头连接符 16">
            <a:extLst>
              <a:ext uri="{FF2B5EF4-FFF2-40B4-BE49-F238E27FC236}">
                <a16:creationId xmlns:a16="http://schemas.microsoft.com/office/drawing/2014/main" id="{512B9B80-0A8A-4DDC-800C-B31BDA279922}"/>
              </a:ext>
            </a:extLst>
          </p:cNvPr>
          <p:cNvCxnSpPr>
            <a:stCxn id="11" idx="3"/>
            <a:endCxn id="13" idx="0"/>
          </p:cNvCxnSpPr>
          <p:nvPr/>
        </p:nvCxnSpPr>
        <p:spPr bwMode="auto">
          <a:xfrm flipH="1">
            <a:off x="6680200" y="3616325"/>
            <a:ext cx="747713" cy="474663"/>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8" name="直接箭头连接符 17">
            <a:extLst>
              <a:ext uri="{FF2B5EF4-FFF2-40B4-BE49-F238E27FC236}">
                <a16:creationId xmlns:a16="http://schemas.microsoft.com/office/drawing/2014/main" id="{7F20815F-00AA-4505-9538-35C487D12F58}"/>
              </a:ext>
            </a:extLst>
          </p:cNvPr>
          <p:cNvCxnSpPr>
            <a:stCxn id="11" idx="4"/>
            <a:endCxn id="14" idx="0"/>
          </p:cNvCxnSpPr>
          <p:nvPr/>
        </p:nvCxnSpPr>
        <p:spPr bwMode="auto">
          <a:xfrm>
            <a:off x="7561263" y="3670300"/>
            <a:ext cx="55562" cy="4413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9" name="直接箭头连接符 18">
            <a:extLst>
              <a:ext uri="{FF2B5EF4-FFF2-40B4-BE49-F238E27FC236}">
                <a16:creationId xmlns:a16="http://schemas.microsoft.com/office/drawing/2014/main" id="{00FABFFC-C912-4F63-B335-BFFFB658B5B8}"/>
              </a:ext>
            </a:extLst>
          </p:cNvPr>
          <p:cNvCxnSpPr>
            <a:stCxn id="11" idx="5"/>
            <a:endCxn id="92168" idx="0"/>
          </p:cNvCxnSpPr>
          <p:nvPr/>
        </p:nvCxnSpPr>
        <p:spPr bwMode="auto">
          <a:xfrm>
            <a:off x="7696200" y="3616325"/>
            <a:ext cx="982663" cy="49847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0" name="直接箭头连接符 19">
            <a:extLst>
              <a:ext uri="{FF2B5EF4-FFF2-40B4-BE49-F238E27FC236}">
                <a16:creationId xmlns:a16="http://schemas.microsoft.com/office/drawing/2014/main" id="{B008E88B-4FFA-4EC8-864D-92B32FE23875}"/>
              </a:ext>
            </a:extLst>
          </p:cNvPr>
          <p:cNvCxnSpPr>
            <a:stCxn id="13" idx="3"/>
            <a:endCxn id="12" idx="0"/>
          </p:cNvCxnSpPr>
          <p:nvPr/>
        </p:nvCxnSpPr>
        <p:spPr bwMode="auto">
          <a:xfrm flipH="1">
            <a:off x="6151563" y="4414838"/>
            <a:ext cx="395287" cy="465137"/>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92174" name="Oval 46">
            <a:extLst>
              <a:ext uri="{FF2B5EF4-FFF2-40B4-BE49-F238E27FC236}">
                <a16:creationId xmlns:a16="http://schemas.microsoft.com/office/drawing/2014/main" id="{FDDF33F1-B249-868B-9939-34B75702EE96}"/>
              </a:ext>
            </a:extLst>
          </p:cNvPr>
          <p:cNvSpPr>
            <a:spLocks noChangeArrowheads="1"/>
          </p:cNvSpPr>
          <p:nvPr/>
        </p:nvSpPr>
        <p:spPr bwMode="auto">
          <a:xfrm>
            <a:off x="5584825" y="5743575"/>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a:t>
            </a:r>
          </a:p>
        </p:txBody>
      </p:sp>
      <p:cxnSp>
        <p:nvCxnSpPr>
          <p:cNvPr id="22" name="直接箭头连接符 21">
            <a:extLst>
              <a:ext uri="{FF2B5EF4-FFF2-40B4-BE49-F238E27FC236}">
                <a16:creationId xmlns:a16="http://schemas.microsoft.com/office/drawing/2014/main" id="{908967AD-F22A-4117-A038-AB913585197C}"/>
              </a:ext>
            </a:extLst>
          </p:cNvPr>
          <p:cNvCxnSpPr>
            <a:stCxn id="12" idx="4"/>
            <a:endCxn id="92174" idx="0"/>
          </p:cNvCxnSpPr>
          <p:nvPr/>
        </p:nvCxnSpPr>
        <p:spPr bwMode="auto">
          <a:xfrm flipH="1">
            <a:off x="5773738" y="5257800"/>
            <a:ext cx="377825" cy="48577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3" name="直接箭头连接符 22">
            <a:extLst>
              <a:ext uri="{FF2B5EF4-FFF2-40B4-BE49-F238E27FC236}">
                <a16:creationId xmlns:a16="http://schemas.microsoft.com/office/drawing/2014/main" id="{0866B1DD-8573-4E0B-A6BE-6D78E6913FAD}"/>
              </a:ext>
            </a:extLst>
          </p:cNvPr>
          <p:cNvCxnSpPr/>
          <p:nvPr/>
        </p:nvCxnSpPr>
        <p:spPr bwMode="auto">
          <a:xfrm flipH="1">
            <a:off x="7227888" y="4484688"/>
            <a:ext cx="395287" cy="4667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92177" name="Oval 41">
            <a:extLst>
              <a:ext uri="{FF2B5EF4-FFF2-40B4-BE49-F238E27FC236}">
                <a16:creationId xmlns:a16="http://schemas.microsoft.com/office/drawing/2014/main" id="{37390330-64F3-18C3-29D6-B528C043F1E1}"/>
              </a:ext>
            </a:extLst>
          </p:cNvPr>
          <p:cNvSpPr>
            <a:spLocks noChangeArrowheads="1"/>
          </p:cNvSpPr>
          <p:nvPr/>
        </p:nvSpPr>
        <p:spPr bwMode="auto">
          <a:xfrm>
            <a:off x="6999288" y="4951413"/>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3</a:t>
            </a:r>
          </a:p>
        </p:txBody>
      </p:sp>
      <p:sp>
        <p:nvSpPr>
          <p:cNvPr id="92178" name="Oval 46">
            <a:extLst>
              <a:ext uri="{FF2B5EF4-FFF2-40B4-BE49-F238E27FC236}">
                <a16:creationId xmlns:a16="http://schemas.microsoft.com/office/drawing/2014/main" id="{EDFD682B-D77E-FC31-4924-22FD666BC5A7}"/>
              </a:ext>
            </a:extLst>
          </p:cNvPr>
          <p:cNvSpPr>
            <a:spLocks noChangeArrowheads="1"/>
          </p:cNvSpPr>
          <p:nvPr/>
        </p:nvSpPr>
        <p:spPr bwMode="auto">
          <a:xfrm>
            <a:off x="6799263" y="5743575"/>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a:t>
            </a:r>
          </a:p>
        </p:txBody>
      </p:sp>
      <p:cxnSp>
        <p:nvCxnSpPr>
          <p:cNvPr id="26" name="直接箭头连接符 25">
            <a:extLst>
              <a:ext uri="{FF2B5EF4-FFF2-40B4-BE49-F238E27FC236}">
                <a16:creationId xmlns:a16="http://schemas.microsoft.com/office/drawing/2014/main" id="{8134BC49-7EE5-489C-9EAC-E94F0214BA3F}"/>
              </a:ext>
            </a:extLst>
          </p:cNvPr>
          <p:cNvCxnSpPr>
            <a:endCxn id="92178" idx="0"/>
          </p:cNvCxnSpPr>
          <p:nvPr/>
        </p:nvCxnSpPr>
        <p:spPr bwMode="auto">
          <a:xfrm flipH="1">
            <a:off x="6988175" y="5329238"/>
            <a:ext cx="188913" cy="414337"/>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92180" name="Oval 46">
            <a:extLst>
              <a:ext uri="{FF2B5EF4-FFF2-40B4-BE49-F238E27FC236}">
                <a16:creationId xmlns:a16="http://schemas.microsoft.com/office/drawing/2014/main" id="{2A5484EB-95C6-93A1-E1CA-6ECFB0CF6DC5}"/>
              </a:ext>
            </a:extLst>
          </p:cNvPr>
          <p:cNvSpPr>
            <a:spLocks noChangeArrowheads="1"/>
          </p:cNvSpPr>
          <p:nvPr/>
        </p:nvSpPr>
        <p:spPr bwMode="auto">
          <a:xfrm>
            <a:off x="8012113" y="4948238"/>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a:t>
            </a:r>
          </a:p>
        </p:txBody>
      </p:sp>
      <p:cxnSp>
        <p:nvCxnSpPr>
          <p:cNvPr id="28" name="直接箭头连接符 27">
            <a:extLst>
              <a:ext uri="{FF2B5EF4-FFF2-40B4-BE49-F238E27FC236}">
                <a16:creationId xmlns:a16="http://schemas.microsoft.com/office/drawing/2014/main" id="{F890116E-E850-4BB2-AB60-CB1B2A6559FC}"/>
              </a:ext>
            </a:extLst>
          </p:cNvPr>
          <p:cNvCxnSpPr>
            <a:endCxn id="92180" idx="0"/>
          </p:cNvCxnSpPr>
          <p:nvPr/>
        </p:nvCxnSpPr>
        <p:spPr bwMode="auto">
          <a:xfrm>
            <a:off x="7639050" y="4484688"/>
            <a:ext cx="561975" cy="463550"/>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92182" name="矩形 28">
            <a:extLst>
              <a:ext uri="{FF2B5EF4-FFF2-40B4-BE49-F238E27FC236}">
                <a16:creationId xmlns:a16="http://schemas.microsoft.com/office/drawing/2014/main" id="{048F1A17-7F10-EC5A-E6B6-62CB0B5E6046}"/>
              </a:ext>
            </a:extLst>
          </p:cNvPr>
          <p:cNvSpPr>
            <a:spLocks noChangeArrowheads="1"/>
          </p:cNvSpPr>
          <p:nvPr/>
        </p:nvSpPr>
        <p:spPr bwMode="auto">
          <a:xfrm>
            <a:off x="6210300" y="382270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10</a:t>
            </a:r>
          </a:p>
        </p:txBody>
      </p:sp>
      <p:sp>
        <p:nvSpPr>
          <p:cNvPr id="92183" name="矩形 29">
            <a:extLst>
              <a:ext uri="{FF2B5EF4-FFF2-40B4-BE49-F238E27FC236}">
                <a16:creationId xmlns:a16="http://schemas.microsoft.com/office/drawing/2014/main" id="{2F64E95F-FF0E-6E7C-BF94-B407D48CAA17}"/>
              </a:ext>
            </a:extLst>
          </p:cNvPr>
          <p:cNvSpPr>
            <a:spLocks noChangeArrowheads="1"/>
          </p:cNvSpPr>
          <p:nvPr/>
        </p:nvSpPr>
        <p:spPr bwMode="auto">
          <a:xfrm>
            <a:off x="5694363" y="456406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60</a:t>
            </a:r>
          </a:p>
        </p:txBody>
      </p:sp>
      <p:sp>
        <p:nvSpPr>
          <p:cNvPr id="92184" name="矩形 30">
            <a:extLst>
              <a:ext uri="{FF2B5EF4-FFF2-40B4-BE49-F238E27FC236}">
                <a16:creationId xmlns:a16="http://schemas.microsoft.com/office/drawing/2014/main" id="{B809CA41-0AE1-7A56-2D6C-7E213B887B59}"/>
              </a:ext>
            </a:extLst>
          </p:cNvPr>
          <p:cNvSpPr>
            <a:spLocks noChangeArrowheads="1"/>
          </p:cNvSpPr>
          <p:nvPr/>
        </p:nvSpPr>
        <p:spPr bwMode="auto">
          <a:xfrm>
            <a:off x="5203825" y="55324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70</a:t>
            </a:r>
          </a:p>
        </p:txBody>
      </p:sp>
      <p:sp>
        <p:nvSpPr>
          <p:cNvPr id="92185" name="矩形 31">
            <a:extLst>
              <a:ext uri="{FF2B5EF4-FFF2-40B4-BE49-F238E27FC236}">
                <a16:creationId xmlns:a16="http://schemas.microsoft.com/office/drawing/2014/main" id="{C8D478D4-A05A-DC93-3F16-760984353ED5}"/>
              </a:ext>
            </a:extLst>
          </p:cNvPr>
          <p:cNvSpPr>
            <a:spLocks noChangeArrowheads="1"/>
          </p:cNvSpPr>
          <p:nvPr/>
        </p:nvSpPr>
        <p:spPr bwMode="auto">
          <a:xfrm>
            <a:off x="7107238" y="386873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30</a:t>
            </a:r>
          </a:p>
        </p:txBody>
      </p:sp>
      <p:sp>
        <p:nvSpPr>
          <p:cNvPr id="92186" name="矩形 32">
            <a:extLst>
              <a:ext uri="{FF2B5EF4-FFF2-40B4-BE49-F238E27FC236}">
                <a16:creationId xmlns:a16="http://schemas.microsoft.com/office/drawing/2014/main" id="{7C450D7A-9AA8-DA0A-E55F-569BFAD5EE9F}"/>
              </a:ext>
            </a:extLst>
          </p:cNvPr>
          <p:cNvSpPr>
            <a:spLocks noChangeArrowheads="1"/>
          </p:cNvSpPr>
          <p:nvPr/>
        </p:nvSpPr>
        <p:spPr bwMode="auto">
          <a:xfrm>
            <a:off x="6743700" y="466248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50</a:t>
            </a:r>
          </a:p>
        </p:txBody>
      </p:sp>
      <p:sp>
        <p:nvSpPr>
          <p:cNvPr id="92187" name="矩形 33">
            <a:extLst>
              <a:ext uri="{FF2B5EF4-FFF2-40B4-BE49-F238E27FC236}">
                <a16:creationId xmlns:a16="http://schemas.microsoft.com/office/drawing/2014/main" id="{1B7300DC-5D85-8A9E-2F39-33D678B1FD92}"/>
              </a:ext>
            </a:extLst>
          </p:cNvPr>
          <p:cNvSpPr>
            <a:spLocks noChangeArrowheads="1"/>
          </p:cNvSpPr>
          <p:nvPr/>
        </p:nvSpPr>
        <p:spPr bwMode="auto">
          <a:xfrm>
            <a:off x="6473825" y="551180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60</a:t>
            </a:r>
          </a:p>
        </p:txBody>
      </p:sp>
      <p:sp>
        <p:nvSpPr>
          <p:cNvPr id="92188" name="矩形 34">
            <a:extLst>
              <a:ext uri="{FF2B5EF4-FFF2-40B4-BE49-F238E27FC236}">
                <a16:creationId xmlns:a16="http://schemas.microsoft.com/office/drawing/2014/main" id="{56D51E05-E317-EAF4-FBF3-BFAD07B58613}"/>
              </a:ext>
            </a:extLst>
          </p:cNvPr>
          <p:cNvSpPr>
            <a:spLocks noChangeArrowheads="1"/>
          </p:cNvSpPr>
          <p:nvPr/>
        </p:nvSpPr>
        <p:spPr bwMode="auto">
          <a:xfrm>
            <a:off x="8154988" y="465931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90</a:t>
            </a:r>
          </a:p>
        </p:txBody>
      </p:sp>
      <p:sp>
        <p:nvSpPr>
          <p:cNvPr id="92189" name="矩形 35">
            <a:extLst>
              <a:ext uri="{FF2B5EF4-FFF2-40B4-BE49-F238E27FC236}">
                <a16:creationId xmlns:a16="http://schemas.microsoft.com/office/drawing/2014/main" id="{305E92B8-92EA-71CE-1507-3657E31D494C}"/>
              </a:ext>
            </a:extLst>
          </p:cNvPr>
          <p:cNvSpPr>
            <a:spLocks noChangeArrowheads="1"/>
          </p:cNvSpPr>
          <p:nvPr/>
        </p:nvSpPr>
        <p:spPr bwMode="auto">
          <a:xfrm>
            <a:off x="8543925" y="3792538"/>
            <a:ext cx="61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100</a:t>
            </a:r>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7748"/>
                                        </p:tgtEl>
                                        <p:attrNameLst>
                                          <p:attrName>style.visibility</p:attrName>
                                        </p:attrNameLst>
                                      </p:cBhvr>
                                      <p:to>
                                        <p:strVal val="visible"/>
                                      </p:to>
                                    </p:set>
                                    <p:anim calcmode="lin" valueType="num">
                                      <p:cBhvr additive="base">
                                        <p:cTn id="7" dur="500" fill="hold"/>
                                        <p:tgtEl>
                                          <p:spTgt spid="287748"/>
                                        </p:tgtEl>
                                        <p:attrNameLst>
                                          <p:attrName>ppt_x</p:attrName>
                                        </p:attrNameLst>
                                      </p:cBhvr>
                                      <p:tavLst>
                                        <p:tav tm="0">
                                          <p:val>
                                            <p:strVal val="1+#ppt_w/2"/>
                                          </p:val>
                                        </p:tav>
                                        <p:tav tm="100000">
                                          <p:val>
                                            <p:strVal val="#ppt_x"/>
                                          </p:val>
                                        </p:tav>
                                      </p:tavLst>
                                    </p:anim>
                                    <p:anim calcmode="lin" valueType="num">
                                      <p:cBhvr additive="base">
                                        <p:cTn id="8" dur="500" fill="hold"/>
                                        <p:tgtEl>
                                          <p:spTgt spid="28774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287751"/>
                                        </p:tgtEl>
                                        <p:attrNameLst>
                                          <p:attrName>style.visibility</p:attrName>
                                        </p:attrNameLst>
                                      </p:cBhvr>
                                      <p:to>
                                        <p:strVal val="visible"/>
                                      </p:to>
                                    </p:set>
                                    <p:animEffect transition="in" filter="strips(downLeft)">
                                      <p:cBhvr>
                                        <p:cTn id="13" dur="500"/>
                                        <p:tgtEl>
                                          <p:spTgt spid="287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8" grpId="0" autoUpdateAnimBg="0"/>
      <p:bldP spid="287751"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18C80996-63C3-3E5B-75EA-83F27AC0B11B}"/>
              </a:ext>
            </a:extLst>
          </p:cNvPr>
          <p:cNvSpPr>
            <a:spLocks noGrp="1" noChangeArrowheads="1"/>
          </p:cNvSpPr>
          <p:nvPr>
            <p:ph type="title"/>
          </p:nvPr>
        </p:nvSpPr>
        <p:spPr/>
        <p:txBody>
          <a:bodyPr/>
          <a:lstStyle/>
          <a:p>
            <a:r>
              <a:rPr lang="zh-CN" altLang="en-US"/>
              <a:t>6.2	单源最短路径问题</a:t>
            </a:r>
          </a:p>
        </p:txBody>
      </p:sp>
      <p:sp>
        <p:nvSpPr>
          <p:cNvPr id="93187" name="灯片编号占位符 5">
            <a:extLst>
              <a:ext uri="{FF2B5EF4-FFF2-40B4-BE49-F238E27FC236}">
                <a16:creationId xmlns:a16="http://schemas.microsoft.com/office/drawing/2014/main" id="{03656FAB-F525-268E-288C-67E9945FB9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2C0F3D36-0BAD-42AD-908A-EED44ACCD179}" type="slidenum">
              <a:rPr lang="zh-CN" altLang="en-US" sz="1200">
                <a:solidFill>
                  <a:schemeClr val="tx1"/>
                </a:solidFill>
                <a:latin typeface="Garamond" panose="02020404030301010803" pitchFamily="18" charset="0"/>
                <a:ea typeface="宋体" panose="02010600030101010101" pitchFamily="2" charset="-122"/>
              </a:rPr>
              <a:pPr/>
              <a:t>64</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289796" name="Text Box 4">
            <a:extLst>
              <a:ext uri="{FF2B5EF4-FFF2-40B4-BE49-F238E27FC236}">
                <a16:creationId xmlns:a16="http://schemas.microsoft.com/office/drawing/2014/main" id="{DD975313-CC03-05CB-4DAE-FFAA9003FC54}"/>
              </a:ext>
            </a:extLst>
          </p:cNvPr>
          <p:cNvSpPr txBox="1">
            <a:spLocks noChangeArrowheads="1"/>
          </p:cNvSpPr>
          <p:nvPr/>
        </p:nvSpPr>
        <p:spPr bwMode="auto">
          <a:xfrm>
            <a:off x="-52388" y="1052513"/>
            <a:ext cx="6143626"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20000"/>
              </a:lnSpc>
              <a:spcBef>
                <a:spcPct val="20000"/>
              </a:spcBef>
              <a:buClr>
                <a:schemeClr val="accent1"/>
              </a:buClr>
              <a:buSzPct val="65000"/>
              <a:buFont typeface="Wingdings" panose="05000000000000000000" pitchFamily="2" charset="2"/>
              <a:buNone/>
            </a:pPr>
            <a:r>
              <a:rPr lang="zh-CN" altLang="en-US" sz="2000">
                <a:solidFill>
                  <a:schemeClr val="tx1"/>
                </a:solidFill>
                <a:latin typeface="Times New Roman" panose="02020603050405020304" pitchFamily="18" charset="0"/>
              </a:rPr>
              <a:t> </a:t>
            </a:r>
            <a:r>
              <a:rPr kumimoji="1" lang="en-US" altLang="zh-CN" sz="2000">
                <a:solidFill>
                  <a:schemeClr val="tx1"/>
                </a:solidFill>
              </a:rPr>
              <a:t>while (</a:t>
            </a:r>
            <a:r>
              <a:rPr kumimoji="1" lang="en-US" altLang="zh-CN" sz="2000">
                <a:solidFill>
                  <a:srgbClr val="FF0000"/>
                </a:solidFill>
              </a:rPr>
              <a:t>true</a:t>
            </a:r>
            <a:r>
              <a:rPr kumimoji="1" lang="en-US" altLang="zh-CN" sz="2000">
                <a:solidFill>
                  <a:schemeClr val="tx1"/>
                </a:solidFill>
              </a:rPr>
              <a:t>) {</a:t>
            </a:r>
          </a:p>
          <a:p>
            <a:pPr eaLnBrk="1" hangingPunct="1">
              <a:lnSpc>
                <a:spcPct val="120000"/>
              </a:lnSpc>
              <a:spcBef>
                <a:spcPct val="20000"/>
              </a:spcBef>
              <a:buClr>
                <a:schemeClr val="accent1"/>
              </a:buClr>
              <a:buSzPct val="65000"/>
              <a:buFont typeface="Wingdings" panose="05000000000000000000" pitchFamily="2" charset="2"/>
              <a:buNone/>
            </a:pPr>
            <a:r>
              <a:rPr kumimoji="1" lang="en-US" altLang="zh-CN" sz="2000">
                <a:solidFill>
                  <a:schemeClr val="tx1"/>
                </a:solidFill>
              </a:rPr>
              <a:t>     </a:t>
            </a:r>
            <a:r>
              <a:rPr kumimoji="1" lang="en-US" altLang="zh-CN" sz="2000">
                <a:solidFill>
                  <a:srgbClr val="FF0000"/>
                </a:solidFill>
              </a:rPr>
              <a:t>for</a:t>
            </a:r>
            <a:r>
              <a:rPr kumimoji="1" lang="en-US" altLang="zh-CN" sz="2000">
                <a:solidFill>
                  <a:schemeClr val="tx1"/>
                </a:solidFill>
              </a:rPr>
              <a:t> (int j = 1; j &lt;= n; j++) {  //n</a:t>
            </a:r>
            <a:r>
              <a:rPr kumimoji="1" lang="zh-CN" altLang="en-US" sz="2000">
                <a:solidFill>
                  <a:schemeClr val="tx1"/>
                </a:solidFill>
              </a:rPr>
              <a:t>是顶点个数</a:t>
            </a:r>
            <a:endParaRPr kumimoji="1" lang="en-US" altLang="zh-CN" sz="2000">
              <a:solidFill>
                <a:schemeClr val="tx1"/>
              </a:solidFill>
            </a:endParaRPr>
          </a:p>
          <a:p>
            <a:pPr eaLnBrk="1" hangingPunct="1">
              <a:lnSpc>
                <a:spcPct val="120000"/>
              </a:lnSpc>
              <a:spcBef>
                <a:spcPct val="20000"/>
              </a:spcBef>
              <a:buClr>
                <a:schemeClr val="accent1"/>
              </a:buClr>
              <a:buSzPct val="65000"/>
              <a:buFont typeface="Wingdings" panose="05000000000000000000" pitchFamily="2" charset="2"/>
              <a:buNone/>
            </a:pPr>
            <a:r>
              <a:rPr kumimoji="1" lang="en-US" altLang="zh-CN" sz="2000">
                <a:solidFill>
                  <a:schemeClr val="tx1"/>
                </a:solidFill>
              </a:rPr>
              <a:t>          if ((</a:t>
            </a:r>
            <a:r>
              <a:rPr kumimoji="1" lang="en-US" altLang="zh-CN" sz="2000">
                <a:solidFill>
                  <a:srgbClr val="FF0000"/>
                </a:solidFill>
              </a:rPr>
              <a:t>c[E.i][j]&lt;inf</a:t>
            </a:r>
            <a:r>
              <a:rPr kumimoji="1" lang="en-US" altLang="zh-CN" sz="2000">
                <a:solidFill>
                  <a:schemeClr val="tx1"/>
                </a:solidFill>
              </a:rPr>
              <a:t>)&amp;&amp;(</a:t>
            </a:r>
            <a:r>
              <a:rPr kumimoji="1" lang="en-US" altLang="zh-CN" sz="2000">
                <a:solidFill>
                  <a:srgbClr val="FF0000"/>
                </a:solidFill>
              </a:rPr>
              <a:t>E.length+c[E.i][j]&lt;dist[j]</a:t>
            </a:r>
            <a:r>
              <a:rPr kumimoji="1" lang="en-US" altLang="zh-CN" sz="2000">
                <a:solidFill>
                  <a:schemeClr val="tx1"/>
                </a:solidFill>
              </a:rPr>
              <a:t>)) {</a:t>
            </a:r>
          </a:p>
          <a:p>
            <a:pPr eaLnBrk="1" hangingPunct="1">
              <a:lnSpc>
                <a:spcPct val="120000"/>
              </a:lnSpc>
              <a:spcBef>
                <a:spcPct val="20000"/>
              </a:spcBef>
              <a:buClr>
                <a:schemeClr val="accent1"/>
              </a:buClr>
              <a:buSzPct val="65000"/>
              <a:buFont typeface="Wingdings" panose="05000000000000000000" pitchFamily="2" charset="2"/>
              <a:buNone/>
            </a:pPr>
            <a:r>
              <a:rPr kumimoji="1" lang="en-US" altLang="zh-CN" sz="2000">
                <a:solidFill>
                  <a:schemeClr val="tx1"/>
                </a:solidFill>
              </a:rPr>
              <a:t>                // </a:t>
            </a:r>
            <a:r>
              <a:rPr kumimoji="1" lang="zh-CN" altLang="en-US" sz="2000">
                <a:solidFill>
                  <a:schemeClr val="tx1"/>
                </a:solidFill>
              </a:rPr>
              <a:t>顶点</a:t>
            </a:r>
            <a:r>
              <a:rPr kumimoji="1" lang="en-US" altLang="zh-CN" sz="2000">
                <a:solidFill>
                  <a:schemeClr val="tx1"/>
                </a:solidFill>
              </a:rPr>
              <a:t>i</a:t>
            </a:r>
            <a:r>
              <a:rPr kumimoji="1" lang="zh-CN" altLang="en-US" sz="2000">
                <a:solidFill>
                  <a:schemeClr val="tx1"/>
                </a:solidFill>
              </a:rPr>
              <a:t>到顶点</a:t>
            </a:r>
            <a:r>
              <a:rPr kumimoji="1" lang="en-US" altLang="zh-CN" sz="2000">
                <a:solidFill>
                  <a:schemeClr val="tx1"/>
                </a:solidFill>
              </a:rPr>
              <a:t>j</a:t>
            </a:r>
            <a:r>
              <a:rPr kumimoji="1" lang="zh-CN" altLang="en-US" sz="2000">
                <a:solidFill>
                  <a:schemeClr val="tx1"/>
                </a:solidFill>
              </a:rPr>
              <a:t>可达，且满足限界约束</a:t>
            </a:r>
          </a:p>
          <a:p>
            <a:pPr eaLnBrk="1" hangingPunct="1">
              <a:lnSpc>
                <a:spcPct val="120000"/>
              </a:lnSpc>
              <a:spcBef>
                <a:spcPct val="20000"/>
              </a:spcBef>
              <a:buClr>
                <a:schemeClr val="accent1"/>
              </a:buClr>
              <a:buSzPct val="65000"/>
              <a:buFont typeface="Wingdings" panose="05000000000000000000" pitchFamily="2" charset="2"/>
              <a:buNone/>
            </a:pPr>
            <a:r>
              <a:rPr kumimoji="1" lang="zh-CN" altLang="en-US" sz="2000">
                <a:solidFill>
                  <a:schemeClr val="tx1"/>
                </a:solidFill>
              </a:rPr>
              <a:t>             </a:t>
            </a:r>
            <a:r>
              <a:rPr kumimoji="1" lang="en-US" altLang="zh-CN" sz="2000">
                <a:solidFill>
                  <a:schemeClr val="tx1"/>
                </a:solidFill>
              </a:rPr>
              <a:t>dist[j]=E.length+c[E.i][j];     //</a:t>
            </a:r>
            <a:r>
              <a:rPr kumimoji="1" lang="zh-CN" altLang="en-US" sz="2000">
                <a:solidFill>
                  <a:schemeClr val="tx1"/>
                </a:solidFill>
              </a:rPr>
              <a:t>更新</a:t>
            </a:r>
            <a:r>
              <a:rPr kumimoji="1" lang="en-US" altLang="zh-CN" sz="2000">
                <a:solidFill>
                  <a:schemeClr val="tx1"/>
                </a:solidFill>
              </a:rPr>
              <a:t>j</a:t>
            </a:r>
            <a:r>
              <a:rPr kumimoji="1" lang="zh-CN" altLang="en-US" sz="2000">
                <a:solidFill>
                  <a:schemeClr val="tx1"/>
                </a:solidFill>
              </a:rPr>
              <a:t>的最短距离</a:t>
            </a:r>
            <a:endParaRPr kumimoji="1" lang="en-US" altLang="zh-CN" sz="2000">
              <a:solidFill>
                <a:schemeClr val="tx1"/>
              </a:solidFill>
            </a:endParaRPr>
          </a:p>
          <a:p>
            <a:pPr eaLnBrk="1" hangingPunct="1">
              <a:lnSpc>
                <a:spcPct val="120000"/>
              </a:lnSpc>
              <a:spcBef>
                <a:spcPct val="20000"/>
              </a:spcBef>
              <a:buClr>
                <a:schemeClr val="accent1"/>
              </a:buClr>
              <a:buSzPct val="65000"/>
              <a:buFont typeface="Wingdings" panose="05000000000000000000" pitchFamily="2" charset="2"/>
              <a:buNone/>
            </a:pPr>
            <a:r>
              <a:rPr kumimoji="1" lang="en-US" altLang="zh-CN" sz="2000">
                <a:solidFill>
                  <a:schemeClr val="tx1"/>
                </a:solidFill>
              </a:rPr>
              <a:t>             prev[j]=E.i;      //prev</a:t>
            </a:r>
            <a:r>
              <a:rPr kumimoji="1" lang="zh-CN" altLang="en-US" sz="2000">
                <a:solidFill>
                  <a:schemeClr val="tx1"/>
                </a:solidFill>
              </a:rPr>
              <a:t>前驱顶点数组</a:t>
            </a:r>
            <a:endParaRPr kumimoji="1" lang="en-US" altLang="zh-CN" sz="2000">
              <a:solidFill>
                <a:schemeClr val="tx1"/>
              </a:solidFill>
            </a:endParaRPr>
          </a:p>
          <a:p>
            <a:pPr eaLnBrk="1" hangingPunct="1">
              <a:lnSpc>
                <a:spcPct val="120000"/>
              </a:lnSpc>
              <a:spcBef>
                <a:spcPct val="20000"/>
              </a:spcBef>
              <a:buClr>
                <a:schemeClr val="accent1"/>
              </a:buClr>
              <a:buSzPct val="65000"/>
              <a:buFont typeface="Wingdings" panose="05000000000000000000" pitchFamily="2" charset="2"/>
              <a:buNone/>
            </a:pPr>
            <a:r>
              <a:rPr kumimoji="1" lang="en-US" altLang="zh-CN" sz="2000">
                <a:solidFill>
                  <a:schemeClr val="tx1"/>
                </a:solidFill>
              </a:rPr>
              <a:t>              // </a:t>
            </a:r>
            <a:r>
              <a:rPr kumimoji="1" lang="zh-CN" altLang="en-US" sz="2000">
                <a:solidFill>
                  <a:schemeClr val="tx1"/>
                </a:solidFill>
              </a:rPr>
              <a:t>加入活结点优先队列</a:t>
            </a:r>
          </a:p>
          <a:p>
            <a:pPr eaLnBrk="1" hangingPunct="1">
              <a:lnSpc>
                <a:spcPct val="120000"/>
              </a:lnSpc>
              <a:spcBef>
                <a:spcPct val="20000"/>
              </a:spcBef>
              <a:buClr>
                <a:schemeClr val="accent1"/>
              </a:buClr>
              <a:buSzPct val="65000"/>
              <a:buFont typeface="Wingdings" panose="05000000000000000000" pitchFamily="2" charset="2"/>
              <a:buNone/>
            </a:pPr>
            <a:r>
              <a:rPr kumimoji="1" lang="zh-CN" altLang="en-US" sz="2000">
                <a:solidFill>
                  <a:schemeClr val="tx1"/>
                </a:solidFill>
              </a:rPr>
              <a:t>             </a:t>
            </a:r>
            <a:r>
              <a:rPr kumimoji="1" lang="en-US" altLang="zh-CN" sz="2000">
                <a:solidFill>
                  <a:schemeClr val="tx1"/>
                </a:solidFill>
              </a:rPr>
              <a:t>MinHeapNode&lt;Type&gt; N;</a:t>
            </a:r>
          </a:p>
          <a:p>
            <a:pPr eaLnBrk="1" hangingPunct="1">
              <a:lnSpc>
                <a:spcPct val="120000"/>
              </a:lnSpc>
              <a:spcBef>
                <a:spcPct val="20000"/>
              </a:spcBef>
              <a:buClr>
                <a:schemeClr val="accent1"/>
              </a:buClr>
              <a:buSzPct val="65000"/>
              <a:buFont typeface="Wingdings" panose="05000000000000000000" pitchFamily="2" charset="2"/>
              <a:buNone/>
            </a:pPr>
            <a:r>
              <a:rPr kumimoji="1" lang="en-US" altLang="zh-CN" sz="2000">
                <a:solidFill>
                  <a:schemeClr val="tx1"/>
                </a:solidFill>
              </a:rPr>
              <a:t>             N.i=j;</a:t>
            </a:r>
          </a:p>
          <a:p>
            <a:pPr eaLnBrk="1" hangingPunct="1">
              <a:lnSpc>
                <a:spcPct val="120000"/>
              </a:lnSpc>
              <a:spcBef>
                <a:spcPct val="20000"/>
              </a:spcBef>
              <a:buClr>
                <a:schemeClr val="accent1"/>
              </a:buClr>
              <a:buSzPct val="65000"/>
              <a:buFont typeface="Wingdings" panose="05000000000000000000" pitchFamily="2" charset="2"/>
              <a:buNone/>
            </a:pPr>
            <a:r>
              <a:rPr kumimoji="1" lang="en-US" altLang="zh-CN" sz="2000">
                <a:solidFill>
                  <a:schemeClr val="tx1"/>
                </a:solidFill>
              </a:rPr>
              <a:t>             N.</a:t>
            </a:r>
            <a:r>
              <a:rPr kumimoji="1" lang="en-US" altLang="zh-CN" sz="2000">
                <a:solidFill>
                  <a:srgbClr val="FF0000"/>
                </a:solidFill>
              </a:rPr>
              <a:t>length</a:t>
            </a:r>
            <a:r>
              <a:rPr kumimoji="1" lang="en-US" altLang="zh-CN" sz="2000">
                <a:solidFill>
                  <a:schemeClr val="tx1"/>
                </a:solidFill>
              </a:rPr>
              <a:t>=dist[j];    //</a:t>
            </a:r>
            <a:r>
              <a:rPr lang="zh-CN" altLang="en-US" sz="2000" u="sng">
                <a:solidFill>
                  <a:schemeClr val="tx1"/>
                </a:solidFill>
                <a:latin typeface="楷体_GB2312" pitchFamily="49" charset="-122"/>
              </a:rPr>
              <a:t>结点所对应的当前路长</a:t>
            </a:r>
            <a:endParaRPr kumimoji="1" lang="en-US" altLang="zh-CN" sz="2000">
              <a:solidFill>
                <a:schemeClr val="tx1"/>
              </a:solidFill>
            </a:endParaRPr>
          </a:p>
          <a:p>
            <a:pPr eaLnBrk="1" hangingPunct="1">
              <a:lnSpc>
                <a:spcPct val="120000"/>
              </a:lnSpc>
              <a:spcBef>
                <a:spcPct val="20000"/>
              </a:spcBef>
              <a:buClr>
                <a:schemeClr val="accent1"/>
              </a:buClr>
              <a:buSzPct val="65000"/>
            </a:pPr>
            <a:r>
              <a:rPr kumimoji="1" lang="en-US" altLang="zh-CN" sz="2000">
                <a:solidFill>
                  <a:schemeClr val="tx1"/>
                </a:solidFill>
              </a:rPr>
              <a:t>             H.Insert(N);} }</a:t>
            </a:r>
          </a:p>
          <a:p>
            <a:pPr eaLnBrk="1" hangingPunct="1">
              <a:lnSpc>
                <a:spcPct val="120000"/>
              </a:lnSpc>
              <a:spcBef>
                <a:spcPct val="20000"/>
              </a:spcBef>
              <a:buClr>
                <a:schemeClr val="accent1"/>
              </a:buClr>
              <a:buSzPct val="65000"/>
              <a:buFont typeface="Wingdings" panose="05000000000000000000" pitchFamily="2" charset="2"/>
              <a:buNone/>
            </a:pPr>
            <a:r>
              <a:rPr kumimoji="1" lang="en-US" altLang="zh-CN" sz="2000">
                <a:solidFill>
                  <a:schemeClr val="tx1"/>
                </a:solidFill>
              </a:rPr>
              <a:t>    try {H.DeleteMin(E);}         // </a:t>
            </a:r>
            <a:r>
              <a:rPr kumimoji="1" lang="zh-CN" altLang="en-US" sz="2000">
                <a:solidFill>
                  <a:schemeClr val="tx1"/>
                </a:solidFill>
              </a:rPr>
              <a:t>取下一扩展结点</a:t>
            </a:r>
          </a:p>
          <a:p>
            <a:pPr eaLnBrk="1" hangingPunct="1">
              <a:lnSpc>
                <a:spcPct val="120000"/>
              </a:lnSpc>
              <a:spcBef>
                <a:spcPct val="20000"/>
              </a:spcBef>
              <a:buClr>
                <a:schemeClr val="accent1"/>
              </a:buClr>
              <a:buSzPct val="65000"/>
              <a:buFont typeface="Wingdings" panose="05000000000000000000" pitchFamily="2" charset="2"/>
              <a:buNone/>
            </a:pPr>
            <a:r>
              <a:rPr kumimoji="1" lang="zh-CN" altLang="en-US" sz="2000">
                <a:solidFill>
                  <a:srgbClr val="FF0000"/>
                </a:solidFill>
              </a:rPr>
              <a:t>    </a:t>
            </a:r>
            <a:r>
              <a:rPr kumimoji="1" lang="en-US" altLang="zh-CN" sz="2000">
                <a:solidFill>
                  <a:srgbClr val="FF0000"/>
                </a:solidFill>
              </a:rPr>
              <a:t>catch (OutOfBounds) {break;}  // </a:t>
            </a:r>
            <a:r>
              <a:rPr kumimoji="1" lang="zh-CN" altLang="en-US" sz="2000">
                <a:solidFill>
                  <a:srgbClr val="FF0000"/>
                </a:solidFill>
              </a:rPr>
              <a:t>优先队列空</a:t>
            </a:r>
            <a:r>
              <a:rPr kumimoji="1" lang="en-US" altLang="zh-CN" sz="2000">
                <a:solidFill>
                  <a:schemeClr val="tx1"/>
                </a:solidFill>
              </a:rPr>
              <a:t>} </a:t>
            </a:r>
          </a:p>
        </p:txBody>
      </p:sp>
      <p:grpSp>
        <p:nvGrpSpPr>
          <p:cNvPr id="7" name="Group 48">
            <a:extLst>
              <a:ext uri="{FF2B5EF4-FFF2-40B4-BE49-F238E27FC236}">
                <a16:creationId xmlns:a16="http://schemas.microsoft.com/office/drawing/2014/main" id="{9BB82BED-AE49-4260-979A-2EB07D0433D6}"/>
              </a:ext>
            </a:extLst>
          </p:cNvPr>
          <p:cNvGrpSpPr>
            <a:grpSpLocks/>
          </p:cNvGrpSpPr>
          <p:nvPr/>
        </p:nvGrpSpPr>
        <p:grpSpPr bwMode="auto">
          <a:xfrm>
            <a:off x="6075486" y="74774"/>
            <a:ext cx="1843087" cy="1965324"/>
            <a:chOff x="1829" y="1628"/>
            <a:chExt cx="1161" cy="1238"/>
          </a:xfrm>
          <a:solidFill>
            <a:schemeClr val="bg1"/>
          </a:solidFill>
        </p:grpSpPr>
        <p:sp>
          <p:nvSpPr>
            <p:cNvPr id="8" name="Oval 40">
              <a:extLst>
                <a:ext uri="{FF2B5EF4-FFF2-40B4-BE49-F238E27FC236}">
                  <a16:creationId xmlns:a16="http://schemas.microsoft.com/office/drawing/2014/main" id="{AEAF6D2A-EC28-40BE-A039-B857965987C2}"/>
                </a:ext>
              </a:extLst>
            </p:cNvPr>
            <p:cNvSpPr>
              <a:spLocks noChangeArrowheads="1"/>
            </p:cNvSpPr>
            <p:nvPr/>
          </p:nvSpPr>
          <p:spPr bwMode="auto">
            <a:xfrm>
              <a:off x="2717" y="1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rgbClr val="FF0000"/>
                  </a:solidFill>
                </a:rPr>
                <a:t>1</a:t>
              </a:r>
            </a:p>
          </p:txBody>
        </p:sp>
        <p:sp>
          <p:nvSpPr>
            <p:cNvPr id="9" name="Oval 41">
              <a:extLst>
                <a:ext uri="{FF2B5EF4-FFF2-40B4-BE49-F238E27FC236}">
                  <a16:creationId xmlns:a16="http://schemas.microsoft.com/office/drawing/2014/main" id="{3BF0354A-5F2A-4C55-8C40-54F1E66F3BD0}"/>
                </a:ext>
              </a:extLst>
            </p:cNvPr>
            <p:cNvSpPr>
              <a:spLocks noChangeArrowheads="1"/>
            </p:cNvSpPr>
            <p:nvPr/>
          </p:nvSpPr>
          <p:spPr bwMode="auto">
            <a:xfrm>
              <a:off x="1829" y="2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solidFill>
                    <a:schemeClr val="tx1"/>
                  </a:solidFill>
                </a:rPr>
                <a:t>3</a:t>
              </a:r>
            </a:p>
          </p:txBody>
        </p:sp>
        <p:sp>
          <p:nvSpPr>
            <p:cNvPr id="10" name="Oval 42">
              <a:extLst>
                <a:ext uri="{FF2B5EF4-FFF2-40B4-BE49-F238E27FC236}">
                  <a16:creationId xmlns:a16="http://schemas.microsoft.com/office/drawing/2014/main" id="{65D3B0B6-52BA-4050-B26D-6FB9CD5A9333}"/>
                </a:ext>
              </a:extLst>
            </p:cNvPr>
            <p:cNvSpPr>
              <a:spLocks noChangeArrowheads="1"/>
            </p:cNvSpPr>
            <p:nvPr/>
          </p:nvSpPr>
          <p:spPr bwMode="auto">
            <a:xfrm>
              <a:off x="2162" y="2131"/>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chemeClr val="tx1"/>
                  </a:solidFill>
                </a:rPr>
                <a:t>2</a:t>
              </a:r>
            </a:p>
          </p:txBody>
        </p:sp>
        <p:sp>
          <p:nvSpPr>
            <p:cNvPr id="11" name="Oval 43">
              <a:extLst>
                <a:ext uri="{FF2B5EF4-FFF2-40B4-BE49-F238E27FC236}">
                  <a16:creationId xmlns:a16="http://schemas.microsoft.com/office/drawing/2014/main" id="{90707B08-64BE-4623-BD67-7AA54AF368C0}"/>
                </a:ext>
              </a:extLst>
            </p:cNvPr>
            <p:cNvSpPr>
              <a:spLocks noChangeArrowheads="1"/>
            </p:cNvSpPr>
            <p:nvPr/>
          </p:nvSpPr>
          <p:spPr bwMode="auto">
            <a:xfrm>
              <a:off x="2752" y="2144"/>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chemeClr val="tx1"/>
                  </a:solidFill>
                </a:rPr>
                <a:t>4</a:t>
              </a:r>
            </a:p>
          </p:txBody>
        </p:sp>
      </p:grpSp>
      <p:sp>
        <p:nvSpPr>
          <p:cNvPr id="12" name="Oval 46">
            <a:extLst>
              <a:ext uri="{FF2B5EF4-FFF2-40B4-BE49-F238E27FC236}">
                <a16:creationId xmlns:a16="http://schemas.microsoft.com/office/drawing/2014/main" id="{2B91FDB7-C3A2-90BA-46E4-D6BE817DD728}"/>
              </a:ext>
            </a:extLst>
          </p:cNvPr>
          <p:cNvSpPr>
            <a:spLocks noChangeArrowheads="1"/>
          </p:cNvSpPr>
          <p:nvPr/>
        </p:nvSpPr>
        <p:spPr bwMode="auto">
          <a:xfrm>
            <a:off x="8583613" y="903288"/>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a:t>
            </a:r>
          </a:p>
        </p:txBody>
      </p:sp>
      <p:cxnSp>
        <p:nvCxnSpPr>
          <p:cNvPr id="13" name="直接箭头连接符 15">
            <a:extLst>
              <a:ext uri="{FF2B5EF4-FFF2-40B4-BE49-F238E27FC236}">
                <a16:creationId xmlns:a16="http://schemas.microsoft.com/office/drawing/2014/main" id="{8E56A731-4E09-38AC-2687-F48087807A21}"/>
              </a:ext>
            </a:extLst>
          </p:cNvPr>
          <p:cNvCxnSpPr>
            <a:cxnSpLocks noChangeShapeType="1"/>
          </p:cNvCxnSpPr>
          <p:nvPr/>
        </p:nvCxnSpPr>
        <p:spPr bwMode="auto">
          <a:xfrm flipH="1">
            <a:off x="6640513" y="404813"/>
            <a:ext cx="881062" cy="530225"/>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type="triangle" w="med" len="med"/>
              </a14:hiddenLine>
            </a:ext>
          </a:extLst>
        </p:spPr>
      </p:cxnSp>
      <p:cxnSp>
        <p:nvCxnSpPr>
          <p:cNvPr id="14" name="直接箭头连接符 13">
            <a:extLst>
              <a:ext uri="{FF2B5EF4-FFF2-40B4-BE49-F238E27FC236}">
                <a16:creationId xmlns:a16="http://schemas.microsoft.com/office/drawing/2014/main" id="{512B9B80-0A8A-4DDC-800C-B31BDA279922}"/>
              </a:ext>
            </a:extLst>
          </p:cNvPr>
          <p:cNvCxnSpPr>
            <a:stCxn id="8" idx="3"/>
            <a:endCxn id="10" idx="0"/>
          </p:cNvCxnSpPr>
          <p:nvPr/>
        </p:nvCxnSpPr>
        <p:spPr bwMode="auto">
          <a:xfrm flipH="1">
            <a:off x="6792913" y="396875"/>
            <a:ext cx="747712" cy="476250"/>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5" name="直接箭头连接符 14">
            <a:extLst>
              <a:ext uri="{FF2B5EF4-FFF2-40B4-BE49-F238E27FC236}">
                <a16:creationId xmlns:a16="http://schemas.microsoft.com/office/drawing/2014/main" id="{7F20815F-00AA-4505-9538-35C487D12F58}"/>
              </a:ext>
            </a:extLst>
          </p:cNvPr>
          <p:cNvCxnSpPr>
            <a:stCxn id="8" idx="4"/>
            <a:endCxn id="11" idx="0"/>
          </p:cNvCxnSpPr>
          <p:nvPr/>
        </p:nvCxnSpPr>
        <p:spPr bwMode="auto">
          <a:xfrm>
            <a:off x="7673975" y="452438"/>
            <a:ext cx="55563" cy="4413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6" name="直接箭头连接符 15">
            <a:extLst>
              <a:ext uri="{FF2B5EF4-FFF2-40B4-BE49-F238E27FC236}">
                <a16:creationId xmlns:a16="http://schemas.microsoft.com/office/drawing/2014/main" id="{00FABFFC-C912-4F63-B335-BFFFB658B5B8}"/>
              </a:ext>
            </a:extLst>
          </p:cNvPr>
          <p:cNvCxnSpPr>
            <a:stCxn id="8" idx="5"/>
            <a:endCxn id="12" idx="0"/>
          </p:cNvCxnSpPr>
          <p:nvPr/>
        </p:nvCxnSpPr>
        <p:spPr bwMode="auto">
          <a:xfrm>
            <a:off x="7807325" y="396875"/>
            <a:ext cx="965200" cy="506413"/>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7" name="直接箭头连接符 16">
            <a:extLst>
              <a:ext uri="{FF2B5EF4-FFF2-40B4-BE49-F238E27FC236}">
                <a16:creationId xmlns:a16="http://schemas.microsoft.com/office/drawing/2014/main" id="{B008E88B-4FFA-4EC8-864D-92B32FE23875}"/>
              </a:ext>
            </a:extLst>
          </p:cNvPr>
          <p:cNvCxnSpPr>
            <a:stCxn id="10" idx="3"/>
            <a:endCxn id="9" idx="0"/>
          </p:cNvCxnSpPr>
          <p:nvPr/>
        </p:nvCxnSpPr>
        <p:spPr bwMode="auto">
          <a:xfrm flipH="1">
            <a:off x="6264275" y="1195388"/>
            <a:ext cx="395288" cy="4667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18" name="Oval 46">
            <a:extLst>
              <a:ext uri="{FF2B5EF4-FFF2-40B4-BE49-F238E27FC236}">
                <a16:creationId xmlns:a16="http://schemas.microsoft.com/office/drawing/2014/main" id="{447C26BB-F043-DA40-C5AC-453E5E698149}"/>
              </a:ext>
            </a:extLst>
          </p:cNvPr>
          <p:cNvSpPr>
            <a:spLocks noChangeArrowheads="1"/>
          </p:cNvSpPr>
          <p:nvPr/>
        </p:nvSpPr>
        <p:spPr bwMode="auto">
          <a:xfrm>
            <a:off x="5678488" y="2532063"/>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a:t>
            </a:r>
          </a:p>
        </p:txBody>
      </p:sp>
      <p:cxnSp>
        <p:nvCxnSpPr>
          <p:cNvPr id="19" name="直接箭头连接符 18">
            <a:extLst>
              <a:ext uri="{FF2B5EF4-FFF2-40B4-BE49-F238E27FC236}">
                <a16:creationId xmlns:a16="http://schemas.microsoft.com/office/drawing/2014/main" id="{908967AD-F22A-4117-A038-AB913585197C}"/>
              </a:ext>
            </a:extLst>
          </p:cNvPr>
          <p:cNvCxnSpPr>
            <a:stCxn id="9" idx="4"/>
            <a:endCxn id="18" idx="0"/>
          </p:cNvCxnSpPr>
          <p:nvPr/>
        </p:nvCxnSpPr>
        <p:spPr bwMode="auto">
          <a:xfrm flipH="1">
            <a:off x="5867400" y="2039938"/>
            <a:ext cx="396875" cy="4921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20" name="直接箭头连接符 19">
            <a:extLst>
              <a:ext uri="{FF2B5EF4-FFF2-40B4-BE49-F238E27FC236}">
                <a16:creationId xmlns:a16="http://schemas.microsoft.com/office/drawing/2014/main" id="{0866B1DD-8573-4E0B-A6BE-6D78E6913FAD}"/>
              </a:ext>
            </a:extLst>
          </p:cNvPr>
          <p:cNvCxnSpPr/>
          <p:nvPr/>
        </p:nvCxnSpPr>
        <p:spPr bwMode="auto">
          <a:xfrm flipH="1">
            <a:off x="7321550" y="1273175"/>
            <a:ext cx="395288" cy="4667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21" name="Oval 41">
            <a:extLst>
              <a:ext uri="{FF2B5EF4-FFF2-40B4-BE49-F238E27FC236}">
                <a16:creationId xmlns:a16="http://schemas.microsoft.com/office/drawing/2014/main" id="{62797669-544B-A15B-601D-C954CC431041}"/>
              </a:ext>
            </a:extLst>
          </p:cNvPr>
          <p:cNvSpPr>
            <a:spLocks noChangeArrowheads="1"/>
          </p:cNvSpPr>
          <p:nvPr/>
        </p:nvSpPr>
        <p:spPr bwMode="auto">
          <a:xfrm>
            <a:off x="7092950" y="1739900"/>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3</a:t>
            </a:r>
          </a:p>
        </p:txBody>
      </p:sp>
      <p:sp>
        <p:nvSpPr>
          <p:cNvPr id="22" name="Oval 46">
            <a:extLst>
              <a:ext uri="{FF2B5EF4-FFF2-40B4-BE49-F238E27FC236}">
                <a16:creationId xmlns:a16="http://schemas.microsoft.com/office/drawing/2014/main" id="{7D3C2613-9818-644F-FDDF-D212F06BF979}"/>
              </a:ext>
            </a:extLst>
          </p:cNvPr>
          <p:cNvSpPr>
            <a:spLocks noChangeArrowheads="1"/>
          </p:cNvSpPr>
          <p:nvPr/>
        </p:nvSpPr>
        <p:spPr bwMode="auto">
          <a:xfrm>
            <a:off x="6892925" y="2532063"/>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a:t>
            </a:r>
          </a:p>
        </p:txBody>
      </p:sp>
      <p:cxnSp>
        <p:nvCxnSpPr>
          <p:cNvPr id="23" name="直接箭头连接符 22">
            <a:extLst>
              <a:ext uri="{FF2B5EF4-FFF2-40B4-BE49-F238E27FC236}">
                <a16:creationId xmlns:a16="http://schemas.microsoft.com/office/drawing/2014/main" id="{8134BC49-7EE5-489C-9EAC-E94F0214BA3F}"/>
              </a:ext>
            </a:extLst>
          </p:cNvPr>
          <p:cNvCxnSpPr>
            <a:endCxn id="22" idx="0"/>
          </p:cNvCxnSpPr>
          <p:nvPr/>
        </p:nvCxnSpPr>
        <p:spPr bwMode="auto">
          <a:xfrm flipH="1">
            <a:off x="7081838" y="2117725"/>
            <a:ext cx="188912" cy="414338"/>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24" name="Oval 46">
            <a:extLst>
              <a:ext uri="{FF2B5EF4-FFF2-40B4-BE49-F238E27FC236}">
                <a16:creationId xmlns:a16="http://schemas.microsoft.com/office/drawing/2014/main" id="{44C496CA-6719-7428-C3E4-683316B767F8}"/>
              </a:ext>
            </a:extLst>
          </p:cNvPr>
          <p:cNvSpPr>
            <a:spLocks noChangeArrowheads="1"/>
          </p:cNvSpPr>
          <p:nvPr/>
        </p:nvSpPr>
        <p:spPr bwMode="auto">
          <a:xfrm>
            <a:off x="8105775" y="1736725"/>
            <a:ext cx="377825" cy="377825"/>
          </a:xfrm>
          <a:prstGeom prst="ellipse">
            <a:avLst/>
          </a:prstGeom>
          <a:solidFill>
            <a:schemeClr val="bg1"/>
          </a:solid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a:t>
            </a:r>
          </a:p>
        </p:txBody>
      </p:sp>
      <p:cxnSp>
        <p:nvCxnSpPr>
          <p:cNvPr id="25" name="直接箭头连接符 24">
            <a:extLst>
              <a:ext uri="{FF2B5EF4-FFF2-40B4-BE49-F238E27FC236}">
                <a16:creationId xmlns:a16="http://schemas.microsoft.com/office/drawing/2014/main" id="{F890116E-E850-4BB2-AB60-CB1B2A6559FC}"/>
              </a:ext>
            </a:extLst>
          </p:cNvPr>
          <p:cNvCxnSpPr>
            <a:endCxn id="24" idx="0"/>
          </p:cNvCxnSpPr>
          <p:nvPr/>
        </p:nvCxnSpPr>
        <p:spPr bwMode="auto">
          <a:xfrm>
            <a:off x="7732713" y="1273175"/>
            <a:ext cx="561975" cy="463550"/>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26" name="矩形 28">
            <a:extLst>
              <a:ext uri="{FF2B5EF4-FFF2-40B4-BE49-F238E27FC236}">
                <a16:creationId xmlns:a16="http://schemas.microsoft.com/office/drawing/2014/main" id="{C5315B87-8B2E-E0F3-B728-839431CA9E02}"/>
              </a:ext>
            </a:extLst>
          </p:cNvPr>
          <p:cNvSpPr>
            <a:spLocks noChangeArrowheads="1"/>
          </p:cNvSpPr>
          <p:nvPr/>
        </p:nvSpPr>
        <p:spPr bwMode="auto">
          <a:xfrm>
            <a:off x="6303963" y="61118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10</a:t>
            </a:r>
          </a:p>
        </p:txBody>
      </p:sp>
      <p:sp>
        <p:nvSpPr>
          <p:cNvPr id="27" name="矩形 29">
            <a:extLst>
              <a:ext uri="{FF2B5EF4-FFF2-40B4-BE49-F238E27FC236}">
                <a16:creationId xmlns:a16="http://schemas.microsoft.com/office/drawing/2014/main" id="{A8935888-11F7-7036-E885-B2455856EFE3}"/>
              </a:ext>
            </a:extLst>
          </p:cNvPr>
          <p:cNvSpPr>
            <a:spLocks noChangeArrowheads="1"/>
          </p:cNvSpPr>
          <p:nvPr/>
        </p:nvSpPr>
        <p:spPr bwMode="auto">
          <a:xfrm>
            <a:off x="5788025" y="135255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60</a:t>
            </a:r>
          </a:p>
        </p:txBody>
      </p:sp>
      <p:sp>
        <p:nvSpPr>
          <p:cNvPr id="28" name="矩形 30">
            <a:extLst>
              <a:ext uri="{FF2B5EF4-FFF2-40B4-BE49-F238E27FC236}">
                <a16:creationId xmlns:a16="http://schemas.microsoft.com/office/drawing/2014/main" id="{AA2E6C72-5156-F9A3-5589-D9E07F497C4F}"/>
              </a:ext>
            </a:extLst>
          </p:cNvPr>
          <p:cNvSpPr>
            <a:spLocks noChangeArrowheads="1"/>
          </p:cNvSpPr>
          <p:nvPr/>
        </p:nvSpPr>
        <p:spPr bwMode="auto">
          <a:xfrm>
            <a:off x="5297488" y="2320925"/>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t>70</a:t>
            </a:r>
          </a:p>
        </p:txBody>
      </p:sp>
      <p:sp>
        <p:nvSpPr>
          <p:cNvPr id="29" name="矩形 31">
            <a:extLst>
              <a:ext uri="{FF2B5EF4-FFF2-40B4-BE49-F238E27FC236}">
                <a16:creationId xmlns:a16="http://schemas.microsoft.com/office/drawing/2014/main" id="{171E7381-515F-1DA0-69D8-1E08CF10F85C}"/>
              </a:ext>
            </a:extLst>
          </p:cNvPr>
          <p:cNvSpPr>
            <a:spLocks noChangeArrowheads="1"/>
          </p:cNvSpPr>
          <p:nvPr/>
        </p:nvSpPr>
        <p:spPr bwMode="auto">
          <a:xfrm>
            <a:off x="7200900" y="657225"/>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30</a:t>
            </a:r>
          </a:p>
        </p:txBody>
      </p:sp>
      <p:sp>
        <p:nvSpPr>
          <p:cNvPr id="30" name="矩形 32">
            <a:extLst>
              <a:ext uri="{FF2B5EF4-FFF2-40B4-BE49-F238E27FC236}">
                <a16:creationId xmlns:a16="http://schemas.microsoft.com/office/drawing/2014/main" id="{3E073B25-6F79-956C-0C10-41F812B075BD}"/>
              </a:ext>
            </a:extLst>
          </p:cNvPr>
          <p:cNvSpPr>
            <a:spLocks noChangeArrowheads="1"/>
          </p:cNvSpPr>
          <p:nvPr/>
        </p:nvSpPr>
        <p:spPr bwMode="auto">
          <a:xfrm>
            <a:off x="6837363" y="1450975"/>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50</a:t>
            </a:r>
          </a:p>
        </p:txBody>
      </p:sp>
      <p:sp>
        <p:nvSpPr>
          <p:cNvPr id="31" name="矩形 33">
            <a:extLst>
              <a:ext uri="{FF2B5EF4-FFF2-40B4-BE49-F238E27FC236}">
                <a16:creationId xmlns:a16="http://schemas.microsoft.com/office/drawing/2014/main" id="{0B94B455-07FD-CB97-5BC2-5F6D71A35B0F}"/>
              </a:ext>
            </a:extLst>
          </p:cNvPr>
          <p:cNvSpPr>
            <a:spLocks noChangeArrowheads="1"/>
          </p:cNvSpPr>
          <p:nvPr/>
        </p:nvSpPr>
        <p:spPr bwMode="auto">
          <a:xfrm>
            <a:off x="6567488" y="2300288"/>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60</a:t>
            </a:r>
          </a:p>
        </p:txBody>
      </p:sp>
      <p:sp>
        <p:nvSpPr>
          <p:cNvPr id="32" name="矩形 34">
            <a:extLst>
              <a:ext uri="{FF2B5EF4-FFF2-40B4-BE49-F238E27FC236}">
                <a16:creationId xmlns:a16="http://schemas.microsoft.com/office/drawing/2014/main" id="{D5768392-AC53-20A1-6088-948A14C0FDD5}"/>
              </a:ext>
            </a:extLst>
          </p:cNvPr>
          <p:cNvSpPr>
            <a:spLocks noChangeArrowheads="1"/>
          </p:cNvSpPr>
          <p:nvPr/>
        </p:nvSpPr>
        <p:spPr bwMode="auto">
          <a:xfrm>
            <a:off x="8248650" y="144780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90</a:t>
            </a:r>
          </a:p>
        </p:txBody>
      </p:sp>
      <p:sp>
        <p:nvSpPr>
          <p:cNvPr id="33" name="矩形 35">
            <a:extLst>
              <a:ext uri="{FF2B5EF4-FFF2-40B4-BE49-F238E27FC236}">
                <a16:creationId xmlns:a16="http://schemas.microsoft.com/office/drawing/2014/main" id="{6185120D-5D24-E591-390D-39E6DC5DFE20}"/>
              </a:ext>
            </a:extLst>
          </p:cNvPr>
          <p:cNvSpPr>
            <a:spLocks noChangeArrowheads="1"/>
          </p:cNvSpPr>
          <p:nvPr/>
        </p:nvSpPr>
        <p:spPr bwMode="auto">
          <a:xfrm>
            <a:off x="8558213" y="492125"/>
            <a:ext cx="61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100</a:t>
            </a:r>
          </a:p>
        </p:txBody>
      </p:sp>
      <p:sp>
        <p:nvSpPr>
          <p:cNvPr id="2" name="矩形 1">
            <a:extLst>
              <a:ext uri="{FF2B5EF4-FFF2-40B4-BE49-F238E27FC236}">
                <a16:creationId xmlns:a16="http://schemas.microsoft.com/office/drawing/2014/main" id="{4B059373-FE81-AE1D-5D5B-6A9414E46AA3}"/>
              </a:ext>
            </a:extLst>
          </p:cNvPr>
          <p:cNvSpPr/>
          <p:nvPr/>
        </p:nvSpPr>
        <p:spPr>
          <a:xfrm>
            <a:off x="5794375" y="3371850"/>
            <a:ext cx="3382963" cy="3168650"/>
          </a:xfrm>
          <a:prstGeom prst="rect">
            <a:avLst/>
          </a:prstGeom>
        </p:spPr>
        <p:txBody>
          <a:bodyPr>
            <a:spAutoFit/>
          </a:bodyPr>
          <a:lstStyle/>
          <a:p>
            <a:pPr>
              <a:defRPr/>
            </a:pPr>
            <a:r>
              <a:rPr lang="en-US" altLang="zh-CN" sz="2000" dirty="0">
                <a:latin typeface="+mj-ea"/>
              </a:rPr>
              <a:t>{1(0)}</a:t>
            </a:r>
          </a:p>
          <a:p>
            <a:pPr>
              <a:defRPr/>
            </a:pPr>
            <a:r>
              <a:rPr lang="en-US" altLang="zh-CN" sz="2000" dirty="0">
                <a:latin typeface="+mj-ea"/>
              </a:rPr>
              <a:t>{2(10),4(30),5(100)}</a:t>
            </a:r>
          </a:p>
          <a:p>
            <a:pPr>
              <a:defRPr/>
            </a:pPr>
            <a:r>
              <a:rPr lang="en-US" altLang="zh-CN" sz="2000" dirty="0">
                <a:latin typeface="+mj-ea"/>
              </a:rPr>
              <a:t>{4(30),3(60),5(100)}</a:t>
            </a:r>
          </a:p>
          <a:p>
            <a:pPr>
              <a:defRPr/>
            </a:pPr>
            <a:r>
              <a:rPr lang="en-US" altLang="zh-CN" sz="2000" dirty="0">
                <a:latin typeface="+mj-ea"/>
              </a:rPr>
              <a:t>{3(50),</a:t>
            </a:r>
            <a:r>
              <a:rPr lang="en-US" altLang="zh-CN" sz="2000" dirty="0">
                <a:solidFill>
                  <a:srgbClr val="FF0000"/>
                </a:solidFill>
                <a:latin typeface="+mj-ea"/>
              </a:rPr>
              <a:t>3(60)</a:t>
            </a:r>
            <a:r>
              <a:rPr lang="en-US" altLang="zh-CN" sz="2000" dirty="0">
                <a:latin typeface="+mj-ea"/>
              </a:rPr>
              <a:t>,5(90),5(100)}</a:t>
            </a:r>
          </a:p>
          <a:p>
            <a:pPr>
              <a:defRPr/>
            </a:pPr>
            <a:r>
              <a:rPr lang="en-US" altLang="zh-CN" sz="2000" dirty="0">
                <a:latin typeface="+mj-ea"/>
              </a:rPr>
              <a:t>{3(60),5(60), 5(90),5(100)}</a:t>
            </a:r>
          </a:p>
          <a:p>
            <a:pPr>
              <a:defRPr/>
            </a:pPr>
            <a:r>
              <a:rPr lang="en-US" altLang="zh-CN" sz="2000" dirty="0">
                <a:latin typeface="+mj-ea"/>
              </a:rPr>
              <a:t>{5(60),5(70), 5(90),5(100)}</a:t>
            </a:r>
          </a:p>
          <a:p>
            <a:pPr>
              <a:defRPr/>
            </a:pPr>
            <a:r>
              <a:rPr lang="en-US" altLang="zh-CN" sz="2000" dirty="0">
                <a:latin typeface="+mj-ea"/>
              </a:rPr>
              <a:t>{5(70),5(90),5(100)}</a:t>
            </a:r>
          </a:p>
          <a:p>
            <a:pPr>
              <a:defRPr/>
            </a:pPr>
            <a:r>
              <a:rPr lang="en-US" altLang="zh-CN" sz="2000" dirty="0">
                <a:latin typeface="+mj-ea"/>
              </a:rPr>
              <a:t>{5(90),5(100)}</a:t>
            </a:r>
          </a:p>
          <a:p>
            <a:pPr>
              <a:defRPr/>
            </a:pPr>
            <a:r>
              <a:rPr lang="en-US" altLang="zh-CN" sz="2000" dirty="0">
                <a:latin typeface="+mj-ea"/>
              </a:rPr>
              <a:t>{5(100)}</a:t>
            </a:r>
          </a:p>
          <a:p>
            <a:pPr>
              <a:defRPr/>
            </a:pPr>
            <a:r>
              <a:rPr lang="en-US" altLang="zh-CN" sz="2000" dirty="0">
                <a:latin typeface="+mj-ea"/>
              </a:rPr>
              <a:t>{}</a:t>
            </a:r>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89796"/>
                                        </p:tgtEl>
                                        <p:attrNameLst>
                                          <p:attrName>style.visibility</p:attrName>
                                        </p:attrNameLst>
                                      </p:cBhvr>
                                      <p:to>
                                        <p:strVal val="visible"/>
                                      </p:to>
                                    </p:set>
                                    <p:anim calcmode="lin" valueType="num">
                                      <p:cBhvr>
                                        <p:cTn id="7" dur="500" fill="hold"/>
                                        <p:tgtEl>
                                          <p:spTgt spid="289796"/>
                                        </p:tgtEl>
                                        <p:attrNameLst>
                                          <p:attrName>ppt_w</p:attrName>
                                        </p:attrNameLst>
                                      </p:cBhvr>
                                      <p:tavLst>
                                        <p:tav tm="0">
                                          <p:val>
                                            <p:fltVal val="0"/>
                                          </p:val>
                                        </p:tav>
                                        <p:tav tm="100000">
                                          <p:val>
                                            <p:strVal val="#ppt_w"/>
                                          </p:val>
                                        </p:tav>
                                      </p:tavLst>
                                    </p:anim>
                                    <p:anim calcmode="lin" valueType="num">
                                      <p:cBhvr>
                                        <p:cTn id="8" dur="500" fill="hold"/>
                                        <p:tgtEl>
                                          <p:spTgt spid="28979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6" grpId="0" autoUpdateAnimBg="0"/>
      <p:bldP spid="12" grpId="0" animBg="1"/>
      <p:bldP spid="18" grpId="0" animBg="1"/>
      <p:bldP spid="21" grpId="0" animBg="1"/>
      <p:bldP spid="22" grpId="0" animBg="1"/>
      <p:bldP spid="24" grpId="0" animBg="1"/>
      <p:bldP spid="26" grpId="0"/>
      <p:bldP spid="27" grpId="0"/>
      <p:bldP spid="28" grpId="0"/>
      <p:bldP spid="29" grpId="0"/>
      <p:bldP spid="30" grpId="0"/>
      <p:bldP spid="31" grpId="0"/>
      <p:bldP spid="32" grpId="0"/>
      <p:bldP spid="3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a:extLst>
              <a:ext uri="{FF2B5EF4-FFF2-40B4-BE49-F238E27FC236}">
                <a16:creationId xmlns:a16="http://schemas.microsoft.com/office/drawing/2014/main" id="{5C802D5C-7B08-4831-B53C-584CF3DB4131}"/>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02A55A1-5380-40DB-8C80-3B3E57B5688D}" type="slidenum">
              <a:rPr lang="en-US" altLang="zh-CN" sz="1200">
                <a:solidFill>
                  <a:schemeClr val="tx1"/>
                </a:solidFill>
                <a:latin typeface="微软雅黑" panose="020B0503020204020204" pitchFamily="34" charset="-122"/>
                <a:ea typeface="微软雅黑" panose="020B0503020204020204" pitchFamily="34" charset="-122"/>
              </a:rPr>
              <a:pPr/>
              <a:t>65</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76803" name="Rectangle 2">
            <a:extLst>
              <a:ext uri="{FF2B5EF4-FFF2-40B4-BE49-F238E27FC236}">
                <a16:creationId xmlns:a16="http://schemas.microsoft.com/office/drawing/2014/main" id="{41761520-D038-4FB7-BED1-0251734E45D2}"/>
              </a:ext>
            </a:extLst>
          </p:cNvPr>
          <p:cNvSpPr>
            <a:spLocks noGrp="1" noChangeArrowheads="1"/>
          </p:cNvSpPr>
          <p:nvPr>
            <p:ph type="title"/>
          </p:nvPr>
        </p:nvSpPr>
        <p:spPr>
          <a:xfrm>
            <a:off x="454025" y="236538"/>
            <a:ext cx="8229600" cy="1139825"/>
          </a:xfrm>
        </p:spPr>
        <p:txBody>
          <a:bodyPr/>
          <a:lstStyle/>
          <a:p>
            <a:pPr>
              <a:defRPr/>
            </a:pPr>
            <a:r>
              <a:rPr lang="zh-CN" altLang="en-US">
                <a:latin typeface="+mj-ea"/>
              </a:rPr>
              <a:t>6.2	单源最短路径问题</a:t>
            </a:r>
          </a:p>
        </p:txBody>
      </p:sp>
      <p:sp>
        <p:nvSpPr>
          <p:cNvPr id="2" name="Rectangle 1">
            <a:extLst>
              <a:ext uri="{FF2B5EF4-FFF2-40B4-BE49-F238E27FC236}">
                <a16:creationId xmlns:a16="http://schemas.microsoft.com/office/drawing/2014/main" id="{4DB89983-F966-4BFB-A024-44B5B676423F}"/>
              </a:ext>
            </a:extLst>
          </p:cNvPr>
          <p:cNvSpPr>
            <a:spLocks noChangeArrowheads="1"/>
          </p:cNvSpPr>
          <p:nvPr/>
        </p:nvSpPr>
        <p:spPr bwMode="auto">
          <a:xfrm>
            <a:off x="385763" y="2476500"/>
            <a:ext cx="5780087" cy="3784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200000"/>
              </a:lnSpc>
              <a:defRPr/>
            </a:pPr>
            <a:r>
              <a:rPr lang="zh-CN" altLang="zh-CN" sz="2400" dirty="0">
                <a:solidFill>
                  <a:srgbClr val="000000"/>
                </a:solidFill>
                <a:latin typeface="+mj-ea"/>
                <a:ea typeface="+mj-ea"/>
              </a:rPr>
              <a:t>相似</a:t>
            </a:r>
            <a:r>
              <a:rPr lang="zh-CN" altLang="en-US" sz="2400" dirty="0">
                <a:solidFill>
                  <a:srgbClr val="000000"/>
                </a:solidFill>
                <a:latin typeface="+mj-ea"/>
                <a:ea typeface="+mj-ea"/>
              </a:rPr>
              <a:t>之处</a:t>
            </a:r>
            <a:r>
              <a:rPr lang="zh-CN" altLang="zh-CN" sz="2400" dirty="0">
                <a:solidFill>
                  <a:srgbClr val="000000"/>
                </a:solidFill>
                <a:latin typeface="+mj-ea"/>
                <a:ea typeface="+mj-ea"/>
              </a:rPr>
              <a:t>：两者都用优先队列和dist数组</a:t>
            </a:r>
          </a:p>
          <a:p>
            <a:pPr>
              <a:lnSpc>
                <a:spcPct val="200000"/>
              </a:lnSpc>
              <a:defRPr/>
            </a:pPr>
            <a:r>
              <a:rPr lang="zh-CN" altLang="en-US" sz="2400" dirty="0">
                <a:solidFill>
                  <a:srgbClr val="000000"/>
                </a:solidFill>
                <a:latin typeface="+mj-ea"/>
                <a:ea typeface="+mj-ea"/>
              </a:rPr>
              <a:t>不同之处</a:t>
            </a:r>
            <a:r>
              <a:rPr lang="zh-CN" altLang="zh-CN" sz="2400" dirty="0">
                <a:solidFill>
                  <a:srgbClr val="000000"/>
                </a:solidFill>
                <a:latin typeface="+mj-ea"/>
                <a:ea typeface="+mj-ea"/>
              </a:rPr>
              <a:t>：分支限界法不保证节点首次出队时已获得最短路径（可能重新入队），而Dijkstra的节点出队后即确定最短路径。</a:t>
            </a:r>
          </a:p>
        </p:txBody>
      </p:sp>
      <p:sp>
        <p:nvSpPr>
          <p:cNvPr id="8" name="矩形 7">
            <a:extLst>
              <a:ext uri="{FF2B5EF4-FFF2-40B4-BE49-F238E27FC236}">
                <a16:creationId xmlns:a16="http://schemas.microsoft.com/office/drawing/2014/main" id="{09EAF358-FE41-4CD4-A10F-FF3A6EE9C3D6}"/>
              </a:ext>
            </a:extLst>
          </p:cNvPr>
          <p:cNvSpPr>
            <a:spLocks noChangeArrowheads="1"/>
          </p:cNvSpPr>
          <p:nvPr/>
        </p:nvSpPr>
        <p:spPr bwMode="auto">
          <a:xfrm>
            <a:off x="398463" y="1595438"/>
            <a:ext cx="7629525"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dirty="0">
                <a:latin typeface="+mj-ea"/>
                <a:ea typeface="+mj-ea"/>
              </a:rPr>
              <a:t>优先队列分支限界法 </a:t>
            </a:r>
            <a:r>
              <a:rPr lang="en-US" altLang="zh-CN" sz="3200" b="1" dirty="0">
                <a:latin typeface="+mj-ea"/>
                <a:ea typeface="+mj-ea"/>
              </a:rPr>
              <a:t>VS </a:t>
            </a:r>
            <a:r>
              <a:rPr lang="en-US" altLang="zh-CN" sz="3200" b="1" dirty="0" err="1">
                <a:latin typeface="+mj-ea"/>
                <a:ea typeface="+mj-ea"/>
              </a:rPr>
              <a:t>Dijkstra</a:t>
            </a:r>
            <a:r>
              <a:rPr lang="zh-CN" altLang="en-US" sz="3200" b="1" dirty="0">
                <a:latin typeface="+mj-ea"/>
                <a:ea typeface="+mj-ea"/>
              </a:rPr>
              <a:t>算法 </a:t>
            </a:r>
          </a:p>
          <a:p>
            <a:pPr>
              <a:defRPr/>
            </a:pPr>
            <a:endParaRPr lang="zh-CN" altLang="en-US" dirty="0">
              <a:latin typeface="+mj-ea"/>
              <a:ea typeface="+mj-ea"/>
            </a:endParaRPr>
          </a:p>
        </p:txBody>
      </p:sp>
      <p:grpSp>
        <p:nvGrpSpPr>
          <p:cNvPr id="6" name="Group 48">
            <a:extLst>
              <a:ext uri="{FF2B5EF4-FFF2-40B4-BE49-F238E27FC236}">
                <a16:creationId xmlns:a16="http://schemas.microsoft.com/office/drawing/2014/main" id="{9BB82BED-AE49-4260-979A-2EB07D0433D6}"/>
              </a:ext>
            </a:extLst>
          </p:cNvPr>
          <p:cNvGrpSpPr>
            <a:grpSpLocks/>
          </p:cNvGrpSpPr>
          <p:nvPr/>
        </p:nvGrpSpPr>
        <p:grpSpPr bwMode="auto">
          <a:xfrm>
            <a:off x="6588689" y="1988840"/>
            <a:ext cx="1843087" cy="1965324"/>
            <a:chOff x="1829" y="1628"/>
            <a:chExt cx="1161" cy="1238"/>
          </a:xfrm>
          <a:solidFill>
            <a:schemeClr val="bg1"/>
          </a:solidFill>
        </p:grpSpPr>
        <p:sp>
          <p:nvSpPr>
            <p:cNvPr id="7" name="Oval 40">
              <a:extLst>
                <a:ext uri="{FF2B5EF4-FFF2-40B4-BE49-F238E27FC236}">
                  <a16:creationId xmlns:a16="http://schemas.microsoft.com/office/drawing/2014/main" id="{AEAF6D2A-EC28-40BE-A039-B857965987C2}"/>
                </a:ext>
              </a:extLst>
            </p:cNvPr>
            <p:cNvSpPr>
              <a:spLocks noChangeArrowheads="1"/>
            </p:cNvSpPr>
            <p:nvPr/>
          </p:nvSpPr>
          <p:spPr bwMode="auto">
            <a:xfrm>
              <a:off x="2717" y="1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rgbClr val="FF0000"/>
                  </a:solidFill>
                </a:rPr>
                <a:t>1</a:t>
              </a:r>
            </a:p>
          </p:txBody>
        </p:sp>
        <p:sp>
          <p:nvSpPr>
            <p:cNvPr id="9" name="Oval 41">
              <a:extLst>
                <a:ext uri="{FF2B5EF4-FFF2-40B4-BE49-F238E27FC236}">
                  <a16:creationId xmlns:a16="http://schemas.microsoft.com/office/drawing/2014/main" id="{3BF0354A-5F2A-4C55-8C40-54F1E66F3BD0}"/>
                </a:ext>
              </a:extLst>
            </p:cNvPr>
            <p:cNvSpPr>
              <a:spLocks noChangeArrowheads="1"/>
            </p:cNvSpPr>
            <p:nvPr/>
          </p:nvSpPr>
          <p:spPr bwMode="auto">
            <a:xfrm>
              <a:off x="1829" y="2628"/>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a:solidFill>
                    <a:schemeClr val="tx1"/>
                  </a:solidFill>
                </a:rPr>
                <a:t>3</a:t>
              </a:r>
            </a:p>
          </p:txBody>
        </p:sp>
        <p:sp>
          <p:nvSpPr>
            <p:cNvPr id="10" name="Oval 42">
              <a:extLst>
                <a:ext uri="{FF2B5EF4-FFF2-40B4-BE49-F238E27FC236}">
                  <a16:creationId xmlns:a16="http://schemas.microsoft.com/office/drawing/2014/main" id="{65D3B0B6-52BA-4050-B26D-6FB9CD5A9333}"/>
                </a:ext>
              </a:extLst>
            </p:cNvPr>
            <p:cNvSpPr>
              <a:spLocks noChangeArrowheads="1"/>
            </p:cNvSpPr>
            <p:nvPr/>
          </p:nvSpPr>
          <p:spPr bwMode="auto">
            <a:xfrm>
              <a:off x="2162" y="2131"/>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chemeClr val="tx1"/>
                  </a:solidFill>
                </a:rPr>
                <a:t>2</a:t>
              </a:r>
            </a:p>
          </p:txBody>
        </p:sp>
        <p:sp>
          <p:nvSpPr>
            <p:cNvPr id="11" name="Oval 43">
              <a:extLst>
                <a:ext uri="{FF2B5EF4-FFF2-40B4-BE49-F238E27FC236}">
                  <a16:creationId xmlns:a16="http://schemas.microsoft.com/office/drawing/2014/main" id="{90707B08-64BE-4623-BD67-7AA54AF368C0}"/>
                </a:ext>
              </a:extLst>
            </p:cNvPr>
            <p:cNvSpPr>
              <a:spLocks noChangeArrowheads="1"/>
            </p:cNvSpPr>
            <p:nvPr/>
          </p:nvSpPr>
          <p:spPr bwMode="auto">
            <a:xfrm>
              <a:off x="2752" y="2144"/>
              <a:ext cx="238" cy="238"/>
            </a:xfrm>
            <a:prstGeom prst="ellipse">
              <a:avLst/>
            </a:prstGeom>
            <a:grpFill/>
            <a:ln w="12700">
              <a:solidFill>
                <a:schemeClr val="tx1"/>
              </a:solidFill>
              <a:round/>
              <a:headEnd/>
              <a:tailEnd/>
            </a:ln>
          </p:spPr>
          <p:txBody>
            <a:bodyPr wrap="none" lIns="90488" tIns="44450" rIns="90488" bIns="44450"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defRPr/>
              </a:pPr>
              <a:r>
                <a:rPr lang="en-US" altLang="zh-CN" sz="2000" dirty="0">
                  <a:solidFill>
                    <a:schemeClr val="tx1"/>
                  </a:solidFill>
                </a:rPr>
                <a:t>4</a:t>
              </a:r>
            </a:p>
          </p:txBody>
        </p:sp>
      </p:grpSp>
      <p:cxnSp>
        <p:nvCxnSpPr>
          <p:cNvPr id="12" name="直接箭头连接符 11">
            <a:extLst>
              <a:ext uri="{FF2B5EF4-FFF2-40B4-BE49-F238E27FC236}">
                <a16:creationId xmlns:a16="http://schemas.microsoft.com/office/drawing/2014/main" id="{512B9B80-0A8A-4DDC-800C-B31BDA279922}"/>
              </a:ext>
            </a:extLst>
          </p:cNvPr>
          <p:cNvCxnSpPr/>
          <p:nvPr/>
        </p:nvCxnSpPr>
        <p:spPr bwMode="auto">
          <a:xfrm flipH="1">
            <a:off x="7345363" y="2311400"/>
            <a:ext cx="747712" cy="476250"/>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3" name="直接箭头连接符 12">
            <a:extLst>
              <a:ext uri="{FF2B5EF4-FFF2-40B4-BE49-F238E27FC236}">
                <a16:creationId xmlns:a16="http://schemas.microsoft.com/office/drawing/2014/main" id="{7F20815F-00AA-4505-9538-35C487D12F58}"/>
              </a:ext>
            </a:extLst>
          </p:cNvPr>
          <p:cNvCxnSpPr>
            <a:stCxn id="7" idx="4"/>
            <a:endCxn id="11" idx="0"/>
          </p:cNvCxnSpPr>
          <p:nvPr/>
        </p:nvCxnSpPr>
        <p:spPr bwMode="auto">
          <a:xfrm>
            <a:off x="8186738" y="2366963"/>
            <a:ext cx="55562" cy="4413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4" name="直接箭头连接符 13">
            <a:extLst>
              <a:ext uri="{FF2B5EF4-FFF2-40B4-BE49-F238E27FC236}">
                <a16:creationId xmlns:a16="http://schemas.microsoft.com/office/drawing/2014/main" id="{B008E88B-4FFA-4EC8-864D-92B32FE23875}"/>
              </a:ext>
            </a:extLst>
          </p:cNvPr>
          <p:cNvCxnSpPr>
            <a:stCxn id="10" idx="3"/>
            <a:endCxn id="9" idx="0"/>
          </p:cNvCxnSpPr>
          <p:nvPr/>
        </p:nvCxnSpPr>
        <p:spPr bwMode="auto">
          <a:xfrm flipH="1">
            <a:off x="6777038" y="3109913"/>
            <a:ext cx="395287" cy="466725"/>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cxnSp>
        <p:nvCxnSpPr>
          <p:cNvPr id="15" name="直接箭头连接符 14">
            <a:extLst>
              <a:ext uri="{FF2B5EF4-FFF2-40B4-BE49-F238E27FC236}">
                <a16:creationId xmlns:a16="http://schemas.microsoft.com/office/drawing/2014/main" id="{8134BC49-7EE5-489C-9EAC-E94F0214BA3F}"/>
              </a:ext>
            </a:extLst>
          </p:cNvPr>
          <p:cNvCxnSpPr/>
          <p:nvPr/>
        </p:nvCxnSpPr>
        <p:spPr bwMode="auto">
          <a:xfrm flipH="1">
            <a:off x="6992938" y="3167063"/>
            <a:ext cx="1119187" cy="565150"/>
          </a:xfrm>
          <a:prstGeom prst="straightConnector1">
            <a:avLst/>
          </a:prstGeom>
          <a:ln>
            <a:headEnd type="none" w="med" len="med"/>
            <a:tailEnd type="triangle"/>
          </a:ln>
        </p:spPr>
        <p:style>
          <a:lnRef idx="1">
            <a:schemeClr val="accent4"/>
          </a:lnRef>
          <a:fillRef idx="0">
            <a:schemeClr val="accent4"/>
          </a:fillRef>
          <a:effectRef idx="0">
            <a:schemeClr val="accent4"/>
          </a:effectRef>
          <a:fontRef idx="minor">
            <a:schemeClr val="tx1"/>
          </a:fontRef>
        </p:style>
      </p:cxnSp>
      <p:sp>
        <p:nvSpPr>
          <p:cNvPr id="16" name="矩形 28">
            <a:extLst>
              <a:ext uri="{FF2B5EF4-FFF2-40B4-BE49-F238E27FC236}">
                <a16:creationId xmlns:a16="http://schemas.microsoft.com/office/drawing/2014/main" id="{2B76D5C9-5708-3E99-5909-08333709CD63}"/>
              </a:ext>
            </a:extLst>
          </p:cNvPr>
          <p:cNvSpPr>
            <a:spLocks noChangeArrowheads="1"/>
          </p:cNvSpPr>
          <p:nvPr/>
        </p:nvSpPr>
        <p:spPr bwMode="auto">
          <a:xfrm>
            <a:off x="7305675" y="2187575"/>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10</a:t>
            </a:r>
          </a:p>
        </p:txBody>
      </p:sp>
      <p:sp>
        <p:nvSpPr>
          <p:cNvPr id="17" name="矩形 29">
            <a:extLst>
              <a:ext uri="{FF2B5EF4-FFF2-40B4-BE49-F238E27FC236}">
                <a16:creationId xmlns:a16="http://schemas.microsoft.com/office/drawing/2014/main" id="{5B94578A-788F-9B1C-213E-81AC1EE86E6D}"/>
              </a:ext>
            </a:extLst>
          </p:cNvPr>
          <p:cNvSpPr>
            <a:spLocks noChangeArrowheads="1"/>
          </p:cNvSpPr>
          <p:nvPr/>
        </p:nvSpPr>
        <p:spPr bwMode="auto">
          <a:xfrm>
            <a:off x="6538913" y="299720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10</a:t>
            </a:r>
          </a:p>
        </p:txBody>
      </p:sp>
      <p:sp>
        <p:nvSpPr>
          <p:cNvPr id="18" name="矩形 31">
            <a:extLst>
              <a:ext uri="{FF2B5EF4-FFF2-40B4-BE49-F238E27FC236}">
                <a16:creationId xmlns:a16="http://schemas.microsoft.com/office/drawing/2014/main" id="{CD2059D1-1B84-97D4-30A6-74CD24C7D363}"/>
              </a:ext>
            </a:extLst>
          </p:cNvPr>
          <p:cNvSpPr>
            <a:spLocks noChangeArrowheads="1"/>
          </p:cNvSpPr>
          <p:nvPr/>
        </p:nvSpPr>
        <p:spPr bwMode="auto">
          <a:xfrm>
            <a:off x="8362950" y="2368550"/>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30</a:t>
            </a:r>
          </a:p>
        </p:txBody>
      </p:sp>
      <p:sp>
        <p:nvSpPr>
          <p:cNvPr id="19" name="矩形 32">
            <a:extLst>
              <a:ext uri="{FF2B5EF4-FFF2-40B4-BE49-F238E27FC236}">
                <a16:creationId xmlns:a16="http://schemas.microsoft.com/office/drawing/2014/main" id="{8A7F58AC-4769-398C-4AB4-54C0E3884E35}"/>
              </a:ext>
            </a:extLst>
          </p:cNvPr>
          <p:cNvSpPr>
            <a:spLocks noChangeArrowheads="1"/>
          </p:cNvSpPr>
          <p:nvPr/>
        </p:nvSpPr>
        <p:spPr bwMode="auto">
          <a:xfrm>
            <a:off x="7488238" y="3397250"/>
            <a:ext cx="554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ct val="20000"/>
              </a:spcBef>
              <a:buClr>
                <a:schemeClr val="accent1"/>
              </a:buClr>
              <a:buSzPct val="65000"/>
              <a:buFont typeface="Wingdings" panose="05000000000000000000" pitchFamily="2" charset="2"/>
              <a:buNone/>
            </a:pPr>
            <a:r>
              <a:rPr lang="en-US" altLang="zh-CN" sz="2000">
                <a:solidFill>
                  <a:schemeClr val="tx1"/>
                </a:solidFill>
              </a:rPr>
              <a:t>-50</a:t>
            </a:r>
          </a:p>
        </p:txBody>
      </p:sp>
      <p:sp>
        <p:nvSpPr>
          <p:cNvPr id="20" name="矩形 19">
            <a:extLst>
              <a:ext uri="{FF2B5EF4-FFF2-40B4-BE49-F238E27FC236}">
                <a16:creationId xmlns:a16="http://schemas.microsoft.com/office/drawing/2014/main" id="{302AE5AD-E52F-7FC1-B274-3786966B07F5}"/>
              </a:ext>
            </a:extLst>
          </p:cNvPr>
          <p:cNvSpPr/>
          <p:nvPr/>
        </p:nvSpPr>
        <p:spPr>
          <a:xfrm>
            <a:off x="6594475" y="4305300"/>
            <a:ext cx="1800225" cy="1938338"/>
          </a:xfrm>
          <a:prstGeom prst="rect">
            <a:avLst/>
          </a:prstGeom>
        </p:spPr>
        <p:txBody>
          <a:bodyPr>
            <a:spAutoFit/>
          </a:bodyPr>
          <a:lstStyle/>
          <a:p>
            <a:pPr>
              <a:defRPr/>
            </a:pPr>
            <a:r>
              <a:rPr lang="en-US" altLang="zh-CN" sz="2000" dirty="0">
                <a:latin typeface="+mj-ea"/>
              </a:rPr>
              <a:t>{1(0)}</a:t>
            </a:r>
          </a:p>
          <a:p>
            <a:pPr>
              <a:defRPr/>
            </a:pPr>
            <a:r>
              <a:rPr lang="en-US" altLang="zh-CN" sz="2000" dirty="0">
                <a:latin typeface="+mj-ea"/>
              </a:rPr>
              <a:t>{</a:t>
            </a:r>
            <a:r>
              <a:rPr lang="en-US" altLang="zh-CN" sz="2000" dirty="0">
                <a:solidFill>
                  <a:srgbClr val="FF0000"/>
                </a:solidFill>
                <a:latin typeface="+mj-ea"/>
              </a:rPr>
              <a:t>2</a:t>
            </a:r>
            <a:r>
              <a:rPr lang="en-US" altLang="zh-CN" sz="2000" dirty="0">
                <a:latin typeface="+mj-ea"/>
              </a:rPr>
              <a:t>(10),4(30)}</a:t>
            </a:r>
          </a:p>
          <a:p>
            <a:pPr>
              <a:defRPr/>
            </a:pPr>
            <a:r>
              <a:rPr lang="en-US" altLang="zh-CN" sz="2000" dirty="0">
                <a:latin typeface="+mj-ea"/>
              </a:rPr>
              <a:t>{3(20),4(30)}</a:t>
            </a:r>
          </a:p>
          <a:p>
            <a:pPr>
              <a:defRPr/>
            </a:pPr>
            <a:r>
              <a:rPr lang="en-US" altLang="zh-CN" sz="2000" dirty="0">
                <a:latin typeface="+mj-ea"/>
              </a:rPr>
              <a:t>{</a:t>
            </a:r>
            <a:r>
              <a:rPr lang="en-US" altLang="zh-CN" sz="2000" dirty="0">
                <a:solidFill>
                  <a:srgbClr val="FF0000"/>
                </a:solidFill>
                <a:latin typeface="+mj-ea"/>
              </a:rPr>
              <a:t>4</a:t>
            </a:r>
            <a:r>
              <a:rPr lang="en-US" altLang="zh-CN" sz="2000" dirty="0">
                <a:latin typeface="+mj-ea"/>
              </a:rPr>
              <a:t>(30)}</a:t>
            </a:r>
          </a:p>
          <a:p>
            <a:pPr>
              <a:defRPr/>
            </a:pPr>
            <a:r>
              <a:rPr lang="en-US" altLang="zh-CN" sz="2000" dirty="0">
                <a:latin typeface="+mj-ea"/>
              </a:rPr>
              <a:t>{</a:t>
            </a:r>
            <a:r>
              <a:rPr lang="en-US" altLang="zh-CN" sz="2000" dirty="0">
                <a:solidFill>
                  <a:srgbClr val="FF0000"/>
                </a:solidFill>
                <a:latin typeface="+mj-ea"/>
              </a:rPr>
              <a:t>3</a:t>
            </a:r>
            <a:r>
              <a:rPr lang="en-US" altLang="zh-CN" sz="2000" dirty="0">
                <a:latin typeface="+mj-ea"/>
              </a:rPr>
              <a:t>(-20)}</a:t>
            </a:r>
          </a:p>
          <a:p>
            <a:pPr>
              <a:defRPr/>
            </a:pPr>
            <a:r>
              <a:rPr lang="en-US" altLang="zh-CN" sz="2000" dirty="0">
                <a:latin typeface="+mj-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a:extLst>
              <a:ext uri="{FF2B5EF4-FFF2-40B4-BE49-F238E27FC236}">
                <a16:creationId xmlns:a16="http://schemas.microsoft.com/office/drawing/2014/main" id="{C48E4193-6DD0-4B5E-B224-5C2CE0B76065}"/>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DC6884DA-9AAC-48AB-BBA6-3B9D50E85077}" type="slidenum">
              <a:rPr lang="en-US" altLang="zh-CN" sz="1200">
                <a:solidFill>
                  <a:schemeClr val="tx1"/>
                </a:solidFill>
                <a:latin typeface="微软雅黑" panose="020B0503020204020204" pitchFamily="34" charset="-122"/>
                <a:ea typeface="微软雅黑" panose="020B0503020204020204" pitchFamily="34" charset="-122"/>
              </a:rPr>
              <a:pPr/>
              <a:t>66</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76803" name="Rectangle 2">
            <a:extLst>
              <a:ext uri="{FF2B5EF4-FFF2-40B4-BE49-F238E27FC236}">
                <a16:creationId xmlns:a16="http://schemas.microsoft.com/office/drawing/2014/main" id="{93862DB4-8CBB-4824-B7FF-A062B6E54374}"/>
              </a:ext>
            </a:extLst>
          </p:cNvPr>
          <p:cNvSpPr>
            <a:spLocks noGrp="1" noChangeArrowheads="1"/>
          </p:cNvSpPr>
          <p:nvPr>
            <p:ph type="title"/>
          </p:nvPr>
        </p:nvSpPr>
        <p:spPr>
          <a:xfrm>
            <a:off x="454025" y="236538"/>
            <a:ext cx="8229600" cy="1139825"/>
          </a:xfrm>
        </p:spPr>
        <p:txBody>
          <a:bodyPr/>
          <a:lstStyle/>
          <a:p>
            <a:pPr>
              <a:defRPr/>
            </a:pPr>
            <a:r>
              <a:rPr lang="zh-CN" altLang="en-US">
                <a:latin typeface="+mj-ea"/>
              </a:rPr>
              <a:t>6.2	单源最短路径问题</a:t>
            </a:r>
          </a:p>
        </p:txBody>
      </p:sp>
      <p:sp>
        <p:nvSpPr>
          <p:cNvPr id="76804" name="矩形 7">
            <a:extLst>
              <a:ext uri="{FF2B5EF4-FFF2-40B4-BE49-F238E27FC236}">
                <a16:creationId xmlns:a16="http://schemas.microsoft.com/office/drawing/2014/main" id="{09EAF358-FE41-4CD4-A10F-FF3A6EE9C3D6}"/>
              </a:ext>
            </a:extLst>
          </p:cNvPr>
          <p:cNvSpPr>
            <a:spLocks noChangeArrowheads="1"/>
          </p:cNvSpPr>
          <p:nvPr/>
        </p:nvSpPr>
        <p:spPr bwMode="auto">
          <a:xfrm>
            <a:off x="323850" y="1268413"/>
            <a:ext cx="7629525"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dirty="0">
                <a:latin typeface="+mj-ea"/>
                <a:ea typeface="+mj-ea"/>
              </a:rPr>
              <a:t>优先队列分支限界法 </a:t>
            </a:r>
            <a:r>
              <a:rPr lang="en-US" altLang="zh-CN" sz="3200" b="1" dirty="0">
                <a:latin typeface="+mj-ea"/>
                <a:ea typeface="+mj-ea"/>
              </a:rPr>
              <a:t>VS </a:t>
            </a:r>
            <a:r>
              <a:rPr lang="en-US" altLang="zh-CN" sz="3200" b="1" dirty="0" err="1">
                <a:latin typeface="+mj-ea"/>
                <a:ea typeface="+mj-ea"/>
              </a:rPr>
              <a:t>Dijkstra</a:t>
            </a:r>
            <a:r>
              <a:rPr lang="zh-CN" altLang="en-US" sz="3200" b="1" dirty="0">
                <a:latin typeface="+mj-ea"/>
                <a:ea typeface="+mj-ea"/>
              </a:rPr>
              <a:t>算法 </a:t>
            </a:r>
          </a:p>
          <a:p>
            <a:pPr>
              <a:defRPr/>
            </a:pPr>
            <a:endParaRPr lang="zh-CN" altLang="en-US" dirty="0">
              <a:latin typeface="+mj-ea"/>
              <a:ea typeface="+mj-ea"/>
            </a:endParaRPr>
          </a:p>
        </p:txBody>
      </p:sp>
      <p:graphicFrame>
        <p:nvGraphicFramePr>
          <p:cNvPr id="8" name="内容占位符 4">
            <a:extLst>
              <a:ext uri="{FF2B5EF4-FFF2-40B4-BE49-F238E27FC236}">
                <a16:creationId xmlns:a16="http://schemas.microsoft.com/office/drawing/2014/main" id="{7DEC6D05-3715-4E58-A044-E925C7391F44}"/>
              </a:ext>
            </a:extLst>
          </p:cNvPr>
          <p:cNvGraphicFramePr>
            <a:graphicFrameLocks noGrp="1"/>
          </p:cNvGraphicFramePr>
          <p:nvPr>
            <p:ph idx="1"/>
          </p:nvPr>
        </p:nvGraphicFramePr>
        <p:xfrm>
          <a:off x="738188" y="2414588"/>
          <a:ext cx="7661275" cy="2957512"/>
        </p:xfrm>
        <a:graphic>
          <a:graphicData uri="http://schemas.openxmlformats.org/drawingml/2006/table">
            <a:tbl>
              <a:tblPr/>
              <a:tblGrid>
                <a:gridCol w="1762123">
                  <a:extLst>
                    <a:ext uri="{9D8B030D-6E8A-4147-A177-3AD203B41FA5}">
                      <a16:colId xmlns:a16="http://schemas.microsoft.com/office/drawing/2014/main" val="62662770"/>
                    </a:ext>
                  </a:extLst>
                </a:gridCol>
                <a:gridCol w="1145885">
                  <a:extLst>
                    <a:ext uri="{9D8B030D-6E8A-4147-A177-3AD203B41FA5}">
                      <a16:colId xmlns:a16="http://schemas.microsoft.com/office/drawing/2014/main" val="1982164602"/>
                    </a:ext>
                  </a:extLst>
                </a:gridCol>
                <a:gridCol w="1728461">
                  <a:extLst>
                    <a:ext uri="{9D8B030D-6E8A-4147-A177-3AD203B41FA5}">
                      <a16:colId xmlns:a16="http://schemas.microsoft.com/office/drawing/2014/main" val="3880268859"/>
                    </a:ext>
                  </a:extLst>
                </a:gridCol>
                <a:gridCol w="3024806">
                  <a:extLst>
                    <a:ext uri="{9D8B030D-6E8A-4147-A177-3AD203B41FA5}">
                      <a16:colId xmlns:a16="http://schemas.microsoft.com/office/drawing/2014/main" val="3629592905"/>
                    </a:ext>
                  </a:extLst>
                </a:gridCol>
              </a:tblGrid>
              <a:tr h="556471">
                <a:tc>
                  <a:txBody>
                    <a:bodyPr/>
                    <a:lstStyle/>
                    <a:p>
                      <a:pPr algn="ctr"/>
                      <a:r>
                        <a:rPr lang="zh-CN" altLang="en-US" sz="2400" b="1" dirty="0">
                          <a:effectLst/>
                        </a:rPr>
                        <a:t>方法</a:t>
                      </a:r>
                    </a:p>
                  </a:txBody>
                  <a:tcPr marL="91464"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b="1" dirty="0">
                          <a:effectLst/>
                        </a:rPr>
                        <a:t>允许环</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b="1" dirty="0">
                          <a:effectLst/>
                        </a:rPr>
                        <a:t>处理负权环</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b="1" dirty="0">
                          <a:effectLst/>
                        </a:rPr>
                        <a:t>适用场景</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8685773"/>
                  </a:ext>
                </a:extLst>
              </a:tr>
              <a:tr h="556471">
                <a:tc>
                  <a:txBody>
                    <a:bodyPr/>
                    <a:lstStyle/>
                    <a:p>
                      <a:r>
                        <a:rPr lang="en-US" sz="2400" b="1">
                          <a:effectLst/>
                        </a:rPr>
                        <a:t>Dijkstra</a:t>
                      </a:r>
                      <a:endParaRPr lang="en-US" sz="2400">
                        <a:effectLst/>
                      </a:endParaRPr>
                    </a:p>
                  </a:txBody>
                  <a:tcPr marL="91464"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dirty="0">
                          <a:effectLst/>
                        </a:rPr>
                        <a:t>否</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a:effectLst/>
                        </a:rPr>
                        <a:t>不支持</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a:effectLst/>
                        </a:rPr>
                        <a:t>仅非负权图</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6723710"/>
                  </a:ext>
                </a:extLst>
              </a:tr>
              <a:tr h="922285">
                <a:tc>
                  <a:txBody>
                    <a:bodyPr/>
                    <a:lstStyle/>
                    <a:p>
                      <a:r>
                        <a:rPr lang="en-US" sz="2400" b="1" dirty="0">
                          <a:effectLst/>
                        </a:rPr>
                        <a:t>Bellman-Ford</a:t>
                      </a:r>
                      <a:endParaRPr lang="en-US" sz="2400" dirty="0">
                        <a:effectLst/>
                      </a:endParaRPr>
                    </a:p>
                  </a:txBody>
                  <a:tcPr marL="91464"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dirty="0">
                          <a:effectLst/>
                        </a:rPr>
                        <a:t>否</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a:effectLst/>
                        </a:rPr>
                        <a:t>能检测但无解</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dirty="0">
                          <a:effectLst/>
                        </a:rPr>
                        <a:t>含负权边但无负权环</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889963"/>
                  </a:ext>
                </a:extLst>
              </a:tr>
              <a:tr h="922285">
                <a:tc>
                  <a:txBody>
                    <a:bodyPr/>
                    <a:lstStyle/>
                    <a:p>
                      <a:r>
                        <a:rPr lang="zh-CN" altLang="en-US" sz="2400" b="1">
                          <a:effectLst/>
                        </a:rPr>
                        <a:t>分支限界法</a:t>
                      </a:r>
                      <a:endParaRPr lang="zh-CN" altLang="en-US" sz="2400">
                        <a:effectLst/>
                      </a:endParaRPr>
                    </a:p>
                  </a:txBody>
                  <a:tcPr marL="91464"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a:effectLst/>
                        </a:rPr>
                        <a:t>是</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a:effectLst/>
                        </a:rPr>
                        <a:t>能检测并终止</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400" dirty="0">
                          <a:solidFill>
                            <a:srgbClr val="FF0000"/>
                          </a:solidFill>
                          <a:effectLst/>
                        </a:rPr>
                        <a:t>含环、负权边或复杂约束的变种问题</a:t>
                      </a:r>
                    </a:p>
                  </a:txBody>
                  <a:tcPr marL="95276" marR="95276" marT="95329" marB="953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1032010"/>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0EB3970B-1654-42EF-9BCC-AE3E3BD026BA}"/>
              </a:ext>
            </a:extLst>
          </p:cNvPr>
          <p:cNvSpPr>
            <a:spLocks noGrp="1" noChangeArrowheads="1"/>
          </p:cNvSpPr>
          <p:nvPr>
            <p:ph idx="1"/>
          </p:nvPr>
        </p:nvSpPr>
        <p:spPr>
          <a:xfrm>
            <a:off x="428625" y="571500"/>
            <a:ext cx="8472488" cy="5391150"/>
          </a:xfrm>
        </p:spPr>
        <p:txBody>
          <a:bodyPr/>
          <a:lstStyle/>
          <a:p>
            <a:pPr>
              <a:lnSpc>
                <a:spcPct val="150000"/>
              </a:lnSpc>
              <a:defRPr/>
            </a:pPr>
            <a:r>
              <a:rPr lang="zh-CN" altLang="en-US" sz="2800" b="1">
                <a:latin typeface="+mj-ea"/>
                <a:ea typeface="+mj-ea"/>
              </a:rPr>
              <a:t>通过应用范例学习分支限界法的设计策略。</a:t>
            </a: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1</a:t>
            </a:r>
            <a:r>
              <a:rPr lang="zh-CN" altLang="en-US" sz="2800" b="1">
                <a:latin typeface="+mj-ea"/>
                <a:ea typeface="+mj-ea"/>
              </a:rPr>
              <a:t>）装载问题；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2</a:t>
            </a:r>
            <a:r>
              <a:rPr lang="zh-CN" altLang="en-US" sz="2800" b="1">
                <a:latin typeface="+mj-ea"/>
                <a:ea typeface="+mj-ea"/>
              </a:rPr>
              <a:t>）</a:t>
            </a:r>
            <a:r>
              <a:rPr lang="en-US" altLang="zh-CN" sz="2800" b="1">
                <a:latin typeface="+mj-ea"/>
                <a:ea typeface="+mj-ea"/>
              </a:rPr>
              <a:t>0-1</a:t>
            </a:r>
            <a:r>
              <a:rPr lang="zh-CN" altLang="en-US" sz="2800" b="1">
                <a:latin typeface="+mj-ea"/>
                <a:ea typeface="+mj-ea"/>
              </a:rPr>
              <a:t>背包问题；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3</a:t>
            </a:r>
            <a:r>
              <a:rPr lang="zh-CN" altLang="en-US" sz="2800" b="1">
                <a:latin typeface="+mj-ea"/>
                <a:ea typeface="+mj-ea"/>
              </a:rPr>
              <a:t>）最大团问题；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4</a:t>
            </a:r>
            <a:r>
              <a:rPr lang="zh-CN" altLang="en-US" sz="2800" b="1">
                <a:latin typeface="+mj-ea"/>
                <a:ea typeface="+mj-ea"/>
              </a:rPr>
              <a:t>）旅行售货员问题；</a:t>
            </a: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5</a:t>
            </a:r>
            <a:r>
              <a:rPr lang="zh-CN" altLang="en-US" sz="2800" b="1">
                <a:latin typeface="+mj-ea"/>
                <a:ea typeface="+mj-ea"/>
              </a:rPr>
              <a:t>）单源最短路问题；</a:t>
            </a:r>
            <a:endParaRPr lang="en-US" altLang="zh-CN" sz="2800" b="1">
              <a:latin typeface="+mj-ea"/>
              <a:ea typeface="+mj-ea"/>
            </a:endParaRPr>
          </a:p>
          <a:p>
            <a:pPr>
              <a:lnSpc>
                <a:spcPct val="150000"/>
              </a:lnSpc>
              <a:buFont typeface="Wingdings" panose="05000000000000000000" pitchFamily="2" charset="2"/>
              <a:buNone/>
              <a:defRPr/>
            </a:pPr>
            <a:r>
              <a:rPr lang="zh-CN" altLang="en-US" sz="2800" b="1">
                <a:latin typeface="+mj-ea"/>
                <a:ea typeface="+mj-ea"/>
              </a:rPr>
              <a:t>（</a:t>
            </a:r>
            <a:r>
              <a:rPr lang="en-US" altLang="zh-CN" sz="2800" b="1">
                <a:latin typeface="+mj-ea"/>
                <a:ea typeface="+mj-ea"/>
              </a:rPr>
              <a:t>6</a:t>
            </a:r>
            <a:r>
              <a:rPr lang="zh-CN" altLang="en-US" sz="2800" b="1">
                <a:latin typeface="+mj-ea"/>
                <a:ea typeface="+mj-ea"/>
              </a:rPr>
              <a:t>）</a:t>
            </a:r>
            <a:r>
              <a:rPr lang="zh-CN" altLang="en-US" sz="2800" b="1">
                <a:solidFill>
                  <a:srgbClr val="FF0000"/>
                </a:solidFill>
                <a:latin typeface="+mj-ea"/>
                <a:ea typeface="+mj-ea"/>
              </a:rPr>
              <a:t>批处理作业调度问题</a:t>
            </a:r>
          </a:p>
        </p:txBody>
      </p:sp>
      <p:sp>
        <p:nvSpPr>
          <p:cNvPr id="78851" name="灯片编号占位符 4">
            <a:extLst>
              <a:ext uri="{FF2B5EF4-FFF2-40B4-BE49-F238E27FC236}">
                <a16:creationId xmlns:a16="http://schemas.microsoft.com/office/drawing/2014/main" id="{9C7C74BE-0CDB-4F39-9B86-48E228FBC606}"/>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01C0FFF-271C-465F-810A-97F03EC917F6}"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67</a:t>
            </a:fld>
            <a:endParaRPr lang="en-US" altLang="zh-CN" sz="1200">
              <a:latin typeface="微软雅黑" panose="020B0503020204020204" pitchFamily="34" charset="-122"/>
              <a:ea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2">
            <a:extLst>
              <a:ext uri="{FF2B5EF4-FFF2-40B4-BE49-F238E27FC236}">
                <a16:creationId xmlns:a16="http://schemas.microsoft.com/office/drawing/2014/main" id="{EB02D7B2-C28D-42CC-B8E8-EBC211D0B477}"/>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18BC77E-FC5A-4642-89C9-284F4403EA07}"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68</a:t>
            </a:fld>
            <a:endParaRPr lang="en-US" altLang="zh-CN" sz="1200">
              <a:latin typeface="微软雅黑" panose="020B0503020204020204" pitchFamily="34" charset="-122"/>
              <a:ea typeface="微软雅黑" panose="020B0503020204020204" pitchFamily="34" charset="-122"/>
            </a:endParaRPr>
          </a:p>
        </p:txBody>
      </p:sp>
      <p:sp>
        <p:nvSpPr>
          <p:cNvPr id="292868" name="Rectangle 4">
            <a:extLst>
              <a:ext uri="{FF2B5EF4-FFF2-40B4-BE49-F238E27FC236}">
                <a16:creationId xmlns:a16="http://schemas.microsoft.com/office/drawing/2014/main" id="{3CB333C9-B509-447D-940F-5FCD966DA8B5}"/>
              </a:ext>
            </a:extLst>
          </p:cNvPr>
          <p:cNvSpPr>
            <a:spLocks noChangeArrowheads="1"/>
          </p:cNvSpPr>
          <p:nvPr/>
        </p:nvSpPr>
        <p:spPr bwMode="auto">
          <a:xfrm>
            <a:off x="428625" y="142875"/>
            <a:ext cx="7772400" cy="803275"/>
          </a:xfrm>
          <a:prstGeom prst="rect">
            <a:avLst/>
          </a:prstGeom>
          <a:noFill/>
          <a:ln w="9525">
            <a:noFill/>
            <a:miter lim="800000"/>
            <a:headEnd/>
            <a:tailEnd/>
          </a:ln>
          <a:effectLst/>
        </p:spPr>
        <p:txBody>
          <a:bodyPr anchor="ctr"/>
          <a:lstStyle/>
          <a:p>
            <a:pPr eaLnBrk="1" hangingPunct="1">
              <a:spcBef>
                <a:spcPct val="20000"/>
              </a:spcBef>
              <a:buClr>
                <a:schemeClr val="accent1"/>
              </a:buClr>
              <a:buSzPct val="65000"/>
              <a:buFont typeface="Wingdings" panose="05000000000000000000" pitchFamily="2" charset="2"/>
              <a:buNone/>
              <a:defRPr/>
            </a:pPr>
            <a:r>
              <a:rPr lang="en-US" altLang="zh-CN" sz="4200" dirty="0">
                <a:solidFill>
                  <a:schemeClr val="tx2"/>
                </a:solidFill>
                <a:effectLst>
                  <a:outerShdw blurRad="38100" dist="38100" dir="2700000" algn="tl">
                    <a:srgbClr val="C0C0C0"/>
                  </a:outerShdw>
                </a:effectLst>
                <a:latin typeface="+mj-ea"/>
                <a:ea typeface="+mj-ea"/>
              </a:rPr>
              <a:t>6.9 </a:t>
            </a:r>
            <a:r>
              <a:rPr lang="zh-CN" altLang="en-US" sz="4200" dirty="0">
                <a:solidFill>
                  <a:schemeClr val="tx2"/>
                </a:solidFill>
                <a:effectLst>
                  <a:outerShdw blurRad="38100" dist="38100" dir="2700000" algn="tl">
                    <a:srgbClr val="C0C0C0"/>
                  </a:outerShdw>
                </a:effectLst>
                <a:latin typeface="+mj-ea"/>
                <a:ea typeface="+mj-ea"/>
                <a:cs typeface="+mj-cs"/>
              </a:rPr>
              <a:t>批处理作业调度</a:t>
            </a:r>
          </a:p>
        </p:txBody>
      </p:sp>
      <p:sp>
        <p:nvSpPr>
          <p:cNvPr id="79876" name="Text Box 5">
            <a:extLst>
              <a:ext uri="{FF2B5EF4-FFF2-40B4-BE49-F238E27FC236}">
                <a16:creationId xmlns:a16="http://schemas.microsoft.com/office/drawing/2014/main" id="{D6042D4A-0300-4A70-8D08-30755ABEB8FA}"/>
              </a:ext>
            </a:extLst>
          </p:cNvPr>
          <p:cNvSpPr txBox="1">
            <a:spLocks noChangeArrowheads="1"/>
          </p:cNvSpPr>
          <p:nvPr/>
        </p:nvSpPr>
        <p:spPr bwMode="auto">
          <a:xfrm>
            <a:off x="225425" y="941388"/>
            <a:ext cx="891222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400">
                <a:solidFill>
                  <a:srgbClr val="000066"/>
                </a:solidFill>
                <a:latin typeface="+mj-ea"/>
                <a:ea typeface="+mj-ea"/>
              </a:rPr>
              <a:t>给定</a:t>
            </a:r>
            <a:r>
              <a:rPr lang="en-US" altLang="zh-CN" sz="2400">
                <a:solidFill>
                  <a:srgbClr val="000066"/>
                </a:solidFill>
                <a:latin typeface="+mj-ea"/>
                <a:ea typeface="+mj-ea"/>
              </a:rPr>
              <a:t>n</a:t>
            </a:r>
            <a:r>
              <a:rPr lang="zh-CN" altLang="en-US" sz="2400">
                <a:solidFill>
                  <a:srgbClr val="000066"/>
                </a:solidFill>
                <a:latin typeface="+mj-ea"/>
                <a:ea typeface="+mj-ea"/>
              </a:rPr>
              <a:t>个作业的集合</a:t>
            </a:r>
            <a:r>
              <a:rPr lang="en-US" altLang="zh-CN" sz="2400">
                <a:solidFill>
                  <a:srgbClr val="000066"/>
                </a:solidFill>
                <a:latin typeface="+mj-ea"/>
                <a:ea typeface="+mj-ea"/>
              </a:rPr>
              <a:t>{J</a:t>
            </a:r>
            <a:r>
              <a:rPr lang="en-US" altLang="zh-CN" sz="2400" baseline="-25000">
                <a:solidFill>
                  <a:srgbClr val="000066"/>
                </a:solidFill>
                <a:latin typeface="+mj-ea"/>
                <a:ea typeface="+mj-ea"/>
              </a:rPr>
              <a:t>1</a:t>
            </a:r>
            <a:r>
              <a:rPr lang="en-US" altLang="zh-CN" sz="2400">
                <a:solidFill>
                  <a:srgbClr val="000066"/>
                </a:solidFill>
                <a:latin typeface="+mj-ea"/>
                <a:ea typeface="+mj-ea"/>
              </a:rPr>
              <a:t>,J</a:t>
            </a:r>
            <a:r>
              <a:rPr lang="en-US" altLang="zh-CN" sz="2400" baseline="-25000">
                <a:solidFill>
                  <a:srgbClr val="000066"/>
                </a:solidFill>
                <a:latin typeface="+mj-ea"/>
                <a:ea typeface="+mj-ea"/>
              </a:rPr>
              <a:t>2</a:t>
            </a:r>
            <a:r>
              <a:rPr lang="en-US" altLang="zh-CN" sz="2400">
                <a:solidFill>
                  <a:srgbClr val="000066"/>
                </a:solidFill>
                <a:latin typeface="+mj-ea"/>
                <a:ea typeface="+mj-ea"/>
              </a:rPr>
              <a:t>,…,J</a:t>
            </a:r>
            <a:r>
              <a:rPr lang="en-US" altLang="zh-CN" sz="2400" baseline="-25000">
                <a:solidFill>
                  <a:srgbClr val="000066"/>
                </a:solidFill>
                <a:latin typeface="+mj-ea"/>
                <a:ea typeface="+mj-ea"/>
              </a:rPr>
              <a:t>n</a:t>
            </a:r>
            <a:r>
              <a:rPr lang="en-US" altLang="zh-CN" sz="2400">
                <a:solidFill>
                  <a:srgbClr val="000066"/>
                </a:solidFill>
                <a:latin typeface="+mj-ea"/>
                <a:ea typeface="+mj-ea"/>
              </a:rPr>
              <a:t>}</a:t>
            </a:r>
            <a:r>
              <a:rPr lang="zh-CN" altLang="en-US" sz="2400">
                <a:solidFill>
                  <a:srgbClr val="000066"/>
                </a:solidFill>
                <a:latin typeface="+mj-ea"/>
                <a:ea typeface="+mj-ea"/>
              </a:rPr>
              <a:t>。每个作业必须先由机器</a:t>
            </a:r>
            <a:r>
              <a:rPr lang="en-US" altLang="zh-CN" sz="2400">
                <a:solidFill>
                  <a:srgbClr val="000066"/>
                </a:solidFill>
                <a:latin typeface="+mj-ea"/>
                <a:ea typeface="+mj-ea"/>
              </a:rPr>
              <a:t>1</a:t>
            </a:r>
            <a:r>
              <a:rPr lang="zh-CN" altLang="en-US" sz="2400">
                <a:solidFill>
                  <a:srgbClr val="000066"/>
                </a:solidFill>
                <a:latin typeface="+mj-ea"/>
                <a:ea typeface="+mj-ea"/>
              </a:rPr>
              <a:t>处理，然后由机器</a:t>
            </a:r>
            <a:r>
              <a:rPr lang="en-US" altLang="zh-CN" sz="2400">
                <a:solidFill>
                  <a:srgbClr val="000066"/>
                </a:solidFill>
                <a:latin typeface="+mj-ea"/>
                <a:ea typeface="+mj-ea"/>
              </a:rPr>
              <a:t>2</a:t>
            </a:r>
            <a:r>
              <a:rPr lang="zh-CN" altLang="en-US" sz="2400">
                <a:solidFill>
                  <a:srgbClr val="000066"/>
                </a:solidFill>
                <a:latin typeface="+mj-ea"/>
                <a:ea typeface="+mj-ea"/>
              </a:rPr>
              <a:t>处理。作业</a:t>
            </a:r>
            <a:r>
              <a:rPr lang="en-US" altLang="zh-CN" sz="2400">
                <a:solidFill>
                  <a:srgbClr val="000066"/>
                </a:solidFill>
                <a:latin typeface="+mj-ea"/>
                <a:ea typeface="+mj-ea"/>
              </a:rPr>
              <a:t>J</a:t>
            </a:r>
            <a:r>
              <a:rPr lang="en-US" altLang="zh-CN" sz="2400" baseline="-25000">
                <a:solidFill>
                  <a:srgbClr val="000066"/>
                </a:solidFill>
                <a:latin typeface="+mj-ea"/>
                <a:ea typeface="+mj-ea"/>
              </a:rPr>
              <a:t>i</a:t>
            </a:r>
            <a:r>
              <a:rPr lang="zh-CN" altLang="en-US" sz="2400">
                <a:solidFill>
                  <a:srgbClr val="000066"/>
                </a:solidFill>
                <a:latin typeface="+mj-ea"/>
                <a:ea typeface="+mj-ea"/>
              </a:rPr>
              <a:t>需要机器</a:t>
            </a:r>
            <a:r>
              <a:rPr lang="en-US" altLang="zh-CN" sz="2400">
                <a:solidFill>
                  <a:srgbClr val="000066"/>
                </a:solidFill>
                <a:latin typeface="+mj-ea"/>
                <a:ea typeface="+mj-ea"/>
              </a:rPr>
              <a:t>j</a:t>
            </a:r>
            <a:r>
              <a:rPr lang="zh-CN" altLang="en-US" sz="2400">
                <a:solidFill>
                  <a:srgbClr val="000066"/>
                </a:solidFill>
                <a:latin typeface="+mj-ea"/>
                <a:ea typeface="+mj-ea"/>
              </a:rPr>
              <a:t>的处理时间为</a:t>
            </a:r>
            <a:r>
              <a:rPr lang="en-US" altLang="zh-CN" sz="2400">
                <a:solidFill>
                  <a:srgbClr val="000066"/>
                </a:solidFill>
                <a:latin typeface="+mj-ea"/>
                <a:ea typeface="+mj-ea"/>
              </a:rPr>
              <a:t>t</a:t>
            </a:r>
            <a:r>
              <a:rPr lang="en-US" altLang="zh-CN" sz="2400" baseline="-25000">
                <a:solidFill>
                  <a:srgbClr val="000066"/>
                </a:solidFill>
                <a:latin typeface="+mj-ea"/>
                <a:ea typeface="+mj-ea"/>
              </a:rPr>
              <a:t>ji</a:t>
            </a:r>
            <a:r>
              <a:rPr lang="zh-CN" altLang="en-US" sz="2400">
                <a:solidFill>
                  <a:srgbClr val="000066"/>
                </a:solidFill>
                <a:latin typeface="+mj-ea"/>
                <a:ea typeface="+mj-ea"/>
              </a:rPr>
              <a:t>。对于一个确定的作业调度，</a:t>
            </a:r>
            <a:r>
              <a:rPr lang="en-US" altLang="zh-CN" sz="2400">
                <a:solidFill>
                  <a:srgbClr val="000066"/>
                </a:solidFill>
                <a:latin typeface="+mj-ea"/>
                <a:ea typeface="+mj-ea"/>
              </a:rPr>
              <a:t>F</a:t>
            </a:r>
            <a:r>
              <a:rPr lang="en-US" altLang="zh-CN" sz="2400" baseline="-25000">
                <a:solidFill>
                  <a:srgbClr val="000066"/>
                </a:solidFill>
                <a:latin typeface="+mj-ea"/>
                <a:ea typeface="+mj-ea"/>
              </a:rPr>
              <a:t>ji</a:t>
            </a:r>
            <a:r>
              <a:rPr lang="zh-CN" altLang="en-US" sz="2400">
                <a:solidFill>
                  <a:srgbClr val="000066"/>
                </a:solidFill>
                <a:latin typeface="+mj-ea"/>
                <a:ea typeface="+mj-ea"/>
              </a:rPr>
              <a:t>是作业</a:t>
            </a:r>
            <a:r>
              <a:rPr lang="en-US" altLang="zh-CN" sz="2400">
                <a:solidFill>
                  <a:srgbClr val="000066"/>
                </a:solidFill>
                <a:latin typeface="+mj-ea"/>
                <a:ea typeface="+mj-ea"/>
              </a:rPr>
              <a:t>J</a:t>
            </a:r>
            <a:r>
              <a:rPr lang="en-US" altLang="zh-CN" sz="2400" baseline="-25000">
                <a:solidFill>
                  <a:srgbClr val="000066"/>
                </a:solidFill>
                <a:latin typeface="+mj-ea"/>
                <a:ea typeface="+mj-ea"/>
              </a:rPr>
              <a:t>i</a:t>
            </a:r>
            <a:r>
              <a:rPr lang="zh-CN" altLang="en-US" sz="2400">
                <a:solidFill>
                  <a:srgbClr val="000066"/>
                </a:solidFill>
                <a:latin typeface="+mj-ea"/>
                <a:ea typeface="+mj-ea"/>
              </a:rPr>
              <a:t>在机器</a:t>
            </a:r>
            <a:r>
              <a:rPr lang="en-US" altLang="zh-CN" sz="2400">
                <a:solidFill>
                  <a:srgbClr val="000066"/>
                </a:solidFill>
                <a:latin typeface="+mj-ea"/>
                <a:ea typeface="+mj-ea"/>
              </a:rPr>
              <a:t>j</a:t>
            </a:r>
            <a:r>
              <a:rPr lang="zh-CN" altLang="en-US" sz="2400">
                <a:solidFill>
                  <a:srgbClr val="000066"/>
                </a:solidFill>
                <a:latin typeface="+mj-ea"/>
                <a:ea typeface="+mj-ea"/>
              </a:rPr>
              <a:t>上完成处理时间，所有作业</a:t>
            </a:r>
            <a:r>
              <a:rPr lang="zh-CN" altLang="en-US" sz="2400">
                <a:solidFill>
                  <a:srgbClr val="FF0000"/>
                </a:solidFill>
                <a:latin typeface="+mj-ea"/>
                <a:ea typeface="+mj-ea"/>
              </a:rPr>
              <a:t>在机器</a:t>
            </a:r>
            <a:r>
              <a:rPr lang="en-US" altLang="zh-CN" sz="2400">
                <a:solidFill>
                  <a:srgbClr val="FF0000"/>
                </a:solidFill>
                <a:latin typeface="+mj-ea"/>
                <a:ea typeface="+mj-ea"/>
              </a:rPr>
              <a:t>2</a:t>
            </a:r>
            <a:r>
              <a:rPr lang="zh-CN" altLang="en-US" sz="2400">
                <a:solidFill>
                  <a:srgbClr val="FF0000"/>
                </a:solidFill>
                <a:latin typeface="+mj-ea"/>
                <a:ea typeface="+mj-ea"/>
              </a:rPr>
              <a:t>上完成处理的时间和</a:t>
            </a:r>
            <a:r>
              <a:rPr lang="zh-CN" altLang="en-US" sz="2400">
                <a:solidFill>
                  <a:srgbClr val="000066"/>
                </a:solidFill>
                <a:latin typeface="+mj-ea"/>
                <a:ea typeface="+mj-ea"/>
              </a:rPr>
              <a:t>称为该</a:t>
            </a:r>
            <a:r>
              <a:rPr lang="zh-CN" altLang="en-US" sz="2400">
                <a:solidFill>
                  <a:srgbClr val="FF0000"/>
                </a:solidFill>
                <a:latin typeface="+mj-ea"/>
                <a:ea typeface="+mj-ea"/>
              </a:rPr>
              <a:t>作业调度的完成时间和</a:t>
            </a:r>
            <a:r>
              <a:rPr lang="zh-CN" altLang="en-US" sz="2400">
                <a:solidFill>
                  <a:srgbClr val="000066"/>
                </a:solidFill>
                <a:latin typeface="+mj-ea"/>
                <a:ea typeface="+mj-ea"/>
              </a:rPr>
              <a:t>。</a:t>
            </a:r>
          </a:p>
        </p:txBody>
      </p:sp>
      <p:sp>
        <p:nvSpPr>
          <p:cNvPr id="79877" name="Rectangle 7">
            <a:extLst>
              <a:ext uri="{FF2B5EF4-FFF2-40B4-BE49-F238E27FC236}">
                <a16:creationId xmlns:a16="http://schemas.microsoft.com/office/drawing/2014/main" id="{CAF46C86-9A56-442B-AC62-2DF000B3CB18}"/>
              </a:ext>
            </a:extLst>
          </p:cNvPr>
          <p:cNvSpPr>
            <a:spLocks noChangeArrowheads="1"/>
          </p:cNvSpPr>
          <p:nvPr/>
        </p:nvSpPr>
        <p:spPr bwMode="auto">
          <a:xfrm>
            <a:off x="1771650" y="2803525"/>
            <a:ext cx="3698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endParaRPr>
          </a:p>
        </p:txBody>
      </p:sp>
      <p:graphicFrame>
        <p:nvGraphicFramePr>
          <p:cNvPr id="292949" name="Group 85">
            <a:extLst>
              <a:ext uri="{FF2B5EF4-FFF2-40B4-BE49-F238E27FC236}">
                <a16:creationId xmlns:a16="http://schemas.microsoft.com/office/drawing/2014/main" id="{CDEE806F-2E40-447A-82D9-2468B8F89A15}"/>
              </a:ext>
            </a:extLst>
          </p:cNvPr>
          <p:cNvGraphicFramePr>
            <a:graphicFrameLocks noGrp="1"/>
          </p:cNvGraphicFramePr>
          <p:nvPr/>
        </p:nvGraphicFramePr>
        <p:xfrm>
          <a:off x="434975" y="3806825"/>
          <a:ext cx="2881313" cy="1708149"/>
        </p:xfrm>
        <a:graphic>
          <a:graphicData uri="http://schemas.openxmlformats.org/drawingml/2006/table">
            <a:tbl>
              <a:tblPr/>
              <a:tblGrid>
                <a:gridCol w="819150">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1030288">
                  <a:extLst>
                    <a:ext uri="{9D8B030D-6E8A-4147-A177-3AD203B41FA5}">
                      <a16:colId xmlns:a16="http://schemas.microsoft.com/office/drawing/2014/main" val="20002"/>
                    </a:ext>
                  </a:extLst>
                </a:gridCol>
              </a:tblGrid>
              <a:tr h="518562">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t</a:t>
                      </a:r>
                      <a:r>
                        <a:rPr kumimoji="0" lang="en-US" altLang="zh-CN" sz="2800" b="0" i="0" u="none" strike="noStrike" cap="none" normalizeH="0" baseline="-25000">
                          <a:ln>
                            <a:noFill/>
                          </a:ln>
                          <a:solidFill>
                            <a:schemeClr val="tx1"/>
                          </a:solidFill>
                          <a:effectLst/>
                          <a:latin typeface="Times New Roman" panose="02020603050405020304" pitchFamily="18" charset="0"/>
                          <a:ea typeface="楷体" panose="02010609060101010101" pitchFamily="49" charset="-122"/>
                        </a:rPr>
                        <a:t>ji</a:t>
                      </a:r>
                    </a:p>
                  </a:txBody>
                  <a:tcPr marT="45724" marB="45724"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机器</a:t>
                      </a: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1</a:t>
                      </a: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机器</a:t>
                      </a: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2</a:t>
                      </a:r>
                    </a:p>
                  </a:txBody>
                  <a:tcPr marT="45724" marB="45724"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529">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作业</a:t>
                      </a: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1</a:t>
                      </a: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2</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1</a:t>
                      </a: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96529">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作业</a:t>
                      </a: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2</a:t>
                      </a:r>
                    </a:p>
                  </a:txBody>
                  <a:tcPr marT="45724" marB="45724"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1</a:t>
                      </a:r>
                    </a:p>
                  </a:txBody>
                  <a:tcPr marT="45724" marB="45724"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396529">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作业</a:t>
                      </a: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3</a:t>
                      </a:r>
                    </a:p>
                  </a:txBody>
                  <a:tcPr marT="45724" marB="45724"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2</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panose="020B0604020202020204" pitchFamily="34" charset="0"/>
                          <a:ea typeface="宋体" panose="02010600030101010101" pitchFamily="2" charset="-122"/>
                        </a:defRPr>
                      </a:lvl1pPr>
                      <a:lvl2pPr marL="742950" indent="-285750" eaLnBrk="0" hangingPunct="0">
                        <a:buClr>
                          <a:schemeClr val="accent2"/>
                        </a:buClr>
                        <a:buSzPct val="6000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buClr>
                          <a:schemeClr val="accent2"/>
                        </a:buClr>
                        <a:buSzPct val="70000"/>
                        <a:defRPr>
                          <a:solidFill>
                            <a:schemeClr val="tx1"/>
                          </a:solidFill>
                          <a:latin typeface="Arial" panose="020B0604020202020204" pitchFamily="34" charset="0"/>
                          <a:ea typeface="宋体" panose="02010600030101010101" pitchFamily="2" charset="-122"/>
                        </a:defRPr>
                      </a:lvl4pPr>
                      <a:lvl5pPr marL="2057400" indent="-228600" eaLnBrk="0" hangingPunct="0">
                        <a:buSzPct val="750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3</a:t>
                      </a:r>
                    </a:p>
                  </a:txBody>
                  <a:tcPr marT="45724" marB="45724"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pic>
        <p:nvPicPr>
          <p:cNvPr id="100376" name="Picture 2" descr="在这里插入图片描述">
            <a:extLst>
              <a:ext uri="{FF2B5EF4-FFF2-40B4-BE49-F238E27FC236}">
                <a16:creationId xmlns:a16="http://schemas.microsoft.com/office/drawing/2014/main" id="{40992445-ADE8-C4D4-46FB-0B744AEA8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832"/>
          <a:stretch>
            <a:fillRect/>
          </a:stretch>
        </p:blipFill>
        <p:spPr bwMode="auto">
          <a:xfrm>
            <a:off x="4224338" y="3051175"/>
            <a:ext cx="4879975"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97" name="矩形 1">
            <a:extLst>
              <a:ext uri="{FF2B5EF4-FFF2-40B4-BE49-F238E27FC236}">
                <a16:creationId xmlns:a16="http://schemas.microsoft.com/office/drawing/2014/main" id="{5F69F7DA-CE16-4691-B80E-256C7C536987}"/>
              </a:ext>
            </a:extLst>
          </p:cNvPr>
          <p:cNvSpPr>
            <a:spLocks noChangeArrowheads="1"/>
          </p:cNvSpPr>
          <p:nvPr/>
        </p:nvSpPr>
        <p:spPr bwMode="auto">
          <a:xfrm>
            <a:off x="4181475" y="3573463"/>
            <a:ext cx="280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a:latin typeface="+mj-ea"/>
                <a:ea typeface="+mj-ea"/>
              </a:rPr>
              <a:t>例如，调度方案是</a:t>
            </a:r>
            <a:r>
              <a:rPr lang="en-US" altLang="zh-CN" sz="2000">
                <a:latin typeface="+mj-ea"/>
                <a:ea typeface="+mj-ea"/>
              </a:rPr>
              <a:t>1,3,2</a:t>
            </a:r>
            <a:endParaRPr lang="zh-CN" altLang="en-US" sz="2000">
              <a:latin typeface="+mj-ea"/>
              <a:ea typeface="+mj-ea"/>
            </a:endParaRPr>
          </a:p>
        </p:txBody>
      </p:sp>
      <p:sp>
        <p:nvSpPr>
          <p:cNvPr id="79898" name="矩形 2">
            <a:extLst>
              <a:ext uri="{FF2B5EF4-FFF2-40B4-BE49-F238E27FC236}">
                <a16:creationId xmlns:a16="http://schemas.microsoft.com/office/drawing/2014/main" id="{D47D24C0-7319-431D-AF51-AF8E150A86D7}"/>
              </a:ext>
            </a:extLst>
          </p:cNvPr>
          <p:cNvSpPr>
            <a:spLocks noChangeArrowheads="1"/>
          </p:cNvSpPr>
          <p:nvPr/>
        </p:nvSpPr>
        <p:spPr bwMode="auto">
          <a:xfrm>
            <a:off x="4343400" y="5519738"/>
            <a:ext cx="939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000" dirty="0">
                <a:latin typeface="+mj-ea"/>
                <a:ea typeface="+mj-ea"/>
              </a:rPr>
              <a:t>F</a:t>
            </a:r>
            <a:r>
              <a:rPr lang="en-US" altLang="zh-CN" sz="2000" baseline="-25000" dirty="0">
                <a:latin typeface="+mj-ea"/>
                <a:ea typeface="+mj-ea"/>
              </a:rPr>
              <a:t>21</a:t>
            </a:r>
            <a:r>
              <a:rPr lang="en-US" altLang="zh-CN" sz="2000" dirty="0">
                <a:latin typeface="+mj-ea"/>
                <a:ea typeface="+mj-ea"/>
              </a:rPr>
              <a:t> =3</a:t>
            </a:r>
            <a:endParaRPr lang="zh-CN" altLang="en-US" sz="2000" dirty="0">
              <a:latin typeface="+mj-ea"/>
              <a:ea typeface="+mj-ea"/>
            </a:endParaRPr>
          </a:p>
        </p:txBody>
      </p:sp>
      <p:sp>
        <p:nvSpPr>
          <p:cNvPr id="79899" name="矩形 11">
            <a:extLst>
              <a:ext uri="{FF2B5EF4-FFF2-40B4-BE49-F238E27FC236}">
                <a16:creationId xmlns:a16="http://schemas.microsoft.com/office/drawing/2014/main" id="{1370F753-5EBF-4096-AF3A-C31F7AD83EA9}"/>
              </a:ext>
            </a:extLst>
          </p:cNvPr>
          <p:cNvSpPr>
            <a:spLocks noChangeArrowheads="1"/>
          </p:cNvSpPr>
          <p:nvPr/>
        </p:nvSpPr>
        <p:spPr bwMode="auto">
          <a:xfrm>
            <a:off x="5435600" y="5519738"/>
            <a:ext cx="939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000">
                <a:latin typeface="+mj-ea"/>
                <a:ea typeface="+mj-ea"/>
              </a:rPr>
              <a:t>F</a:t>
            </a:r>
            <a:r>
              <a:rPr lang="en-US" altLang="zh-CN" sz="2000" baseline="-25000">
                <a:latin typeface="+mj-ea"/>
                <a:ea typeface="+mj-ea"/>
              </a:rPr>
              <a:t>22</a:t>
            </a:r>
            <a:r>
              <a:rPr lang="en-US" altLang="zh-CN" sz="2000">
                <a:latin typeface="+mj-ea"/>
                <a:ea typeface="+mj-ea"/>
              </a:rPr>
              <a:t> =7</a:t>
            </a:r>
            <a:endParaRPr lang="zh-CN" altLang="en-US" sz="2000">
              <a:latin typeface="+mj-ea"/>
              <a:ea typeface="+mj-ea"/>
            </a:endParaRPr>
          </a:p>
        </p:txBody>
      </p:sp>
      <p:sp>
        <p:nvSpPr>
          <p:cNvPr id="79900" name="矩形 12">
            <a:extLst>
              <a:ext uri="{FF2B5EF4-FFF2-40B4-BE49-F238E27FC236}">
                <a16:creationId xmlns:a16="http://schemas.microsoft.com/office/drawing/2014/main" id="{D6D1791E-4721-4986-85ED-FD09A4793B42}"/>
              </a:ext>
            </a:extLst>
          </p:cNvPr>
          <p:cNvSpPr>
            <a:spLocks noChangeArrowheads="1"/>
          </p:cNvSpPr>
          <p:nvPr/>
        </p:nvSpPr>
        <p:spPr bwMode="auto">
          <a:xfrm>
            <a:off x="6645275" y="5519738"/>
            <a:ext cx="939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000">
                <a:latin typeface="+mj-ea"/>
                <a:ea typeface="+mj-ea"/>
              </a:rPr>
              <a:t>F</a:t>
            </a:r>
            <a:r>
              <a:rPr lang="en-US" altLang="zh-CN" sz="2000" baseline="-25000">
                <a:latin typeface="+mj-ea"/>
                <a:ea typeface="+mj-ea"/>
              </a:rPr>
              <a:t>23</a:t>
            </a:r>
            <a:r>
              <a:rPr lang="en-US" altLang="zh-CN" sz="2000">
                <a:latin typeface="+mj-ea"/>
                <a:ea typeface="+mj-ea"/>
              </a:rPr>
              <a:t> =8</a:t>
            </a:r>
            <a:endParaRPr lang="zh-CN" altLang="en-US" sz="2000">
              <a:latin typeface="+mj-ea"/>
              <a:ea typeface="+mj-ea"/>
            </a:endParaRPr>
          </a:p>
        </p:txBody>
      </p:sp>
      <p:sp>
        <p:nvSpPr>
          <p:cNvPr id="79901" name="矩形 13">
            <a:extLst>
              <a:ext uri="{FF2B5EF4-FFF2-40B4-BE49-F238E27FC236}">
                <a16:creationId xmlns:a16="http://schemas.microsoft.com/office/drawing/2014/main" id="{ABF68262-1E21-40E1-9DE2-06C1A025722E}"/>
              </a:ext>
            </a:extLst>
          </p:cNvPr>
          <p:cNvSpPr>
            <a:spLocks noChangeArrowheads="1"/>
          </p:cNvSpPr>
          <p:nvPr/>
        </p:nvSpPr>
        <p:spPr bwMode="auto">
          <a:xfrm>
            <a:off x="4525963" y="6183313"/>
            <a:ext cx="3675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a:latin typeface="+mj-ea"/>
                <a:ea typeface="+mj-ea"/>
              </a:rPr>
              <a:t>调度方案是</a:t>
            </a:r>
            <a:r>
              <a:rPr lang="en-US" altLang="zh-CN" sz="2000">
                <a:latin typeface="+mj-ea"/>
                <a:ea typeface="+mj-ea"/>
              </a:rPr>
              <a:t>1,3,2</a:t>
            </a:r>
            <a:r>
              <a:rPr lang="zh-CN" altLang="en-US" sz="2000">
                <a:latin typeface="+mj-ea"/>
                <a:ea typeface="+mj-ea"/>
              </a:rPr>
              <a:t>的完成时间</a:t>
            </a:r>
            <a:r>
              <a:rPr lang="en-US" altLang="zh-CN" sz="2000">
                <a:latin typeface="+mj-ea"/>
                <a:ea typeface="+mj-ea"/>
              </a:rPr>
              <a:t>18 </a:t>
            </a:r>
            <a:endParaRPr lang="zh-CN" altLang="en-US" sz="2000">
              <a:latin typeface="+mj-ea"/>
              <a:ea typeface="+mj-ea"/>
            </a:endParaRPr>
          </a:p>
        </p:txBody>
      </p:sp>
      <p:sp>
        <p:nvSpPr>
          <p:cNvPr id="79902" name="Text Box 5">
            <a:extLst>
              <a:ext uri="{FF2B5EF4-FFF2-40B4-BE49-F238E27FC236}">
                <a16:creationId xmlns:a16="http://schemas.microsoft.com/office/drawing/2014/main" id="{C52B28A7-6EFD-4EAB-ADBE-78E4F304782C}"/>
              </a:ext>
            </a:extLst>
          </p:cNvPr>
          <p:cNvSpPr txBox="1">
            <a:spLocks noChangeArrowheads="1"/>
          </p:cNvSpPr>
          <p:nvPr/>
        </p:nvSpPr>
        <p:spPr bwMode="auto">
          <a:xfrm>
            <a:off x="238125" y="2447925"/>
            <a:ext cx="86026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400" b="1" dirty="0">
                <a:solidFill>
                  <a:srgbClr val="000066"/>
                </a:solidFill>
                <a:latin typeface="+mj-ea"/>
                <a:ea typeface="+mj-ea"/>
              </a:rPr>
              <a:t>批处理作业调度问题</a:t>
            </a:r>
            <a:r>
              <a:rPr lang="zh-CN" altLang="en-US" sz="2400" dirty="0">
                <a:solidFill>
                  <a:srgbClr val="000066"/>
                </a:solidFill>
                <a:latin typeface="+mj-ea"/>
                <a:ea typeface="+mj-ea"/>
              </a:rPr>
              <a:t>要求对于给定的</a:t>
            </a:r>
            <a:r>
              <a:rPr lang="en-US" altLang="zh-CN" sz="2400" dirty="0">
                <a:solidFill>
                  <a:srgbClr val="000066"/>
                </a:solidFill>
                <a:latin typeface="+mj-ea"/>
                <a:ea typeface="+mj-ea"/>
              </a:rPr>
              <a:t>n</a:t>
            </a:r>
            <a:r>
              <a:rPr lang="zh-CN" altLang="en-US" sz="2400" dirty="0">
                <a:solidFill>
                  <a:srgbClr val="000066"/>
                </a:solidFill>
                <a:latin typeface="+mj-ea"/>
                <a:ea typeface="+mj-ea"/>
              </a:rPr>
              <a:t>个作业，制定最佳作业调度方案，使其</a:t>
            </a:r>
            <a:r>
              <a:rPr lang="zh-CN" altLang="en-US" sz="2400" b="1" dirty="0">
                <a:solidFill>
                  <a:srgbClr val="000066"/>
                </a:solidFill>
                <a:latin typeface="+mj-ea"/>
                <a:ea typeface="+mj-ea"/>
              </a:rPr>
              <a:t>完成时间和达到最小</a:t>
            </a:r>
            <a:r>
              <a:rPr lang="zh-CN" altLang="en-US" sz="2400" dirty="0">
                <a:solidFill>
                  <a:srgbClr val="000066"/>
                </a:solidFill>
                <a:latin typeface="+mj-ea"/>
                <a:ea typeface="+mj-ea"/>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F29DE42-5386-4582-A8C9-3F210CC9B7A7}"/>
              </a:ext>
            </a:extLst>
          </p:cNvPr>
          <p:cNvSpPr>
            <a:spLocks noGrp="1" noChangeArrowheads="1"/>
          </p:cNvSpPr>
          <p:nvPr>
            <p:ph type="body" idx="1"/>
          </p:nvPr>
        </p:nvSpPr>
        <p:spPr>
          <a:xfrm>
            <a:off x="92075" y="2924175"/>
            <a:ext cx="8540750" cy="5500688"/>
          </a:xfrm>
        </p:spPr>
        <p:txBody>
          <a:bodyPr/>
          <a:lstStyle/>
          <a:p>
            <a:pPr>
              <a:defRPr/>
            </a:pPr>
            <a:r>
              <a:rPr lang="en-US" altLang="zh-CN" sz="2600" dirty="0">
                <a:latin typeface="+mj-ea"/>
                <a:ea typeface="+mj-ea"/>
              </a:rPr>
              <a:t>1. </a:t>
            </a:r>
            <a:r>
              <a:rPr lang="zh-CN" altLang="en-US" sz="2600" dirty="0">
                <a:latin typeface="+mj-ea"/>
                <a:ea typeface="+mj-ea"/>
              </a:rPr>
              <a:t>问题的解空间</a:t>
            </a:r>
          </a:p>
          <a:p>
            <a:pPr lvl="1">
              <a:defRPr/>
            </a:pPr>
            <a:r>
              <a:rPr lang="zh-CN" altLang="en-US" dirty="0">
                <a:latin typeface="+mj-ea"/>
                <a:ea typeface="+mj-ea"/>
              </a:rPr>
              <a:t>解的形式 </a:t>
            </a:r>
            <a:r>
              <a:rPr lang="en-US" altLang="zh-CN" dirty="0">
                <a:latin typeface="+mj-ea"/>
                <a:ea typeface="+mj-ea"/>
              </a:rPr>
              <a:t>(x</a:t>
            </a:r>
            <a:r>
              <a:rPr lang="en-US" altLang="zh-CN" baseline="-25000" dirty="0">
                <a:latin typeface="+mj-ea"/>
                <a:ea typeface="+mj-ea"/>
              </a:rPr>
              <a:t>1</a:t>
            </a:r>
            <a:r>
              <a:rPr lang="en-US" altLang="zh-CN" dirty="0">
                <a:latin typeface="+mj-ea"/>
                <a:ea typeface="+mj-ea"/>
              </a:rPr>
              <a:t>,x</a:t>
            </a:r>
            <a:r>
              <a:rPr lang="en-US" altLang="zh-CN" baseline="-25000" dirty="0">
                <a:latin typeface="+mj-ea"/>
                <a:ea typeface="+mj-ea"/>
              </a:rPr>
              <a:t>2</a:t>
            </a:r>
            <a:r>
              <a:rPr lang="en-US" altLang="zh-CN" dirty="0">
                <a:latin typeface="+mj-ea"/>
                <a:ea typeface="+mj-ea"/>
              </a:rPr>
              <a:t>,…,</a:t>
            </a:r>
            <a:r>
              <a:rPr lang="en-US" altLang="zh-CN" dirty="0" err="1">
                <a:latin typeface="+mj-ea"/>
                <a:ea typeface="+mj-ea"/>
              </a:rPr>
              <a:t>x</a:t>
            </a:r>
            <a:r>
              <a:rPr lang="en-US" altLang="zh-CN" baseline="-25000" dirty="0" err="1">
                <a:latin typeface="+mj-ea"/>
                <a:ea typeface="+mj-ea"/>
              </a:rPr>
              <a:t>n</a:t>
            </a:r>
            <a:r>
              <a:rPr lang="en-US" altLang="zh-CN" dirty="0">
                <a:latin typeface="+mj-ea"/>
                <a:ea typeface="+mj-ea"/>
              </a:rPr>
              <a:t>)</a:t>
            </a:r>
          </a:p>
          <a:p>
            <a:pPr lvl="1">
              <a:defRPr/>
            </a:pPr>
            <a:r>
              <a:rPr lang="en-US" altLang="zh-CN" dirty="0">
                <a:latin typeface="+mj-ea"/>
                <a:ea typeface="+mj-ea"/>
              </a:rPr>
              <a:t>x</a:t>
            </a:r>
            <a:r>
              <a:rPr lang="en-US" altLang="zh-CN" baseline="-25000" dirty="0">
                <a:latin typeface="+mj-ea"/>
                <a:ea typeface="+mj-ea"/>
              </a:rPr>
              <a:t>i</a:t>
            </a:r>
            <a:r>
              <a:rPr lang="zh-CN" altLang="en-US" dirty="0">
                <a:latin typeface="+mj-ea"/>
                <a:ea typeface="+mj-ea"/>
              </a:rPr>
              <a:t>取值范围</a:t>
            </a:r>
            <a:endParaRPr lang="en-US" altLang="zh-CN" dirty="0">
              <a:latin typeface="+mj-ea"/>
              <a:ea typeface="+mj-ea"/>
            </a:endParaRPr>
          </a:p>
          <a:p>
            <a:pPr lvl="2">
              <a:buFont typeface="Wingdings" panose="05000000000000000000" pitchFamily="2" charset="2"/>
              <a:buNone/>
              <a:defRPr/>
            </a:pPr>
            <a:r>
              <a:rPr lang="en-US" altLang="zh-CN" sz="2600" dirty="0">
                <a:latin typeface="+mj-ea"/>
                <a:ea typeface="+mj-ea"/>
              </a:rPr>
              <a:t>S={1,2,…,n}</a:t>
            </a:r>
            <a:r>
              <a:rPr lang="zh-CN" altLang="en-US" sz="2600" dirty="0">
                <a:latin typeface="+mj-ea"/>
                <a:ea typeface="+mj-ea"/>
              </a:rPr>
              <a:t>，</a:t>
            </a:r>
            <a:r>
              <a:rPr lang="en-US" altLang="zh-CN" sz="2600" dirty="0" err="1">
                <a:latin typeface="+mj-ea"/>
                <a:ea typeface="+mj-ea"/>
              </a:rPr>
              <a:t>x</a:t>
            </a:r>
            <a:r>
              <a:rPr lang="en-US" altLang="zh-CN" sz="2600" baseline="-25000" dirty="0" err="1">
                <a:latin typeface="+mj-ea"/>
                <a:ea typeface="+mj-ea"/>
              </a:rPr>
              <a:t>i</a:t>
            </a:r>
            <a:r>
              <a:rPr lang="en-US" altLang="zh-CN" sz="2600" dirty="0" err="1">
                <a:latin typeface="+mj-ea"/>
                <a:ea typeface="+mj-ea"/>
              </a:rPr>
              <a:t>∈S</a:t>
            </a:r>
            <a:r>
              <a:rPr lang="en-US" altLang="zh-CN" sz="2600" dirty="0">
                <a:latin typeface="+mj-ea"/>
                <a:ea typeface="+mj-ea"/>
              </a:rPr>
              <a:t>-{x</a:t>
            </a:r>
            <a:r>
              <a:rPr lang="en-US" altLang="zh-CN" sz="2600" baseline="-25000" dirty="0">
                <a:latin typeface="+mj-ea"/>
                <a:ea typeface="+mj-ea"/>
              </a:rPr>
              <a:t>1</a:t>
            </a:r>
            <a:r>
              <a:rPr lang="en-US" altLang="zh-CN" sz="2600" dirty="0">
                <a:latin typeface="+mj-ea"/>
                <a:ea typeface="+mj-ea"/>
              </a:rPr>
              <a:t>,x</a:t>
            </a:r>
            <a:r>
              <a:rPr lang="en-US" altLang="zh-CN" sz="2600" baseline="-25000" dirty="0">
                <a:latin typeface="+mj-ea"/>
                <a:ea typeface="+mj-ea"/>
              </a:rPr>
              <a:t>2</a:t>
            </a:r>
            <a:r>
              <a:rPr lang="en-US" altLang="zh-CN" sz="2600" dirty="0">
                <a:latin typeface="+mj-ea"/>
                <a:ea typeface="+mj-ea"/>
              </a:rPr>
              <a:t>,…,x</a:t>
            </a:r>
            <a:r>
              <a:rPr lang="en-US" altLang="zh-CN" sz="2600" baseline="-25000" dirty="0">
                <a:latin typeface="+mj-ea"/>
                <a:ea typeface="+mj-ea"/>
              </a:rPr>
              <a:t>i-1</a:t>
            </a:r>
            <a:r>
              <a:rPr lang="en-US" altLang="zh-CN" sz="2600" dirty="0">
                <a:latin typeface="+mj-ea"/>
                <a:ea typeface="+mj-ea"/>
              </a:rPr>
              <a:t>}</a:t>
            </a:r>
          </a:p>
          <a:p>
            <a:pPr lvl="1">
              <a:defRPr/>
            </a:pPr>
            <a:r>
              <a:rPr lang="zh-CN" altLang="en-US" u="sng" dirty="0">
                <a:latin typeface="+mj-ea"/>
                <a:ea typeface="+mj-ea"/>
              </a:rPr>
              <a:t>回溯</a:t>
            </a:r>
            <a:r>
              <a:rPr lang="zh-CN" altLang="en-US" dirty="0">
                <a:latin typeface="+mj-ea"/>
                <a:ea typeface="+mj-ea"/>
              </a:rPr>
              <a:t>限界条件：当前部分排列的作业在机器</a:t>
            </a:r>
            <a:r>
              <a:rPr lang="en-US" altLang="zh-CN" dirty="0">
                <a:latin typeface="+mj-ea"/>
                <a:ea typeface="+mj-ea"/>
              </a:rPr>
              <a:t>2</a:t>
            </a:r>
            <a:r>
              <a:rPr lang="zh-CN" altLang="en-US" dirty="0">
                <a:latin typeface="+mj-ea"/>
                <a:ea typeface="+mj-ea"/>
              </a:rPr>
              <a:t>上的完成时间和</a:t>
            </a:r>
            <a:r>
              <a:rPr lang="en-US" altLang="zh-CN" dirty="0">
                <a:solidFill>
                  <a:srgbClr val="FF0000"/>
                </a:solidFill>
                <a:latin typeface="+mj-ea"/>
                <a:ea typeface="+mj-ea"/>
              </a:rPr>
              <a:t>f&lt;</a:t>
            </a:r>
            <a:r>
              <a:rPr lang="zh-CN" altLang="en-US" dirty="0">
                <a:latin typeface="+mj-ea"/>
                <a:ea typeface="+mj-ea"/>
              </a:rPr>
              <a:t>当前找到的最优排列所需要的完成时间和</a:t>
            </a:r>
            <a:r>
              <a:rPr lang="en-US" altLang="zh-CN" dirty="0" err="1">
                <a:solidFill>
                  <a:srgbClr val="FF0000"/>
                </a:solidFill>
                <a:latin typeface="+mj-ea"/>
                <a:ea typeface="+mj-ea"/>
              </a:rPr>
              <a:t>bestf</a:t>
            </a:r>
            <a:endParaRPr lang="en-US" altLang="zh-CN" dirty="0">
              <a:solidFill>
                <a:srgbClr val="FF0000"/>
              </a:solidFill>
              <a:latin typeface="+mj-ea"/>
              <a:ea typeface="+mj-ea"/>
            </a:endParaRPr>
          </a:p>
        </p:txBody>
      </p:sp>
      <p:sp>
        <p:nvSpPr>
          <p:cNvPr id="3" name="Rectangle 4">
            <a:extLst>
              <a:ext uri="{FF2B5EF4-FFF2-40B4-BE49-F238E27FC236}">
                <a16:creationId xmlns:a16="http://schemas.microsoft.com/office/drawing/2014/main" id="{CF0024BB-B56E-4D17-B0AF-456597AB4A63}"/>
              </a:ext>
            </a:extLst>
          </p:cNvPr>
          <p:cNvSpPr>
            <a:spLocks noChangeArrowheads="1"/>
          </p:cNvSpPr>
          <p:nvPr/>
        </p:nvSpPr>
        <p:spPr bwMode="auto">
          <a:xfrm>
            <a:off x="357188" y="285750"/>
            <a:ext cx="7772400" cy="803275"/>
          </a:xfrm>
          <a:prstGeom prst="rect">
            <a:avLst/>
          </a:prstGeom>
          <a:noFill/>
          <a:ln w="9525">
            <a:noFill/>
            <a:miter lim="800000"/>
            <a:headEnd/>
            <a:tailEnd/>
          </a:ln>
          <a:effectLst/>
        </p:spPr>
        <p:txBody>
          <a:bodyPr anchor="ctr"/>
          <a:lstStyle/>
          <a:p>
            <a:pPr eaLnBrk="1" hangingPunct="1">
              <a:spcBef>
                <a:spcPct val="20000"/>
              </a:spcBef>
              <a:buClr>
                <a:schemeClr val="accent1"/>
              </a:buClr>
              <a:buSzPct val="65000"/>
              <a:buFont typeface="Wingdings" panose="05000000000000000000" pitchFamily="2" charset="2"/>
              <a:buNone/>
              <a:defRPr/>
            </a:pPr>
            <a:r>
              <a:rPr lang="en-US" altLang="zh-CN" sz="4200" dirty="0">
                <a:solidFill>
                  <a:schemeClr val="tx2"/>
                </a:solidFill>
                <a:effectLst>
                  <a:outerShdw blurRad="38100" dist="38100" dir="2700000" algn="tl">
                    <a:srgbClr val="C0C0C0"/>
                  </a:outerShdw>
                </a:effectLst>
                <a:latin typeface="+mj-ea"/>
                <a:ea typeface="+mj-ea"/>
              </a:rPr>
              <a:t>6.9 </a:t>
            </a:r>
            <a:r>
              <a:rPr lang="zh-CN" altLang="en-US" sz="4200" dirty="0">
                <a:solidFill>
                  <a:schemeClr val="tx2"/>
                </a:solidFill>
                <a:effectLst>
                  <a:outerShdw blurRad="38100" dist="38100" dir="2700000" algn="tl">
                    <a:srgbClr val="C0C0C0"/>
                  </a:outerShdw>
                </a:effectLst>
                <a:latin typeface="+mj-ea"/>
                <a:ea typeface="+mj-ea"/>
                <a:cs typeface="+mj-cs"/>
              </a:rPr>
              <a:t>批处理作业调度</a:t>
            </a:r>
          </a:p>
        </p:txBody>
      </p:sp>
      <p:pic>
        <p:nvPicPr>
          <p:cNvPr id="101380" name="Picture 2">
            <a:extLst>
              <a:ext uri="{FF2B5EF4-FFF2-40B4-BE49-F238E27FC236}">
                <a16:creationId xmlns:a16="http://schemas.microsoft.com/office/drawing/2014/main" id="{7BB9D785-55DE-709A-B5B9-0B83246B3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2400" y="1773238"/>
            <a:ext cx="3652838"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0901" name="Text Box 5">
            <a:extLst>
              <a:ext uri="{FF2B5EF4-FFF2-40B4-BE49-F238E27FC236}">
                <a16:creationId xmlns:a16="http://schemas.microsoft.com/office/drawing/2014/main" id="{C6A42342-9CDD-42C2-9512-A086D5FCE727}"/>
              </a:ext>
            </a:extLst>
          </p:cNvPr>
          <p:cNvSpPr txBox="1">
            <a:spLocks noChangeArrowheads="1"/>
          </p:cNvSpPr>
          <p:nvPr/>
        </p:nvSpPr>
        <p:spPr bwMode="auto">
          <a:xfrm>
            <a:off x="250825" y="1416050"/>
            <a:ext cx="86026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400" dirty="0">
                <a:solidFill>
                  <a:srgbClr val="000066"/>
                </a:solidFill>
                <a:latin typeface="+mj-ea"/>
                <a:ea typeface="+mj-ea"/>
              </a:rPr>
              <a:t>批处理作业调度问题要求对于给定的</a:t>
            </a:r>
            <a:r>
              <a:rPr lang="en-US" altLang="zh-CN" sz="2400" dirty="0">
                <a:solidFill>
                  <a:srgbClr val="000066"/>
                </a:solidFill>
                <a:latin typeface="+mj-ea"/>
                <a:ea typeface="+mj-ea"/>
              </a:rPr>
              <a:t>n</a:t>
            </a:r>
            <a:r>
              <a:rPr lang="zh-CN" altLang="en-US" sz="2400" dirty="0">
                <a:solidFill>
                  <a:srgbClr val="000066"/>
                </a:solidFill>
                <a:latin typeface="+mj-ea"/>
                <a:ea typeface="+mj-ea"/>
              </a:rPr>
              <a:t>个作业，制定最佳作业调度方案，使其完成时间和达到最小。</a:t>
            </a:r>
          </a:p>
        </p:txBody>
      </p:sp>
      <p:sp>
        <p:nvSpPr>
          <p:cNvPr id="80902" name="Text Box 5">
            <a:extLst>
              <a:ext uri="{FF2B5EF4-FFF2-40B4-BE49-F238E27FC236}">
                <a16:creationId xmlns:a16="http://schemas.microsoft.com/office/drawing/2014/main" id="{B8825CB7-4A0A-416A-BFD6-8CCCD60DF626}"/>
              </a:ext>
            </a:extLst>
          </p:cNvPr>
          <p:cNvSpPr txBox="1">
            <a:spLocks noChangeArrowheads="1"/>
          </p:cNvSpPr>
          <p:nvPr/>
        </p:nvSpPr>
        <p:spPr bwMode="auto">
          <a:xfrm>
            <a:off x="2803525" y="2997200"/>
            <a:ext cx="242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2"/>
              </a:buClr>
              <a:buFont typeface="Wingdings" panose="05000000000000000000" pitchFamily="2" charset="2"/>
              <a:buNone/>
              <a:defRPr/>
            </a:pPr>
            <a:r>
              <a:rPr lang="zh-CN" altLang="en-US" sz="2400" u="sng" dirty="0">
                <a:solidFill>
                  <a:srgbClr val="000066"/>
                </a:solidFill>
                <a:latin typeface="+mj-ea"/>
                <a:ea typeface="+mj-ea"/>
              </a:rPr>
              <a:t> ：排列树</a:t>
            </a:r>
          </a:p>
        </p:txBody>
      </p:sp>
      <p:sp>
        <p:nvSpPr>
          <p:cNvPr id="7" name="矩形 6">
            <a:extLst>
              <a:ext uri="{FF2B5EF4-FFF2-40B4-BE49-F238E27FC236}">
                <a16:creationId xmlns:a16="http://schemas.microsoft.com/office/drawing/2014/main" id="{84520327-88B4-EE8A-B845-CE4F73FE0B23}"/>
              </a:ext>
            </a:extLst>
          </p:cNvPr>
          <p:cNvSpPr>
            <a:spLocks noChangeArrowheads="1"/>
          </p:cNvSpPr>
          <p:nvPr/>
        </p:nvSpPr>
        <p:spPr bwMode="auto">
          <a:xfrm>
            <a:off x="4600575" y="6273800"/>
            <a:ext cx="3468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3200">
                <a:solidFill>
                  <a:schemeClr val="tx1"/>
                </a:solidFill>
                <a:latin typeface="微软雅黑" panose="020B0503020204020204" pitchFamily="34" charset="-122"/>
                <a:ea typeface="微软雅黑" panose="020B0503020204020204" pitchFamily="34" charset="-122"/>
              </a:rPr>
              <a:t>有没有更紧的界？</a:t>
            </a:r>
            <a:endParaRPr lang="zh-CN" altLang="en-US">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2" name="Object 11">
            <a:extLst>
              <a:ext uri="{FF2B5EF4-FFF2-40B4-BE49-F238E27FC236}">
                <a16:creationId xmlns:a16="http://schemas.microsoft.com/office/drawing/2014/main" id="{FF66792E-59E9-2D1F-7715-544BF1E3B421}"/>
              </a:ext>
            </a:extLst>
          </p:cNvPr>
          <p:cNvGraphicFramePr>
            <a:graphicFrameLocks noChangeAspect="1"/>
          </p:cNvGraphicFramePr>
          <p:nvPr/>
        </p:nvGraphicFramePr>
        <p:xfrm>
          <a:off x="4211638" y="1754188"/>
          <a:ext cx="2813050" cy="762000"/>
        </p:xfrm>
        <a:graphic>
          <a:graphicData uri="http://schemas.openxmlformats.org/presentationml/2006/ole">
            <mc:AlternateContent xmlns:mc="http://schemas.openxmlformats.org/markup-compatibility/2006">
              <mc:Choice xmlns:v="urn:schemas-microsoft-com:vml" Requires="v">
                <p:oleObj name="Equation" r:id="rId3" imgW="1180588" imgH="342751" progId="Equation.3">
                  <p:embed/>
                </p:oleObj>
              </mc:Choice>
              <mc:Fallback>
                <p:oleObj name="Equation" r:id="rId3" imgW="1180588" imgH="342751"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638" y="1754188"/>
                        <a:ext cx="28130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25" name="标题 11">
            <a:extLst>
              <a:ext uri="{FF2B5EF4-FFF2-40B4-BE49-F238E27FC236}">
                <a16:creationId xmlns:a16="http://schemas.microsoft.com/office/drawing/2014/main" id="{96DBF5E4-EEFE-4ADA-90E9-463CD8DC8C60}"/>
              </a:ext>
            </a:extLst>
          </p:cNvPr>
          <p:cNvSpPr>
            <a:spLocks noGrp="1" noChangeArrowheads="1"/>
          </p:cNvSpPr>
          <p:nvPr>
            <p:ph type="title"/>
          </p:nvPr>
        </p:nvSpPr>
        <p:spPr>
          <a:xfrm>
            <a:off x="461963" y="246063"/>
            <a:ext cx="8540750" cy="1143000"/>
          </a:xfrm>
        </p:spPr>
        <p:txBody>
          <a:bodyPr/>
          <a:lstStyle/>
          <a:p>
            <a:pPr>
              <a:defRPr/>
            </a:pPr>
            <a:r>
              <a:rPr lang="zh-CN" altLang="en-US" dirty="0">
                <a:solidFill>
                  <a:schemeClr val="accent2"/>
                </a:solidFill>
                <a:latin typeface="+mj-ea"/>
              </a:rPr>
              <a:t>2. 限界函数</a:t>
            </a:r>
            <a:r>
              <a:rPr lang="en-US" altLang="zh-CN" dirty="0">
                <a:solidFill>
                  <a:schemeClr val="accent2"/>
                </a:solidFill>
                <a:latin typeface="+mj-ea"/>
              </a:rPr>
              <a:t>Bound</a:t>
            </a:r>
            <a:endParaRPr lang="zh-CN" altLang="en-US" dirty="0">
              <a:latin typeface="+mj-ea"/>
            </a:endParaRPr>
          </a:p>
        </p:txBody>
      </p:sp>
      <p:sp>
        <p:nvSpPr>
          <p:cNvPr id="81926" name="矩形 11">
            <a:extLst>
              <a:ext uri="{FF2B5EF4-FFF2-40B4-BE49-F238E27FC236}">
                <a16:creationId xmlns:a16="http://schemas.microsoft.com/office/drawing/2014/main" id="{DF9EEB0A-4554-4E3E-92E9-29EA58F91980}"/>
              </a:ext>
            </a:extLst>
          </p:cNvPr>
          <p:cNvSpPr>
            <a:spLocks noChangeArrowheads="1"/>
          </p:cNvSpPr>
          <p:nvPr/>
        </p:nvSpPr>
        <p:spPr bwMode="auto">
          <a:xfrm>
            <a:off x="461963" y="1125538"/>
            <a:ext cx="78057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20000"/>
              </a:spcBef>
              <a:buClr>
                <a:schemeClr val="accent1"/>
              </a:buClr>
              <a:buSzPct val="65000"/>
              <a:defRPr/>
            </a:pPr>
            <a:r>
              <a:rPr lang="zh-CN" altLang="en-US" sz="2400" dirty="0">
                <a:solidFill>
                  <a:schemeClr val="tx1"/>
                </a:solidFill>
                <a:latin typeface="+mj-ea"/>
                <a:ea typeface="+mj-ea"/>
                <a:cs typeface="Times New Roman" panose="02020603050405020304" pitchFamily="18" charset="0"/>
              </a:rPr>
              <a:t>假设在某内部结点处已安排</a:t>
            </a:r>
            <a:r>
              <a:rPr lang="en-US" altLang="zh-CN" sz="2400" dirty="0">
                <a:solidFill>
                  <a:schemeClr val="tx1"/>
                </a:solidFill>
                <a:latin typeface="+mj-ea"/>
                <a:ea typeface="+mj-ea"/>
                <a:cs typeface="Times New Roman" panose="02020603050405020304" pitchFamily="18" charset="0"/>
              </a:rPr>
              <a:t>r</a:t>
            </a:r>
            <a:r>
              <a:rPr lang="zh-CN" altLang="en-US" sz="2400" dirty="0">
                <a:solidFill>
                  <a:schemeClr val="tx1"/>
                </a:solidFill>
                <a:latin typeface="+mj-ea"/>
                <a:ea typeface="+mj-ea"/>
                <a:cs typeface="Times New Roman" panose="02020603050405020304" pitchFamily="18" charset="0"/>
              </a:rPr>
              <a:t>个作业，作业集为</a:t>
            </a:r>
            <a:r>
              <a:rPr lang="en-US" altLang="zh-CN" sz="2400" i="1" dirty="0">
                <a:solidFill>
                  <a:schemeClr val="tx1"/>
                </a:solidFill>
                <a:latin typeface="+mj-ea"/>
                <a:ea typeface="+mj-ea"/>
                <a:cs typeface="Times New Roman" panose="02020603050405020304" pitchFamily="18" charset="0"/>
              </a:rPr>
              <a:t>M</a:t>
            </a:r>
            <a:r>
              <a:rPr lang="zh-CN" altLang="en-US" sz="2400" dirty="0">
                <a:solidFill>
                  <a:schemeClr val="tx1"/>
                </a:solidFill>
                <a:latin typeface="+mj-ea"/>
                <a:ea typeface="+mj-ea"/>
                <a:cs typeface="Times New Roman" panose="02020603050405020304" pitchFamily="18" charset="0"/>
              </a:rPr>
              <a:t>，相应子树中叶结点完成时间和</a:t>
            </a:r>
          </a:p>
        </p:txBody>
      </p:sp>
      <p:pic>
        <p:nvPicPr>
          <p:cNvPr id="102405" name="Picture 2">
            <a:extLst>
              <a:ext uri="{FF2B5EF4-FFF2-40B4-BE49-F238E27FC236}">
                <a16:creationId xmlns:a16="http://schemas.microsoft.com/office/drawing/2014/main" id="{7D865031-63AE-CDD1-B299-55223A3BED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9875" y="2708275"/>
            <a:ext cx="3652838"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2406" name="Picture 2" descr="在这里插入图片描述">
            <a:extLst>
              <a:ext uri="{FF2B5EF4-FFF2-40B4-BE49-F238E27FC236}">
                <a16:creationId xmlns:a16="http://schemas.microsoft.com/office/drawing/2014/main" id="{B014B491-ECF8-8C33-1EFA-A133D44A9D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4832"/>
          <a:stretch>
            <a:fillRect/>
          </a:stretch>
        </p:blipFill>
        <p:spPr bwMode="auto">
          <a:xfrm>
            <a:off x="323850" y="2881313"/>
            <a:ext cx="4879975"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2670A072-2BAA-36CF-80B4-174A75F4450F}"/>
              </a:ext>
            </a:extLst>
          </p:cNvPr>
          <p:cNvSpPr>
            <a:spLocks noGrp="1" noChangeArrowheads="1"/>
          </p:cNvSpPr>
          <p:nvPr>
            <p:ph type="title"/>
          </p:nvPr>
        </p:nvSpPr>
        <p:spPr/>
        <p:txBody>
          <a:bodyPr/>
          <a:lstStyle/>
          <a:p>
            <a:pPr>
              <a:defRPr/>
            </a:pPr>
            <a:r>
              <a:rPr lang="zh-CN" altLang="en-US" dirty="0">
                <a:solidFill>
                  <a:schemeClr val="accent2"/>
                </a:solidFill>
                <a:latin typeface="+mj-ea"/>
              </a:rPr>
              <a:t>2. 限界函数</a:t>
            </a:r>
            <a:r>
              <a:rPr lang="en-US" altLang="zh-CN" dirty="0">
                <a:solidFill>
                  <a:schemeClr val="accent2"/>
                </a:solidFill>
                <a:latin typeface="+mj-ea"/>
              </a:rPr>
              <a:t>Bound</a:t>
            </a:r>
            <a:endParaRPr lang="zh-CN" altLang="en-US" dirty="0"/>
          </a:p>
        </p:txBody>
      </p:sp>
      <p:sp>
        <p:nvSpPr>
          <p:cNvPr id="104451" name="内容占位符 2">
            <a:extLst>
              <a:ext uri="{FF2B5EF4-FFF2-40B4-BE49-F238E27FC236}">
                <a16:creationId xmlns:a16="http://schemas.microsoft.com/office/drawing/2014/main" id="{5A7F0B03-250F-5FFF-87D8-53C64DE4EC3A}"/>
              </a:ext>
            </a:extLst>
          </p:cNvPr>
          <p:cNvSpPr>
            <a:spLocks noGrp="1" noChangeArrowheads="1"/>
          </p:cNvSpPr>
          <p:nvPr>
            <p:ph idx="1"/>
          </p:nvPr>
        </p:nvSpPr>
        <p:spPr/>
        <p:txBody>
          <a:bodyPr/>
          <a:lstStyle/>
          <a:p>
            <a:endParaRPr lang="zh-CN" altLang="en-US"/>
          </a:p>
        </p:txBody>
      </p:sp>
      <p:sp>
        <p:nvSpPr>
          <p:cNvPr id="104452" name="灯片编号占位符 3">
            <a:extLst>
              <a:ext uri="{FF2B5EF4-FFF2-40B4-BE49-F238E27FC236}">
                <a16:creationId xmlns:a16="http://schemas.microsoft.com/office/drawing/2014/main" id="{7B99B8C8-609A-2821-6584-02C322CFE9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5C8A08C-7E0D-406A-9C56-090E5F1727D1}" type="slidenum">
              <a:rPr lang="en-US" altLang="zh-CN" sz="1200">
                <a:solidFill>
                  <a:schemeClr val="tx1"/>
                </a:solidFill>
                <a:latin typeface="Garamond" panose="02020404030301010803" pitchFamily="18" charset="0"/>
                <a:ea typeface="宋体" panose="02010600030101010101" pitchFamily="2" charset="-122"/>
              </a:rPr>
              <a:pPr/>
              <a:t>71</a:t>
            </a:fld>
            <a:endParaRPr lang="en-US" altLang="zh-CN" sz="1200">
              <a:solidFill>
                <a:schemeClr val="tx1"/>
              </a:solidFill>
              <a:latin typeface="Garamond" panose="02020404030301010803" pitchFamily="18" charset="0"/>
              <a:ea typeface="宋体" panose="02010600030101010101" pitchFamily="2" charset="-122"/>
            </a:endParaRPr>
          </a:p>
        </p:txBody>
      </p:sp>
      <p:pic>
        <p:nvPicPr>
          <p:cNvPr id="104453" name="图片 4">
            <a:extLst>
              <a:ext uri="{FF2B5EF4-FFF2-40B4-BE49-F238E27FC236}">
                <a16:creationId xmlns:a16="http://schemas.microsoft.com/office/drawing/2014/main" id="{E22C12BE-EE59-2505-E4D8-353AF5AE1E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638" y="1376363"/>
            <a:ext cx="8848725" cy="49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4" name="矩形 1">
            <a:extLst>
              <a:ext uri="{FF2B5EF4-FFF2-40B4-BE49-F238E27FC236}">
                <a16:creationId xmlns:a16="http://schemas.microsoft.com/office/drawing/2014/main" id="{76CCFF79-B9EA-CF09-FB82-B5D5079491C6}"/>
              </a:ext>
            </a:extLst>
          </p:cNvPr>
          <p:cNvSpPr>
            <a:spLocks noChangeArrowheads="1"/>
          </p:cNvSpPr>
          <p:nvPr/>
        </p:nvSpPr>
        <p:spPr bwMode="auto">
          <a:xfrm>
            <a:off x="0" y="1417638"/>
            <a:ext cx="611188" cy="4270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pic>
        <p:nvPicPr>
          <p:cNvPr id="104455" name="Picture 2" descr="在这里插入图片描述">
            <a:extLst>
              <a:ext uri="{FF2B5EF4-FFF2-40B4-BE49-F238E27FC236}">
                <a16:creationId xmlns:a16="http://schemas.microsoft.com/office/drawing/2014/main" id="{5C866093-0B65-2538-2A46-6E6D698A77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1261" b="4832"/>
          <a:stretch>
            <a:fillRect/>
          </a:stretch>
        </p:blipFill>
        <p:spPr bwMode="auto">
          <a:xfrm>
            <a:off x="3943350" y="863600"/>
            <a:ext cx="4879975"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6" name="图片 2">
            <a:extLst>
              <a:ext uri="{FF2B5EF4-FFF2-40B4-BE49-F238E27FC236}">
                <a16:creationId xmlns:a16="http://schemas.microsoft.com/office/drawing/2014/main" id="{33922C2B-3CE1-89D6-B32B-EB503878F816}"/>
              </a:ext>
            </a:extLst>
          </p:cNvPr>
          <p:cNvPicPr>
            <a:picLocks noChangeAspect="1"/>
          </p:cNvPicPr>
          <p:nvPr/>
        </p:nvPicPr>
        <p:blipFill>
          <a:blip r:embed="rId5">
            <a:extLst>
              <a:ext uri="{28A0092B-C50C-407E-A947-70E740481C1C}">
                <a14:useLocalDpi xmlns:a14="http://schemas.microsoft.com/office/drawing/2010/main" val="0"/>
              </a:ext>
            </a:extLst>
          </a:blip>
          <a:srcRect r="62201"/>
          <a:stretch>
            <a:fillRect/>
          </a:stretch>
        </p:blipFill>
        <p:spPr bwMode="auto">
          <a:xfrm>
            <a:off x="5400675" y="5784850"/>
            <a:ext cx="32385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463CD566-C2EE-6AA4-1C39-E13F47789347}"/>
              </a:ext>
            </a:extLst>
          </p:cNvPr>
          <p:cNvSpPr>
            <a:spLocks noGrp="1" noChangeArrowheads="1"/>
          </p:cNvSpPr>
          <p:nvPr>
            <p:ph type="title"/>
          </p:nvPr>
        </p:nvSpPr>
        <p:spPr/>
        <p:txBody>
          <a:bodyPr/>
          <a:lstStyle/>
          <a:p>
            <a:pPr>
              <a:defRPr/>
            </a:pPr>
            <a:r>
              <a:rPr lang="zh-CN" altLang="en-US" dirty="0">
                <a:solidFill>
                  <a:schemeClr val="accent2"/>
                </a:solidFill>
                <a:latin typeface="+mj-ea"/>
              </a:rPr>
              <a:t>2. 限界函数</a:t>
            </a:r>
            <a:r>
              <a:rPr lang="en-US" altLang="zh-CN" dirty="0">
                <a:solidFill>
                  <a:schemeClr val="accent2"/>
                </a:solidFill>
                <a:latin typeface="+mj-ea"/>
              </a:rPr>
              <a:t>Bound</a:t>
            </a:r>
            <a:endParaRPr lang="zh-CN" altLang="en-US" dirty="0"/>
          </a:p>
        </p:txBody>
      </p:sp>
      <p:sp>
        <p:nvSpPr>
          <p:cNvPr id="106499" name="内容占位符 2">
            <a:extLst>
              <a:ext uri="{FF2B5EF4-FFF2-40B4-BE49-F238E27FC236}">
                <a16:creationId xmlns:a16="http://schemas.microsoft.com/office/drawing/2014/main" id="{8810E336-A243-4AC4-C2C8-A23CF413281B}"/>
              </a:ext>
            </a:extLst>
          </p:cNvPr>
          <p:cNvSpPr>
            <a:spLocks noGrp="1" noChangeArrowheads="1"/>
          </p:cNvSpPr>
          <p:nvPr>
            <p:ph idx="1"/>
          </p:nvPr>
        </p:nvSpPr>
        <p:spPr/>
        <p:txBody>
          <a:bodyPr/>
          <a:lstStyle/>
          <a:p>
            <a:endParaRPr lang="zh-CN" altLang="en-US"/>
          </a:p>
        </p:txBody>
      </p:sp>
      <p:sp>
        <p:nvSpPr>
          <p:cNvPr id="106500" name="灯片编号占位符 3">
            <a:extLst>
              <a:ext uri="{FF2B5EF4-FFF2-40B4-BE49-F238E27FC236}">
                <a16:creationId xmlns:a16="http://schemas.microsoft.com/office/drawing/2014/main" id="{69119CC4-5F40-6F41-8084-6D181F830A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1F42784-DBE4-4278-92A5-599DBE5A5506}" type="slidenum">
              <a:rPr lang="en-US" altLang="zh-CN" sz="1200">
                <a:solidFill>
                  <a:schemeClr val="tx1"/>
                </a:solidFill>
                <a:latin typeface="Garamond" panose="02020404030301010803" pitchFamily="18" charset="0"/>
                <a:ea typeface="宋体" panose="02010600030101010101" pitchFamily="2" charset="-122"/>
              </a:rPr>
              <a:pPr/>
              <a:t>72</a:t>
            </a:fld>
            <a:endParaRPr lang="en-US" altLang="zh-CN" sz="1200">
              <a:solidFill>
                <a:schemeClr val="tx1"/>
              </a:solidFill>
              <a:latin typeface="Garamond" panose="02020404030301010803" pitchFamily="18" charset="0"/>
              <a:ea typeface="宋体" panose="02010600030101010101" pitchFamily="2" charset="-122"/>
            </a:endParaRPr>
          </a:p>
        </p:txBody>
      </p:sp>
      <p:pic>
        <p:nvPicPr>
          <p:cNvPr id="106501" name="图片 5">
            <a:extLst>
              <a:ext uri="{FF2B5EF4-FFF2-40B4-BE49-F238E27FC236}">
                <a16:creationId xmlns:a16="http://schemas.microsoft.com/office/drawing/2014/main" id="{59676DC9-683C-025B-F79C-7125612F0EF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638" y="1417638"/>
            <a:ext cx="8872537" cy="431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2" name="矩形 5">
            <a:extLst>
              <a:ext uri="{FF2B5EF4-FFF2-40B4-BE49-F238E27FC236}">
                <a16:creationId xmlns:a16="http://schemas.microsoft.com/office/drawing/2014/main" id="{F52DF71D-275F-232C-A06B-3DEB2FD149DC}"/>
              </a:ext>
            </a:extLst>
          </p:cNvPr>
          <p:cNvSpPr>
            <a:spLocks noChangeArrowheads="1"/>
          </p:cNvSpPr>
          <p:nvPr/>
        </p:nvSpPr>
        <p:spPr bwMode="auto">
          <a:xfrm>
            <a:off x="-290513" y="1385888"/>
            <a:ext cx="611188" cy="4270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sp>
        <p:nvSpPr>
          <p:cNvPr id="106503" name="矩形 6">
            <a:extLst>
              <a:ext uri="{FF2B5EF4-FFF2-40B4-BE49-F238E27FC236}">
                <a16:creationId xmlns:a16="http://schemas.microsoft.com/office/drawing/2014/main" id="{123B1186-09E2-620F-F1A5-F001351BDE9A}"/>
              </a:ext>
            </a:extLst>
          </p:cNvPr>
          <p:cNvSpPr>
            <a:spLocks noChangeArrowheads="1"/>
          </p:cNvSpPr>
          <p:nvPr/>
        </p:nvSpPr>
        <p:spPr bwMode="auto">
          <a:xfrm>
            <a:off x="8513763" y="5291138"/>
            <a:ext cx="611187" cy="4270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pic>
        <p:nvPicPr>
          <p:cNvPr id="106504" name="图片 1">
            <a:extLst>
              <a:ext uri="{FF2B5EF4-FFF2-40B4-BE49-F238E27FC236}">
                <a16:creationId xmlns:a16="http://schemas.microsoft.com/office/drawing/2014/main" id="{6B560E21-7635-9519-2A62-FE5DD6D04F9E}"/>
              </a:ext>
            </a:extLst>
          </p:cNvPr>
          <p:cNvPicPr>
            <a:picLocks noChangeAspect="1"/>
          </p:cNvPicPr>
          <p:nvPr/>
        </p:nvPicPr>
        <p:blipFill>
          <a:blip r:embed="rId4">
            <a:extLst>
              <a:ext uri="{28A0092B-C50C-407E-A947-70E740481C1C}">
                <a14:useLocalDpi xmlns:a14="http://schemas.microsoft.com/office/drawing/2010/main" val="0"/>
              </a:ext>
            </a:extLst>
          </a:blip>
          <a:srcRect l="52919"/>
          <a:stretch>
            <a:fillRect/>
          </a:stretch>
        </p:blipFill>
        <p:spPr bwMode="auto">
          <a:xfrm>
            <a:off x="4502150" y="5046663"/>
            <a:ext cx="3587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5" name="Picture 2" descr="在这里插入图片描述">
            <a:extLst>
              <a:ext uri="{FF2B5EF4-FFF2-40B4-BE49-F238E27FC236}">
                <a16:creationId xmlns:a16="http://schemas.microsoft.com/office/drawing/2014/main" id="{C180DEF7-E993-AEC1-2B03-0912ED1F79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41261" b="4832"/>
          <a:stretch>
            <a:fillRect/>
          </a:stretch>
        </p:blipFill>
        <p:spPr bwMode="auto">
          <a:xfrm>
            <a:off x="3943350" y="863600"/>
            <a:ext cx="4879975"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图片 4">
            <a:extLst>
              <a:ext uri="{FF2B5EF4-FFF2-40B4-BE49-F238E27FC236}">
                <a16:creationId xmlns:a16="http://schemas.microsoft.com/office/drawing/2014/main" id="{C055D08F-55CA-26D7-9B3A-B166464B6E53}"/>
              </a:ext>
            </a:extLst>
          </p:cNvPr>
          <p:cNvPicPr>
            <a:picLocks noChangeAspect="1"/>
          </p:cNvPicPr>
          <p:nvPr/>
        </p:nvPicPr>
        <p:blipFill>
          <a:blip r:embed="rId3">
            <a:extLst>
              <a:ext uri="{28A0092B-C50C-407E-A947-70E740481C1C}">
                <a14:useLocalDpi xmlns:a14="http://schemas.microsoft.com/office/drawing/2010/main" val="0"/>
              </a:ext>
            </a:extLst>
          </a:blip>
          <a:srcRect l="32912" t="33337" r="9311" b="46413"/>
          <a:stretch>
            <a:fillRect/>
          </a:stretch>
        </p:blipFill>
        <p:spPr bwMode="auto">
          <a:xfrm>
            <a:off x="2627313" y="2562225"/>
            <a:ext cx="4308475"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8547" name="Object 11">
            <a:extLst>
              <a:ext uri="{FF2B5EF4-FFF2-40B4-BE49-F238E27FC236}">
                <a16:creationId xmlns:a16="http://schemas.microsoft.com/office/drawing/2014/main" id="{3C88111F-6303-4F08-4FDB-6DDDB2DB0CBE}"/>
              </a:ext>
            </a:extLst>
          </p:cNvPr>
          <p:cNvGraphicFramePr>
            <a:graphicFrameLocks noChangeAspect="1"/>
          </p:cNvGraphicFramePr>
          <p:nvPr/>
        </p:nvGraphicFramePr>
        <p:xfrm>
          <a:off x="4067175" y="1566863"/>
          <a:ext cx="2813050" cy="762000"/>
        </p:xfrm>
        <a:graphic>
          <a:graphicData uri="http://schemas.openxmlformats.org/presentationml/2006/ole">
            <mc:AlternateContent xmlns:mc="http://schemas.openxmlformats.org/markup-compatibility/2006">
              <mc:Choice xmlns:v="urn:schemas-microsoft-com:vml" Requires="v">
                <p:oleObj name="Equation" r:id="rId4" imgW="1180588" imgH="342751" progId="Equation.3">
                  <p:embed/>
                </p:oleObj>
              </mc:Choice>
              <mc:Fallback>
                <p:oleObj name="Equation" r:id="rId4" imgW="1180588" imgH="342751"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7175" y="1566863"/>
                        <a:ext cx="28130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25" name="标题 11">
            <a:extLst>
              <a:ext uri="{FF2B5EF4-FFF2-40B4-BE49-F238E27FC236}">
                <a16:creationId xmlns:a16="http://schemas.microsoft.com/office/drawing/2014/main" id="{96DBF5E4-EEFE-4ADA-90E9-463CD8DC8C60}"/>
              </a:ext>
            </a:extLst>
          </p:cNvPr>
          <p:cNvSpPr>
            <a:spLocks noGrp="1" noChangeArrowheads="1"/>
          </p:cNvSpPr>
          <p:nvPr>
            <p:ph type="title"/>
          </p:nvPr>
        </p:nvSpPr>
        <p:spPr>
          <a:xfrm>
            <a:off x="461963" y="246063"/>
            <a:ext cx="8540750" cy="1143000"/>
          </a:xfrm>
        </p:spPr>
        <p:txBody>
          <a:bodyPr/>
          <a:lstStyle/>
          <a:p>
            <a:pPr>
              <a:defRPr/>
            </a:pPr>
            <a:r>
              <a:rPr lang="zh-CN" altLang="en-US" dirty="0">
                <a:solidFill>
                  <a:schemeClr val="accent2"/>
                </a:solidFill>
                <a:latin typeface="+mj-ea"/>
              </a:rPr>
              <a:t>2. 限界函数</a:t>
            </a:r>
            <a:r>
              <a:rPr lang="en-US" altLang="zh-CN" dirty="0">
                <a:solidFill>
                  <a:schemeClr val="accent2"/>
                </a:solidFill>
                <a:latin typeface="+mj-ea"/>
              </a:rPr>
              <a:t>Bound</a:t>
            </a:r>
            <a:endParaRPr lang="zh-CN" altLang="en-US" dirty="0">
              <a:latin typeface="+mj-ea"/>
            </a:endParaRPr>
          </a:p>
        </p:txBody>
      </p:sp>
      <p:sp>
        <p:nvSpPr>
          <p:cNvPr id="81926" name="矩形 11">
            <a:extLst>
              <a:ext uri="{FF2B5EF4-FFF2-40B4-BE49-F238E27FC236}">
                <a16:creationId xmlns:a16="http://schemas.microsoft.com/office/drawing/2014/main" id="{DF9EEB0A-4554-4E3E-92E9-29EA58F91980}"/>
              </a:ext>
            </a:extLst>
          </p:cNvPr>
          <p:cNvSpPr>
            <a:spLocks noChangeArrowheads="1"/>
          </p:cNvSpPr>
          <p:nvPr/>
        </p:nvSpPr>
        <p:spPr bwMode="auto">
          <a:xfrm>
            <a:off x="428625" y="971550"/>
            <a:ext cx="78057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20000"/>
              </a:spcBef>
              <a:buClr>
                <a:schemeClr val="accent1"/>
              </a:buClr>
              <a:buSzPct val="65000"/>
              <a:defRPr/>
            </a:pPr>
            <a:r>
              <a:rPr lang="zh-CN" altLang="en-US" sz="2400" dirty="0">
                <a:solidFill>
                  <a:schemeClr val="tx1"/>
                </a:solidFill>
                <a:latin typeface="+mj-ea"/>
                <a:ea typeface="+mj-ea"/>
                <a:cs typeface="Times New Roman" panose="02020603050405020304" pitchFamily="18" charset="0"/>
              </a:rPr>
              <a:t>假设在某内部结点处已安排</a:t>
            </a:r>
            <a:r>
              <a:rPr lang="en-US" altLang="zh-CN" sz="2400" dirty="0">
                <a:solidFill>
                  <a:schemeClr val="tx1"/>
                </a:solidFill>
                <a:latin typeface="+mj-ea"/>
                <a:ea typeface="+mj-ea"/>
                <a:cs typeface="Times New Roman" panose="02020603050405020304" pitchFamily="18" charset="0"/>
              </a:rPr>
              <a:t>r</a:t>
            </a:r>
            <a:r>
              <a:rPr lang="zh-CN" altLang="en-US" sz="2400" dirty="0">
                <a:solidFill>
                  <a:schemeClr val="tx1"/>
                </a:solidFill>
                <a:latin typeface="+mj-ea"/>
                <a:ea typeface="+mj-ea"/>
                <a:cs typeface="Times New Roman" panose="02020603050405020304" pitchFamily="18" charset="0"/>
              </a:rPr>
              <a:t>个作业，作业集为</a:t>
            </a:r>
            <a:r>
              <a:rPr lang="en-US" altLang="zh-CN" sz="2400" i="1" dirty="0">
                <a:solidFill>
                  <a:schemeClr val="tx1"/>
                </a:solidFill>
                <a:latin typeface="+mj-ea"/>
                <a:ea typeface="+mj-ea"/>
                <a:cs typeface="Times New Roman" panose="02020603050405020304" pitchFamily="18" charset="0"/>
              </a:rPr>
              <a:t>M</a:t>
            </a:r>
            <a:r>
              <a:rPr lang="zh-CN" altLang="en-US" sz="2400" dirty="0">
                <a:solidFill>
                  <a:schemeClr val="tx1"/>
                </a:solidFill>
                <a:latin typeface="+mj-ea"/>
                <a:ea typeface="+mj-ea"/>
                <a:cs typeface="Times New Roman" panose="02020603050405020304" pitchFamily="18" charset="0"/>
              </a:rPr>
              <a:t>，相应子树中叶结点完成时间和</a:t>
            </a:r>
          </a:p>
        </p:txBody>
      </p:sp>
      <p:sp>
        <p:nvSpPr>
          <p:cNvPr id="7" name="矩形 6">
            <a:extLst>
              <a:ext uri="{FF2B5EF4-FFF2-40B4-BE49-F238E27FC236}">
                <a16:creationId xmlns:a16="http://schemas.microsoft.com/office/drawing/2014/main" id="{9BD7507E-9537-4780-972B-A6E6DDD4AB9B}"/>
              </a:ext>
            </a:extLst>
          </p:cNvPr>
          <p:cNvSpPr>
            <a:spLocks noChangeArrowheads="1"/>
          </p:cNvSpPr>
          <p:nvPr/>
        </p:nvSpPr>
        <p:spPr bwMode="auto">
          <a:xfrm>
            <a:off x="565150" y="2205038"/>
            <a:ext cx="3454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buFont typeface="Arial" panose="020B0604020202020204" pitchFamily="34" charset="0"/>
              <a:buChar char="•"/>
              <a:defRPr/>
            </a:pPr>
            <a:r>
              <a:rPr lang="zh-CN" altLang="en-US" sz="2400" dirty="0">
                <a:solidFill>
                  <a:schemeClr val="tx1"/>
                </a:solidFill>
                <a:latin typeface="+mj-ea"/>
                <a:ea typeface="+mj-ea"/>
                <a:cs typeface="Times New Roman" panose="02020603050405020304" pitchFamily="18" charset="0"/>
              </a:rPr>
              <a:t>如果机器</a:t>
            </a:r>
            <a:r>
              <a:rPr lang="en-US" altLang="zh-CN" sz="2400" dirty="0">
                <a:solidFill>
                  <a:schemeClr val="tx1"/>
                </a:solidFill>
                <a:latin typeface="+mj-ea"/>
                <a:ea typeface="+mj-ea"/>
                <a:cs typeface="Times New Roman" panose="02020603050405020304" pitchFamily="18" charset="0"/>
              </a:rPr>
              <a:t>1</a:t>
            </a:r>
            <a:r>
              <a:rPr lang="zh-CN" altLang="en-US" sz="2400" dirty="0">
                <a:solidFill>
                  <a:schemeClr val="tx1"/>
                </a:solidFill>
                <a:latin typeface="+mj-ea"/>
                <a:ea typeface="+mj-ea"/>
                <a:cs typeface="Times New Roman" panose="02020603050405020304" pitchFamily="18" charset="0"/>
              </a:rPr>
              <a:t>没有空闲：</a:t>
            </a:r>
          </a:p>
        </p:txBody>
      </p:sp>
      <p:sp>
        <p:nvSpPr>
          <p:cNvPr id="8" name="矩形 7">
            <a:extLst>
              <a:ext uri="{FF2B5EF4-FFF2-40B4-BE49-F238E27FC236}">
                <a16:creationId xmlns:a16="http://schemas.microsoft.com/office/drawing/2014/main" id="{67A58902-FCB7-4912-9E22-B6434473D848}"/>
              </a:ext>
            </a:extLst>
          </p:cNvPr>
          <p:cNvSpPr>
            <a:spLocks noChangeArrowheads="1"/>
          </p:cNvSpPr>
          <p:nvPr/>
        </p:nvSpPr>
        <p:spPr bwMode="auto">
          <a:xfrm>
            <a:off x="565150" y="3341688"/>
            <a:ext cx="3454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buFont typeface="Arial" panose="020B0604020202020204" pitchFamily="34" charset="0"/>
              <a:buChar char="•"/>
              <a:defRPr/>
            </a:pPr>
            <a:r>
              <a:rPr lang="zh-CN" altLang="en-US" sz="2400">
                <a:solidFill>
                  <a:schemeClr val="tx1"/>
                </a:solidFill>
                <a:latin typeface="+mj-ea"/>
                <a:ea typeface="+mj-ea"/>
                <a:cs typeface="Times New Roman" panose="02020603050405020304" pitchFamily="18" charset="0"/>
              </a:rPr>
              <a:t>如果机器</a:t>
            </a:r>
            <a:r>
              <a:rPr lang="en-US" altLang="zh-CN" sz="2400">
                <a:solidFill>
                  <a:schemeClr val="tx1"/>
                </a:solidFill>
                <a:latin typeface="+mj-ea"/>
                <a:ea typeface="+mj-ea"/>
                <a:cs typeface="Times New Roman" panose="02020603050405020304" pitchFamily="18" charset="0"/>
              </a:rPr>
              <a:t>2</a:t>
            </a:r>
            <a:r>
              <a:rPr lang="zh-CN" altLang="en-US" sz="2400">
                <a:solidFill>
                  <a:schemeClr val="tx1"/>
                </a:solidFill>
                <a:latin typeface="+mj-ea"/>
                <a:ea typeface="+mj-ea"/>
                <a:cs typeface="Times New Roman" panose="02020603050405020304" pitchFamily="18" charset="0"/>
              </a:rPr>
              <a:t>没有空闲：</a:t>
            </a:r>
          </a:p>
        </p:txBody>
      </p:sp>
      <p:sp>
        <p:nvSpPr>
          <p:cNvPr id="9" name="Text Box 4">
            <a:extLst>
              <a:ext uri="{FF2B5EF4-FFF2-40B4-BE49-F238E27FC236}">
                <a16:creationId xmlns:a16="http://schemas.microsoft.com/office/drawing/2014/main" id="{5A8FB4D5-9308-4954-9796-96BF53DCF860}"/>
              </a:ext>
            </a:extLst>
          </p:cNvPr>
          <p:cNvSpPr txBox="1">
            <a:spLocks noChangeArrowheads="1"/>
          </p:cNvSpPr>
          <p:nvPr/>
        </p:nvSpPr>
        <p:spPr bwMode="auto">
          <a:xfrm>
            <a:off x="684213" y="4713288"/>
            <a:ext cx="7858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lang="zh-CN" altLang="en-US" sz="2400" dirty="0">
                <a:solidFill>
                  <a:schemeClr val="tx1"/>
                </a:solidFill>
                <a:latin typeface="+mj-ea"/>
                <a:ea typeface="+mj-ea"/>
              </a:rPr>
              <a:t>剩余任务完成时间和的下界是：</a:t>
            </a:r>
          </a:p>
        </p:txBody>
      </p:sp>
      <p:graphicFrame>
        <p:nvGraphicFramePr>
          <p:cNvPr id="10" name="Object 3">
            <a:extLst>
              <a:ext uri="{FF2B5EF4-FFF2-40B4-BE49-F238E27FC236}">
                <a16:creationId xmlns:a16="http://schemas.microsoft.com/office/drawing/2014/main" id="{4CDA8339-A4C9-EA22-A8CA-A7B7BC64CD7D}"/>
              </a:ext>
            </a:extLst>
          </p:cNvPr>
          <p:cNvGraphicFramePr>
            <a:graphicFrameLocks noChangeAspect="1"/>
          </p:cNvGraphicFramePr>
          <p:nvPr/>
        </p:nvGraphicFramePr>
        <p:xfrm>
          <a:off x="2439988" y="5257800"/>
          <a:ext cx="3886200" cy="685800"/>
        </p:xfrm>
        <a:graphic>
          <a:graphicData uri="http://schemas.openxmlformats.org/presentationml/2006/ole">
            <mc:AlternateContent xmlns:mc="http://schemas.openxmlformats.org/markup-compatibility/2006">
              <mc:Choice xmlns:v="urn:schemas-microsoft-com:vml" Requires="v">
                <p:oleObj r:id="rId6" imgW="1600200" imgH="355600" progId="Equation.3">
                  <p:embed/>
                </p:oleObj>
              </mc:Choice>
              <mc:Fallback>
                <p:oleObj r:id="rId6" imgW="1600200" imgH="355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9988" y="5257800"/>
                        <a:ext cx="3886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8">
            <a:extLst>
              <a:ext uri="{FF2B5EF4-FFF2-40B4-BE49-F238E27FC236}">
                <a16:creationId xmlns:a16="http://schemas.microsoft.com/office/drawing/2014/main" id="{A4EF5764-1783-4B5D-B895-11A00546FF96}"/>
              </a:ext>
            </a:extLst>
          </p:cNvPr>
          <p:cNvSpPr txBox="1">
            <a:spLocks noChangeArrowheads="1"/>
          </p:cNvSpPr>
          <p:nvPr/>
        </p:nvSpPr>
        <p:spPr bwMode="auto">
          <a:xfrm>
            <a:off x="461963" y="6242050"/>
            <a:ext cx="8186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lang="zh-CN" altLang="en-US" sz="2400" dirty="0">
                <a:solidFill>
                  <a:srgbClr val="FF0000"/>
                </a:solidFill>
                <a:latin typeface="+mj-ea"/>
                <a:ea typeface="+mj-ea"/>
              </a:rPr>
              <a:t>作为优先队列式分支限界法中的限界函数</a:t>
            </a:r>
            <a:r>
              <a:rPr kumimoji="1" lang="en-US" altLang="zh-CN" sz="2400" dirty="0">
                <a:solidFill>
                  <a:srgbClr val="FF0000"/>
                </a:solidFill>
                <a:latin typeface="+mj-ea"/>
              </a:rPr>
              <a:t>Bound</a:t>
            </a:r>
            <a:r>
              <a:rPr lang="zh-CN" altLang="en-US" sz="2400" dirty="0">
                <a:solidFill>
                  <a:schemeClr val="tx1"/>
                </a:solidFill>
                <a:latin typeface="+mj-ea"/>
                <a:ea typeface="+mj-ea"/>
              </a:rPr>
              <a:t>。 </a:t>
            </a:r>
          </a:p>
        </p:txBody>
      </p:sp>
      <p:pic>
        <p:nvPicPr>
          <p:cNvPr id="108555" name="图片 5">
            <a:extLst>
              <a:ext uri="{FF2B5EF4-FFF2-40B4-BE49-F238E27FC236}">
                <a16:creationId xmlns:a16="http://schemas.microsoft.com/office/drawing/2014/main" id="{18D070AE-DFC0-480C-FEC9-C49774941561}"/>
              </a:ext>
            </a:extLst>
          </p:cNvPr>
          <p:cNvPicPr>
            <a:picLocks noChangeAspect="1"/>
          </p:cNvPicPr>
          <p:nvPr/>
        </p:nvPicPr>
        <p:blipFill>
          <a:blip r:embed="rId8">
            <a:extLst>
              <a:ext uri="{28A0092B-C50C-407E-A947-70E740481C1C}">
                <a14:useLocalDpi xmlns:a14="http://schemas.microsoft.com/office/drawing/2010/main" val="0"/>
              </a:ext>
            </a:extLst>
          </a:blip>
          <a:srcRect l="20271" t="31589" r="15610" b="48389"/>
          <a:stretch>
            <a:fillRect/>
          </a:stretch>
        </p:blipFill>
        <p:spPr bwMode="auto">
          <a:xfrm>
            <a:off x="1936750" y="3767138"/>
            <a:ext cx="568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D4BB6D0B-0ADF-6BF9-5316-4BB8A7659E56}"/>
              </a:ext>
            </a:extLst>
          </p:cNvPr>
          <p:cNvSpPr/>
          <p:nvPr/>
        </p:nvSpPr>
        <p:spPr bwMode="auto">
          <a:xfrm>
            <a:off x="3059113" y="5175250"/>
            <a:ext cx="3267075" cy="768350"/>
          </a:xfrm>
          <a:prstGeom prst="rect">
            <a:avLst/>
          </a:prstGeom>
          <a:noFill/>
          <a:ln>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42900" indent="-342900" eaLnBrk="1" hangingPunct="1">
              <a:spcBef>
                <a:spcPct val="20000"/>
              </a:spcBef>
              <a:buClr>
                <a:schemeClr val="accent1"/>
              </a:buClr>
              <a:buSzPct val="65000"/>
              <a:buFont typeface="Wingdings" pitchFamily="2" charset="2"/>
              <a:buChar char="n"/>
              <a:defRPr/>
            </a:pPr>
            <a:endParaRPr lang="zh-CN" altLang="en-US">
              <a:solidFill>
                <a:srgbClr val="FF0000"/>
              </a:solidFill>
              <a:ea typeface="楷体_GB2312" pitchFamily="49"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utoUpdateAnimBg="0"/>
      <p:bldP spid="11"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8DA7496-BEC6-47AB-8EA8-0489EF06C70B}"/>
              </a:ext>
            </a:extLst>
          </p:cNvPr>
          <p:cNvSpPr>
            <a:spLocks noGrp="1" noChangeArrowheads="1"/>
          </p:cNvSpPr>
          <p:nvPr>
            <p:ph type="title"/>
          </p:nvPr>
        </p:nvSpPr>
        <p:spPr/>
        <p:txBody>
          <a:bodyPr/>
          <a:lstStyle/>
          <a:p>
            <a:pPr>
              <a:defRPr/>
            </a:pPr>
            <a:r>
              <a:rPr lang="zh-CN" altLang="en-US">
                <a:latin typeface="+mj-ea"/>
              </a:rPr>
              <a:t>6.9 批处理作业调度问题</a:t>
            </a:r>
          </a:p>
        </p:txBody>
      </p:sp>
      <p:sp>
        <p:nvSpPr>
          <p:cNvPr id="83971" name="灯片编号占位符 5">
            <a:extLst>
              <a:ext uri="{FF2B5EF4-FFF2-40B4-BE49-F238E27FC236}">
                <a16:creationId xmlns:a16="http://schemas.microsoft.com/office/drawing/2014/main" id="{3FBB696F-C7D2-40C9-BF49-8A963FCAE090}"/>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EAE3D621-1D93-4B2B-8E7B-88992077DE69}" type="slidenum">
              <a:rPr lang="zh-CN" altLang="en-US" sz="1200">
                <a:solidFill>
                  <a:schemeClr val="tx1"/>
                </a:solidFill>
                <a:latin typeface="微软雅黑" panose="020B0503020204020204" pitchFamily="34" charset="-122"/>
                <a:ea typeface="微软雅黑" panose="020B0503020204020204" pitchFamily="34" charset="-122"/>
              </a:rPr>
              <a:pPr/>
              <a:t>74</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20516" name="Text Box 4">
            <a:extLst>
              <a:ext uri="{FF2B5EF4-FFF2-40B4-BE49-F238E27FC236}">
                <a16:creationId xmlns:a16="http://schemas.microsoft.com/office/drawing/2014/main" id="{001EA142-7ACA-4DF8-A4B8-4F790D269D7B}"/>
              </a:ext>
            </a:extLst>
          </p:cNvPr>
          <p:cNvSpPr txBox="1">
            <a:spLocks noChangeArrowheads="1"/>
          </p:cNvSpPr>
          <p:nvPr/>
        </p:nvSpPr>
        <p:spPr bwMode="auto">
          <a:xfrm>
            <a:off x="428625" y="1143000"/>
            <a:ext cx="594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3. 算法描述</a:t>
            </a:r>
            <a:endParaRPr lang="en-US" altLang="zh-CN">
              <a:solidFill>
                <a:schemeClr val="accent2"/>
              </a:solidFill>
              <a:latin typeface="+mj-ea"/>
              <a:ea typeface="+mj-ea"/>
            </a:endParaRPr>
          </a:p>
        </p:txBody>
      </p:sp>
      <p:sp>
        <p:nvSpPr>
          <p:cNvPr id="320517" name="Text Box 5">
            <a:extLst>
              <a:ext uri="{FF2B5EF4-FFF2-40B4-BE49-F238E27FC236}">
                <a16:creationId xmlns:a16="http://schemas.microsoft.com/office/drawing/2014/main" id="{4EF116B2-B0A7-41F9-92D4-6F4EF0EB4236}"/>
              </a:ext>
            </a:extLst>
          </p:cNvPr>
          <p:cNvSpPr txBox="1">
            <a:spLocks noChangeArrowheads="1"/>
          </p:cNvSpPr>
          <p:nvPr/>
        </p:nvSpPr>
        <p:spPr bwMode="auto">
          <a:xfrm>
            <a:off x="357188" y="1785938"/>
            <a:ext cx="8585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a:solidFill>
                  <a:schemeClr val="tx1"/>
                </a:solidFill>
                <a:latin typeface="+mj-ea"/>
                <a:ea typeface="+mj-ea"/>
              </a:rPr>
              <a:t>算法的</a:t>
            </a:r>
            <a:r>
              <a:rPr lang="en-US" altLang="zh-CN" sz="2400">
                <a:solidFill>
                  <a:schemeClr val="tx1"/>
                </a:solidFill>
                <a:latin typeface="+mj-ea"/>
                <a:ea typeface="+mj-ea"/>
              </a:rPr>
              <a:t>while</a:t>
            </a:r>
            <a:r>
              <a:rPr lang="zh-CN" altLang="en-US" sz="2400">
                <a:solidFill>
                  <a:schemeClr val="tx1"/>
                </a:solidFill>
                <a:latin typeface="+mj-ea"/>
                <a:ea typeface="+mj-ea"/>
              </a:rPr>
              <a:t>循环完成对排列树内部结点的有序扩展。在</a:t>
            </a:r>
            <a:r>
              <a:rPr lang="en-US" altLang="zh-CN" sz="2400">
                <a:solidFill>
                  <a:schemeClr val="tx1"/>
                </a:solidFill>
                <a:latin typeface="+mj-ea"/>
                <a:ea typeface="+mj-ea"/>
              </a:rPr>
              <a:t>while</a:t>
            </a:r>
            <a:r>
              <a:rPr lang="zh-CN" altLang="en-US" sz="2400">
                <a:solidFill>
                  <a:schemeClr val="tx1"/>
                </a:solidFill>
                <a:latin typeface="+mj-ea"/>
                <a:ea typeface="+mj-ea"/>
              </a:rPr>
              <a:t>循环体内算法依次从活结点</a:t>
            </a:r>
            <a:r>
              <a:rPr lang="zh-CN" altLang="en-US" sz="2400">
                <a:solidFill>
                  <a:srgbClr val="FF0000"/>
                </a:solidFill>
                <a:latin typeface="+mj-ea"/>
                <a:ea typeface="+mj-ea"/>
              </a:rPr>
              <a:t>优先队列中取出具有最小</a:t>
            </a:r>
            <a:r>
              <a:rPr lang="en-US" altLang="zh-CN" sz="2400">
                <a:solidFill>
                  <a:srgbClr val="FF0000"/>
                </a:solidFill>
                <a:latin typeface="+mj-ea"/>
                <a:ea typeface="+mj-ea"/>
              </a:rPr>
              <a:t>bb</a:t>
            </a:r>
            <a:r>
              <a:rPr lang="zh-CN" altLang="en-US" sz="2400">
                <a:solidFill>
                  <a:srgbClr val="FF0000"/>
                </a:solidFill>
                <a:latin typeface="+mj-ea"/>
                <a:ea typeface="+mj-ea"/>
              </a:rPr>
              <a:t>值（完成时间和下界</a:t>
            </a:r>
            <a:r>
              <a:rPr lang="en-US" altLang="zh-CN" sz="2400">
                <a:solidFill>
                  <a:srgbClr val="FF0000"/>
                </a:solidFill>
                <a:latin typeface="+mj-ea"/>
                <a:ea typeface="+mj-ea"/>
              </a:rPr>
              <a:t>Bound</a:t>
            </a:r>
            <a:r>
              <a:rPr lang="zh-CN" altLang="en-US" sz="2400">
                <a:solidFill>
                  <a:srgbClr val="FF0000"/>
                </a:solidFill>
                <a:latin typeface="+mj-ea"/>
                <a:ea typeface="+mj-ea"/>
              </a:rPr>
              <a:t>）</a:t>
            </a:r>
            <a:r>
              <a:rPr lang="zh-CN" altLang="en-US" sz="2400">
                <a:solidFill>
                  <a:schemeClr val="tx1"/>
                </a:solidFill>
                <a:latin typeface="+mj-ea"/>
                <a:ea typeface="+mj-ea"/>
              </a:rPr>
              <a:t>的结点作为当前扩展结点，并加以扩展。 </a:t>
            </a:r>
          </a:p>
        </p:txBody>
      </p:sp>
      <p:sp>
        <p:nvSpPr>
          <p:cNvPr id="320518" name="Text Box 6">
            <a:extLst>
              <a:ext uri="{FF2B5EF4-FFF2-40B4-BE49-F238E27FC236}">
                <a16:creationId xmlns:a16="http://schemas.microsoft.com/office/drawing/2014/main" id="{0092540A-7F89-42FC-A3FD-71743F73F99D}"/>
              </a:ext>
            </a:extLst>
          </p:cNvPr>
          <p:cNvSpPr txBox="1">
            <a:spLocks noChangeArrowheads="1"/>
          </p:cNvSpPr>
          <p:nvPr/>
        </p:nvSpPr>
        <p:spPr bwMode="auto">
          <a:xfrm>
            <a:off x="357188" y="3143250"/>
            <a:ext cx="8585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dirty="0">
                <a:solidFill>
                  <a:schemeClr val="tx1"/>
                </a:solidFill>
                <a:latin typeface="+mj-ea"/>
                <a:ea typeface="+mj-ea"/>
              </a:rPr>
              <a:t>首先考虑</a:t>
            </a:r>
            <a:r>
              <a:rPr lang="en-US" altLang="zh-CN" sz="2400" dirty="0">
                <a:solidFill>
                  <a:schemeClr val="tx1"/>
                </a:solidFill>
                <a:latin typeface="+mj-ea"/>
                <a:ea typeface="+mj-ea"/>
              </a:rPr>
              <a:t>E.s=n</a:t>
            </a:r>
            <a:r>
              <a:rPr lang="zh-CN" altLang="en-US" sz="2400" dirty="0">
                <a:solidFill>
                  <a:schemeClr val="tx1"/>
                </a:solidFill>
                <a:latin typeface="+mj-ea"/>
                <a:ea typeface="+mj-ea"/>
              </a:rPr>
              <a:t>的情形，当前扩展结点</a:t>
            </a:r>
            <a:r>
              <a:rPr lang="en-US" altLang="zh-CN" sz="2400" dirty="0">
                <a:solidFill>
                  <a:schemeClr val="tx1"/>
                </a:solidFill>
                <a:latin typeface="+mj-ea"/>
                <a:ea typeface="+mj-ea"/>
              </a:rPr>
              <a:t>E</a:t>
            </a:r>
            <a:r>
              <a:rPr lang="zh-CN" altLang="en-US" sz="2400" dirty="0">
                <a:solidFill>
                  <a:schemeClr val="tx1"/>
                </a:solidFill>
                <a:latin typeface="+mj-ea"/>
                <a:ea typeface="+mj-ea"/>
              </a:rPr>
              <a:t>是排列树中的叶结点。</a:t>
            </a:r>
            <a:r>
              <a:rPr lang="en-US" altLang="zh-CN" sz="2400" dirty="0">
                <a:solidFill>
                  <a:schemeClr val="tx1"/>
                </a:solidFill>
                <a:latin typeface="+mj-ea"/>
                <a:ea typeface="+mj-ea"/>
              </a:rPr>
              <a:t>E.sf2</a:t>
            </a:r>
            <a:r>
              <a:rPr lang="zh-CN" altLang="en-US" sz="2400" dirty="0">
                <a:solidFill>
                  <a:schemeClr val="tx1"/>
                </a:solidFill>
                <a:latin typeface="+mj-ea"/>
                <a:ea typeface="+mj-ea"/>
              </a:rPr>
              <a:t>是相应于该叶结点的完成时间和。当</a:t>
            </a:r>
            <a:r>
              <a:rPr lang="en-US" altLang="zh-CN" sz="2400" dirty="0">
                <a:solidFill>
                  <a:schemeClr val="tx1"/>
                </a:solidFill>
                <a:latin typeface="+mj-ea"/>
                <a:ea typeface="+mj-ea"/>
              </a:rPr>
              <a:t>E.sf2 &lt; </a:t>
            </a:r>
            <a:r>
              <a:rPr lang="en-US" altLang="zh-CN" sz="2400" dirty="0" err="1">
                <a:solidFill>
                  <a:schemeClr val="tx1"/>
                </a:solidFill>
                <a:latin typeface="+mj-ea"/>
                <a:ea typeface="+mj-ea"/>
              </a:rPr>
              <a:t>bestc</a:t>
            </a:r>
            <a:r>
              <a:rPr lang="zh-CN" altLang="en-US" sz="2400" dirty="0">
                <a:solidFill>
                  <a:schemeClr val="tx1"/>
                </a:solidFill>
                <a:latin typeface="+mj-ea"/>
                <a:ea typeface="+mj-ea"/>
              </a:rPr>
              <a:t>时更新当前最优值</a:t>
            </a:r>
            <a:r>
              <a:rPr lang="en-US" altLang="zh-CN" sz="2400" dirty="0" err="1">
                <a:solidFill>
                  <a:schemeClr val="tx1"/>
                </a:solidFill>
                <a:latin typeface="+mj-ea"/>
                <a:ea typeface="+mj-ea"/>
              </a:rPr>
              <a:t>bestc</a:t>
            </a:r>
            <a:r>
              <a:rPr lang="zh-CN" altLang="en-US" sz="2400" dirty="0">
                <a:solidFill>
                  <a:schemeClr val="tx1"/>
                </a:solidFill>
                <a:latin typeface="+mj-ea"/>
                <a:ea typeface="+mj-ea"/>
              </a:rPr>
              <a:t>和相应的当前最优解</a:t>
            </a:r>
            <a:r>
              <a:rPr lang="en-US" altLang="zh-CN" sz="2400" dirty="0" err="1">
                <a:solidFill>
                  <a:schemeClr val="tx1"/>
                </a:solidFill>
                <a:latin typeface="+mj-ea"/>
                <a:ea typeface="+mj-ea"/>
              </a:rPr>
              <a:t>bestx</a:t>
            </a:r>
            <a:r>
              <a:rPr lang="en-US" altLang="zh-CN" sz="2400" dirty="0">
                <a:solidFill>
                  <a:schemeClr val="tx1"/>
                </a:solidFill>
                <a:latin typeface="+mj-ea"/>
                <a:ea typeface="+mj-ea"/>
              </a:rPr>
              <a:t>。 </a:t>
            </a:r>
            <a:endParaRPr lang="zh-CN" altLang="en-US" sz="2400" dirty="0">
              <a:solidFill>
                <a:schemeClr val="tx1"/>
              </a:solidFill>
              <a:latin typeface="+mj-ea"/>
              <a:ea typeface="+mj-ea"/>
            </a:endParaRPr>
          </a:p>
        </p:txBody>
      </p:sp>
      <p:sp>
        <p:nvSpPr>
          <p:cNvPr id="320519" name="Text Box 7">
            <a:extLst>
              <a:ext uri="{FF2B5EF4-FFF2-40B4-BE49-F238E27FC236}">
                <a16:creationId xmlns:a16="http://schemas.microsoft.com/office/drawing/2014/main" id="{4D465CE2-115F-4469-A1F4-6864D28CF3BA}"/>
              </a:ext>
            </a:extLst>
          </p:cNvPr>
          <p:cNvSpPr txBox="1">
            <a:spLocks noChangeArrowheads="1"/>
          </p:cNvSpPr>
          <p:nvPr/>
        </p:nvSpPr>
        <p:spPr bwMode="auto">
          <a:xfrm>
            <a:off x="428625" y="4429125"/>
            <a:ext cx="850106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Char char="n"/>
              <a:defRPr/>
            </a:pPr>
            <a:r>
              <a:rPr lang="zh-CN" altLang="en-US" sz="2400">
                <a:solidFill>
                  <a:schemeClr val="tx1"/>
                </a:solidFill>
                <a:latin typeface="+mj-ea"/>
                <a:ea typeface="+mj-ea"/>
              </a:rPr>
              <a:t>当</a:t>
            </a:r>
            <a:r>
              <a:rPr lang="en-US" altLang="zh-CN" sz="2400">
                <a:solidFill>
                  <a:schemeClr val="tx1"/>
                </a:solidFill>
                <a:latin typeface="+mj-ea"/>
                <a:ea typeface="+mj-ea"/>
              </a:rPr>
              <a:t>E.s&lt;n</a:t>
            </a:r>
            <a:r>
              <a:rPr lang="zh-CN" altLang="en-US" sz="2400">
                <a:solidFill>
                  <a:schemeClr val="tx1"/>
                </a:solidFill>
                <a:latin typeface="+mj-ea"/>
                <a:ea typeface="+mj-ea"/>
              </a:rPr>
              <a:t>时，算法依次产生当前扩展结点</a:t>
            </a:r>
            <a:r>
              <a:rPr lang="en-US" altLang="zh-CN" sz="2400">
                <a:solidFill>
                  <a:schemeClr val="tx1"/>
                </a:solidFill>
                <a:latin typeface="+mj-ea"/>
                <a:ea typeface="+mj-ea"/>
              </a:rPr>
              <a:t>E</a:t>
            </a:r>
            <a:r>
              <a:rPr lang="zh-CN" altLang="en-US" sz="2400">
                <a:solidFill>
                  <a:schemeClr val="tx1"/>
                </a:solidFill>
                <a:latin typeface="+mj-ea"/>
                <a:ea typeface="+mj-ea"/>
              </a:rPr>
              <a:t>的所有儿子结点。对于当前扩展结点的每一个儿子结点</a:t>
            </a:r>
            <a:r>
              <a:rPr lang="en-US" altLang="zh-CN" sz="2400">
                <a:solidFill>
                  <a:schemeClr val="tx1"/>
                </a:solidFill>
                <a:latin typeface="+mj-ea"/>
                <a:ea typeface="+mj-ea"/>
              </a:rPr>
              <a:t>node，</a:t>
            </a:r>
            <a:r>
              <a:rPr lang="zh-CN" altLang="en-US" sz="2400">
                <a:solidFill>
                  <a:schemeClr val="tx1"/>
                </a:solidFill>
                <a:latin typeface="+mj-ea"/>
                <a:ea typeface="+mj-ea"/>
              </a:rPr>
              <a:t>计算出其相应的完成时间和的下界</a:t>
            </a:r>
            <a:r>
              <a:rPr lang="en-US" altLang="zh-CN" sz="2400">
                <a:solidFill>
                  <a:schemeClr val="tx1"/>
                </a:solidFill>
                <a:latin typeface="+mj-ea"/>
                <a:ea typeface="+mj-ea"/>
              </a:rPr>
              <a:t>bb。</a:t>
            </a:r>
            <a:r>
              <a:rPr lang="zh-CN" altLang="en-US" sz="2400">
                <a:solidFill>
                  <a:schemeClr val="tx1"/>
                </a:solidFill>
                <a:latin typeface="+mj-ea"/>
                <a:ea typeface="+mj-ea"/>
              </a:rPr>
              <a:t>当</a:t>
            </a:r>
            <a:r>
              <a:rPr lang="en-US" altLang="zh-CN" sz="2400">
                <a:solidFill>
                  <a:schemeClr val="tx1"/>
                </a:solidFill>
                <a:latin typeface="+mj-ea"/>
                <a:ea typeface="+mj-ea"/>
              </a:rPr>
              <a:t>bb &lt; bestc</a:t>
            </a:r>
            <a:r>
              <a:rPr lang="zh-CN" altLang="en-US" sz="2400">
                <a:solidFill>
                  <a:schemeClr val="tx1"/>
                </a:solidFill>
                <a:latin typeface="+mj-ea"/>
                <a:ea typeface="+mj-ea"/>
              </a:rPr>
              <a:t>时，将该儿子结点插入到活结点优先队列中。而当</a:t>
            </a:r>
            <a:r>
              <a:rPr lang="en-US" altLang="zh-CN" sz="2400">
                <a:solidFill>
                  <a:schemeClr val="tx1"/>
                </a:solidFill>
                <a:latin typeface="+mj-ea"/>
                <a:ea typeface="+mj-ea"/>
              </a:rPr>
              <a:t>bb</a:t>
            </a:r>
            <a:r>
              <a:rPr lang="en-US" altLang="zh-CN" sz="2400">
                <a:solidFill>
                  <a:schemeClr val="tx1"/>
                </a:solidFill>
                <a:latin typeface="+mj-ea"/>
                <a:ea typeface="+mj-ea"/>
                <a:sym typeface="Symbol" panose="05050102010706020507" pitchFamily="18" charset="2"/>
              </a:rPr>
              <a:t></a:t>
            </a:r>
            <a:r>
              <a:rPr lang="en-US" altLang="zh-CN" sz="2400">
                <a:solidFill>
                  <a:schemeClr val="tx1"/>
                </a:solidFill>
                <a:latin typeface="+mj-ea"/>
                <a:ea typeface="+mj-ea"/>
              </a:rPr>
              <a:t> bestc</a:t>
            </a:r>
            <a:r>
              <a:rPr lang="zh-CN" altLang="en-US" sz="2400">
                <a:solidFill>
                  <a:schemeClr val="tx1"/>
                </a:solidFill>
                <a:latin typeface="+mj-ea"/>
                <a:ea typeface="+mj-ea"/>
              </a:rPr>
              <a:t>时，可将结点</a:t>
            </a:r>
            <a:r>
              <a:rPr lang="en-US" altLang="zh-CN" sz="2400">
                <a:solidFill>
                  <a:schemeClr val="tx1"/>
                </a:solidFill>
                <a:latin typeface="+mj-ea"/>
                <a:ea typeface="+mj-ea"/>
              </a:rPr>
              <a:t>node</a:t>
            </a:r>
            <a:r>
              <a:rPr lang="zh-CN" altLang="en-US" sz="2400">
                <a:solidFill>
                  <a:schemeClr val="tx1"/>
                </a:solidFill>
                <a:latin typeface="+mj-ea"/>
                <a:ea typeface="+mj-ea"/>
              </a:rPr>
              <a:t>舍去。 </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20516"/>
                                        </p:tgtEl>
                                        <p:attrNameLst>
                                          <p:attrName>style.visibility</p:attrName>
                                        </p:attrNameLst>
                                      </p:cBhvr>
                                      <p:to>
                                        <p:strVal val="visible"/>
                                      </p:to>
                                    </p:set>
                                    <p:anim calcmode="lin" valueType="num">
                                      <p:cBhvr additive="base">
                                        <p:cTn id="7" dur="500" fill="hold"/>
                                        <p:tgtEl>
                                          <p:spTgt spid="320516"/>
                                        </p:tgtEl>
                                        <p:attrNameLst>
                                          <p:attrName>ppt_x</p:attrName>
                                        </p:attrNameLst>
                                      </p:cBhvr>
                                      <p:tavLst>
                                        <p:tav tm="0">
                                          <p:val>
                                            <p:strVal val="1+#ppt_w/2"/>
                                          </p:val>
                                        </p:tav>
                                        <p:tav tm="100000">
                                          <p:val>
                                            <p:strVal val="#ppt_x"/>
                                          </p:val>
                                        </p:tav>
                                      </p:tavLst>
                                    </p:anim>
                                    <p:anim calcmode="lin" valueType="num">
                                      <p:cBhvr additive="base">
                                        <p:cTn id="8" dur="500" fill="hold"/>
                                        <p:tgtEl>
                                          <p:spTgt spid="32051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0517"/>
                                        </p:tgtEl>
                                        <p:attrNameLst>
                                          <p:attrName>style.visibility</p:attrName>
                                        </p:attrNameLst>
                                      </p:cBhvr>
                                      <p:to>
                                        <p:strVal val="visible"/>
                                      </p:to>
                                    </p:set>
                                    <p:anim calcmode="lin" valueType="num">
                                      <p:cBhvr additive="base">
                                        <p:cTn id="13" dur="500" fill="hold"/>
                                        <p:tgtEl>
                                          <p:spTgt spid="320517"/>
                                        </p:tgtEl>
                                        <p:attrNameLst>
                                          <p:attrName>ppt_x</p:attrName>
                                        </p:attrNameLst>
                                      </p:cBhvr>
                                      <p:tavLst>
                                        <p:tav tm="0">
                                          <p:val>
                                            <p:strVal val="0-#ppt_w/2"/>
                                          </p:val>
                                        </p:tav>
                                        <p:tav tm="100000">
                                          <p:val>
                                            <p:strVal val="#ppt_x"/>
                                          </p:val>
                                        </p:tav>
                                      </p:tavLst>
                                    </p:anim>
                                    <p:anim calcmode="lin" valueType="num">
                                      <p:cBhvr additive="base">
                                        <p:cTn id="14" dur="500" fill="hold"/>
                                        <p:tgtEl>
                                          <p:spTgt spid="32051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20518"/>
                                        </p:tgtEl>
                                        <p:attrNameLst>
                                          <p:attrName>style.visibility</p:attrName>
                                        </p:attrNameLst>
                                      </p:cBhvr>
                                      <p:to>
                                        <p:strVal val="visible"/>
                                      </p:to>
                                    </p:set>
                                    <p:anim calcmode="lin" valueType="num">
                                      <p:cBhvr additive="base">
                                        <p:cTn id="19" dur="500" fill="hold"/>
                                        <p:tgtEl>
                                          <p:spTgt spid="320518"/>
                                        </p:tgtEl>
                                        <p:attrNameLst>
                                          <p:attrName>ppt_x</p:attrName>
                                        </p:attrNameLst>
                                      </p:cBhvr>
                                      <p:tavLst>
                                        <p:tav tm="0">
                                          <p:val>
                                            <p:strVal val="1+#ppt_w/2"/>
                                          </p:val>
                                        </p:tav>
                                        <p:tav tm="100000">
                                          <p:val>
                                            <p:strVal val="#ppt_x"/>
                                          </p:val>
                                        </p:tav>
                                      </p:tavLst>
                                    </p:anim>
                                    <p:anim calcmode="lin" valueType="num">
                                      <p:cBhvr additive="base">
                                        <p:cTn id="20" dur="500" fill="hold"/>
                                        <p:tgtEl>
                                          <p:spTgt spid="32051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20519"/>
                                        </p:tgtEl>
                                        <p:attrNameLst>
                                          <p:attrName>style.visibility</p:attrName>
                                        </p:attrNameLst>
                                      </p:cBhvr>
                                      <p:to>
                                        <p:strVal val="visible"/>
                                      </p:to>
                                    </p:set>
                                    <p:anim calcmode="lin" valueType="num">
                                      <p:cBhvr additive="base">
                                        <p:cTn id="25" dur="500" fill="hold"/>
                                        <p:tgtEl>
                                          <p:spTgt spid="320519"/>
                                        </p:tgtEl>
                                        <p:attrNameLst>
                                          <p:attrName>ppt_x</p:attrName>
                                        </p:attrNameLst>
                                      </p:cBhvr>
                                      <p:tavLst>
                                        <p:tav tm="0">
                                          <p:val>
                                            <p:strVal val="#ppt_x"/>
                                          </p:val>
                                        </p:tav>
                                        <p:tav tm="100000">
                                          <p:val>
                                            <p:strVal val="#ppt_x"/>
                                          </p:val>
                                        </p:tav>
                                      </p:tavLst>
                                    </p:anim>
                                    <p:anim calcmode="lin" valueType="num">
                                      <p:cBhvr additive="base">
                                        <p:cTn id="26" dur="500" fill="hold"/>
                                        <p:tgtEl>
                                          <p:spTgt spid="3205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6" grpId="0" autoUpdateAnimBg="0"/>
      <p:bldP spid="320517" grpId="0" autoUpdateAnimBg="0"/>
      <p:bldP spid="320518" grpId="0" autoUpdateAnimBg="0"/>
      <p:bldP spid="320519"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D0812046-B309-47DA-BA1D-AA6F1161AC0F}"/>
              </a:ext>
            </a:extLst>
          </p:cNvPr>
          <p:cNvSpPr>
            <a:spLocks noGrp="1" noChangeArrowheads="1"/>
          </p:cNvSpPr>
          <p:nvPr>
            <p:ph type="title"/>
          </p:nvPr>
        </p:nvSpPr>
        <p:spPr/>
        <p:txBody>
          <a:bodyPr/>
          <a:lstStyle/>
          <a:p>
            <a:pPr>
              <a:defRPr/>
            </a:pPr>
            <a:r>
              <a:rPr lang="zh-CN" altLang="en-US">
                <a:latin typeface="+mj-ea"/>
              </a:rPr>
              <a:t>6.9 批处理作业调度问题</a:t>
            </a:r>
          </a:p>
        </p:txBody>
      </p:sp>
      <p:sp>
        <p:nvSpPr>
          <p:cNvPr id="84995" name="灯片编号占位符 5">
            <a:extLst>
              <a:ext uri="{FF2B5EF4-FFF2-40B4-BE49-F238E27FC236}">
                <a16:creationId xmlns:a16="http://schemas.microsoft.com/office/drawing/2014/main" id="{FCC5AAB7-6914-4531-98BF-2F1339345868}"/>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E73A8409-AEEB-4181-B485-7C610D6E2F1A}" type="slidenum">
              <a:rPr lang="zh-CN" altLang="en-US" sz="1200">
                <a:solidFill>
                  <a:schemeClr val="tx1"/>
                </a:solidFill>
                <a:latin typeface="微软雅黑" panose="020B0503020204020204" pitchFamily="34" charset="-122"/>
                <a:ea typeface="微软雅黑" panose="020B0503020204020204" pitchFamily="34" charset="-122"/>
              </a:rPr>
              <a:pPr/>
              <a:t>75</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84996" name="Text Box 4">
            <a:extLst>
              <a:ext uri="{FF2B5EF4-FFF2-40B4-BE49-F238E27FC236}">
                <a16:creationId xmlns:a16="http://schemas.microsoft.com/office/drawing/2014/main" id="{EA0115DB-8CEA-4021-A1BD-43D94B66F98D}"/>
              </a:ext>
            </a:extLst>
          </p:cNvPr>
          <p:cNvSpPr txBox="1">
            <a:spLocks noChangeArrowheads="1"/>
          </p:cNvSpPr>
          <p:nvPr/>
        </p:nvSpPr>
        <p:spPr bwMode="auto">
          <a:xfrm>
            <a:off x="179388" y="2019300"/>
            <a:ext cx="8713787"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20000"/>
              </a:spcBef>
              <a:buClr>
                <a:schemeClr val="accent1"/>
              </a:buClr>
              <a:buSzPct val="65000"/>
              <a:buFont typeface="Wingdings" panose="05000000000000000000" pitchFamily="2" charset="2"/>
              <a:buNone/>
              <a:defRPr/>
            </a:pPr>
            <a:r>
              <a:rPr lang="en-US" altLang="zh-CN" sz="2000" dirty="0">
                <a:solidFill>
                  <a:schemeClr val="tx1"/>
                </a:solidFill>
                <a:latin typeface="+mj-ea"/>
                <a:ea typeface="+mj-ea"/>
              </a:rPr>
              <a:t>     </a:t>
            </a:r>
            <a:r>
              <a:rPr kumimoji="1" lang="en-US" altLang="zh-CN" sz="2000" dirty="0">
                <a:solidFill>
                  <a:schemeClr val="tx1"/>
                </a:solidFill>
                <a:latin typeface="+mj-ea"/>
                <a:ea typeface="+mj-ea"/>
              </a:rPr>
              <a:t>while (E.s &lt;= n ) {</a:t>
            </a:r>
          </a:p>
          <a:p>
            <a:pPr eaLnBrk="1" hangingPunct="1">
              <a:lnSpc>
                <a:spcPct val="150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if (E.s == n ) {// </a:t>
            </a:r>
            <a:r>
              <a:rPr kumimoji="1" lang="zh-CN" altLang="en-US" sz="2000" dirty="0">
                <a:solidFill>
                  <a:schemeClr val="tx1"/>
                </a:solidFill>
                <a:latin typeface="+mj-ea"/>
                <a:ea typeface="+mj-ea"/>
              </a:rPr>
              <a:t>叶结点</a:t>
            </a:r>
          </a:p>
          <a:p>
            <a:pPr eaLnBrk="1" hangingPunct="1">
              <a:lnSpc>
                <a:spcPct val="150000"/>
              </a:lnSpc>
              <a:spcBef>
                <a:spcPct val="20000"/>
              </a:spcBef>
              <a:buClr>
                <a:schemeClr val="accent1"/>
              </a:buClr>
              <a:buSzPct val="65000"/>
              <a:buFont typeface="Wingdings" panose="05000000000000000000" pitchFamily="2" charset="2"/>
              <a:buNone/>
              <a:defRPr/>
            </a:pPr>
            <a:r>
              <a:rPr kumimoji="1" lang="zh-CN" altLang="en-US" sz="2000" dirty="0">
                <a:solidFill>
                  <a:schemeClr val="tx1"/>
                </a:solidFill>
                <a:latin typeface="+mj-ea"/>
                <a:ea typeface="+mj-ea"/>
              </a:rPr>
              <a:t>         </a:t>
            </a:r>
            <a:r>
              <a:rPr kumimoji="1" lang="en-US" altLang="zh-CN" sz="2000" dirty="0">
                <a:solidFill>
                  <a:schemeClr val="tx1"/>
                </a:solidFill>
                <a:latin typeface="+mj-ea"/>
                <a:ea typeface="+mj-ea"/>
              </a:rPr>
              <a:t>if (</a:t>
            </a:r>
            <a:r>
              <a:rPr kumimoji="1" lang="en-US" altLang="zh-CN" sz="2000" dirty="0">
                <a:solidFill>
                  <a:srgbClr val="FF0000"/>
                </a:solidFill>
                <a:latin typeface="+mj-ea"/>
                <a:ea typeface="+mj-ea"/>
              </a:rPr>
              <a:t>E.sf2 &lt; </a:t>
            </a:r>
            <a:r>
              <a:rPr kumimoji="1" lang="en-US" altLang="zh-CN" sz="2000" dirty="0" err="1">
                <a:solidFill>
                  <a:srgbClr val="FF0000"/>
                </a:solidFill>
                <a:latin typeface="+mj-ea"/>
                <a:ea typeface="+mj-ea"/>
              </a:rPr>
              <a:t>bestc</a:t>
            </a:r>
            <a:r>
              <a:rPr kumimoji="1" lang="en-US" altLang="zh-CN" sz="2000" dirty="0">
                <a:solidFill>
                  <a:schemeClr val="tx1"/>
                </a:solidFill>
                <a:latin typeface="+mj-ea"/>
                <a:ea typeface="+mj-ea"/>
              </a:rPr>
              <a:t>) {  //</a:t>
            </a:r>
            <a:r>
              <a:rPr lang="zh-CN" altLang="en-US" sz="2000" b="1" dirty="0">
                <a:solidFill>
                  <a:schemeClr val="tx1"/>
                </a:solidFill>
                <a:latin typeface="+mj-ea"/>
                <a:ea typeface="+mj-ea"/>
              </a:rPr>
              <a:t>更新当前最优值</a:t>
            </a:r>
            <a:r>
              <a:rPr lang="en-US" altLang="zh-CN" sz="2000" b="1" dirty="0" err="1">
                <a:solidFill>
                  <a:schemeClr val="tx1"/>
                </a:solidFill>
                <a:latin typeface="+mj-ea"/>
                <a:ea typeface="+mj-ea"/>
              </a:rPr>
              <a:t>bestc</a:t>
            </a:r>
            <a:r>
              <a:rPr lang="zh-CN" altLang="en-US" sz="2000" b="1" dirty="0">
                <a:solidFill>
                  <a:schemeClr val="tx1"/>
                </a:solidFill>
                <a:latin typeface="+mj-ea"/>
                <a:ea typeface="+mj-ea"/>
              </a:rPr>
              <a:t>和相应的最优解</a:t>
            </a:r>
            <a:r>
              <a:rPr lang="en-US" altLang="zh-CN" sz="2000" b="1" dirty="0" err="1">
                <a:solidFill>
                  <a:schemeClr val="tx1"/>
                </a:solidFill>
                <a:latin typeface="+mj-ea"/>
                <a:ea typeface="+mj-ea"/>
              </a:rPr>
              <a:t>bestx</a:t>
            </a:r>
            <a:endParaRPr kumimoji="1" lang="en-US" altLang="zh-CN" sz="2000" dirty="0">
              <a:solidFill>
                <a:schemeClr val="tx1"/>
              </a:solidFill>
              <a:latin typeface="+mj-ea"/>
              <a:ea typeface="+mj-ea"/>
            </a:endParaRPr>
          </a:p>
          <a:p>
            <a:pPr eaLnBrk="1" hangingPunct="1">
              <a:lnSpc>
                <a:spcPct val="150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a:t>
            </a:r>
            <a:r>
              <a:rPr kumimoji="1" lang="en-US" altLang="zh-CN" sz="2000" dirty="0" err="1">
                <a:solidFill>
                  <a:schemeClr val="tx1"/>
                </a:solidFill>
                <a:latin typeface="+mj-ea"/>
                <a:ea typeface="+mj-ea"/>
              </a:rPr>
              <a:t>bestc</a:t>
            </a:r>
            <a:r>
              <a:rPr kumimoji="1" lang="en-US" altLang="zh-CN" sz="2000" dirty="0">
                <a:solidFill>
                  <a:schemeClr val="tx1"/>
                </a:solidFill>
                <a:latin typeface="+mj-ea"/>
                <a:ea typeface="+mj-ea"/>
              </a:rPr>
              <a:t> = E.sf2;</a:t>
            </a:r>
          </a:p>
          <a:p>
            <a:pPr eaLnBrk="1" hangingPunct="1">
              <a:lnSpc>
                <a:spcPct val="150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for (</a:t>
            </a:r>
            <a:r>
              <a:rPr kumimoji="1" lang="en-US" altLang="zh-CN" sz="2000" dirty="0" err="1">
                <a:solidFill>
                  <a:schemeClr val="tx1"/>
                </a:solidFill>
                <a:latin typeface="+mj-ea"/>
                <a:ea typeface="+mj-ea"/>
              </a:rPr>
              <a:t>int</a:t>
            </a:r>
            <a:r>
              <a:rPr kumimoji="1" lang="en-US" altLang="zh-CN" sz="2000" dirty="0">
                <a:solidFill>
                  <a:schemeClr val="tx1"/>
                </a:solidFill>
                <a:latin typeface="+mj-ea"/>
                <a:ea typeface="+mj-ea"/>
              </a:rPr>
              <a:t> </a:t>
            </a:r>
            <a:r>
              <a:rPr kumimoji="1" lang="en-US" altLang="zh-CN" sz="2000" dirty="0" err="1">
                <a:solidFill>
                  <a:schemeClr val="tx1"/>
                </a:solidFill>
                <a:latin typeface="+mj-ea"/>
                <a:ea typeface="+mj-ea"/>
              </a:rPr>
              <a:t>i</a:t>
            </a:r>
            <a:r>
              <a:rPr kumimoji="1" lang="en-US" altLang="zh-CN" sz="2000" dirty="0">
                <a:solidFill>
                  <a:schemeClr val="tx1"/>
                </a:solidFill>
                <a:latin typeface="+mj-ea"/>
                <a:ea typeface="+mj-ea"/>
              </a:rPr>
              <a:t> = 0; </a:t>
            </a:r>
            <a:r>
              <a:rPr kumimoji="1" lang="en-US" altLang="zh-CN" sz="2000" dirty="0" err="1">
                <a:solidFill>
                  <a:schemeClr val="tx1"/>
                </a:solidFill>
                <a:latin typeface="+mj-ea"/>
                <a:ea typeface="+mj-ea"/>
              </a:rPr>
              <a:t>i</a:t>
            </a:r>
            <a:r>
              <a:rPr kumimoji="1" lang="en-US" altLang="zh-CN" sz="2000" dirty="0">
                <a:solidFill>
                  <a:schemeClr val="tx1"/>
                </a:solidFill>
                <a:latin typeface="+mj-ea"/>
                <a:ea typeface="+mj-ea"/>
              </a:rPr>
              <a:t> &lt; n; </a:t>
            </a:r>
            <a:r>
              <a:rPr kumimoji="1" lang="en-US" altLang="zh-CN" sz="2000" dirty="0" err="1">
                <a:solidFill>
                  <a:schemeClr val="tx1"/>
                </a:solidFill>
                <a:latin typeface="+mj-ea"/>
                <a:ea typeface="+mj-ea"/>
              </a:rPr>
              <a:t>i</a:t>
            </a:r>
            <a:r>
              <a:rPr kumimoji="1" lang="en-US" altLang="zh-CN" sz="2000" dirty="0">
                <a:solidFill>
                  <a:schemeClr val="tx1"/>
                </a:solidFill>
                <a:latin typeface="+mj-ea"/>
                <a:ea typeface="+mj-ea"/>
              </a:rPr>
              <a:t>++)</a:t>
            </a:r>
          </a:p>
          <a:p>
            <a:pPr eaLnBrk="1" hangingPunct="1">
              <a:lnSpc>
                <a:spcPct val="150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a:t>
            </a:r>
            <a:r>
              <a:rPr kumimoji="1" lang="en-US" altLang="zh-CN" sz="2000" dirty="0" err="1">
                <a:solidFill>
                  <a:schemeClr val="tx1"/>
                </a:solidFill>
                <a:latin typeface="+mj-ea"/>
                <a:ea typeface="+mj-ea"/>
              </a:rPr>
              <a:t>bestx</a:t>
            </a:r>
            <a:r>
              <a:rPr kumimoji="1" lang="en-US" altLang="zh-CN" sz="2000" dirty="0">
                <a:solidFill>
                  <a:schemeClr val="tx1"/>
                </a:solidFill>
                <a:latin typeface="+mj-ea"/>
                <a:ea typeface="+mj-ea"/>
              </a:rPr>
              <a:t>[</a:t>
            </a:r>
            <a:r>
              <a:rPr kumimoji="1" lang="en-US" altLang="zh-CN" sz="2000" dirty="0" err="1">
                <a:solidFill>
                  <a:schemeClr val="tx1"/>
                </a:solidFill>
                <a:latin typeface="+mj-ea"/>
                <a:ea typeface="+mj-ea"/>
              </a:rPr>
              <a:t>i</a:t>
            </a:r>
            <a:r>
              <a:rPr kumimoji="1" lang="en-US" altLang="zh-CN" sz="2000" dirty="0">
                <a:solidFill>
                  <a:schemeClr val="tx1"/>
                </a:solidFill>
                <a:latin typeface="+mj-ea"/>
                <a:ea typeface="+mj-ea"/>
              </a:rPr>
              <a:t>] = </a:t>
            </a:r>
            <a:r>
              <a:rPr kumimoji="1" lang="en-US" altLang="zh-CN" sz="2000" dirty="0" err="1">
                <a:solidFill>
                  <a:schemeClr val="tx1"/>
                </a:solidFill>
                <a:latin typeface="+mj-ea"/>
                <a:ea typeface="+mj-ea"/>
              </a:rPr>
              <a:t>E.x</a:t>
            </a:r>
            <a:r>
              <a:rPr kumimoji="1" lang="en-US" altLang="zh-CN" sz="2000" dirty="0">
                <a:solidFill>
                  <a:schemeClr val="tx1"/>
                </a:solidFill>
                <a:latin typeface="+mj-ea"/>
                <a:ea typeface="+mj-ea"/>
              </a:rPr>
              <a:t>[</a:t>
            </a:r>
            <a:r>
              <a:rPr kumimoji="1" lang="en-US" altLang="zh-CN" sz="2000" dirty="0" err="1">
                <a:solidFill>
                  <a:schemeClr val="tx1"/>
                </a:solidFill>
                <a:latin typeface="+mj-ea"/>
                <a:ea typeface="+mj-ea"/>
              </a:rPr>
              <a:t>i</a:t>
            </a:r>
            <a:r>
              <a:rPr kumimoji="1" lang="en-US" altLang="zh-CN" sz="2000" dirty="0">
                <a:solidFill>
                  <a:schemeClr val="tx1"/>
                </a:solidFill>
                <a:latin typeface="+mj-ea"/>
                <a:ea typeface="+mj-ea"/>
              </a:rPr>
              <a:t>];}</a:t>
            </a:r>
          </a:p>
          <a:p>
            <a:pPr eaLnBrk="1" hangingPunct="1">
              <a:lnSpc>
                <a:spcPct val="150000"/>
              </a:lnSpc>
              <a:spcBef>
                <a:spcPct val="20000"/>
              </a:spcBef>
              <a:buClr>
                <a:schemeClr val="accent1"/>
              </a:buClr>
              <a:buSzPct val="65000"/>
              <a:buFont typeface="Wingdings" panose="05000000000000000000" pitchFamily="2" charset="2"/>
              <a:buNone/>
              <a:defRPr/>
            </a:pPr>
            <a:r>
              <a:rPr kumimoji="1" lang="en-US" altLang="zh-CN" sz="2000" dirty="0">
                <a:solidFill>
                  <a:schemeClr val="tx1"/>
                </a:solidFill>
                <a:latin typeface="+mj-ea"/>
                <a:ea typeface="+mj-ea"/>
              </a:rPr>
              <a:t>         delete [] </a:t>
            </a:r>
            <a:r>
              <a:rPr kumimoji="1" lang="en-US" altLang="zh-CN" sz="2000" dirty="0" err="1">
                <a:solidFill>
                  <a:schemeClr val="tx1"/>
                </a:solidFill>
                <a:latin typeface="+mj-ea"/>
                <a:ea typeface="+mj-ea"/>
              </a:rPr>
              <a:t>E.x</a:t>
            </a:r>
            <a:r>
              <a:rPr kumimoji="1" lang="en-US" altLang="zh-CN" sz="2000" dirty="0">
                <a:solidFill>
                  <a:schemeClr val="tx1"/>
                </a:solidFill>
                <a:latin typeface="+mj-ea"/>
                <a:ea typeface="+mj-ea"/>
              </a:rPr>
              <a:t>;}</a:t>
            </a:r>
            <a:endParaRPr lang="zh-CN" altLang="en-US" sz="2000" dirty="0">
              <a:solidFill>
                <a:schemeClr val="tx1"/>
              </a:solidFill>
              <a:latin typeface="+mj-ea"/>
              <a:ea typeface="+mj-ea"/>
            </a:endParaRPr>
          </a:p>
        </p:txBody>
      </p:sp>
      <p:sp>
        <p:nvSpPr>
          <p:cNvPr id="84997" name="Text Box 5">
            <a:extLst>
              <a:ext uri="{FF2B5EF4-FFF2-40B4-BE49-F238E27FC236}">
                <a16:creationId xmlns:a16="http://schemas.microsoft.com/office/drawing/2014/main" id="{8DB0CC09-8700-4C73-8D2A-00A6568443FC}"/>
              </a:ext>
            </a:extLst>
          </p:cNvPr>
          <p:cNvSpPr txBox="1">
            <a:spLocks noChangeArrowheads="1"/>
          </p:cNvSpPr>
          <p:nvPr/>
        </p:nvSpPr>
        <p:spPr bwMode="auto">
          <a:xfrm>
            <a:off x="428625" y="1285875"/>
            <a:ext cx="594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3. 算法描述</a:t>
            </a:r>
            <a:endParaRPr lang="en-US" altLang="zh-CN">
              <a:solidFill>
                <a:schemeClr val="accent2"/>
              </a:solidFill>
              <a:latin typeface="+mj-ea"/>
              <a:ea typeface="+mj-ea"/>
            </a:endParaRPr>
          </a:p>
        </p:txBody>
      </p:sp>
      <p:sp>
        <p:nvSpPr>
          <p:cNvPr id="87046" name="矩形 1">
            <a:extLst>
              <a:ext uri="{FF2B5EF4-FFF2-40B4-BE49-F238E27FC236}">
                <a16:creationId xmlns:a16="http://schemas.microsoft.com/office/drawing/2014/main" id="{9CC06325-E6CE-470E-AECB-72961E1CD481}"/>
              </a:ext>
            </a:extLst>
          </p:cNvPr>
          <p:cNvSpPr>
            <a:spLocks noChangeArrowheads="1"/>
          </p:cNvSpPr>
          <p:nvPr/>
        </p:nvSpPr>
        <p:spPr bwMode="auto">
          <a:xfrm>
            <a:off x="4581525" y="3789363"/>
            <a:ext cx="40338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50000"/>
              </a:lnSpc>
              <a:spcBef>
                <a:spcPct val="50000"/>
              </a:spcBef>
              <a:buClr>
                <a:schemeClr val="accent1"/>
              </a:buClr>
              <a:buSzPct val="65000"/>
              <a:defRPr/>
            </a:pPr>
            <a:r>
              <a:rPr lang="en-US" altLang="zh-CN" sz="2000" dirty="0">
                <a:solidFill>
                  <a:schemeClr val="tx1"/>
                </a:solidFill>
                <a:latin typeface="+mj-ea"/>
                <a:ea typeface="+mj-ea"/>
              </a:rPr>
              <a:t>E.s=n</a:t>
            </a:r>
            <a:r>
              <a:rPr lang="zh-CN" altLang="en-US" sz="2000" dirty="0">
                <a:solidFill>
                  <a:schemeClr val="tx1"/>
                </a:solidFill>
                <a:latin typeface="+mj-ea"/>
                <a:ea typeface="+mj-ea"/>
              </a:rPr>
              <a:t>的情形，当前扩展结点</a:t>
            </a:r>
            <a:r>
              <a:rPr lang="en-US" altLang="zh-CN" sz="2000" dirty="0">
                <a:solidFill>
                  <a:schemeClr val="tx1"/>
                </a:solidFill>
                <a:latin typeface="+mj-ea"/>
                <a:ea typeface="+mj-ea"/>
              </a:rPr>
              <a:t>E</a:t>
            </a:r>
            <a:r>
              <a:rPr lang="zh-CN" altLang="en-US" sz="2000" dirty="0">
                <a:solidFill>
                  <a:schemeClr val="tx1"/>
                </a:solidFill>
                <a:latin typeface="+mj-ea"/>
                <a:ea typeface="+mj-ea"/>
              </a:rPr>
              <a:t>是排列树中的叶结点。</a:t>
            </a:r>
            <a:r>
              <a:rPr lang="en-US" altLang="zh-CN" sz="2000" dirty="0">
                <a:solidFill>
                  <a:schemeClr val="tx1"/>
                </a:solidFill>
                <a:latin typeface="+mj-ea"/>
                <a:ea typeface="+mj-ea"/>
              </a:rPr>
              <a:t>E.sf2</a:t>
            </a:r>
            <a:r>
              <a:rPr lang="zh-CN" altLang="en-US" sz="2000" dirty="0">
                <a:solidFill>
                  <a:schemeClr val="tx1"/>
                </a:solidFill>
                <a:latin typeface="+mj-ea"/>
                <a:ea typeface="+mj-ea"/>
              </a:rPr>
              <a:t>是相应于该叶结点的完成时间和。当</a:t>
            </a:r>
            <a:r>
              <a:rPr lang="en-US" altLang="zh-CN" sz="2000" dirty="0">
                <a:solidFill>
                  <a:schemeClr val="tx1"/>
                </a:solidFill>
                <a:latin typeface="+mj-ea"/>
                <a:ea typeface="+mj-ea"/>
              </a:rPr>
              <a:t>E.sf2 &lt; </a:t>
            </a:r>
            <a:r>
              <a:rPr lang="en-US" altLang="zh-CN" sz="2000" dirty="0" err="1">
                <a:solidFill>
                  <a:schemeClr val="tx1"/>
                </a:solidFill>
                <a:latin typeface="+mj-ea"/>
                <a:ea typeface="+mj-ea"/>
              </a:rPr>
              <a:t>bestc</a:t>
            </a:r>
            <a:r>
              <a:rPr lang="zh-CN" altLang="en-US" sz="2000" dirty="0">
                <a:solidFill>
                  <a:schemeClr val="tx1"/>
                </a:solidFill>
                <a:latin typeface="+mj-ea"/>
                <a:ea typeface="+mj-ea"/>
              </a:rPr>
              <a:t>时</a:t>
            </a:r>
            <a:r>
              <a:rPr lang="en-US" altLang="zh-CN" sz="2000" dirty="0">
                <a:solidFill>
                  <a:schemeClr val="tx1"/>
                </a:solidFill>
                <a:latin typeface="+mj-ea"/>
                <a:ea typeface="+mj-ea"/>
              </a:rPr>
              <a:t>,</a:t>
            </a:r>
            <a:r>
              <a:rPr lang="zh-CN" altLang="en-US" sz="2000" dirty="0">
                <a:solidFill>
                  <a:schemeClr val="tx1"/>
                </a:solidFill>
                <a:latin typeface="+mj-ea"/>
                <a:ea typeface="+mj-ea"/>
              </a:rPr>
              <a:t>更新当前最优值</a:t>
            </a:r>
            <a:r>
              <a:rPr lang="en-US" altLang="zh-CN" sz="2000" dirty="0" err="1">
                <a:solidFill>
                  <a:schemeClr val="tx1"/>
                </a:solidFill>
                <a:latin typeface="+mj-ea"/>
                <a:ea typeface="+mj-ea"/>
              </a:rPr>
              <a:t>bestc</a:t>
            </a:r>
            <a:r>
              <a:rPr lang="zh-CN" altLang="en-US" sz="2000" dirty="0">
                <a:solidFill>
                  <a:schemeClr val="tx1"/>
                </a:solidFill>
                <a:latin typeface="+mj-ea"/>
                <a:ea typeface="+mj-ea"/>
              </a:rPr>
              <a:t>和相应的当前最优解</a:t>
            </a:r>
            <a:r>
              <a:rPr lang="en-US" altLang="zh-CN" sz="2000" dirty="0" err="1">
                <a:solidFill>
                  <a:schemeClr val="tx1"/>
                </a:solidFill>
                <a:latin typeface="+mj-ea"/>
                <a:ea typeface="+mj-ea"/>
              </a:rPr>
              <a:t>bestx</a:t>
            </a:r>
            <a:r>
              <a:rPr lang="en-US" altLang="zh-CN" sz="2000" dirty="0">
                <a:solidFill>
                  <a:schemeClr val="tx1"/>
                </a:solidFill>
                <a:latin typeface="+mj-ea"/>
                <a:ea typeface="+mj-ea"/>
              </a:rPr>
              <a:t>。 </a:t>
            </a:r>
            <a:endParaRPr lang="zh-CN" altLang="en-US" sz="2000" dirty="0">
              <a:solidFill>
                <a:schemeClr val="tx1"/>
              </a:solidFill>
              <a:latin typeface="+mj-ea"/>
              <a:ea typeface="+mj-ea"/>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E50364F4-1271-48A4-A94A-887B4B036227}"/>
              </a:ext>
            </a:extLst>
          </p:cNvPr>
          <p:cNvSpPr>
            <a:spLocks noGrp="1" noChangeArrowheads="1"/>
          </p:cNvSpPr>
          <p:nvPr>
            <p:ph type="title"/>
          </p:nvPr>
        </p:nvSpPr>
        <p:spPr/>
        <p:txBody>
          <a:bodyPr/>
          <a:lstStyle/>
          <a:p>
            <a:pPr>
              <a:defRPr/>
            </a:pPr>
            <a:r>
              <a:rPr lang="zh-CN" altLang="en-US">
                <a:latin typeface="+mj-ea"/>
              </a:rPr>
              <a:t>6.9 批处理作业调度问题</a:t>
            </a:r>
          </a:p>
        </p:txBody>
      </p:sp>
      <p:sp>
        <p:nvSpPr>
          <p:cNvPr id="86019" name="灯片编号占位符 5">
            <a:extLst>
              <a:ext uri="{FF2B5EF4-FFF2-40B4-BE49-F238E27FC236}">
                <a16:creationId xmlns:a16="http://schemas.microsoft.com/office/drawing/2014/main" id="{A10BDD68-0423-41C0-9736-9A4506BAF848}"/>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ECE34378-3AA8-404E-A4E3-F45D2078EE22}" type="slidenum">
              <a:rPr lang="zh-CN" altLang="en-US" sz="1200">
                <a:solidFill>
                  <a:schemeClr val="tx1"/>
                </a:solidFill>
                <a:latin typeface="微软雅黑" panose="020B0503020204020204" pitchFamily="34" charset="-122"/>
                <a:ea typeface="微软雅黑" panose="020B0503020204020204" pitchFamily="34" charset="-122"/>
              </a:rPr>
              <a:pPr/>
              <a:t>76</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313348" name="Text Box 4">
            <a:extLst>
              <a:ext uri="{FF2B5EF4-FFF2-40B4-BE49-F238E27FC236}">
                <a16:creationId xmlns:a16="http://schemas.microsoft.com/office/drawing/2014/main" id="{89401BAD-704E-464A-B87B-43C1413C5DF2}"/>
              </a:ext>
            </a:extLst>
          </p:cNvPr>
          <p:cNvSpPr txBox="1">
            <a:spLocks noChangeArrowheads="1"/>
          </p:cNvSpPr>
          <p:nvPr/>
        </p:nvSpPr>
        <p:spPr bwMode="auto">
          <a:xfrm>
            <a:off x="428625" y="1071563"/>
            <a:ext cx="5943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50000"/>
              </a:spcBef>
              <a:buClr>
                <a:schemeClr val="accent1"/>
              </a:buClr>
              <a:buSzPct val="65000"/>
              <a:buFont typeface="Wingdings" panose="05000000000000000000" pitchFamily="2" charset="2"/>
              <a:buNone/>
              <a:defRPr/>
            </a:pPr>
            <a:r>
              <a:rPr kumimoji="1" lang="zh-CN" altLang="en-US" sz="3200">
                <a:solidFill>
                  <a:schemeClr val="accent2"/>
                </a:solidFill>
                <a:latin typeface="+mj-ea"/>
                <a:ea typeface="+mj-ea"/>
              </a:rPr>
              <a:t>3. 算法描述</a:t>
            </a:r>
            <a:endParaRPr lang="en-US" altLang="zh-CN">
              <a:solidFill>
                <a:schemeClr val="accent2"/>
              </a:solidFill>
              <a:latin typeface="+mj-ea"/>
              <a:ea typeface="+mj-ea"/>
            </a:endParaRPr>
          </a:p>
        </p:txBody>
      </p:sp>
      <p:sp>
        <p:nvSpPr>
          <p:cNvPr id="313349" name="Text Box 5">
            <a:extLst>
              <a:ext uri="{FF2B5EF4-FFF2-40B4-BE49-F238E27FC236}">
                <a16:creationId xmlns:a16="http://schemas.microsoft.com/office/drawing/2014/main" id="{0B4838E0-51BD-4C0D-A5E8-A4609FE80CCE}"/>
              </a:ext>
            </a:extLst>
          </p:cNvPr>
          <p:cNvSpPr txBox="1">
            <a:spLocks noChangeArrowheads="1"/>
          </p:cNvSpPr>
          <p:nvPr/>
        </p:nvSpPr>
        <p:spPr bwMode="auto">
          <a:xfrm>
            <a:off x="228600" y="1676400"/>
            <a:ext cx="6324600" cy="447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else {// </a:t>
            </a:r>
            <a:r>
              <a:rPr kumimoji="1" lang="zh-CN" altLang="en-US" sz="1600" dirty="0">
                <a:solidFill>
                  <a:schemeClr val="tx1"/>
                </a:solidFill>
                <a:latin typeface="+mj-ea"/>
                <a:ea typeface="+mj-ea"/>
              </a:rPr>
              <a:t>产生当前扩展结点的儿子结点</a:t>
            </a:r>
          </a:p>
          <a:p>
            <a:pPr eaLnBrk="1" hangingPunct="1">
              <a:lnSpc>
                <a:spcPct val="130000"/>
              </a:lnSpc>
              <a:spcBef>
                <a:spcPct val="20000"/>
              </a:spcBef>
              <a:buClr>
                <a:schemeClr val="accent1"/>
              </a:buClr>
              <a:buSzPct val="65000"/>
              <a:buFont typeface="Wingdings" panose="05000000000000000000" pitchFamily="2" charset="2"/>
              <a:buNone/>
              <a:defRPr/>
            </a:pPr>
            <a:r>
              <a:rPr kumimoji="1" lang="zh-CN" altLang="en-US" sz="1600" dirty="0">
                <a:solidFill>
                  <a:schemeClr val="tx1"/>
                </a:solidFill>
                <a:latin typeface="+mj-ea"/>
                <a:ea typeface="+mj-ea"/>
              </a:rPr>
              <a:t>         </a:t>
            </a:r>
            <a:r>
              <a:rPr kumimoji="1" lang="en-US" altLang="zh-CN" sz="1600" dirty="0">
                <a:solidFill>
                  <a:schemeClr val="tx1"/>
                </a:solidFill>
                <a:latin typeface="+mj-ea"/>
                <a:ea typeface="+mj-ea"/>
              </a:rPr>
              <a:t>for (</a:t>
            </a:r>
            <a:r>
              <a:rPr kumimoji="1" lang="en-US" altLang="zh-CN" sz="1600" dirty="0" err="1">
                <a:solidFill>
                  <a:schemeClr val="tx1"/>
                </a:solidFill>
                <a:latin typeface="+mj-ea"/>
                <a:ea typeface="+mj-ea"/>
              </a:rPr>
              <a:t>int</a:t>
            </a:r>
            <a:r>
              <a:rPr kumimoji="1" lang="en-US" altLang="zh-CN" sz="1600" dirty="0">
                <a:solidFill>
                  <a:schemeClr val="tx1"/>
                </a:solidFill>
                <a:latin typeface="+mj-ea"/>
                <a:ea typeface="+mj-ea"/>
              </a:rPr>
              <a:t> </a:t>
            </a:r>
            <a:r>
              <a:rPr kumimoji="1" lang="en-US" altLang="zh-CN" sz="1600" dirty="0" err="1">
                <a:solidFill>
                  <a:schemeClr val="tx1"/>
                </a:solidFill>
                <a:latin typeface="+mj-ea"/>
                <a:ea typeface="+mj-ea"/>
              </a:rPr>
              <a:t>i</a:t>
            </a:r>
            <a:r>
              <a:rPr kumimoji="1" lang="en-US" altLang="zh-CN" sz="1600" dirty="0">
                <a:solidFill>
                  <a:schemeClr val="tx1"/>
                </a:solidFill>
                <a:latin typeface="+mj-ea"/>
                <a:ea typeface="+mj-ea"/>
              </a:rPr>
              <a:t> = E.s; </a:t>
            </a:r>
            <a:r>
              <a:rPr kumimoji="1" lang="en-US" altLang="zh-CN" sz="1600" dirty="0" err="1">
                <a:solidFill>
                  <a:schemeClr val="tx1"/>
                </a:solidFill>
                <a:latin typeface="+mj-ea"/>
                <a:ea typeface="+mj-ea"/>
              </a:rPr>
              <a:t>i</a:t>
            </a:r>
            <a:r>
              <a:rPr kumimoji="1" lang="en-US" altLang="zh-CN" sz="1600" dirty="0">
                <a:solidFill>
                  <a:schemeClr val="tx1"/>
                </a:solidFill>
                <a:latin typeface="+mj-ea"/>
                <a:ea typeface="+mj-ea"/>
              </a:rPr>
              <a:t> &lt; n; </a:t>
            </a:r>
            <a:r>
              <a:rPr kumimoji="1" lang="en-US" altLang="zh-CN" sz="1600" dirty="0" err="1">
                <a:solidFill>
                  <a:schemeClr val="tx1"/>
                </a:solidFill>
                <a:latin typeface="+mj-ea"/>
                <a:ea typeface="+mj-ea"/>
              </a:rPr>
              <a:t>i</a:t>
            </a:r>
            <a:r>
              <a:rPr kumimoji="1" lang="en-US" altLang="zh-CN" sz="1600" dirty="0">
                <a:solidFill>
                  <a:schemeClr val="tx1"/>
                </a:solidFill>
                <a:latin typeface="+mj-ea"/>
                <a:ea typeface="+mj-ea"/>
              </a:rPr>
              <a:t>++) {</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Swap(</a:t>
            </a:r>
            <a:r>
              <a:rPr kumimoji="1" lang="en-US" altLang="zh-CN" sz="1600" dirty="0" err="1">
                <a:solidFill>
                  <a:schemeClr val="tx1"/>
                </a:solidFill>
                <a:latin typeface="+mj-ea"/>
                <a:ea typeface="+mj-ea"/>
              </a:rPr>
              <a:t>E.x</a:t>
            </a:r>
            <a:r>
              <a:rPr kumimoji="1" lang="en-US" altLang="zh-CN" sz="1600" dirty="0">
                <a:solidFill>
                  <a:schemeClr val="tx1"/>
                </a:solidFill>
                <a:latin typeface="+mj-ea"/>
                <a:ea typeface="+mj-ea"/>
              </a:rPr>
              <a:t>[E.s],</a:t>
            </a:r>
            <a:r>
              <a:rPr kumimoji="1" lang="en-US" altLang="zh-CN" sz="1600" dirty="0" err="1">
                <a:solidFill>
                  <a:schemeClr val="tx1"/>
                </a:solidFill>
                <a:latin typeface="+mj-ea"/>
                <a:ea typeface="+mj-ea"/>
              </a:rPr>
              <a:t>E.x</a:t>
            </a:r>
            <a:r>
              <a:rPr kumimoji="1" lang="en-US" altLang="zh-CN" sz="1600" dirty="0">
                <a:solidFill>
                  <a:schemeClr val="tx1"/>
                </a:solidFill>
                <a:latin typeface="+mj-ea"/>
                <a:ea typeface="+mj-ea"/>
              </a:rPr>
              <a:t>[</a:t>
            </a:r>
            <a:r>
              <a:rPr kumimoji="1" lang="en-US" altLang="zh-CN" sz="1600" dirty="0" err="1">
                <a:solidFill>
                  <a:schemeClr val="tx1"/>
                </a:solidFill>
                <a:latin typeface="+mj-ea"/>
                <a:ea typeface="+mj-ea"/>
              </a:rPr>
              <a:t>i</a:t>
            </a:r>
            <a:r>
              <a:rPr kumimoji="1" lang="en-US" altLang="zh-CN" sz="1600" dirty="0">
                <a:solidFill>
                  <a:schemeClr val="tx1"/>
                </a:solidFill>
                <a:latin typeface="+mj-ea"/>
                <a:ea typeface="+mj-ea"/>
              </a:rPr>
              <a:t>]);</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a:t>
            </a:r>
            <a:r>
              <a:rPr kumimoji="1" lang="en-US" altLang="zh-CN" sz="1600" dirty="0" err="1">
                <a:solidFill>
                  <a:schemeClr val="tx1"/>
                </a:solidFill>
                <a:latin typeface="+mj-ea"/>
                <a:ea typeface="+mj-ea"/>
              </a:rPr>
              <a:t>int</a:t>
            </a:r>
            <a:r>
              <a:rPr kumimoji="1" lang="en-US" altLang="zh-CN" sz="1600" dirty="0">
                <a:solidFill>
                  <a:schemeClr val="tx1"/>
                </a:solidFill>
                <a:latin typeface="+mj-ea"/>
                <a:ea typeface="+mj-ea"/>
              </a:rPr>
              <a:t> f1,f2;</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a:t>
            </a:r>
            <a:r>
              <a:rPr kumimoji="1" lang="en-US" altLang="zh-CN" sz="1600" dirty="0" err="1">
                <a:solidFill>
                  <a:schemeClr val="tx1"/>
                </a:solidFill>
                <a:latin typeface="+mj-ea"/>
                <a:ea typeface="+mj-ea"/>
              </a:rPr>
              <a:t>int</a:t>
            </a:r>
            <a:r>
              <a:rPr kumimoji="1" lang="en-US" altLang="zh-CN" sz="1600" dirty="0">
                <a:solidFill>
                  <a:schemeClr val="tx1"/>
                </a:solidFill>
                <a:latin typeface="+mj-ea"/>
                <a:ea typeface="+mj-ea"/>
              </a:rPr>
              <a:t> </a:t>
            </a:r>
            <a:r>
              <a:rPr kumimoji="1" lang="en-US" altLang="zh-CN" sz="1600" dirty="0">
                <a:solidFill>
                  <a:srgbClr val="FF0000"/>
                </a:solidFill>
                <a:latin typeface="+mj-ea"/>
                <a:ea typeface="+mj-ea"/>
              </a:rPr>
              <a:t>bb=Bound(E,f1,f2,y)</a:t>
            </a:r>
            <a:r>
              <a:rPr kumimoji="1" lang="en-US" altLang="zh-CN" sz="1600" dirty="0">
                <a:solidFill>
                  <a:schemeClr val="tx1"/>
                </a:solidFill>
                <a:latin typeface="+mj-ea"/>
                <a:ea typeface="+mj-ea"/>
              </a:rPr>
              <a:t>;</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if (bb &lt; </a:t>
            </a:r>
            <a:r>
              <a:rPr kumimoji="1" lang="en-US" altLang="zh-CN" sz="1600" dirty="0" err="1">
                <a:solidFill>
                  <a:schemeClr val="tx1"/>
                </a:solidFill>
                <a:latin typeface="+mj-ea"/>
                <a:ea typeface="+mj-ea"/>
              </a:rPr>
              <a:t>bestc</a:t>
            </a:r>
            <a:r>
              <a:rPr kumimoji="1" lang="en-US" altLang="zh-CN" sz="1600" dirty="0">
                <a:solidFill>
                  <a:schemeClr val="tx1"/>
                </a:solidFill>
                <a:latin typeface="+mj-ea"/>
                <a:ea typeface="+mj-ea"/>
              </a:rPr>
              <a:t> ) {    </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a:t>
            </a:r>
            <a:r>
              <a:rPr kumimoji="1" lang="en-US" altLang="zh-CN" sz="1600" dirty="0" err="1">
                <a:solidFill>
                  <a:schemeClr val="tx1"/>
                </a:solidFill>
                <a:latin typeface="+mj-ea"/>
                <a:ea typeface="+mj-ea"/>
              </a:rPr>
              <a:t>MinHeapNode</a:t>
            </a:r>
            <a:r>
              <a:rPr kumimoji="1" lang="en-US" altLang="zh-CN" sz="1600" dirty="0">
                <a:solidFill>
                  <a:schemeClr val="tx1"/>
                </a:solidFill>
                <a:latin typeface="+mj-ea"/>
                <a:ea typeface="+mj-ea"/>
              </a:rPr>
              <a:t> N;</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a:t>
            </a:r>
            <a:r>
              <a:rPr kumimoji="1" lang="en-US" altLang="zh-CN" sz="1600" dirty="0" err="1">
                <a:solidFill>
                  <a:schemeClr val="tx1"/>
                </a:solidFill>
                <a:latin typeface="+mj-ea"/>
                <a:ea typeface="+mj-ea"/>
              </a:rPr>
              <a:t>N.NewNode</a:t>
            </a:r>
            <a:r>
              <a:rPr kumimoji="1" lang="en-US" altLang="zh-CN" sz="1600" dirty="0">
                <a:solidFill>
                  <a:schemeClr val="tx1"/>
                </a:solidFill>
                <a:latin typeface="+mj-ea"/>
                <a:ea typeface="+mj-ea"/>
              </a:rPr>
              <a:t>(E,f1,f2,bb,n);</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a:t>
            </a:r>
            <a:r>
              <a:rPr kumimoji="1" lang="en-US" altLang="zh-CN" sz="1600" dirty="0" err="1">
                <a:solidFill>
                  <a:schemeClr val="tx1"/>
                </a:solidFill>
                <a:latin typeface="+mj-ea"/>
                <a:ea typeface="+mj-ea"/>
              </a:rPr>
              <a:t>H.Insert</a:t>
            </a:r>
            <a:r>
              <a:rPr kumimoji="1" lang="en-US" altLang="zh-CN" sz="1600" dirty="0">
                <a:solidFill>
                  <a:schemeClr val="tx1"/>
                </a:solidFill>
                <a:latin typeface="+mj-ea"/>
                <a:ea typeface="+mj-ea"/>
              </a:rPr>
              <a:t>(N);}</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Swap(</a:t>
            </a:r>
            <a:r>
              <a:rPr kumimoji="1" lang="en-US" altLang="zh-CN" sz="1600" dirty="0" err="1">
                <a:solidFill>
                  <a:schemeClr val="tx1"/>
                </a:solidFill>
                <a:latin typeface="+mj-ea"/>
                <a:ea typeface="+mj-ea"/>
              </a:rPr>
              <a:t>E.x</a:t>
            </a:r>
            <a:r>
              <a:rPr kumimoji="1" lang="en-US" altLang="zh-CN" sz="1600" dirty="0">
                <a:solidFill>
                  <a:schemeClr val="tx1"/>
                </a:solidFill>
                <a:latin typeface="+mj-ea"/>
                <a:ea typeface="+mj-ea"/>
              </a:rPr>
              <a:t>[E.s],</a:t>
            </a:r>
            <a:r>
              <a:rPr kumimoji="1" lang="en-US" altLang="zh-CN" sz="1600" dirty="0" err="1">
                <a:solidFill>
                  <a:schemeClr val="tx1"/>
                </a:solidFill>
                <a:latin typeface="+mj-ea"/>
                <a:ea typeface="+mj-ea"/>
              </a:rPr>
              <a:t>E.x</a:t>
            </a:r>
            <a:r>
              <a:rPr kumimoji="1" lang="en-US" altLang="zh-CN" sz="1600" dirty="0">
                <a:solidFill>
                  <a:schemeClr val="tx1"/>
                </a:solidFill>
                <a:latin typeface="+mj-ea"/>
                <a:ea typeface="+mj-ea"/>
              </a:rPr>
              <a:t>[</a:t>
            </a:r>
            <a:r>
              <a:rPr kumimoji="1" lang="en-US" altLang="zh-CN" sz="1600" dirty="0" err="1">
                <a:solidFill>
                  <a:schemeClr val="tx1"/>
                </a:solidFill>
                <a:latin typeface="+mj-ea"/>
                <a:ea typeface="+mj-ea"/>
              </a:rPr>
              <a:t>i</a:t>
            </a:r>
            <a:r>
              <a:rPr kumimoji="1" lang="en-US" altLang="zh-CN" sz="1600" dirty="0">
                <a:solidFill>
                  <a:schemeClr val="tx1"/>
                </a:solidFill>
                <a:latin typeface="+mj-ea"/>
                <a:ea typeface="+mj-ea"/>
              </a:rPr>
              <a:t>]);</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a:t>
            </a:r>
          </a:p>
          <a:p>
            <a:pPr eaLnBrk="1" hangingPunct="1">
              <a:lnSpc>
                <a:spcPct val="130000"/>
              </a:lnSpc>
              <a:spcBef>
                <a:spcPct val="20000"/>
              </a:spcBef>
              <a:buClr>
                <a:schemeClr val="accent1"/>
              </a:buClr>
              <a:buSzPct val="65000"/>
              <a:buFont typeface="Wingdings" panose="05000000000000000000" pitchFamily="2" charset="2"/>
              <a:buNone/>
              <a:defRPr/>
            </a:pPr>
            <a:r>
              <a:rPr kumimoji="1" lang="en-US" altLang="zh-CN" sz="1600" dirty="0">
                <a:solidFill>
                  <a:schemeClr val="tx1"/>
                </a:solidFill>
                <a:latin typeface="+mj-ea"/>
                <a:ea typeface="+mj-ea"/>
              </a:rPr>
              <a:t>         delete [] </a:t>
            </a:r>
            <a:r>
              <a:rPr kumimoji="1" lang="en-US" altLang="zh-CN" sz="1600" dirty="0" err="1">
                <a:solidFill>
                  <a:schemeClr val="tx1"/>
                </a:solidFill>
                <a:latin typeface="+mj-ea"/>
                <a:ea typeface="+mj-ea"/>
              </a:rPr>
              <a:t>E.x</a:t>
            </a:r>
            <a:r>
              <a:rPr kumimoji="1" lang="en-US" altLang="zh-CN" sz="1600" dirty="0">
                <a:solidFill>
                  <a:schemeClr val="tx1"/>
                </a:solidFill>
                <a:latin typeface="+mj-ea"/>
                <a:ea typeface="+mj-ea"/>
              </a:rPr>
              <a:t>;}  // </a:t>
            </a:r>
            <a:r>
              <a:rPr kumimoji="1" lang="zh-CN" altLang="en-US" sz="1600" dirty="0">
                <a:solidFill>
                  <a:schemeClr val="tx1"/>
                </a:solidFill>
                <a:latin typeface="+mj-ea"/>
                <a:ea typeface="+mj-ea"/>
              </a:rPr>
              <a:t>完成结点扩展</a:t>
            </a:r>
          </a:p>
        </p:txBody>
      </p:sp>
      <p:sp>
        <p:nvSpPr>
          <p:cNvPr id="88070" name="矩形 1">
            <a:extLst>
              <a:ext uri="{FF2B5EF4-FFF2-40B4-BE49-F238E27FC236}">
                <a16:creationId xmlns:a16="http://schemas.microsoft.com/office/drawing/2014/main" id="{A79C4A8A-6186-4B0B-8C54-F8C1AD959B50}"/>
              </a:ext>
            </a:extLst>
          </p:cNvPr>
          <p:cNvSpPr>
            <a:spLocks noChangeArrowheads="1"/>
          </p:cNvSpPr>
          <p:nvPr/>
        </p:nvSpPr>
        <p:spPr bwMode="auto">
          <a:xfrm>
            <a:off x="4168775" y="2636838"/>
            <a:ext cx="4768850"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50000"/>
              </a:lnSpc>
              <a:defRPr/>
            </a:pPr>
            <a:r>
              <a:rPr lang="en-US" altLang="zh-CN" sz="2000" dirty="0">
                <a:solidFill>
                  <a:schemeClr val="tx1"/>
                </a:solidFill>
                <a:latin typeface="+mj-ea"/>
                <a:ea typeface="+mj-ea"/>
              </a:rPr>
              <a:t>E.s&lt;n</a:t>
            </a:r>
            <a:r>
              <a:rPr lang="zh-CN" altLang="en-US" sz="2000" dirty="0">
                <a:solidFill>
                  <a:schemeClr val="tx1"/>
                </a:solidFill>
                <a:latin typeface="+mj-ea"/>
                <a:ea typeface="+mj-ea"/>
              </a:rPr>
              <a:t>时，算法依次产生当前扩展结点</a:t>
            </a:r>
            <a:r>
              <a:rPr lang="en-US" altLang="zh-CN" sz="2000" dirty="0">
                <a:solidFill>
                  <a:schemeClr val="tx1"/>
                </a:solidFill>
                <a:latin typeface="+mj-ea"/>
                <a:ea typeface="+mj-ea"/>
              </a:rPr>
              <a:t>E</a:t>
            </a:r>
            <a:r>
              <a:rPr lang="zh-CN" altLang="en-US" sz="2000" dirty="0">
                <a:solidFill>
                  <a:schemeClr val="tx1"/>
                </a:solidFill>
                <a:latin typeface="+mj-ea"/>
                <a:ea typeface="+mj-ea"/>
              </a:rPr>
              <a:t>的所有儿子结点。对于当前扩展结点的每一个儿子结点</a:t>
            </a:r>
            <a:r>
              <a:rPr lang="en-US" altLang="zh-CN" sz="2000" dirty="0">
                <a:solidFill>
                  <a:schemeClr val="tx1"/>
                </a:solidFill>
                <a:latin typeface="+mj-ea"/>
                <a:ea typeface="+mj-ea"/>
              </a:rPr>
              <a:t>node，</a:t>
            </a:r>
            <a:r>
              <a:rPr lang="zh-CN" altLang="en-US" sz="2000" dirty="0">
                <a:solidFill>
                  <a:schemeClr val="tx1"/>
                </a:solidFill>
                <a:latin typeface="+mj-ea"/>
                <a:ea typeface="+mj-ea"/>
              </a:rPr>
              <a:t>计算出其相应的完成时间和的下界</a:t>
            </a:r>
            <a:r>
              <a:rPr lang="en-US" altLang="zh-CN" sz="2000" dirty="0">
                <a:solidFill>
                  <a:schemeClr val="tx1"/>
                </a:solidFill>
                <a:latin typeface="+mj-ea"/>
                <a:ea typeface="+mj-ea"/>
              </a:rPr>
              <a:t>bb。</a:t>
            </a:r>
            <a:r>
              <a:rPr lang="zh-CN" altLang="en-US" sz="2000" dirty="0">
                <a:solidFill>
                  <a:schemeClr val="tx1"/>
                </a:solidFill>
                <a:latin typeface="+mj-ea"/>
                <a:ea typeface="+mj-ea"/>
              </a:rPr>
              <a:t>当</a:t>
            </a:r>
            <a:r>
              <a:rPr lang="en-US" altLang="zh-CN" sz="2000" dirty="0">
                <a:solidFill>
                  <a:schemeClr val="tx1"/>
                </a:solidFill>
                <a:latin typeface="+mj-ea"/>
                <a:ea typeface="+mj-ea"/>
              </a:rPr>
              <a:t>bb &lt; </a:t>
            </a:r>
            <a:r>
              <a:rPr lang="en-US" altLang="zh-CN" sz="2000" dirty="0" err="1">
                <a:solidFill>
                  <a:schemeClr val="tx1"/>
                </a:solidFill>
                <a:latin typeface="+mj-ea"/>
                <a:ea typeface="+mj-ea"/>
              </a:rPr>
              <a:t>bestc</a:t>
            </a:r>
            <a:r>
              <a:rPr lang="zh-CN" altLang="en-US" sz="2000" dirty="0">
                <a:solidFill>
                  <a:schemeClr val="tx1"/>
                </a:solidFill>
                <a:latin typeface="+mj-ea"/>
                <a:ea typeface="+mj-ea"/>
              </a:rPr>
              <a:t>时，将该儿子结点插入到活结点优先队列中。而当</a:t>
            </a:r>
            <a:r>
              <a:rPr lang="en-US" altLang="zh-CN" sz="2000" dirty="0">
                <a:solidFill>
                  <a:schemeClr val="tx1"/>
                </a:solidFill>
                <a:latin typeface="+mj-ea"/>
                <a:ea typeface="+mj-ea"/>
              </a:rPr>
              <a:t>bb</a:t>
            </a:r>
            <a:r>
              <a:rPr lang="en-US" altLang="zh-CN" sz="2000" dirty="0">
                <a:solidFill>
                  <a:schemeClr val="tx1"/>
                </a:solidFill>
                <a:latin typeface="+mj-ea"/>
                <a:ea typeface="+mj-ea"/>
                <a:sym typeface="Symbol" panose="05050102010706020507" pitchFamily="18" charset="2"/>
              </a:rPr>
              <a:t></a:t>
            </a:r>
            <a:r>
              <a:rPr lang="en-US" altLang="zh-CN" sz="2000" dirty="0">
                <a:solidFill>
                  <a:schemeClr val="tx1"/>
                </a:solidFill>
                <a:latin typeface="+mj-ea"/>
                <a:ea typeface="+mj-ea"/>
              </a:rPr>
              <a:t> </a:t>
            </a:r>
            <a:r>
              <a:rPr lang="en-US" altLang="zh-CN" sz="2000" dirty="0" err="1">
                <a:solidFill>
                  <a:schemeClr val="tx1"/>
                </a:solidFill>
                <a:latin typeface="+mj-ea"/>
                <a:ea typeface="+mj-ea"/>
              </a:rPr>
              <a:t>bestc</a:t>
            </a:r>
            <a:r>
              <a:rPr lang="zh-CN" altLang="en-US" sz="2000" dirty="0">
                <a:solidFill>
                  <a:schemeClr val="tx1"/>
                </a:solidFill>
                <a:latin typeface="+mj-ea"/>
                <a:ea typeface="+mj-ea"/>
              </a:rPr>
              <a:t>时，可将结点</a:t>
            </a:r>
            <a:r>
              <a:rPr lang="en-US" altLang="zh-CN" sz="2000" dirty="0">
                <a:solidFill>
                  <a:schemeClr val="tx1"/>
                </a:solidFill>
                <a:latin typeface="+mj-ea"/>
                <a:ea typeface="+mj-ea"/>
              </a:rPr>
              <a:t>node</a:t>
            </a:r>
            <a:r>
              <a:rPr lang="zh-CN" altLang="en-US" sz="2000" dirty="0">
                <a:solidFill>
                  <a:schemeClr val="tx1"/>
                </a:solidFill>
                <a:latin typeface="+mj-ea"/>
                <a:ea typeface="+mj-ea"/>
              </a:rPr>
              <a:t>舍去</a:t>
            </a:r>
            <a:endParaRPr lang="zh-CN" altLang="en-US" sz="2000" dirty="0">
              <a:latin typeface="+mj-ea"/>
              <a:ea typeface="+mj-ea"/>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13348"/>
                                        </p:tgtEl>
                                        <p:attrNameLst>
                                          <p:attrName>style.visibility</p:attrName>
                                        </p:attrNameLst>
                                      </p:cBhvr>
                                      <p:to>
                                        <p:strVal val="visible"/>
                                      </p:to>
                                    </p:set>
                                    <p:anim calcmode="lin" valueType="num">
                                      <p:cBhvr additive="base">
                                        <p:cTn id="7" dur="500" fill="hold"/>
                                        <p:tgtEl>
                                          <p:spTgt spid="313348"/>
                                        </p:tgtEl>
                                        <p:attrNameLst>
                                          <p:attrName>ppt_x</p:attrName>
                                        </p:attrNameLst>
                                      </p:cBhvr>
                                      <p:tavLst>
                                        <p:tav tm="0">
                                          <p:val>
                                            <p:strVal val="1+#ppt_w/2"/>
                                          </p:val>
                                        </p:tav>
                                        <p:tav tm="100000">
                                          <p:val>
                                            <p:strVal val="#ppt_x"/>
                                          </p:val>
                                        </p:tav>
                                      </p:tavLst>
                                    </p:anim>
                                    <p:anim calcmode="lin" valueType="num">
                                      <p:cBhvr additive="base">
                                        <p:cTn id="8" dur="500" fill="hold"/>
                                        <p:tgtEl>
                                          <p:spTgt spid="31334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13349"/>
                                        </p:tgtEl>
                                        <p:attrNameLst>
                                          <p:attrName>style.visibility</p:attrName>
                                        </p:attrNameLst>
                                      </p:cBhvr>
                                      <p:to>
                                        <p:strVal val="visible"/>
                                      </p:to>
                                    </p:set>
                                    <p:animEffect transition="in" filter="blinds(horizontal)">
                                      <p:cBhvr>
                                        <p:cTn id="13" dur="500"/>
                                        <p:tgtEl>
                                          <p:spTgt spid="31334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8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8" grpId="0" autoUpdateAnimBg="0"/>
      <p:bldP spid="313349" grpId="0" autoUpdateAnimBg="0"/>
      <p:bldP spid="8807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a:extLst>
              <a:ext uri="{FF2B5EF4-FFF2-40B4-BE49-F238E27FC236}">
                <a16:creationId xmlns:a16="http://schemas.microsoft.com/office/drawing/2014/main" id="{9C123DA5-A10B-40F6-83B1-C86E6C7AA27E}"/>
              </a:ext>
            </a:extLst>
          </p:cNvPr>
          <p:cNvSpPr>
            <a:spLocks noGrp="1" noChangeArrowheads="1"/>
          </p:cNvSpPr>
          <p:nvPr>
            <p:ph type="title"/>
          </p:nvPr>
        </p:nvSpPr>
        <p:spPr/>
        <p:txBody>
          <a:bodyPr/>
          <a:lstStyle/>
          <a:p>
            <a:pPr>
              <a:defRPr/>
            </a:pPr>
            <a:r>
              <a:rPr lang="zh-CN" altLang="en-US">
                <a:latin typeface="+mj-ea"/>
              </a:rPr>
              <a:t>小  结</a:t>
            </a:r>
          </a:p>
        </p:txBody>
      </p:sp>
      <p:sp>
        <p:nvSpPr>
          <p:cNvPr id="87043" name="内容占位符 2">
            <a:extLst>
              <a:ext uri="{FF2B5EF4-FFF2-40B4-BE49-F238E27FC236}">
                <a16:creationId xmlns:a16="http://schemas.microsoft.com/office/drawing/2014/main" id="{E9DB2BA9-58EE-4FDB-A7CC-6F3D4AAA1412}"/>
              </a:ext>
            </a:extLst>
          </p:cNvPr>
          <p:cNvSpPr>
            <a:spLocks noGrp="1" noChangeArrowheads="1"/>
          </p:cNvSpPr>
          <p:nvPr>
            <p:ph idx="1"/>
          </p:nvPr>
        </p:nvSpPr>
        <p:spPr/>
        <p:txBody>
          <a:bodyPr/>
          <a:lstStyle/>
          <a:p>
            <a:pPr>
              <a:lnSpc>
                <a:spcPct val="150000"/>
              </a:lnSpc>
              <a:defRPr/>
            </a:pPr>
            <a:r>
              <a:rPr lang="zh-CN" altLang="en-US" dirty="0">
                <a:latin typeface="+mj-ea"/>
                <a:ea typeface="+mj-ea"/>
              </a:rPr>
              <a:t>分支限界法是在解空间树上带剪枝的宽度优先搜索算法。分为队列式和优先队列式两种分支限界法</a:t>
            </a:r>
            <a:endParaRPr lang="en-US" altLang="zh-CN" dirty="0">
              <a:latin typeface="+mj-ea"/>
              <a:ea typeface="+mj-ea"/>
            </a:endParaRPr>
          </a:p>
          <a:p>
            <a:pPr>
              <a:lnSpc>
                <a:spcPct val="150000"/>
              </a:lnSpc>
              <a:defRPr/>
            </a:pPr>
            <a:r>
              <a:rPr lang="zh-CN" altLang="en-US" dirty="0">
                <a:latin typeface="+mj-ea"/>
                <a:ea typeface="+mj-ea"/>
              </a:rPr>
              <a:t>与回溯法解决问题的类型相似，但解决问题的方法不同。</a:t>
            </a:r>
            <a:endParaRPr lang="en-US" altLang="zh-CN" dirty="0">
              <a:latin typeface="+mj-ea"/>
              <a:ea typeface="+mj-ea"/>
            </a:endParaRPr>
          </a:p>
          <a:p>
            <a:pPr>
              <a:lnSpc>
                <a:spcPct val="150000"/>
              </a:lnSpc>
              <a:defRPr/>
            </a:pPr>
            <a:r>
              <a:rPr lang="zh-CN" altLang="en-US" dirty="0">
                <a:latin typeface="+mj-ea"/>
                <a:ea typeface="+mj-ea"/>
              </a:rPr>
              <a:t>算法复杂性分析</a:t>
            </a:r>
          </a:p>
        </p:txBody>
      </p:sp>
      <p:sp>
        <p:nvSpPr>
          <p:cNvPr id="87044" name="灯片编号占位符 3">
            <a:extLst>
              <a:ext uri="{FF2B5EF4-FFF2-40B4-BE49-F238E27FC236}">
                <a16:creationId xmlns:a16="http://schemas.microsoft.com/office/drawing/2014/main" id="{8AD0BE43-3977-4770-89E4-9275430222C9}"/>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C306E11-0E41-457D-8C8C-333B7E4C988D}" type="slidenum">
              <a:rPr lang="zh-CN" altLang="en-US" sz="1200">
                <a:solidFill>
                  <a:schemeClr val="tx1"/>
                </a:solidFill>
                <a:latin typeface="微软雅黑" panose="020B0503020204020204" pitchFamily="34" charset="-122"/>
                <a:ea typeface="微软雅黑" panose="020B0503020204020204" pitchFamily="34" charset="-122"/>
              </a:rPr>
              <a:pPr/>
              <a:t>77</a:t>
            </a:fld>
            <a:endParaRPr lang="en-US" altLang="zh-CN" sz="12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0000"/>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kumimoji="0" lang="en-US" sz="3000" b="0" i="0" u="none" strike="noStrike" cap="none" normalizeH="0" baseline="0" smtClean="0">
            <a:ln>
              <a:noFill/>
            </a:ln>
            <a:solidFill>
              <a:srgbClr val="000066"/>
            </a:solidFill>
            <a:effectLst/>
            <a:latin typeface="Arial" charset="0"/>
            <a:ea typeface="楷体_GB2312" pitchFamily="49" charset="-122"/>
            <a:cs typeface="Times New Roman" pitchFamily="18" charset="0"/>
          </a:defRPr>
        </a:defPPr>
      </a:lstStyle>
    </a:spDef>
    <a:lnDef>
      <a:spPr bwMode="auto">
        <a:xfrm>
          <a:off x="0" y="0"/>
          <a:ext cx="1" cy="1"/>
        </a:xfrm>
        <a:custGeom>
          <a:avLst/>
          <a:gdLst/>
          <a:ahLst/>
          <a:cxnLst/>
          <a:rect l="0" t="0" r="0" b="0"/>
          <a:pathLst/>
        </a:custGeom>
        <a:solidFill>
          <a:srgbClr val="FF0000"/>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kumimoji="0" lang="en-US" sz="3000" b="0" i="0" u="none" strike="noStrike" cap="none" normalizeH="0" baseline="0" smtClean="0">
            <a:ln>
              <a:noFill/>
            </a:ln>
            <a:solidFill>
              <a:srgbClr val="000066"/>
            </a:solidFill>
            <a:effectLst/>
            <a:latin typeface="Arial" charset="0"/>
            <a:ea typeface="楷体_GB2312" pitchFamily="49" charset="-122"/>
            <a:cs typeface="Times New Roman" pitchFamily="18"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17921</TotalTime>
  <Words>9912</Words>
  <Application>Microsoft Office PowerPoint</Application>
  <PresentationFormat>全屏显示(4:3)</PresentationFormat>
  <Paragraphs>980</Paragraphs>
  <Slides>77</Slides>
  <Notes>31</Notes>
  <HiddenSlides>10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5</vt:i4>
      </vt:variant>
      <vt:variant>
        <vt:lpstr>幻灯片标题</vt:lpstr>
      </vt:variant>
      <vt:variant>
        <vt:i4>77</vt:i4>
      </vt:variant>
    </vt:vector>
  </HeadingPairs>
  <TitlesOfParts>
    <vt:vector size="93" baseType="lpstr">
      <vt:lpstr>华文楷体</vt:lpstr>
      <vt:lpstr>华文行楷</vt:lpstr>
      <vt:lpstr>楷体_GB2312</vt:lpstr>
      <vt:lpstr>微软雅黑</vt:lpstr>
      <vt:lpstr>Arial</vt:lpstr>
      <vt:lpstr>Arial Black</vt:lpstr>
      <vt:lpstr>Garamond</vt:lpstr>
      <vt:lpstr>Symbol</vt:lpstr>
      <vt:lpstr>Times New Roman</vt:lpstr>
      <vt:lpstr>Wingdings</vt:lpstr>
      <vt:lpstr>Edge</vt:lpstr>
      <vt:lpstr>公式</vt:lpstr>
      <vt:lpstr>Microsoft 公式 3.0</vt:lpstr>
      <vt:lpstr>Equation</vt:lpstr>
      <vt:lpstr>Visio</vt:lpstr>
      <vt:lpstr>Equation.3</vt:lpstr>
      <vt:lpstr>PowerPoint 演示文稿</vt:lpstr>
      <vt:lpstr>PowerPoint 演示文稿</vt:lpstr>
      <vt:lpstr>6.1 分支限界法的基本思想</vt:lpstr>
      <vt:lpstr>6.1 分支限界法的基本思想</vt:lpstr>
      <vt:lpstr>6.1 分支限界法的基本思想</vt:lpstr>
      <vt:lpstr>6.1 分支限界法的基本思想</vt:lpstr>
      <vt:lpstr>数据结构</vt:lpstr>
      <vt:lpstr>数据结构</vt:lpstr>
      <vt:lpstr>数据结构</vt:lpstr>
      <vt:lpstr>队列式(FIFO)分支限界法</vt:lpstr>
      <vt:lpstr>优先队列式分支限界法</vt:lpstr>
      <vt:lpstr>分支限界法搜索应用举例</vt:lpstr>
      <vt:lpstr>分支限界法搜索应用举例</vt:lpstr>
      <vt:lpstr>PowerPoint 演示文稿</vt:lpstr>
      <vt:lpstr>6.3 装载问题</vt:lpstr>
      <vt:lpstr>PowerPoint 演示文稿</vt:lpstr>
      <vt:lpstr>PowerPoint 演示文稿</vt:lpstr>
      <vt:lpstr>6.3 装载问题</vt:lpstr>
      <vt:lpstr>6.3 装载问题</vt:lpstr>
      <vt:lpstr>6.3 装载问题</vt:lpstr>
      <vt:lpstr>6.3 装载问题</vt:lpstr>
      <vt:lpstr>6.3 装载问题</vt:lpstr>
      <vt:lpstr>6.3 装载问题</vt:lpstr>
      <vt:lpstr>6.3 装载问题</vt:lpstr>
      <vt:lpstr>PowerPoint 演示文稿</vt:lpstr>
      <vt:lpstr>PowerPoint 演示文稿</vt:lpstr>
      <vt:lpstr>PowerPoint 演示文稿</vt:lpstr>
      <vt:lpstr>6.5    0-1背包问题</vt:lpstr>
      <vt:lpstr>0-1背包问题</vt:lpstr>
      <vt:lpstr>6.5    0-1背包问题</vt:lpstr>
      <vt:lpstr>6.5    0-1背包问题</vt:lpstr>
      <vt:lpstr>6.5    0-1背包问题</vt:lpstr>
      <vt:lpstr>6.5    0-1背包问题</vt:lpstr>
      <vt:lpstr>PowerPoint 演示文稿</vt:lpstr>
      <vt:lpstr>6.6 最大团问题</vt:lpstr>
      <vt:lpstr>PowerPoint 演示文稿</vt:lpstr>
      <vt:lpstr>6.6 最大团问题</vt:lpstr>
      <vt:lpstr>6.6 最大团问题</vt:lpstr>
      <vt:lpstr>6.6 最大团问题</vt:lpstr>
      <vt:lpstr>PowerPoint 演示文稿</vt:lpstr>
      <vt:lpstr>PowerPoint 演示文稿</vt:lpstr>
      <vt:lpstr>PowerPoint 演示文稿</vt:lpstr>
      <vt:lpstr>PowerPoint 演示文稿</vt:lpstr>
      <vt:lpstr>搜索解空间 </vt:lpstr>
      <vt:lpstr>6.7 旅行售货员问题</vt:lpstr>
      <vt:lpstr>6.7 旅行售货员问题</vt:lpstr>
      <vt:lpstr>准备工作——创建一个最小堆</vt:lpstr>
      <vt:lpstr>准备工作——计算MinOut</vt:lpstr>
      <vt:lpstr>准备工作——初始化</vt:lpstr>
      <vt:lpstr>6.7 旅行售货员问题</vt:lpstr>
      <vt:lpstr>算法</vt:lpstr>
      <vt:lpstr>算法</vt:lpstr>
      <vt:lpstr>6.7 旅行售货员问题</vt:lpstr>
      <vt:lpstr>结果处理</vt:lpstr>
      <vt:lpstr>TSP问题</vt:lpstr>
      <vt:lpstr>TSP问题</vt:lpstr>
      <vt:lpstr>PowerPoint 演示文稿</vt:lpstr>
      <vt:lpstr>4.5 单源最短路径 </vt:lpstr>
      <vt:lpstr>4.5 单源最短路径 </vt:lpstr>
      <vt:lpstr>6.2 单源最短路径问题</vt:lpstr>
      <vt:lpstr>6.2 单源最短路径问题</vt:lpstr>
      <vt:lpstr>6.2 单源最短路径问题</vt:lpstr>
      <vt:lpstr>6.2 单源最短路径问题</vt:lpstr>
      <vt:lpstr>6.2 单源最短路径问题</vt:lpstr>
      <vt:lpstr>6.2 单源最短路径问题</vt:lpstr>
      <vt:lpstr>6.2 单源最短路径问题</vt:lpstr>
      <vt:lpstr>PowerPoint 演示文稿</vt:lpstr>
      <vt:lpstr>PowerPoint 演示文稿</vt:lpstr>
      <vt:lpstr>PowerPoint 演示文稿</vt:lpstr>
      <vt:lpstr>2. 限界函数Bound</vt:lpstr>
      <vt:lpstr>2. 限界函数Bound</vt:lpstr>
      <vt:lpstr>2. 限界函数Bound</vt:lpstr>
      <vt:lpstr>2. 限界函数Bound</vt:lpstr>
      <vt:lpstr>6.9 批处理作业调度问题</vt:lpstr>
      <vt:lpstr>6.9 批处理作业调度问题</vt:lpstr>
      <vt:lpstr>6.9 批处理作业调度问题</vt:lpstr>
      <vt:lpstr>小  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动态规划</dc:title>
  <dc:creator>wang</dc:creator>
  <cp:lastModifiedBy>凡 费</cp:lastModifiedBy>
  <cp:revision>545</cp:revision>
  <cp:lastPrinted>2013-04-09T01:39:03Z</cp:lastPrinted>
  <dcterms:created xsi:type="dcterms:W3CDTF">2003-05-27T06:14:28Z</dcterms:created>
  <dcterms:modified xsi:type="dcterms:W3CDTF">2026-06-22T04:16:44Z</dcterms:modified>
</cp:coreProperties>
</file>